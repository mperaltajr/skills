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Built on the template's own cover layout. Covers are never numbered.</a:t>
            </a:r>
          </a:p>
          <a:p/>
          <a:p>
            <a:r>
              <a:t>How this example was made:</a:t>
            </a:r>
          </a:p>
          <a:p>
            <a:r>
              <a:t>- Made on 2 October 2026 in one real Slide Lab run, on a fictional template (Meridian) with invented numbers. Nothing here is client material.</a:t>
            </a:r>
          </a:p>
          <a:p>
            <a:r>
              <a:t>- Storyline: written from a finished data sheet, 2 minutes. A real storyline conversation usually takes 10 to 30 minutes.</a:t>
            </a:r>
          </a:p>
          <a:p>
            <a:r>
              <a:t>- Designs: 10 slides with 3 options each, all designed at the same time, 13 minutes.</a:t>
            </a:r>
          </a:p>
          <a:p>
            <a:r>
              <a:t>- After the picks: converting them to editable PowerPoint took 25 seconds (no agent needed, including the growth loop); finalize and compile took under 2 minutes.</a:t>
            </a:r>
          </a:p>
          <a:p>
            <a:r>
              <a:t>- Quality check: 1 Major finding (the slide 5 chart axis started at $300M, which overstated the gap). Slide 5 was redesigned in 2 minutes and the deck recompiled; 6 Advisory items remain (mostly titles that wrap).</a:t>
            </a:r>
          </a:p>
          <a:p>
            <a:r>
              <a:t>- Hand edits, all disclosed: slide 6's footer placeholder was replaced with the deck's source line before review; slide 8's takeaway was shortened from 131 to 98 characters before the final check. Everything else is the pipeline's own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summary as a dense question-and-answer table, the ask highlighted.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Bar chart with one highlight (the 2030 bar) and its callout drawn on the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Scored table: five markets against two cut-offs, passing rows shaded, small bars showing how far each market is from the cut-off.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Line chart with the crossover marked. Redesigned after the quality check so the axis starts at zero and the drawn gap matches the 1.5x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Numbered process with icons: Slide Lab's default of making the structure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Timeline with the two go/no-go gates as diamonds and what happens after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Growth loop diagram, converted to editable PowerPoint shapes by the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Waterfall that builds the $12M total from its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Decision table with owner and date, the decision being asked for highlighted.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Cover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560320"/>
            <a:ext cx="10058400" cy="1371600"/>
          </a:xfrm>
        </p:spPr>
        <p:txBody>
          <a:bodyPr anchor="t"/>
          <a:lstStyle>
            <a:lvl1pPr algn="l" marL="0" indent="0"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4023360"/>
            <a:ext cx="10058400" cy="914400"/>
          </a:xfrm>
        </p:spPr>
        <p:txBody>
          <a:bodyPr anchor="t"/>
          <a:lstStyle>
            <a:lvl1pPr marL="0" indent="0" algn="l">
              <a:buNone/>
              <a:defRPr sz="1600">
                <a:solidFill>
                  <a:srgbClr val="C9D3D8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1"/>
          <p:cNvSpPr/>
          <p:nvPr/>
        </p:nvSpPr>
        <p:spPr>
          <a:xfrm>
            <a:off x="731520" y="2286000"/>
            <a:ext cx="914400" cy="82296"/>
          </a:xfrm>
          <a:prstGeom prst="rect">
            <a:avLst/>
          </a:prstGeom>
          <a:solidFill>
            <a:srgbClr val="F2A5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411480"/>
            <a:ext cx="11365992" cy="86868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80" y="1463040"/>
            <a:ext cx="11365992" cy="466344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Divider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560320"/>
            <a:ext cx="10058400" cy="1371600"/>
          </a:xfrm>
        </p:spPr>
        <p:txBody>
          <a:bodyPr anchor="t"/>
          <a:lstStyle>
            <a:lvl1pPr algn="l" marL="0" indent="0">
              <a:defRPr b="1" sz="360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4023360"/>
            <a:ext cx="10058400" cy="914400"/>
          </a:xfrm>
        </p:spPr>
        <p:txBody>
          <a:bodyPr anchor="t"/>
          <a:lstStyle>
            <a:lvl1pPr marL="0" indent="0" algn="l">
              <a:buNone/>
              <a:defRPr sz="1600">
                <a:solidFill>
                  <a:srgbClr val="C9D3D8"/>
                </a:solidFill>
              </a:defRPr>
            </a:lvl1pPr>
            <a:lvl2pPr marL="457200" indent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1"/>
          <p:cNvSpPr/>
          <p:nvPr/>
        </p:nvSpPr>
        <p:spPr>
          <a:xfrm>
            <a:off x="731520" y="2286000"/>
            <a:ext cx="914400" cy="82296"/>
          </a:xfrm>
          <a:prstGeom prst="rect">
            <a:avLst/>
          </a:prstGeom>
          <a:solidFill>
            <a:srgbClr val="F2A5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411480"/>
            <a:ext cx="11365992" cy="86868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0" y="1463040"/>
            <a:ext cx="5532120" cy="466344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5352" y="1463040"/>
            <a:ext cx="5532120" cy="466344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411480"/>
            <a:ext cx="11365992" cy="86868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11480" y="411480"/>
            <a:ext cx="11365992" cy="8686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1480" y="1463040"/>
            <a:ext cx="11365992" cy="46634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24160" y="6382512"/>
            <a:ext cx="135331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1"/>
          <p:cNvSpPr/>
          <p:nvPr/>
        </p:nvSpPr>
        <p:spPr>
          <a:xfrm>
            <a:off x="411480" y="292608"/>
            <a:ext cx="640080" cy="64008"/>
          </a:xfrm>
          <a:prstGeom prst="rect">
            <a:avLst/>
          </a:prstGeom>
          <a:solidFill>
            <a:srgbClr val="F2A5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2"/>
          <p:cNvSpPr txBox="1"/>
          <p:nvPr/>
        </p:nvSpPr>
        <p:spPr>
          <a:xfrm>
            <a:off x="6291072" y="18288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B6770"/>
                </a:solidFill>
                <a:latin typeface="Arial"/>
              </a:rPr>
              <a:t>Illustrative example, not real data   </a:t>
            </a:r>
            <a:r>
              <a:rPr sz="900" b="1">
                <a:solidFill>
                  <a:srgbClr val="0B3C49"/>
                </a:solidFill>
                <a:latin typeface="Arial"/>
              </a:rPr>
              <a:t>MERIDIAN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33425" y="2495550"/>
            <a:ext cx="10058400" cy="6096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b">
            <a:spAutoFit/>
          </a:bodyPr>
          <a:lstStyle/>
          <a:p>
            <a:pPr algn="l">
              <a:defRPr/>
            </a:pPr>
            <a:r>
              <a:rPr sz="4000" b="1">
                <a:solidFill>
                  <a:schemeClr val="bg1"/>
                </a:solidFill>
              </a:rPr>
              <a:t>Southeast Asia entry: Vietnam first</a:t>
            </a:r>
          </a:p>
        </p:txBody>
      </p:sp>
      <p:sp>
        <p:nvSpPr>
          <p:cNvPr id="3" name="cover-tagline"/>
          <p:cNvSpPr txBox="1"/>
          <p:nvPr/>
        </p:nvSpPr>
        <p:spPr>
          <a:xfrm>
            <a:off x="733425" y="3238500"/>
            <a:ext cx="10058400" cy="3238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spAutoFit/>
          </a:bodyPr>
          <a:lstStyle/>
          <a:p>
            <a:pPr algn="l">
              <a:defRPr/>
            </a:pPr>
            <a:r>
              <a:rPr sz="2000">
                <a:solidFill>
                  <a:schemeClr val="bg1"/>
                </a:solidFill>
              </a:rPr>
              <a:t>A capped $12M first phase with two go/no-go gates</a:t>
            </a:r>
          </a:p>
        </p:txBody>
      </p:sp>
      <p:sp>
        <p:nvSpPr>
          <p:cNvPr id="4" name="stage-1-marker"/>
          <p:cNvSpPr/>
          <p:nvPr/>
        </p:nvSpPr>
        <p:spPr>
          <a:xfrm>
            <a:off x="733425" y="4000500"/>
            <a:ext cx="495300" cy="4953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stage-1-num"/>
          <p:cNvSpPr txBox="1"/>
          <p:nvPr/>
        </p:nvSpPr>
        <p:spPr>
          <a:xfrm>
            <a:off x="733425" y="4000500"/>
            <a:ext cx="495300" cy="495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ctr">
            <a:spAutoFit/>
          </a:bodyPr>
          <a:lstStyle/>
          <a:p>
            <a:pPr algn="ctr">
              <a:defRPr/>
            </a:pPr>
            <a:r>
              <a:rPr sz="14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6" name="stage-1-label"/>
          <p:cNvSpPr txBox="1"/>
          <p:nvPr/>
        </p:nvSpPr>
        <p:spPr>
          <a:xfrm>
            <a:off x="1381125" y="4000500"/>
            <a:ext cx="1238250" cy="495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ctr">
            <a:spAutoFit/>
          </a:bodyPr>
          <a:lstStyle/>
          <a:p>
            <a:pPr algn="l">
              <a:defRPr/>
            </a:pPr>
            <a:r>
              <a:rPr sz="2000" b="1">
                <a:solidFill>
                  <a:schemeClr val="bg1"/>
                </a:solidFill>
              </a:rPr>
              <a:t>Vietnam</a:t>
            </a:r>
          </a:p>
        </p:txBody>
      </p:sp>
      <p:sp>
        <p:nvSpPr>
          <p:cNvPr id="7" name="stage-arrow"/>
          <p:cNvSpPr/>
          <p:nvPr/>
        </p:nvSpPr>
        <p:spPr>
          <a:xfrm>
            <a:off x="2695575" y="4162425"/>
            <a:ext cx="800100" cy="171450"/>
          </a:xfrm>
          <a:prstGeom prst="rightArrow">
            <a:avLst/>
          </a:prstGeom>
          <a:solidFill>
            <a:srgbClr val="547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stage-2-marker"/>
          <p:cNvSpPr/>
          <p:nvPr/>
        </p:nvSpPr>
        <p:spPr>
          <a:xfrm>
            <a:off x="3724275" y="4000500"/>
            <a:ext cx="495300" cy="495300"/>
          </a:xfrm>
          <a:prstGeom prst="ellipse">
            <a:avLst/>
          </a:prstGeom>
          <a:solidFill>
            <a:srgbClr val="547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stage-2-num"/>
          <p:cNvSpPr txBox="1"/>
          <p:nvPr/>
        </p:nvSpPr>
        <p:spPr>
          <a:xfrm>
            <a:off x="3724275" y="4000500"/>
            <a:ext cx="495300" cy="495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ctr">
            <a:spAutoFit/>
          </a:bodyPr>
          <a:lstStyle/>
          <a:p>
            <a:pPr algn="ctr">
              <a:defRPr/>
            </a:pPr>
            <a:r>
              <a:rPr sz="1400" b="1">
                <a:solidFill>
                  <a:schemeClr val="bg1"/>
                </a:solidFill>
              </a:rPr>
              <a:t>02</a:t>
            </a:r>
          </a:p>
        </p:txBody>
      </p:sp>
      <p:sp>
        <p:nvSpPr>
          <p:cNvPr id="10" name="stage-2-label"/>
          <p:cNvSpPr txBox="1"/>
          <p:nvPr/>
        </p:nvSpPr>
        <p:spPr>
          <a:xfrm>
            <a:off x="4371975" y="4000500"/>
            <a:ext cx="1524000" cy="495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ctr">
            <a:spAutoFit/>
          </a:bodyPr>
          <a:lstStyle/>
          <a:p>
            <a:pPr algn="l">
              <a:defRPr/>
            </a:pPr>
            <a:r>
              <a:rPr sz="2000">
                <a:solidFill>
                  <a:schemeClr val="bg1"/>
                </a:solidFill>
              </a:rPr>
              <a:t>Indonesia</a:t>
            </a:r>
          </a:p>
        </p:txBody>
      </p:sp>
      <p:sp>
        <p:nvSpPr>
          <p:cNvPr id="11" name="cover-subtitle"/>
          <p:cNvSpPr txBox="1"/>
          <p:nvPr/>
        </p:nvSpPr>
        <p:spPr>
          <a:xfrm>
            <a:off x="733425" y="5391150"/>
            <a:ext cx="6667500" cy="2286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spAutoFit/>
          </a:bodyPr>
          <a:lstStyle/>
          <a:p>
            <a:pPr algn="l">
              <a:defRPr/>
            </a:pPr>
            <a:r>
              <a:rPr sz="1400" b="1">
                <a:solidFill>
                  <a:schemeClr val="bg1"/>
                </a:solidFill>
              </a:rPr>
              <a:t>Recommendation to the Meridian investment committee</a:t>
            </a:r>
          </a:p>
        </p:txBody>
      </p:sp>
      <p:sp>
        <p:nvSpPr>
          <p:cNvPr id="12" name="cover-presenter"/>
          <p:cNvSpPr txBox="1"/>
          <p:nvPr/>
        </p:nvSpPr>
        <p:spPr>
          <a:xfrm>
            <a:off x="733425" y="5638800"/>
            <a:ext cx="6667500" cy="2286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spAutoFit/>
          </a:bodyPr>
          <a:lstStyle/>
          <a:p>
            <a:pPr algn="l">
              <a:defRPr/>
            </a:pPr>
            <a:r>
              <a:rPr sz="1400">
                <a:solidFill>
                  <a:schemeClr val="bg1"/>
                </a:solidFill>
              </a:rPr>
              <a:t>Meridian Strategy Team</a:t>
            </a:r>
          </a:p>
        </p:txBody>
      </p:sp>
      <p:sp>
        <p:nvSpPr>
          <p:cNvPr id="13" name="cover-date"/>
          <p:cNvSpPr txBox="1"/>
          <p:nvPr/>
        </p:nvSpPr>
        <p:spPr>
          <a:xfrm>
            <a:off x="733425" y="5886450"/>
            <a:ext cx="6667500" cy="2286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spAutoFit/>
          </a:bodyPr>
          <a:lstStyle/>
          <a:p>
            <a:pPr algn="l">
              <a:defRPr/>
            </a:pPr>
            <a:r>
              <a:rPr sz="1400">
                <a:solidFill>
                  <a:schemeClr val="bg1"/>
                </a:solidFill>
              </a:rPr>
              <a:t>November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4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pPr>
              <a:defRPr/>
            </a:pPr>
            <a:r>
              <a:rPr sz="2800"/>
              <a:t>Leading with Vietnam reaches a $40M run-rate in 18 months for $12M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/>
              <a:t>Source: Illustrative data, not real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pPr>
              <a:defRPr/>
            </a:pPr>
            <a:r>
              <a:rPr lang="en-US" smtClean="0"/>
              <a:t>2</a:t>
            </a:r>
            <a:endParaRPr lang="en-US"/>
          </a:p>
        </p:txBody>
      </p:sp>
      <p:sp>
        <p:nvSpPr>
          <p:cNvPr id="31" name="subtitle"/>
          <p:cNvSpPr txBox="1"/>
          <p:nvPr/>
        </p:nvSpPr>
        <p:spPr>
          <a:xfrm>
            <a:off x="409575" y="1319866"/>
            <a:ext cx="11363325" cy="44584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defRPr/>
            </a:pPr>
            <a:r>
              <a:rPr sz="1400" b="0" i="0">
                <a:solidFill>
                  <a:srgbClr val="5F5E5A"/>
                </a:solidFill>
                <a:latin typeface="+mj-lt"/>
              </a:rPr>
              <a:t>The committee is not being asked to bet on the region; it is being asked to fund one capped, gated test that pays back fast if it works and stops early if it does not.</a:t>
            </a:r>
          </a:p>
        </p:txBody>
      </p:sp>
      <p:sp>
        <p:nvSpPr>
          <p:cNvPr id="35" name="hdr-question"/>
          <p:cNvSpPr txBox="1"/>
          <p:nvPr/>
        </p:nvSpPr>
        <p:spPr>
          <a:xfrm>
            <a:off x="1104900" y="1809555"/>
            <a:ext cx="219075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defRPr/>
            </a:pPr>
            <a:r>
              <a:rPr sz="1050" b="1" i="0" spc="75">
                <a:solidFill>
                  <a:srgbClr val="5F5E5A"/>
                </a:solidFill>
                <a:latin typeface="+mj-lt"/>
              </a:rPr>
              <a:t>QUESTION</a:t>
            </a:r>
          </a:p>
        </p:txBody>
      </p:sp>
      <p:sp>
        <p:nvSpPr>
          <p:cNvPr id="4" name="hdr-answer"/>
          <p:cNvSpPr txBox="1"/>
          <p:nvPr/>
        </p:nvSpPr>
        <p:spPr>
          <a:xfrm>
            <a:off x="3543300" y="1809555"/>
            <a:ext cx="809625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defRPr/>
            </a:pPr>
            <a:r>
              <a:rPr sz="1050" b="1" i="0" spc="75">
                <a:solidFill>
                  <a:srgbClr val="5F5E5A"/>
                </a:solidFill>
                <a:latin typeface="+mj-lt"/>
              </a:rPr>
              <a:t>ANSWER</a:t>
            </a:r>
          </a:p>
        </p:txBody>
      </p:sp>
      <p:sp>
        <p:nvSpPr>
          <p:cNvPr id="32" name="hdr-rule"/>
          <p:cNvSpPr/>
          <p:nvPr/>
        </p:nvSpPr>
        <p:spPr>
          <a:xfrm>
            <a:off x="409575" y="2114550"/>
            <a:ext cx="11363325" cy="190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3" name="rule-1"/>
          <p:cNvSpPr/>
          <p:nvPr/>
        </p:nvSpPr>
        <p:spPr>
          <a:xfrm>
            <a:off x="409575" y="2828925"/>
            <a:ext cx="11363325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ule-2"/>
          <p:cNvSpPr/>
          <p:nvPr/>
        </p:nvSpPr>
        <p:spPr>
          <a:xfrm>
            <a:off x="409575" y="3514725"/>
            <a:ext cx="11363325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ule-3"/>
          <p:cNvSpPr/>
          <p:nvPr/>
        </p:nvSpPr>
        <p:spPr>
          <a:xfrm>
            <a:off x="409575" y="4200525"/>
            <a:ext cx="11363325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rule-4"/>
          <p:cNvSpPr/>
          <p:nvPr/>
        </p:nvSpPr>
        <p:spPr>
          <a:xfrm>
            <a:off x="409575" y="4886325"/>
            <a:ext cx="11363325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rule-5"/>
          <p:cNvSpPr/>
          <p:nvPr/>
        </p:nvSpPr>
        <p:spPr>
          <a:xfrm>
            <a:off x="409575" y="5572125"/>
            <a:ext cx="11363325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num-1"/>
          <p:cNvSpPr txBox="1"/>
          <p:nvPr/>
        </p:nvSpPr>
        <p:spPr>
          <a:xfrm>
            <a:off x="476250" y="2009254"/>
            <a:ext cx="571500" cy="704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400"/>
              </a:lnSpc>
              <a:defRPr/>
            </a:pPr>
            <a:r>
              <a:rPr sz="2800" b="1" i="0">
                <a:solidFill>
                  <a:schemeClr val="tx2"/>
                </a:solidFill>
                <a:latin typeface="+mj-lt"/>
              </a:rPr>
              <a:t>01</a:t>
            </a:r>
          </a:p>
        </p:txBody>
      </p:sp>
      <p:sp>
        <p:nvSpPr>
          <p:cNvPr id="12" name="q-1"/>
          <p:cNvSpPr txBox="1"/>
          <p:nvPr/>
        </p:nvSpPr>
        <p:spPr>
          <a:xfrm>
            <a:off x="1104900" y="2381027"/>
            <a:ext cx="224790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 spc="38">
                <a:solidFill>
                  <a:schemeClr val="tx2"/>
                </a:solidFill>
                <a:latin typeface="+mj-lt"/>
              </a:rPr>
              <a:t>WHERE TO START</a:t>
            </a:r>
          </a:p>
        </p:txBody>
      </p:sp>
      <p:sp>
        <p:nvSpPr>
          <p:cNvPr id="13" name="a-1"/>
          <p:cNvSpPr txBox="1"/>
          <p:nvPr/>
        </p:nvSpPr>
        <p:spPr>
          <a:xfrm>
            <a:off x="3543300" y="2242528"/>
            <a:ext cx="8096250" cy="4814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Vietnam, then Indonesia: the only two of five markets that clear both the $1.0B market-size bar and the 3.5 readiness bar</a:t>
            </a:r>
          </a:p>
        </p:txBody>
      </p:sp>
      <p:sp>
        <p:nvSpPr>
          <p:cNvPr id="14" name="num-2"/>
          <p:cNvSpPr txBox="1"/>
          <p:nvPr/>
        </p:nvSpPr>
        <p:spPr>
          <a:xfrm>
            <a:off x="476250" y="2695054"/>
            <a:ext cx="571500" cy="704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400"/>
              </a:lnSpc>
              <a:defRPr/>
            </a:pPr>
            <a:r>
              <a:rPr sz="2800" b="1" i="0">
                <a:solidFill>
                  <a:schemeClr val="tx2"/>
                </a:solidFill>
                <a:latin typeface="+mj-lt"/>
              </a:rPr>
              <a:t>02</a:t>
            </a:r>
          </a:p>
        </p:txBody>
      </p:sp>
      <p:sp>
        <p:nvSpPr>
          <p:cNvPr id="15" name="q-2"/>
          <p:cNvSpPr txBox="1"/>
          <p:nvPr/>
        </p:nvSpPr>
        <p:spPr>
          <a:xfrm>
            <a:off x="1104900" y="3066827"/>
            <a:ext cx="224790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 spc="38">
                <a:solidFill>
                  <a:schemeClr val="tx2"/>
                </a:solidFill>
                <a:latin typeface="+mj-lt"/>
              </a:rPr>
              <a:t>WHY NOW</a:t>
            </a:r>
          </a:p>
        </p:txBody>
      </p:sp>
      <p:sp>
        <p:nvSpPr>
          <p:cNvPr id="16" name="a-2"/>
          <p:cNvSpPr txBox="1"/>
          <p:nvPr/>
        </p:nvSpPr>
        <p:spPr>
          <a:xfrm>
            <a:off x="3543300" y="2928328"/>
            <a:ext cx="8096250" cy="4814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The regional category doubles from $2.1B in 2024 to $4.2B in 2030, and Vietnam passes Thailand as a market in 2027</a:t>
            </a:r>
          </a:p>
        </p:txBody>
      </p:sp>
      <p:sp>
        <p:nvSpPr>
          <p:cNvPr id="17" name="num-3"/>
          <p:cNvSpPr txBox="1"/>
          <p:nvPr/>
        </p:nvSpPr>
        <p:spPr>
          <a:xfrm>
            <a:off x="476250" y="3380854"/>
            <a:ext cx="571500" cy="704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400"/>
              </a:lnSpc>
              <a:defRPr/>
            </a:pPr>
            <a:r>
              <a:rPr sz="2800" b="1" i="0">
                <a:solidFill>
                  <a:schemeClr val="tx2"/>
                </a:solidFill>
                <a:latin typeface="+mj-lt"/>
              </a:rPr>
              <a:t>03</a:t>
            </a:r>
          </a:p>
        </p:txBody>
      </p:sp>
      <p:sp>
        <p:nvSpPr>
          <p:cNvPr id="18" name="q-3"/>
          <p:cNvSpPr txBox="1"/>
          <p:nvPr/>
        </p:nvSpPr>
        <p:spPr>
          <a:xfrm>
            <a:off x="1104900" y="3752627"/>
            <a:ext cx="224790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 spc="38">
                <a:solidFill>
                  <a:schemeClr val="tx2"/>
                </a:solidFill>
                <a:latin typeface="+mj-lt"/>
              </a:rPr>
              <a:t>HOW WE WIN</a:t>
            </a:r>
          </a:p>
        </p:txBody>
      </p:sp>
      <p:sp>
        <p:nvSpPr>
          <p:cNvPr id="19" name="a-3"/>
          <p:cNvSpPr txBox="1"/>
          <p:nvPr/>
        </p:nvSpPr>
        <p:spPr>
          <a:xfrm>
            <a:off x="3543300" y="3729619"/>
            <a:ext cx="8096250" cy="2502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A five-step, partner-led playbook, proven in one city before national rollout, then reused in Indonesia</a:t>
            </a:r>
          </a:p>
        </p:txBody>
      </p:sp>
      <p:sp>
        <p:nvSpPr>
          <p:cNvPr id="20" name="num-4"/>
          <p:cNvSpPr txBox="1"/>
          <p:nvPr/>
        </p:nvSpPr>
        <p:spPr>
          <a:xfrm>
            <a:off x="476250" y="4066654"/>
            <a:ext cx="571500" cy="704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400"/>
              </a:lnSpc>
              <a:defRPr/>
            </a:pPr>
            <a:r>
              <a:rPr sz="2800" b="1" i="0">
                <a:solidFill>
                  <a:schemeClr val="tx2"/>
                </a:solidFill>
                <a:latin typeface="+mj-lt"/>
              </a:rPr>
              <a:t>04</a:t>
            </a:r>
          </a:p>
        </p:txBody>
      </p:sp>
      <p:sp>
        <p:nvSpPr>
          <p:cNvPr id="21" name="q-4"/>
          <p:cNvSpPr txBox="1"/>
          <p:nvPr/>
        </p:nvSpPr>
        <p:spPr>
          <a:xfrm>
            <a:off x="1104900" y="4438427"/>
            <a:ext cx="224790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 spc="38">
                <a:solidFill>
                  <a:schemeClr val="tx2"/>
                </a:solidFill>
                <a:latin typeface="+mj-lt"/>
              </a:rPr>
              <a:t>WHAT IT COSTS</a:t>
            </a:r>
          </a:p>
        </p:txBody>
      </p:sp>
      <p:sp>
        <p:nvSpPr>
          <p:cNvPr id="22" name="a-4"/>
          <p:cNvSpPr txBox="1"/>
          <p:nvPr/>
        </p:nvSpPr>
        <p:spPr>
          <a:xfrm>
            <a:off x="3543300" y="4415419"/>
            <a:ext cx="8096250" cy="2502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$12M for Phase 1, capped until Gate 2, for a $40M revenue run-rate within 18 months</a:t>
            </a:r>
          </a:p>
        </p:txBody>
      </p:sp>
      <p:sp>
        <p:nvSpPr>
          <p:cNvPr id="23" name="num-5"/>
          <p:cNvSpPr txBox="1"/>
          <p:nvPr/>
        </p:nvSpPr>
        <p:spPr>
          <a:xfrm>
            <a:off x="476250" y="4752454"/>
            <a:ext cx="571500" cy="704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400"/>
              </a:lnSpc>
              <a:defRPr/>
            </a:pPr>
            <a:r>
              <a:rPr sz="2800" b="1" i="0">
                <a:solidFill>
                  <a:schemeClr val="tx2"/>
                </a:solidFill>
                <a:latin typeface="+mj-lt"/>
              </a:rPr>
              <a:t>05</a:t>
            </a:r>
          </a:p>
        </p:txBody>
      </p:sp>
      <p:sp>
        <p:nvSpPr>
          <p:cNvPr id="24" name="q-5"/>
          <p:cNvSpPr txBox="1"/>
          <p:nvPr/>
        </p:nvSpPr>
        <p:spPr>
          <a:xfrm>
            <a:off x="1104900" y="5124227"/>
            <a:ext cx="224790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 spc="38">
                <a:solidFill>
                  <a:schemeClr val="tx2"/>
                </a:solidFill>
                <a:latin typeface="+mj-lt"/>
              </a:rPr>
              <a:t>ALTERNATIVES REJECTED</a:t>
            </a:r>
          </a:p>
        </p:txBody>
      </p:sp>
      <p:sp>
        <p:nvSpPr>
          <p:cNvPr id="25" name="a-5"/>
          <p:cNvSpPr txBox="1"/>
          <p:nvPr/>
        </p:nvSpPr>
        <p:spPr>
          <a:xfrm>
            <a:off x="3543300" y="4985728"/>
            <a:ext cx="8096250" cy="4814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Thailand first fails the size bar ($0.8B by 2030); launching in all five at once spreads $12M too thin to prove anything</a:t>
            </a:r>
          </a:p>
        </p:txBody>
      </p:sp>
      <p:sp>
        <p:nvSpPr>
          <p:cNvPr id="26" name="ask-band"/>
          <p:cNvSpPr/>
          <p:nvPr/>
        </p:nvSpPr>
        <p:spPr>
          <a:xfrm>
            <a:off x="409575" y="5581650"/>
            <a:ext cx="11363325" cy="685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7" name="ask-stripe"/>
          <p:cNvSpPr/>
          <p:nvPr/>
        </p:nvSpPr>
        <p:spPr>
          <a:xfrm>
            <a:off x="409575" y="5581650"/>
            <a:ext cx="762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num-6"/>
          <p:cNvSpPr txBox="1"/>
          <p:nvPr/>
        </p:nvSpPr>
        <p:spPr>
          <a:xfrm>
            <a:off x="571500" y="5438254"/>
            <a:ext cx="571500" cy="704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400"/>
              </a:lnSpc>
              <a:defRPr/>
            </a:pPr>
            <a:r>
              <a:rPr sz="2800" b="1" i="0">
                <a:solidFill>
                  <a:schemeClr val="accent1"/>
                </a:solidFill>
                <a:latin typeface="+mj-lt"/>
              </a:rPr>
              <a:t>06</a:t>
            </a:r>
          </a:p>
        </p:txBody>
      </p:sp>
      <p:sp>
        <p:nvSpPr>
          <p:cNvPr id="29" name="q-6"/>
          <p:cNvSpPr txBox="1"/>
          <p:nvPr/>
        </p:nvSpPr>
        <p:spPr>
          <a:xfrm>
            <a:off x="1200150" y="5810027"/>
            <a:ext cx="224790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 spc="38">
                <a:solidFill>
                  <a:schemeClr val="bg1"/>
                </a:solidFill>
                <a:latin typeface="+mj-lt"/>
              </a:rPr>
              <a:t>THE ASK</a:t>
            </a:r>
          </a:p>
        </p:txBody>
      </p:sp>
      <p:sp>
        <p:nvSpPr>
          <p:cNvPr id="30" name="a-6"/>
          <p:cNvSpPr txBox="1"/>
          <p:nvPr/>
        </p:nvSpPr>
        <p:spPr>
          <a:xfrm>
            <a:off x="3543300" y="5787019"/>
            <a:ext cx="8096250" cy="2502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1" i="0">
                <a:solidFill>
                  <a:schemeClr val="bg1"/>
                </a:solidFill>
                <a:latin typeface="+mj-lt"/>
              </a:rPr>
              <a:t>Approve $12M of Phase 1 funding by 15 Nov 2026; decide on Indonesia at month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8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pPr>
              <a:defRPr/>
            </a:pPr>
            <a:r>
              <a:rPr sz="2800"/>
              <a:t>The Southeast Asia market doubles to $4.2B by 2030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/>
              <a:t>Source: Illustrative data, not real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pPr>
              <a:defRPr/>
            </a:pPr>
            <a:r>
              <a:rPr lang="en-US" smtClean="0"/>
              <a:t>3</a:t>
            </a:r>
            <a:endParaRPr lang="en-US"/>
          </a:p>
        </p:txBody>
      </p:sp>
      <p:sp>
        <p:nvSpPr>
          <p:cNvPr id="45" name="Rectangle 1"/>
          <p:cNvSpPr/>
          <p:nvPr/>
        </p:nvSpPr>
        <p:spPr>
          <a:xfrm>
            <a:off x="409575" y="285750"/>
            <a:ext cx="638175" cy="57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subtitle"/>
          <p:cNvSpPr txBox="1"/>
          <p:nvPr/>
        </p:nvSpPr>
        <p:spPr>
          <a:xfrm>
            <a:off x="409575" y="1309742"/>
            <a:ext cx="11363325" cy="471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9"/>
              </a:lnSpc>
              <a:defRPr/>
            </a:pPr>
            <a:r>
              <a:rPr sz="1600" b="0" i="0">
                <a:solidFill>
                  <a:srgbClr val="5F5E5A"/>
                </a:solidFill>
                <a:latin typeface="+mj-lt"/>
              </a:rPr>
              <a:t>This is a growth market worth a dedicated entry, not an export side-line; waiting means entering later, into a market twice the size.</a:t>
            </a:r>
          </a:p>
        </p:txBody>
      </p:sp>
      <p:sp>
        <p:nvSpPr>
          <p:cNvPr id="46" name="chart-axis-label"/>
          <p:cNvSpPr txBox="1"/>
          <p:nvPr/>
        </p:nvSpPr>
        <p:spPr>
          <a:xfrm>
            <a:off x="409575" y="1857227"/>
            <a:ext cx="877639" cy="1714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99"/>
              </a:lnSpc>
              <a:defRPr/>
            </a:pPr>
            <a:r>
              <a:rPr sz="1000" b="1" i="0" spc="38">
                <a:solidFill>
                  <a:srgbClr val="5F5E5A"/>
                </a:solidFill>
                <a:latin typeface="+mj-lt"/>
              </a:rPr>
              <a:t>MARKET ($B)</a:t>
            </a:r>
          </a:p>
        </p:txBody>
      </p:sp>
      <p:sp>
        <p:nvSpPr>
          <p:cNvPr id="47" name="chart-baseline"/>
          <p:cNvSpPr/>
          <p:nvPr/>
        </p:nvSpPr>
        <p:spPr>
          <a:xfrm>
            <a:off x="409575" y="5848350"/>
            <a:ext cx="7239000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bar-2024"/>
          <p:cNvSpPr/>
          <p:nvPr/>
        </p:nvSpPr>
        <p:spPr>
          <a:xfrm>
            <a:off x="609600" y="4419600"/>
            <a:ext cx="628650" cy="1428750"/>
          </a:xfrm>
          <a:prstGeom prst="roundRect">
            <a:avLst>
              <a:gd name="adj" fmla="val 3030"/>
            </a:avLst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value-2024"/>
          <p:cNvSpPr txBox="1"/>
          <p:nvPr/>
        </p:nvSpPr>
        <p:spPr>
          <a:xfrm>
            <a:off x="514350" y="4179347"/>
            <a:ext cx="819150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39"/>
              </a:lnSpc>
              <a:defRPr/>
            </a:pPr>
            <a:r>
              <a:rPr sz="1200" b="1" i="0">
                <a:solidFill>
                  <a:schemeClr val="tx2"/>
                </a:solidFill>
                <a:latin typeface="+mj-lt"/>
              </a:rPr>
              <a:t>2.1</a:t>
            </a:r>
          </a:p>
        </p:txBody>
      </p:sp>
      <p:sp>
        <p:nvSpPr>
          <p:cNvPr id="9" name="year-2024"/>
          <p:cNvSpPr txBox="1"/>
          <p:nvPr/>
        </p:nvSpPr>
        <p:spPr>
          <a:xfrm>
            <a:off x="514350" y="5914877"/>
            <a:ext cx="819150" cy="1714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99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2024</a:t>
            </a:r>
          </a:p>
        </p:txBody>
      </p:sp>
      <p:sp>
        <p:nvSpPr>
          <p:cNvPr id="10" name="bar-2025"/>
          <p:cNvSpPr/>
          <p:nvPr/>
        </p:nvSpPr>
        <p:spPr>
          <a:xfrm>
            <a:off x="1647825" y="4219575"/>
            <a:ext cx="628650" cy="1628775"/>
          </a:xfrm>
          <a:prstGeom prst="roundRect">
            <a:avLst>
              <a:gd name="adj" fmla="val 3030"/>
            </a:avLst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value-2025"/>
          <p:cNvSpPr txBox="1"/>
          <p:nvPr/>
        </p:nvSpPr>
        <p:spPr>
          <a:xfrm>
            <a:off x="1552575" y="3979322"/>
            <a:ext cx="819150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39"/>
              </a:lnSpc>
              <a:defRPr/>
            </a:pPr>
            <a:r>
              <a:rPr sz="1200" b="1" i="0">
                <a:solidFill>
                  <a:schemeClr val="tx2"/>
                </a:solidFill>
                <a:latin typeface="+mj-lt"/>
              </a:rPr>
              <a:t>2.4</a:t>
            </a:r>
          </a:p>
        </p:txBody>
      </p:sp>
      <p:sp>
        <p:nvSpPr>
          <p:cNvPr id="12" name="year-2025"/>
          <p:cNvSpPr txBox="1"/>
          <p:nvPr/>
        </p:nvSpPr>
        <p:spPr>
          <a:xfrm>
            <a:off x="1552575" y="5914877"/>
            <a:ext cx="819150" cy="1714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99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2025</a:t>
            </a:r>
          </a:p>
        </p:txBody>
      </p:sp>
      <p:sp>
        <p:nvSpPr>
          <p:cNvPr id="13" name="bar-2026"/>
          <p:cNvSpPr/>
          <p:nvPr/>
        </p:nvSpPr>
        <p:spPr>
          <a:xfrm>
            <a:off x="2676525" y="4076700"/>
            <a:ext cx="628650" cy="1771650"/>
          </a:xfrm>
          <a:prstGeom prst="roundRect">
            <a:avLst>
              <a:gd name="adj" fmla="val 3030"/>
            </a:avLst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value-2026"/>
          <p:cNvSpPr txBox="1"/>
          <p:nvPr/>
        </p:nvSpPr>
        <p:spPr>
          <a:xfrm>
            <a:off x="2581275" y="3836447"/>
            <a:ext cx="819150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39"/>
              </a:lnSpc>
              <a:defRPr/>
            </a:pPr>
            <a:r>
              <a:rPr sz="1200" b="1" i="0">
                <a:solidFill>
                  <a:schemeClr val="tx2"/>
                </a:solidFill>
                <a:latin typeface="+mj-lt"/>
              </a:rPr>
              <a:t>2.6</a:t>
            </a:r>
          </a:p>
        </p:txBody>
      </p:sp>
      <p:sp>
        <p:nvSpPr>
          <p:cNvPr id="15" name="year-2026"/>
          <p:cNvSpPr txBox="1"/>
          <p:nvPr/>
        </p:nvSpPr>
        <p:spPr>
          <a:xfrm>
            <a:off x="2581275" y="5914877"/>
            <a:ext cx="819150" cy="1714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99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2026</a:t>
            </a:r>
          </a:p>
        </p:txBody>
      </p:sp>
      <p:sp>
        <p:nvSpPr>
          <p:cNvPr id="16" name="bar-2027"/>
          <p:cNvSpPr/>
          <p:nvPr/>
        </p:nvSpPr>
        <p:spPr>
          <a:xfrm>
            <a:off x="3714750" y="3810000"/>
            <a:ext cx="628650" cy="2038350"/>
          </a:xfrm>
          <a:prstGeom prst="roundRect">
            <a:avLst>
              <a:gd name="adj" fmla="val 3030"/>
            </a:avLst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value-2027"/>
          <p:cNvSpPr txBox="1"/>
          <p:nvPr/>
        </p:nvSpPr>
        <p:spPr>
          <a:xfrm>
            <a:off x="3619500" y="3569747"/>
            <a:ext cx="819150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39"/>
              </a:lnSpc>
              <a:defRPr/>
            </a:pPr>
            <a:r>
              <a:rPr sz="1200" b="1" i="0">
                <a:solidFill>
                  <a:schemeClr val="tx2"/>
                </a:solidFill>
                <a:latin typeface="+mj-lt"/>
              </a:rPr>
              <a:t>3.0</a:t>
            </a:r>
          </a:p>
        </p:txBody>
      </p:sp>
      <p:sp>
        <p:nvSpPr>
          <p:cNvPr id="18" name="year-2027"/>
          <p:cNvSpPr txBox="1"/>
          <p:nvPr/>
        </p:nvSpPr>
        <p:spPr>
          <a:xfrm>
            <a:off x="3619500" y="5914877"/>
            <a:ext cx="819150" cy="1714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99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2027</a:t>
            </a:r>
          </a:p>
        </p:txBody>
      </p:sp>
      <p:sp>
        <p:nvSpPr>
          <p:cNvPr id="19" name="bar-2028"/>
          <p:cNvSpPr/>
          <p:nvPr/>
        </p:nvSpPr>
        <p:spPr>
          <a:xfrm>
            <a:off x="4752975" y="3600450"/>
            <a:ext cx="628650" cy="2247900"/>
          </a:xfrm>
          <a:prstGeom prst="roundRect">
            <a:avLst>
              <a:gd name="adj" fmla="val 3030"/>
            </a:avLst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value-2028"/>
          <p:cNvSpPr txBox="1"/>
          <p:nvPr/>
        </p:nvSpPr>
        <p:spPr>
          <a:xfrm>
            <a:off x="4657725" y="3360197"/>
            <a:ext cx="819150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39"/>
              </a:lnSpc>
              <a:defRPr/>
            </a:pPr>
            <a:r>
              <a:rPr sz="1200" b="1" i="0">
                <a:solidFill>
                  <a:schemeClr val="tx2"/>
                </a:solidFill>
                <a:latin typeface="+mj-lt"/>
              </a:rPr>
              <a:t>3.3</a:t>
            </a:r>
          </a:p>
        </p:txBody>
      </p:sp>
      <p:sp>
        <p:nvSpPr>
          <p:cNvPr id="21" name="year-2028"/>
          <p:cNvSpPr txBox="1"/>
          <p:nvPr/>
        </p:nvSpPr>
        <p:spPr>
          <a:xfrm>
            <a:off x="4657725" y="5914877"/>
            <a:ext cx="819150" cy="1714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99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2028</a:t>
            </a:r>
          </a:p>
        </p:txBody>
      </p:sp>
      <p:sp>
        <p:nvSpPr>
          <p:cNvPr id="22" name="bar-2029"/>
          <p:cNvSpPr/>
          <p:nvPr/>
        </p:nvSpPr>
        <p:spPr>
          <a:xfrm>
            <a:off x="5781675" y="3333750"/>
            <a:ext cx="628650" cy="2514600"/>
          </a:xfrm>
          <a:prstGeom prst="roundRect">
            <a:avLst>
              <a:gd name="adj" fmla="val 3030"/>
            </a:avLst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3" name="value-2029"/>
          <p:cNvSpPr txBox="1"/>
          <p:nvPr/>
        </p:nvSpPr>
        <p:spPr>
          <a:xfrm>
            <a:off x="5686425" y="3093497"/>
            <a:ext cx="819150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39"/>
              </a:lnSpc>
              <a:defRPr/>
            </a:pPr>
            <a:r>
              <a:rPr sz="1200" b="1" i="0">
                <a:solidFill>
                  <a:schemeClr val="tx2"/>
                </a:solidFill>
                <a:latin typeface="+mj-lt"/>
              </a:rPr>
              <a:t>3.7</a:t>
            </a:r>
          </a:p>
        </p:txBody>
      </p:sp>
      <p:sp>
        <p:nvSpPr>
          <p:cNvPr id="24" name="year-2029"/>
          <p:cNvSpPr txBox="1"/>
          <p:nvPr/>
        </p:nvSpPr>
        <p:spPr>
          <a:xfrm>
            <a:off x="5686425" y="5914877"/>
            <a:ext cx="819150" cy="1714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99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2029</a:t>
            </a:r>
          </a:p>
        </p:txBody>
      </p:sp>
      <p:sp>
        <p:nvSpPr>
          <p:cNvPr id="25" name="bar-2030"/>
          <p:cNvSpPr/>
          <p:nvPr/>
        </p:nvSpPr>
        <p:spPr>
          <a:xfrm>
            <a:off x="6819900" y="2990850"/>
            <a:ext cx="628650" cy="2857500"/>
          </a:xfrm>
          <a:prstGeom prst="roundRect">
            <a:avLst>
              <a:gd name="adj" fmla="val 3030"/>
            </a:avLst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callout-2030-stem"/>
          <p:cNvSpPr/>
          <p:nvPr/>
        </p:nvSpPr>
        <p:spPr>
          <a:xfrm>
            <a:off x="7124700" y="2819400"/>
            <a:ext cx="19050" cy="1714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7" name="callout-2030"/>
          <p:cNvSpPr/>
          <p:nvPr/>
        </p:nvSpPr>
        <p:spPr>
          <a:xfrm>
            <a:off x="5448300" y="2438400"/>
            <a:ext cx="2000250" cy="3810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callout-2030"/>
          <p:cNvSpPr txBox="1"/>
          <p:nvPr/>
        </p:nvSpPr>
        <p:spPr>
          <a:xfrm>
            <a:off x="5448300" y="2510491"/>
            <a:ext cx="2000101" cy="2324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8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$4.2B, double 2024</a:t>
            </a:r>
          </a:p>
        </p:txBody>
      </p:sp>
      <p:sp>
        <p:nvSpPr>
          <p:cNvPr id="29" name="year-2030"/>
          <p:cNvSpPr txBox="1"/>
          <p:nvPr/>
        </p:nvSpPr>
        <p:spPr>
          <a:xfrm>
            <a:off x="6724650" y="5914877"/>
            <a:ext cx="819150" cy="1714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99"/>
              </a:lnSpc>
              <a:defRPr/>
            </a:pPr>
            <a:r>
              <a:rPr sz="1000" b="1" i="0">
                <a:solidFill>
                  <a:schemeClr val="tx2"/>
                </a:solidFill>
                <a:latin typeface="+mj-lt"/>
              </a:rPr>
              <a:t>2030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05775" y="1905000"/>
            <a:ext cx="3676650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1" name="ev1-marker"/>
          <p:cNvSpPr/>
          <p:nvPr/>
        </p:nvSpPr>
        <p:spPr>
          <a:xfrm>
            <a:off x="8105775" y="2095500"/>
            <a:ext cx="323850" cy="32385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2" name="ev1-marker"/>
          <p:cNvSpPr txBox="1"/>
          <p:nvPr/>
        </p:nvSpPr>
        <p:spPr>
          <a:xfrm>
            <a:off x="8105775" y="2009570"/>
            <a:ext cx="323701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550"/>
              </a:lnSpc>
              <a:defRPr/>
            </a:pPr>
            <a:r>
              <a:rPr sz="1100" b="1" i="0">
                <a:solidFill>
                  <a:schemeClr val="bg1"/>
                </a:solidFill>
                <a:latin typeface="+mj-lt"/>
              </a:rPr>
              <a:t>01</a:t>
            </a:r>
          </a:p>
        </p:txBody>
      </p:sp>
      <p:sp>
        <p:nvSpPr>
          <p:cNvPr id="33" name="ev1-heading"/>
          <p:cNvSpPr txBox="1"/>
          <p:nvPr/>
        </p:nvSpPr>
        <p:spPr>
          <a:xfrm>
            <a:off x="8582025" y="2129491"/>
            <a:ext cx="3200400" cy="2324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12% a year</a:t>
            </a:r>
          </a:p>
        </p:txBody>
      </p:sp>
      <p:sp>
        <p:nvSpPr>
          <p:cNvPr id="34" name="ev1-body"/>
          <p:cNvSpPr txBox="1"/>
          <p:nvPr/>
        </p:nvSpPr>
        <p:spPr>
          <a:xfrm>
            <a:off x="8582025" y="2413412"/>
            <a:ext cx="3200400" cy="4305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defRPr/>
            </a:pPr>
            <a:r>
              <a:rPr sz="1200" b="0" i="0">
                <a:solidFill>
                  <a:srgbClr val="1A1A1A"/>
                </a:solidFill>
                <a:latin typeface="+mj-lt"/>
              </a:rPr>
              <a:t>The category grows from $2.1B in 2024 to $4.2B in 2030, about 12% a year.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05775" y="3333750"/>
            <a:ext cx="3676650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ev2-marker"/>
          <p:cNvSpPr/>
          <p:nvPr/>
        </p:nvSpPr>
        <p:spPr>
          <a:xfrm>
            <a:off x="8105775" y="3524250"/>
            <a:ext cx="323850" cy="32385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7" name="ev2-marker"/>
          <p:cNvSpPr txBox="1"/>
          <p:nvPr/>
        </p:nvSpPr>
        <p:spPr>
          <a:xfrm>
            <a:off x="8105775" y="3438320"/>
            <a:ext cx="323701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550"/>
              </a:lnSpc>
              <a:defRPr/>
            </a:pPr>
            <a:r>
              <a:rPr sz="1100" b="1" i="0">
                <a:solidFill>
                  <a:schemeClr val="bg1"/>
                </a:solidFill>
                <a:latin typeface="+mj-lt"/>
              </a:rPr>
              <a:t>02</a:t>
            </a:r>
          </a:p>
        </p:txBody>
      </p:sp>
      <p:sp>
        <p:nvSpPr>
          <p:cNvPr id="38" name="ev2-heading"/>
          <p:cNvSpPr txBox="1"/>
          <p:nvPr/>
        </p:nvSpPr>
        <p:spPr>
          <a:xfrm>
            <a:off x="8582025" y="3558241"/>
            <a:ext cx="3200400" cy="2324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Two markets drive it</a:t>
            </a:r>
          </a:p>
        </p:txBody>
      </p:sp>
      <p:sp>
        <p:nvSpPr>
          <p:cNvPr id="39" name="ev2-body"/>
          <p:cNvSpPr txBox="1"/>
          <p:nvPr/>
        </p:nvSpPr>
        <p:spPr>
          <a:xfrm>
            <a:off x="8582025" y="3842162"/>
            <a:ext cx="3200400" cy="636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defRPr/>
            </a:pPr>
            <a:r>
              <a:rPr sz="1200" b="0" i="0">
                <a:solidFill>
                  <a:srgbClr val="1A1A1A"/>
                </a:solidFill>
                <a:latin typeface="+mj-lt"/>
              </a:rPr>
              <a:t>Vietnam (18% a year) and Indonesia (15% a year) grow fastest and make up $2.5B of the 2030 total.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05775" y="4762500"/>
            <a:ext cx="3676650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1" name="ev3-marker"/>
          <p:cNvSpPr/>
          <p:nvPr/>
        </p:nvSpPr>
        <p:spPr>
          <a:xfrm>
            <a:off x="8105775" y="4953000"/>
            <a:ext cx="323850" cy="32385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2" name="ev3-marker"/>
          <p:cNvSpPr txBox="1"/>
          <p:nvPr/>
        </p:nvSpPr>
        <p:spPr>
          <a:xfrm>
            <a:off x="8105775" y="4867070"/>
            <a:ext cx="323701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550"/>
              </a:lnSpc>
              <a:defRPr/>
            </a:pPr>
            <a:r>
              <a:rPr sz="1100" b="1" i="0">
                <a:solidFill>
                  <a:schemeClr val="bg1"/>
                </a:solidFill>
                <a:latin typeface="+mj-lt"/>
              </a:rPr>
              <a:t>03</a:t>
            </a:r>
          </a:p>
        </p:txBody>
      </p:sp>
      <p:sp>
        <p:nvSpPr>
          <p:cNvPr id="43" name="ev3-heading"/>
          <p:cNvSpPr txBox="1"/>
          <p:nvPr/>
        </p:nvSpPr>
        <p:spPr>
          <a:xfrm>
            <a:off x="8582025" y="4986991"/>
            <a:ext cx="3200400" cy="2324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Mature markets lag</a:t>
            </a:r>
          </a:p>
        </p:txBody>
      </p:sp>
      <p:sp>
        <p:nvSpPr>
          <p:cNvPr id="44" name="ev3-body"/>
          <p:cNvSpPr txBox="1"/>
          <p:nvPr/>
        </p:nvSpPr>
        <p:spPr>
          <a:xfrm>
            <a:off x="8582025" y="5270912"/>
            <a:ext cx="3200400" cy="4305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defRPr/>
            </a:pPr>
            <a:r>
              <a:rPr sz="1200" b="0" i="0">
                <a:solidFill>
                  <a:srgbClr val="1A1A1A"/>
                </a:solidFill>
                <a:latin typeface="+mj-lt"/>
              </a:rPr>
              <a:t>Thailand (6%) and Malaysia (5%) grow at under half the regional rate.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4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pPr>
              <a:defRPr/>
            </a:pPr>
            <a:r>
              <a:rPr sz="2800"/>
              <a:t>Only Vietnam and Indonesia clear both the size and readiness bar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/>
              <a:t>Source: Illustrative data, not real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pPr>
              <a:defRPr/>
            </a:pPr>
            <a:r>
              <a:rPr lang="en-US" smtClean="0"/>
              <a:t>4</a:t>
            </a:r>
            <a:endParaRPr lang="en-US"/>
          </a:p>
        </p:txBody>
      </p:sp>
      <p:sp>
        <p:nvSpPr>
          <p:cNvPr id="91" name="subtitle"/>
          <p:cNvSpPr txBox="1"/>
          <p:nvPr/>
        </p:nvSpPr>
        <p:spPr>
          <a:xfrm>
            <a:off x="409575" y="1315467"/>
            <a:ext cx="11363325" cy="3034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39"/>
              </a:lnSpc>
              <a:defRPr/>
            </a:pPr>
            <a:r>
              <a:rPr sz="1600" b="0" i="0">
                <a:solidFill>
                  <a:srgbClr val="5F5E5A"/>
                </a:solidFill>
                <a:latin typeface="+mj-lt"/>
              </a:rPr>
              <a:t>The choice of market is not a judgment call: two markets pass a simple, explicit screen and three fail it</a:t>
            </a:r>
          </a:p>
        </p:txBody>
      </p:sp>
      <p:sp>
        <p:nvSpPr>
          <p:cNvPr id="95" name="bar-label"/>
          <p:cNvSpPr txBox="1"/>
          <p:nvPr/>
        </p:nvSpPr>
        <p:spPr>
          <a:xfrm>
            <a:off x="409575" y="1864740"/>
            <a:ext cx="659457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defRPr/>
            </a:pPr>
            <a:r>
              <a:rPr sz="1050" b="1" i="0" spc="75">
                <a:solidFill>
                  <a:schemeClr val="tx2"/>
                </a:solidFill>
                <a:latin typeface="+mj-lt"/>
              </a:rPr>
              <a:t>THE BAR</a:t>
            </a:r>
          </a:p>
        </p:txBody>
      </p:sp>
      <p:sp>
        <p:nvSpPr>
          <p:cNvPr id="4" name="bar-text"/>
          <p:cNvSpPr txBox="1"/>
          <p:nvPr/>
        </p:nvSpPr>
        <p:spPr>
          <a:xfrm>
            <a:off x="1202382" y="1864740"/>
            <a:ext cx="7960965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defRPr/>
            </a:pPr>
            <a:r>
              <a:rPr sz="1050" b="0" i="0">
                <a:solidFill>
                  <a:srgbClr val="1A1A1A"/>
                </a:solidFill>
                <a:latin typeface="+mj-lt"/>
              </a:rPr>
              <a:t>A market must reach at least $1.0B by 2030 and score at least 3.5 out of 5 on readiness (partners, distribution, rules for foreign brands)</a:t>
            </a:r>
          </a:p>
        </p:txBody>
      </p:sp>
      <p:sp>
        <p:nvSpPr>
          <p:cNvPr id="92" name="th-market"/>
          <p:cNvSpPr txBox="1"/>
          <p:nvPr/>
        </p:nvSpPr>
        <p:spPr>
          <a:xfrm>
            <a:off x="600075" y="2350515"/>
            <a:ext cx="1714500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defRPr/>
            </a:pPr>
            <a:r>
              <a:rPr sz="1050" b="1" i="0" spc="60">
                <a:solidFill>
                  <a:schemeClr val="tx2"/>
                </a:solidFill>
                <a:latin typeface="+mj-lt"/>
              </a:rPr>
              <a:t>MARKET</a:t>
            </a:r>
          </a:p>
        </p:txBody>
      </p:sp>
      <p:sp>
        <p:nvSpPr>
          <p:cNvPr id="93" name="th-num-1"/>
          <p:cNvSpPr/>
          <p:nvPr/>
        </p:nvSpPr>
        <p:spPr>
          <a:xfrm>
            <a:off x="2505075" y="2209800"/>
            <a:ext cx="228600" cy="2286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h-num-1"/>
          <p:cNvSpPr txBox="1"/>
          <p:nvPr/>
        </p:nvSpPr>
        <p:spPr>
          <a:xfrm>
            <a:off x="2505075" y="2171505"/>
            <a:ext cx="228451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800"/>
              </a:lnSpc>
              <a:defRPr/>
            </a:pPr>
            <a:r>
              <a:rPr sz="1050" b="1" i="0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8" name="th-size"/>
          <p:cNvSpPr txBox="1"/>
          <p:nvPr/>
        </p:nvSpPr>
        <p:spPr>
          <a:xfrm>
            <a:off x="2828925" y="2236215"/>
            <a:ext cx="941487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defRPr/>
            </a:pPr>
            <a:r>
              <a:rPr sz="1050" b="1" i="0" spc="60">
                <a:solidFill>
                  <a:schemeClr val="tx2"/>
                </a:solidFill>
                <a:latin typeface="+mj-lt"/>
              </a:rPr>
              <a:t>SIZE BY 2030</a:t>
            </a:r>
          </a:p>
        </p:txBody>
      </p:sp>
      <p:sp>
        <p:nvSpPr>
          <p:cNvPr id="9" name="th-num-2"/>
          <p:cNvSpPr/>
          <p:nvPr/>
        </p:nvSpPr>
        <p:spPr>
          <a:xfrm>
            <a:off x="6219825" y="2209800"/>
            <a:ext cx="228600" cy="2286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h-num-2"/>
          <p:cNvSpPr txBox="1"/>
          <p:nvPr/>
        </p:nvSpPr>
        <p:spPr>
          <a:xfrm>
            <a:off x="6219825" y="2171505"/>
            <a:ext cx="228451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800"/>
              </a:lnSpc>
              <a:defRPr/>
            </a:pPr>
            <a:r>
              <a:rPr sz="1050" b="1" i="0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11" name="th-readiness"/>
          <p:cNvSpPr txBox="1"/>
          <p:nvPr/>
        </p:nvSpPr>
        <p:spPr>
          <a:xfrm>
            <a:off x="6543675" y="2236215"/>
            <a:ext cx="1611957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defRPr/>
            </a:pPr>
            <a:r>
              <a:rPr sz="1050" b="1" i="0" spc="60">
                <a:solidFill>
                  <a:schemeClr val="tx2"/>
                </a:solidFill>
                <a:latin typeface="+mj-lt"/>
              </a:rPr>
              <a:t>READINESS, OUT OF 5</a:t>
            </a:r>
          </a:p>
        </p:txBody>
      </p:sp>
      <p:sp>
        <p:nvSpPr>
          <p:cNvPr id="12" name="th-verdict"/>
          <p:cNvSpPr txBox="1"/>
          <p:nvPr/>
        </p:nvSpPr>
        <p:spPr>
          <a:xfrm>
            <a:off x="9934575" y="2350515"/>
            <a:ext cx="1809750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defRPr/>
            </a:pPr>
            <a:r>
              <a:rPr sz="1050" b="1" i="0" spc="60">
                <a:solidFill>
                  <a:schemeClr val="tx2"/>
                </a:solidFill>
                <a:latin typeface="+mj-lt"/>
              </a:rPr>
              <a:t>CLEARS THE BAR?</a:t>
            </a:r>
          </a:p>
        </p:txBody>
      </p:sp>
      <p:sp>
        <p:nvSpPr>
          <p:cNvPr id="13" name="tick-label-size"/>
          <p:cNvSpPr txBox="1"/>
          <p:nvPr/>
        </p:nvSpPr>
        <p:spPr>
          <a:xfrm>
            <a:off x="4546253" y="2468685"/>
            <a:ext cx="857101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0"/>
              </a:lnSpc>
              <a:defRPr/>
            </a:pPr>
            <a:r>
              <a:rPr sz="1050" b="1" i="0">
                <a:solidFill>
                  <a:srgbClr val="1A1A1A"/>
                </a:solidFill>
                <a:latin typeface="+mj-lt"/>
              </a:rPr>
              <a:t>Bar: $1.0B</a:t>
            </a:r>
          </a:p>
        </p:txBody>
      </p:sp>
      <p:sp>
        <p:nvSpPr>
          <p:cNvPr id="14" name="tick-label-ready"/>
          <p:cNvSpPr txBox="1"/>
          <p:nvPr/>
        </p:nvSpPr>
        <p:spPr>
          <a:xfrm>
            <a:off x="8343900" y="2468685"/>
            <a:ext cx="857101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0"/>
              </a:lnSpc>
              <a:defRPr/>
            </a:pPr>
            <a:r>
              <a:rPr sz="1050" b="1" i="0">
                <a:solidFill>
                  <a:srgbClr val="1A1A1A"/>
                </a:solidFill>
                <a:latin typeface="+mj-lt"/>
              </a:rPr>
              <a:t>Bar: 3.5</a:t>
            </a:r>
          </a:p>
        </p:txBody>
      </p:sp>
      <p:sp>
        <p:nvSpPr>
          <p:cNvPr id="15" name="header-rule"/>
          <p:cNvSpPr/>
          <p:nvPr/>
        </p:nvSpPr>
        <p:spPr>
          <a:xfrm>
            <a:off x="409575" y="2705100"/>
            <a:ext cx="11372850" cy="2857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row-vietnam"/>
          <p:cNvSpPr/>
          <p:nvPr/>
        </p:nvSpPr>
        <p:spPr>
          <a:xfrm>
            <a:off x="409575" y="2762250"/>
            <a:ext cx="11372850" cy="704850"/>
          </a:xfrm>
          <a:prstGeom prst="rect">
            <a:avLst/>
          </a:prstGeom>
          <a:solidFill>
            <a:srgbClr val="F9D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409575" y="3457575"/>
            <a:ext cx="11372850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stripe-vietnam"/>
          <p:cNvSpPr/>
          <p:nvPr/>
        </p:nvSpPr>
        <p:spPr>
          <a:xfrm>
            <a:off x="409575" y="2762250"/>
            <a:ext cx="57150" cy="695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9" name="mkt-vietnam"/>
          <p:cNvSpPr txBox="1"/>
          <p:nvPr/>
        </p:nvSpPr>
        <p:spPr>
          <a:xfrm>
            <a:off x="600075" y="2989569"/>
            <a:ext cx="1714500" cy="2324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Vietnam</a:t>
            </a:r>
          </a:p>
        </p:txBody>
      </p:sp>
      <p:sp>
        <p:nvSpPr>
          <p:cNvPr id="20" name="size-vietnam"/>
          <p:cNvSpPr txBox="1"/>
          <p:nvPr/>
        </p:nvSpPr>
        <p:spPr>
          <a:xfrm>
            <a:off x="2505075" y="2866779"/>
            <a:ext cx="819150" cy="2819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70"/>
              </a:lnSpc>
              <a:defRPr/>
            </a:pPr>
            <a:r>
              <a:rPr sz="1800" b="1" i="0">
                <a:solidFill>
                  <a:schemeClr val="tx2"/>
                </a:solidFill>
                <a:latin typeface="+mj-lt"/>
              </a:rPr>
              <a:t>$1.2B</a:t>
            </a:r>
          </a:p>
        </p:txBody>
      </p:sp>
      <p:sp>
        <p:nvSpPr>
          <p:cNvPr id="21" name="size-track-vietnam"/>
          <p:cNvSpPr/>
          <p:nvPr/>
        </p:nvSpPr>
        <p:spPr>
          <a:xfrm>
            <a:off x="3324225" y="2947095"/>
            <a:ext cx="2476500" cy="114300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2" name="size-bar-vietnam"/>
          <p:cNvSpPr/>
          <p:nvPr/>
        </p:nvSpPr>
        <p:spPr>
          <a:xfrm>
            <a:off x="3324225" y="2947095"/>
            <a:ext cx="1981200" cy="1143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3" name="size-tick-vietnam"/>
          <p:cNvSpPr/>
          <p:nvPr/>
        </p:nvSpPr>
        <p:spPr>
          <a:xfrm>
            <a:off x="4965353" y="2880420"/>
            <a:ext cx="19050" cy="2476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4" name="growth-vietnam"/>
          <p:cNvSpPr txBox="1"/>
          <p:nvPr/>
        </p:nvSpPr>
        <p:spPr>
          <a:xfrm>
            <a:off x="2505075" y="3164069"/>
            <a:ext cx="3524250" cy="1924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4"/>
              </a:lnSpc>
              <a:defRPr/>
            </a:pPr>
            <a:r>
              <a:rPr sz="1050" b="0" i="0">
                <a:solidFill>
                  <a:srgbClr val="5F5E5A"/>
                </a:solidFill>
                <a:latin typeface="+mj-lt"/>
              </a:rPr>
              <a:t>Growing 18% a year</a:t>
            </a:r>
          </a:p>
        </p:txBody>
      </p:sp>
      <p:sp>
        <p:nvSpPr>
          <p:cNvPr id="25" name="ready-vietnam"/>
          <p:cNvSpPr txBox="1"/>
          <p:nvPr/>
        </p:nvSpPr>
        <p:spPr>
          <a:xfrm>
            <a:off x="6219825" y="2866779"/>
            <a:ext cx="819150" cy="2819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70"/>
              </a:lnSpc>
              <a:defRPr/>
            </a:pPr>
            <a:r>
              <a:rPr sz="1800" b="1" i="0">
                <a:solidFill>
                  <a:schemeClr val="tx2"/>
                </a:solidFill>
                <a:latin typeface="+mj-lt"/>
              </a:rPr>
              <a:t>4.0</a:t>
            </a:r>
          </a:p>
        </p:txBody>
      </p:sp>
      <p:sp>
        <p:nvSpPr>
          <p:cNvPr id="26" name="ready-track-vietnam"/>
          <p:cNvSpPr/>
          <p:nvPr/>
        </p:nvSpPr>
        <p:spPr>
          <a:xfrm>
            <a:off x="7038975" y="2947095"/>
            <a:ext cx="2476500" cy="114300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7" name="ready-bar-vietnam"/>
          <p:cNvSpPr/>
          <p:nvPr/>
        </p:nvSpPr>
        <p:spPr>
          <a:xfrm>
            <a:off x="7038975" y="2947095"/>
            <a:ext cx="1981200" cy="1143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ready-tick-vietnam"/>
          <p:cNvSpPr/>
          <p:nvPr/>
        </p:nvSpPr>
        <p:spPr>
          <a:xfrm>
            <a:off x="8763000" y="2880420"/>
            <a:ext cx="19050" cy="2476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9" name="ready-detail-vietnam"/>
          <p:cNvSpPr txBox="1"/>
          <p:nvPr/>
        </p:nvSpPr>
        <p:spPr>
          <a:xfrm>
            <a:off x="6219825" y="3164069"/>
            <a:ext cx="3524250" cy="1924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4"/>
              </a:lnSpc>
              <a:defRPr/>
            </a:pPr>
            <a:r>
              <a:rPr sz="1050" b="0" i="0">
                <a:solidFill>
                  <a:srgbClr val="5F5E5A"/>
                </a:solidFill>
                <a:latin typeface="+mj-lt"/>
              </a:rPr>
              <a:t>Partners 4, distribution 4, rules 4</a:t>
            </a:r>
          </a:p>
        </p:txBody>
      </p:sp>
      <p:sp>
        <p:nvSpPr>
          <p:cNvPr id="30" name="mark-vietnam"/>
          <p:cNvSpPr/>
          <p:nvPr/>
        </p:nvSpPr>
        <p:spPr>
          <a:xfrm>
            <a:off x="9934575" y="3024188"/>
            <a:ext cx="171450" cy="17145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1" name="verdict-vietnam"/>
          <p:cNvSpPr txBox="1"/>
          <p:nvPr/>
        </p:nvSpPr>
        <p:spPr>
          <a:xfrm>
            <a:off x="10220325" y="2902951"/>
            <a:ext cx="734020" cy="2324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Yes</a:t>
            </a:r>
          </a:p>
        </p:txBody>
      </p:sp>
      <p:sp>
        <p:nvSpPr>
          <p:cNvPr id="32" name="reason-vietnam"/>
          <p:cNvSpPr txBox="1"/>
          <p:nvPr/>
        </p:nvSpPr>
        <p:spPr>
          <a:xfrm>
            <a:off x="10220325" y="3118379"/>
            <a:ext cx="734020" cy="1924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4"/>
              </a:lnSpc>
              <a:defRPr/>
            </a:pPr>
            <a:r>
              <a:rPr sz="1050" b="0" i="0">
                <a:solidFill>
                  <a:schemeClr val="tx2"/>
                </a:solidFill>
                <a:latin typeface="+mj-lt"/>
              </a:rPr>
              <a:t>Passes both</a:t>
            </a:r>
          </a:p>
        </p:txBody>
      </p:sp>
      <p:sp>
        <p:nvSpPr>
          <p:cNvPr id="33" name="row-indonesia"/>
          <p:cNvSpPr/>
          <p:nvPr/>
        </p:nvSpPr>
        <p:spPr>
          <a:xfrm>
            <a:off x="409575" y="3467100"/>
            <a:ext cx="11372850" cy="704850"/>
          </a:xfrm>
          <a:prstGeom prst="rect">
            <a:avLst/>
          </a:prstGeom>
          <a:solidFill>
            <a:srgbClr val="F9D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4" name="Rectangle 33"/>
          <p:cNvSpPr/>
          <p:nvPr/>
        </p:nvSpPr>
        <p:spPr>
          <a:xfrm>
            <a:off x="409575" y="4162425"/>
            <a:ext cx="11372850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5" name="stripe-indonesia"/>
          <p:cNvSpPr/>
          <p:nvPr/>
        </p:nvSpPr>
        <p:spPr>
          <a:xfrm>
            <a:off x="409575" y="3467100"/>
            <a:ext cx="57150" cy="695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mkt-indonesia"/>
          <p:cNvSpPr txBox="1"/>
          <p:nvPr/>
        </p:nvSpPr>
        <p:spPr>
          <a:xfrm>
            <a:off x="600075" y="3694419"/>
            <a:ext cx="1714500" cy="2324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Indonesia</a:t>
            </a:r>
          </a:p>
        </p:txBody>
      </p:sp>
      <p:sp>
        <p:nvSpPr>
          <p:cNvPr id="37" name="size-indonesia"/>
          <p:cNvSpPr txBox="1"/>
          <p:nvPr/>
        </p:nvSpPr>
        <p:spPr>
          <a:xfrm>
            <a:off x="2505075" y="3571629"/>
            <a:ext cx="819150" cy="2819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70"/>
              </a:lnSpc>
              <a:defRPr/>
            </a:pPr>
            <a:r>
              <a:rPr sz="1800" b="1" i="0">
                <a:solidFill>
                  <a:schemeClr val="tx2"/>
                </a:solidFill>
                <a:latin typeface="+mj-lt"/>
              </a:rPr>
              <a:t>$1.3B</a:t>
            </a:r>
          </a:p>
        </p:txBody>
      </p:sp>
      <p:sp>
        <p:nvSpPr>
          <p:cNvPr id="38" name="size-track-indonesia"/>
          <p:cNvSpPr/>
          <p:nvPr/>
        </p:nvSpPr>
        <p:spPr>
          <a:xfrm>
            <a:off x="3324225" y="3651945"/>
            <a:ext cx="2476500" cy="114300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9" name="size-bar-indonesia"/>
          <p:cNvSpPr/>
          <p:nvPr/>
        </p:nvSpPr>
        <p:spPr>
          <a:xfrm>
            <a:off x="3324225" y="3651945"/>
            <a:ext cx="2145953" cy="1143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0" name="size-tick-indonesia"/>
          <p:cNvSpPr/>
          <p:nvPr/>
        </p:nvSpPr>
        <p:spPr>
          <a:xfrm>
            <a:off x="4965353" y="3585270"/>
            <a:ext cx="19050" cy="2476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1" name="growth-indonesia"/>
          <p:cNvSpPr txBox="1"/>
          <p:nvPr/>
        </p:nvSpPr>
        <p:spPr>
          <a:xfrm>
            <a:off x="2505075" y="3868919"/>
            <a:ext cx="3524250" cy="1924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4"/>
              </a:lnSpc>
              <a:defRPr/>
            </a:pPr>
            <a:r>
              <a:rPr sz="1050" b="0" i="0">
                <a:solidFill>
                  <a:srgbClr val="5F5E5A"/>
                </a:solidFill>
                <a:latin typeface="+mj-lt"/>
              </a:rPr>
              <a:t>Growing 15% a year</a:t>
            </a:r>
          </a:p>
        </p:txBody>
      </p:sp>
      <p:sp>
        <p:nvSpPr>
          <p:cNvPr id="42" name="ready-indonesia"/>
          <p:cNvSpPr txBox="1"/>
          <p:nvPr/>
        </p:nvSpPr>
        <p:spPr>
          <a:xfrm>
            <a:off x="6219825" y="3571629"/>
            <a:ext cx="819150" cy="2819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70"/>
              </a:lnSpc>
              <a:defRPr/>
            </a:pPr>
            <a:r>
              <a:rPr sz="1800" b="1" i="0">
                <a:solidFill>
                  <a:schemeClr val="tx2"/>
                </a:solidFill>
                <a:latin typeface="+mj-lt"/>
              </a:rPr>
              <a:t>3.7</a:t>
            </a:r>
          </a:p>
        </p:txBody>
      </p:sp>
      <p:sp>
        <p:nvSpPr>
          <p:cNvPr id="43" name="ready-track-indonesia"/>
          <p:cNvSpPr/>
          <p:nvPr/>
        </p:nvSpPr>
        <p:spPr>
          <a:xfrm>
            <a:off x="7038975" y="3651945"/>
            <a:ext cx="2476500" cy="114300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4" name="ready-bar-indonesia"/>
          <p:cNvSpPr/>
          <p:nvPr/>
        </p:nvSpPr>
        <p:spPr>
          <a:xfrm>
            <a:off x="7038975" y="3651945"/>
            <a:ext cx="1832521" cy="1143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5" name="ready-tick-indonesia"/>
          <p:cNvSpPr/>
          <p:nvPr/>
        </p:nvSpPr>
        <p:spPr>
          <a:xfrm>
            <a:off x="8763000" y="3585270"/>
            <a:ext cx="19050" cy="2476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6" name="ready-detail-indonesia"/>
          <p:cNvSpPr txBox="1"/>
          <p:nvPr/>
        </p:nvSpPr>
        <p:spPr>
          <a:xfrm>
            <a:off x="6219825" y="3868919"/>
            <a:ext cx="3524250" cy="1924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4"/>
              </a:lnSpc>
              <a:defRPr/>
            </a:pPr>
            <a:r>
              <a:rPr sz="1050" b="0" i="0">
                <a:solidFill>
                  <a:srgbClr val="5F5E5A"/>
                </a:solidFill>
                <a:latin typeface="+mj-lt"/>
              </a:rPr>
              <a:t>Partners 4, distribution 4, rules 3</a:t>
            </a:r>
          </a:p>
        </p:txBody>
      </p:sp>
      <p:sp>
        <p:nvSpPr>
          <p:cNvPr id="47" name="mark-indonesia"/>
          <p:cNvSpPr/>
          <p:nvPr/>
        </p:nvSpPr>
        <p:spPr>
          <a:xfrm>
            <a:off x="9934575" y="3729038"/>
            <a:ext cx="171450" cy="17145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8" name="verdict-indonesia"/>
          <p:cNvSpPr txBox="1"/>
          <p:nvPr/>
        </p:nvSpPr>
        <p:spPr>
          <a:xfrm>
            <a:off x="10220325" y="3607801"/>
            <a:ext cx="734020" cy="2324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Yes</a:t>
            </a:r>
          </a:p>
        </p:txBody>
      </p:sp>
      <p:sp>
        <p:nvSpPr>
          <p:cNvPr id="49" name="reason-indonesia"/>
          <p:cNvSpPr txBox="1"/>
          <p:nvPr/>
        </p:nvSpPr>
        <p:spPr>
          <a:xfrm>
            <a:off x="10220325" y="3823229"/>
            <a:ext cx="734020" cy="1924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4"/>
              </a:lnSpc>
              <a:defRPr/>
            </a:pPr>
            <a:r>
              <a:rPr sz="1050" b="0" i="0">
                <a:solidFill>
                  <a:schemeClr val="tx2"/>
                </a:solidFill>
                <a:latin typeface="+mj-lt"/>
              </a:rPr>
              <a:t>Passes both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9575" y="4867275"/>
            <a:ext cx="11372850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1" name="mkt-thailand"/>
          <p:cNvSpPr txBox="1"/>
          <p:nvPr/>
        </p:nvSpPr>
        <p:spPr>
          <a:xfrm>
            <a:off x="600075" y="4399269"/>
            <a:ext cx="1714500" cy="2324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Thailand</a:t>
            </a:r>
          </a:p>
        </p:txBody>
      </p:sp>
      <p:sp>
        <p:nvSpPr>
          <p:cNvPr id="52" name="size-thailand"/>
          <p:cNvSpPr txBox="1"/>
          <p:nvPr/>
        </p:nvSpPr>
        <p:spPr>
          <a:xfrm>
            <a:off x="2505075" y="4276479"/>
            <a:ext cx="819150" cy="2819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70"/>
              </a:lnSpc>
              <a:defRPr/>
            </a:pPr>
            <a:r>
              <a:rPr sz="1800" b="1" i="0">
                <a:solidFill>
                  <a:srgbClr val="888780"/>
                </a:solidFill>
                <a:latin typeface="+mj-lt"/>
              </a:rPr>
              <a:t>$0.8B</a:t>
            </a:r>
          </a:p>
        </p:txBody>
      </p:sp>
      <p:sp>
        <p:nvSpPr>
          <p:cNvPr id="53" name="size-track-thailand"/>
          <p:cNvSpPr/>
          <p:nvPr/>
        </p:nvSpPr>
        <p:spPr>
          <a:xfrm>
            <a:off x="3324225" y="4356795"/>
            <a:ext cx="2476500" cy="114300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4" name="size-bar-thailand"/>
          <p:cNvSpPr/>
          <p:nvPr/>
        </p:nvSpPr>
        <p:spPr>
          <a:xfrm>
            <a:off x="3324225" y="4356795"/>
            <a:ext cx="1320998" cy="114300"/>
          </a:xfrm>
          <a:prstGeom prst="rect">
            <a:avLst/>
          </a:prstGeom>
          <a:solidFill>
            <a:srgbClr val="8887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5" name="size-tick-thailand"/>
          <p:cNvSpPr/>
          <p:nvPr/>
        </p:nvSpPr>
        <p:spPr>
          <a:xfrm>
            <a:off x="4965353" y="4290120"/>
            <a:ext cx="19050" cy="2476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6" name="growth-thailand"/>
          <p:cNvSpPr txBox="1"/>
          <p:nvPr/>
        </p:nvSpPr>
        <p:spPr>
          <a:xfrm>
            <a:off x="2505075" y="4573769"/>
            <a:ext cx="3524250" cy="1924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4"/>
              </a:lnSpc>
              <a:defRPr/>
            </a:pPr>
            <a:r>
              <a:rPr sz="1050" b="0" i="0">
                <a:solidFill>
                  <a:srgbClr val="5F5E5A"/>
                </a:solidFill>
                <a:latin typeface="+mj-lt"/>
              </a:rPr>
              <a:t>Growing 6% a year</a:t>
            </a:r>
          </a:p>
        </p:txBody>
      </p:sp>
      <p:sp>
        <p:nvSpPr>
          <p:cNvPr id="57" name="ready-thailand"/>
          <p:cNvSpPr txBox="1"/>
          <p:nvPr/>
        </p:nvSpPr>
        <p:spPr>
          <a:xfrm>
            <a:off x="6219825" y="4276479"/>
            <a:ext cx="819150" cy="2819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70"/>
              </a:lnSpc>
              <a:defRPr/>
            </a:pPr>
            <a:r>
              <a:rPr sz="1800" b="1" i="0">
                <a:solidFill>
                  <a:schemeClr val="tx2"/>
                </a:solidFill>
                <a:latin typeface="+mj-lt"/>
              </a:rPr>
              <a:t>4.0</a:t>
            </a:r>
          </a:p>
        </p:txBody>
      </p:sp>
      <p:sp>
        <p:nvSpPr>
          <p:cNvPr id="58" name="ready-track-thailand"/>
          <p:cNvSpPr/>
          <p:nvPr/>
        </p:nvSpPr>
        <p:spPr>
          <a:xfrm>
            <a:off x="7038975" y="4356795"/>
            <a:ext cx="2476500" cy="114300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9" name="ready-bar-thailand"/>
          <p:cNvSpPr/>
          <p:nvPr/>
        </p:nvSpPr>
        <p:spPr>
          <a:xfrm>
            <a:off x="7038975" y="4356795"/>
            <a:ext cx="1981200" cy="1143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0" name="ready-tick-thailand"/>
          <p:cNvSpPr/>
          <p:nvPr/>
        </p:nvSpPr>
        <p:spPr>
          <a:xfrm>
            <a:off x="8763000" y="4290120"/>
            <a:ext cx="19050" cy="2476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1" name="ready-detail-thailand"/>
          <p:cNvSpPr txBox="1"/>
          <p:nvPr/>
        </p:nvSpPr>
        <p:spPr>
          <a:xfrm>
            <a:off x="6219825" y="4573769"/>
            <a:ext cx="3524250" cy="1924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4"/>
              </a:lnSpc>
              <a:defRPr/>
            </a:pPr>
            <a:r>
              <a:rPr sz="1050" b="0" i="0">
                <a:solidFill>
                  <a:srgbClr val="5F5E5A"/>
                </a:solidFill>
                <a:latin typeface="+mj-lt"/>
              </a:rPr>
              <a:t>Ready</a:t>
            </a:r>
          </a:p>
        </p:txBody>
      </p:sp>
      <p:sp>
        <p:nvSpPr>
          <p:cNvPr id="62" name="mark-thailand"/>
          <p:cNvSpPr/>
          <p:nvPr/>
        </p:nvSpPr>
        <p:spPr>
          <a:xfrm>
            <a:off x="9944100" y="4443412"/>
            <a:ext cx="152400" cy="152400"/>
          </a:xfrm>
          <a:prstGeom prst="ellipse">
            <a:avLst/>
          </a:prstGeom>
          <a:noFill/>
          <a:ln w="19050">
            <a:solidFill>
              <a:srgbClr val="888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3" name="verdict-thailand"/>
          <p:cNvSpPr txBox="1"/>
          <p:nvPr/>
        </p:nvSpPr>
        <p:spPr>
          <a:xfrm>
            <a:off x="10220325" y="4312651"/>
            <a:ext cx="741164" cy="2324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defRPr/>
            </a:pPr>
            <a:r>
              <a:rPr sz="1400" b="1" i="0">
                <a:solidFill>
                  <a:srgbClr val="5F5E5A"/>
                </a:solidFill>
                <a:latin typeface="+mj-lt"/>
              </a:rPr>
              <a:t>No</a:t>
            </a:r>
          </a:p>
        </p:txBody>
      </p:sp>
      <p:sp>
        <p:nvSpPr>
          <p:cNvPr id="64" name="reason-thailand"/>
          <p:cNvSpPr txBox="1"/>
          <p:nvPr/>
        </p:nvSpPr>
        <p:spPr>
          <a:xfrm>
            <a:off x="10220325" y="4528079"/>
            <a:ext cx="741164" cy="1924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4"/>
              </a:lnSpc>
              <a:defRPr/>
            </a:pPr>
            <a:r>
              <a:rPr sz="1050" b="0" i="0">
                <a:solidFill>
                  <a:srgbClr val="5F5E5A"/>
                </a:solidFill>
                <a:latin typeface="+mj-lt"/>
              </a:rPr>
              <a:t>Fails on size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9575" y="5572125"/>
            <a:ext cx="11372850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6" name="mkt-philippines"/>
          <p:cNvSpPr txBox="1"/>
          <p:nvPr/>
        </p:nvSpPr>
        <p:spPr>
          <a:xfrm>
            <a:off x="600075" y="5104119"/>
            <a:ext cx="1714500" cy="2324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Philippines</a:t>
            </a:r>
          </a:p>
        </p:txBody>
      </p:sp>
      <p:sp>
        <p:nvSpPr>
          <p:cNvPr id="67" name="size-philippines"/>
          <p:cNvSpPr txBox="1"/>
          <p:nvPr/>
        </p:nvSpPr>
        <p:spPr>
          <a:xfrm>
            <a:off x="2505075" y="5086997"/>
            <a:ext cx="819150" cy="2819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70"/>
              </a:lnSpc>
              <a:defRPr/>
            </a:pPr>
            <a:r>
              <a:rPr sz="1800" b="1" i="0">
                <a:solidFill>
                  <a:srgbClr val="888780"/>
                </a:solidFill>
                <a:latin typeface="+mj-lt"/>
              </a:rPr>
              <a:t>$0.5B</a:t>
            </a:r>
          </a:p>
        </p:txBody>
      </p:sp>
      <p:sp>
        <p:nvSpPr>
          <p:cNvPr id="68" name="size-track-philippines"/>
          <p:cNvSpPr/>
          <p:nvPr/>
        </p:nvSpPr>
        <p:spPr>
          <a:xfrm>
            <a:off x="3324225" y="5167312"/>
            <a:ext cx="2476500" cy="114300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9" name="size-bar-philippines"/>
          <p:cNvSpPr/>
          <p:nvPr/>
        </p:nvSpPr>
        <p:spPr>
          <a:xfrm>
            <a:off x="3324225" y="5167312"/>
            <a:ext cx="825698" cy="114300"/>
          </a:xfrm>
          <a:prstGeom prst="rect">
            <a:avLst/>
          </a:prstGeom>
          <a:solidFill>
            <a:srgbClr val="8887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0" name="size-tick-philippines"/>
          <p:cNvSpPr/>
          <p:nvPr/>
        </p:nvSpPr>
        <p:spPr>
          <a:xfrm>
            <a:off x="4965353" y="5100638"/>
            <a:ext cx="19050" cy="2476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1" name="ready-philippines"/>
          <p:cNvSpPr txBox="1"/>
          <p:nvPr/>
        </p:nvSpPr>
        <p:spPr>
          <a:xfrm>
            <a:off x="6219825" y="5086997"/>
            <a:ext cx="819150" cy="2819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70"/>
              </a:lnSpc>
              <a:defRPr/>
            </a:pPr>
            <a:r>
              <a:rPr sz="1800" b="1" i="0">
                <a:solidFill>
                  <a:srgbClr val="888780"/>
                </a:solidFill>
                <a:latin typeface="+mj-lt"/>
              </a:rPr>
              <a:t>2.7</a:t>
            </a:r>
          </a:p>
        </p:txBody>
      </p:sp>
      <p:sp>
        <p:nvSpPr>
          <p:cNvPr id="72" name="ready-track-philippines"/>
          <p:cNvSpPr/>
          <p:nvPr/>
        </p:nvSpPr>
        <p:spPr>
          <a:xfrm>
            <a:off x="7038975" y="5167312"/>
            <a:ext cx="2476500" cy="114300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3" name="ready-bar-philippines"/>
          <p:cNvSpPr/>
          <p:nvPr/>
        </p:nvSpPr>
        <p:spPr>
          <a:xfrm>
            <a:off x="7038975" y="5167312"/>
            <a:ext cx="1337221" cy="114300"/>
          </a:xfrm>
          <a:prstGeom prst="rect">
            <a:avLst/>
          </a:prstGeom>
          <a:solidFill>
            <a:srgbClr val="8887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4" name="ready-tick-philippines"/>
          <p:cNvSpPr/>
          <p:nvPr/>
        </p:nvSpPr>
        <p:spPr>
          <a:xfrm>
            <a:off x="8763000" y="5100638"/>
            <a:ext cx="19050" cy="2476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5" name="mark-philippines"/>
          <p:cNvSpPr/>
          <p:nvPr/>
        </p:nvSpPr>
        <p:spPr>
          <a:xfrm>
            <a:off x="9944100" y="5148262"/>
            <a:ext cx="152400" cy="152400"/>
          </a:xfrm>
          <a:prstGeom prst="ellipse">
            <a:avLst/>
          </a:prstGeom>
          <a:noFill/>
          <a:ln w="19050">
            <a:solidFill>
              <a:srgbClr val="888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6" name="verdict-philippines"/>
          <p:cNvSpPr txBox="1"/>
          <p:nvPr/>
        </p:nvSpPr>
        <p:spPr>
          <a:xfrm>
            <a:off x="10220325" y="5017501"/>
            <a:ext cx="578197" cy="2324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defRPr/>
            </a:pPr>
            <a:r>
              <a:rPr sz="1400" b="1" i="0">
                <a:solidFill>
                  <a:srgbClr val="5F5E5A"/>
                </a:solidFill>
                <a:latin typeface="+mj-lt"/>
              </a:rPr>
              <a:t>No</a:t>
            </a:r>
          </a:p>
        </p:txBody>
      </p:sp>
      <p:sp>
        <p:nvSpPr>
          <p:cNvPr id="77" name="reason-philippines"/>
          <p:cNvSpPr txBox="1"/>
          <p:nvPr/>
        </p:nvSpPr>
        <p:spPr>
          <a:xfrm>
            <a:off x="10220325" y="5232929"/>
            <a:ext cx="578197" cy="1924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4"/>
              </a:lnSpc>
              <a:defRPr/>
            </a:pPr>
            <a:r>
              <a:rPr sz="1050" b="0" i="0">
                <a:solidFill>
                  <a:srgbClr val="5F5E5A"/>
                </a:solidFill>
                <a:latin typeface="+mj-lt"/>
              </a:rPr>
              <a:t>Fails both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09575" y="6276975"/>
            <a:ext cx="11372850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9" name="mkt-malaysia"/>
          <p:cNvSpPr txBox="1"/>
          <p:nvPr/>
        </p:nvSpPr>
        <p:spPr>
          <a:xfrm>
            <a:off x="600075" y="5808969"/>
            <a:ext cx="1714500" cy="2324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Malaysia</a:t>
            </a:r>
          </a:p>
        </p:txBody>
      </p:sp>
      <p:sp>
        <p:nvSpPr>
          <p:cNvPr id="80" name="size-malaysia"/>
          <p:cNvSpPr txBox="1"/>
          <p:nvPr/>
        </p:nvSpPr>
        <p:spPr>
          <a:xfrm>
            <a:off x="2505075" y="5791847"/>
            <a:ext cx="819150" cy="2819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70"/>
              </a:lnSpc>
              <a:defRPr/>
            </a:pPr>
            <a:r>
              <a:rPr sz="1800" b="1" i="0">
                <a:solidFill>
                  <a:srgbClr val="888780"/>
                </a:solidFill>
                <a:latin typeface="+mj-lt"/>
              </a:rPr>
              <a:t>$0.4B</a:t>
            </a:r>
          </a:p>
        </p:txBody>
      </p:sp>
      <p:sp>
        <p:nvSpPr>
          <p:cNvPr id="81" name="size-track-malaysia"/>
          <p:cNvSpPr/>
          <p:nvPr/>
        </p:nvSpPr>
        <p:spPr>
          <a:xfrm>
            <a:off x="3324225" y="5872162"/>
            <a:ext cx="2476500" cy="114300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2" name="size-bar-malaysia"/>
          <p:cNvSpPr/>
          <p:nvPr/>
        </p:nvSpPr>
        <p:spPr>
          <a:xfrm>
            <a:off x="3324225" y="5872162"/>
            <a:ext cx="660053" cy="114300"/>
          </a:xfrm>
          <a:prstGeom prst="rect">
            <a:avLst/>
          </a:prstGeom>
          <a:solidFill>
            <a:srgbClr val="8887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3" name="size-tick-malaysia"/>
          <p:cNvSpPr/>
          <p:nvPr/>
        </p:nvSpPr>
        <p:spPr>
          <a:xfrm>
            <a:off x="4965353" y="5805488"/>
            <a:ext cx="19050" cy="2476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4" name="ready-malaysia"/>
          <p:cNvSpPr txBox="1"/>
          <p:nvPr/>
        </p:nvSpPr>
        <p:spPr>
          <a:xfrm>
            <a:off x="6219825" y="5791847"/>
            <a:ext cx="819150" cy="2819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70"/>
              </a:lnSpc>
              <a:defRPr/>
            </a:pPr>
            <a:r>
              <a:rPr sz="1800" b="1" i="0">
                <a:solidFill>
                  <a:srgbClr val="888780"/>
                </a:solidFill>
                <a:latin typeface="+mj-lt"/>
              </a:rPr>
              <a:t>3.3</a:t>
            </a:r>
          </a:p>
        </p:txBody>
      </p:sp>
      <p:sp>
        <p:nvSpPr>
          <p:cNvPr id="85" name="ready-track-malaysia"/>
          <p:cNvSpPr/>
          <p:nvPr/>
        </p:nvSpPr>
        <p:spPr>
          <a:xfrm>
            <a:off x="7038975" y="5872162"/>
            <a:ext cx="2476500" cy="114300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6" name="ready-bar-malaysia"/>
          <p:cNvSpPr/>
          <p:nvPr/>
        </p:nvSpPr>
        <p:spPr>
          <a:xfrm>
            <a:off x="7038975" y="5872162"/>
            <a:ext cx="1634430" cy="114300"/>
          </a:xfrm>
          <a:prstGeom prst="rect">
            <a:avLst/>
          </a:prstGeom>
          <a:solidFill>
            <a:srgbClr val="8887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7" name="ready-tick-malaysia"/>
          <p:cNvSpPr/>
          <p:nvPr/>
        </p:nvSpPr>
        <p:spPr>
          <a:xfrm>
            <a:off x="8763000" y="5805488"/>
            <a:ext cx="19050" cy="2476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8" name="mark-malaysia"/>
          <p:cNvSpPr/>
          <p:nvPr/>
        </p:nvSpPr>
        <p:spPr>
          <a:xfrm>
            <a:off x="9944100" y="5853112"/>
            <a:ext cx="152400" cy="152400"/>
          </a:xfrm>
          <a:prstGeom prst="ellipse">
            <a:avLst/>
          </a:prstGeom>
          <a:noFill/>
          <a:ln w="19050">
            <a:solidFill>
              <a:srgbClr val="888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9" name="verdict-malaysia"/>
          <p:cNvSpPr txBox="1"/>
          <p:nvPr/>
        </p:nvSpPr>
        <p:spPr>
          <a:xfrm>
            <a:off x="10220325" y="5722351"/>
            <a:ext cx="578197" cy="2324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defRPr/>
            </a:pPr>
            <a:r>
              <a:rPr sz="1400" b="1" i="0">
                <a:solidFill>
                  <a:srgbClr val="5F5E5A"/>
                </a:solidFill>
                <a:latin typeface="+mj-lt"/>
              </a:rPr>
              <a:t>No</a:t>
            </a:r>
          </a:p>
        </p:txBody>
      </p:sp>
      <p:sp>
        <p:nvSpPr>
          <p:cNvPr id="90" name="reason-malaysia"/>
          <p:cNvSpPr txBox="1"/>
          <p:nvPr/>
        </p:nvSpPr>
        <p:spPr>
          <a:xfrm>
            <a:off x="10220325" y="5937779"/>
            <a:ext cx="578197" cy="1924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4"/>
              </a:lnSpc>
              <a:defRPr/>
            </a:pPr>
            <a:r>
              <a:rPr sz="1050" b="0" i="0">
                <a:solidFill>
                  <a:srgbClr val="5F5E5A"/>
                </a:solidFill>
                <a:latin typeface="+mj-lt"/>
              </a:rPr>
              <a:t>Fails both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pPr>
              <a:defRPr/>
            </a:pPr>
            <a:r>
              <a:rPr sz="2800"/>
              <a:t>Vietnam passes Thailand in 2027 and the gap keeps widening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/>
              <a:t>Source: Illustrative data, not real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pPr>
              <a:defRPr/>
            </a:pPr>
            <a:r>
              <a:rPr lang="en-US" smtClean="0"/>
              <a:t>5</a:t>
            </a:r>
            <a:endParaRPr lang="en-US"/>
          </a:p>
        </p:txBody>
      </p:sp>
      <p:sp>
        <p:nvSpPr>
          <p:cNvPr id="67" name="subtitle"/>
          <p:cNvSpPr txBox="1"/>
          <p:nvPr/>
        </p:nvSpPr>
        <p:spPr>
          <a:xfrm>
            <a:off x="409575" y="1326259"/>
            <a:ext cx="11363325" cy="283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79"/>
              </a:lnSpc>
              <a:defRPr/>
            </a:pPr>
            <a:r>
              <a:rPr sz="1600" b="0" i="0">
                <a:solidFill>
                  <a:srgbClr val="5F5E5A"/>
                </a:solidFill>
                <a:latin typeface="+mj-lt"/>
              </a:rPr>
              <a:t>Choosing by today's market size picks the wrong country; by 2030 Vietnam is 1.5 times Thailand</a:t>
            </a:r>
          </a:p>
        </p:txBody>
      </p:sp>
      <p:sp>
        <p:nvSpPr>
          <p:cNvPr id="71" name="c-anchor-panel"/>
          <p:cNvSpPr/>
          <p:nvPr/>
        </p:nvSpPr>
        <p:spPr>
          <a:xfrm>
            <a:off x="409575" y="1752600"/>
            <a:ext cx="3238500" cy="460057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c-anchor-eyebrow"/>
          <p:cNvSpPr txBox="1"/>
          <p:nvPr/>
        </p:nvSpPr>
        <p:spPr>
          <a:xfrm>
            <a:off x="676275" y="2022943"/>
            <a:ext cx="2705100" cy="1676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defRPr/>
            </a:pPr>
            <a:r>
              <a:rPr sz="900" b="1" i="0" spc="112">
                <a:solidFill>
                  <a:schemeClr val="bg1"/>
                </a:solidFill>
                <a:latin typeface="+mj-lt"/>
              </a:rPr>
              <a:t>1.5 TIMES BY 2030</a:t>
            </a:r>
          </a:p>
        </p:txBody>
      </p:sp>
      <p:sp>
        <p:nvSpPr>
          <p:cNvPr id="68" name="c-anchor-hero"/>
          <p:cNvSpPr txBox="1"/>
          <p:nvPr/>
        </p:nvSpPr>
        <p:spPr>
          <a:xfrm>
            <a:off x="638175" y="2342034"/>
            <a:ext cx="2781300" cy="866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300"/>
              </a:lnSpc>
              <a:defRPr/>
            </a:pPr>
            <a:r>
              <a:rPr sz="6000" b="1" i="0">
                <a:solidFill>
                  <a:schemeClr val="bg1"/>
                </a:solidFill>
                <a:latin typeface="+mj-lt"/>
              </a:rPr>
              <a:t>1.5x</a:t>
            </a:r>
          </a:p>
        </p:txBody>
      </p:sp>
      <p:sp>
        <p:nvSpPr>
          <p:cNvPr id="69" name="c-anchor-hero-body"/>
          <p:cNvSpPr txBox="1"/>
          <p:nvPr/>
        </p:nvSpPr>
        <p:spPr>
          <a:xfrm>
            <a:off x="676275" y="3301142"/>
            <a:ext cx="2705100" cy="4457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defRPr/>
            </a:pPr>
            <a:r>
              <a:rPr sz="1200" b="0" i="0">
                <a:solidFill>
                  <a:schemeClr val="bg1"/>
                </a:solidFill>
                <a:latin typeface="+mj-lt"/>
              </a:rPr>
              <a:t>Vietnam reaches $1,200M against Thailand's $800M</a:t>
            </a:r>
          </a:p>
        </p:txBody>
      </p:sp>
      <p:sp>
        <p:nvSpPr>
          <p:cNvPr id="7" name="c-anchor-divider"/>
          <p:cNvSpPr/>
          <p:nvPr/>
        </p:nvSpPr>
        <p:spPr>
          <a:xfrm>
            <a:off x="676275" y="4191000"/>
            <a:ext cx="2705100" cy="9525"/>
          </a:xfrm>
          <a:prstGeom prst="rect">
            <a:avLst/>
          </a:pr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c-anchor-why-head"/>
          <p:cNvSpPr txBox="1"/>
          <p:nvPr/>
        </p:nvSpPr>
        <p:spPr>
          <a:xfrm>
            <a:off x="676275" y="4430807"/>
            <a:ext cx="2705100" cy="2171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defRPr/>
            </a:pPr>
            <a:r>
              <a:rPr sz="1200" b="1" i="0">
                <a:solidFill>
                  <a:schemeClr val="bg1"/>
                </a:solidFill>
                <a:latin typeface="+mj-lt"/>
              </a:rPr>
              <a:t>Why Vietnam before Indonesia</a:t>
            </a:r>
          </a:p>
        </p:txBody>
      </p:sp>
      <p:sp>
        <p:nvSpPr>
          <p:cNvPr id="9" name="c-anchor-why-body"/>
          <p:cNvSpPr txBox="1"/>
          <p:nvPr/>
        </p:nvSpPr>
        <p:spPr>
          <a:xfrm>
            <a:off x="676275" y="4740397"/>
            <a:ext cx="2705100" cy="5991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2"/>
              </a:lnSpc>
              <a:defRPr/>
            </a:pPr>
            <a:r>
              <a:rPr sz="1050" b="0" i="0">
                <a:solidFill>
                  <a:schemeClr val="bg1"/>
                </a:solidFill>
                <a:latin typeface="+mj-lt"/>
              </a:rPr>
              <a:t>Similar size, but Vietnam grows faster (18% against 15% a year) and is more ready (4.0 against 3.7), so it is the safer first proof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476750" y="5600700"/>
            <a:ext cx="6858000" cy="0"/>
          </a:xfrm>
          <a:prstGeom prst="line">
            <a:avLst/>
          </a:prstGeom>
          <a:ln w="14288">
            <a:solidFill>
              <a:srgbClr val="8887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476750" y="5118735"/>
            <a:ext cx="6858000" cy="0"/>
          </a:xfrm>
          <a:prstGeom prst="line">
            <a:avLst/>
          </a:prstGeom>
          <a:ln w="9525">
            <a:solidFill>
              <a:srgbClr val="E1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476750" y="4637722"/>
            <a:ext cx="6858000" cy="0"/>
          </a:xfrm>
          <a:prstGeom prst="line">
            <a:avLst/>
          </a:prstGeom>
          <a:ln w="9525">
            <a:solidFill>
              <a:srgbClr val="E1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476750" y="4155758"/>
            <a:ext cx="6858000" cy="0"/>
          </a:xfrm>
          <a:prstGeom prst="line">
            <a:avLst/>
          </a:prstGeom>
          <a:ln w="9525">
            <a:solidFill>
              <a:srgbClr val="E1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476750" y="3673792"/>
            <a:ext cx="6858000" cy="0"/>
          </a:xfrm>
          <a:prstGeom prst="line">
            <a:avLst/>
          </a:prstGeom>
          <a:ln w="9525">
            <a:solidFill>
              <a:srgbClr val="E1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476750" y="3191828"/>
            <a:ext cx="6858000" cy="0"/>
          </a:xfrm>
          <a:prstGeom prst="line">
            <a:avLst/>
          </a:prstGeom>
          <a:ln w="9525">
            <a:solidFill>
              <a:srgbClr val="E1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476750" y="2710815"/>
            <a:ext cx="6858000" cy="0"/>
          </a:xfrm>
          <a:prstGeom prst="line">
            <a:avLst/>
          </a:prstGeom>
          <a:ln w="9525">
            <a:solidFill>
              <a:srgbClr val="E1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476750" y="2228850"/>
            <a:ext cx="6858000" cy="0"/>
          </a:xfrm>
          <a:prstGeom prst="line">
            <a:avLst/>
          </a:prstGeom>
          <a:ln w="9525">
            <a:solidFill>
              <a:srgbClr val="E1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946582" y="2819400"/>
            <a:ext cx="0" cy="2781300"/>
          </a:xfrm>
          <a:prstGeom prst="line">
            <a:avLst/>
          </a:prstGeom>
          <a:ln w="19050">
            <a:solidFill>
              <a:schemeClr val="accent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Freeform 18"/>
          <p:cNvSpPr/>
          <p:nvPr/>
        </p:nvSpPr>
        <p:spPr>
          <a:xfrm>
            <a:off x="4762500" y="3673792"/>
            <a:ext cx="5905500" cy="568643"/>
          </a:xfrm>
          <a:custGeom>
            <a:avLst/>
            <a:gdLst/>
            <a:ahLst/>
            <a:cxnLst/>
            <a:rect l="l" t="t" r="r" b="b"/>
            <a:pathLst>
              <a:path w="5905500" h="568643">
                <a:moveTo>
                  <a:pt x="0" y="568643"/>
                </a:moveTo>
                <a:lnTo>
                  <a:pt x="983932" y="486728"/>
                </a:lnTo>
                <a:lnTo>
                  <a:pt x="1968818" y="400050"/>
                </a:lnTo>
                <a:lnTo>
                  <a:pt x="2952750" y="308610"/>
                </a:lnTo>
                <a:lnTo>
                  <a:pt x="3936682" y="212408"/>
                </a:lnTo>
                <a:lnTo>
                  <a:pt x="4921568" y="108586"/>
                </a:lnTo>
                <a:lnTo>
                  <a:pt x="5905500" y="0"/>
                </a:lnTo>
              </a:path>
            </a:pathLst>
          </a:custGeom>
          <a:noFill/>
          <a:ln w="23812">
            <a:solidFill>
              <a:srgbClr val="888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Freeform 19"/>
          <p:cNvSpPr/>
          <p:nvPr/>
        </p:nvSpPr>
        <p:spPr>
          <a:xfrm>
            <a:off x="4762500" y="2710815"/>
            <a:ext cx="5905500" cy="1820227"/>
          </a:xfrm>
          <a:custGeom>
            <a:avLst/>
            <a:gdLst/>
            <a:ahLst/>
            <a:cxnLst/>
            <a:rect l="l" t="t" r="r" b="b"/>
            <a:pathLst>
              <a:path w="5905500" h="1820227">
                <a:moveTo>
                  <a:pt x="0" y="1820227"/>
                </a:moveTo>
                <a:lnTo>
                  <a:pt x="983932" y="1627823"/>
                </a:lnTo>
                <a:lnTo>
                  <a:pt x="1968818" y="1401127"/>
                </a:lnTo>
                <a:lnTo>
                  <a:pt x="2952750" y="1134427"/>
                </a:lnTo>
                <a:lnTo>
                  <a:pt x="3936682" y="816293"/>
                </a:lnTo>
                <a:lnTo>
                  <a:pt x="4921568" y="442913"/>
                </a:lnTo>
                <a:lnTo>
                  <a:pt x="5905500" y="0"/>
                </a:lnTo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1" name="Oval 20"/>
          <p:cNvSpPr/>
          <p:nvPr/>
        </p:nvSpPr>
        <p:spPr>
          <a:xfrm>
            <a:off x="4724400" y="4204335"/>
            <a:ext cx="76200" cy="762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888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2" name="Oval 21"/>
          <p:cNvSpPr/>
          <p:nvPr/>
        </p:nvSpPr>
        <p:spPr>
          <a:xfrm>
            <a:off x="5708332" y="4122420"/>
            <a:ext cx="76200" cy="762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888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3" name="Oval 22"/>
          <p:cNvSpPr/>
          <p:nvPr/>
        </p:nvSpPr>
        <p:spPr>
          <a:xfrm>
            <a:off x="6693218" y="4035742"/>
            <a:ext cx="76200" cy="762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888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4" name="Oval 23"/>
          <p:cNvSpPr/>
          <p:nvPr/>
        </p:nvSpPr>
        <p:spPr>
          <a:xfrm>
            <a:off x="7677150" y="3944302"/>
            <a:ext cx="76200" cy="762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888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5" name="Oval 24"/>
          <p:cNvSpPr/>
          <p:nvPr/>
        </p:nvSpPr>
        <p:spPr>
          <a:xfrm>
            <a:off x="8661082" y="3848100"/>
            <a:ext cx="76200" cy="762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888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Oval 25"/>
          <p:cNvSpPr/>
          <p:nvPr/>
        </p:nvSpPr>
        <p:spPr>
          <a:xfrm>
            <a:off x="9645968" y="3744278"/>
            <a:ext cx="76200" cy="762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888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7" name="Oval 26"/>
          <p:cNvSpPr/>
          <p:nvPr/>
        </p:nvSpPr>
        <p:spPr>
          <a:xfrm>
            <a:off x="10629900" y="3635692"/>
            <a:ext cx="76200" cy="762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888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Oval 27"/>
          <p:cNvSpPr/>
          <p:nvPr/>
        </p:nvSpPr>
        <p:spPr>
          <a:xfrm>
            <a:off x="4714875" y="4483418"/>
            <a:ext cx="95250" cy="95250"/>
          </a:xfrm>
          <a:prstGeom prst="ellipse">
            <a:avLst/>
          </a:prstGeom>
          <a:solidFill>
            <a:schemeClr val="tx2"/>
          </a:solidFill>
          <a:ln w="14288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9" name="Oval 28"/>
          <p:cNvSpPr/>
          <p:nvPr/>
        </p:nvSpPr>
        <p:spPr>
          <a:xfrm>
            <a:off x="5698808" y="4291012"/>
            <a:ext cx="95250" cy="95250"/>
          </a:xfrm>
          <a:prstGeom prst="ellipse">
            <a:avLst/>
          </a:prstGeom>
          <a:solidFill>
            <a:schemeClr val="tx2"/>
          </a:solidFill>
          <a:ln w="14288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0" name="Oval 29"/>
          <p:cNvSpPr/>
          <p:nvPr/>
        </p:nvSpPr>
        <p:spPr>
          <a:xfrm>
            <a:off x="6683692" y="4064318"/>
            <a:ext cx="95250" cy="95250"/>
          </a:xfrm>
          <a:prstGeom prst="ellipse">
            <a:avLst/>
          </a:prstGeom>
          <a:solidFill>
            <a:schemeClr val="tx2"/>
          </a:solidFill>
          <a:ln w="14288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1" name="Oval 30"/>
          <p:cNvSpPr/>
          <p:nvPr/>
        </p:nvSpPr>
        <p:spPr>
          <a:xfrm>
            <a:off x="7667625" y="3797618"/>
            <a:ext cx="95250" cy="95250"/>
          </a:xfrm>
          <a:prstGeom prst="ellipse">
            <a:avLst/>
          </a:prstGeom>
          <a:solidFill>
            <a:schemeClr val="tx2"/>
          </a:solidFill>
          <a:ln w="14288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2" name="Oval 31"/>
          <p:cNvSpPr/>
          <p:nvPr/>
        </p:nvSpPr>
        <p:spPr>
          <a:xfrm>
            <a:off x="8651558" y="3479482"/>
            <a:ext cx="95250" cy="95250"/>
          </a:xfrm>
          <a:prstGeom prst="ellipse">
            <a:avLst/>
          </a:prstGeom>
          <a:solidFill>
            <a:schemeClr val="tx2"/>
          </a:solidFill>
          <a:ln w="14288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3" name="Oval 32"/>
          <p:cNvSpPr/>
          <p:nvPr/>
        </p:nvSpPr>
        <p:spPr>
          <a:xfrm>
            <a:off x="9636442" y="3106102"/>
            <a:ext cx="95250" cy="95250"/>
          </a:xfrm>
          <a:prstGeom prst="ellipse">
            <a:avLst/>
          </a:prstGeom>
          <a:solidFill>
            <a:schemeClr val="tx2"/>
          </a:solidFill>
          <a:ln w="14288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4" name="Oval 33"/>
          <p:cNvSpPr/>
          <p:nvPr/>
        </p:nvSpPr>
        <p:spPr>
          <a:xfrm>
            <a:off x="10620375" y="2663190"/>
            <a:ext cx="95250" cy="95250"/>
          </a:xfrm>
          <a:prstGeom prst="ellipse">
            <a:avLst/>
          </a:prstGeom>
          <a:solidFill>
            <a:schemeClr val="tx2"/>
          </a:solidFill>
          <a:ln w="14288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5" name="Oval 34"/>
          <p:cNvSpPr/>
          <p:nvPr/>
        </p:nvSpPr>
        <p:spPr>
          <a:xfrm>
            <a:off x="6870382" y="3977640"/>
            <a:ext cx="152400" cy="15240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c-axis-caption"/>
          <p:cNvSpPr txBox="1"/>
          <p:nvPr/>
        </p:nvSpPr>
        <p:spPr>
          <a:xfrm>
            <a:off x="3943350" y="1781008"/>
            <a:ext cx="850999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defRPr/>
            </a:pPr>
            <a:r>
              <a:rPr sz="900" b="0" i="0">
                <a:solidFill>
                  <a:srgbClr val="5F5E5A"/>
                </a:solidFill>
                <a:latin typeface="+mj-lt"/>
              </a:rPr>
              <a:t>Market size ($M)</a:t>
            </a:r>
          </a:p>
        </p:txBody>
      </p:sp>
      <p:sp>
        <p:nvSpPr>
          <p:cNvPr id="37" name="c-leg-vn-swatch"/>
          <p:cNvSpPr/>
          <p:nvPr/>
        </p:nvSpPr>
        <p:spPr>
          <a:xfrm>
            <a:off x="9591675" y="1857375"/>
            <a:ext cx="247650" cy="381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8" name="c-leg-vn-text"/>
          <p:cNvSpPr txBox="1"/>
          <p:nvPr/>
        </p:nvSpPr>
        <p:spPr>
          <a:xfrm>
            <a:off x="9896475" y="1781008"/>
            <a:ext cx="70931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defRPr/>
            </a:pPr>
            <a:r>
              <a:rPr sz="900" b="1" i="0">
                <a:solidFill>
                  <a:srgbClr val="1A1A1A"/>
                </a:solidFill>
                <a:latin typeface="+mj-lt"/>
              </a:rPr>
              <a:t>Vietnam ($M)</a:t>
            </a:r>
          </a:p>
        </p:txBody>
      </p:sp>
      <p:sp>
        <p:nvSpPr>
          <p:cNvPr id="39" name="c-leg-th-swatch"/>
          <p:cNvSpPr/>
          <p:nvPr/>
        </p:nvSpPr>
        <p:spPr>
          <a:xfrm>
            <a:off x="10829925" y="1866900"/>
            <a:ext cx="247650" cy="28575"/>
          </a:xfrm>
          <a:prstGeom prst="rect">
            <a:avLst/>
          </a:prstGeom>
          <a:solidFill>
            <a:srgbClr val="8887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0" name="c-leg-th-text"/>
          <p:cNvSpPr txBox="1"/>
          <p:nvPr/>
        </p:nvSpPr>
        <p:spPr>
          <a:xfrm>
            <a:off x="11134725" y="1781008"/>
            <a:ext cx="705148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defRPr/>
            </a:pPr>
            <a:r>
              <a:rPr sz="900" b="0" i="0">
                <a:solidFill>
                  <a:srgbClr val="5F5E5A"/>
                </a:solidFill>
                <a:latin typeface="+mj-lt"/>
              </a:rPr>
              <a:t>Thailand ($M)</a:t>
            </a:r>
          </a:p>
        </p:txBody>
      </p:sp>
      <p:sp>
        <p:nvSpPr>
          <p:cNvPr id="41" name="c-ylab-0"/>
          <p:cNvSpPr txBox="1"/>
          <p:nvPr/>
        </p:nvSpPr>
        <p:spPr>
          <a:xfrm>
            <a:off x="3943350" y="5514808"/>
            <a:ext cx="4572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25"/>
              </a:lnSpc>
              <a:defRPr/>
            </a:pPr>
            <a:r>
              <a:rPr sz="900" b="0" i="0">
                <a:solidFill>
                  <a:srgbClr val="5F5E5A"/>
                </a:solidFill>
                <a:latin typeface="+mj-lt"/>
              </a:rPr>
              <a:t>0</a:t>
            </a:r>
          </a:p>
        </p:txBody>
      </p:sp>
      <p:sp>
        <p:nvSpPr>
          <p:cNvPr id="42" name="c-ylab-200"/>
          <p:cNvSpPr txBox="1"/>
          <p:nvPr/>
        </p:nvSpPr>
        <p:spPr>
          <a:xfrm>
            <a:off x="3943350" y="5032753"/>
            <a:ext cx="4572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25"/>
              </a:lnSpc>
              <a:defRPr/>
            </a:pPr>
            <a:r>
              <a:rPr sz="900" b="0" i="0">
                <a:solidFill>
                  <a:srgbClr val="5F5E5A"/>
                </a:solidFill>
                <a:latin typeface="+mj-lt"/>
              </a:rPr>
              <a:t>200</a:t>
            </a:r>
          </a:p>
        </p:txBody>
      </p:sp>
      <p:sp>
        <p:nvSpPr>
          <p:cNvPr id="43" name="c-ylab-400"/>
          <p:cNvSpPr txBox="1"/>
          <p:nvPr/>
        </p:nvSpPr>
        <p:spPr>
          <a:xfrm>
            <a:off x="3943350" y="4551741"/>
            <a:ext cx="4572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25"/>
              </a:lnSpc>
              <a:defRPr/>
            </a:pPr>
            <a:r>
              <a:rPr sz="900" b="0" i="0">
                <a:solidFill>
                  <a:srgbClr val="5F5E5A"/>
                </a:solidFill>
                <a:latin typeface="+mj-lt"/>
              </a:rPr>
              <a:t>400</a:t>
            </a:r>
          </a:p>
        </p:txBody>
      </p:sp>
      <p:sp>
        <p:nvSpPr>
          <p:cNvPr id="44" name="c-ylab-600"/>
          <p:cNvSpPr txBox="1"/>
          <p:nvPr/>
        </p:nvSpPr>
        <p:spPr>
          <a:xfrm>
            <a:off x="3943350" y="4069835"/>
            <a:ext cx="4572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25"/>
              </a:lnSpc>
              <a:defRPr/>
            </a:pPr>
            <a:r>
              <a:rPr sz="900" b="0" i="0">
                <a:solidFill>
                  <a:srgbClr val="5F5E5A"/>
                </a:solidFill>
                <a:latin typeface="+mj-lt"/>
              </a:rPr>
              <a:t>600</a:t>
            </a:r>
          </a:p>
        </p:txBody>
      </p:sp>
      <p:sp>
        <p:nvSpPr>
          <p:cNvPr id="45" name="c-ylab-800"/>
          <p:cNvSpPr txBox="1"/>
          <p:nvPr/>
        </p:nvSpPr>
        <p:spPr>
          <a:xfrm>
            <a:off x="3943350" y="3587781"/>
            <a:ext cx="4572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25"/>
              </a:lnSpc>
              <a:defRPr/>
            </a:pPr>
            <a:r>
              <a:rPr sz="900" b="0" i="0">
                <a:solidFill>
                  <a:srgbClr val="5F5E5A"/>
                </a:solidFill>
                <a:latin typeface="+mj-lt"/>
              </a:rPr>
              <a:t>800</a:t>
            </a:r>
          </a:p>
        </p:txBody>
      </p:sp>
      <p:sp>
        <p:nvSpPr>
          <p:cNvPr id="46" name="c-ylab-1000"/>
          <p:cNvSpPr txBox="1"/>
          <p:nvPr/>
        </p:nvSpPr>
        <p:spPr>
          <a:xfrm>
            <a:off x="3943350" y="3105876"/>
            <a:ext cx="4572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25"/>
              </a:lnSpc>
              <a:defRPr/>
            </a:pPr>
            <a:r>
              <a:rPr sz="900" b="0" i="0">
                <a:solidFill>
                  <a:srgbClr val="5F5E5A"/>
                </a:solidFill>
                <a:latin typeface="+mj-lt"/>
              </a:rPr>
              <a:t>1,000</a:t>
            </a:r>
          </a:p>
        </p:txBody>
      </p:sp>
      <p:sp>
        <p:nvSpPr>
          <p:cNvPr id="47" name="c-ylab-1200"/>
          <p:cNvSpPr txBox="1"/>
          <p:nvPr/>
        </p:nvSpPr>
        <p:spPr>
          <a:xfrm>
            <a:off x="3943350" y="2624863"/>
            <a:ext cx="4572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25"/>
              </a:lnSpc>
              <a:defRPr/>
            </a:pPr>
            <a:r>
              <a:rPr sz="900" b="0" i="0">
                <a:solidFill>
                  <a:srgbClr val="5F5E5A"/>
                </a:solidFill>
                <a:latin typeface="+mj-lt"/>
              </a:rPr>
              <a:t>1,200</a:t>
            </a:r>
          </a:p>
        </p:txBody>
      </p:sp>
      <p:sp>
        <p:nvSpPr>
          <p:cNvPr id="48" name="c-ylab-1400"/>
          <p:cNvSpPr txBox="1"/>
          <p:nvPr/>
        </p:nvSpPr>
        <p:spPr>
          <a:xfrm>
            <a:off x="3943350" y="2142958"/>
            <a:ext cx="4572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25"/>
              </a:lnSpc>
              <a:defRPr/>
            </a:pPr>
            <a:r>
              <a:rPr sz="900" b="0" i="0">
                <a:solidFill>
                  <a:srgbClr val="5F5E5A"/>
                </a:solidFill>
                <a:latin typeface="+mj-lt"/>
              </a:rPr>
              <a:t>1,400</a:t>
            </a:r>
          </a:p>
        </p:txBody>
      </p:sp>
      <p:sp>
        <p:nvSpPr>
          <p:cNvPr id="49" name="c-xlab-2024"/>
          <p:cNvSpPr txBox="1"/>
          <p:nvPr/>
        </p:nvSpPr>
        <p:spPr>
          <a:xfrm>
            <a:off x="4533900" y="5667208"/>
            <a:ext cx="457051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25"/>
              </a:lnSpc>
              <a:defRPr/>
            </a:pPr>
            <a:r>
              <a:rPr sz="900" b="0" i="0">
                <a:solidFill>
                  <a:srgbClr val="5F5E5A"/>
                </a:solidFill>
                <a:latin typeface="+mj-lt"/>
              </a:rPr>
              <a:t>2024</a:t>
            </a:r>
          </a:p>
        </p:txBody>
      </p:sp>
      <p:sp>
        <p:nvSpPr>
          <p:cNvPr id="50" name="c-xlab-2025"/>
          <p:cNvSpPr txBox="1"/>
          <p:nvPr/>
        </p:nvSpPr>
        <p:spPr>
          <a:xfrm>
            <a:off x="5517803" y="5667208"/>
            <a:ext cx="457051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25"/>
              </a:lnSpc>
              <a:defRPr/>
            </a:pPr>
            <a:r>
              <a:rPr sz="900" b="0" i="0">
                <a:solidFill>
                  <a:srgbClr val="5F5E5A"/>
                </a:solidFill>
                <a:latin typeface="+mj-lt"/>
              </a:rPr>
              <a:t>2025</a:t>
            </a:r>
          </a:p>
        </p:txBody>
      </p:sp>
      <p:sp>
        <p:nvSpPr>
          <p:cNvPr id="51" name="c-xlab-2026"/>
          <p:cNvSpPr txBox="1"/>
          <p:nvPr/>
        </p:nvSpPr>
        <p:spPr>
          <a:xfrm>
            <a:off x="6502598" y="5667208"/>
            <a:ext cx="457051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25"/>
              </a:lnSpc>
              <a:defRPr/>
            </a:pPr>
            <a:r>
              <a:rPr sz="900" b="0" i="0">
                <a:solidFill>
                  <a:srgbClr val="5F5E5A"/>
                </a:solidFill>
                <a:latin typeface="+mj-lt"/>
              </a:rPr>
              <a:t>2026</a:t>
            </a:r>
          </a:p>
        </p:txBody>
      </p:sp>
      <p:sp>
        <p:nvSpPr>
          <p:cNvPr id="52" name="c-xlab-2027"/>
          <p:cNvSpPr txBox="1"/>
          <p:nvPr/>
        </p:nvSpPr>
        <p:spPr>
          <a:xfrm>
            <a:off x="7486650" y="5667208"/>
            <a:ext cx="457051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25"/>
              </a:lnSpc>
              <a:defRPr/>
            </a:pPr>
            <a:r>
              <a:rPr sz="900" b="0" i="0">
                <a:solidFill>
                  <a:srgbClr val="5F5E5A"/>
                </a:solidFill>
                <a:latin typeface="+mj-lt"/>
              </a:rPr>
              <a:t>2027</a:t>
            </a:r>
          </a:p>
        </p:txBody>
      </p:sp>
      <p:sp>
        <p:nvSpPr>
          <p:cNvPr id="53" name="c-xlab-2028"/>
          <p:cNvSpPr txBox="1"/>
          <p:nvPr/>
        </p:nvSpPr>
        <p:spPr>
          <a:xfrm>
            <a:off x="8470553" y="5667208"/>
            <a:ext cx="457051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25"/>
              </a:lnSpc>
              <a:defRPr/>
            </a:pPr>
            <a:r>
              <a:rPr sz="900" b="0" i="0">
                <a:solidFill>
                  <a:srgbClr val="5F5E5A"/>
                </a:solidFill>
                <a:latin typeface="+mj-lt"/>
              </a:rPr>
              <a:t>2028</a:t>
            </a:r>
          </a:p>
        </p:txBody>
      </p:sp>
      <p:sp>
        <p:nvSpPr>
          <p:cNvPr id="54" name="c-xlab-2029"/>
          <p:cNvSpPr txBox="1"/>
          <p:nvPr/>
        </p:nvSpPr>
        <p:spPr>
          <a:xfrm>
            <a:off x="9455348" y="5667208"/>
            <a:ext cx="457051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25"/>
              </a:lnSpc>
              <a:defRPr/>
            </a:pPr>
            <a:r>
              <a:rPr sz="900" b="0" i="0">
                <a:solidFill>
                  <a:srgbClr val="5F5E5A"/>
                </a:solidFill>
                <a:latin typeface="+mj-lt"/>
              </a:rPr>
              <a:t>2029</a:t>
            </a:r>
          </a:p>
        </p:txBody>
      </p:sp>
      <p:sp>
        <p:nvSpPr>
          <p:cNvPr id="55" name="c-xlab-2030"/>
          <p:cNvSpPr txBox="1"/>
          <p:nvPr/>
        </p:nvSpPr>
        <p:spPr>
          <a:xfrm>
            <a:off x="10439400" y="5667208"/>
            <a:ext cx="457051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25"/>
              </a:lnSpc>
              <a:defRPr/>
            </a:pPr>
            <a:r>
              <a:rPr sz="900" b="0" i="0">
                <a:solidFill>
                  <a:srgbClr val="5F5E5A"/>
                </a:solidFill>
                <a:latin typeface="+mj-lt"/>
              </a:rPr>
              <a:t>2030</a:t>
            </a:r>
          </a:p>
        </p:txBody>
      </p:sp>
      <p:sp>
        <p:nvSpPr>
          <p:cNvPr id="56" name="c-val-vn-2030"/>
          <p:cNvSpPr txBox="1"/>
          <p:nvPr/>
        </p:nvSpPr>
        <p:spPr>
          <a:xfrm>
            <a:off x="10782300" y="2624863"/>
            <a:ext cx="444847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defRPr/>
            </a:pPr>
            <a:r>
              <a:rPr sz="900" b="1" i="0">
                <a:solidFill>
                  <a:schemeClr val="tx2"/>
                </a:solidFill>
                <a:latin typeface="+mj-lt"/>
              </a:rPr>
              <a:t>$1,200M</a:t>
            </a:r>
          </a:p>
        </p:txBody>
      </p:sp>
      <p:sp>
        <p:nvSpPr>
          <p:cNvPr id="57" name="c-val-th-2030"/>
          <p:cNvSpPr txBox="1"/>
          <p:nvPr/>
        </p:nvSpPr>
        <p:spPr>
          <a:xfrm>
            <a:off x="10782300" y="3587781"/>
            <a:ext cx="349597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defRPr/>
            </a:pPr>
            <a:r>
              <a:rPr sz="900" b="0" i="0">
                <a:solidFill>
                  <a:srgbClr val="5F5E5A"/>
                </a:solidFill>
                <a:latin typeface="+mj-lt"/>
              </a:rPr>
              <a:t>$800M</a:t>
            </a:r>
          </a:p>
        </p:txBody>
      </p:sp>
      <p:sp>
        <p:nvSpPr>
          <p:cNvPr id="58" name="c-callout-1-num"/>
          <p:cNvSpPr/>
          <p:nvPr/>
        </p:nvSpPr>
        <p:spPr>
          <a:xfrm>
            <a:off x="4648200" y="2876550"/>
            <a:ext cx="228600" cy="2286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9" name="c-callout-1-num"/>
          <p:cNvSpPr txBox="1"/>
          <p:nvPr/>
        </p:nvSpPr>
        <p:spPr>
          <a:xfrm>
            <a:off x="4648200" y="2828758"/>
            <a:ext cx="22860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800"/>
              </a:lnSpc>
              <a:defRPr/>
            </a:pPr>
            <a:r>
              <a:rPr sz="900" b="1" i="0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60" name="c-callout-1-head"/>
          <p:cNvSpPr txBox="1"/>
          <p:nvPr/>
        </p:nvSpPr>
        <p:spPr>
          <a:xfrm>
            <a:off x="4972050" y="2868707"/>
            <a:ext cx="1809750" cy="2171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defRPr/>
            </a:pPr>
            <a:r>
              <a:rPr sz="1200" b="1" i="0">
                <a:solidFill>
                  <a:schemeClr val="tx2"/>
                </a:solidFill>
                <a:latin typeface="+mj-lt"/>
              </a:rPr>
              <a:t>Thailand leads today</a:t>
            </a:r>
          </a:p>
        </p:txBody>
      </p:sp>
      <p:sp>
        <p:nvSpPr>
          <p:cNvPr id="61" name="c-callout-1-body"/>
          <p:cNvSpPr txBox="1"/>
          <p:nvPr/>
        </p:nvSpPr>
        <p:spPr>
          <a:xfrm>
            <a:off x="4972050" y="3099240"/>
            <a:ext cx="180975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0"/>
              </a:lnSpc>
              <a:defRPr/>
            </a:pPr>
            <a:r>
              <a:rPr sz="1050" b="0" i="0">
                <a:solidFill>
                  <a:srgbClr val="1A1A1A"/>
                </a:solidFill>
                <a:latin typeface="+mj-lt"/>
              </a:rPr>
              <a:t>In 2024 Thailand is the larger market, $564M against Vietnam's $444M</a:t>
            </a:r>
          </a:p>
        </p:txBody>
      </p:sp>
      <p:sp>
        <p:nvSpPr>
          <p:cNvPr id="62" name="c-callout-2-num"/>
          <p:cNvSpPr/>
          <p:nvPr/>
        </p:nvSpPr>
        <p:spPr>
          <a:xfrm>
            <a:off x="6908453" y="2133600"/>
            <a:ext cx="228600" cy="2286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3" name="c-callout-2-num"/>
          <p:cNvSpPr txBox="1"/>
          <p:nvPr/>
        </p:nvSpPr>
        <p:spPr>
          <a:xfrm>
            <a:off x="6908453" y="2085808"/>
            <a:ext cx="22860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800"/>
              </a:lnSpc>
              <a:defRPr/>
            </a:pPr>
            <a:r>
              <a:rPr sz="900" b="1" i="0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64" name="c-callout-2-head"/>
          <p:cNvSpPr txBox="1"/>
          <p:nvPr/>
        </p:nvSpPr>
        <p:spPr>
          <a:xfrm>
            <a:off x="7232303" y="2125757"/>
            <a:ext cx="2381250" cy="2171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defRPr/>
            </a:pPr>
            <a:r>
              <a:rPr sz="1200" b="1" i="0">
                <a:solidFill>
                  <a:schemeClr val="tx2"/>
                </a:solidFill>
                <a:latin typeface="+mj-lt"/>
              </a:rPr>
              <a:t>Crossover in 2027</a:t>
            </a:r>
          </a:p>
        </p:txBody>
      </p:sp>
      <p:sp>
        <p:nvSpPr>
          <p:cNvPr id="65" name="c-callout-2-body"/>
          <p:cNvSpPr txBox="1"/>
          <p:nvPr/>
        </p:nvSpPr>
        <p:spPr>
          <a:xfrm>
            <a:off x="7232303" y="2356290"/>
            <a:ext cx="2381250" cy="3924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0"/>
              </a:lnSpc>
              <a:defRPr/>
            </a:pPr>
            <a:r>
              <a:rPr sz="1050" b="0" i="0">
                <a:solidFill>
                  <a:srgbClr val="1A1A1A"/>
                </a:solidFill>
                <a:latin typeface="+mj-lt"/>
              </a:rPr>
              <a:t>Vietnam reaches $729M in 2027, passing Thailand's $672M</a:t>
            </a:r>
          </a:p>
        </p:txBody>
      </p:sp>
      <p:sp>
        <p:nvSpPr>
          <p:cNvPr id="66" name="c-cross-label"/>
          <p:cNvSpPr txBox="1"/>
          <p:nvPr/>
        </p:nvSpPr>
        <p:spPr>
          <a:xfrm>
            <a:off x="7079903" y="4124158"/>
            <a:ext cx="1363712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defRPr/>
            </a:pPr>
            <a:r>
              <a:rPr sz="900" b="1" i="0">
                <a:solidFill>
                  <a:srgbClr val="1A1A1A"/>
                </a:solidFill>
                <a:latin typeface="+mj-lt"/>
              </a:rPr>
              <a:t>Vietnam passes Thailand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pPr>
              <a:defRPr/>
            </a:pPr>
            <a:r>
              <a:rPr sz="2800"/>
              <a:t>A five-step playbook takes each market from partner search to scale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/>
              <a:t>Source: Illustrative data, not real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pPr>
              <a:defRPr/>
            </a:pPr>
            <a:r>
              <a:rPr lang="en-US" smtClean="0"/>
              <a:t>6</a:t>
            </a:r>
            <a:endParaRPr lang="en-US"/>
          </a:p>
        </p:txBody>
      </p:sp>
      <p:sp>
        <p:nvSpPr>
          <p:cNvPr id="59" name="Rectangle 1"/>
          <p:cNvSpPr/>
          <p:nvPr/>
        </p:nvSpPr>
        <p:spPr>
          <a:xfrm>
            <a:off x="409575" y="285750"/>
            <a:ext cx="609600" cy="57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3" name="subtitle"/>
          <p:cNvSpPr txBox="1"/>
          <p:nvPr/>
        </p:nvSpPr>
        <p:spPr>
          <a:xfrm>
            <a:off x="409575" y="1319866"/>
            <a:ext cx="11363325" cy="2324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defRPr/>
            </a:pPr>
            <a:r>
              <a:rPr sz="1400" b="0" i="0">
                <a:solidFill>
                  <a:srgbClr val="5F5E5A"/>
                </a:solidFill>
                <a:latin typeface="+mj-lt"/>
              </a:rPr>
              <a:t>Entry is a repeatable process with a proof point before every big spend, so Indonesia reuses what Vietnam teaches instead of starting over.</a:t>
            </a:r>
          </a:p>
        </p:txBody>
      </p:sp>
      <p:sp>
        <p:nvSpPr>
          <p:cNvPr id="4" name="Freeform 3"/>
          <p:cNvSpPr/>
          <p:nvPr/>
        </p:nvSpPr>
        <p:spPr>
          <a:xfrm>
            <a:off x="409575" y="2533650"/>
            <a:ext cx="2390775" cy="876300"/>
          </a:xfrm>
          <a:custGeom>
            <a:avLst/>
            <a:gdLst/>
            <a:ahLst/>
            <a:cxnLst/>
            <a:rect l="l" t="t" r="r" b="b"/>
            <a:pathLst>
              <a:path w="2390775" h="876300">
                <a:moveTo>
                  <a:pt x="0" y="0"/>
                </a:moveTo>
                <a:lnTo>
                  <a:pt x="2162175" y="0"/>
                </a:lnTo>
                <a:lnTo>
                  <a:pt x="2390775" y="438150"/>
                </a:lnTo>
                <a:lnTo>
                  <a:pt x="2162175" y="876300"/>
                </a:lnTo>
                <a:lnTo>
                  <a:pt x="0" y="87630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0" name="Freeform 4"/>
          <p:cNvSpPr/>
          <p:nvPr/>
        </p:nvSpPr>
        <p:spPr>
          <a:xfrm>
            <a:off x="2647950" y="2533650"/>
            <a:ext cx="2390775" cy="876300"/>
          </a:xfrm>
          <a:custGeom>
            <a:avLst/>
            <a:gdLst/>
            <a:ahLst/>
            <a:cxnLst/>
            <a:rect l="l" t="t" r="r" b="b"/>
            <a:pathLst>
              <a:path w="2390775" h="876300">
                <a:moveTo>
                  <a:pt x="0" y="0"/>
                </a:moveTo>
                <a:lnTo>
                  <a:pt x="2162175" y="0"/>
                </a:lnTo>
                <a:lnTo>
                  <a:pt x="2390775" y="438150"/>
                </a:lnTo>
                <a:lnTo>
                  <a:pt x="2162175" y="876300"/>
                </a:lnTo>
                <a:lnTo>
                  <a:pt x="0" y="876300"/>
                </a:lnTo>
                <a:lnTo>
                  <a:pt x="228600" y="43815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1" name="Freeform 5"/>
          <p:cNvSpPr/>
          <p:nvPr/>
        </p:nvSpPr>
        <p:spPr>
          <a:xfrm>
            <a:off x="4886325" y="2533650"/>
            <a:ext cx="2390775" cy="876300"/>
          </a:xfrm>
          <a:custGeom>
            <a:avLst/>
            <a:gdLst/>
            <a:ahLst/>
            <a:cxnLst/>
            <a:rect l="l" t="t" r="r" b="b"/>
            <a:pathLst>
              <a:path w="2390775" h="876300">
                <a:moveTo>
                  <a:pt x="0" y="0"/>
                </a:moveTo>
                <a:lnTo>
                  <a:pt x="2162175" y="0"/>
                </a:lnTo>
                <a:lnTo>
                  <a:pt x="2390775" y="438150"/>
                </a:lnTo>
                <a:lnTo>
                  <a:pt x="2162175" y="876300"/>
                </a:lnTo>
                <a:lnTo>
                  <a:pt x="0" y="876300"/>
                </a:lnTo>
                <a:lnTo>
                  <a:pt x="228600" y="4381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Freeform 6"/>
          <p:cNvSpPr/>
          <p:nvPr/>
        </p:nvSpPr>
        <p:spPr>
          <a:xfrm>
            <a:off x="7124700" y="2533650"/>
            <a:ext cx="2390775" cy="876300"/>
          </a:xfrm>
          <a:custGeom>
            <a:avLst/>
            <a:gdLst/>
            <a:ahLst/>
            <a:cxnLst/>
            <a:rect l="l" t="t" r="r" b="b"/>
            <a:pathLst>
              <a:path w="2390775" h="876300">
                <a:moveTo>
                  <a:pt x="0" y="0"/>
                </a:moveTo>
                <a:lnTo>
                  <a:pt x="2162175" y="0"/>
                </a:lnTo>
                <a:lnTo>
                  <a:pt x="2390775" y="438150"/>
                </a:lnTo>
                <a:lnTo>
                  <a:pt x="2162175" y="876300"/>
                </a:lnTo>
                <a:lnTo>
                  <a:pt x="0" y="876300"/>
                </a:lnTo>
                <a:lnTo>
                  <a:pt x="228600" y="43815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Freeform 7"/>
          <p:cNvSpPr/>
          <p:nvPr/>
        </p:nvSpPr>
        <p:spPr>
          <a:xfrm>
            <a:off x="9363075" y="2533650"/>
            <a:ext cx="2390775" cy="876300"/>
          </a:xfrm>
          <a:custGeom>
            <a:avLst/>
            <a:gdLst/>
            <a:ahLst/>
            <a:cxnLst/>
            <a:rect l="l" t="t" r="r" b="b"/>
            <a:pathLst>
              <a:path w="2390775" h="876300">
                <a:moveTo>
                  <a:pt x="0" y="0"/>
                </a:moveTo>
                <a:lnTo>
                  <a:pt x="2162175" y="0"/>
                </a:lnTo>
                <a:lnTo>
                  <a:pt x="2390775" y="438150"/>
                </a:lnTo>
                <a:lnTo>
                  <a:pt x="2162175" y="876300"/>
                </a:lnTo>
                <a:lnTo>
                  <a:pt x="0" y="876300"/>
                </a:lnTo>
                <a:lnTo>
                  <a:pt x="228600" y="43815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step1-ring"/>
          <p:cNvSpPr/>
          <p:nvPr/>
        </p:nvSpPr>
        <p:spPr>
          <a:xfrm>
            <a:off x="1195388" y="1800225"/>
            <a:ext cx="590550" cy="590550"/>
          </a:xfrm>
          <a:prstGeom prst="ellipse">
            <a:avLst/>
          </a:prstGeom>
          <a:solidFill>
            <a:schemeClr val="bg1"/>
          </a:solidFill>
          <a:ln w="19050">
            <a:solidFill>
              <a:srgbClr val="5476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Oval 9"/>
          <p:cNvSpPr/>
          <p:nvPr/>
        </p:nvSpPr>
        <p:spPr>
          <a:xfrm>
            <a:off x="1362075" y="1962150"/>
            <a:ext cx="95250" cy="9525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Freeform 10"/>
          <p:cNvSpPr/>
          <p:nvPr/>
        </p:nvSpPr>
        <p:spPr>
          <a:xfrm>
            <a:off x="1338262" y="2095500"/>
            <a:ext cx="142876" cy="133350"/>
          </a:xfrm>
          <a:custGeom>
            <a:avLst/>
            <a:gdLst/>
            <a:ahLst/>
            <a:cxnLst/>
            <a:rect l="l" t="t" r="r" b="b"/>
            <a:pathLst>
              <a:path w="142876" h="133350">
                <a:moveTo>
                  <a:pt x="0" y="133350"/>
                </a:moveTo>
                <a:lnTo>
                  <a:pt x="14288" y="0"/>
                </a:lnTo>
                <a:lnTo>
                  <a:pt x="128588" y="0"/>
                </a:lnTo>
                <a:lnTo>
                  <a:pt x="142876" y="13335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Oval 11"/>
          <p:cNvSpPr/>
          <p:nvPr/>
        </p:nvSpPr>
        <p:spPr>
          <a:xfrm>
            <a:off x="1524000" y="1962150"/>
            <a:ext cx="95250" cy="9525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Freeform 12"/>
          <p:cNvSpPr/>
          <p:nvPr/>
        </p:nvSpPr>
        <p:spPr>
          <a:xfrm>
            <a:off x="1500188" y="2095500"/>
            <a:ext cx="142874" cy="133350"/>
          </a:xfrm>
          <a:custGeom>
            <a:avLst/>
            <a:gdLst/>
            <a:ahLst/>
            <a:cxnLst/>
            <a:rect l="l" t="t" r="r" b="b"/>
            <a:pathLst>
              <a:path w="142874" h="133350">
                <a:moveTo>
                  <a:pt x="0" y="133350"/>
                </a:moveTo>
                <a:lnTo>
                  <a:pt x="14287" y="0"/>
                </a:lnTo>
                <a:lnTo>
                  <a:pt x="128587" y="0"/>
                </a:lnTo>
                <a:lnTo>
                  <a:pt x="142874" y="13335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step1-num"/>
          <p:cNvSpPr txBox="1"/>
          <p:nvPr/>
        </p:nvSpPr>
        <p:spPr>
          <a:xfrm>
            <a:off x="581025" y="2838004"/>
            <a:ext cx="169515" cy="3619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defRPr/>
            </a:pPr>
            <a:r>
              <a:rPr sz="2400" b="1" i="0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15" name="step1-name"/>
          <p:cNvSpPr txBox="1"/>
          <p:nvPr/>
        </p:nvSpPr>
        <p:spPr>
          <a:xfrm>
            <a:off x="866775" y="2868766"/>
            <a:ext cx="1762125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defRPr/>
            </a:pPr>
            <a:r>
              <a:rPr sz="1200" b="1" i="0" spc="15">
                <a:solidFill>
                  <a:schemeClr val="bg1"/>
                </a:solidFill>
                <a:latin typeface="+mj-lt"/>
              </a:rPr>
              <a:t>PICK THE PARTNER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725" y="3600450"/>
            <a:ext cx="19050" cy="1257300"/>
          </a:xfrm>
          <a:prstGeom prst="rect">
            <a:avLst/>
          </a:pr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step1-desc"/>
          <p:cNvSpPr txBox="1"/>
          <p:nvPr/>
        </p:nvSpPr>
        <p:spPr>
          <a:xfrm>
            <a:off x="619125" y="3579192"/>
            <a:ext cx="1952625" cy="9793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9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Choose and sign one local distribution partner with reach into modern and traditional trade.</a:t>
            </a:r>
          </a:p>
        </p:txBody>
      </p:sp>
      <p:sp>
        <p:nvSpPr>
          <p:cNvPr id="18" name="step2-ring"/>
          <p:cNvSpPr/>
          <p:nvPr/>
        </p:nvSpPr>
        <p:spPr>
          <a:xfrm>
            <a:off x="3548062" y="1800225"/>
            <a:ext cx="590550" cy="590550"/>
          </a:xfrm>
          <a:prstGeom prst="ellipse">
            <a:avLst/>
          </a:prstGeom>
          <a:solidFill>
            <a:schemeClr val="bg1"/>
          </a:solidFill>
          <a:ln w="19050">
            <a:solidFill>
              <a:srgbClr val="5476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9" name="Oval 18"/>
          <p:cNvSpPr/>
          <p:nvPr/>
        </p:nvSpPr>
        <p:spPr>
          <a:xfrm>
            <a:off x="3743325" y="1947862"/>
            <a:ext cx="200025" cy="200025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Freeform 19"/>
          <p:cNvSpPr/>
          <p:nvPr/>
        </p:nvSpPr>
        <p:spPr>
          <a:xfrm>
            <a:off x="3753802" y="2090738"/>
            <a:ext cx="179070" cy="157162"/>
          </a:xfrm>
          <a:custGeom>
            <a:avLst/>
            <a:gdLst/>
            <a:ahLst/>
            <a:cxnLst/>
            <a:rect l="l" t="t" r="r" b="b"/>
            <a:pathLst>
              <a:path w="179070" h="157162">
                <a:moveTo>
                  <a:pt x="0" y="0"/>
                </a:moveTo>
                <a:lnTo>
                  <a:pt x="179070" y="0"/>
                </a:lnTo>
                <a:lnTo>
                  <a:pt x="89536" y="157162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1" name="Oval 20"/>
          <p:cNvSpPr/>
          <p:nvPr/>
        </p:nvSpPr>
        <p:spPr>
          <a:xfrm>
            <a:off x="3805238" y="2009775"/>
            <a:ext cx="76200" cy="76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2" name="step2-num"/>
          <p:cNvSpPr txBox="1"/>
          <p:nvPr/>
        </p:nvSpPr>
        <p:spPr>
          <a:xfrm>
            <a:off x="2990850" y="2838004"/>
            <a:ext cx="169515" cy="3619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defRPr/>
            </a:pPr>
            <a:r>
              <a:rPr sz="2400" b="1" i="0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23" name="step2-name"/>
          <p:cNvSpPr txBox="1"/>
          <p:nvPr/>
        </p:nvSpPr>
        <p:spPr>
          <a:xfrm>
            <a:off x="3276600" y="2777386"/>
            <a:ext cx="1590675" cy="3848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defRPr/>
            </a:pPr>
            <a:r>
              <a:rPr sz="1200" b="1" i="0" spc="15">
                <a:solidFill>
                  <a:schemeClr val="bg1"/>
                </a:solidFill>
                <a:latin typeface="+mj-lt"/>
              </a:rPr>
              <a:t>PROVE IT IN ONE CITY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33700" y="3600450"/>
            <a:ext cx="19050" cy="1257300"/>
          </a:xfrm>
          <a:prstGeom prst="rect">
            <a:avLst/>
          </a:pr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5" name="step2-desc"/>
          <p:cNvSpPr txBox="1"/>
          <p:nvPr/>
        </p:nvSpPr>
        <p:spPr>
          <a:xfrm>
            <a:off x="3086100" y="3579192"/>
            <a:ext cx="1724025" cy="9793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9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Launch in Ho Chi Minh City first and track sell-through against target.</a:t>
            </a:r>
          </a:p>
        </p:txBody>
      </p:sp>
      <p:sp>
        <p:nvSpPr>
          <p:cNvPr id="26" name="step3-ring"/>
          <p:cNvSpPr/>
          <p:nvPr/>
        </p:nvSpPr>
        <p:spPr>
          <a:xfrm>
            <a:off x="5786438" y="1800225"/>
            <a:ext cx="590550" cy="590550"/>
          </a:xfrm>
          <a:prstGeom prst="ellipse">
            <a:avLst/>
          </a:prstGeom>
          <a:solidFill>
            <a:schemeClr val="bg1"/>
          </a:solidFill>
          <a:ln w="19050">
            <a:solidFill>
              <a:srgbClr val="5476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7" name="Oval 26"/>
          <p:cNvSpPr/>
          <p:nvPr/>
        </p:nvSpPr>
        <p:spPr>
          <a:xfrm>
            <a:off x="5938838" y="1952625"/>
            <a:ext cx="285750" cy="285750"/>
          </a:xfrm>
          <a:prstGeom prst="ellipse">
            <a:avLst/>
          </a:prstGeom>
          <a:noFill/>
          <a:ln w="23812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Freeform 27"/>
          <p:cNvSpPr/>
          <p:nvPr/>
        </p:nvSpPr>
        <p:spPr>
          <a:xfrm>
            <a:off x="6005512" y="2038350"/>
            <a:ext cx="161926" cy="119062"/>
          </a:xfrm>
          <a:custGeom>
            <a:avLst/>
            <a:gdLst/>
            <a:ahLst/>
            <a:cxnLst/>
            <a:rect l="l" t="t" r="r" b="b"/>
            <a:pathLst>
              <a:path w="161926" h="119062">
                <a:moveTo>
                  <a:pt x="0" y="61912"/>
                </a:moveTo>
                <a:lnTo>
                  <a:pt x="57150" y="119062"/>
                </a:lnTo>
                <a:lnTo>
                  <a:pt x="161926" y="0"/>
                </a:lnTo>
              </a:path>
            </a:pathLst>
          </a:custGeom>
          <a:noFill/>
          <a:ln w="33338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9" name="step3-num"/>
          <p:cNvSpPr txBox="1"/>
          <p:nvPr/>
        </p:nvSpPr>
        <p:spPr>
          <a:xfrm>
            <a:off x="5229225" y="2838004"/>
            <a:ext cx="169515" cy="3619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defRPr/>
            </a:pPr>
            <a:r>
              <a:rPr sz="2400" b="1" i="0">
                <a:solidFill>
                  <a:schemeClr val="tx2"/>
                </a:solidFill>
                <a:latin typeface="+mj-lt"/>
              </a:rPr>
              <a:t>3</a:t>
            </a:r>
          </a:p>
        </p:txBody>
      </p:sp>
      <p:sp>
        <p:nvSpPr>
          <p:cNvPr id="30" name="step3-name"/>
          <p:cNvSpPr txBox="1"/>
          <p:nvPr/>
        </p:nvSpPr>
        <p:spPr>
          <a:xfrm>
            <a:off x="5514975" y="2868766"/>
            <a:ext cx="1590675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defRPr/>
            </a:pPr>
            <a:r>
              <a:rPr sz="1200" b="1" i="0" spc="15">
                <a:solidFill>
                  <a:schemeClr val="tx2"/>
                </a:solidFill>
                <a:latin typeface="+mj-lt"/>
              </a:rPr>
              <a:t>PASS THE GATE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72075" y="3600450"/>
            <a:ext cx="19050" cy="1257300"/>
          </a:xfrm>
          <a:prstGeom prst="rect">
            <a:avLst/>
          </a:pr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2" name="step3-desc"/>
          <p:cNvSpPr txBox="1"/>
          <p:nvPr/>
        </p:nvSpPr>
        <p:spPr>
          <a:xfrm>
            <a:off x="5324475" y="3579192"/>
            <a:ext cx="1724025" cy="9793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9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Scale only if the pilot meets its sell-through target; otherwise stop or fix.</a:t>
            </a:r>
          </a:p>
        </p:txBody>
      </p:sp>
      <p:sp>
        <p:nvSpPr>
          <p:cNvPr id="33" name="step4-ring"/>
          <p:cNvSpPr/>
          <p:nvPr/>
        </p:nvSpPr>
        <p:spPr>
          <a:xfrm>
            <a:off x="8024812" y="1800225"/>
            <a:ext cx="590550" cy="590550"/>
          </a:xfrm>
          <a:prstGeom prst="ellipse">
            <a:avLst/>
          </a:prstGeom>
          <a:solidFill>
            <a:schemeClr val="bg1"/>
          </a:solidFill>
          <a:ln w="19050">
            <a:solidFill>
              <a:srgbClr val="5476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4" name="Freeform 33"/>
          <p:cNvSpPr/>
          <p:nvPr/>
        </p:nvSpPr>
        <p:spPr>
          <a:xfrm>
            <a:off x="8167688" y="215265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5" name="Freeform 34"/>
          <p:cNvSpPr/>
          <p:nvPr/>
        </p:nvSpPr>
        <p:spPr>
          <a:xfrm>
            <a:off x="8167688" y="2047875"/>
            <a:ext cx="200024" cy="200025"/>
          </a:xfrm>
          <a:custGeom>
            <a:avLst/>
            <a:gdLst/>
            <a:ahLst/>
            <a:cxnLst/>
            <a:rect l="l" t="t" r="r" b="b"/>
            <a:pathLst>
              <a:path w="200024" h="200025">
                <a:moveTo>
                  <a:pt x="0" y="0"/>
                </a:moveTo>
                <a:lnTo>
                  <a:pt x="200024" y="0"/>
                </a:lnTo>
                <a:lnTo>
                  <a:pt x="200024" y="200025"/>
                </a:lnTo>
                <a:lnTo>
                  <a:pt x="0" y="200025"/>
                </a:lnTo>
                <a:close/>
              </a:path>
            </a:pathLst>
          </a:custGeom>
          <a:noFill/>
          <a:ln w="23812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Freeform 35"/>
          <p:cNvSpPr/>
          <p:nvPr/>
        </p:nvSpPr>
        <p:spPr>
          <a:xfrm>
            <a:off x="8167688" y="19431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0" y="0"/>
                </a:moveTo>
                <a:lnTo>
                  <a:pt x="304800" y="0"/>
                </a:lnTo>
                <a:lnTo>
                  <a:pt x="304800" y="304800"/>
                </a:lnTo>
                <a:lnTo>
                  <a:pt x="0" y="304800"/>
                </a:lnTo>
                <a:close/>
              </a:path>
            </a:pathLst>
          </a:custGeom>
          <a:noFill/>
          <a:ln w="23812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7" name="step4-num"/>
          <p:cNvSpPr txBox="1"/>
          <p:nvPr/>
        </p:nvSpPr>
        <p:spPr>
          <a:xfrm>
            <a:off x="7467600" y="2838004"/>
            <a:ext cx="169515" cy="3619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defRPr/>
            </a:pPr>
            <a:r>
              <a:rPr sz="2400" b="1" i="0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sp>
        <p:nvSpPr>
          <p:cNvPr id="38" name="step4-name"/>
          <p:cNvSpPr txBox="1"/>
          <p:nvPr/>
        </p:nvSpPr>
        <p:spPr>
          <a:xfrm>
            <a:off x="7753350" y="2868766"/>
            <a:ext cx="1590675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defRPr/>
            </a:pPr>
            <a:r>
              <a:rPr sz="1200" b="1" i="0" spc="15">
                <a:solidFill>
                  <a:schemeClr val="bg1"/>
                </a:solidFill>
                <a:latin typeface="+mj-lt"/>
              </a:rPr>
              <a:t>SCALE NATIONALLY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10450" y="3600450"/>
            <a:ext cx="19050" cy="1257300"/>
          </a:xfrm>
          <a:prstGeom prst="rect">
            <a:avLst/>
          </a:pr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0" name="step4-desc"/>
          <p:cNvSpPr txBox="1"/>
          <p:nvPr/>
        </p:nvSpPr>
        <p:spPr>
          <a:xfrm>
            <a:off x="7562850" y="3579192"/>
            <a:ext cx="1724025" cy="9793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9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Roll out across the country with the partner once the unit economics hold.</a:t>
            </a:r>
          </a:p>
        </p:txBody>
      </p:sp>
      <p:sp>
        <p:nvSpPr>
          <p:cNvPr id="41" name="step5-ring"/>
          <p:cNvSpPr/>
          <p:nvPr/>
        </p:nvSpPr>
        <p:spPr>
          <a:xfrm>
            <a:off x="10263188" y="1800225"/>
            <a:ext cx="590550" cy="590550"/>
          </a:xfrm>
          <a:prstGeom prst="ellipse">
            <a:avLst/>
          </a:prstGeom>
          <a:solidFill>
            <a:schemeClr val="bg1"/>
          </a:solidFill>
          <a:ln w="19050">
            <a:solidFill>
              <a:srgbClr val="5476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2" name="Freeform 41"/>
          <p:cNvSpPr/>
          <p:nvPr/>
        </p:nvSpPr>
        <p:spPr>
          <a:xfrm>
            <a:off x="10491788" y="1952625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  <a:lnTo>
                  <a:pt x="0" y="209550"/>
                </a:lnTo>
                <a:close/>
              </a:path>
            </a:pathLst>
          </a:custGeom>
          <a:noFill/>
          <a:ln w="23812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3" name="Freeform 42"/>
          <p:cNvSpPr/>
          <p:nvPr/>
        </p:nvSpPr>
        <p:spPr>
          <a:xfrm>
            <a:off x="10415588" y="2028825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  <a:lnTo>
                  <a:pt x="0" y="209550"/>
                </a:lnTo>
                <a:close/>
              </a:path>
            </a:pathLst>
          </a:custGeom>
          <a:solidFill>
            <a:schemeClr val="bg1"/>
          </a:solidFill>
          <a:ln w="23812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4" name="Freeform 43"/>
          <p:cNvSpPr/>
          <p:nvPr/>
        </p:nvSpPr>
        <p:spPr>
          <a:xfrm>
            <a:off x="10472738" y="2095500"/>
            <a:ext cx="104774" cy="76200"/>
          </a:xfrm>
          <a:custGeom>
            <a:avLst/>
            <a:gdLst/>
            <a:ahLst/>
            <a:cxnLst/>
            <a:rect l="l" t="t" r="r" b="b"/>
            <a:pathLst>
              <a:path w="104774" h="76200">
                <a:moveTo>
                  <a:pt x="0" y="38100"/>
                </a:moveTo>
                <a:lnTo>
                  <a:pt x="38100" y="76200"/>
                </a:lnTo>
                <a:lnTo>
                  <a:pt x="104774" y="0"/>
                </a:lnTo>
              </a:path>
            </a:pathLst>
          </a:custGeom>
          <a:noFill/>
          <a:ln w="23812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5" name="step5-num"/>
          <p:cNvSpPr txBox="1"/>
          <p:nvPr/>
        </p:nvSpPr>
        <p:spPr>
          <a:xfrm>
            <a:off x="9705975" y="2838004"/>
            <a:ext cx="169515" cy="3619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defRPr/>
            </a:pPr>
            <a:r>
              <a:rPr sz="2400" b="1" i="0">
                <a:solidFill>
                  <a:schemeClr val="bg1"/>
                </a:solidFill>
                <a:latin typeface="+mj-lt"/>
              </a:rPr>
              <a:t>5</a:t>
            </a:r>
          </a:p>
        </p:txBody>
      </p:sp>
      <p:sp>
        <p:nvSpPr>
          <p:cNvPr id="46" name="step5-name"/>
          <p:cNvSpPr txBox="1"/>
          <p:nvPr/>
        </p:nvSpPr>
        <p:spPr>
          <a:xfrm>
            <a:off x="9991725" y="2777386"/>
            <a:ext cx="1590675" cy="3848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defRPr/>
            </a:pPr>
            <a:r>
              <a:rPr sz="1200" b="1" i="0" spc="15">
                <a:solidFill>
                  <a:schemeClr val="bg1"/>
                </a:solidFill>
                <a:latin typeface="+mj-lt"/>
              </a:rPr>
              <a:t>REUSE IN THE NEXT MARKET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48825" y="3600450"/>
            <a:ext cx="19050" cy="1257300"/>
          </a:xfrm>
          <a:prstGeom prst="rect">
            <a:avLst/>
          </a:pr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8" name="step5-desc"/>
          <p:cNvSpPr txBox="1"/>
          <p:nvPr/>
        </p:nvSpPr>
        <p:spPr>
          <a:xfrm>
            <a:off x="9801225" y="3579192"/>
            <a:ext cx="1724025" cy="9793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9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Run the same five steps in Indonesia, starting with what Vietnam taught.</a:t>
            </a:r>
          </a:p>
        </p:txBody>
      </p:sp>
      <p:sp>
        <p:nvSpPr>
          <p:cNvPr id="49" name="Freeform 48"/>
          <p:cNvSpPr/>
          <p:nvPr/>
        </p:nvSpPr>
        <p:spPr>
          <a:xfrm>
            <a:off x="438150" y="5219700"/>
            <a:ext cx="8839200" cy="133350"/>
          </a:xfrm>
          <a:custGeom>
            <a:avLst/>
            <a:gdLst/>
            <a:ahLst/>
            <a:cxnLst/>
            <a:rect l="l" t="t" r="r" b="b"/>
            <a:pathLst>
              <a:path w="8839200" h="133350">
                <a:moveTo>
                  <a:pt x="0" y="0"/>
                </a:moveTo>
                <a:lnTo>
                  <a:pt x="0" y="133350"/>
                </a:lnTo>
                <a:lnTo>
                  <a:pt x="8839200" y="133350"/>
                </a:lnTo>
                <a:lnTo>
                  <a:pt x="8839200" y="0"/>
                </a:lnTo>
              </a:path>
            </a:pathLst>
          </a:custGeom>
          <a:noFill/>
          <a:ln w="19050">
            <a:solidFill>
              <a:srgbClr val="5476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0" name="Freeform 49"/>
          <p:cNvSpPr/>
          <p:nvPr/>
        </p:nvSpPr>
        <p:spPr>
          <a:xfrm>
            <a:off x="9620250" y="5219700"/>
            <a:ext cx="2124075" cy="133350"/>
          </a:xfrm>
          <a:custGeom>
            <a:avLst/>
            <a:gdLst/>
            <a:ahLst/>
            <a:cxnLst/>
            <a:rect l="l" t="t" r="r" b="b"/>
            <a:pathLst>
              <a:path w="2124075" h="133350">
                <a:moveTo>
                  <a:pt x="0" y="0"/>
                </a:moveTo>
                <a:lnTo>
                  <a:pt x="0" y="133350"/>
                </a:lnTo>
                <a:lnTo>
                  <a:pt x="2124075" y="133350"/>
                </a:lnTo>
                <a:lnTo>
                  <a:pt x="2124075" y="0"/>
                </a:lnTo>
              </a:path>
            </a:pathLst>
          </a:custGeom>
          <a:noFill/>
          <a:ln w="19050">
            <a:solidFill>
              <a:srgbClr val="5476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1" name="label-vietnam"/>
          <p:cNvSpPr/>
          <p:nvPr/>
        </p:nvSpPr>
        <p:spPr>
          <a:xfrm>
            <a:off x="4191000" y="5448300"/>
            <a:ext cx="1333500" cy="257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2" name="label-vietnam"/>
          <p:cNvSpPr txBox="1"/>
          <p:nvPr/>
        </p:nvSpPr>
        <p:spPr>
          <a:xfrm>
            <a:off x="4191000" y="5434666"/>
            <a:ext cx="1333351" cy="2324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8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Vietnam</a:t>
            </a:r>
          </a:p>
        </p:txBody>
      </p:sp>
      <p:sp>
        <p:nvSpPr>
          <p:cNvPr id="53" name="label-indonesia"/>
          <p:cNvSpPr/>
          <p:nvPr/>
        </p:nvSpPr>
        <p:spPr>
          <a:xfrm>
            <a:off x="10015538" y="5448300"/>
            <a:ext cx="1333500" cy="257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4" name="label-indonesia"/>
          <p:cNvSpPr txBox="1"/>
          <p:nvPr/>
        </p:nvSpPr>
        <p:spPr>
          <a:xfrm>
            <a:off x="10015538" y="5434666"/>
            <a:ext cx="1333500" cy="2324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8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Indonesia</a:t>
            </a:r>
          </a:p>
        </p:txBody>
      </p:sp>
      <p:sp>
        <p:nvSpPr>
          <p:cNvPr id="55" name="Freeform 54"/>
          <p:cNvSpPr/>
          <p:nvPr/>
        </p:nvSpPr>
        <p:spPr>
          <a:xfrm>
            <a:off x="4857750" y="5715000"/>
            <a:ext cx="5824538" cy="323850"/>
          </a:xfrm>
          <a:custGeom>
            <a:avLst/>
            <a:gdLst/>
            <a:ahLst/>
            <a:cxnLst/>
            <a:rect l="l" t="t" r="r" b="b"/>
            <a:pathLst>
              <a:path w="5824538" h="323850">
                <a:moveTo>
                  <a:pt x="0" y="0"/>
                </a:moveTo>
                <a:lnTo>
                  <a:pt x="0" y="323850"/>
                </a:lnTo>
                <a:lnTo>
                  <a:pt x="5824538" y="323850"/>
                </a:lnTo>
                <a:lnTo>
                  <a:pt x="5824538" y="95250"/>
                </a:lnTo>
              </a:path>
            </a:pathLst>
          </a:custGeom>
          <a:noFill/>
          <a:ln w="23812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6" name="Freeform 55"/>
          <p:cNvSpPr/>
          <p:nvPr/>
        </p:nvSpPr>
        <p:spPr>
          <a:xfrm>
            <a:off x="10606088" y="5715000"/>
            <a:ext cx="152400" cy="114300"/>
          </a:xfrm>
          <a:custGeom>
            <a:avLst/>
            <a:gdLst/>
            <a:ahLst/>
            <a:cxnLst/>
            <a:rect l="l" t="t" r="r" b="b"/>
            <a:pathLst>
              <a:path w="152400" h="114300">
                <a:moveTo>
                  <a:pt x="0" y="114300"/>
                </a:moveTo>
                <a:lnTo>
                  <a:pt x="76200" y="0"/>
                </a:lnTo>
                <a:lnTo>
                  <a:pt x="152400" y="11430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7" name="carry-label"/>
          <p:cNvSpPr/>
          <p:nvPr/>
        </p:nvSpPr>
        <p:spPr>
          <a:xfrm>
            <a:off x="5579269" y="5943600"/>
            <a:ext cx="4381500" cy="228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8" name="carry-label"/>
          <p:cNvSpPr txBox="1"/>
          <p:nvPr/>
        </p:nvSpPr>
        <p:spPr>
          <a:xfrm>
            <a:off x="5579269" y="5931947"/>
            <a:ext cx="4381351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39"/>
              </a:lnSpc>
              <a:defRPr/>
            </a:pPr>
            <a:r>
              <a:rPr sz="1200" b="0" i="0">
                <a:solidFill>
                  <a:srgbClr val="5F5E5A"/>
                </a:solidFill>
                <a:latin typeface="+mj-lt"/>
              </a:rPr>
              <a:t>Same five steps, starting with what Vietnam taught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pPr>
              <a:defRPr/>
            </a:pPr>
            <a:r>
              <a:rPr sz="2800"/>
              <a:t>The 18-month plan has two go/no-go gates before spending scales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/>
              <a:t>Source: Illustrative data, not real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pPr>
              <a:defRPr/>
            </a:pPr>
            <a:r>
              <a:rPr lang="en-US" smtClean="0"/>
              <a:t>7</a:t>
            </a:r>
            <a:endParaRPr lang="en-US"/>
          </a:p>
        </p:txBody>
      </p:sp>
      <p:sp>
        <p:nvSpPr>
          <p:cNvPr id="71" name="subtitle"/>
          <p:cNvSpPr txBox="1"/>
          <p:nvPr/>
        </p:nvSpPr>
        <p:spPr>
          <a:xfrm>
            <a:off x="409575" y="1336417"/>
            <a:ext cx="11363325" cy="2730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99"/>
              </a:lnSpc>
              <a:defRPr/>
            </a:pPr>
            <a:r>
              <a:rPr sz="1600" b="0" i="0">
                <a:solidFill>
                  <a:srgbClr val="5F5E5A"/>
                </a:solidFill>
                <a:latin typeface="+mj-lt"/>
              </a:rPr>
              <a:t>The committee keeps control: there are two dated points where it can stop before most of the money is spent.</a:t>
            </a:r>
          </a:p>
        </p:txBody>
      </p:sp>
      <p:sp>
        <p:nvSpPr>
          <p:cNvPr id="75" name="phase-bar-01"/>
          <p:cNvSpPr/>
          <p:nvPr/>
        </p:nvSpPr>
        <p:spPr>
          <a:xfrm>
            <a:off x="409575" y="1866900"/>
            <a:ext cx="1876425" cy="5905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phase-num-01"/>
          <p:cNvSpPr/>
          <p:nvPr/>
        </p:nvSpPr>
        <p:spPr>
          <a:xfrm>
            <a:off x="533400" y="2028825"/>
            <a:ext cx="266700" cy="266700"/>
          </a:xfrm>
          <a:prstGeom prst="ellipse">
            <a:avLst/>
          </a:prstGeom>
          <a:noFill/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2" name="phase-num-01"/>
          <p:cNvSpPr txBox="1"/>
          <p:nvPr/>
        </p:nvSpPr>
        <p:spPr>
          <a:xfrm>
            <a:off x="542925" y="1981033"/>
            <a:ext cx="247501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50"/>
              </a:lnSpc>
              <a:defRPr/>
            </a:pPr>
            <a:r>
              <a:rPr sz="900" b="1" i="0">
                <a:solidFill>
                  <a:schemeClr val="bg1"/>
                </a:solidFill>
                <a:latin typeface="+mj-lt"/>
              </a:rPr>
              <a:t>01</a:t>
            </a:r>
          </a:p>
        </p:txBody>
      </p:sp>
      <p:sp>
        <p:nvSpPr>
          <p:cNvPr id="73" name="phase-name-01"/>
          <p:cNvSpPr txBox="1"/>
          <p:nvPr/>
        </p:nvSpPr>
        <p:spPr>
          <a:xfrm>
            <a:off x="904875" y="1984876"/>
            <a:ext cx="758726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defRPr/>
            </a:pPr>
            <a:r>
              <a:rPr sz="1200" b="1" i="0" spc="38">
                <a:solidFill>
                  <a:schemeClr val="bg1"/>
                </a:solidFill>
                <a:latin typeface="+mj-lt"/>
              </a:rPr>
              <a:t>PARTNER</a:t>
            </a:r>
          </a:p>
        </p:txBody>
      </p:sp>
      <p:sp>
        <p:nvSpPr>
          <p:cNvPr id="7" name="phase-months-01"/>
          <p:cNvSpPr txBox="1"/>
          <p:nvPr/>
        </p:nvSpPr>
        <p:spPr>
          <a:xfrm>
            <a:off x="904875" y="2163883"/>
            <a:ext cx="758726" cy="1676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defRPr/>
            </a:pPr>
            <a:r>
              <a:rPr sz="900" b="0" i="0">
                <a:solidFill>
                  <a:schemeClr val="bg1"/>
                </a:solidFill>
                <a:latin typeface="+mj-lt"/>
              </a:rPr>
              <a:t>Months 1-3</a:t>
            </a:r>
          </a:p>
        </p:txBody>
      </p:sp>
      <p:sp>
        <p:nvSpPr>
          <p:cNvPr id="8" name="phase-bar-02"/>
          <p:cNvSpPr/>
          <p:nvPr/>
        </p:nvSpPr>
        <p:spPr>
          <a:xfrm>
            <a:off x="2324100" y="1866900"/>
            <a:ext cx="1857375" cy="5905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phase-num-02"/>
          <p:cNvSpPr/>
          <p:nvPr/>
        </p:nvSpPr>
        <p:spPr>
          <a:xfrm>
            <a:off x="2447925" y="2028825"/>
            <a:ext cx="266700" cy="266700"/>
          </a:xfrm>
          <a:prstGeom prst="ellipse">
            <a:avLst/>
          </a:prstGeom>
          <a:noFill/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phase-num-02"/>
          <p:cNvSpPr txBox="1"/>
          <p:nvPr/>
        </p:nvSpPr>
        <p:spPr>
          <a:xfrm>
            <a:off x="2457450" y="1981033"/>
            <a:ext cx="247501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50"/>
              </a:lnSpc>
              <a:defRPr/>
            </a:pPr>
            <a:r>
              <a:rPr sz="900" b="1" i="0">
                <a:solidFill>
                  <a:schemeClr val="bg1"/>
                </a:solidFill>
                <a:latin typeface="+mj-lt"/>
              </a:rPr>
              <a:t>02</a:t>
            </a:r>
          </a:p>
        </p:txBody>
      </p:sp>
      <p:sp>
        <p:nvSpPr>
          <p:cNvPr id="11" name="phase-name-02"/>
          <p:cNvSpPr txBox="1"/>
          <p:nvPr/>
        </p:nvSpPr>
        <p:spPr>
          <a:xfrm>
            <a:off x="2819400" y="1984876"/>
            <a:ext cx="571798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defRPr/>
            </a:pPr>
            <a:r>
              <a:rPr sz="1200" b="1" i="0" spc="38">
                <a:solidFill>
                  <a:schemeClr val="bg1"/>
                </a:solidFill>
                <a:latin typeface="+mj-lt"/>
              </a:rPr>
              <a:t>PILOT</a:t>
            </a:r>
          </a:p>
        </p:txBody>
      </p:sp>
      <p:sp>
        <p:nvSpPr>
          <p:cNvPr id="12" name="phase-months-02"/>
          <p:cNvSpPr txBox="1"/>
          <p:nvPr/>
        </p:nvSpPr>
        <p:spPr>
          <a:xfrm>
            <a:off x="2819400" y="2163883"/>
            <a:ext cx="571798" cy="1676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defRPr/>
            </a:pPr>
            <a:r>
              <a:rPr sz="900" b="0" i="0">
                <a:solidFill>
                  <a:schemeClr val="bg1"/>
                </a:solidFill>
                <a:latin typeface="+mj-lt"/>
              </a:rPr>
              <a:t>Months 4-6</a:t>
            </a:r>
          </a:p>
        </p:txBody>
      </p:sp>
      <p:sp>
        <p:nvSpPr>
          <p:cNvPr id="13" name="phase-bar-03"/>
          <p:cNvSpPr/>
          <p:nvPr/>
        </p:nvSpPr>
        <p:spPr>
          <a:xfrm>
            <a:off x="4219575" y="1866900"/>
            <a:ext cx="3752850" cy="5905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phase-num-03"/>
          <p:cNvSpPr/>
          <p:nvPr/>
        </p:nvSpPr>
        <p:spPr>
          <a:xfrm>
            <a:off x="4343400" y="2028825"/>
            <a:ext cx="266700" cy="266700"/>
          </a:xfrm>
          <a:prstGeom prst="ellipse">
            <a:avLst/>
          </a:prstGeom>
          <a:noFill/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phase-num-03"/>
          <p:cNvSpPr txBox="1"/>
          <p:nvPr/>
        </p:nvSpPr>
        <p:spPr>
          <a:xfrm>
            <a:off x="4352925" y="1981033"/>
            <a:ext cx="247501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50"/>
              </a:lnSpc>
              <a:defRPr/>
            </a:pPr>
            <a:r>
              <a:rPr sz="900" b="1" i="0">
                <a:solidFill>
                  <a:schemeClr val="bg1"/>
                </a:solidFill>
                <a:latin typeface="+mj-lt"/>
              </a:rPr>
              <a:t>03</a:t>
            </a:r>
          </a:p>
        </p:txBody>
      </p:sp>
      <p:sp>
        <p:nvSpPr>
          <p:cNvPr id="16" name="phase-name-03"/>
          <p:cNvSpPr txBox="1"/>
          <p:nvPr/>
        </p:nvSpPr>
        <p:spPr>
          <a:xfrm>
            <a:off x="4714875" y="1984876"/>
            <a:ext cx="769888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defRPr/>
            </a:pPr>
            <a:r>
              <a:rPr sz="1200" b="1" i="0" spc="38">
                <a:solidFill>
                  <a:schemeClr val="bg1"/>
                </a:solidFill>
                <a:latin typeface="+mj-lt"/>
              </a:rPr>
              <a:t>ROLLOUT</a:t>
            </a:r>
          </a:p>
        </p:txBody>
      </p:sp>
      <p:sp>
        <p:nvSpPr>
          <p:cNvPr id="17" name="phase-months-03"/>
          <p:cNvSpPr txBox="1"/>
          <p:nvPr/>
        </p:nvSpPr>
        <p:spPr>
          <a:xfrm>
            <a:off x="4714875" y="2163883"/>
            <a:ext cx="769888" cy="1676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defRPr/>
            </a:pPr>
            <a:r>
              <a:rPr sz="900" b="0" i="0">
                <a:solidFill>
                  <a:schemeClr val="bg1"/>
                </a:solidFill>
                <a:latin typeface="+mj-lt"/>
              </a:rPr>
              <a:t>Months 7-12</a:t>
            </a:r>
          </a:p>
        </p:txBody>
      </p:sp>
      <p:sp>
        <p:nvSpPr>
          <p:cNvPr id="18" name="phase-bar-04"/>
          <p:cNvSpPr/>
          <p:nvPr/>
        </p:nvSpPr>
        <p:spPr>
          <a:xfrm>
            <a:off x="8010525" y="1866900"/>
            <a:ext cx="3771900" cy="5905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9" name="phase-num-04"/>
          <p:cNvSpPr/>
          <p:nvPr/>
        </p:nvSpPr>
        <p:spPr>
          <a:xfrm>
            <a:off x="8134350" y="2028825"/>
            <a:ext cx="266700" cy="266700"/>
          </a:xfrm>
          <a:prstGeom prst="ellipse">
            <a:avLst/>
          </a:prstGeom>
          <a:noFill/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phase-num-04"/>
          <p:cNvSpPr txBox="1"/>
          <p:nvPr/>
        </p:nvSpPr>
        <p:spPr>
          <a:xfrm>
            <a:off x="8143875" y="1981033"/>
            <a:ext cx="247501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50"/>
              </a:lnSpc>
              <a:defRPr/>
            </a:pPr>
            <a:r>
              <a:rPr sz="900" b="1" i="0">
                <a:solidFill>
                  <a:schemeClr val="bg1"/>
                </a:solidFill>
                <a:latin typeface="+mj-lt"/>
              </a:rPr>
              <a:t>04</a:t>
            </a:r>
          </a:p>
        </p:txBody>
      </p:sp>
      <p:sp>
        <p:nvSpPr>
          <p:cNvPr id="21" name="phase-name-04"/>
          <p:cNvSpPr txBox="1"/>
          <p:nvPr/>
        </p:nvSpPr>
        <p:spPr>
          <a:xfrm>
            <a:off x="8505825" y="1984876"/>
            <a:ext cx="1365200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defRPr/>
            </a:pPr>
            <a:r>
              <a:rPr sz="1200" b="1" i="0" spc="38">
                <a:solidFill>
                  <a:schemeClr val="bg1"/>
                </a:solidFill>
                <a:latin typeface="+mj-lt"/>
              </a:rPr>
              <a:t>INDONESIA PREP</a:t>
            </a:r>
          </a:p>
        </p:txBody>
      </p:sp>
      <p:sp>
        <p:nvSpPr>
          <p:cNvPr id="22" name="phase-months-04"/>
          <p:cNvSpPr txBox="1"/>
          <p:nvPr/>
        </p:nvSpPr>
        <p:spPr>
          <a:xfrm>
            <a:off x="8505825" y="2163883"/>
            <a:ext cx="1365200" cy="1676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defRPr/>
            </a:pPr>
            <a:r>
              <a:rPr sz="900" b="0" i="0">
                <a:solidFill>
                  <a:schemeClr val="bg1"/>
                </a:solidFill>
                <a:latin typeface="+mj-lt"/>
              </a:rPr>
              <a:t>Months 13-18</a:t>
            </a:r>
          </a:p>
        </p:txBody>
      </p:sp>
      <p:sp>
        <p:nvSpPr>
          <p:cNvPr id="23" name="phase-desc-01"/>
          <p:cNvSpPr/>
          <p:nvPr/>
        </p:nvSpPr>
        <p:spPr>
          <a:xfrm>
            <a:off x="409575" y="2533650"/>
            <a:ext cx="1876425" cy="876300"/>
          </a:xfrm>
          <a:prstGeom prst="rect">
            <a:avLst/>
          </a:prstGeom>
          <a:solidFill>
            <a:srgbClr val="ED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4" name="phase-body-01"/>
          <p:cNvSpPr txBox="1"/>
          <p:nvPr/>
        </p:nvSpPr>
        <p:spPr>
          <a:xfrm>
            <a:off x="542925" y="2627534"/>
            <a:ext cx="1609725" cy="622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  <a:defRPr/>
            </a:pPr>
            <a:r>
              <a:rPr sz="1200" b="0" i="0">
                <a:solidFill>
                  <a:srgbClr val="1A1A1A"/>
                </a:solidFill>
                <a:latin typeface="+mj-lt"/>
              </a:rPr>
              <a:t>Choose and sign the Vietnam distribution partner</a:t>
            </a:r>
          </a:p>
        </p:txBody>
      </p:sp>
      <p:sp>
        <p:nvSpPr>
          <p:cNvPr id="25" name="phase-desc-02"/>
          <p:cNvSpPr/>
          <p:nvPr/>
        </p:nvSpPr>
        <p:spPr>
          <a:xfrm>
            <a:off x="2324100" y="2533650"/>
            <a:ext cx="1857375" cy="876300"/>
          </a:xfrm>
          <a:prstGeom prst="rect">
            <a:avLst/>
          </a:prstGeom>
          <a:solidFill>
            <a:srgbClr val="ED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phase-body-02"/>
          <p:cNvSpPr txBox="1"/>
          <p:nvPr/>
        </p:nvSpPr>
        <p:spPr>
          <a:xfrm>
            <a:off x="2457450" y="2627534"/>
            <a:ext cx="1590675" cy="4213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  <a:defRPr/>
            </a:pPr>
            <a:r>
              <a:rPr sz="1200" b="0" i="0">
                <a:solidFill>
                  <a:srgbClr val="1A1A1A"/>
                </a:solidFill>
                <a:latin typeface="+mj-lt"/>
              </a:rPr>
              <a:t>Pilot in Ho Chi Minh City</a:t>
            </a:r>
          </a:p>
        </p:txBody>
      </p:sp>
      <p:sp>
        <p:nvSpPr>
          <p:cNvPr id="27" name="phase-desc-03"/>
          <p:cNvSpPr/>
          <p:nvPr/>
        </p:nvSpPr>
        <p:spPr>
          <a:xfrm>
            <a:off x="4219575" y="2533650"/>
            <a:ext cx="3752850" cy="876300"/>
          </a:xfrm>
          <a:prstGeom prst="rect">
            <a:avLst/>
          </a:prstGeom>
          <a:solidFill>
            <a:srgbClr val="ED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phase-body-03"/>
          <p:cNvSpPr txBox="1"/>
          <p:nvPr/>
        </p:nvSpPr>
        <p:spPr>
          <a:xfrm>
            <a:off x="4352925" y="2627534"/>
            <a:ext cx="3486150" cy="2202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84"/>
              </a:lnSpc>
              <a:defRPr/>
            </a:pPr>
            <a:r>
              <a:rPr sz="1200" b="0" i="0">
                <a:solidFill>
                  <a:srgbClr val="1A1A1A"/>
                </a:solidFill>
                <a:latin typeface="+mj-lt"/>
              </a:rPr>
              <a:t>National rollout in Vietnam</a:t>
            </a:r>
          </a:p>
        </p:txBody>
      </p:sp>
      <p:sp>
        <p:nvSpPr>
          <p:cNvPr id="29" name="phase-desc-04"/>
          <p:cNvSpPr/>
          <p:nvPr/>
        </p:nvSpPr>
        <p:spPr>
          <a:xfrm>
            <a:off x="8010525" y="2533650"/>
            <a:ext cx="3771900" cy="876300"/>
          </a:xfrm>
          <a:prstGeom prst="rect">
            <a:avLst/>
          </a:prstGeom>
          <a:solidFill>
            <a:srgbClr val="ED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0" name="phase-body-04"/>
          <p:cNvSpPr txBox="1"/>
          <p:nvPr/>
        </p:nvSpPr>
        <p:spPr>
          <a:xfrm>
            <a:off x="8143875" y="2627534"/>
            <a:ext cx="3505200" cy="2202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84"/>
              </a:lnSpc>
              <a:defRPr/>
            </a:pPr>
            <a:r>
              <a:rPr sz="1200" b="0" i="0">
                <a:solidFill>
                  <a:srgbClr val="1A1A1A"/>
                </a:solidFill>
                <a:latin typeface="+mj-lt"/>
              </a:rPr>
              <a:t>Indonesia partner search and entry preparation</a:t>
            </a:r>
          </a:p>
        </p:txBody>
      </p:sp>
      <p:sp>
        <p:nvSpPr>
          <p:cNvPr id="31" name="axis-caption"/>
          <p:cNvSpPr txBox="1"/>
          <p:nvPr/>
        </p:nvSpPr>
        <p:spPr>
          <a:xfrm>
            <a:off x="409575" y="3491698"/>
            <a:ext cx="466725" cy="1562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defRPr/>
            </a:pPr>
            <a:r>
              <a:rPr sz="900" b="1" i="0" spc="75">
                <a:solidFill>
                  <a:schemeClr val="tx2"/>
                </a:solidFill>
                <a:latin typeface="+mj-lt"/>
              </a:rPr>
              <a:t>MONTH</a:t>
            </a:r>
          </a:p>
        </p:txBody>
      </p:sp>
      <p:sp>
        <p:nvSpPr>
          <p:cNvPr id="32" name="tick-label-3"/>
          <p:cNvSpPr txBox="1"/>
          <p:nvPr/>
        </p:nvSpPr>
        <p:spPr>
          <a:xfrm>
            <a:off x="2114550" y="3491698"/>
            <a:ext cx="381000" cy="1562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80"/>
              </a:lnSpc>
              <a:defRPr/>
            </a:pPr>
            <a:r>
              <a:rPr sz="900" b="0" i="0">
                <a:solidFill>
                  <a:srgbClr val="5F5E5A"/>
                </a:solidFill>
                <a:latin typeface="+mj-lt"/>
              </a:rPr>
              <a:t>3</a:t>
            </a:r>
          </a:p>
        </p:txBody>
      </p:sp>
      <p:sp>
        <p:nvSpPr>
          <p:cNvPr id="33" name="tick-label-6"/>
          <p:cNvSpPr txBox="1"/>
          <p:nvPr/>
        </p:nvSpPr>
        <p:spPr>
          <a:xfrm>
            <a:off x="4010025" y="3491698"/>
            <a:ext cx="381000" cy="1562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80"/>
              </a:lnSpc>
              <a:defRPr/>
            </a:pPr>
            <a:r>
              <a:rPr sz="900" b="0" i="0">
                <a:solidFill>
                  <a:srgbClr val="5F5E5A"/>
                </a:solidFill>
                <a:latin typeface="+mj-lt"/>
              </a:rPr>
              <a:t>6</a:t>
            </a:r>
          </a:p>
        </p:txBody>
      </p:sp>
      <p:sp>
        <p:nvSpPr>
          <p:cNvPr id="34" name="tick-label-9"/>
          <p:cNvSpPr txBox="1"/>
          <p:nvPr/>
        </p:nvSpPr>
        <p:spPr>
          <a:xfrm>
            <a:off x="5905500" y="3491698"/>
            <a:ext cx="381000" cy="1562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80"/>
              </a:lnSpc>
              <a:defRPr/>
            </a:pPr>
            <a:r>
              <a:rPr sz="900" b="0" i="0">
                <a:solidFill>
                  <a:srgbClr val="5F5E5A"/>
                </a:solidFill>
                <a:latin typeface="+mj-lt"/>
              </a:rPr>
              <a:t>9</a:t>
            </a:r>
          </a:p>
        </p:txBody>
      </p:sp>
      <p:sp>
        <p:nvSpPr>
          <p:cNvPr id="35" name="tick-label-12"/>
          <p:cNvSpPr txBox="1"/>
          <p:nvPr/>
        </p:nvSpPr>
        <p:spPr>
          <a:xfrm>
            <a:off x="7800975" y="3491698"/>
            <a:ext cx="380851" cy="1562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80"/>
              </a:lnSpc>
              <a:defRPr/>
            </a:pPr>
            <a:r>
              <a:rPr sz="900" b="0" i="0">
                <a:solidFill>
                  <a:srgbClr val="5F5E5A"/>
                </a:solidFill>
                <a:latin typeface="+mj-lt"/>
              </a:rPr>
              <a:t>12</a:t>
            </a:r>
          </a:p>
        </p:txBody>
      </p:sp>
      <p:sp>
        <p:nvSpPr>
          <p:cNvPr id="36" name="tick-label-15"/>
          <p:cNvSpPr txBox="1"/>
          <p:nvPr/>
        </p:nvSpPr>
        <p:spPr>
          <a:xfrm>
            <a:off x="9696450" y="3491698"/>
            <a:ext cx="380851" cy="1562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80"/>
              </a:lnSpc>
              <a:defRPr/>
            </a:pPr>
            <a:r>
              <a:rPr sz="900" b="0" i="0">
                <a:solidFill>
                  <a:srgbClr val="5F5E5A"/>
                </a:solidFill>
                <a:latin typeface="+mj-lt"/>
              </a:rPr>
              <a:t>15</a:t>
            </a:r>
          </a:p>
        </p:txBody>
      </p:sp>
      <p:sp>
        <p:nvSpPr>
          <p:cNvPr id="37" name="tick-label-18"/>
          <p:cNvSpPr txBox="1"/>
          <p:nvPr/>
        </p:nvSpPr>
        <p:spPr>
          <a:xfrm>
            <a:off x="11401425" y="3491698"/>
            <a:ext cx="381000" cy="1562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0"/>
              </a:lnSpc>
              <a:defRPr/>
            </a:pPr>
            <a:r>
              <a:rPr sz="900" b="0" i="0">
                <a:solidFill>
                  <a:srgbClr val="5F5E5A"/>
                </a:solidFill>
                <a:latin typeface="+mj-lt"/>
              </a:rPr>
              <a:t>18</a:t>
            </a:r>
          </a:p>
        </p:txBody>
      </p:sp>
      <p:sp>
        <p:nvSpPr>
          <p:cNvPr id="38" name="axis-line"/>
          <p:cNvSpPr/>
          <p:nvPr/>
        </p:nvSpPr>
        <p:spPr>
          <a:xfrm>
            <a:off x="409575" y="3800475"/>
            <a:ext cx="11277600" cy="2857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9" name="tick-0"/>
          <p:cNvSpPr/>
          <p:nvPr/>
        </p:nvSpPr>
        <p:spPr>
          <a:xfrm>
            <a:off x="409575" y="3743325"/>
            <a:ext cx="19050" cy="14287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0" name="tick-3"/>
          <p:cNvSpPr/>
          <p:nvPr/>
        </p:nvSpPr>
        <p:spPr>
          <a:xfrm>
            <a:off x="2295525" y="3743325"/>
            <a:ext cx="19050" cy="14287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1" name="tick-9"/>
          <p:cNvSpPr/>
          <p:nvPr/>
        </p:nvSpPr>
        <p:spPr>
          <a:xfrm>
            <a:off x="6086475" y="3743325"/>
            <a:ext cx="19050" cy="14287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2" name="tick-15"/>
          <p:cNvSpPr/>
          <p:nvPr/>
        </p:nvSpPr>
        <p:spPr>
          <a:xfrm>
            <a:off x="9877425" y="3743325"/>
            <a:ext cx="19050" cy="14287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3" name="Freeform 42"/>
          <p:cNvSpPr/>
          <p:nvPr/>
        </p:nvSpPr>
        <p:spPr>
          <a:xfrm>
            <a:off x="11668125" y="3724275"/>
            <a:ext cx="133350" cy="180975"/>
          </a:xfrm>
          <a:custGeom>
            <a:avLst/>
            <a:gdLst/>
            <a:ahLst/>
            <a:cxnLst/>
            <a:rect l="l" t="t" r="r" b="b"/>
            <a:pathLst>
              <a:path w="133350" h="180975">
                <a:moveTo>
                  <a:pt x="0" y="0"/>
                </a:moveTo>
                <a:lnTo>
                  <a:pt x="133350" y="90487"/>
                </a:lnTo>
                <a:lnTo>
                  <a:pt x="0" y="18097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4" name="Freeform 43"/>
          <p:cNvSpPr/>
          <p:nvPr/>
        </p:nvSpPr>
        <p:spPr>
          <a:xfrm>
            <a:off x="4029075" y="363855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171450" y="0"/>
                </a:moveTo>
                <a:lnTo>
                  <a:pt x="342900" y="171450"/>
                </a:lnTo>
                <a:lnTo>
                  <a:pt x="171450" y="342900"/>
                </a:lnTo>
                <a:lnTo>
                  <a:pt x="0" y="1714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5" name="Freeform 44"/>
          <p:cNvSpPr/>
          <p:nvPr/>
        </p:nvSpPr>
        <p:spPr>
          <a:xfrm>
            <a:off x="7820025" y="363855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171450" y="0"/>
                </a:moveTo>
                <a:lnTo>
                  <a:pt x="342900" y="171450"/>
                </a:lnTo>
                <a:lnTo>
                  <a:pt x="171450" y="342900"/>
                </a:lnTo>
                <a:lnTo>
                  <a:pt x="0" y="1714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6" name="gate1-stem"/>
          <p:cNvSpPr/>
          <p:nvPr/>
        </p:nvSpPr>
        <p:spPr>
          <a:xfrm>
            <a:off x="4191000" y="3981450"/>
            <a:ext cx="28575" cy="285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7" name="gate1-card"/>
          <p:cNvSpPr/>
          <p:nvPr/>
        </p:nvSpPr>
        <p:spPr>
          <a:xfrm>
            <a:off x="2390775" y="4267200"/>
            <a:ext cx="3619500" cy="17716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8" name="Rectangle 47"/>
          <p:cNvSpPr/>
          <p:nvPr/>
        </p:nvSpPr>
        <p:spPr>
          <a:xfrm>
            <a:off x="2390775" y="4267200"/>
            <a:ext cx="3619500" cy="47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9" name="Rectangle 48"/>
          <p:cNvSpPr/>
          <p:nvPr/>
        </p:nvSpPr>
        <p:spPr>
          <a:xfrm>
            <a:off x="6000750" y="4267200"/>
            <a:ext cx="9525" cy="1771650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0" name="Rectangle 49"/>
          <p:cNvSpPr/>
          <p:nvPr/>
        </p:nvSpPr>
        <p:spPr>
          <a:xfrm>
            <a:off x="2390775" y="6029325"/>
            <a:ext cx="3619500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1" name="Rectangle 50"/>
          <p:cNvSpPr/>
          <p:nvPr/>
        </p:nvSpPr>
        <p:spPr>
          <a:xfrm>
            <a:off x="2390775" y="4267200"/>
            <a:ext cx="9525" cy="1771650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2" name="gate1-eyebrow"/>
          <p:cNvSpPr txBox="1"/>
          <p:nvPr/>
        </p:nvSpPr>
        <p:spPr>
          <a:xfrm>
            <a:off x="2590800" y="4448008"/>
            <a:ext cx="321945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defRPr/>
            </a:pPr>
            <a:r>
              <a:rPr sz="900" b="1" i="0" spc="112">
                <a:solidFill>
                  <a:schemeClr val="tx2"/>
                </a:solidFill>
                <a:latin typeface="+mj-lt"/>
              </a:rPr>
              <a:t>GATE 1 · MONTH 6</a:t>
            </a:r>
          </a:p>
        </p:txBody>
      </p:sp>
      <p:sp>
        <p:nvSpPr>
          <p:cNvPr id="53" name="gate1-claim"/>
          <p:cNvSpPr txBox="1"/>
          <p:nvPr/>
        </p:nvSpPr>
        <p:spPr>
          <a:xfrm>
            <a:off x="2590800" y="4692983"/>
            <a:ext cx="3219450" cy="4814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1" i="0">
                <a:solidFill>
                  <a:srgbClr val="1A1A1A"/>
                </a:solidFill>
                <a:latin typeface="+mj-lt"/>
              </a:rPr>
              <a:t>Continue only if pilot sell-through is at or above target</a:t>
            </a:r>
          </a:p>
        </p:txBody>
      </p:sp>
      <p:sp>
        <p:nvSpPr>
          <p:cNvPr id="54" name="gate1-rule"/>
          <p:cNvSpPr/>
          <p:nvPr/>
        </p:nvSpPr>
        <p:spPr>
          <a:xfrm>
            <a:off x="2590800" y="5310485"/>
            <a:ext cx="3219450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5" name="gate1-next"/>
          <p:cNvSpPr txBox="1"/>
          <p:nvPr/>
        </p:nvSpPr>
        <p:spPr>
          <a:xfrm>
            <a:off x="2590800" y="5413894"/>
            <a:ext cx="3219450" cy="2202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84"/>
              </a:lnSpc>
              <a:defRPr/>
            </a:pPr>
            <a:r>
              <a:rPr sz="1200" b="0" i="0">
                <a:solidFill>
                  <a:srgbClr val="5F5E5A"/>
                </a:solidFill>
                <a:latin typeface="+mj-lt"/>
              </a:rPr>
              <a:t>If go: national rollout in Vietnam, months 7-12</a:t>
            </a:r>
          </a:p>
        </p:txBody>
      </p:sp>
      <p:sp>
        <p:nvSpPr>
          <p:cNvPr id="56" name="gate2-stem"/>
          <p:cNvSpPr/>
          <p:nvPr/>
        </p:nvSpPr>
        <p:spPr>
          <a:xfrm>
            <a:off x="7981950" y="3981450"/>
            <a:ext cx="28575" cy="285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7" name="gate2-card"/>
          <p:cNvSpPr/>
          <p:nvPr/>
        </p:nvSpPr>
        <p:spPr>
          <a:xfrm>
            <a:off x="6181725" y="4267200"/>
            <a:ext cx="3619500" cy="17716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8" name="Rectangle 57"/>
          <p:cNvSpPr/>
          <p:nvPr/>
        </p:nvSpPr>
        <p:spPr>
          <a:xfrm>
            <a:off x="6181725" y="4267200"/>
            <a:ext cx="3619500" cy="47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9" name="Rectangle 58"/>
          <p:cNvSpPr/>
          <p:nvPr/>
        </p:nvSpPr>
        <p:spPr>
          <a:xfrm>
            <a:off x="9791700" y="4267200"/>
            <a:ext cx="9525" cy="1771650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0" name="Rectangle 59"/>
          <p:cNvSpPr/>
          <p:nvPr/>
        </p:nvSpPr>
        <p:spPr>
          <a:xfrm>
            <a:off x="6181725" y="6029325"/>
            <a:ext cx="3619500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1" name="Rectangle 60"/>
          <p:cNvSpPr/>
          <p:nvPr/>
        </p:nvSpPr>
        <p:spPr>
          <a:xfrm>
            <a:off x="6181725" y="4267200"/>
            <a:ext cx="9525" cy="1771650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2" name="gate2-eyebrow"/>
          <p:cNvSpPr txBox="1"/>
          <p:nvPr/>
        </p:nvSpPr>
        <p:spPr>
          <a:xfrm>
            <a:off x="6381750" y="4448008"/>
            <a:ext cx="321945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defRPr/>
            </a:pPr>
            <a:r>
              <a:rPr sz="900" b="1" i="0" spc="112">
                <a:solidFill>
                  <a:schemeClr val="tx2"/>
                </a:solidFill>
                <a:latin typeface="+mj-lt"/>
              </a:rPr>
              <a:t>GATE 2 · MONTH 12</a:t>
            </a:r>
          </a:p>
        </p:txBody>
      </p:sp>
      <p:sp>
        <p:nvSpPr>
          <p:cNvPr id="63" name="gate2-claim"/>
          <p:cNvSpPr txBox="1"/>
          <p:nvPr/>
        </p:nvSpPr>
        <p:spPr>
          <a:xfrm>
            <a:off x="6381750" y="4692983"/>
            <a:ext cx="3219450" cy="4814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1" i="0">
                <a:solidFill>
                  <a:srgbClr val="1A1A1A"/>
                </a:solidFill>
                <a:latin typeface="+mj-lt"/>
              </a:rPr>
              <a:t>Continue only if contribution margin is at least 15%</a:t>
            </a:r>
          </a:p>
        </p:txBody>
      </p:sp>
      <p:sp>
        <p:nvSpPr>
          <p:cNvPr id="64" name="gate2-rule"/>
          <p:cNvSpPr/>
          <p:nvPr/>
        </p:nvSpPr>
        <p:spPr>
          <a:xfrm>
            <a:off x="6381750" y="5310485"/>
            <a:ext cx="3219450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5" name="gate2-next"/>
          <p:cNvSpPr txBox="1"/>
          <p:nvPr/>
        </p:nvSpPr>
        <p:spPr>
          <a:xfrm>
            <a:off x="6381750" y="5413894"/>
            <a:ext cx="3219450" cy="4213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  <a:defRPr/>
            </a:pPr>
            <a:r>
              <a:rPr sz="1200" b="0" i="0">
                <a:solidFill>
                  <a:srgbClr val="5F5E5A"/>
                </a:solidFill>
                <a:latin typeface="+mj-lt"/>
              </a:rPr>
              <a:t>If go: Indonesia partner search and entry preparation, months 13-18</a:t>
            </a:r>
          </a:p>
        </p:txBody>
      </p:sp>
      <p:sp>
        <p:nvSpPr>
          <p:cNvPr id="66" name="m18-stem"/>
          <p:cNvSpPr/>
          <p:nvPr/>
        </p:nvSpPr>
        <p:spPr>
          <a:xfrm>
            <a:off x="11639550" y="3981450"/>
            <a:ext cx="19050" cy="2857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7" name="m18-card"/>
          <p:cNvSpPr/>
          <p:nvPr/>
        </p:nvSpPr>
        <p:spPr>
          <a:xfrm>
            <a:off x="10067925" y="4267200"/>
            <a:ext cx="1714500" cy="1771650"/>
          </a:xfrm>
          <a:prstGeom prst="rect">
            <a:avLst/>
          </a:prstGeom>
          <a:solidFill>
            <a:srgbClr val="ED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8" name="Rectangle 67"/>
          <p:cNvSpPr/>
          <p:nvPr/>
        </p:nvSpPr>
        <p:spPr>
          <a:xfrm>
            <a:off x="10067925" y="4267200"/>
            <a:ext cx="1714500" cy="476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9" name="m18-eyebrow"/>
          <p:cNvSpPr txBox="1"/>
          <p:nvPr/>
        </p:nvSpPr>
        <p:spPr>
          <a:xfrm>
            <a:off x="10220325" y="4448008"/>
            <a:ext cx="140970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defRPr/>
            </a:pPr>
            <a:r>
              <a:rPr sz="900" b="1" i="0" spc="112">
                <a:solidFill>
                  <a:schemeClr val="tx2"/>
                </a:solidFill>
                <a:latin typeface="+mj-lt"/>
              </a:rPr>
              <a:t>MONTH 18</a:t>
            </a:r>
          </a:p>
        </p:txBody>
      </p:sp>
      <p:sp>
        <p:nvSpPr>
          <p:cNvPr id="70" name="m18-body"/>
          <p:cNvSpPr txBox="1"/>
          <p:nvPr/>
        </p:nvSpPr>
        <p:spPr>
          <a:xfrm>
            <a:off x="10220325" y="4694459"/>
            <a:ext cx="1409700" cy="4213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  <a:defRPr/>
            </a:pPr>
            <a:r>
              <a:rPr sz="1200" b="0" i="0">
                <a:solidFill>
                  <a:srgbClr val="5F5E5A"/>
                </a:solidFill>
                <a:latin typeface="+mj-lt"/>
              </a:rPr>
              <a:t>Phase 2 funding decision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pPr>
              <a:defRPr/>
            </a:pPr>
            <a:r>
              <a:rPr sz="2800"/>
              <a:t>Local partners power a growth loop that makes each next market cheaper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pPr>
              <a:defRPr/>
            </a:pPr>
            <a:r>
              <a:rPr lang="en-US" smtClean="0"/>
              <a:t>8</a:t>
            </a:r>
            <a:endParaRPr lang="en-US"/>
          </a:p>
        </p:txBody>
      </p:sp>
      <p:sp>
        <p:nvSpPr>
          <p:cNvPr id="48" name="Rectangle 1"/>
          <p:cNvSpPr/>
          <p:nvPr/>
        </p:nvSpPr>
        <p:spPr>
          <a:xfrm>
            <a:off x="409575" y="285750"/>
            <a:ext cx="609600" cy="47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1" name="subtitle"/>
          <p:cNvSpPr txBox="1"/>
          <p:nvPr/>
        </p:nvSpPr>
        <p:spPr>
          <a:xfrm>
            <a:off x="409575" y="1296417"/>
            <a:ext cx="11363325" cy="3034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39"/>
              </a:lnSpc>
              <a:defRPr/>
            </a:pPr>
            <a:r>
              <a:rPr sz="1600" b="0" i="0">
                <a:solidFill>
                  <a:srgbClr val="5F5E5A"/>
                </a:solidFill>
                <a:latin typeface="+mj-lt"/>
              </a:rPr>
              <a:t>The first market is the expensive one; partners turn one success into a cheaper entry to the next.</a:t>
            </a:r>
          </a:p>
        </p:txBody>
      </p:sp>
      <p:sp>
        <p:nvSpPr>
          <p:cNvPr id="4" name="loop-panel"/>
          <p:cNvSpPr/>
          <p:nvPr/>
        </p:nvSpPr>
        <p:spPr>
          <a:xfrm>
            <a:off x="409575" y="1828800"/>
            <a:ext cx="5334000" cy="4457700"/>
          </a:xfrm>
          <a:prstGeom prst="roundRect">
            <a:avLst>
              <a:gd name="adj" fmla="val 1709"/>
            </a:avLst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Oval 4"/>
          <p:cNvSpPr/>
          <p:nvPr/>
        </p:nvSpPr>
        <p:spPr>
          <a:xfrm>
            <a:off x="1457325" y="2476500"/>
            <a:ext cx="3238500" cy="3238500"/>
          </a:xfrm>
          <a:prstGeom prst="ellipse">
            <a:avLst/>
          </a:prstGeom>
          <a:noFill/>
          <a:ln w="28575">
            <a:solidFill>
              <a:srgbClr val="5476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9" name="Freeform 5"/>
          <p:cNvSpPr/>
          <p:nvPr/>
        </p:nvSpPr>
        <p:spPr>
          <a:xfrm>
            <a:off x="3908108" y="2664142"/>
            <a:ext cx="204787" cy="182880"/>
          </a:xfrm>
          <a:custGeom>
            <a:avLst/>
            <a:gdLst/>
            <a:ahLst/>
            <a:cxnLst/>
            <a:rect l="l" t="t" r="r" b="b"/>
            <a:pathLst>
              <a:path w="204787" h="182880">
                <a:moveTo>
                  <a:pt x="204787" y="182880"/>
                </a:moveTo>
                <a:lnTo>
                  <a:pt x="0" y="144780"/>
                </a:lnTo>
                <a:lnTo>
                  <a:pt x="104774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Freeform 6"/>
          <p:cNvSpPr/>
          <p:nvPr/>
        </p:nvSpPr>
        <p:spPr>
          <a:xfrm>
            <a:off x="4557712" y="4489132"/>
            <a:ext cx="169546" cy="206693"/>
          </a:xfrm>
          <a:custGeom>
            <a:avLst/>
            <a:gdLst/>
            <a:ahLst/>
            <a:cxnLst/>
            <a:rect l="l" t="t" r="r" b="b"/>
            <a:pathLst>
              <a:path w="169546" h="206693">
                <a:moveTo>
                  <a:pt x="26670" y="206693"/>
                </a:moveTo>
                <a:lnTo>
                  <a:pt x="0" y="0"/>
                </a:lnTo>
                <a:lnTo>
                  <a:pt x="169546" y="5524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Freeform 7"/>
          <p:cNvSpPr/>
          <p:nvPr/>
        </p:nvSpPr>
        <p:spPr>
          <a:xfrm>
            <a:off x="2971800" y="5625465"/>
            <a:ext cx="188595" cy="179070"/>
          </a:xfrm>
          <a:custGeom>
            <a:avLst/>
            <a:gdLst/>
            <a:ahLst/>
            <a:cxnLst/>
            <a:rect l="l" t="t" r="r" b="b"/>
            <a:pathLst>
              <a:path w="188595" h="179070">
                <a:moveTo>
                  <a:pt x="0" y="89535"/>
                </a:moveTo>
                <a:lnTo>
                  <a:pt x="188595" y="0"/>
                </a:lnTo>
                <a:lnTo>
                  <a:pt x="188595" y="17907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Freeform 8"/>
          <p:cNvSpPr/>
          <p:nvPr/>
        </p:nvSpPr>
        <p:spPr>
          <a:xfrm>
            <a:off x="1477328" y="4496752"/>
            <a:ext cx="169544" cy="206693"/>
          </a:xfrm>
          <a:custGeom>
            <a:avLst/>
            <a:gdLst/>
            <a:ahLst/>
            <a:cxnLst/>
            <a:rect l="l" t="t" r="r" b="b"/>
            <a:pathLst>
              <a:path w="169544" h="206693">
                <a:moveTo>
                  <a:pt x="26670" y="0"/>
                </a:moveTo>
                <a:lnTo>
                  <a:pt x="169544" y="151448"/>
                </a:lnTo>
                <a:lnTo>
                  <a:pt x="0" y="20669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Freeform 9"/>
          <p:cNvSpPr/>
          <p:nvPr/>
        </p:nvSpPr>
        <p:spPr>
          <a:xfrm>
            <a:off x="2005012" y="2724150"/>
            <a:ext cx="204788" cy="182880"/>
          </a:xfrm>
          <a:custGeom>
            <a:avLst/>
            <a:gdLst/>
            <a:ahLst/>
            <a:cxnLst/>
            <a:rect l="l" t="t" r="r" b="b"/>
            <a:pathLst>
              <a:path w="204788" h="182880">
                <a:moveTo>
                  <a:pt x="204788" y="0"/>
                </a:moveTo>
                <a:lnTo>
                  <a:pt x="104776" y="182880"/>
                </a:lnTo>
                <a:lnTo>
                  <a:pt x="0" y="3905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loop-node-1"/>
          <p:cNvSpPr/>
          <p:nvPr/>
        </p:nvSpPr>
        <p:spPr>
          <a:xfrm>
            <a:off x="2867025" y="2266950"/>
            <a:ext cx="419100" cy="4191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loop-node-1"/>
          <p:cNvSpPr txBox="1"/>
          <p:nvPr/>
        </p:nvSpPr>
        <p:spPr>
          <a:xfrm>
            <a:off x="2867025" y="2152390"/>
            <a:ext cx="419100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330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01</a:t>
            </a:r>
          </a:p>
        </p:txBody>
      </p:sp>
      <p:sp>
        <p:nvSpPr>
          <p:cNvPr id="13" name="loop-node-2"/>
          <p:cNvSpPr/>
          <p:nvPr/>
        </p:nvSpPr>
        <p:spPr>
          <a:xfrm>
            <a:off x="4410075" y="3381375"/>
            <a:ext cx="419100" cy="4191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loop-node-2"/>
          <p:cNvSpPr txBox="1"/>
          <p:nvPr/>
        </p:nvSpPr>
        <p:spPr>
          <a:xfrm>
            <a:off x="4410075" y="3266815"/>
            <a:ext cx="419100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330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02</a:t>
            </a:r>
          </a:p>
        </p:txBody>
      </p:sp>
      <p:sp>
        <p:nvSpPr>
          <p:cNvPr id="15" name="loop-node-3"/>
          <p:cNvSpPr/>
          <p:nvPr/>
        </p:nvSpPr>
        <p:spPr>
          <a:xfrm>
            <a:off x="3819525" y="5200650"/>
            <a:ext cx="419100" cy="4191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loop-node-3"/>
          <p:cNvSpPr txBox="1"/>
          <p:nvPr/>
        </p:nvSpPr>
        <p:spPr>
          <a:xfrm>
            <a:off x="3819525" y="5086090"/>
            <a:ext cx="419100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330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03</a:t>
            </a:r>
          </a:p>
        </p:txBody>
      </p:sp>
      <p:sp>
        <p:nvSpPr>
          <p:cNvPr id="17" name="loop-node-4"/>
          <p:cNvSpPr/>
          <p:nvPr/>
        </p:nvSpPr>
        <p:spPr>
          <a:xfrm>
            <a:off x="1914525" y="5200650"/>
            <a:ext cx="419100" cy="4191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loop-node-4"/>
          <p:cNvSpPr txBox="1"/>
          <p:nvPr/>
        </p:nvSpPr>
        <p:spPr>
          <a:xfrm>
            <a:off x="1914525" y="5086090"/>
            <a:ext cx="419100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330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04</a:t>
            </a:r>
          </a:p>
        </p:txBody>
      </p:sp>
      <p:sp>
        <p:nvSpPr>
          <p:cNvPr id="19" name="loop-node-5"/>
          <p:cNvSpPr/>
          <p:nvPr/>
        </p:nvSpPr>
        <p:spPr>
          <a:xfrm>
            <a:off x="1323975" y="3381375"/>
            <a:ext cx="419100" cy="4191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loop-node-5"/>
          <p:cNvSpPr txBox="1"/>
          <p:nvPr/>
        </p:nvSpPr>
        <p:spPr>
          <a:xfrm>
            <a:off x="1323975" y="3266815"/>
            <a:ext cx="419100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330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05</a:t>
            </a:r>
          </a:p>
        </p:txBody>
      </p:sp>
      <p:sp>
        <p:nvSpPr>
          <p:cNvPr id="21" name="claim-kicker"/>
          <p:cNvSpPr txBox="1"/>
          <p:nvPr/>
        </p:nvSpPr>
        <p:spPr>
          <a:xfrm>
            <a:off x="1838325" y="3493547"/>
            <a:ext cx="2476351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39"/>
              </a:lnSpc>
              <a:defRPr/>
            </a:pPr>
            <a:r>
              <a:rPr sz="1200" b="1" i="0" spc="112">
                <a:solidFill>
                  <a:schemeClr val="bg1"/>
                </a:solidFill>
                <a:latin typeface="+mj-lt"/>
              </a:rPr>
              <a:t>LOCAL PARTNERS</a:t>
            </a:r>
          </a:p>
        </p:txBody>
      </p:sp>
      <p:sp>
        <p:nvSpPr>
          <p:cNvPr id="22" name="claim-text"/>
          <p:cNvSpPr txBox="1"/>
          <p:nvPr/>
        </p:nvSpPr>
        <p:spPr>
          <a:xfrm>
            <a:off x="1838325" y="3758119"/>
            <a:ext cx="2476351" cy="750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879"/>
              </a:lnSpc>
              <a:defRPr/>
            </a:pPr>
            <a:r>
              <a:rPr sz="2400" b="1" i="0">
                <a:solidFill>
                  <a:schemeClr val="bg1"/>
                </a:solidFill>
                <a:latin typeface="+mj-lt"/>
              </a:rPr>
              <a:t>make each next market cheaper</a:t>
            </a:r>
          </a:p>
        </p:txBody>
      </p:sp>
      <p:sp>
        <p:nvSpPr>
          <p:cNvPr id="23" name="step-1-row"/>
          <p:cNvSpPr/>
          <p:nvPr/>
        </p:nvSpPr>
        <p:spPr>
          <a:xfrm>
            <a:off x="5972175" y="1828800"/>
            <a:ext cx="5800725" cy="80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4" name="Rectangle 23"/>
          <p:cNvSpPr/>
          <p:nvPr/>
        </p:nvSpPr>
        <p:spPr>
          <a:xfrm>
            <a:off x="5972175" y="2619375"/>
            <a:ext cx="5800725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5" name="step-1-num"/>
          <p:cNvSpPr txBox="1"/>
          <p:nvPr/>
        </p:nvSpPr>
        <p:spPr>
          <a:xfrm>
            <a:off x="6086475" y="2090291"/>
            <a:ext cx="457200" cy="3619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defRPr/>
            </a:pPr>
            <a:r>
              <a:rPr sz="2400" b="1" i="0">
                <a:solidFill>
                  <a:schemeClr val="tx2"/>
                </a:solidFill>
                <a:latin typeface="+mj-lt"/>
              </a:rPr>
              <a:t>01</a:t>
            </a:r>
          </a:p>
        </p:txBody>
      </p:sp>
      <p:sp>
        <p:nvSpPr>
          <p:cNvPr id="26" name="step-1-label"/>
          <p:cNvSpPr txBox="1"/>
          <p:nvPr/>
        </p:nvSpPr>
        <p:spPr>
          <a:xfrm>
            <a:off x="6696075" y="2007647"/>
            <a:ext cx="4217491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defRPr/>
            </a:pPr>
            <a:r>
              <a:rPr sz="1200" b="1" i="0" spc="38">
                <a:solidFill>
                  <a:schemeClr val="tx2"/>
                </a:solidFill>
                <a:latin typeface="+mj-lt"/>
              </a:rPr>
              <a:t>MORE PARTNERS</a:t>
            </a:r>
          </a:p>
        </p:txBody>
      </p:sp>
      <p:sp>
        <p:nvSpPr>
          <p:cNvPr id="27" name="step-1-body"/>
          <p:cNvSpPr txBox="1"/>
          <p:nvPr/>
        </p:nvSpPr>
        <p:spPr>
          <a:xfrm>
            <a:off x="6696075" y="2213243"/>
            <a:ext cx="4217491" cy="2076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85"/>
              </a:lnSpc>
              <a:defRPr/>
            </a:pPr>
            <a:r>
              <a:rPr sz="1100" b="0" i="0">
                <a:solidFill>
                  <a:srgbClr val="1A1A1A"/>
                </a:solidFill>
                <a:latin typeface="+mj-lt"/>
              </a:rPr>
              <a:t>Each market adds a distribution partner and its retailer relationships.</a:t>
            </a:r>
          </a:p>
        </p:txBody>
      </p:sp>
      <p:sp>
        <p:nvSpPr>
          <p:cNvPr id="28" name="step-2-row"/>
          <p:cNvSpPr/>
          <p:nvPr/>
        </p:nvSpPr>
        <p:spPr>
          <a:xfrm>
            <a:off x="5972175" y="2743200"/>
            <a:ext cx="5800725" cy="80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9" name="Rectangle 28"/>
          <p:cNvSpPr/>
          <p:nvPr/>
        </p:nvSpPr>
        <p:spPr>
          <a:xfrm>
            <a:off x="5972175" y="3533775"/>
            <a:ext cx="5800725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0" name="step-2-num"/>
          <p:cNvSpPr txBox="1"/>
          <p:nvPr/>
        </p:nvSpPr>
        <p:spPr>
          <a:xfrm>
            <a:off x="6086475" y="3004691"/>
            <a:ext cx="457200" cy="3619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defRPr/>
            </a:pPr>
            <a:r>
              <a:rPr sz="2400" b="1" i="0">
                <a:solidFill>
                  <a:schemeClr val="tx2"/>
                </a:solidFill>
                <a:latin typeface="+mj-lt"/>
              </a:rPr>
              <a:t>02</a:t>
            </a:r>
          </a:p>
        </p:txBody>
      </p:sp>
      <p:sp>
        <p:nvSpPr>
          <p:cNvPr id="31" name="step-2-label"/>
          <p:cNvSpPr txBox="1"/>
          <p:nvPr/>
        </p:nvSpPr>
        <p:spPr>
          <a:xfrm>
            <a:off x="6696075" y="2922047"/>
            <a:ext cx="2764929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defRPr/>
            </a:pPr>
            <a:r>
              <a:rPr sz="1200" b="1" i="0" spc="38">
                <a:solidFill>
                  <a:schemeClr val="tx2"/>
                </a:solidFill>
                <a:latin typeface="+mj-lt"/>
              </a:rPr>
              <a:t>WIDER DISTRIBUTION</a:t>
            </a:r>
          </a:p>
        </p:txBody>
      </p:sp>
      <p:sp>
        <p:nvSpPr>
          <p:cNvPr id="32" name="step-2-body"/>
          <p:cNvSpPr txBox="1"/>
          <p:nvPr/>
        </p:nvSpPr>
        <p:spPr>
          <a:xfrm>
            <a:off x="6696075" y="3127643"/>
            <a:ext cx="2764929" cy="2076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85"/>
              </a:lnSpc>
              <a:defRPr/>
            </a:pPr>
            <a:r>
              <a:rPr sz="1100" b="0" i="0">
                <a:solidFill>
                  <a:srgbClr val="1A1A1A"/>
                </a:solidFill>
                <a:latin typeface="+mj-lt"/>
              </a:rPr>
              <a:t>More outlets carry Meridian products sooner.</a:t>
            </a:r>
          </a:p>
        </p:txBody>
      </p:sp>
      <p:sp>
        <p:nvSpPr>
          <p:cNvPr id="33" name="step-3-row"/>
          <p:cNvSpPr/>
          <p:nvPr/>
        </p:nvSpPr>
        <p:spPr>
          <a:xfrm>
            <a:off x="5972175" y="3657600"/>
            <a:ext cx="5800725" cy="80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4" name="Rectangle 33"/>
          <p:cNvSpPr/>
          <p:nvPr/>
        </p:nvSpPr>
        <p:spPr>
          <a:xfrm>
            <a:off x="5972175" y="4448175"/>
            <a:ext cx="5800725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5" name="step-3-num"/>
          <p:cNvSpPr txBox="1"/>
          <p:nvPr/>
        </p:nvSpPr>
        <p:spPr>
          <a:xfrm>
            <a:off x="6086475" y="3919091"/>
            <a:ext cx="457200" cy="3619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defRPr/>
            </a:pPr>
            <a:r>
              <a:rPr sz="2400" b="1" i="0">
                <a:solidFill>
                  <a:schemeClr val="tx2"/>
                </a:solidFill>
                <a:latin typeface="+mj-lt"/>
              </a:rPr>
              <a:t>03</a:t>
            </a:r>
          </a:p>
        </p:txBody>
      </p:sp>
      <p:sp>
        <p:nvSpPr>
          <p:cNvPr id="36" name="step-3-label"/>
          <p:cNvSpPr txBox="1"/>
          <p:nvPr/>
        </p:nvSpPr>
        <p:spPr>
          <a:xfrm>
            <a:off x="6696075" y="3836447"/>
            <a:ext cx="3906738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defRPr/>
            </a:pPr>
            <a:r>
              <a:rPr sz="1200" b="1" i="0" spc="38">
                <a:solidFill>
                  <a:schemeClr val="tx2"/>
                </a:solidFill>
                <a:latin typeface="+mj-lt"/>
              </a:rPr>
              <a:t>MORE SALES DATA</a:t>
            </a:r>
          </a:p>
        </p:txBody>
      </p:sp>
      <p:sp>
        <p:nvSpPr>
          <p:cNvPr id="37" name="step-3-body"/>
          <p:cNvSpPr txBox="1"/>
          <p:nvPr/>
        </p:nvSpPr>
        <p:spPr>
          <a:xfrm>
            <a:off x="6696075" y="4042043"/>
            <a:ext cx="3906738" cy="2076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85"/>
              </a:lnSpc>
              <a:defRPr/>
            </a:pPr>
            <a:r>
              <a:rPr sz="1100" b="0" i="0">
                <a:solidFill>
                  <a:srgbClr val="1A1A1A"/>
                </a:solidFill>
                <a:latin typeface="+mj-lt"/>
              </a:rPr>
              <a:t>Wider distribution gives earlier, more detailed sell-through data.</a:t>
            </a:r>
          </a:p>
        </p:txBody>
      </p:sp>
      <p:sp>
        <p:nvSpPr>
          <p:cNvPr id="38" name="step-4-row"/>
          <p:cNvSpPr/>
          <p:nvPr/>
        </p:nvSpPr>
        <p:spPr>
          <a:xfrm>
            <a:off x="5972175" y="4572000"/>
            <a:ext cx="5800725" cy="80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9" name="Rectangle 38"/>
          <p:cNvSpPr/>
          <p:nvPr/>
        </p:nvSpPr>
        <p:spPr>
          <a:xfrm>
            <a:off x="5972175" y="5362575"/>
            <a:ext cx="5800725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0" name="step-4-num"/>
          <p:cNvSpPr txBox="1"/>
          <p:nvPr/>
        </p:nvSpPr>
        <p:spPr>
          <a:xfrm>
            <a:off x="6086475" y="4833491"/>
            <a:ext cx="457200" cy="3619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defRPr/>
            </a:pPr>
            <a:r>
              <a:rPr sz="2400" b="1" i="0">
                <a:solidFill>
                  <a:schemeClr val="tx2"/>
                </a:solidFill>
                <a:latin typeface="+mj-lt"/>
              </a:rPr>
              <a:t>04</a:t>
            </a:r>
          </a:p>
        </p:txBody>
      </p:sp>
      <p:sp>
        <p:nvSpPr>
          <p:cNvPr id="41" name="step-4-label"/>
          <p:cNvSpPr txBox="1"/>
          <p:nvPr/>
        </p:nvSpPr>
        <p:spPr>
          <a:xfrm>
            <a:off x="6696075" y="4750847"/>
            <a:ext cx="3650456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defRPr/>
            </a:pPr>
            <a:r>
              <a:rPr sz="1200" b="1" i="0" spc="38">
                <a:solidFill>
                  <a:schemeClr val="tx2"/>
                </a:solidFill>
                <a:latin typeface="+mj-lt"/>
              </a:rPr>
              <a:t>BETTER TARGETING</a:t>
            </a:r>
          </a:p>
        </p:txBody>
      </p:sp>
      <p:sp>
        <p:nvSpPr>
          <p:cNvPr id="42" name="step-4-body"/>
          <p:cNvSpPr txBox="1"/>
          <p:nvPr/>
        </p:nvSpPr>
        <p:spPr>
          <a:xfrm>
            <a:off x="6696075" y="4956443"/>
            <a:ext cx="3650456" cy="2076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85"/>
              </a:lnSpc>
              <a:defRPr/>
            </a:pPr>
            <a:r>
              <a:rPr sz="1100" b="0" i="0">
                <a:solidFill>
                  <a:srgbClr val="1A1A1A"/>
                </a:solidFill>
                <a:latin typeface="+mj-lt"/>
              </a:rPr>
              <a:t>The data shows which products, prices and channels work.</a:t>
            </a:r>
          </a:p>
        </p:txBody>
      </p:sp>
      <p:sp>
        <p:nvSpPr>
          <p:cNvPr id="43" name="step-5-row"/>
          <p:cNvSpPr/>
          <p:nvPr/>
        </p:nvSpPr>
        <p:spPr>
          <a:xfrm>
            <a:off x="5972175" y="5486400"/>
            <a:ext cx="5800725" cy="800100"/>
          </a:xfrm>
          <a:prstGeom prst="rect">
            <a:avLst/>
          </a:prstGeom>
          <a:solidFill>
            <a:srgbClr val="F9D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4" name="Rectangle 43"/>
          <p:cNvSpPr/>
          <p:nvPr/>
        </p:nvSpPr>
        <p:spPr>
          <a:xfrm>
            <a:off x="5972175" y="5486400"/>
            <a:ext cx="57150" cy="80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5" name="step-5-num"/>
          <p:cNvSpPr txBox="1"/>
          <p:nvPr/>
        </p:nvSpPr>
        <p:spPr>
          <a:xfrm>
            <a:off x="6143625" y="5752654"/>
            <a:ext cx="457200" cy="3619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defRPr/>
            </a:pPr>
            <a:r>
              <a:rPr sz="2400" b="1" i="0">
                <a:solidFill>
                  <a:schemeClr val="tx2"/>
                </a:solidFill>
                <a:latin typeface="+mj-lt"/>
              </a:rPr>
              <a:t>05</a:t>
            </a:r>
          </a:p>
        </p:txBody>
      </p:sp>
      <p:sp>
        <p:nvSpPr>
          <p:cNvPr id="46" name="step-5-label"/>
          <p:cNvSpPr txBox="1"/>
          <p:nvPr/>
        </p:nvSpPr>
        <p:spPr>
          <a:xfrm>
            <a:off x="6753225" y="5575801"/>
            <a:ext cx="4867275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defRPr/>
            </a:pPr>
            <a:r>
              <a:rPr sz="1200" b="1" i="0" spc="38">
                <a:solidFill>
                  <a:schemeClr val="tx2"/>
                </a:solidFill>
                <a:latin typeface="+mj-lt"/>
              </a:rPr>
              <a:t>CHEAPER NEXT ENTRY</a:t>
            </a:r>
          </a:p>
        </p:txBody>
      </p:sp>
      <p:sp>
        <p:nvSpPr>
          <p:cNvPr id="47" name="step-5-body"/>
          <p:cNvSpPr txBox="1"/>
          <p:nvPr/>
        </p:nvSpPr>
        <p:spPr>
          <a:xfrm>
            <a:off x="6753225" y="5781398"/>
            <a:ext cx="4867275" cy="3963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85"/>
              </a:lnSpc>
              <a:defRPr/>
            </a:pPr>
            <a:r>
              <a:rPr sz="1100" b="0" i="0">
                <a:solidFill>
                  <a:srgbClr val="1A1A1A"/>
                </a:solidFill>
                <a:latin typeface="+mj-lt"/>
              </a:rPr>
              <a:t>The next market starts from proven choices, so it costs less to enter, which attracts more partners.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pPr>
              <a:defRPr/>
            </a:pPr>
            <a:r>
              <a:rPr sz="2800"/>
              <a:t>Spending stays capped at $12M until Gate 2 proves the unit economics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/>
              <a:t>Source: Illustrative data, not real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pPr>
              <a:defRPr/>
            </a:pPr>
            <a:r>
              <a:rPr lang="en-US" smtClean="0"/>
              <a:t>9</a:t>
            </a:r>
            <a:endParaRPr lang="en-US"/>
          </a:p>
        </p:txBody>
      </p:sp>
      <p:sp>
        <p:nvSpPr>
          <p:cNvPr id="50" name="subtitle"/>
          <p:cNvSpPr txBox="1"/>
          <p:nvPr/>
        </p:nvSpPr>
        <p:spPr>
          <a:xfrm>
            <a:off x="409575" y="1271009"/>
            <a:ext cx="11363325" cy="48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9"/>
              </a:lnSpc>
              <a:defRPr/>
            </a:pPr>
            <a:r>
              <a:rPr sz="1600" b="0" i="0">
                <a:solidFill>
                  <a:srgbClr val="5F5E5A"/>
                </a:solidFill>
                <a:latin typeface="+mj-lt"/>
              </a:rPr>
              <a:t>The downside is known and bounded: the most Meridian can spend before the second stop point is $12M, and every part of it is named.</a:t>
            </a:r>
          </a:p>
        </p:txBody>
      </p:sp>
      <p:sp>
        <p:nvSpPr>
          <p:cNvPr id="54" name="axis-zero"/>
          <p:cNvSpPr/>
          <p:nvPr/>
        </p:nvSpPr>
        <p:spPr>
          <a:xfrm>
            <a:off x="2857500" y="1905000"/>
            <a:ext cx="9525" cy="3200400"/>
          </a:xfrm>
          <a:prstGeom prst="rect">
            <a:avLst/>
          </a:prstGeom>
          <a:solidFill>
            <a:srgbClr val="5F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num-1"/>
          <p:cNvSpPr/>
          <p:nvPr/>
        </p:nvSpPr>
        <p:spPr>
          <a:xfrm>
            <a:off x="457200" y="1990725"/>
            <a:ext cx="304800" cy="3048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1" name="num-1"/>
          <p:cNvSpPr txBox="1"/>
          <p:nvPr/>
        </p:nvSpPr>
        <p:spPr>
          <a:xfrm>
            <a:off x="457200" y="1914330"/>
            <a:ext cx="304651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400"/>
              </a:lnSpc>
              <a:defRPr/>
            </a:pPr>
            <a:r>
              <a:rPr sz="1050" b="1" i="0">
                <a:solidFill>
                  <a:schemeClr val="bg1"/>
                </a:solidFill>
                <a:latin typeface="+mj-lt"/>
              </a:rPr>
              <a:t>01</a:t>
            </a:r>
          </a:p>
        </p:txBody>
      </p:sp>
      <p:sp>
        <p:nvSpPr>
          <p:cNvPr id="52" name="lbl-launch-marketing"/>
          <p:cNvSpPr txBox="1"/>
          <p:nvPr/>
        </p:nvSpPr>
        <p:spPr>
          <a:xfrm>
            <a:off x="876300" y="2028602"/>
            <a:ext cx="190500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>
                <a:solidFill>
                  <a:srgbClr val="1A1A1A"/>
                </a:solidFill>
                <a:latin typeface="+mj-lt"/>
              </a:rPr>
              <a:t>Launch marketing</a:t>
            </a:r>
          </a:p>
        </p:txBody>
      </p:sp>
      <p:sp>
        <p:nvSpPr>
          <p:cNvPr id="7" name="bar-launch-marketing"/>
          <p:cNvSpPr/>
          <p:nvPr/>
        </p:nvSpPr>
        <p:spPr>
          <a:xfrm>
            <a:off x="2867025" y="2000250"/>
            <a:ext cx="2209800" cy="285750"/>
          </a:xfrm>
          <a:prstGeom prst="rect">
            <a:avLst/>
          </a:pr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val-launch-marketing"/>
          <p:cNvSpPr txBox="1"/>
          <p:nvPr/>
        </p:nvSpPr>
        <p:spPr>
          <a:xfrm>
            <a:off x="5172075" y="2028602"/>
            <a:ext cx="423565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>
                <a:solidFill>
                  <a:srgbClr val="1A1A1A"/>
                </a:solidFill>
                <a:latin typeface="+mj-lt"/>
              </a:rPr>
              <a:t>$4.0M</a:t>
            </a:r>
          </a:p>
        </p:txBody>
      </p:sp>
      <p:sp>
        <p:nvSpPr>
          <p:cNvPr id="9" name="num-2"/>
          <p:cNvSpPr/>
          <p:nvPr/>
        </p:nvSpPr>
        <p:spPr>
          <a:xfrm>
            <a:off x="457200" y="2505075"/>
            <a:ext cx="304800" cy="3048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num-2"/>
          <p:cNvSpPr txBox="1"/>
          <p:nvPr/>
        </p:nvSpPr>
        <p:spPr>
          <a:xfrm>
            <a:off x="457200" y="2428680"/>
            <a:ext cx="304651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400"/>
              </a:lnSpc>
              <a:defRPr/>
            </a:pPr>
            <a:r>
              <a:rPr sz="1050" b="1" i="0">
                <a:solidFill>
                  <a:schemeClr val="bg1"/>
                </a:solidFill>
                <a:latin typeface="+mj-lt"/>
              </a:rPr>
              <a:t>02</a:t>
            </a:r>
          </a:p>
        </p:txBody>
      </p:sp>
      <p:sp>
        <p:nvSpPr>
          <p:cNvPr id="11" name="lbl-distribution-setup"/>
          <p:cNvSpPr txBox="1"/>
          <p:nvPr/>
        </p:nvSpPr>
        <p:spPr>
          <a:xfrm>
            <a:off x="876300" y="2542952"/>
            <a:ext cx="190500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>
                <a:solidFill>
                  <a:srgbClr val="1A1A1A"/>
                </a:solidFill>
                <a:latin typeface="+mj-lt"/>
              </a:rPr>
              <a:t>Distribution setup</a:t>
            </a:r>
          </a:p>
        </p:txBody>
      </p:sp>
      <p:sp>
        <p:nvSpPr>
          <p:cNvPr id="12" name="bar-distribution-setup"/>
          <p:cNvSpPr/>
          <p:nvPr/>
        </p:nvSpPr>
        <p:spPr>
          <a:xfrm>
            <a:off x="5076825" y="2514600"/>
            <a:ext cx="1666875" cy="285750"/>
          </a:xfrm>
          <a:prstGeom prst="rect">
            <a:avLst/>
          </a:pr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val-distribution-setup"/>
          <p:cNvSpPr txBox="1"/>
          <p:nvPr/>
        </p:nvSpPr>
        <p:spPr>
          <a:xfrm>
            <a:off x="6838950" y="2542952"/>
            <a:ext cx="423565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>
                <a:solidFill>
                  <a:srgbClr val="1A1A1A"/>
                </a:solidFill>
                <a:latin typeface="+mj-lt"/>
              </a:rPr>
              <a:t>$3.0M</a:t>
            </a:r>
          </a:p>
        </p:txBody>
      </p:sp>
      <p:sp>
        <p:nvSpPr>
          <p:cNvPr id="14" name="num-3"/>
          <p:cNvSpPr/>
          <p:nvPr/>
        </p:nvSpPr>
        <p:spPr>
          <a:xfrm>
            <a:off x="457200" y="3019425"/>
            <a:ext cx="304800" cy="3048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num-3"/>
          <p:cNvSpPr txBox="1"/>
          <p:nvPr/>
        </p:nvSpPr>
        <p:spPr>
          <a:xfrm>
            <a:off x="457200" y="2943030"/>
            <a:ext cx="304651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400"/>
              </a:lnSpc>
              <a:defRPr/>
            </a:pPr>
            <a:r>
              <a:rPr sz="1050" b="1" i="0">
                <a:solidFill>
                  <a:schemeClr val="bg1"/>
                </a:solidFill>
                <a:latin typeface="+mj-lt"/>
              </a:rPr>
              <a:t>03</a:t>
            </a:r>
          </a:p>
        </p:txBody>
      </p:sp>
      <p:sp>
        <p:nvSpPr>
          <p:cNvPr id="16" name="lbl-partner-onboarding"/>
          <p:cNvSpPr txBox="1"/>
          <p:nvPr/>
        </p:nvSpPr>
        <p:spPr>
          <a:xfrm>
            <a:off x="876300" y="3057302"/>
            <a:ext cx="190500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>
                <a:solidFill>
                  <a:srgbClr val="1A1A1A"/>
                </a:solidFill>
                <a:latin typeface="+mj-lt"/>
              </a:rPr>
              <a:t>Partner onboarding</a:t>
            </a:r>
          </a:p>
        </p:txBody>
      </p:sp>
      <p:sp>
        <p:nvSpPr>
          <p:cNvPr id="17" name="bar-partner-onboarding"/>
          <p:cNvSpPr/>
          <p:nvPr/>
        </p:nvSpPr>
        <p:spPr>
          <a:xfrm>
            <a:off x="6743700" y="3028950"/>
            <a:ext cx="1390650" cy="285750"/>
          </a:xfrm>
          <a:prstGeom prst="rect">
            <a:avLst/>
          </a:pr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val-partner-onboarding"/>
          <p:cNvSpPr txBox="1"/>
          <p:nvPr/>
        </p:nvSpPr>
        <p:spPr>
          <a:xfrm>
            <a:off x="8229600" y="3057302"/>
            <a:ext cx="423565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>
                <a:solidFill>
                  <a:srgbClr val="1A1A1A"/>
                </a:solidFill>
                <a:latin typeface="+mj-lt"/>
              </a:rPr>
              <a:t>$2.5M</a:t>
            </a:r>
          </a:p>
        </p:txBody>
      </p:sp>
      <p:sp>
        <p:nvSpPr>
          <p:cNvPr id="19" name="num-4"/>
          <p:cNvSpPr/>
          <p:nvPr/>
        </p:nvSpPr>
        <p:spPr>
          <a:xfrm>
            <a:off x="457200" y="3533775"/>
            <a:ext cx="304800" cy="3048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num-4"/>
          <p:cNvSpPr txBox="1"/>
          <p:nvPr/>
        </p:nvSpPr>
        <p:spPr>
          <a:xfrm>
            <a:off x="457200" y="3457380"/>
            <a:ext cx="304651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400"/>
              </a:lnSpc>
              <a:defRPr/>
            </a:pPr>
            <a:r>
              <a:rPr sz="1050" b="1" i="0">
                <a:solidFill>
                  <a:schemeClr val="bg1"/>
                </a:solidFill>
                <a:latin typeface="+mj-lt"/>
              </a:rPr>
              <a:t>04</a:t>
            </a:r>
          </a:p>
        </p:txBody>
      </p:sp>
      <p:sp>
        <p:nvSpPr>
          <p:cNvPr id="21" name="lbl-local-team"/>
          <p:cNvSpPr txBox="1"/>
          <p:nvPr/>
        </p:nvSpPr>
        <p:spPr>
          <a:xfrm>
            <a:off x="876300" y="3571652"/>
            <a:ext cx="190500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>
                <a:solidFill>
                  <a:srgbClr val="1A1A1A"/>
                </a:solidFill>
                <a:latin typeface="+mj-lt"/>
              </a:rPr>
              <a:t>Local team</a:t>
            </a:r>
          </a:p>
        </p:txBody>
      </p:sp>
      <p:sp>
        <p:nvSpPr>
          <p:cNvPr id="22" name="bar-local-team"/>
          <p:cNvSpPr/>
          <p:nvPr/>
        </p:nvSpPr>
        <p:spPr>
          <a:xfrm>
            <a:off x="8134350" y="3543300"/>
            <a:ext cx="838200" cy="285750"/>
          </a:xfrm>
          <a:prstGeom prst="rect">
            <a:avLst/>
          </a:pr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3" name="val-local-team"/>
          <p:cNvSpPr txBox="1"/>
          <p:nvPr/>
        </p:nvSpPr>
        <p:spPr>
          <a:xfrm>
            <a:off x="9067800" y="3571652"/>
            <a:ext cx="423565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>
                <a:solidFill>
                  <a:srgbClr val="1A1A1A"/>
                </a:solidFill>
                <a:latin typeface="+mj-lt"/>
              </a:rPr>
              <a:t>$1.5M</a:t>
            </a:r>
          </a:p>
        </p:txBody>
      </p:sp>
      <p:sp>
        <p:nvSpPr>
          <p:cNvPr id="24" name="num-5"/>
          <p:cNvSpPr/>
          <p:nvPr/>
        </p:nvSpPr>
        <p:spPr>
          <a:xfrm>
            <a:off x="457200" y="4048125"/>
            <a:ext cx="304800" cy="3048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5" name="num-5"/>
          <p:cNvSpPr txBox="1"/>
          <p:nvPr/>
        </p:nvSpPr>
        <p:spPr>
          <a:xfrm>
            <a:off x="457200" y="3971730"/>
            <a:ext cx="304651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400"/>
              </a:lnSpc>
              <a:defRPr/>
            </a:pPr>
            <a:r>
              <a:rPr sz="1050" b="1" i="0">
                <a:solidFill>
                  <a:schemeClr val="bg1"/>
                </a:solidFill>
                <a:latin typeface="+mj-lt"/>
              </a:rPr>
              <a:t>05</a:t>
            </a:r>
          </a:p>
        </p:txBody>
      </p:sp>
      <p:sp>
        <p:nvSpPr>
          <p:cNvPr id="26" name="lbl-contingency"/>
          <p:cNvSpPr txBox="1"/>
          <p:nvPr/>
        </p:nvSpPr>
        <p:spPr>
          <a:xfrm>
            <a:off x="876300" y="4086002"/>
            <a:ext cx="190500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>
                <a:solidFill>
                  <a:srgbClr val="1A1A1A"/>
                </a:solidFill>
                <a:latin typeface="+mj-lt"/>
              </a:rPr>
              <a:t>Contingency</a:t>
            </a:r>
          </a:p>
        </p:txBody>
      </p:sp>
      <p:sp>
        <p:nvSpPr>
          <p:cNvPr id="27" name="bar-contingency"/>
          <p:cNvSpPr/>
          <p:nvPr/>
        </p:nvSpPr>
        <p:spPr>
          <a:xfrm>
            <a:off x="8972550" y="4057650"/>
            <a:ext cx="552450" cy="285750"/>
          </a:xfrm>
          <a:prstGeom prst="rect">
            <a:avLst/>
          </a:pr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val-contingency"/>
          <p:cNvSpPr txBox="1"/>
          <p:nvPr/>
        </p:nvSpPr>
        <p:spPr>
          <a:xfrm>
            <a:off x="9620250" y="4086002"/>
            <a:ext cx="423565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>
                <a:solidFill>
                  <a:srgbClr val="1A1A1A"/>
                </a:solidFill>
                <a:latin typeface="+mj-lt"/>
              </a:rPr>
              <a:t>$1.0M</a:t>
            </a:r>
          </a:p>
        </p:txBody>
      </p:sp>
      <p:sp>
        <p:nvSpPr>
          <p:cNvPr id="29" name="conn-1"/>
          <p:cNvSpPr/>
          <p:nvPr/>
        </p:nvSpPr>
        <p:spPr>
          <a:xfrm>
            <a:off x="5076825" y="2286000"/>
            <a:ext cx="9525" cy="228600"/>
          </a:xfrm>
          <a:prstGeom prst="rect">
            <a:avLst/>
          </a:prstGeom>
          <a:solidFill>
            <a:srgbClr val="8887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0" name="conn-2"/>
          <p:cNvSpPr/>
          <p:nvPr/>
        </p:nvSpPr>
        <p:spPr>
          <a:xfrm>
            <a:off x="6743700" y="2800350"/>
            <a:ext cx="9525" cy="228600"/>
          </a:xfrm>
          <a:prstGeom prst="rect">
            <a:avLst/>
          </a:prstGeom>
          <a:solidFill>
            <a:srgbClr val="8887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1" name="conn-3"/>
          <p:cNvSpPr/>
          <p:nvPr/>
        </p:nvSpPr>
        <p:spPr>
          <a:xfrm>
            <a:off x="8134350" y="3314700"/>
            <a:ext cx="9525" cy="228600"/>
          </a:xfrm>
          <a:prstGeom prst="rect">
            <a:avLst/>
          </a:prstGeom>
          <a:solidFill>
            <a:srgbClr val="8887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2" name="conn-4"/>
          <p:cNvSpPr/>
          <p:nvPr/>
        </p:nvSpPr>
        <p:spPr>
          <a:xfrm>
            <a:off x="8972550" y="3829050"/>
            <a:ext cx="9525" cy="228600"/>
          </a:xfrm>
          <a:prstGeom prst="rect">
            <a:avLst/>
          </a:prstGeom>
          <a:solidFill>
            <a:srgbClr val="8887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3" name="conn-5"/>
          <p:cNvSpPr/>
          <p:nvPr/>
        </p:nvSpPr>
        <p:spPr>
          <a:xfrm>
            <a:off x="9515475" y="4343400"/>
            <a:ext cx="9525" cy="381000"/>
          </a:xfrm>
          <a:prstGeom prst="rect">
            <a:avLst/>
          </a:prstGeom>
          <a:solidFill>
            <a:srgbClr val="8887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4" name="sep-total"/>
          <p:cNvSpPr/>
          <p:nvPr/>
        </p:nvSpPr>
        <p:spPr>
          <a:xfrm>
            <a:off x="457200" y="4514850"/>
            <a:ext cx="9677400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5" name="lbl-total"/>
          <p:cNvSpPr txBox="1"/>
          <p:nvPr/>
        </p:nvSpPr>
        <p:spPr>
          <a:xfrm>
            <a:off x="876300" y="4752752"/>
            <a:ext cx="190500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>
                <a:solidFill>
                  <a:schemeClr val="tx2"/>
                </a:solidFill>
                <a:latin typeface="+mj-lt"/>
              </a:rPr>
              <a:t>Total</a:t>
            </a:r>
          </a:p>
        </p:txBody>
      </p:sp>
      <p:sp>
        <p:nvSpPr>
          <p:cNvPr id="36" name="bar-total"/>
          <p:cNvSpPr/>
          <p:nvPr/>
        </p:nvSpPr>
        <p:spPr>
          <a:xfrm>
            <a:off x="2867025" y="4724400"/>
            <a:ext cx="6657975" cy="3238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7" name="val-total"/>
          <p:cNvSpPr txBox="1"/>
          <p:nvPr/>
        </p:nvSpPr>
        <p:spPr>
          <a:xfrm>
            <a:off x="8001000" y="4743115"/>
            <a:ext cx="1409700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2100"/>
              </a:lnSpc>
              <a:defRPr/>
            </a:pPr>
            <a:r>
              <a:rPr sz="1800" b="1" i="0">
                <a:solidFill>
                  <a:srgbClr val="1A1A1A"/>
                </a:solidFill>
                <a:latin typeface="+mj-lt"/>
              </a:rPr>
              <a:t>$12.0M</a:t>
            </a:r>
          </a:p>
        </p:txBody>
      </p:sp>
      <p:sp>
        <p:nvSpPr>
          <p:cNvPr id="38" name="brk-largest"/>
          <p:cNvSpPr/>
          <p:nvPr/>
        </p:nvSpPr>
        <p:spPr>
          <a:xfrm>
            <a:off x="10248900" y="1962150"/>
            <a:ext cx="19050" cy="3619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9" name="grp-largest"/>
          <p:cNvSpPr txBox="1"/>
          <p:nvPr/>
        </p:nvSpPr>
        <p:spPr>
          <a:xfrm>
            <a:off x="10363200" y="1961955"/>
            <a:ext cx="13716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defRPr/>
            </a:pPr>
            <a:r>
              <a:rPr sz="1050" b="1" i="0">
                <a:solidFill>
                  <a:schemeClr val="tx2"/>
                </a:solidFill>
                <a:latin typeface="+mj-lt"/>
              </a:rPr>
              <a:t>Largest part, a third of the total</a:t>
            </a:r>
          </a:p>
        </p:txBody>
      </p:sp>
      <p:sp>
        <p:nvSpPr>
          <p:cNvPr id="40" name="brk-setup"/>
          <p:cNvSpPr/>
          <p:nvPr/>
        </p:nvSpPr>
        <p:spPr>
          <a:xfrm>
            <a:off x="10248900" y="2476500"/>
            <a:ext cx="19050" cy="8763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1" name="grp-setup"/>
          <p:cNvSpPr txBox="1"/>
          <p:nvPr/>
        </p:nvSpPr>
        <p:spPr>
          <a:xfrm>
            <a:off x="10363200" y="2819205"/>
            <a:ext cx="137160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defRPr/>
            </a:pPr>
            <a:r>
              <a:rPr sz="1050" b="1" i="0">
                <a:solidFill>
                  <a:schemeClr val="tx2"/>
                </a:solidFill>
                <a:latin typeface="+mj-lt"/>
              </a:rPr>
              <a:t>Set-up costs</a:t>
            </a:r>
          </a:p>
        </p:txBody>
      </p:sp>
      <p:sp>
        <p:nvSpPr>
          <p:cNvPr id="42" name="brk-team"/>
          <p:cNvSpPr/>
          <p:nvPr/>
        </p:nvSpPr>
        <p:spPr>
          <a:xfrm>
            <a:off x="10248900" y="3505200"/>
            <a:ext cx="19050" cy="8763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3" name="grp-team"/>
          <p:cNvSpPr txBox="1"/>
          <p:nvPr/>
        </p:nvSpPr>
        <p:spPr>
          <a:xfrm>
            <a:off x="10363200" y="3847905"/>
            <a:ext cx="137160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defRPr/>
            </a:pPr>
            <a:r>
              <a:rPr sz="1050" b="1" i="0">
                <a:solidFill>
                  <a:schemeClr val="tx2"/>
                </a:solidFill>
                <a:latin typeface="+mj-lt"/>
              </a:rPr>
              <a:t>Team and buffer</a:t>
            </a:r>
          </a:p>
        </p:txBody>
      </p:sp>
      <p:sp>
        <p:nvSpPr>
          <p:cNvPr id="44" name="brk-total"/>
          <p:cNvSpPr/>
          <p:nvPr/>
        </p:nvSpPr>
        <p:spPr>
          <a:xfrm>
            <a:off x="10248900" y="4686300"/>
            <a:ext cx="1905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5" name="grp-total"/>
          <p:cNvSpPr txBox="1"/>
          <p:nvPr/>
        </p:nvSpPr>
        <p:spPr>
          <a:xfrm>
            <a:off x="10363200" y="4790880"/>
            <a:ext cx="137160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defRPr/>
            </a:pPr>
            <a:r>
              <a:rPr sz="1050" b="1" i="0">
                <a:solidFill>
                  <a:schemeClr val="tx2"/>
                </a:solidFill>
                <a:latin typeface="+mj-lt"/>
              </a:rPr>
              <a:t>Capped until Gate 2</a:t>
            </a:r>
          </a:p>
        </p:txBody>
      </p:sp>
      <p:sp>
        <p:nvSpPr>
          <p:cNvPr id="46" name="phase2-strip"/>
          <p:cNvSpPr/>
          <p:nvPr/>
        </p:nvSpPr>
        <p:spPr>
          <a:xfrm>
            <a:off x="457200" y="5410200"/>
            <a:ext cx="11277600" cy="647700"/>
          </a:xfrm>
          <a:prstGeom prst="rect">
            <a:avLst/>
          </a:prstGeom>
          <a:solidFill>
            <a:srgbClr val="F4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7" name="Rectangle 46"/>
          <p:cNvSpPr/>
          <p:nvPr/>
        </p:nvSpPr>
        <p:spPr>
          <a:xfrm>
            <a:off x="457200" y="5410200"/>
            <a:ext cx="38100" cy="647700"/>
          </a:xfrm>
          <a:prstGeom prst="rect">
            <a:avLst/>
          </a:prstGeom>
          <a:solidFill>
            <a:srgbClr val="8887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8" name="phase2-head"/>
          <p:cNvSpPr txBox="1"/>
          <p:nvPr/>
        </p:nvSpPr>
        <p:spPr>
          <a:xfrm>
            <a:off x="685800" y="5505227"/>
            <a:ext cx="1085850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>
                <a:solidFill>
                  <a:srgbClr val="5F5E5A"/>
                </a:solidFill>
                <a:latin typeface="+mj-lt"/>
              </a:rPr>
              <a:t>Phase 2 is separate</a:t>
            </a:r>
          </a:p>
        </p:txBody>
      </p:sp>
      <p:sp>
        <p:nvSpPr>
          <p:cNvPr id="49" name="phase2-body"/>
          <p:cNvSpPr txBox="1"/>
          <p:nvPr/>
        </p:nvSpPr>
        <p:spPr>
          <a:xfrm>
            <a:off x="685800" y="5733855"/>
            <a:ext cx="1085850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5"/>
              </a:lnSpc>
              <a:defRPr/>
            </a:pPr>
            <a:r>
              <a:rPr sz="1050" b="0" i="0">
                <a:solidFill>
                  <a:srgbClr val="1A1A1A"/>
                </a:solidFill>
                <a:latin typeface="+mj-lt"/>
              </a:rPr>
              <a:t>Indonesia is a new funding decision at month 18, not part of this $12M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1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pPr>
              <a:defRPr/>
            </a:pPr>
            <a:r>
              <a:rPr sz="2800"/>
              <a:t>Approve $12M of Phase 1 funding by 15 November 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/>
              <a:t>Source: Illustrative data, not real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pPr>
              <a:defRPr/>
            </a:pPr>
            <a:r>
              <a:rPr lang="en-US" smtClean="0"/>
              <a:t>10</a:t>
            </a:r>
            <a:endParaRPr lang="en-US"/>
          </a:p>
        </p:txBody>
      </p:sp>
      <p:sp>
        <p:nvSpPr>
          <p:cNvPr id="48" name="Rectangle 1"/>
          <p:cNvSpPr/>
          <p:nvPr/>
        </p:nvSpPr>
        <p:spPr>
          <a:xfrm>
            <a:off x="409575" y="285750"/>
            <a:ext cx="647700" cy="666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subtitle"/>
          <p:cNvSpPr txBox="1"/>
          <p:nvPr/>
        </p:nvSpPr>
        <p:spPr>
          <a:xfrm>
            <a:off x="409575" y="1296417"/>
            <a:ext cx="11363325" cy="3034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39"/>
              </a:lnSpc>
              <a:defRPr/>
            </a:pPr>
            <a:r>
              <a:rPr sz="1600" b="0" i="0">
                <a:solidFill>
                  <a:srgbClr val="5F5E5A"/>
                </a:solidFill>
                <a:latin typeface="+mj-lt"/>
              </a:rPr>
              <a:t>One decision today starts the clock; every later commitment comes back to the committee at a gate.</a:t>
            </a:r>
          </a:p>
        </p:txBody>
      </p:sp>
      <p:sp>
        <p:nvSpPr>
          <p:cNvPr id="49" name="tbl-header-bg"/>
          <p:cNvSpPr/>
          <p:nvPr/>
        </p:nvSpPr>
        <p:spPr>
          <a:xfrm>
            <a:off x="409575" y="1828800"/>
            <a:ext cx="11372850" cy="3429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0" name="Rectangle 5"/>
          <p:cNvSpPr/>
          <p:nvPr/>
        </p:nvSpPr>
        <p:spPr>
          <a:xfrm>
            <a:off x="409575" y="2152650"/>
            <a:ext cx="11372850" cy="190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bl-h-date"/>
          <p:cNvSpPr txBox="1"/>
          <p:nvPr/>
        </p:nvSpPr>
        <p:spPr>
          <a:xfrm>
            <a:off x="676275" y="1876287"/>
            <a:ext cx="1714500" cy="2095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9"/>
              </a:lnSpc>
              <a:defRPr/>
            </a:pPr>
            <a:r>
              <a:rPr sz="1000" b="1" i="0" spc="60">
                <a:solidFill>
                  <a:schemeClr val="tx2"/>
                </a:solidFill>
                <a:latin typeface="+mj-lt"/>
              </a:rPr>
              <a:t>BY</a:t>
            </a:r>
          </a:p>
        </p:txBody>
      </p:sp>
      <p:sp>
        <p:nvSpPr>
          <p:cNvPr id="8" name="tbl-h-num"/>
          <p:cNvSpPr txBox="1"/>
          <p:nvPr/>
        </p:nvSpPr>
        <p:spPr>
          <a:xfrm>
            <a:off x="2495550" y="1876287"/>
            <a:ext cx="533400" cy="2095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99"/>
              </a:lnSpc>
              <a:defRPr/>
            </a:pPr>
            <a:r>
              <a:rPr sz="1000" b="1" i="0" spc="60">
                <a:solidFill>
                  <a:schemeClr val="tx2"/>
                </a:solidFill>
                <a:latin typeface="+mj-lt"/>
              </a:rPr>
              <a:t>#</a:t>
            </a:r>
          </a:p>
        </p:txBody>
      </p:sp>
      <p:sp>
        <p:nvSpPr>
          <p:cNvPr id="9" name="tbl-h-step"/>
          <p:cNvSpPr txBox="1"/>
          <p:nvPr/>
        </p:nvSpPr>
        <p:spPr>
          <a:xfrm>
            <a:off x="3171825" y="1876287"/>
            <a:ext cx="5334000" cy="2095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9"/>
              </a:lnSpc>
              <a:defRPr/>
            </a:pPr>
            <a:r>
              <a:rPr sz="1000" b="1" i="0" spc="60">
                <a:solidFill>
                  <a:schemeClr val="tx2"/>
                </a:solidFill>
                <a:latin typeface="+mj-lt"/>
              </a:rPr>
              <a:t>DECISION / NEXT STEP</a:t>
            </a:r>
          </a:p>
        </p:txBody>
      </p:sp>
      <p:sp>
        <p:nvSpPr>
          <p:cNvPr id="10" name="tbl-h-owner"/>
          <p:cNvSpPr txBox="1"/>
          <p:nvPr/>
        </p:nvSpPr>
        <p:spPr>
          <a:xfrm>
            <a:off x="8791575" y="1876287"/>
            <a:ext cx="2857500" cy="2095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9"/>
              </a:lnSpc>
              <a:defRPr/>
            </a:pPr>
            <a:r>
              <a:rPr sz="1000" b="1" i="0" spc="60">
                <a:solidFill>
                  <a:schemeClr val="tx2"/>
                </a:solidFill>
                <a:latin typeface="+mj-lt"/>
              </a:rPr>
              <a:t>OWNER</a:t>
            </a:r>
          </a:p>
        </p:txBody>
      </p:sp>
      <p:sp>
        <p:nvSpPr>
          <p:cNvPr id="11" name="row1-bg"/>
          <p:cNvSpPr/>
          <p:nvPr/>
        </p:nvSpPr>
        <p:spPr>
          <a:xfrm>
            <a:off x="409575" y="2209800"/>
            <a:ext cx="11372850" cy="952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row2-bg"/>
          <p:cNvSpPr/>
          <p:nvPr/>
        </p:nvSpPr>
        <p:spPr>
          <a:xfrm>
            <a:off x="409575" y="3162300"/>
            <a:ext cx="11372850" cy="723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Rectangle 12"/>
          <p:cNvSpPr/>
          <p:nvPr/>
        </p:nvSpPr>
        <p:spPr>
          <a:xfrm>
            <a:off x="409575" y="3876675"/>
            <a:ext cx="11372850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ow3-bg"/>
          <p:cNvSpPr/>
          <p:nvPr/>
        </p:nvSpPr>
        <p:spPr>
          <a:xfrm>
            <a:off x="409575" y="3886200"/>
            <a:ext cx="11372850" cy="723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Rectangle 14"/>
          <p:cNvSpPr/>
          <p:nvPr/>
        </p:nvSpPr>
        <p:spPr>
          <a:xfrm>
            <a:off x="409575" y="4600575"/>
            <a:ext cx="11372850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row4-bg"/>
          <p:cNvSpPr/>
          <p:nvPr/>
        </p:nvSpPr>
        <p:spPr>
          <a:xfrm>
            <a:off x="409575" y="4610100"/>
            <a:ext cx="11372850" cy="723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409575" y="5324475"/>
            <a:ext cx="11372850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row1-accent-stripe"/>
          <p:cNvSpPr/>
          <p:nvPr/>
        </p:nvSpPr>
        <p:spPr>
          <a:xfrm>
            <a:off x="409575" y="2209800"/>
            <a:ext cx="76200" cy="952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9" name="seq-track"/>
          <p:cNvSpPr/>
          <p:nvPr/>
        </p:nvSpPr>
        <p:spPr>
          <a:xfrm>
            <a:off x="2752725" y="2686050"/>
            <a:ext cx="19050" cy="2152650"/>
          </a:xfrm>
          <a:prstGeom prst="rect">
            <a:avLst/>
          </a:pr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row1-num"/>
          <p:cNvSpPr/>
          <p:nvPr/>
        </p:nvSpPr>
        <p:spPr>
          <a:xfrm>
            <a:off x="2600325" y="2524125"/>
            <a:ext cx="323850" cy="32385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1" name="row1-num"/>
          <p:cNvSpPr txBox="1"/>
          <p:nvPr/>
        </p:nvSpPr>
        <p:spPr>
          <a:xfrm>
            <a:off x="2609850" y="2557267"/>
            <a:ext cx="304651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75"/>
              </a:lnSpc>
              <a:defRPr/>
            </a:pPr>
            <a:r>
              <a:rPr sz="1050" b="1" i="0">
                <a:solidFill>
                  <a:schemeClr val="tx2"/>
                </a:solidFill>
                <a:latin typeface="+mj-lt"/>
              </a:rPr>
              <a:t>01</a:t>
            </a:r>
          </a:p>
        </p:txBody>
      </p:sp>
      <p:sp>
        <p:nvSpPr>
          <p:cNvPr id="22" name="row2-num"/>
          <p:cNvSpPr/>
          <p:nvPr/>
        </p:nvSpPr>
        <p:spPr>
          <a:xfrm>
            <a:off x="2600325" y="3362325"/>
            <a:ext cx="323850" cy="32385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3" name="row2-num"/>
          <p:cNvSpPr txBox="1"/>
          <p:nvPr/>
        </p:nvSpPr>
        <p:spPr>
          <a:xfrm>
            <a:off x="2609850" y="3395467"/>
            <a:ext cx="304651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75"/>
              </a:lnSpc>
              <a:defRPr/>
            </a:pPr>
            <a:r>
              <a:rPr sz="1050" b="1" i="0">
                <a:solidFill>
                  <a:schemeClr val="tx2"/>
                </a:solidFill>
                <a:latin typeface="+mj-lt"/>
              </a:rPr>
              <a:t>02</a:t>
            </a:r>
          </a:p>
        </p:txBody>
      </p:sp>
      <p:sp>
        <p:nvSpPr>
          <p:cNvPr id="24" name="row3-num"/>
          <p:cNvSpPr/>
          <p:nvPr/>
        </p:nvSpPr>
        <p:spPr>
          <a:xfrm>
            <a:off x="2600325" y="4086225"/>
            <a:ext cx="323850" cy="32385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5" name="row3-num"/>
          <p:cNvSpPr txBox="1"/>
          <p:nvPr/>
        </p:nvSpPr>
        <p:spPr>
          <a:xfrm>
            <a:off x="2609850" y="4119367"/>
            <a:ext cx="304651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75"/>
              </a:lnSpc>
              <a:defRPr/>
            </a:pPr>
            <a:r>
              <a:rPr sz="1050" b="1" i="0">
                <a:solidFill>
                  <a:schemeClr val="tx2"/>
                </a:solidFill>
                <a:latin typeface="+mj-lt"/>
              </a:rPr>
              <a:t>03</a:t>
            </a:r>
          </a:p>
        </p:txBody>
      </p:sp>
      <p:sp>
        <p:nvSpPr>
          <p:cNvPr id="26" name="row4-num"/>
          <p:cNvSpPr/>
          <p:nvPr/>
        </p:nvSpPr>
        <p:spPr>
          <a:xfrm>
            <a:off x="2600325" y="4810125"/>
            <a:ext cx="323850" cy="32385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7" name="row4-num"/>
          <p:cNvSpPr txBox="1"/>
          <p:nvPr/>
        </p:nvSpPr>
        <p:spPr>
          <a:xfrm>
            <a:off x="2609850" y="4843267"/>
            <a:ext cx="304651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75"/>
              </a:lnSpc>
              <a:defRPr/>
            </a:pPr>
            <a:r>
              <a:rPr sz="1050" b="1" i="0">
                <a:solidFill>
                  <a:schemeClr val="tx2"/>
                </a:solidFill>
                <a:latin typeface="+mj-lt"/>
              </a:rPr>
              <a:t>04</a:t>
            </a:r>
          </a:p>
        </p:txBody>
      </p:sp>
      <p:sp>
        <p:nvSpPr>
          <p:cNvPr id="28" name="row1-date"/>
          <p:cNvSpPr txBox="1"/>
          <p:nvPr/>
        </p:nvSpPr>
        <p:spPr>
          <a:xfrm>
            <a:off x="676275" y="2466640"/>
            <a:ext cx="1714500" cy="3619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00"/>
              </a:lnSpc>
              <a:defRPr/>
            </a:pPr>
            <a:r>
              <a:rPr sz="1800" b="1" i="0">
                <a:solidFill>
                  <a:schemeClr val="bg1"/>
                </a:solidFill>
                <a:latin typeface="+mj-lt"/>
              </a:rPr>
              <a:t>15 Nov 2026</a:t>
            </a:r>
          </a:p>
        </p:txBody>
      </p:sp>
      <p:sp>
        <p:nvSpPr>
          <p:cNvPr id="29" name="row1-label"/>
          <p:cNvSpPr txBox="1"/>
          <p:nvPr/>
        </p:nvSpPr>
        <p:spPr>
          <a:xfrm>
            <a:off x="3171825" y="2416030"/>
            <a:ext cx="5334000" cy="18410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9"/>
              </a:lnSpc>
              <a:defRPr/>
            </a:pPr>
            <a:r>
              <a:rPr sz="1000" b="1" i="0" spc="60">
                <a:solidFill>
                  <a:schemeClr val="bg1"/>
                </a:solidFill>
                <a:latin typeface="+mj-lt"/>
              </a:rPr>
              <a:t>PHASE 1 FUNDING · DECISION TODAY</a:t>
            </a:r>
          </a:p>
        </p:txBody>
      </p:sp>
      <p:sp>
        <p:nvSpPr>
          <p:cNvPr id="30" name="row1-action"/>
          <p:cNvSpPr txBox="1"/>
          <p:nvPr/>
        </p:nvSpPr>
        <p:spPr>
          <a:xfrm>
            <a:off x="3171825" y="2626692"/>
            <a:ext cx="5334000" cy="2591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90"/>
              </a:lnSpc>
              <a:defRPr/>
            </a:pPr>
            <a:r>
              <a:rPr sz="1400" b="1" i="0">
                <a:solidFill>
                  <a:schemeClr val="bg1"/>
                </a:solidFill>
                <a:latin typeface="+mj-lt"/>
              </a:rPr>
              <a:t>Approve $12M of Phase 1 funding for the Vietnam entry</a:t>
            </a:r>
          </a:p>
        </p:txBody>
      </p:sp>
      <p:sp>
        <p:nvSpPr>
          <p:cNvPr id="31" name="row1-owner"/>
          <p:cNvSpPr txBox="1"/>
          <p:nvPr/>
        </p:nvSpPr>
        <p:spPr>
          <a:xfrm>
            <a:off x="8791575" y="2558222"/>
            <a:ext cx="2857500" cy="2247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20"/>
              </a:lnSpc>
              <a:defRPr/>
            </a:pPr>
            <a:r>
              <a:rPr sz="1200" b="1" i="0">
                <a:solidFill>
                  <a:schemeClr val="bg1"/>
                </a:solidFill>
                <a:latin typeface="+mj-lt"/>
              </a:rPr>
              <a:t>Investment committee</a:t>
            </a:r>
          </a:p>
        </p:txBody>
      </p:sp>
      <p:sp>
        <p:nvSpPr>
          <p:cNvPr id="32" name="row2-date"/>
          <p:cNvSpPr txBox="1"/>
          <p:nvPr/>
        </p:nvSpPr>
        <p:spPr>
          <a:xfrm>
            <a:off x="676275" y="3352492"/>
            <a:ext cx="1714500" cy="28579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0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31 Jan 2027</a:t>
            </a:r>
          </a:p>
        </p:txBody>
      </p:sp>
      <p:sp>
        <p:nvSpPr>
          <p:cNvPr id="33" name="row2-label"/>
          <p:cNvSpPr txBox="1"/>
          <p:nvPr/>
        </p:nvSpPr>
        <p:spPr>
          <a:xfrm>
            <a:off x="3171825" y="3292330"/>
            <a:ext cx="5334000" cy="18410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9"/>
              </a:lnSpc>
              <a:defRPr/>
            </a:pPr>
            <a:r>
              <a:rPr sz="1000" b="1" i="0" spc="60">
                <a:solidFill>
                  <a:srgbClr val="54767F"/>
                </a:solidFill>
                <a:latin typeface="+mj-lt"/>
              </a:rPr>
              <a:t>PARTNER SIGNED · NEXT STEP</a:t>
            </a:r>
          </a:p>
        </p:txBody>
      </p:sp>
      <p:sp>
        <p:nvSpPr>
          <p:cNvPr id="34" name="row2-action"/>
          <p:cNvSpPr txBox="1"/>
          <p:nvPr/>
        </p:nvSpPr>
        <p:spPr>
          <a:xfrm>
            <a:off x="3171825" y="3480212"/>
            <a:ext cx="5334000" cy="2247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20"/>
              </a:lnSpc>
              <a:defRPr/>
            </a:pPr>
            <a:r>
              <a:rPr sz="1200" b="0" i="0">
                <a:solidFill>
                  <a:srgbClr val="1A1A1A"/>
                </a:solidFill>
                <a:latin typeface="+mj-lt"/>
              </a:rPr>
              <a:t>Sign the Vietnam distribution partner</a:t>
            </a:r>
          </a:p>
        </p:txBody>
      </p:sp>
      <p:sp>
        <p:nvSpPr>
          <p:cNvPr id="35" name="row2-owner"/>
          <p:cNvSpPr txBox="1"/>
          <p:nvPr/>
        </p:nvSpPr>
        <p:spPr>
          <a:xfrm>
            <a:off x="8791575" y="3396422"/>
            <a:ext cx="2857500" cy="2247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20"/>
              </a:lnSpc>
              <a:defRPr/>
            </a:pPr>
            <a:r>
              <a:rPr sz="1200" b="0" i="0">
                <a:solidFill>
                  <a:srgbClr val="1A1A1A"/>
                </a:solidFill>
                <a:latin typeface="+mj-lt"/>
              </a:rPr>
              <a:t>Head of International</a:t>
            </a:r>
          </a:p>
        </p:txBody>
      </p:sp>
      <p:sp>
        <p:nvSpPr>
          <p:cNvPr id="36" name="row3-date"/>
          <p:cNvSpPr txBox="1"/>
          <p:nvPr/>
        </p:nvSpPr>
        <p:spPr>
          <a:xfrm>
            <a:off x="676275" y="4076392"/>
            <a:ext cx="1714500" cy="28579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0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1 Mar 2027</a:t>
            </a:r>
          </a:p>
        </p:txBody>
      </p:sp>
      <p:sp>
        <p:nvSpPr>
          <p:cNvPr id="37" name="row3-label"/>
          <p:cNvSpPr txBox="1"/>
          <p:nvPr/>
        </p:nvSpPr>
        <p:spPr>
          <a:xfrm>
            <a:off x="3171825" y="4016230"/>
            <a:ext cx="5334000" cy="18410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9"/>
              </a:lnSpc>
              <a:defRPr/>
            </a:pPr>
            <a:r>
              <a:rPr sz="1000" b="1" i="0" spc="60">
                <a:solidFill>
                  <a:srgbClr val="54767F"/>
                </a:solidFill>
                <a:latin typeface="+mj-lt"/>
              </a:rPr>
              <a:t>PILOT LAUNCHED · NEXT STEP</a:t>
            </a:r>
          </a:p>
        </p:txBody>
      </p:sp>
      <p:sp>
        <p:nvSpPr>
          <p:cNvPr id="38" name="row3-action"/>
          <p:cNvSpPr txBox="1"/>
          <p:nvPr/>
        </p:nvSpPr>
        <p:spPr>
          <a:xfrm>
            <a:off x="3171825" y="4204112"/>
            <a:ext cx="5334000" cy="2247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20"/>
              </a:lnSpc>
              <a:defRPr/>
            </a:pPr>
            <a:r>
              <a:rPr sz="1200" b="0" i="0">
                <a:solidFill>
                  <a:srgbClr val="1A1A1A"/>
                </a:solidFill>
                <a:latin typeface="+mj-lt"/>
              </a:rPr>
              <a:t>Launch the Ho Chi Minh City pilot</a:t>
            </a:r>
          </a:p>
        </p:txBody>
      </p:sp>
      <p:sp>
        <p:nvSpPr>
          <p:cNvPr id="39" name="row3-owner"/>
          <p:cNvSpPr txBox="1"/>
          <p:nvPr/>
        </p:nvSpPr>
        <p:spPr>
          <a:xfrm>
            <a:off x="8791575" y="4120322"/>
            <a:ext cx="2857500" cy="2247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20"/>
              </a:lnSpc>
              <a:defRPr/>
            </a:pPr>
            <a:r>
              <a:rPr sz="1200" b="0" i="0">
                <a:solidFill>
                  <a:srgbClr val="1A1A1A"/>
                </a:solidFill>
                <a:latin typeface="+mj-lt"/>
              </a:rPr>
              <a:t>Vietnam general manager</a:t>
            </a:r>
          </a:p>
        </p:txBody>
      </p:sp>
      <p:sp>
        <p:nvSpPr>
          <p:cNvPr id="40" name="row4-date"/>
          <p:cNvSpPr txBox="1"/>
          <p:nvPr/>
        </p:nvSpPr>
        <p:spPr>
          <a:xfrm>
            <a:off x="676275" y="4800292"/>
            <a:ext cx="1714500" cy="28579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0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Jun 2027</a:t>
            </a:r>
          </a:p>
        </p:txBody>
      </p:sp>
      <p:sp>
        <p:nvSpPr>
          <p:cNvPr id="41" name="row4-label"/>
          <p:cNvSpPr txBox="1"/>
          <p:nvPr/>
        </p:nvSpPr>
        <p:spPr>
          <a:xfrm>
            <a:off x="3171825" y="4740130"/>
            <a:ext cx="5334000" cy="18410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99"/>
              </a:lnSpc>
              <a:defRPr/>
            </a:pPr>
            <a:r>
              <a:rPr sz="1000" b="1" i="0" spc="60">
                <a:solidFill>
                  <a:srgbClr val="54767F"/>
                </a:solidFill>
                <a:latin typeface="+mj-lt"/>
              </a:rPr>
              <a:t>GATE 1 REVIEW · GATE</a:t>
            </a:r>
          </a:p>
        </p:txBody>
      </p:sp>
      <p:sp>
        <p:nvSpPr>
          <p:cNvPr id="42" name="row4-action"/>
          <p:cNvSpPr txBox="1"/>
          <p:nvPr/>
        </p:nvSpPr>
        <p:spPr>
          <a:xfrm>
            <a:off x="3171825" y="4928012"/>
            <a:ext cx="5334000" cy="2247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20"/>
              </a:lnSpc>
              <a:defRPr/>
            </a:pPr>
            <a:r>
              <a:rPr sz="1200" b="0" i="0">
                <a:solidFill>
                  <a:srgbClr val="1A1A1A"/>
                </a:solidFill>
                <a:latin typeface="+mj-lt"/>
              </a:rPr>
              <a:t>Review pilot sell-through</a:t>
            </a:r>
          </a:p>
        </p:txBody>
      </p:sp>
      <p:sp>
        <p:nvSpPr>
          <p:cNvPr id="43" name="row4-owner"/>
          <p:cNvSpPr txBox="1"/>
          <p:nvPr/>
        </p:nvSpPr>
        <p:spPr>
          <a:xfrm>
            <a:off x="8791575" y="4844222"/>
            <a:ext cx="2857500" cy="2247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20"/>
              </a:lnSpc>
              <a:defRPr/>
            </a:pPr>
            <a:r>
              <a:rPr sz="1200" b="0" i="0">
                <a:solidFill>
                  <a:srgbClr val="1A1A1A"/>
                </a:solidFill>
                <a:latin typeface="+mj-lt"/>
              </a:rPr>
              <a:t>Investment committee</a:t>
            </a:r>
          </a:p>
        </p:txBody>
      </p:sp>
      <p:sp>
        <p:nvSpPr>
          <p:cNvPr id="44" name="ifno-box"/>
          <p:cNvSpPr/>
          <p:nvPr/>
        </p:nvSpPr>
        <p:spPr>
          <a:xfrm>
            <a:off x="419100" y="5514975"/>
            <a:ext cx="11353800" cy="74295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5" name="ifno-label"/>
          <p:cNvSpPr/>
          <p:nvPr/>
        </p:nvSpPr>
        <p:spPr>
          <a:xfrm>
            <a:off x="409575" y="5505450"/>
            <a:ext cx="2381250" cy="76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6" name="ifno-label"/>
          <p:cNvSpPr txBox="1"/>
          <p:nvPr/>
        </p:nvSpPr>
        <p:spPr>
          <a:xfrm>
            <a:off x="409575" y="5762487"/>
            <a:ext cx="2381101" cy="2095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99"/>
              </a:lnSpc>
              <a:defRPr/>
            </a:pPr>
            <a:r>
              <a:rPr sz="1000" b="1" i="0" spc="60">
                <a:solidFill>
                  <a:schemeClr val="bg1"/>
                </a:solidFill>
                <a:latin typeface="+mj-lt"/>
              </a:rPr>
              <a:t>IF THE ANSWER IS NO</a:t>
            </a:r>
          </a:p>
        </p:txBody>
      </p:sp>
      <p:sp>
        <p:nvSpPr>
          <p:cNvPr id="47" name="ifno-text"/>
          <p:cNvSpPr txBox="1"/>
          <p:nvPr/>
        </p:nvSpPr>
        <p:spPr>
          <a:xfrm>
            <a:off x="3076575" y="5731731"/>
            <a:ext cx="8477250" cy="2680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6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Meridian waits; the category doubles by 2030 and Vietnam passes Thailand in 2027 without 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idian">
  <a:themeElements>
    <a:clrScheme name="Meridian">
      <a:dk1>
        <a:srgbClr val="1F2933"/>
      </a:dk1>
      <a:lt1>
        <a:srgbClr val="FFFFFF"/>
      </a:lt1>
      <a:dk2>
        <a:srgbClr val="0B3C49"/>
      </a:dk2>
      <a:lt2>
        <a:srgbClr val="E9EEF0"/>
      </a:lt2>
      <a:accent1>
        <a:srgbClr val="F2A541"/>
      </a:accent1>
      <a:accent2>
        <a:srgbClr val="2A7F8E"/>
      </a:accent2>
      <a:accent3>
        <a:srgbClr val="5B6770"/>
      </a:accent3>
      <a:accent4>
        <a:srgbClr val="8FB8C2"/>
      </a:accent4>
      <a:accent5>
        <a:srgbClr val="C9792B"/>
      </a:accent5>
      <a:accent6>
        <a:srgbClr val="A3ADB4"/>
      </a:accent6>
      <a:hlink>
        <a:srgbClr val="2A7F8E"/>
      </a:hlink>
      <a:folHlink>
        <a:srgbClr val="5B6770"/>
      </a:folHlink>
    </a:clrScheme>
    <a:fontScheme name="Meridian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Lab example: Meridian Southeast Asia entry</dc:title>
  <dc:subject/>
  <dc:creator>Slide Lab example</dc:creator>
  <cp:keywords/>
  <dc:description/>
  <cp:lastModifiedBy>Slide Lab example</cp:lastModifiedBy>
  <cp:revision>1</cp:revision>
  <dcterms:created xsi:type="dcterms:W3CDTF">2013-01-27T09:14:16Z</dcterms:created>
  <dcterms:modified xsi:type="dcterms:W3CDTF">2013-01-27T09:15:58Z</dcterms:modified>
  <cp:category/>
</cp:coreProperties>
</file>