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on the template's own cover layout, with the Vietnam-then-Indonesia order drawn on it. Covers are never numbered.</a:t>
            </a:r>
          </a:p>
          <a:p/>
          <a:p>
            <a:r>
              <a:t>How this example was made:</a:t>
            </a:r>
          </a:p>
          <a:p>
            <a:r>
              <a:t>- Made on 5 October 2026 in one real Slide Lab run, on a fictional template (Meridian) with invented numbers. Nothing here is client material.</a:t>
            </a:r>
          </a:p>
          <a:p>
            <a:r>
              <a:t>- Storyline: the 2 October storyline, with 13 titles and takeaways rewritten at the storyline check so each states a fact with a number and fits on one line. A real storyline conversation usually takes 10 to 30 minutes.</a:t>
            </a:r>
          </a:p>
          <a:p>
            <a:r>
              <a:t>- Designs: 10 slides with 3 options each, all designed at the same time, 8.5 minutes. Body text is 12 pt or more on every design.</a:t>
            </a:r>
          </a:p>
          <a:p>
            <a:r>
              <a:t>- Picks: made by Claude at the owner's request (this is an example); in real use you pick on this page.</a:t>
            </a:r>
          </a:p>
          <a:p>
            <a:r>
              <a:t>- After the picks: converting to editable PowerPoint took about 4 minutes (3 slides needed the drawing agent for a few shapes); the final check page and the build took under 1 minute.</a:t>
            </a:r>
          </a:p>
          <a:p>
            <a:r>
              <a:t>- Quality check: no Critical or Major findings; 3 Advisory notes. The deck also opened cleanly in PowerPoint.</a:t>
            </a:r>
          </a:p>
          <a:p>
            <a:r>
              <a:t>- 6 October: slide 8's headline was reworded to say what the data supports ("We expect partners to lower Indonesia's entry cost; no data yet") and that one slide redesigned in one design, keeping the picked layout.</a:t>
            </a:r>
          </a:p>
          <a:p>
            <a:r>
              <a:t>- Hand edits: none. Everything is the pipeline's own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as a dense question-and-answer table, the ask highlighted.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 chart with one highlight (the 2030 bar) and its callout drawn on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Scored table: five markets against two cut-offs, passing rows shaded, small bars showing how far each market is from the cut-off.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chart with the crossover marked and the axis starting at zero, so the drawn gap matches the 1.5 times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Numbered steps with icons; the gate step carries the one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with the two go/no-go gates as diamonds and what happens after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loop of five boxes around the claim, all editable PowerPoint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Waterfall that builds the $12M total from its five parts, with the cap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table with owner and date, the decision being asked for highlighted.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Cover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560320"/>
            <a:ext cx="10058400" cy="1371600"/>
          </a:xfrm>
        </p:spPr>
        <p:txBody>
          <a:bodyPr anchor="t"/>
          <a:lstStyle>
            <a:lvl1pPr algn="l" marL="0" indent="0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023360"/>
            <a:ext cx="10058400" cy="91440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rgbClr val="C9D3D8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731520" y="2286000"/>
            <a:ext cx="914400" cy="82296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1480"/>
            <a:ext cx="11365992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463040"/>
            <a:ext cx="11365992" cy="46634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Divider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560320"/>
            <a:ext cx="10058400" cy="1371600"/>
          </a:xfrm>
        </p:spPr>
        <p:txBody>
          <a:bodyPr anchor="t"/>
          <a:lstStyle>
            <a:lvl1pPr algn="l" marL="0" indent="0">
              <a:defRPr b="1" sz="36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4023360"/>
            <a:ext cx="10058400" cy="91440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rgbClr val="C9D3D8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731520" y="2286000"/>
            <a:ext cx="914400" cy="82296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1480"/>
            <a:ext cx="11365992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463040"/>
            <a:ext cx="5532120" cy="46634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352" y="1463040"/>
            <a:ext cx="5532120" cy="46634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1480"/>
            <a:ext cx="11365992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411480"/>
            <a:ext cx="11365992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463040"/>
            <a:ext cx="11365992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160" y="6382512"/>
            <a:ext cx="135331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411480" y="292608"/>
            <a:ext cx="640080" cy="64008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2"/>
          <p:cNvSpPr txBox="1"/>
          <p:nvPr/>
        </p:nvSpPr>
        <p:spPr>
          <a:xfrm>
            <a:off x="6291072" y="182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B6770"/>
                </a:solidFill>
                <a:latin typeface="Arial"/>
              </a:rPr>
              <a:t>Illustrative example, not real data   </a:t>
            </a:r>
            <a:r>
              <a:rPr sz="900" b="1">
                <a:solidFill>
                  <a:srgbClr val="0B3C49"/>
                </a:solidFill>
                <a:latin typeface="Arial"/>
              </a:rPr>
              <a:t>MERIDIAN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3425" y="2514600"/>
            <a:ext cx="100584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4000" b="1">
                <a:solidFill>
                  <a:schemeClr val="bg1"/>
                </a:solidFill>
              </a:rPr>
              <a:t>Southeast Asia entry: Vietnam first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3425" y="3429000"/>
            <a:ext cx="10058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>
                <a:solidFill>
                  <a:schemeClr val="bg1"/>
                </a:solidFill>
              </a:rPr>
              <a:t>A capped $12M first phase with two go/no-go gates</a:t>
            </a:r>
          </a:p>
        </p:txBody>
      </p:sp>
      <p:sp>
        <p:nvSpPr>
          <p:cNvPr id="4" name="step-1-marker"/>
          <p:cNvSpPr/>
          <p:nvPr/>
        </p:nvSpPr>
        <p:spPr>
          <a:xfrm>
            <a:off x="733425" y="4305300"/>
            <a:ext cx="419100" cy="4191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num"/>
          <p:cNvSpPr txBox="1"/>
          <p:nvPr/>
        </p:nvSpPr>
        <p:spPr>
          <a:xfrm>
            <a:off x="733425" y="4305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6" name="step-1-label"/>
          <p:cNvSpPr txBox="1"/>
          <p:nvPr/>
        </p:nvSpPr>
        <p:spPr>
          <a:xfrm>
            <a:off x="1285875" y="4305300"/>
            <a:ext cx="12382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600" b="1">
                <a:solidFill>
                  <a:schemeClr val="bg1"/>
                </a:solidFill>
              </a:rPr>
              <a:t>Vietnam</a:t>
            </a:r>
          </a:p>
        </p:txBody>
      </p:sp>
      <p:sp>
        <p:nvSpPr>
          <p:cNvPr id="7" name="step-arrow"/>
          <p:cNvSpPr/>
          <p:nvPr/>
        </p:nvSpPr>
        <p:spPr>
          <a:xfrm>
            <a:off x="2600325" y="4429125"/>
            <a:ext cx="533400" cy="171450"/>
          </a:xfrm>
          <a:prstGeom prst="rightArrow">
            <a:avLst/>
          </a:prstGeom>
          <a:solidFill>
            <a:srgbClr val="547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2-marker"/>
          <p:cNvSpPr/>
          <p:nvPr/>
        </p:nvSpPr>
        <p:spPr>
          <a:xfrm>
            <a:off x="3324225" y="4305300"/>
            <a:ext cx="419100" cy="419100"/>
          </a:xfrm>
          <a:prstGeom prst="ellipse">
            <a:avLst/>
          </a:prstGeom>
          <a:solidFill>
            <a:srgbClr val="547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step-2-num"/>
          <p:cNvSpPr txBox="1"/>
          <p:nvPr/>
        </p:nvSpPr>
        <p:spPr>
          <a:xfrm>
            <a:off x="3324225" y="4305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step-2-label"/>
          <p:cNvSpPr txBox="1"/>
          <p:nvPr/>
        </p:nvSpPr>
        <p:spPr>
          <a:xfrm>
            <a:off x="3876675" y="430530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600">
                <a:solidFill>
                  <a:schemeClr val="bg1"/>
                </a:solidFill>
              </a:rPr>
              <a:t>Indonesia</a:t>
            </a:r>
          </a:p>
        </p:txBody>
      </p:sp>
      <p:sp>
        <p:nvSpPr>
          <p:cNvPr id="11" name="cover-counter-line"/>
          <p:cNvSpPr/>
          <p:nvPr/>
        </p:nvSpPr>
        <p:spPr>
          <a:xfrm>
            <a:off x="733425" y="5410200"/>
            <a:ext cx="4000500" cy="28575"/>
          </a:xfrm>
          <a:prstGeom prst="rect">
            <a:avLst/>
          </a:prstGeom>
          <a:solidFill>
            <a:srgbClr val="547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ver-recipient"/>
          <p:cNvSpPr txBox="1"/>
          <p:nvPr/>
        </p:nvSpPr>
        <p:spPr>
          <a:xfrm>
            <a:off x="733425" y="5562600"/>
            <a:ext cx="100584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chemeClr val="bg1"/>
                </a:solidFill>
              </a:rPr>
              <a:t>Recommendation to the Meridian investment committee</a:t>
            </a:r>
          </a:p>
        </p:txBody>
      </p:sp>
      <p:sp>
        <p:nvSpPr>
          <p:cNvPr id="13" name="cover-presenter-date"/>
          <p:cNvSpPr txBox="1"/>
          <p:nvPr/>
        </p:nvSpPr>
        <p:spPr>
          <a:xfrm>
            <a:off x="733425" y="586740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400">
                <a:solidFill>
                  <a:schemeClr val="bg1"/>
                </a:solidFill>
              </a:rPr>
              <a:t>Meridian Strategy Team  | 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Vietnam first: a $40M run-rate in 18 months for $12M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2</a:t>
            </a:r>
            <a:endParaRPr lang="en-US"/>
          </a:p>
        </p:txBody>
      </p:sp>
      <p:sp>
        <p:nvSpPr>
          <p:cNvPr id="29" name="subtitle"/>
          <p:cNvSpPr txBox="1"/>
          <p:nvPr/>
        </p:nvSpPr>
        <p:spPr>
          <a:xfrm>
            <a:off x="409575" y="1336417"/>
            <a:ext cx="11363325" cy="273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9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$12M funds one capped test with two stop points, at months 6 and 12</a:t>
            </a:r>
          </a:p>
        </p:txBody>
      </p:sp>
      <p:sp>
        <p:nvSpPr>
          <p:cNvPr id="33" name="hdr-question"/>
          <p:cNvSpPr txBox="1"/>
          <p:nvPr/>
        </p:nvSpPr>
        <p:spPr>
          <a:xfrm>
            <a:off x="666750" y="1733327"/>
            <a:ext cx="238125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200" b="1" i="0" spc="75">
                <a:solidFill>
                  <a:srgbClr val="5F5E5A"/>
                </a:solidFill>
                <a:latin typeface="+mj-lt"/>
              </a:rPr>
              <a:t>QUESTION</a:t>
            </a:r>
          </a:p>
        </p:txBody>
      </p:sp>
      <p:sp>
        <p:nvSpPr>
          <p:cNvPr id="4" name="hdr-answer"/>
          <p:cNvSpPr txBox="1"/>
          <p:nvPr/>
        </p:nvSpPr>
        <p:spPr>
          <a:xfrm>
            <a:off x="3352800" y="1733327"/>
            <a:ext cx="82296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200" b="1" i="0" spc="75">
                <a:solidFill>
                  <a:srgbClr val="5F5E5A"/>
                </a:solidFill>
                <a:latin typeface="+mj-lt"/>
              </a:rPr>
              <a:t>ANSWER</a:t>
            </a:r>
          </a:p>
        </p:txBody>
      </p:sp>
      <p:sp>
        <p:nvSpPr>
          <p:cNvPr id="30" name="hdr-rule"/>
          <p:cNvSpPr/>
          <p:nvPr/>
        </p:nvSpPr>
        <p:spPr>
          <a:xfrm>
            <a:off x="409575" y="2124075"/>
            <a:ext cx="11363325" cy="28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rule-1"/>
          <p:cNvSpPr/>
          <p:nvPr/>
        </p:nvSpPr>
        <p:spPr>
          <a:xfrm>
            <a:off x="409575" y="284797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ule-2"/>
          <p:cNvSpPr/>
          <p:nvPr/>
        </p:nvSpPr>
        <p:spPr>
          <a:xfrm>
            <a:off x="409575" y="3543300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ule-3"/>
          <p:cNvSpPr/>
          <p:nvPr/>
        </p:nvSpPr>
        <p:spPr>
          <a:xfrm>
            <a:off x="409575" y="423862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ule-4"/>
          <p:cNvSpPr/>
          <p:nvPr/>
        </p:nvSpPr>
        <p:spPr>
          <a:xfrm>
            <a:off x="409575" y="4933950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ick-1"/>
          <p:cNvSpPr/>
          <p:nvPr/>
        </p:nvSpPr>
        <p:spPr>
          <a:xfrm>
            <a:off x="476250" y="2362200"/>
            <a:ext cx="47625" cy="285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-1"/>
          <p:cNvSpPr txBox="1"/>
          <p:nvPr/>
        </p:nvSpPr>
        <p:spPr>
          <a:xfrm>
            <a:off x="666750" y="2380900"/>
            <a:ext cx="2476500" cy="24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Where to start</a:t>
            </a:r>
          </a:p>
        </p:txBody>
      </p:sp>
      <p:sp>
        <p:nvSpPr>
          <p:cNvPr id="12" name="a-1"/>
          <p:cNvSpPr txBox="1"/>
          <p:nvPr/>
        </p:nvSpPr>
        <p:spPr>
          <a:xfrm>
            <a:off x="3352800" y="2252053"/>
            <a:ext cx="8229600" cy="481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Vietnam, then Indonesia: the only two of five markets that clear both the $1.0B market-size bar and the 3.5 readiness bar</a:t>
            </a:r>
          </a:p>
        </p:txBody>
      </p:sp>
      <p:sp>
        <p:nvSpPr>
          <p:cNvPr id="13" name="tick-2"/>
          <p:cNvSpPr/>
          <p:nvPr/>
        </p:nvSpPr>
        <p:spPr>
          <a:xfrm>
            <a:off x="476250" y="3057525"/>
            <a:ext cx="47625" cy="285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-2"/>
          <p:cNvSpPr txBox="1"/>
          <p:nvPr/>
        </p:nvSpPr>
        <p:spPr>
          <a:xfrm>
            <a:off x="666750" y="3076225"/>
            <a:ext cx="2476500" cy="24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Why now</a:t>
            </a:r>
          </a:p>
        </p:txBody>
      </p:sp>
      <p:sp>
        <p:nvSpPr>
          <p:cNvPr id="15" name="a-2"/>
          <p:cNvSpPr txBox="1"/>
          <p:nvPr/>
        </p:nvSpPr>
        <p:spPr>
          <a:xfrm>
            <a:off x="3352800" y="2947378"/>
            <a:ext cx="8229600" cy="481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The regional category doubles from $2.1B in 2024 to $4.2B in 2030, and Vietnam passes Thailand as a market in 2027</a:t>
            </a:r>
          </a:p>
        </p:txBody>
      </p:sp>
      <p:sp>
        <p:nvSpPr>
          <p:cNvPr id="16" name="tick-3"/>
          <p:cNvSpPr/>
          <p:nvPr/>
        </p:nvSpPr>
        <p:spPr>
          <a:xfrm>
            <a:off x="476250" y="3752850"/>
            <a:ext cx="47625" cy="285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-3"/>
          <p:cNvSpPr txBox="1"/>
          <p:nvPr/>
        </p:nvSpPr>
        <p:spPr>
          <a:xfrm>
            <a:off x="666750" y="3771550"/>
            <a:ext cx="2476500" cy="24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How we win</a:t>
            </a:r>
          </a:p>
        </p:txBody>
      </p:sp>
      <p:sp>
        <p:nvSpPr>
          <p:cNvPr id="18" name="a-3"/>
          <p:cNvSpPr txBox="1"/>
          <p:nvPr/>
        </p:nvSpPr>
        <p:spPr>
          <a:xfrm>
            <a:off x="3352800" y="3758194"/>
            <a:ext cx="822960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A five-step, partner-led playbook, proven in one city before national rollout, then reused in Indonesia</a:t>
            </a:r>
          </a:p>
        </p:txBody>
      </p:sp>
      <p:sp>
        <p:nvSpPr>
          <p:cNvPr id="19" name="tick-4"/>
          <p:cNvSpPr/>
          <p:nvPr/>
        </p:nvSpPr>
        <p:spPr>
          <a:xfrm>
            <a:off x="476250" y="4448175"/>
            <a:ext cx="47625" cy="285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q-4"/>
          <p:cNvSpPr txBox="1"/>
          <p:nvPr/>
        </p:nvSpPr>
        <p:spPr>
          <a:xfrm>
            <a:off x="666750" y="4466875"/>
            <a:ext cx="2476500" cy="24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What it costs</a:t>
            </a:r>
          </a:p>
        </p:txBody>
      </p:sp>
      <p:sp>
        <p:nvSpPr>
          <p:cNvPr id="21" name="a-4"/>
          <p:cNvSpPr txBox="1"/>
          <p:nvPr/>
        </p:nvSpPr>
        <p:spPr>
          <a:xfrm>
            <a:off x="3352800" y="4453519"/>
            <a:ext cx="822960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$12M for Phase 1, capped until Gate 2, for a $40M revenue run-rate within 18 months</a:t>
            </a:r>
          </a:p>
        </p:txBody>
      </p:sp>
      <p:sp>
        <p:nvSpPr>
          <p:cNvPr id="22" name="tick-5"/>
          <p:cNvSpPr/>
          <p:nvPr/>
        </p:nvSpPr>
        <p:spPr>
          <a:xfrm>
            <a:off x="476250" y="5143500"/>
            <a:ext cx="47625" cy="285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q-5"/>
          <p:cNvSpPr txBox="1"/>
          <p:nvPr/>
        </p:nvSpPr>
        <p:spPr>
          <a:xfrm>
            <a:off x="666750" y="5162200"/>
            <a:ext cx="2476500" cy="24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Alternatives rejected</a:t>
            </a:r>
          </a:p>
        </p:txBody>
      </p:sp>
      <p:sp>
        <p:nvSpPr>
          <p:cNvPr id="24" name="a-5"/>
          <p:cNvSpPr txBox="1"/>
          <p:nvPr/>
        </p:nvSpPr>
        <p:spPr>
          <a:xfrm>
            <a:off x="3352800" y="5033353"/>
            <a:ext cx="8229600" cy="481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Thailand first fails the size bar ($0.8B by 2030); launching in all five at once spreads $12M too thin to prove anything</a:t>
            </a:r>
          </a:p>
        </p:txBody>
      </p:sp>
      <p:sp>
        <p:nvSpPr>
          <p:cNvPr id="25" name="ask-band"/>
          <p:cNvSpPr/>
          <p:nvPr/>
        </p:nvSpPr>
        <p:spPr>
          <a:xfrm>
            <a:off x="409575" y="5638800"/>
            <a:ext cx="11363325" cy="685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ask-stripe"/>
          <p:cNvSpPr/>
          <p:nvPr/>
        </p:nvSpPr>
        <p:spPr>
          <a:xfrm>
            <a:off x="409575" y="5638800"/>
            <a:ext cx="9525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q-6"/>
          <p:cNvSpPr txBox="1"/>
          <p:nvPr/>
        </p:nvSpPr>
        <p:spPr>
          <a:xfrm>
            <a:off x="666750" y="5857525"/>
            <a:ext cx="2476500" cy="24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The ask</a:t>
            </a:r>
          </a:p>
        </p:txBody>
      </p:sp>
      <p:sp>
        <p:nvSpPr>
          <p:cNvPr id="28" name="a-6"/>
          <p:cNvSpPr txBox="1"/>
          <p:nvPr/>
        </p:nvSpPr>
        <p:spPr>
          <a:xfrm>
            <a:off x="3352800" y="5844169"/>
            <a:ext cx="822960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Approve $12M of Phase 1 funding by 15 November 2026; decide on Indonesia at month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5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The Southeast Asia market doubles to $4.2B by 2030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3</a:t>
            </a:r>
            <a:endParaRPr lang="en-US"/>
          </a:p>
        </p:txBody>
      </p:sp>
      <p:sp>
        <p:nvSpPr>
          <p:cNvPr id="52" name="Rectangle 1"/>
          <p:cNvSpPr/>
          <p:nvPr/>
        </p:nvSpPr>
        <p:spPr>
          <a:xfrm>
            <a:off x="409575" y="285750"/>
            <a:ext cx="66675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ubtitle"/>
          <p:cNvSpPr txBox="1"/>
          <p:nvPr/>
        </p:nvSpPr>
        <p:spPr>
          <a:xfrm>
            <a:off x="409575" y="1307209"/>
            <a:ext cx="11363325" cy="2831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The category grows 12% a year; Vietnam and Indonesia hold $2.5B of 2030</a:t>
            </a:r>
          </a:p>
        </p:txBody>
      </p:sp>
      <p:sp>
        <p:nvSpPr>
          <p:cNvPr id="4" name="chart-axis-title"/>
          <p:cNvSpPr txBox="1"/>
          <p:nvPr/>
        </p:nvSpPr>
        <p:spPr>
          <a:xfrm>
            <a:off x="495300" y="2181044"/>
            <a:ext cx="15240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5"/>
              </a:lnSpc>
              <a:defRPr/>
            </a:pPr>
            <a:r>
              <a:rPr sz="1000" b="1" i="0">
                <a:solidFill>
                  <a:srgbClr val="5F5E5A"/>
                </a:solidFill>
                <a:latin typeface="+mj-lt"/>
              </a:rPr>
              <a:t>Market ($B)</a:t>
            </a:r>
          </a:p>
        </p:txBody>
      </p:sp>
      <p:sp>
        <p:nvSpPr>
          <p:cNvPr id="53" name="chart-ylab-0"/>
          <p:cNvSpPr txBox="1"/>
          <p:nvPr/>
        </p:nvSpPr>
        <p:spPr>
          <a:xfrm>
            <a:off x="495300" y="5752919"/>
            <a:ext cx="342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75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0</a:t>
            </a:r>
          </a:p>
        </p:txBody>
      </p:sp>
      <p:sp>
        <p:nvSpPr>
          <p:cNvPr id="54" name="chart-grid-1"/>
          <p:cNvSpPr/>
          <p:nvPr/>
        </p:nvSpPr>
        <p:spPr>
          <a:xfrm>
            <a:off x="952500" y="5143500"/>
            <a:ext cx="66675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hart-ylab-1"/>
          <p:cNvSpPr txBox="1"/>
          <p:nvPr/>
        </p:nvSpPr>
        <p:spPr>
          <a:xfrm>
            <a:off x="495300" y="5086169"/>
            <a:ext cx="342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75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1</a:t>
            </a:r>
          </a:p>
        </p:txBody>
      </p:sp>
      <p:sp>
        <p:nvSpPr>
          <p:cNvPr id="8" name="chart-grid-2"/>
          <p:cNvSpPr/>
          <p:nvPr/>
        </p:nvSpPr>
        <p:spPr>
          <a:xfrm>
            <a:off x="952500" y="4486275"/>
            <a:ext cx="66675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hart-ylab-2"/>
          <p:cNvSpPr txBox="1"/>
          <p:nvPr/>
        </p:nvSpPr>
        <p:spPr>
          <a:xfrm>
            <a:off x="495300" y="4428944"/>
            <a:ext cx="342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75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</a:t>
            </a:r>
          </a:p>
        </p:txBody>
      </p:sp>
      <p:sp>
        <p:nvSpPr>
          <p:cNvPr id="10" name="chart-grid-3"/>
          <p:cNvSpPr/>
          <p:nvPr/>
        </p:nvSpPr>
        <p:spPr>
          <a:xfrm>
            <a:off x="952500" y="3819525"/>
            <a:ext cx="66675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hart-ylab-3"/>
          <p:cNvSpPr txBox="1"/>
          <p:nvPr/>
        </p:nvSpPr>
        <p:spPr>
          <a:xfrm>
            <a:off x="495300" y="3762194"/>
            <a:ext cx="342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75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3</a:t>
            </a:r>
          </a:p>
        </p:txBody>
      </p:sp>
      <p:sp>
        <p:nvSpPr>
          <p:cNvPr id="12" name="chart-grid-4"/>
          <p:cNvSpPr/>
          <p:nvPr/>
        </p:nvSpPr>
        <p:spPr>
          <a:xfrm>
            <a:off x="952500" y="3162300"/>
            <a:ext cx="66675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hart-ylab-4"/>
          <p:cNvSpPr txBox="1"/>
          <p:nvPr/>
        </p:nvSpPr>
        <p:spPr>
          <a:xfrm>
            <a:off x="495300" y="3104969"/>
            <a:ext cx="342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75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4</a:t>
            </a:r>
          </a:p>
        </p:txBody>
      </p:sp>
      <p:sp>
        <p:nvSpPr>
          <p:cNvPr id="14" name="chart-grid-5"/>
          <p:cNvSpPr/>
          <p:nvPr/>
        </p:nvSpPr>
        <p:spPr>
          <a:xfrm>
            <a:off x="952500" y="2495550"/>
            <a:ext cx="66675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hart-ylab-5"/>
          <p:cNvSpPr txBox="1"/>
          <p:nvPr/>
        </p:nvSpPr>
        <p:spPr>
          <a:xfrm>
            <a:off x="495300" y="2438219"/>
            <a:ext cx="342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75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5</a:t>
            </a:r>
          </a:p>
        </p:txBody>
      </p:sp>
      <p:sp>
        <p:nvSpPr>
          <p:cNvPr id="16" name="chart-bar-2024"/>
          <p:cNvSpPr/>
          <p:nvPr/>
        </p:nvSpPr>
        <p:spPr>
          <a:xfrm>
            <a:off x="1133475" y="4419600"/>
            <a:ext cx="590550" cy="1390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hart-val-2024"/>
          <p:cNvSpPr txBox="1"/>
          <p:nvPr/>
        </p:nvSpPr>
        <p:spPr>
          <a:xfrm>
            <a:off x="1038225" y="4219380"/>
            <a:ext cx="7810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$2.1B</a:t>
            </a:r>
          </a:p>
        </p:txBody>
      </p:sp>
      <p:sp>
        <p:nvSpPr>
          <p:cNvPr id="18" name="chart-xlab-2024"/>
          <p:cNvSpPr txBox="1"/>
          <p:nvPr/>
        </p:nvSpPr>
        <p:spPr>
          <a:xfrm>
            <a:off x="9525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2024</a:t>
            </a:r>
          </a:p>
        </p:txBody>
      </p:sp>
      <p:sp>
        <p:nvSpPr>
          <p:cNvPr id="19" name="chart-bar-2025"/>
          <p:cNvSpPr/>
          <p:nvPr/>
        </p:nvSpPr>
        <p:spPr>
          <a:xfrm>
            <a:off x="2085975" y="4219575"/>
            <a:ext cx="590550" cy="1590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hart-val-2025"/>
          <p:cNvSpPr txBox="1"/>
          <p:nvPr/>
        </p:nvSpPr>
        <p:spPr>
          <a:xfrm>
            <a:off x="1990725" y="4019355"/>
            <a:ext cx="7810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$2.4B</a:t>
            </a:r>
          </a:p>
        </p:txBody>
      </p:sp>
      <p:sp>
        <p:nvSpPr>
          <p:cNvPr id="21" name="chart-xlab-2025"/>
          <p:cNvSpPr txBox="1"/>
          <p:nvPr/>
        </p:nvSpPr>
        <p:spPr>
          <a:xfrm>
            <a:off x="19050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2025</a:t>
            </a:r>
          </a:p>
        </p:txBody>
      </p:sp>
      <p:sp>
        <p:nvSpPr>
          <p:cNvPr id="22" name="chart-bar-2026"/>
          <p:cNvSpPr/>
          <p:nvPr/>
        </p:nvSpPr>
        <p:spPr>
          <a:xfrm>
            <a:off x="3038475" y="4086225"/>
            <a:ext cx="590550" cy="17240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hart-val-2026"/>
          <p:cNvSpPr txBox="1"/>
          <p:nvPr/>
        </p:nvSpPr>
        <p:spPr>
          <a:xfrm>
            <a:off x="2943225" y="3886005"/>
            <a:ext cx="7810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$2.6B</a:t>
            </a:r>
          </a:p>
        </p:txBody>
      </p:sp>
      <p:sp>
        <p:nvSpPr>
          <p:cNvPr id="24" name="chart-xlab-2026"/>
          <p:cNvSpPr txBox="1"/>
          <p:nvPr/>
        </p:nvSpPr>
        <p:spPr>
          <a:xfrm>
            <a:off x="28575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2026</a:t>
            </a:r>
          </a:p>
        </p:txBody>
      </p:sp>
      <p:sp>
        <p:nvSpPr>
          <p:cNvPr id="25" name="chart-bar-2027"/>
          <p:cNvSpPr/>
          <p:nvPr/>
        </p:nvSpPr>
        <p:spPr>
          <a:xfrm>
            <a:off x="3990975" y="3819525"/>
            <a:ext cx="590550" cy="1990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hart-val-2027"/>
          <p:cNvSpPr txBox="1"/>
          <p:nvPr/>
        </p:nvSpPr>
        <p:spPr>
          <a:xfrm>
            <a:off x="3895725" y="3619305"/>
            <a:ext cx="7810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$3.0B</a:t>
            </a:r>
          </a:p>
        </p:txBody>
      </p:sp>
      <p:sp>
        <p:nvSpPr>
          <p:cNvPr id="27" name="chart-xlab-2027"/>
          <p:cNvSpPr txBox="1"/>
          <p:nvPr/>
        </p:nvSpPr>
        <p:spPr>
          <a:xfrm>
            <a:off x="38100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2027</a:t>
            </a:r>
          </a:p>
        </p:txBody>
      </p:sp>
      <p:sp>
        <p:nvSpPr>
          <p:cNvPr id="28" name="chart-bar-2028"/>
          <p:cNvSpPr/>
          <p:nvPr/>
        </p:nvSpPr>
        <p:spPr>
          <a:xfrm>
            <a:off x="4943475" y="3619500"/>
            <a:ext cx="590550" cy="2190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hart-val-2028"/>
          <p:cNvSpPr txBox="1"/>
          <p:nvPr/>
        </p:nvSpPr>
        <p:spPr>
          <a:xfrm>
            <a:off x="4848225" y="3419280"/>
            <a:ext cx="7810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$3.3B</a:t>
            </a:r>
          </a:p>
        </p:txBody>
      </p:sp>
      <p:sp>
        <p:nvSpPr>
          <p:cNvPr id="30" name="chart-xlab-2028"/>
          <p:cNvSpPr txBox="1"/>
          <p:nvPr/>
        </p:nvSpPr>
        <p:spPr>
          <a:xfrm>
            <a:off x="47625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2028</a:t>
            </a:r>
          </a:p>
        </p:txBody>
      </p:sp>
      <p:sp>
        <p:nvSpPr>
          <p:cNvPr id="31" name="chart-bar-2029"/>
          <p:cNvSpPr/>
          <p:nvPr/>
        </p:nvSpPr>
        <p:spPr>
          <a:xfrm>
            <a:off x="5895975" y="3352800"/>
            <a:ext cx="590550" cy="2457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hart-val-2029"/>
          <p:cNvSpPr txBox="1"/>
          <p:nvPr/>
        </p:nvSpPr>
        <p:spPr>
          <a:xfrm>
            <a:off x="5800725" y="3152580"/>
            <a:ext cx="7810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$3.7B</a:t>
            </a:r>
          </a:p>
        </p:txBody>
      </p:sp>
      <p:sp>
        <p:nvSpPr>
          <p:cNvPr id="33" name="chart-xlab-2029"/>
          <p:cNvSpPr txBox="1"/>
          <p:nvPr/>
        </p:nvSpPr>
        <p:spPr>
          <a:xfrm>
            <a:off x="57150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2029</a:t>
            </a:r>
          </a:p>
        </p:txBody>
      </p:sp>
      <p:sp>
        <p:nvSpPr>
          <p:cNvPr id="34" name="chart-bar-2030"/>
          <p:cNvSpPr/>
          <p:nvPr/>
        </p:nvSpPr>
        <p:spPr>
          <a:xfrm>
            <a:off x="6848475" y="3028950"/>
            <a:ext cx="590550" cy="278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hart-callout-2030"/>
          <p:cNvSpPr/>
          <p:nvPr/>
        </p:nvSpPr>
        <p:spPr>
          <a:xfrm>
            <a:off x="5905500" y="2533650"/>
            <a:ext cx="2000250" cy="36195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hart-callout-2030"/>
          <p:cNvSpPr txBox="1"/>
          <p:nvPr/>
        </p:nvSpPr>
        <p:spPr>
          <a:xfrm>
            <a:off x="5905500" y="2628509"/>
            <a:ext cx="2000101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0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$4.2B, double 2024</a:t>
            </a:r>
          </a:p>
        </p:txBody>
      </p:sp>
      <p:sp>
        <p:nvSpPr>
          <p:cNvPr id="37" name="chart-callout-2030-stem"/>
          <p:cNvSpPr/>
          <p:nvPr/>
        </p:nvSpPr>
        <p:spPr>
          <a:xfrm>
            <a:off x="7134225" y="2895600"/>
            <a:ext cx="19050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hart-xlab-2030"/>
          <p:cNvSpPr txBox="1"/>
          <p:nvPr/>
        </p:nvSpPr>
        <p:spPr>
          <a:xfrm>
            <a:off x="6667500" y="591483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2030</a:t>
            </a:r>
          </a:p>
        </p:txBody>
      </p:sp>
      <p:sp>
        <p:nvSpPr>
          <p:cNvPr id="39" name="chart-baseline"/>
          <p:cNvSpPr/>
          <p:nvPr/>
        </p:nvSpPr>
        <p:spPr>
          <a:xfrm>
            <a:off x="952500" y="5810250"/>
            <a:ext cx="6667500" cy="19050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ail-divider"/>
          <p:cNvSpPr/>
          <p:nvPr/>
        </p:nvSpPr>
        <p:spPr>
          <a:xfrm>
            <a:off x="8096250" y="1866900"/>
            <a:ext cx="9525" cy="436245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ev1-marker"/>
          <p:cNvSpPr/>
          <p:nvPr/>
        </p:nvSpPr>
        <p:spPr>
          <a:xfrm>
            <a:off x="8382000" y="1981200"/>
            <a:ext cx="114300" cy="114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ev1-label"/>
          <p:cNvSpPr txBox="1"/>
          <p:nvPr/>
        </p:nvSpPr>
        <p:spPr>
          <a:xfrm>
            <a:off x="8610600" y="1931447"/>
            <a:ext cx="3162300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12% A YEAR</a:t>
            </a:r>
          </a:p>
        </p:txBody>
      </p:sp>
      <p:sp>
        <p:nvSpPr>
          <p:cNvPr id="43" name="ev1-text"/>
          <p:cNvSpPr txBox="1"/>
          <p:nvPr/>
        </p:nvSpPr>
        <p:spPr>
          <a:xfrm>
            <a:off x="8610600" y="2207592"/>
            <a:ext cx="3162300" cy="499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9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The category grows from $2.1B in 2024 to $4.2B in 2030, about 12% a year</a:t>
            </a:r>
          </a:p>
        </p:txBody>
      </p:sp>
      <p:sp>
        <p:nvSpPr>
          <p:cNvPr id="44" name="ev1-rule"/>
          <p:cNvSpPr/>
          <p:nvPr/>
        </p:nvSpPr>
        <p:spPr>
          <a:xfrm>
            <a:off x="8382000" y="3276600"/>
            <a:ext cx="33909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ev2-marker"/>
          <p:cNvSpPr/>
          <p:nvPr/>
        </p:nvSpPr>
        <p:spPr>
          <a:xfrm>
            <a:off x="8382000" y="3467100"/>
            <a:ext cx="114300" cy="114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ev2-label"/>
          <p:cNvSpPr txBox="1"/>
          <p:nvPr/>
        </p:nvSpPr>
        <p:spPr>
          <a:xfrm>
            <a:off x="8610600" y="3417347"/>
            <a:ext cx="3162300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TWO MARKETS DRIVE IT</a:t>
            </a:r>
          </a:p>
        </p:txBody>
      </p:sp>
      <p:sp>
        <p:nvSpPr>
          <p:cNvPr id="47" name="ev2-text"/>
          <p:cNvSpPr txBox="1"/>
          <p:nvPr/>
        </p:nvSpPr>
        <p:spPr>
          <a:xfrm>
            <a:off x="8610600" y="3693492"/>
            <a:ext cx="3162300" cy="499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9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Vietnam and Indonesia grow fastest and make up $2.5B of the 2030 total</a:t>
            </a:r>
          </a:p>
        </p:txBody>
      </p:sp>
      <p:sp>
        <p:nvSpPr>
          <p:cNvPr id="48" name="ev2-rule"/>
          <p:cNvSpPr/>
          <p:nvPr/>
        </p:nvSpPr>
        <p:spPr>
          <a:xfrm>
            <a:off x="8382000" y="4762500"/>
            <a:ext cx="33909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ev3-marker"/>
          <p:cNvSpPr/>
          <p:nvPr/>
        </p:nvSpPr>
        <p:spPr>
          <a:xfrm>
            <a:off x="8382000" y="4953000"/>
            <a:ext cx="114300" cy="114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ev3-label"/>
          <p:cNvSpPr txBox="1"/>
          <p:nvPr/>
        </p:nvSpPr>
        <p:spPr>
          <a:xfrm>
            <a:off x="8610600" y="4903247"/>
            <a:ext cx="3162300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MATURE MARKETS LAG</a:t>
            </a:r>
          </a:p>
        </p:txBody>
      </p:sp>
      <p:sp>
        <p:nvSpPr>
          <p:cNvPr id="51" name="ev3-text"/>
          <p:cNvSpPr txBox="1"/>
          <p:nvPr/>
        </p:nvSpPr>
        <p:spPr>
          <a:xfrm>
            <a:off x="8610600" y="5179392"/>
            <a:ext cx="3162300" cy="499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9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Thailand and Malaysia grow at under half the regional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Only Vietnam and Indonesia clear both the size and readiness bar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4</a:t>
            </a:r>
            <a:endParaRPr lang="en-US"/>
          </a:p>
        </p:txBody>
      </p:sp>
      <p:sp>
        <p:nvSpPr>
          <p:cNvPr id="68" name="subtitle"/>
          <p:cNvSpPr txBox="1"/>
          <p:nvPr/>
        </p:nvSpPr>
        <p:spPr>
          <a:xfrm>
            <a:off x="409575" y="1318000"/>
            <a:ext cx="11363325" cy="262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Of five markets, only two reach $1.0B by 2030 and score 3.5 on readiness</a:t>
            </a:r>
          </a:p>
        </p:txBody>
      </p:sp>
      <p:sp>
        <p:nvSpPr>
          <p:cNvPr id="72" name="chart-legend-met-swatch"/>
          <p:cNvSpPr/>
          <p:nvPr/>
        </p:nvSpPr>
        <p:spPr>
          <a:xfrm>
            <a:off x="9144000" y="1828800"/>
            <a:ext cx="133350" cy="133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hart-legend-met"/>
          <p:cNvSpPr txBox="1"/>
          <p:nvPr/>
        </p:nvSpPr>
        <p:spPr>
          <a:xfrm>
            <a:off x="9334500" y="1761930"/>
            <a:ext cx="10477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defRPr/>
            </a:pPr>
            <a:r>
              <a:rPr sz="1050" b="0" i="0">
                <a:solidFill>
                  <a:srgbClr val="5F5E5A"/>
                </a:solidFill>
                <a:latin typeface="+mj-lt"/>
              </a:rPr>
              <a:t>Meets the bar</a:t>
            </a:r>
          </a:p>
        </p:txBody>
      </p:sp>
      <p:sp>
        <p:nvSpPr>
          <p:cNvPr id="69" name="chart-legend-below-swatch"/>
          <p:cNvSpPr/>
          <p:nvPr/>
        </p:nvSpPr>
        <p:spPr>
          <a:xfrm>
            <a:off x="10477500" y="1828800"/>
            <a:ext cx="133350" cy="133350"/>
          </a:xfrm>
          <a:prstGeom prst="rect">
            <a:avLst/>
          </a:prstGeom>
          <a:solidFill>
            <a:srgbClr val="C5D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hart-legend-below"/>
          <p:cNvSpPr txBox="1"/>
          <p:nvPr/>
        </p:nvSpPr>
        <p:spPr>
          <a:xfrm>
            <a:off x="10668000" y="1761930"/>
            <a:ext cx="11049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defRPr/>
            </a:pPr>
            <a:r>
              <a:rPr sz="1050" b="0" i="0">
                <a:solidFill>
                  <a:srgbClr val="5F5E5A"/>
                </a:solidFill>
                <a:latin typeface="+mj-lt"/>
              </a:rPr>
              <a:t>Below the bar</a:t>
            </a:r>
          </a:p>
        </p:txBody>
      </p:sp>
      <p:sp>
        <p:nvSpPr>
          <p:cNvPr id="7" name="hdr-band"/>
          <p:cNvSpPr/>
          <p:nvPr/>
        </p:nvSpPr>
        <p:spPr>
          <a:xfrm>
            <a:off x="409575" y="2057400"/>
            <a:ext cx="11363325" cy="4191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hdr-market"/>
          <p:cNvSpPr txBox="1"/>
          <p:nvPr/>
        </p:nvSpPr>
        <p:spPr>
          <a:xfrm>
            <a:off x="619125" y="1923827"/>
            <a:ext cx="171450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Market</a:t>
            </a:r>
          </a:p>
        </p:txBody>
      </p:sp>
      <p:sp>
        <p:nvSpPr>
          <p:cNvPr id="9" name="hdr-size"/>
          <p:cNvSpPr txBox="1"/>
          <p:nvPr/>
        </p:nvSpPr>
        <p:spPr>
          <a:xfrm>
            <a:off x="2600325" y="1923827"/>
            <a:ext cx="361950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Market size by 2030 ($B)</a:t>
            </a:r>
          </a:p>
        </p:txBody>
      </p:sp>
      <p:sp>
        <p:nvSpPr>
          <p:cNvPr id="10" name="hdr-readiness"/>
          <p:cNvSpPr txBox="1"/>
          <p:nvPr/>
        </p:nvSpPr>
        <p:spPr>
          <a:xfrm>
            <a:off x="6505575" y="1923827"/>
            <a:ext cx="333375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Readiness score (out of 5)</a:t>
            </a:r>
          </a:p>
        </p:txBody>
      </p:sp>
      <p:sp>
        <p:nvSpPr>
          <p:cNvPr id="11" name="hdr-clears"/>
          <p:cNvSpPr txBox="1"/>
          <p:nvPr/>
        </p:nvSpPr>
        <p:spPr>
          <a:xfrm>
            <a:off x="10125075" y="1923827"/>
            <a:ext cx="161925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Clears the bar?</a:t>
            </a:r>
          </a:p>
        </p:txBody>
      </p:sp>
      <p:sp>
        <p:nvSpPr>
          <p:cNvPr id="12" name="axis-row"/>
          <p:cNvSpPr/>
          <p:nvPr/>
        </p:nvSpPr>
        <p:spPr>
          <a:xfrm>
            <a:off x="409575" y="2476500"/>
            <a:ext cx="11363325" cy="266700"/>
          </a:xfrm>
          <a:prstGeom prst="rect">
            <a:avLst/>
          </a:prstGeom>
          <a:solidFill>
            <a:srgbClr val="EE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409575" y="273367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hart-axis-size-0"/>
          <p:cNvSpPr txBox="1"/>
          <p:nvPr/>
        </p:nvSpPr>
        <p:spPr>
          <a:xfrm>
            <a:off x="2600325" y="2419155"/>
            <a:ext cx="28575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defRPr/>
            </a:pPr>
            <a:r>
              <a:rPr sz="1050" b="0" i="0">
                <a:solidFill>
                  <a:srgbClr val="5F5E5A"/>
                </a:solidFill>
                <a:latin typeface="+mj-lt"/>
              </a:rPr>
              <a:t>0</a:t>
            </a:r>
          </a:p>
        </p:txBody>
      </p:sp>
      <p:sp>
        <p:nvSpPr>
          <p:cNvPr id="15" name="chart-axis-size-bar"/>
          <p:cNvSpPr txBox="1"/>
          <p:nvPr/>
        </p:nvSpPr>
        <p:spPr>
          <a:xfrm>
            <a:off x="4200525" y="2419155"/>
            <a:ext cx="190500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defRPr/>
            </a:pPr>
            <a:r>
              <a:rPr sz="1050" b="1" i="0">
                <a:solidFill>
                  <a:schemeClr val="tx2"/>
                </a:solidFill>
                <a:latin typeface="+mj-lt"/>
              </a:rPr>
              <a:t>Bar: at least $1.0B</a:t>
            </a:r>
          </a:p>
        </p:txBody>
      </p:sp>
      <p:sp>
        <p:nvSpPr>
          <p:cNvPr id="16" name="chart-axis-ready-0"/>
          <p:cNvSpPr txBox="1"/>
          <p:nvPr/>
        </p:nvSpPr>
        <p:spPr>
          <a:xfrm>
            <a:off x="6505575" y="2419155"/>
            <a:ext cx="28575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defRPr/>
            </a:pPr>
            <a:r>
              <a:rPr sz="1050" b="0" i="0">
                <a:solidFill>
                  <a:srgbClr val="5F5E5A"/>
                </a:solidFill>
                <a:latin typeface="+mj-lt"/>
              </a:rPr>
              <a:t>0</a:t>
            </a:r>
          </a:p>
        </p:txBody>
      </p:sp>
      <p:sp>
        <p:nvSpPr>
          <p:cNvPr id="17" name="chart-axis-ready-bar"/>
          <p:cNvSpPr txBox="1"/>
          <p:nvPr/>
        </p:nvSpPr>
        <p:spPr>
          <a:xfrm>
            <a:off x="8982075" y="2419155"/>
            <a:ext cx="112395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defRPr/>
            </a:pPr>
            <a:r>
              <a:rPr sz="1050" b="1" i="0">
                <a:solidFill>
                  <a:schemeClr val="tx2"/>
                </a:solidFill>
                <a:latin typeface="+mj-lt"/>
              </a:rPr>
              <a:t>Bar: at least 3.5</a:t>
            </a:r>
          </a:p>
        </p:txBody>
      </p:sp>
      <p:sp>
        <p:nvSpPr>
          <p:cNvPr id="18" name="row-vietnam"/>
          <p:cNvSpPr/>
          <p:nvPr/>
        </p:nvSpPr>
        <p:spPr>
          <a:xfrm>
            <a:off x="409575" y="2743200"/>
            <a:ext cx="11363325" cy="628650"/>
          </a:xfrm>
          <a:prstGeom prst="rect">
            <a:avLst/>
          </a:prstGeom>
          <a:solidFill>
            <a:srgbClr val="F9D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409575" y="3362325"/>
            <a:ext cx="11363325" cy="9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ripe-vietnam"/>
          <p:cNvSpPr/>
          <p:nvPr/>
        </p:nvSpPr>
        <p:spPr>
          <a:xfrm>
            <a:off x="409575" y="2743200"/>
            <a:ext cx="57150" cy="628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mkt-vietnam"/>
          <p:cNvSpPr txBox="1"/>
          <p:nvPr/>
        </p:nvSpPr>
        <p:spPr>
          <a:xfrm>
            <a:off x="619125" y="2523865"/>
            <a:ext cx="18097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Vietnam</a:t>
            </a:r>
          </a:p>
        </p:txBody>
      </p:sp>
      <p:sp>
        <p:nvSpPr>
          <p:cNvPr id="22" name="chart-bar-size-vietnam"/>
          <p:cNvSpPr/>
          <p:nvPr/>
        </p:nvSpPr>
        <p:spPr>
          <a:xfrm>
            <a:off x="2600325" y="2857500"/>
            <a:ext cx="1828800" cy="171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hart-val-size-vietnam"/>
          <p:cNvSpPr txBox="1"/>
          <p:nvPr/>
        </p:nvSpPr>
        <p:spPr>
          <a:xfrm>
            <a:off x="4505325" y="2771552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$1.2B</a:t>
            </a:r>
          </a:p>
        </p:txBody>
      </p:sp>
      <p:sp>
        <p:nvSpPr>
          <p:cNvPr id="24" name="growth-vietnam"/>
          <p:cNvSpPr txBox="1"/>
          <p:nvPr/>
        </p:nvSpPr>
        <p:spPr>
          <a:xfrm>
            <a:off x="2600325" y="3085877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18% a year</a:t>
            </a:r>
          </a:p>
        </p:txBody>
      </p:sp>
      <p:sp>
        <p:nvSpPr>
          <p:cNvPr id="25" name="chart-bar-ready-vietnam"/>
          <p:cNvSpPr/>
          <p:nvPr/>
        </p:nvSpPr>
        <p:spPr>
          <a:xfrm>
            <a:off x="6505575" y="2857500"/>
            <a:ext cx="2743200" cy="171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hart-val-ready-vietnam"/>
          <p:cNvSpPr txBox="1"/>
          <p:nvPr/>
        </p:nvSpPr>
        <p:spPr>
          <a:xfrm>
            <a:off x="9324975" y="2771552"/>
            <a:ext cx="5715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4.0</a:t>
            </a:r>
          </a:p>
        </p:txBody>
      </p:sp>
      <p:sp>
        <p:nvSpPr>
          <p:cNvPr id="27" name="readysub-vietnam"/>
          <p:cNvSpPr txBox="1"/>
          <p:nvPr/>
        </p:nvSpPr>
        <p:spPr>
          <a:xfrm>
            <a:off x="6505575" y="3085877"/>
            <a:ext cx="35242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Partners 4, distribution 4, rules 4</a:t>
            </a:r>
          </a:p>
        </p:txBody>
      </p:sp>
      <p:sp>
        <p:nvSpPr>
          <p:cNvPr id="28" name="verdict-vietnam"/>
          <p:cNvSpPr txBox="1"/>
          <p:nvPr/>
        </p:nvSpPr>
        <p:spPr>
          <a:xfrm>
            <a:off x="10125075" y="2523865"/>
            <a:ext cx="16192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Yes</a:t>
            </a:r>
          </a:p>
        </p:txBody>
      </p:sp>
      <p:sp>
        <p:nvSpPr>
          <p:cNvPr id="29" name="row-indonesia"/>
          <p:cNvSpPr/>
          <p:nvPr/>
        </p:nvSpPr>
        <p:spPr>
          <a:xfrm>
            <a:off x="409575" y="3371850"/>
            <a:ext cx="11363325" cy="628650"/>
          </a:xfrm>
          <a:prstGeom prst="rect">
            <a:avLst/>
          </a:prstGeom>
          <a:solidFill>
            <a:srgbClr val="F9D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ectangle 29"/>
          <p:cNvSpPr/>
          <p:nvPr/>
        </p:nvSpPr>
        <p:spPr>
          <a:xfrm>
            <a:off x="409575" y="3990975"/>
            <a:ext cx="11363325" cy="9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ripe-indonesia"/>
          <p:cNvSpPr/>
          <p:nvPr/>
        </p:nvSpPr>
        <p:spPr>
          <a:xfrm>
            <a:off x="409575" y="3371850"/>
            <a:ext cx="57150" cy="628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mkt-indonesia"/>
          <p:cNvSpPr txBox="1"/>
          <p:nvPr/>
        </p:nvSpPr>
        <p:spPr>
          <a:xfrm>
            <a:off x="619125" y="3152515"/>
            <a:ext cx="18097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Indonesia</a:t>
            </a:r>
          </a:p>
        </p:txBody>
      </p:sp>
      <p:sp>
        <p:nvSpPr>
          <p:cNvPr id="33" name="chart-bar-size-indonesia"/>
          <p:cNvSpPr/>
          <p:nvPr/>
        </p:nvSpPr>
        <p:spPr>
          <a:xfrm>
            <a:off x="2600325" y="3486150"/>
            <a:ext cx="1981200" cy="171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hart-val-size-indonesia"/>
          <p:cNvSpPr txBox="1"/>
          <p:nvPr/>
        </p:nvSpPr>
        <p:spPr>
          <a:xfrm>
            <a:off x="4657725" y="3400202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$1.3B</a:t>
            </a:r>
          </a:p>
        </p:txBody>
      </p:sp>
      <p:sp>
        <p:nvSpPr>
          <p:cNvPr id="35" name="growth-indonesia"/>
          <p:cNvSpPr txBox="1"/>
          <p:nvPr/>
        </p:nvSpPr>
        <p:spPr>
          <a:xfrm>
            <a:off x="2600325" y="3714527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15% a year</a:t>
            </a:r>
          </a:p>
        </p:txBody>
      </p:sp>
      <p:sp>
        <p:nvSpPr>
          <p:cNvPr id="36" name="chart-bar-ready-indonesia"/>
          <p:cNvSpPr/>
          <p:nvPr/>
        </p:nvSpPr>
        <p:spPr>
          <a:xfrm>
            <a:off x="6505575" y="3486150"/>
            <a:ext cx="2533650" cy="171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hart-val-ready-indonesia"/>
          <p:cNvSpPr txBox="1"/>
          <p:nvPr/>
        </p:nvSpPr>
        <p:spPr>
          <a:xfrm>
            <a:off x="9115425" y="3400202"/>
            <a:ext cx="5715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3.7</a:t>
            </a:r>
          </a:p>
        </p:txBody>
      </p:sp>
      <p:sp>
        <p:nvSpPr>
          <p:cNvPr id="38" name="readysub-indonesia"/>
          <p:cNvSpPr txBox="1"/>
          <p:nvPr/>
        </p:nvSpPr>
        <p:spPr>
          <a:xfrm>
            <a:off x="6505575" y="3714527"/>
            <a:ext cx="35242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Partners 4, distribution 4, rules 3</a:t>
            </a:r>
          </a:p>
        </p:txBody>
      </p:sp>
      <p:sp>
        <p:nvSpPr>
          <p:cNvPr id="39" name="verdict-indonesia"/>
          <p:cNvSpPr txBox="1"/>
          <p:nvPr/>
        </p:nvSpPr>
        <p:spPr>
          <a:xfrm>
            <a:off x="10125075" y="3152515"/>
            <a:ext cx="16192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Yes</a:t>
            </a:r>
          </a:p>
        </p:txBody>
      </p:sp>
      <p:sp>
        <p:nvSpPr>
          <p:cNvPr id="40" name="row-thailand"/>
          <p:cNvSpPr/>
          <p:nvPr/>
        </p:nvSpPr>
        <p:spPr>
          <a:xfrm>
            <a:off x="409575" y="4000500"/>
            <a:ext cx="11363325" cy="628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ectangle 40"/>
          <p:cNvSpPr/>
          <p:nvPr/>
        </p:nvSpPr>
        <p:spPr>
          <a:xfrm>
            <a:off x="409575" y="4619625"/>
            <a:ext cx="11363325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mkt-thailand"/>
          <p:cNvSpPr txBox="1"/>
          <p:nvPr/>
        </p:nvSpPr>
        <p:spPr>
          <a:xfrm>
            <a:off x="619125" y="3781165"/>
            <a:ext cx="18097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Thailand</a:t>
            </a:r>
          </a:p>
        </p:txBody>
      </p:sp>
      <p:sp>
        <p:nvSpPr>
          <p:cNvPr id="66" name="chart-bar-size-thailand"/>
          <p:cNvSpPr/>
          <p:nvPr/>
        </p:nvSpPr>
        <p:spPr>
          <a:xfrm>
            <a:off x="2600325" y="4114800"/>
            <a:ext cx="1219200" cy="171450"/>
          </a:xfrm>
          <a:prstGeom prst="rect">
            <a:avLst/>
          </a:prstGeom>
          <a:solidFill>
            <a:srgbClr val="C5D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hart-val-size-thailand"/>
          <p:cNvSpPr txBox="1"/>
          <p:nvPr/>
        </p:nvSpPr>
        <p:spPr>
          <a:xfrm>
            <a:off x="3324225" y="4028852"/>
            <a:ext cx="4572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$0.8B</a:t>
            </a:r>
          </a:p>
        </p:txBody>
      </p:sp>
      <p:sp>
        <p:nvSpPr>
          <p:cNvPr id="44" name="growth-thailand"/>
          <p:cNvSpPr txBox="1"/>
          <p:nvPr/>
        </p:nvSpPr>
        <p:spPr>
          <a:xfrm>
            <a:off x="2600325" y="4343177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6% a year</a:t>
            </a:r>
          </a:p>
        </p:txBody>
      </p:sp>
      <p:sp>
        <p:nvSpPr>
          <p:cNvPr id="45" name="chart-bar-ready-thailand"/>
          <p:cNvSpPr/>
          <p:nvPr/>
        </p:nvSpPr>
        <p:spPr>
          <a:xfrm>
            <a:off x="6505575" y="4114800"/>
            <a:ext cx="2743200" cy="171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hart-val-ready-thailand"/>
          <p:cNvSpPr txBox="1"/>
          <p:nvPr/>
        </p:nvSpPr>
        <p:spPr>
          <a:xfrm>
            <a:off x="9324975" y="4028852"/>
            <a:ext cx="5715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4.0</a:t>
            </a:r>
          </a:p>
        </p:txBody>
      </p:sp>
      <p:sp>
        <p:nvSpPr>
          <p:cNvPr id="47" name="verdict-thailand"/>
          <p:cNvSpPr txBox="1"/>
          <p:nvPr/>
        </p:nvSpPr>
        <p:spPr>
          <a:xfrm>
            <a:off x="10125075" y="3762152"/>
            <a:ext cx="16192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No, fails on size</a:t>
            </a:r>
          </a:p>
        </p:txBody>
      </p:sp>
      <p:sp>
        <p:nvSpPr>
          <p:cNvPr id="48" name="row-philippines"/>
          <p:cNvSpPr/>
          <p:nvPr/>
        </p:nvSpPr>
        <p:spPr>
          <a:xfrm>
            <a:off x="409575" y="4629150"/>
            <a:ext cx="11363325" cy="628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ectangle 48"/>
          <p:cNvSpPr/>
          <p:nvPr/>
        </p:nvSpPr>
        <p:spPr>
          <a:xfrm>
            <a:off x="409575" y="5248275"/>
            <a:ext cx="11363325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mkt-philippines"/>
          <p:cNvSpPr txBox="1"/>
          <p:nvPr/>
        </p:nvSpPr>
        <p:spPr>
          <a:xfrm>
            <a:off x="619125" y="4409815"/>
            <a:ext cx="18097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Philippines</a:t>
            </a:r>
          </a:p>
        </p:txBody>
      </p:sp>
      <p:sp>
        <p:nvSpPr>
          <p:cNvPr id="51" name="chart-bar-size-philippines"/>
          <p:cNvSpPr/>
          <p:nvPr/>
        </p:nvSpPr>
        <p:spPr>
          <a:xfrm>
            <a:off x="2600325" y="4857750"/>
            <a:ext cx="762000" cy="171450"/>
          </a:xfrm>
          <a:prstGeom prst="rect">
            <a:avLst/>
          </a:prstGeom>
          <a:solidFill>
            <a:srgbClr val="C5D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hart-val-size-philippines"/>
          <p:cNvSpPr txBox="1"/>
          <p:nvPr/>
        </p:nvSpPr>
        <p:spPr>
          <a:xfrm>
            <a:off x="3438525" y="4771802"/>
            <a:ext cx="5715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$0.5B</a:t>
            </a:r>
          </a:p>
        </p:txBody>
      </p:sp>
      <p:sp>
        <p:nvSpPr>
          <p:cNvPr id="53" name="chart-bar-ready-philippines"/>
          <p:cNvSpPr/>
          <p:nvPr/>
        </p:nvSpPr>
        <p:spPr>
          <a:xfrm>
            <a:off x="6505575" y="4857750"/>
            <a:ext cx="1847850" cy="171450"/>
          </a:xfrm>
          <a:prstGeom prst="rect">
            <a:avLst/>
          </a:prstGeom>
          <a:solidFill>
            <a:srgbClr val="C5D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hart-val-ready-philippines"/>
          <p:cNvSpPr txBox="1"/>
          <p:nvPr/>
        </p:nvSpPr>
        <p:spPr>
          <a:xfrm>
            <a:off x="8429625" y="4771802"/>
            <a:ext cx="32385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2.7</a:t>
            </a:r>
          </a:p>
        </p:txBody>
      </p:sp>
      <p:sp>
        <p:nvSpPr>
          <p:cNvPr id="55" name="verdict-philippines"/>
          <p:cNvSpPr txBox="1"/>
          <p:nvPr/>
        </p:nvSpPr>
        <p:spPr>
          <a:xfrm>
            <a:off x="10125075" y="4390802"/>
            <a:ext cx="16192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No, fails both</a:t>
            </a:r>
          </a:p>
        </p:txBody>
      </p:sp>
      <p:sp>
        <p:nvSpPr>
          <p:cNvPr id="56" name="row-malaysia"/>
          <p:cNvSpPr/>
          <p:nvPr/>
        </p:nvSpPr>
        <p:spPr>
          <a:xfrm>
            <a:off x="409575" y="5257800"/>
            <a:ext cx="11363325" cy="628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ectangle 56"/>
          <p:cNvSpPr/>
          <p:nvPr/>
        </p:nvSpPr>
        <p:spPr>
          <a:xfrm>
            <a:off x="409575" y="5876925"/>
            <a:ext cx="11363325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mkt-malaysia"/>
          <p:cNvSpPr txBox="1"/>
          <p:nvPr/>
        </p:nvSpPr>
        <p:spPr>
          <a:xfrm>
            <a:off x="619125" y="5038465"/>
            <a:ext cx="18097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Malaysia</a:t>
            </a:r>
          </a:p>
        </p:txBody>
      </p:sp>
      <p:sp>
        <p:nvSpPr>
          <p:cNvPr id="59" name="chart-bar-size-malaysia"/>
          <p:cNvSpPr/>
          <p:nvPr/>
        </p:nvSpPr>
        <p:spPr>
          <a:xfrm>
            <a:off x="2600325" y="5486400"/>
            <a:ext cx="609600" cy="171450"/>
          </a:xfrm>
          <a:prstGeom prst="rect">
            <a:avLst/>
          </a:prstGeom>
          <a:solidFill>
            <a:srgbClr val="C5D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hart-val-size-malaysia"/>
          <p:cNvSpPr txBox="1"/>
          <p:nvPr/>
        </p:nvSpPr>
        <p:spPr>
          <a:xfrm>
            <a:off x="3286125" y="5400452"/>
            <a:ext cx="5715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$0.4B</a:t>
            </a:r>
          </a:p>
        </p:txBody>
      </p:sp>
      <p:sp>
        <p:nvSpPr>
          <p:cNvPr id="67" name="chart-bar-ready-malaysia"/>
          <p:cNvSpPr/>
          <p:nvPr/>
        </p:nvSpPr>
        <p:spPr>
          <a:xfrm>
            <a:off x="6505575" y="5486400"/>
            <a:ext cx="2266950" cy="171450"/>
          </a:xfrm>
          <a:prstGeom prst="rect">
            <a:avLst/>
          </a:prstGeom>
          <a:solidFill>
            <a:srgbClr val="C5D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hart-val-ready-malaysia"/>
          <p:cNvSpPr txBox="1"/>
          <p:nvPr/>
        </p:nvSpPr>
        <p:spPr>
          <a:xfrm>
            <a:off x="8410575" y="5400452"/>
            <a:ext cx="32385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950"/>
              </a:lnSpc>
              <a:defRPr/>
            </a:pPr>
            <a:r>
              <a:rPr sz="1200" b="1" i="0">
                <a:solidFill>
                  <a:srgbClr val="1A1A1A"/>
                </a:solidFill>
                <a:latin typeface="+mj-lt"/>
              </a:rPr>
              <a:t>3.3</a:t>
            </a:r>
          </a:p>
        </p:txBody>
      </p:sp>
      <p:sp>
        <p:nvSpPr>
          <p:cNvPr id="62" name="verdict-malaysia"/>
          <p:cNvSpPr txBox="1"/>
          <p:nvPr/>
        </p:nvSpPr>
        <p:spPr>
          <a:xfrm>
            <a:off x="10125075" y="5019452"/>
            <a:ext cx="161925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No, fails both</a:t>
            </a:r>
          </a:p>
        </p:txBody>
      </p:sp>
      <p:sp>
        <p:nvSpPr>
          <p:cNvPr id="63" name="chart-bar-line-size"/>
          <p:cNvSpPr/>
          <p:nvPr/>
        </p:nvSpPr>
        <p:spPr>
          <a:xfrm>
            <a:off x="4114800" y="2476500"/>
            <a:ext cx="19050" cy="34099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hart-bar-line-ready"/>
          <p:cNvSpPr/>
          <p:nvPr/>
        </p:nvSpPr>
        <p:spPr>
          <a:xfrm>
            <a:off x="8896350" y="2476500"/>
            <a:ext cx="19050" cy="34099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note-readiness"/>
          <p:cNvSpPr txBox="1"/>
          <p:nvPr/>
        </p:nvSpPr>
        <p:spPr>
          <a:xfrm>
            <a:off x="409575" y="6000527"/>
            <a:ext cx="11363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Readiness scores partners, distribution and rules for foreign brands, each out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8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Vietnam passes Thailand in 2027 and the gap keeps widening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5</a:t>
            </a:r>
            <a:endParaRPr lang="en-US"/>
          </a:p>
        </p:txBody>
      </p:sp>
      <p:sp>
        <p:nvSpPr>
          <p:cNvPr id="75" name="subtitle"/>
          <p:cNvSpPr txBox="1"/>
          <p:nvPr/>
        </p:nvSpPr>
        <p:spPr>
          <a:xfrm>
            <a:off x="409575" y="1307209"/>
            <a:ext cx="11363325" cy="2831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Choosing by today's market size picks the wrong country; by 2030 Vietnam is 1.5 times Thailand</a:t>
            </a:r>
          </a:p>
        </p:txBody>
      </p:sp>
      <p:cxnSp>
        <p:nvCxnSpPr>
          <p:cNvPr id="79" name="Connector 2"/>
          <p:cNvCxnSpPr/>
          <p:nvPr/>
        </p:nvCxnSpPr>
        <p:spPr>
          <a:xfrm>
            <a:off x="1047750" y="5619750"/>
            <a:ext cx="6191250" cy="0"/>
          </a:xfrm>
          <a:prstGeom prst="line">
            <a:avLst/>
          </a:prstGeom>
          <a:ln w="14288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47750" y="5156835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4"/>
          <p:cNvCxnSpPr/>
          <p:nvPr/>
        </p:nvCxnSpPr>
        <p:spPr>
          <a:xfrm>
            <a:off x="1047750" y="4694872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5"/>
          <p:cNvCxnSpPr/>
          <p:nvPr/>
        </p:nvCxnSpPr>
        <p:spPr>
          <a:xfrm>
            <a:off x="1047750" y="4231958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47750" y="3769042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47750" y="3306128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7750" y="2844165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7750" y="2381250"/>
            <a:ext cx="6191250" cy="0"/>
          </a:xfrm>
          <a:prstGeom prst="line">
            <a:avLst/>
          </a:prstGeom>
          <a:ln w="9525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1428750" y="3769042"/>
            <a:ext cx="5143500" cy="545783"/>
          </a:xfrm>
          <a:custGeom>
            <a:avLst/>
            <a:gdLst/>
            <a:ahLst/>
            <a:cxnLst/>
            <a:rect l="l" t="t" r="r" b="b"/>
            <a:pathLst>
              <a:path w="5143500" h="545783">
                <a:moveTo>
                  <a:pt x="0" y="545783"/>
                </a:moveTo>
                <a:lnTo>
                  <a:pt x="857250" y="467678"/>
                </a:lnTo>
                <a:lnTo>
                  <a:pt x="1714500" y="383858"/>
                </a:lnTo>
                <a:lnTo>
                  <a:pt x="2571750" y="296228"/>
                </a:lnTo>
                <a:lnTo>
                  <a:pt x="3429000" y="203836"/>
                </a:lnTo>
                <a:lnTo>
                  <a:pt x="4286250" y="103823"/>
                </a:lnTo>
                <a:lnTo>
                  <a:pt x="5143500" y="0"/>
                </a:lnTo>
              </a:path>
            </a:pathLst>
          </a:custGeom>
          <a:noFill/>
          <a:ln w="28575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Freeform 11"/>
          <p:cNvSpPr/>
          <p:nvPr/>
        </p:nvSpPr>
        <p:spPr>
          <a:xfrm>
            <a:off x="1428750" y="2844165"/>
            <a:ext cx="5143500" cy="1748790"/>
          </a:xfrm>
          <a:custGeom>
            <a:avLst/>
            <a:gdLst/>
            <a:ahLst/>
            <a:cxnLst/>
            <a:rect l="l" t="t" r="r" b="b"/>
            <a:pathLst>
              <a:path w="5143500" h="1748790">
                <a:moveTo>
                  <a:pt x="0" y="1748790"/>
                </a:moveTo>
                <a:lnTo>
                  <a:pt x="857250" y="1563053"/>
                </a:lnTo>
                <a:lnTo>
                  <a:pt x="1714500" y="1345883"/>
                </a:lnTo>
                <a:lnTo>
                  <a:pt x="2571750" y="1089660"/>
                </a:lnTo>
                <a:lnTo>
                  <a:pt x="3429000" y="783907"/>
                </a:lnTo>
                <a:lnTo>
                  <a:pt x="4286250" y="425767"/>
                </a:lnTo>
                <a:lnTo>
                  <a:pt x="5143500" y="0"/>
                </a:lnTo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Oval 12"/>
          <p:cNvSpPr/>
          <p:nvPr/>
        </p:nvSpPr>
        <p:spPr>
          <a:xfrm>
            <a:off x="1390650" y="4276725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Oval 13"/>
          <p:cNvSpPr/>
          <p:nvPr/>
        </p:nvSpPr>
        <p:spPr>
          <a:xfrm>
            <a:off x="2247900" y="4198620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Oval 14"/>
          <p:cNvSpPr/>
          <p:nvPr/>
        </p:nvSpPr>
        <p:spPr>
          <a:xfrm>
            <a:off x="3105150" y="4114800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Oval 15"/>
          <p:cNvSpPr/>
          <p:nvPr/>
        </p:nvSpPr>
        <p:spPr>
          <a:xfrm>
            <a:off x="3962400" y="4027170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Oval 16"/>
          <p:cNvSpPr/>
          <p:nvPr/>
        </p:nvSpPr>
        <p:spPr>
          <a:xfrm>
            <a:off x="4819650" y="3934778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Oval 17"/>
          <p:cNvSpPr/>
          <p:nvPr/>
        </p:nvSpPr>
        <p:spPr>
          <a:xfrm>
            <a:off x="5676900" y="3834765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Oval 18"/>
          <p:cNvSpPr/>
          <p:nvPr/>
        </p:nvSpPr>
        <p:spPr>
          <a:xfrm>
            <a:off x="6534150" y="3730942"/>
            <a:ext cx="76200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Oval 19"/>
          <p:cNvSpPr/>
          <p:nvPr/>
        </p:nvSpPr>
        <p:spPr>
          <a:xfrm>
            <a:off x="1385888" y="4550092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Oval 20"/>
          <p:cNvSpPr/>
          <p:nvPr/>
        </p:nvSpPr>
        <p:spPr>
          <a:xfrm>
            <a:off x="2243138" y="4364355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Oval 21"/>
          <p:cNvSpPr/>
          <p:nvPr/>
        </p:nvSpPr>
        <p:spPr>
          <a:xfrm>
            <a:off x="3100388" y="4147185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Oval 22"/>
          <p:cNvSpPr/>
          <p:nvPr/>
        </p:nvSpPr>
        <p:spPr>
          <a:xfrm>
            <a:off x="3957638" y="3890962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Oval 23"/>
          <p:cNvSpPr/>
          <p:nvPr/>
        </p:nvSpPr>
        <p:spPr>
          <a:xfrm>
            <a:off x="4814888" y="3585210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Oval 24"/>
          <p:cNvSpPr/>
          <p:nvPr/>
        </p:nvSpPr>
        <p:spPr>
          <a:xfrm>
            <a:off x="5672138" y="3227070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Oval 25"/>
          <p:cNvSpPr/>
          <p:nvPr/>
        </p:nvSpPr>
        <p:spPr>
          <a:xfrm>
            <a:off x="6529388" y="2801302"/>
            <a:ext cx="85725" cy="85725"/>
          </a:xfrm>
          <a:prstGeom prst="ellipse">
            <a:avLst/>
          </a:prstGeom>
          <a:solidFill>
            <a:schemeClr val="bg1"/>
          </a:solidFill>
          <a:ln w="23812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27" name="Connector 26"/>
          <p:cNvCxnSpPr/>
          <p:nvPr/>
        </p:nvCxnSpPr>
        <p:spPr>
          <a:xfrm flipV="1">
            <a:off x="3330892" y="2571750"/>
            <a:ext cx="0" cy="1447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245168" y="4048125"/>
            <a:ext cx="171450" cy="1714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hart-axis-title"/>
          <p:cNvSpPr txBox="1"/>
          <p:nvPr/>
        </p:nvSpPr>
        <p:spPr>
          <a:xfrm>
            <a:off x="409575" y="1861004"/>
            <a:ext cx="95651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defRPr/>
            </a:pPr>
            <a:r>
              <a:rPr sz="1000" b="1" i="0">
                <a:solidFill>
                  <a:srgbClr val="1A1A1A"/>
                </a:solidFill>
                <a:latin typeface="+mj-lt"/>
              </a:rPr>
              <a:t>Market size ($M)</a:t>
            </a:r>
          </a:p>
        </p:txBody>
      </p:sp>
      <p:sp>
        <p:nvSpPr>
          <p:cNvPr id="30" name="chart-ylab-0"/>
          <p:cNvSpPr txBox="1"/>
          <p:nvPr/>
        </p:nvSpPr>
        <p:spPr>
          <a:xfrm>
            <a:off x="381000" y="5537654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0</a:t>
            </a:r>
          </a:p>
        </p:txBody>
      </p:sp>
      <p:sp>
        <p:nvSpPr>
          <p:cNvPr id="31" name="chart-ylab-200"/>
          <p:cNvSpPr txBox="1"/>
          <p:nvPr/>
        </p:nvSpPr>
        <p:spPr>
          <a:xfrm>
            <a:off x="381000" y="5074649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200</a:t>
            </a:r>
          </a:p>
        </p:txBody>
      </p:sp>
      <p:sp>
        <p:nvSpPr>
          <p:cNvPr id="32" name="chart-ylab-400"/>
          <p:cNvSpPr txBox="1"/>
          <p:nvPr/>
        </p:nvSpPr>
        <p:spPr>
          <a:xfrm>
            <a:off x="381000" y="4612687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400</a:t>
            </a:r>
          </a:p>
        </p:txBody>
      </p:sp>
      <p:sp>
        <p:nvSpPr>
          <p:cNvPr id="33" name="chart-ylab-600"/>
          <p:cNvSpPr txBox="1"/>
          <p:nvPr/>
        </p:nvSpPr>
        <p:spPr>
          <a:xfrm>
            <a:off x="381000" y="4149831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600</a:t>
            </a:r>
          </a:p>
        </p:txBody>
      </p:sp>
      <p:sp>
        <p:nvSpPr>
          <p:cNvPr id="34" name="chart-ylab-800"/>
          <p:cNvSpPr txBox="1"/>
          <p:nvPr/>
        </p:nvSpPr>
        <p:spPr>
          <a:xfrm>
            <a:off x="381000" y="3686827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800</a:t>
            </a:r>
          </a:p>
        </p:txBody>
      </p:sp>
      <p:sp>
        <p:nvSpPr>
          <p:cNvPr id="35" name="chart-ylab-1000"/>
          <p:cNvSpPr txBox="1"/>
          <p:nvPr/>
        </p:nvSpPr>
        <p:spPr>
          <a:xfrm>
            <a:off x="381000" y="3223972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1,000</a:t>
            </a:r>
          </a:p>
        </p:txBody>
      </p:sp>
      <p:sp>
        <p:nvSpPr>
          <p:cNvPr id="36" name="chart-ylab-1200"/>
          <p:cNvSpPr txBox="1"/>
          <p:nvPr/>
        </p:nvSpPr>
        <p:spPr>
          <a:xfrm>
            <a:off x="381000" y="2762009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1,200</a:t>
            </a:r>
          </a:p>
        </p:txBody>
      </p:sp>
      <p:sp>
        <p:nvSpPr>
          <p:cNvPr id="37" name="chart-ylab-1400"/>
          <p:cNvSpPr txBox="1"/>
          <p:nvPr/>
        </p:nvSpPr>
        <p:spPr>
          <a:xfrm>
            <a:off x="381000" y="2299154"/>
            <a:ext cx="57150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1,400</a:t>
            </a:r>
          </a:p>
        </p:txBody>
      </p:sp>
      <p:sp>
        <p:nvSpPr>
          <p:cNvPr id="38" name="chart-xlab-2024"/>
          <p:cNvSpPr txBox="1"/>
          <p:nvPr/>
        </p:nvSpPr>
        <p:spPr>
          <a:xfrm>
            <a:off x="119062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2024</a:t>
            </a:r>
          </a:p>
        </p:txBody>
      </p:sp>
      <p:sp>
        <p:nvSpPr>
          <p:cNvPr id="39" name="chart-xlab-2025"/>
          <p:cNvSpPr txBox="1"/>
          <p:nvPr/>
        </p:nvSpPr>
        <p:spPr>
          <a:xfrm>
            <a:off x="204787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2025</a:t>
            </a:r>
          </a:p>
        </p:txBody>
      </p:sp>
      <p:sp>
        <p:nvSpPr>
          <p:cNvPr id="40" name="chart-xlab-2026"/>
          <p:cNvSpPr txBox="1"/>
          <p:nvPr/>
        </p:nvSpPr>
        <p:spPr>
          <a:xfrm>
            <a:off x="290512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2026</a:t>
            </a:r>
          </a:p>
        </p:txBody>
      </p:sp>
      <p:sp>
        <p:nvSpPr>
          <p:cNvPr id="41" name="chart-xlab-2027"/>
          <p:cNvSpPr txBox="1"/>
          <p:nvPr/>
        </p:nvSpPr>
        <p:spPr>
          <a:xfrm>
            <a:off x="376237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2027</a:t>
            </a:r>
          </a:p>
        </p:txBody>
      </p:sp>
      <p:sp>
        <p:nvSpPr>
          <p:cNvPr id="42" name="chart-xlab-2028"/>
          <p:cNvSpPr txBox="1"/>
          <p:nvPr/>
        </p:nvSpPr>
        <p:spPr>
          <a:xfrm>
            <a:off x="461962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2028</a:t>
            </a:r>
          </a:p>
        </p:txBody>
      </p:sp>
      <p:sp>
        <p:nvSpPr>
          <p:cNvPr id="43" name="chart-xlab-2029"/>
          <p:cNvSpPr txBox="1"/>
          <p:nvPr/>
        </p:nvSpPr>
        <p:spPr>
          <a:xfrm>
            <a:off x="547687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2029</a:t>
            </a:r>
          </a:p>
        </p:txBody>
      </p:sp>
      <p:sp>
        <p:nvSpPr>
          <p:cNvPr id="44" name="chart-xlab-2030"/>
          <p:cNvSpPr txBox="1"/>
          <p:nvPr/>
        </p:nvSpPr>
        <p:spPr>
          <a:xfrm>
            <a:off x="6334125" y="5709104"/>
            <a:ext cx="47610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2030</a:t>
            </a:r>
          </a:p>
        </p:txBody>
      </p:sp>
      <p:sp>
        <p:nvSpPr>
          <p:cNvPr id="45" name="chart-legend-vn-key"/>
          <p:cNvSpPr/>
          <p:nvPr/>
        </p:nvSpPr>
        <p:spPr>
          <a:xfrm>
            <a:off x="5334000" y="1933575"/>
            <a:ext cx="247650" cy="381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hart-legend-vn"/>
          <p:cNvSpPr txBox="1"/>
          <p:nvPr/>
        </p:nvSpPr>
        <p:spPr>
          <a:xfrm>
            <a:off x="5638800" y="1861004"/>
            <a:ext cx="45214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defRPr/>
            </a:pPr>
            <a:r>
              <a:rPr sz="1000" b="0" i="0">
                <a:solidFill>
                  <a:srgbClr val="1A1A1A"/>
                </a:solidFill>
                <a:latin typeface="+mj-lt"/>
              </a:rPr>
              <a:t>Vietnam</a:t>
            </a:r>
          </a:p>
        </p:txBody>
      </p:sp>
      <p:sp>
        <p:nvSpPr>
          <p:cNvPr id="47" name="chart-legend-th-key"/>
          <p:cNvSpPr/>
          <p:nvPr/>
        </p:nvSpPr>
        <p:spPr>
          <a:xfrm>
            <a:off x="6334125" y="1933575"/>
            <a:ext cx="247650" cy="2857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hart-legend-th"/>
          <p:cNvSpPr txBox="1"/>
          <p:nvPr/>
        </p:nvSpPr>
        <p:spPr>
          <a:xfrm>
            <a:off x="6638925" y="1861004"/>
            <a:ext cx="47505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defRPr/>
            </a:pPr>
            <a:r>
              <a:rPr sz="1000" b="0" i="0">
                <a:solidFill>
                  <a:srgbClr val="1A1A1A"/>
                </a:solidFill>
                <a:latin typeface="+mj-lt"/>
              </a:rPr>
              <a:t>Thailand</a:t>
            </a:r>
          </a:p>
        </p:txBody>
      </p:sp>
      <p:sp>
        <p:nvSpPr>
          <p:cNvPr id="49" name="chart-val-vn-2024"/>
          <p:cNvSpPr txBox="1"/>
          <p:nvPr/>
        </p:nvSpPr>
        <p:spPr>
          <a:xfrm>
            <a:off x="1143000" y="4680271"/>
            <a:ext cx="407789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defRPr/>
            </a:pPr>
            <a:r>
              <a:rPr sz="1050" b="1" i="0">
                <a:solidFill>
                  <a:schemeClr val="tx2"/>
                </a:solidFill>
                <a:latin typeface="+mj-lt"/>
              </a:rPr>
              <a:t>$444M</a:t>
            </a:r>
          </a:p>
        </p:txBody>
      </p:sp>
      <p:sp>
        <p:nvSpPr>
          <p:cNvPr id="50" name="chart-val-th-2024"/>
          <p:cNvSpPr txBox="1"/>
          <p:nvPr/>
        </p:nvSpPr>
        <p:spPr>
          <a:xfrm>
            <a:off x="1143000" y="4021260"/>
            <a:ext cx="407789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defRPr/>
            </a:pPr>
            <a:r>
              <a:rPr sz="1050" b="1" i="0">
                <a:solidFill>
                  <a:srgbClr val="5F5E5A"/>
                </a:solidFill>
                <a:latin typeface="+mj-lt"/>
              </a:rPr>
              <a:t>$564M</a:t>
            </a:r>
          </a:p>
        </p:txBody>
      </p:sp>
      <p:sp>
        <p:nvSpPr>
          <p:cNvPr id="51" name="chart-val-vn-2027"/>
          <p:cNvSpPr txBox="1"/>
          <p:nvPr/>
        </p:nvSpPr>
        <p:spPr>
          <a:xfrm>
            <a:off x="3829050" y="3659310"/>
            <a:ext cx="407789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defRPr/>
            </a:pPr>
            <a:r>
              <a:rPr sz="1050" b="1" i="0">
                <a:solidFill>
                  <a:schemeClr val="tx2"/>
                </a:solidFill>
                <a:latin typeface="+mj-lt"/>
              </a:rPr>
              <a:t>$729M</a:t>
            </a:r>
          </a:p>
        </p:txBody>
      </p:sp>
      <p:sp>
        <p:nvSpPr>
          <p:cNvPr id="52" name="chart-val-th-2027"/>
          <p:cNvSpPr txBox="1"/>
          <p:nvPr/>
        </p:nvSpPr>
        <p:spPr>
          <a:xfrm>
            <a:off x="3924300" y="4152675"/>
            <a:ext cx="407789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defRPr/>
            </a:pPr>
            <a:r>
              <a:rPr sz="1050" b="1" i="0">
                <a:solidFill>
                  <a:srgbClr val="5F5E5A"/>
                </a:solidFill>
                <a:latin typeface="+mj-lt"/>
              </a:rPr>
              <a:t>$672M</a:t>
            </a:r>
          </a:p>
        </p:txBody>
      </p:sp>
      <p:sp>
        <p:nvSpPr>
          <p:cNvPr id="53" name="chart-val-vn-2030"/>
          <p:cNvSpPr txBox="1"/>
          <p:nvPr/>
        </p:nvSpPr>
        <p:spPr>
          <a:xfrm>
            <a:off x="6686550" y="2750565"/>
            <a:ext cx="518964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defRPr/>
            </a:pPr>
            <a:r>
              <a:rPr sz="1050" b="1" i="0">
                <a:solidFill>
                  <a:schemeClr val="tx2"/>
                </a:solidFill>
                <a:latin typeface="+mj-lt"/>
              </a:rPr>
              <a:t>$1,200M</a:t>
            </a:r>
          </a:p>
        </p:txBody>
      </p:sp>
      <p:sp>
        <p:nvSpPr>
          <p:cNvPr id="54" name="chart-val-th-2030"/>
          <p:cNvSpPr txBox="1"/>
          <p:nvPr/>
        </p:nvSpPr>
        <p:spPr>
          <a:xfrm>
            <a:off x="6686550" y="3675383"/>
            <a:ext cx="407789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defRPr/>
            </a:pPr>
            <a:r>
              <a:rPr sz="1050" b="1" i="0">
                <a:solidFill>
                  <a:srgbClr val="5F5E5A"/>
                </a:solidFill>
                <a:latin typeface="+mj-lt"/>
              </a:rPr>
              <a:t>$800M</a:t>
            </a:r>
          </a:p>
        </p:txBody>
      </p:sp>
      <p:sp>
        <p:nvSpPr>
          <p:cNvPr id="55" name="chart-crossover-label"/>
          <p:cNvSpPr txBox="1"/>
          <p:nvPr/>
        </p:nvSpPr>
        <p:spPr>
          <a:xfrm>
            <a:off x="2568773" y="2316285"/>
            <a:ext cx="15240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Crossover in 2027</a:t>
            </a:r>
          </a:p>
        </p:txBody>
      </p:sp>
      <p:sp>
        <p:nvSpPr>
          <p:cNvPr id="56" name="rail-rule"/>
          <p:cNvSpPr/>
          <p:nvPr/>
        </p:nvSpPr>
        <p:spPr>
          <a:xfrm>
            <a:off x="7772400" y="1866900"/>
            <a:ext cx="9525" cy="443865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ev-marker-1"/>
          <p:cNvSpPr/>
          <p:nvPr/>
        </p:nvSpPr>
        <p:spPr>
          <a:xfrm>
            <a:off x="8001000" y="1885950"/>
            <a:ext cx="533400" cy="247650"/>
          </a:xfrm>
          <a:prstGeom prst="roundRect">
            <a:avLst>
              <a:gd name="adj" fmla="val 15384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ev-marker-1"/>
          <p:cNvSpPr txBox="1"/>
          <p:nvPr/>
        </p:nvSpPr>
        <p:spPr>
          <a:xfrm>
            <a:off x="8001000" y="1838102"/>
            <a:ext cx="5334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2024</a:t>
            </a:r>
          </a:p>
        </p:txBody>
      </p:sp>
      <p:sp>
        <p:nvSpPr>
          <p:cNvPr id="59" name="ev-head-1"/>
          <p:cNvSpPr txBox="1"/>
          <p:nvPr/>
        </p:nvSpPr>
        <p:spPr>
          <a:xfrm>
            <a:off x="8667750" y="1902872"/>
            <a:ext cx="1991916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THAILAND LEADS TODAY</a:t>
            </a:r>
          </a:p>
        </p:txBody>
      </p:sp>
      <p:sp>
        <p:nvSpPr>
          <p:cNvPr id="60" name="ev-text-1"/>
          <p:cNvSpPr txBox="1"/>
          <p:nvPr/>
        </p:nvSpPr>
        <p:spPr>
          <a:xfrm>
            <a:off x="8001000" y="2203862"/>
            <a:ext cx="3781425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In 2024 Thailand is the larger market, $564M against Vietnam's $444M</a:t>
            </a:r>
          </a:p>
        </p:txBody>
      </p:sp>
      <p:sp>
        <p:nvSpPr>
          <p:cNvPr id="61" name="ev-divider-1"/>
          <p:cNvSpPr/>
          <p:nvPr/>
        </p:nvSpPr>
        <p:spPr>
          <a:xfrm>
            <a:off x="8001000" y="2781300"/>
            <a:ext cx="3781425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ev-marker-2"/>
          <p:cNvSpPr/>
          <p:nvPr/>
        </p:nvSpPr>
        <p:spPr>
          <a:xfrm>
            <a:off x="8001000" y="2876550"/>
            <a:ext cx="533400" cy="247650"/>
          </a:xfrm>
          <a:prstGeom prst="roundRect">
            <a:avLst>
              <a:gd name="adj" fmla="val 15384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ev-marker-2"/>
          <p:cNvSpPr txBox="1"/>
          <p:nvPr/>
        </p:nvSpPr>
        <p:spPr>
          <a:xfrm>
            <a:off x="8001000" y="2828702"/>
            <a:ext cx="5334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2027</a:t>
            </a:r>
          </a:p>
        </p:txBody>
      </p:sp>
      <p:sp>
        <p:nvSpPr>
          <p:cNvPr id="64" name="ev-head-2"/>
          <p:cNvSpPr txBox="1"/>
          <p:nvPr/>
        </p:nvSpPr>
        <p:spPr>
          <a:xfrm>
            <a:off x="8667750" y="2893472"/>
            <a:ext cx="1631007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CROSSOVER IN 2027</a:t>
            </a:r>
          </a:p>
        </p:txBody>
      </p:sp>
      <p:sp>
        <p:nvSpPr>
          <p:cNvPr id="65" name="ev-text-2"/>
          <p:cNvSpPr txBox="1"/>
          <p:nvPr/>
        </p:nvSpPr>
        <p:spPr>
          <a:xfrm>
            <a:off x="8001000" y="3194462"/>
            <a:ext cx="3781425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Vietnam reaches $729M in 2027, passing Thailand's $672M</a:t>
            </a:r>
          </a:p>
        </p:txBody>
      </p:sp>
      <p:sp>
        <p:nvSpPr>
          <p:cNvPr id="66" name="ev-divider-2"/>
          <p:cNvSpPr/>
          <p:nvPr/>
        </p:nvSpPr>
        <p:spPr>
          <a:xfrm>
            <a:off x="8001000" y="3771900"/>
            <a:ext cx="3781425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ev-marker-3"/>
          <p:cNvSpPr/>
          <p:nvPr/>
        </p:nvSpPr>
        <p:spPr>
          <a:xfrm>
            <a:off x="8001000" y="3867150"/>
            <a:ext cx="533400" cy="247650"/>
          </a:xfrm>
          <a:prstGeom prst="roundRect">
            <a:avLst>
              <a:gd name="adj" fmla="val 15384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ev-marker-3"/>
          <p:cNvSpPr txBox="1"/>
          <p:nvPr/>
        </p:nvSpPr>
        <p:spPr>
          <a:xfrm>
            <a:off x="8001000" y="3819302"/>
            <a:ext cx="5334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2030</a:t>
            </a:r>
          </a:p>
        </p:txBody>
      </p:sp>
      <p:sp>
        <p:nvSpPr>
          <p:cNvPr id="69" name="ev-head-3"/>
          <p:cNvSpPr txBox="1"/>
          <p:nvPr/>
        </p:nvSpPr>
        <p:spPr>
          <a:xfrm>
            <a:off x="8667750" y="3884072"/>
            <a:ext cx="1433512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1.5 TIMES BY 2030</a:t>
            </a:r>
          </a:p>
        </p:txBody>
      </p:sp>
      <p:sp>
        <p:nvSpPr>
          <p:cNvPr id="70" name="ev-text-3"/>
          <p:cNvSpPr txBox="1"/>
          <p:nvPr/>
        </p:nvSpPr>
        <p:spPr>
          <a:xfrm>
            <a:off x="8001000" y="4185062"/>
            <a:ext cx="3781425" cy="224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Vietnam reaches $1,200M against Thailand's $800M</a:t>
            </a:r>
          </a:p>
        </p:txBody>
      </p:sp>
      <p:sp>
        <p:nvSpPr>
          <p:cNvPr id="71" name="ev-divider-3"/>
          <p:cNvSpPr/>
          <p:nvPr/>
        </p:nvSpPr>
        <p:spPr>
          <a:xfrm>
            <a:off x="8001000" y="4762500"/>
            <a:ext cx="3781425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ev-marker-4"/>
          <p:cNvSpPr/>
          <p:nvPr/>
        </p:nvSpPr>
        <p:spPr>
          <a:xfrm>
            <a:off x="8201025" y="4914900"/>
            <a:ext cx="133350" cy="133350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ev-head-4"/>
          <p:cNvSpPr txBox="1"/>
          <p:nvPr/>
        </p:nvSpPr>
        <p:spPr>
          <a:xfrm>
            <a:off x="8667750" y="4874672"/>
            <a:ext cx="2780854" cy="2019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defRPr/>
            </a:pPr>
            <a:r>
              <a:rPr sz="1200" b="1" i="0" spc="38">
                <a:solidFill>
                  <a:schemeClr val="tx2"/>
                </a:solidFill>
                <a:latin typeface="+mj-lt"/>
              </a:rPr>
              <a:t>WHY VIETNAM BEFORE INDONESIA</a:t>
            </a:r>
          </a:p>
        </p:txBody>
      </p:sp>
      <p:sp>
        <p:nvSpPr>
          <p:cNvPr id="74" name="ev-text-4"/>
          <p:cNvSpPr txBox="1"/>
          <p:nvPr/>
        </p:nvSpPr>
        <p:spPr>
          <a:xfrm>
            <a:off x="8001000" y="5175662"/>
            <a:ext cx="3781425" cy="6362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Similar size, but Vietnam grows faster (18% against 15% a year) and is more ready (4.0 against 3.7), so it is the safer first 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4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Five steps take each market from partner to scale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6</a:t>
            </a:r>
            <a:endParaRPr lang="en-US"/>
          </a:p>
        </p:txBody>
      </p:sp>
      <p:sp>
        <p:nvSpPr>
          <p:cNvPr id="61" name="subtitle"/>
          <p:cNvSpPr txBox="1"/>
          <p:nvPr/>
        </p:nvSpPr>
        <p:spPr>
          <a:xfrm>
            <a:off x="409575" y="1315467"/>
            <a:ext cx="11363325" cy="3034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Step 3 is a gate before national spend; Indonesia reuses all five steps</a:t>
            </a:r>
          </a:p>
        </p:txBody>
      </p:sp>
      <p:cxnSp>
        <p:nvCxnSpPr>
          <p:cNvPr id="65" name="Connector 2"/>
          <p:cNvCxnSpPr/>
          <p:nvPr/>
        </p:nvCxnSpPr>
        <p:spPr>
          <a:xfrm>
            <a:off x="1798290" y="2209800"/>
            <a:ext cx="1539184" cy="0"/>
          </a:xfrm>
          <a:prstGeom prst="line">
            <a:avLst/>
          </a:prstGeom>
          <a:ln w="23812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3327949" y="2152652"/>
            <a:ext cx="104772" cy="114296"/>
          </a:xfrm>
          <a:custGeom>
            <a:avLst/>
            <a:gdLst/>
            <a:ahLst/>
            <a:cxnLst/>
            <a:rect l="l" t="t" r="r" b="b"/>
            <a:pathLst>
              <a:path w="104772" h="114296">
                <a:moveTo>
                  <a:pt x="0" y="0"/>
                </a:moveTo>
                <a:lnTo>
                  <a:pt x="104772" y="57148"/>
                </a:lnTo>
                <a:lnTo>
                  <a:pt x="0" y="1142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62" name="Connector 4"/>
          <p:cNvCxnSpPr/>
          <p:nvPr/>
        </p:nvCxnSpPr>
        <p:spPr>
          <a:xfrm>
            <a:off x="4118521" y="2209800"/>
            <a:ext cx="1539184" cy="0"/>
          </a:xfrm>
          <a:prstGeom prst="line">
            <a:avLst/>
          </a:prstGeom>
          <a:ln w="23812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5"/>
          <p:cNvSpPr/>
          <p:nvPr/>
        </p:nvSpPr>
        <p:spPr>
          <a:xfrm>
            <a:off x="5648180" y="2152652"/>
            <a:ext cx="104771" cy="114296"/>
          </a:xfrm>
          <a:custGeom>
            <a:avLst/>
            <a:gdLst/>
            <a:ahLst/>
            <a:cxnLst/>
            <a:rect l="l" t="t" r="r" b="b"/>
            <a:pathLst>
              <a:path w="104771" h="114296">
                <a:moveTo>
                  <a:pt x="0" y="0"/>
                </a:moveTo>
                <a:lnTo>
                  <a:pt x="104771" y="57148"/>
                </a:lnTo>
                <a:lnTo>
                  <a:pt x="0" y="1142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6438900" y="2209800"/>
            <a:ext cx="1539184" cy="0"/>
          </a:xfrm>
          <a:prstGeom prst="line">
            <a:avLst/>
          </a:prstGeom>
          <a:ln w="23812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7968559" y="2152652"/>
            <a:ext cx="104771" cy="114296"/>
          </a:xfrm>
          <a:custGeom>
            <a:avLst/>
            <a:gdLst/>
            <a:ahLst/>
            <a:cxnLst/>
            <a:rect l="l" t="t" r="r" b="b"/>
            <a:pathLst>
              <a:path w="104771" h="114296">
                <a:moveTo>
                  <a:pt x="0" y="0"/>
                </a:moveTo>
                <a:lnTo>
                  <a:pt x="104771" y="57148"/>
                </a:lnTo>
                <a:lnTo>
                  <a:pt x="0" y="1142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9" name="Connector 8"/>
          <p:cNvCxnSpPr/>
          <p:nvPr/>
        </p:nvCxnSpPr>
        <p:spPr>
          <a:xfrm>
            <a:off x="8759130" y="2209800"/>
            <a:ext cx="1539184" cy="0"/>
          </a:xfrm>
          <a:prstGeom prst="line">
            <a:avLst/>
          </a:prstGeom>
          <a:ln w="23812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10288790" y="2152652"/>
            <a:ext cx="104771" cy="114296"/>
          </a:xfrm>
          <a:custGeom>
            <a:avLst/>
            <a:gdLst/>
            <a:ahLst/>
            <a:cxnLst/>
            <a:rect l="l" t="t" r="r" b="b"/>
            <a:pathLst>
              <a:path w="104771" h="114296">
                <a:moveTo>
                  <a:pt x="0" y="0"/>
                </a:moveTo>
                <a:lnTo>
                  <a:pt x="104771" y="57148"/>
                </a:lnTo>
                <a:lnTo>
                  <a:pt x="0" y="1142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tep1-num"/>
          <p:cNvSpPr/>
          <p:nvPr/>
        </p:nvSpPr>
        <p:spPr>
          <a:xfrm>
            <a:off x="1188690" y="1943100"/>
            <a:ext cx="533400" cy="533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1-num"/>
          <p:cNvSpPr txBox="1"/>
          <p:nvPr/>
        </p:nvSpPr>
        <p:spPr>
          <a:xfrm>
            <a:off x="1188690" y="1790402"/>
            <a:ext cx="533400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200"/>
              </a:lnSpc>
              <a:defRPr/>
            </a:pPr>
            <a:r>
              <a:rPr sz="1600" b="1" i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13" name="step1-name"/>
          <p:cNvSpPr txBox="1"/>
          <p:nvPr/>
        </p:nvSpPr>
        <p:spPr>
          <a:xfrm>
            <a:off x="409575" y="3349958"/>
            <a:ext cx="209163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Pick the partner</a:t>
            </a:r>
          </a:p>
        </p:txBody>
      </p:sp>
      <p:sp>
        <p:nvSpPr>
          <p:cNvPr id="14" name="step1-rule"/>
          <p:cNvSpPr/>
          <p:nvPr/>
        </p:nvSpPr>
        <p:spPr>
          <a:xfrm>
            <a:off x="1226790" y="3943350"/>
            <a:ext cx="457200" cy="28575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tep1-desc"/>
          <p:cNvSpPr txBox="1"/>
          <p:nvPr/>
        </p:nvSpPr>
        <p:spPr>
          <a:xfrm>
            <a:off x="466725" y="4063142"/>
            <a:ext cx="1977182" cy="872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79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Choose and sign one local distribution partner with reach into modern and traditional trade</a:t>
            </a:r>
          </a:p>
        </p:txBody>
      </p:sp>
      <p:sp>
        <p:nvSpPr>
          <p:cNvPr id="16" name="step2-num"/>
          <p:cNvSpPr/>
          <p:nvPr/>
        </p:nvSpPr>
        <p:spPr>
          <a:xfrm>
            <a:off x="3508921" y="1943100"/>
            <a:ext cx="533400" cy="533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2-num"/>
          <p:cNvSpPr txBox="1"/>
          <p:nvPr/>
        </p:nvSpPr>
        <p:spPr>
          <a:xfrm>
            <a:off x="3508921" y="1790402"/>
            <a:ext cx="533400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200"/>
              </a:lnSpc>
              <a:defRPr/>
            </a:pPr>
            <a:r>
              <a:rPr sz="1600" b="1" i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18" name="step2-name"/>
          <p:cNvSpPr txBox="1"/>
          <p:nvPr/>
        </p:nvSpPr>
        <p:spPr>
          <a:xfrm>
            <a:off x="2729805" y="3349958"/>
            <a:ext cx="209163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Prove it in one city</a:t>
            </a:r>
          </a:p>
        </p:txBody>
      </p:sp>
      <p:sp>
        <p:nvSpPr>
          <p:cNvPr id="19" name="step2-rule"/>
          <p:cNvSpPr/>
          <p:nvPr/>
        </p:nvSpPr>
        <p:spPr>
          <a:xfrm>
            <a:off x="3547021" y="3943350"/>
            <a:ext cx="457200" cy="28575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ep2-desc"/>
          <p:cNvSpPr txBox="1"/>
          <p:nvPr/>
        </p:nvSpPr>
        <p:spPr>
          <a:xfrm>
            <a:off x="2786955" y="4063142"/>
            <a:ext cx="1977330" cy="659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79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Launch in Ho Chi Minh City first and track sell-through against target</a:t>
            </a:r>
          </a:p>
        </p:txBody>
      </p:sp>
      <p:sp>
        <p:nvSpPr>
          <p:cNvPr id="21" name="step3-num"/>
          <p:cNvSpPr/>
          <p:nvPr/>
        </p:nvSpPr>
        <p:spPr>
          <a:xfrm>
            <a:off x="5829300" y="19431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3-num"/>
          <p:cNvSpPr txBox="1"/>
          <p:nvPr/>
        </p:nvSpPr>
        <p:spPr>
          <a:xfrm>
            <a:off x="5829300" y="1790402"/>
            <a:ext cx="533400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200"/>
              </a:lnSpc>
              <a:defRPr/>
            </a:pPr>
            <a:r>
              <a:rPr sz="1600" b="1" i="0">
                <a:solidFill>
                  <a:schemeClr val="tx2"/>
                </a:solidFill>
                <a:latin typeface="+mj-lt"/>
              </a:rPr>
              <a:t>3</a:t>
            </a:r>
          </a:p>
        </p:txBody>
      </p:sp>
      <p:sp>
        <p:nvSpPr>
          <p:cNvPr id="23" name="Freeform 22"/>
          <p:cNvSpPr/>
          <p:nvPr/>
        </p:nvSpPr>
        <p:spPr>
          <a:xfrm>
            <a:off x="5907088" y="2797175"/>
            <a:ext cx="66674" cy="333375"/>
          </a:xfrm>
          <a:custGeom>
            <a:avLst/>
            <a:gdLst/>
            <a:ahLst/>
            <a:cxnLst/>
            <a:rect l="l" t="t" r="r" b="b"/>
            <a:pathLst>
              <a:path w="66674" h="333375">
                <a:moveTo>
                  <a:pt x="0" y="0"/>
                </a:moveTo>
                <a:lnTo>
                  <a:pt x="66674" y="0"/>
                </a:lnTo>
                <a:lnTo>
                  <a:pt x="66674" y="333375"/>
                </a:lnTo>
                <a:lnTo>
                  <a:pt x="0" y="3333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Freeform 23"/>
          <p:cNvSpPr/>
          <p:nvPr/>
        </p:nvSpPr>
        <p:spPr>
          <a:xfrm>
            <a:off x="6218238" y="2797175"/>
            <a:ext cx="66674" cy="333375"/>
          </a:xfrm>
          <a:custGeom>
            <a:avLst/>
            <a:gdLst/>
            <a:ahLst/>
            <a:cxnLst/>
            <a:rect l="l" t="t" r="r" b="b"/>
            <a:pathLst>
              <a:path w="66674" h="333375">
                <a:moveTo>
                  <a:pt x="0" y="0"/>
                </a:moveTo>
                <a:lnTo>
                  <a:pt x="66674" y="0"/>
                </a:lnTo>
                <a:lnTo>
                  <a:pt x="66674" y="333375"/>
                </a:lnTo>
                <a:lnTo>
                  <a:pt x="0" y="3333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Freeform 24"/>
          <p:cNvSpPr/>
          <p:nvPr/>
        </p:nvSpPr>
        <p:spPr>
          <a:xfrm>
            <a:off x="5973762" y="2874962"/>
            <a:ext cx="244476" cy="55563"/>
          </a:xfrm>
          <a:custGeom>
            <a:avLst/>
            <a:gdLst/>
            <a:ahLst/>
            <a:cxnLst/>
            <a:rect l="l" t="t" r="r" b="b"/>
            <a:pathLst>
              <a:path w="244476" h="55563">
                <a:moveTo>
                  <a:pt x="0" y="0"/>
                </a:moveTo>
                <a:lnTo>
                  <a:pt x="244476" y="0"/>
                </a:lnTo>
                <a:lnTo>
                  <a:pt x="244476" y="55563"/>
                </a:lnTo>
                <a:lnTo>
                  <a:pt x="0" y="5556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Freeform 25"/>
          <p:cNvSpPr/>
          <p:nvPr/>
        </p:nvSpPr>
        <p:spPr>
          <a:xfrm>
            <a:off x="5973762" y="2986088"/>
            <a:ext cx="244476" cy="55562"/>
          </a:xfrm>
          <a:custGeom>
            <a:avLst/>
            <a:gdLst/>
            <a:ahLst/>
            <a:cxnLst/>
            <a:rect l="l" t="t" r="r" b="b"/>
            <a:pathLst>
              <a:path w="244476" h="55562">
                <a:moveTo>
                  <a:pt x="0" y="0"/>
                </a:moveTo>
                <a:lnTo>
                  <a:pt x="244476" y="0"/>
                </a:lnTo>
                <a:lnTo>
                  <a:pt x="244476" y="55562"/>
                </a:lnTo>
                <a:lnTo>
                  <a:pt x="0" y="5556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tep3-name"/>
          <p:cNvSpPr txBox="1"/>
          <p:nvPr/>
        </p:nvSpPr>
        <p:spPr>
          <a:xfrm>
            <a:off x="5050036" y="3349958"/>
            <a:ext cx="209163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Pass the gate</a:t>
            </a:r>
          </a:p>
        </p:txBody>
      </p:sp>
      <p:sp>
        <p:nvSpPr>
          <p:cNvPr id="28" name="step3-rule"/>
          <p:cNvSpPr/>
          <p:nvPr/>
        </p:nvSpPr>
        <p:spPr>
          <a:xfrm>
            <a:off x="5867400" y="394335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3-desc"/>
          <p:cNvSpPr txBox="1"/>
          <p:nvPr/>
        </p:nvSpPr>
        <p:spPr>
          <a:xfrm>
            <a:off x="5107186" y="4063142"/>
            <a:ext cx="1977182" cy="659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79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Scale only if the pilot meets its sell-through target; otherwise stop or fix</a:t>
            </a:r>
          </a:p>
        </p:txBody>
      </p:sp>
      <p:sp>
        <p:nvSpPr>
          <p:cNvPr id="30" name="step4-num"/>
          <p:cNvSpPr/>
          <p:nvPr/>
        </p:nvSpPr>
        <p:spPr>
          <a:xfrm>
            <a:off x="8149530" y="1943100"/>
            <a:ext cx="533400" cy="533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ep4-num"/>
          <p:cNvSpPr txBox="1"/>
          <p:nvPr/>
        </p:nvSpPr>
        <p:spPr>
          <a:xfrm>
            <a:off x="8149530" y="1790402"/>
            <a:ext cx="533400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200"/>
              </a:lnSpc>
              <a:defRPr/>
            </a:pPr>
            <a:r>
              <a:rPr sz="1600" b="1" i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32" name="Freeform 31"/>
          <p:cNvSpPr/>
          <p:nvPr/>
        </p:nvSpPr>
        <p:spPr>
          <a:xfrm>
            <a:off x="8227318" y="3019425"/>
            <a:ext cx="88900" cy="111125"/>
          </a:xfrm>
          <a:custGeom>
            <a:avLst/>
            <a:gdLst/>
            <a:ahLst/>
            <a:cxnLst/>
            <a:rect l="l" t="t" r="r" b="b"/>
            <a:pathLst>
              <a:path w="88900" h="111125">
                <a:moveTo>
                  <a:pt x="0" y="0"/>
                </a:moveTo>
                <a:lnTo>
                  <a:pt x="88900" y="0"/>
                </a:lnTo>
                <a:lnTo>
                  <a:pt x="88900" y="111125"/>
                </a:lnTo>
                <a:lnTo>
                  <a:pt x="0" y="1111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Freeform 32"/>
          <p:cNvSpPr/>
          <p:nvPr/>
        </p:nvSpPr>
        <p:spPr>
          <a:xfrm>
            <a:off x="8371780" y="2919412"/>
            <a:ext cx="88900" cy="211138"/>
          </a:xfrm>
          <a:custGeom>
            <a:avLst/>
            <a:gdLst/>
            <a:ahLst/>
            <a:cxnLst/>
            <a:rect l="l" t="t" r="r" b="b"/>
            <a:pathLst>
              <a:path w="88900" h="211138">
                <a:moveTo>
                  <a:pt x="0" y="0"/>
                </a:moveTo>
                <a:lnTo>
                  <a:pt x="88900" y="0"/>
                </a:lnTo>
                <a:lnTo>
                  <a:pt x="88900" y="211138"/>
                </a:lnTo>
                <a:lnTo>
                  <a:pt x="0" y="21113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Freeform 33"/>
          <p:cNvSpPr/>
          <p:nvPr/>
        </p:nvSpPr>
        <p:spPr>
          <a:xfrm>
            <a:off x="8516243" y="2797175"/>
            <a:ext cx="88900" cy="333375"/>
          </a:xfrm>
          <a:custGeom>
            <a:avLst/>
            <a:gdLst/>
            <a:ahLst/>
            <a:cxnLst/>
            <a:rect l="l" t="t" r="r" b="b"/>
            <a:pathLst>
              <a:path w="88900" h="333375">
                <a:moveTo>
                  <a:pt x="0" y="0"/>
                </a:moveTo>
                <a:lnTo>
                  <a:pt x="88900" y="0"/>
                </a:lnTo>
                <a:lnTo>
                  <a:pt x="88900" y="333375"/>
                </a:lnTo>
                <a:lnTo>
                  <a:pt x="0" y="3333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35" name="Connector 34"/>
          <p:cNvCxnSpPr/>
          <p:nvPr/>
        </p:nvCxnSpPr>
        <p:spPr>
          <a:xfrm>
            <a:off x="8182868" y="3141662"/>
            <a:ext cx="466725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ep4-name"/>
          <p:cNvSpPr txBox="1"/>
          <p:nvPr/>
        </p:nvSpPr>
        <p:spPr>
          <a:xfrm>
            <a:off x="7370415" y="3349958"/>
            <a:ext cx="209163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Scale nationally</a:t>
            </a:r>
          </a:p>
        </p:txBody>
      </p:sp>
      <p:sp>
        <p:nvSpPr>
          <p:cNvPr id="37" name="step4-rule"/>
          <p:cNvSpPr/>
          <p:nvPr/>
        </p:nvSpPr>
        <p:spPr>
          <a:xfrm>
            <a:off x="8187630" y="3943350"/>
            <a:ext cx="457200" cy="28575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tep4-desc"/>
          <p:cNvSpPr txBox="1"/>
          <p:nvPr/>
        </p:nvSpPr>
        <p:spPr>
          <a:xfrm>
            <a:off x="7427565" y="4063142"/>
            <a:ext cx="1977182" cy="659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79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Roll out across the country with the partner once the unit economics hold</a:t>
            </a:r>
          </a:p>
        </p:txBody>
      </p:sp>
      <p:sp>
        <p:nvSpPr>
          <p:cNvPr id="39" name="step5-num"/>
          <p:cNvSpPr/>
          <p:nvPr/>
        </p:nvSpPr>
        <p:spPr>
          <a:xfrm>
            <a:off x="10469761" y="1943100"/>
            <a:ext cx="533400" cy="533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5-num"/>
          <p:cNvSpPr txBox="1"/>
          <p:nvPr/>
        </p:nvSpPr>
        <p:spPr>
          <a:xfrm>
            <a:off x="10469761" y="1790402"/>
            <a:ext cx="533400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200"/>
              </a:lnSpc>
              <a:defRPr/>
            </a:pPr>
            <a:r>
              <a:rPr sz="1600" b="1" i="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41" name="Freeform 40"/>
          <p:cNvSpPr/>
          <p:nvPr/>
        </p:nvSpPr>
        <p:spPr>
          <a:xfrm>
            <a:off x="10725348" y="2897188"/>
            <a:ext cx="66675" cy="111124"/>
          </a:xfrm>
          <a:custGeom>
            <a:avLst/>
            <a:gdLst/>
            <a:ahLst/>
            <a:cxnLst/>
            <a:rect l="l" t="t" r="r" b="b"/>
            <a:pathLst>
              <a:path w="66675" h="111124">
                <a:moveTo>
                  <a:pt x="0" y="0"/>
                </a:moveTo>
                <a:lnTo>
                  <a:pt x="66675" y="55562"/>
                </a:lnTo>
                <a:lnTo>
                  <a:pt x="0" y="1111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5-name"/>
          <p:cNvSpPr txBox="1"/>
          <p:nvPr/>
        </p:nvSpPr>
        <p:spPr>
          <a:xfrm>
            <a:off x="9690646" y="3349958"/>
            <a:ext cx="2091630" cy="481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Reuse in the next market</a:t>
            </a:r>
          </a:p>
        </p:txBody>
      </p:sp>
      <p:sp>
        <p:nvSpPr>
          <p:cNvPr id="43" name="step5-rule"/>
          <p:cNvSpPr/>
          <p:nvPr/>
        </p:nvSpPr>
        <p:spPr>
          <a:xfrm>
            <a:off x="10507861" y="3943350"/>
            <a:ext cx="457200" cy="28575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5-desc"/>
          <p:cNvSpPr txBox="1"/>
          <p:nvPr/>
        </p:nvSpPr>
        <p:spPr>
          <a:xfrm>
            <a:off x="9747796" y="4063142"/>
            <a:ext cx="1977182" cy="659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79"/>
              </a:lnSpc>
              <a:defRPr/>
            </a:pPr>
            <a:r>
              <a:rPr sz="1200" b="0" i="0">
                <a:solidFill>
                  <a:srgbClr val="1A1A1A"/>
                </a:solidFill>
                <a:latin typeface="+mj-lt"/>
              </a:rPr>
              <a:t>Run the same five steps in Indonesia, starting with what Vietnam taught</a:t>
            </a:r>
          </a:p>
        </p:txBody>
      </p:sp>
      <p:sp>
        <p:nvSpPr>
          <p:cNvPr id="45" name="Freeform 44"/>
          <p:cNvSpPr/>
          <p:nvPr/>
        </p:nvSpPr>
        <p:spPr>
          <a:xfrm>
            <a:off x="1455389" y="5238752"/>
            <a:ext cx="9281073" cy="476246"/>
          </a:xfrm>
          <a:custGeom>
            <a:avLst/>
            <a:gdLst/>
            <a:ahLst/>
            <a:cxnLst/>
            <a:rect l="l" t="t" r="r" b="b"/>
            <a:pathLst>
              <a:path w="9281073" h="476246">
                <a:moveTo>
                  <a:pt x="9281073" y="0"/>
                </a:moveTo>
                <a:lnTo>
                  <a:pt x="9281073" y="476246"/>
                </a:lnTo>
                <a:lnTo>
                  <a:pt x="0" y="476246"/>
                </a:lnTo>
                <a:lnTo>
                  <a:pt x="0" y="114299"/>
                </a:lnTo>
              </a:path>
            </a:pathLst>
          </a:custGeom>
          <a:noFill/>
          <a:ln w="23812">
            <a:solidFill>
              <a:srgbClr val="547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Freeform 45"/>
          <p:cNvSpPr/>
          <p:nvPr/>
        </p:nvSpPr>
        <p:spPr>
          <a:xfrm>
            <a:off x="1398240" y="5248277"/>
            <a:ext cx="114299" cy="114299"/>
          </a:xfrm>
          <a:custGeom>
            <a:avLst/>
            <a:gdLst/>
            <a:ahLst/>
            <a:cxnLst/>
            <a:rect l="l" t="t" r="r" b="b"/>
            <a:pathLst>
              <a:path w="114299" h="114299">
                <a:moveTo>
                  <a:pt x="0" y="114299"/>
                </a:moveTo>
                <a:lnTo>
                  <a:pt x="57149" y="0"/>
                </a:lnTo>
                <a:lnTo>
                  <a:pt x="114299" y="114299"/>
                </a:lnTo>
                <a:close/>
              </a:path>
            </a:pathLst>
          </a:cu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loop-label"/>
          <p:cNvSpPr/>
          <p:nvPr/>
        </p:nvSpPr>
        <p:spPr>
          <a:xfrm>
            <a:off x="5334000" y="5600700"/>
            <a:ext cx="1524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loop-label"/>
          <p:cNvSpPr txBox="1"/>
          <p:nvPr/>
        </p:nvSpPr>
        <p:spPr>
          <a:xfrm>
            <a:off x="5334000" y="5562377"/>
            <a:ext cx="15240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defRPr/>
            </a:pPr>
            <a:r>
              <a:rPr sz="1200" b="1" i="0">
                <a:solidFill>
                  <a:srgbClr val="54767F"/>
                </a:solidFill>
                <a:latin typeface="+mj-lt"/>
              </a:rPr>
              <a:t>Indonesia</a:t>
            </a:r>
          </a:p>
        </p:txBody>
      </p:sp>
      <p:sp>
        <p:nvSpPr>
          <p:cNvPr id="49" name="step1-icon-ring-left"/>
          <p:cNvSpPr/>
          <p:nvPr/>
        </p:nvSpPr>
        <p:spPr>
          <a:xfrm>
            <a:off x="1266478" y="2830512"/>
            <a:ext cx="244475" cy="244475"/>
          </a:xfrm>
          <a:prstGeom prst="ellipse">
            <a:avLst/>
          </a:prstGeom>
          <a:noFill/>
          <a:ln w="33338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tep1-icon-ring-right"/>
          <p:cNvSpPr/>
          <p:nvPr/>
        </p:nvSpPr>
        <p:spPr>
          <a:xfrm>
            <a:off x="1399828" y="2830512"/>
            <a:ext cx="244475" cy="244475"/>
          </a:xfrm>
          <a:prstGeom prst="ellipse">
            <a:avLst/>
          </a:prstGeom>
          <a:noFill/>
          <a:ln w="33338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ep2-icon-tower"/>
          <p:cNvSpPr/>
          <p:nvPr/>
        </p:nvSpPr>
        <p:spPr>
          <a:xfrm>
            <a:off x="3620046" y="2819400"/>
            <a:ext cx="177800" cy="311150"/>
          </a:xfrm>
          <a:prstGeom prst="rect">
            <a:avLst/>
          </a:prstGeom>
          <a:noFill/>
          <a:ln w="33338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tep2-icon-annex"/>
          <p:cNvSpPr/>
          <p:nvPr/>
        </p:nvSpPr>
        <p:spPr>
          <a:xfrm>
            <a:off x="3797846" y="2930525"/>
            <a:ext cx="133350" cy="200025"/>
          </a:xfrm>
          <a:prstGeom prst="rect">
            <a:avLst/>
          </a:prstGeom>
          <a:noFill/>
          <a:ln w="33338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53" name="step2-icon-floor-1"/>
          <p:cNvCxnSpPr/>
          <p:nvPr/>
        </p:nvCxnSpPr>
        <p:spPr>
          <a:xfrm>
            <a:off x="3664496" y="2897188"/>
            <a:ext cx="88900" cy="0"/>
          </a:xfrm>
          <a:prstGeom prst="line">
            <a:avLst/>
          </a:prstGeom>
          <a:ln w="33338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ep2-icon-floor-2"/>
          <p:cNvCxnSpPr/>
          <p:nvPr/>
        </p:nvCxnSpPr>
        <p:spPr>
          <a:xfrm>
            <a:off x="3664496" y="2974975"/>
            <a:ext cx="88900" cy="0"/>
          </a:xfrm>
          <a:prstGeom prst="line">
            <a:avLst/>
          </a:prstGeom>
          <a:ln w="33338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ep2-icon-floor-3"/>
          <p:cNvCxnSpPr/>
          <p:nvPr/>
        </p:nvCxnSpPr>
        <p:spPr>
          <a:xfrm>
            <a:off x="3664496" y="3052762"/>
            <a:ext cx="88900" cy="0"/>
          </a:xfrm>
          <a:prstGeom prst="line">
            <a:avLst/>
          </a:prstGeom>
          <a:ln w="33338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ep2-icon-ground"/>
          <p:cNvCxnSpPr/>
          <p:nvPr/>
        </p:nvCxnSpPr>
        <p:spPr>
          <a:xfrm>
            <a:off x="3553371" y="3130550"/>
            <a:ext cx="444500" cy="0"/>
          </a:xfrm>
          <a:prstGeom prst="line">
            <a:avLst/>
          </a:prstGeom>
          <a:ln w="33338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ep3-icon-ground"/>
          <p:cNvCxnSpPr/>
          <p:nvPr/>
        </p:nvCxnSpPr>
        <p:spPr>
          <a:xfrm>
            <a:off x="5862638" y="3141662"/>
            <a:ext cx="466724" cy="0"/>
          </a:xfrm>
          <a:prstGeom prst="line">
            <a:avLst/>
          </a:prstGeom>
          <a:ln w="33338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tep5-icon-from"/>
          <p:cNvSpPr/>
          <p:nvPr/>
        </p:nvSpPr>
        <p:spPr>
          <a:xfrm>
            <a:off x="10514211" y="2874962"/>
            <a:ext cx="155575" cy="155575"/>
          </a:xfrm>
          <a:prstGeom prst="rect">
            <a:avLst/>
          </a:prstGeom>
          <a:noFill/>
          <a:ln w="33338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tep5-icon-to"/>
          <p:cNvSpPr/>
          <p:nvPr/>
        </p:nvSpPr>
        <p:spPr>
          <a:xfrm>
            <a:off x="10803136" y="2874962"/>
            <a:ext cx="155575" cy="155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60" name="step5-icon-arrow-shaft"/>
          <p:cNvCxnSpPr/>
          <p:nvPr/>
        </p:nvCxnSpPr>
        <p:spPr>
          <a:xfrm>
            <a:off x="10669786" y="2952750"/>
            <a:ext cx="66675" cy="0"/>
          </a:xfrm>
          <a:prstGeom prst="line">
            <a:avLst/>
          </a:prstGeom>
          <a:ln w="33338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Two go/no-go gates come before spending scales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7</a:t>
            </a:r>
            <a:endParaRPr lang="en-US"/>
          </a:p>
        </p:txBody>
      </p:sp>
      <p:sp>
        <p:nvSpPr>
          <p:cNvPr id="32" name="Rectangle 1"/>
          <p:cNvSpPr/>
          <p:nvPr/>
        </p:nvSpPr>
        <p:spPr>
          <a:xfrm>
            <a:off x="409575" y="285750"/>
            <a:ext cx="6096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ubtitle"/>
          <p:cNvSpPr txBox="1"/>
          <p:nvPr/>
        </p:nvSpPr>
        <p:spPr>
          <a:xfrm>
            <a:off x="409575" y="1319866"/>
            <a:ext cx="11363325" cy="232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defRPr/>
            </a:pPr>
            <a:r>
              <a:rPr sz="1400" b="0" i="0">
                <a:solidFill>
                  <a:srgbClr val="5F5E5A"/>
                </a:solidFill>
                <a:latin typeface="+mj-lt"/>
              </a:rPr>
              <a:t>The committee can stop at month 6 (pilot sell-through) or month 12 (15% margin)</a:t>
            </a:r>
          </a:p>
        </p:txBody>
      </p:sp>
      <p:sp>
        <p:nvSpPr>
          <p:cNvPr id="4" name="gate1-label"/>
          <p:cNvSpPr txBox="1"/>
          <p:nvPr/>
        </p:nvSpPr>
        <p:spPr>
          <a:xfrm>
            <a:off x="2533650" y="2095277"/>
            <a:ext cx="333360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200" b="1" i="0" spc="75">
                <a:solidFill>
                  <a:schemeClr val="tx2"/>
                </a:solidFill>
                <a:latin typeface="+mj-lt"/>
              </a:rPr>
              <a:t>MONTH 6 · GATE 1</a:t>
            </a:r>
          </a:p>
        </p:txBody>
      </p:sp>
      <p:sp>
        <p:nvSpPr>
          <p:cNvPr id="33" name="gate1-rule"/>
          <p:cNvSpPr txBox="1"/>
          <p:nvPr/>
        </p:nvSpPr>
        <p:spPr>
          <a:xfrm>
            <a:off x="2533650" y="2361902"/>
            <a:ext cx="333375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600" b="1" i="0">
                <a:solidFill>
                  <a:schemeClr val="tx2"/>
                </a:solidFill>
                <a:latin typeface="+mj-lt"/>
              </a:rPr>
              <a:t>Continue only if pilot sell-through is at or above target</a:t>
            </a:r>
          </a:p>
        </p:txBody>
      </p:sp>
      <p:sp>
        <p:nvSpPr>
          <p:cNvPr id="34" name="gate1-stop"/>
          <p:cNvSpPr txBox="1"/>
          <p:nvPr/>
        </p:nvSpPr>
        <p:spPr>
          <a:xfrm>
            <a:off x="2533650" y="2990627"/>
            <a:ext cx="333360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Otherwise the committee can stop</a:t>
            </a:r>
          </a:p>
        </p:txBody>
      </p:sp>
      <p:sp>
        <p:nvSpPr>
          <p:cNvPr id="7" name="gate1-leader"/>
          <p:cNvSpPr/>
          <p:nvPr/>
        </p:nvSpPr>
        <p:spPr>
          <a:xfrm>
            <a:off x="4191000" y="3295650"/>
            <a:ext cx="19050" cy="571500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gate2-label"/>
          <p:cNvSpPr txBox="1"/>
          <p:nvPr/>
        </p:nvSpPr>
        <p:spPr>
          <a:xfrm>
            <a:off x="6315075" y="2095277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200" b="1" i="0" spc="75">
                <a:solidFill>
                  <a:schemeClr val="tx2"/>
                </a:solidFill>
                <a:latin typeface="+mj-lt"/>
              </a:rPr>
              <a:t>MONTH 12 · GATE 2</a:t>
            </a:r>
          </a:p>
        </p:txBody>
      </p:sp>
      <p:sp>
        <p:nvSpPr>
          <p:cNvPr id="9" name="gate2-rule"/>
          <p:cNvSpPr txBox="1"/>
          <p:nvPr/>
        </p:nvSpPr>
        <p:spPr>
          <a:xfrm>
            <a:off x="6315075" y="2361902"/>
            <a:ext cx="333375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600" b="1" i="0">
                <a:solidFill>
                  <a:schemeClr val="tx2"/>
                </a:solidFill>
                <a:latin typeface="+mj-lt"/>
              </a:rPr>
              <a:t>Continue only if contribution margin is at least 15%</a:t>
            </a:r>
          </a:p>
        </p:txBody>
      </p:sp>
      <p:sp>
        <p:nvSpPr>
          <p:cNvPr id="10" name="gate2-stop"/>
          <p:cNvSpPr txBox="1"/>
          <p:nvPr/>
        </p:nvSpPr>
        <p:spPr>
          <a:xfrm>
            <a:off x="6315075" y="2990627"/>
            <a:ext cx="333360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Otherwise the committee can stop</a:t>
            </a:r>
          </a:p>
        </p:txBody>
      </p:sp>
      <p:sp>
        <p:nvSpPr>
          <p:cNvPr id="11" name="gate2-leader"/>
          <p:cNvSpPr/>
          <p:nvPr/>
        </p:nvSpPr>
        <p:spPr>
          <a:xfrm>
            <a:off x="7972425" y="3295650"/>
            <a:ext cx="19050" cy="571500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rack-partner"/>
          <p:cNvSpPr/>
          <p:nvPr/>
        </p:nvSpPr>
        <p:spPr>
          <a:xfrm>
            <a:off x="409575" y="3867150"/>
            <a:ext cx="1876425" cy="571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rack-pilot"/>
          <p:cNvSpPr/>
          <p:nvPr/>
        </p:nvSpPr>
        <p:spPr>
          <a:xfrm>
            <a:off x="2324100" y="3867150"/>
            <a:ext cx="1857375" cy="571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rack-rollout"/>
          <p:cNvSpPr/>
          <p:nvPr/>
        </p:nvSpPr>
        <p:spPr>
          <a:xfrm>
            <a:off x="4219575" y="3867150"/>
            <a:ext cx="3743325" cy="571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rack-indonesia"/>
          <p:cNvSpPr/>
          <p:nvPr/>
        </p:nvSpPr>
        <p:spPr>
          <a:xfrm>
            <a:off x="8001000" y="3867150"/>
            <a:ext cx="3771900" cy="571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rack-partner-name"/>
          <p:cNvSpPr txBox="1"/>
          <p:nvPr/>
        </p:nvSpPr>
        <p:spPr>
          <a:xfrm>
            <a:off x="561975" y="4038377"/>
            <a:ext cx="16192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75">
                <a:solidFill>
                  <a:schemeClr val="bg1"/>
                </a:solidFill>
                <a:latin typeface="+mj-lt"/>
              </a:rPr>
              <a:t>PARTNER</a:t>
            </a:r>
          </a:p>
        </p:txBody>
      </p:sp>
      <p:sp>
        <p:nvSpPr>
          <p:cNvPr id="17" name="track-pilot-name"/>
          <p:cNvSpPr txBox="1"/>
          <p:nvPr/>
        </p:nvSpPr>
        <p:spPr>
          <a:xfrm>
            <a:off x="2476500" y="4038377"/>
            <a:ext cx="14287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75">
                <a:solidFill>
                  <a:schemeClr val="bg1"/>
                </a:solidFill>
                <a:latin typeface="+mj-lt"/>
              </a:rPr>
              <a:t>PILOT</a:t>
            </a:r>
          </a:p>
        </p:txBody>
      </p:sp>
      <p:sp>
        <p:nvSpPr>
          <p:cNvPr id="18" name="track-rollout-name"/>
          <p:cNvSpPr txBox="1"/>
          <p:nvPr/>
        </p:nvSpPr>
        <p:spPr>
          <a:xfrm>
            <a:off x="4524375" y="4038377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75">
                <a:solidFill>
                  <a:schemeClr val="bg1"/>
                </a:solidFill>
                <a:latin typeface="+mj-lt"/>
              </a:rPr>
              <a:t>ROLLOUT</a:t>
            </a:r>
          </a:p>
        </p:txBody>
      </p:sp>
      <p:sp>
        <p:nvSpPr>
          <p:cNvPr id="19" name="track-indonesia-name"/>
          <p:cNvSpPr txBox="1"/>
          <p:nvPr/>
        </p:nvSpPr>
        <p:spPr>
          <a:xfrm>
            <a:off x="8305800" y="4038377"/>
            <a:ext cx="3238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75">
                <a:solidFill>
                  <a:schemeClr val="bg1"/>
                </a:solidFill>
                <a:latin typeface="+mj-lt"/>
              </a:rPr>
              <a:t>INDONESIA PREP</a:t>
            </a:r>
          </a:p>
        </p:txBody>
      </p:sp>
      <p:sp>
        <p:nvSpPr>
          <p:cNvPr id="20" name="Freeform 19"/>
          <p:cNvSpPr/>
          <p:nvPr/>
        </p:nvSpPr>
        <p:spPr>
          <a:xfrm>
            <a:off x="3971925" y="3924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Freeform 20"/>
          <p:cNvSpPr/>
          <p:nvPr/>
        </p:nvSpPr>
        <p:spPr>
          <a:xfrm>
            <a:off x="7753350" y="3924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gate1-guide"/>
          <p:cNvSpPr/>
          <p:nvPr/>
        </p:nvSpPr>
        <p:spPr>
          <a:xfrm>
            <a:off x="4200525" y="4438650"/>
            <a:ext cx="9525" cy="177165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gate2-guide"/>
          <p:cNvSpPr/>
          <p:nvPr/>
        </p:nvSpPr>
        <p:spPr>
          <a:xfrm>
            <a:off x="7981950" y="4438650"/>
            <a:ext cx="9525" cy="177165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l-partner-months"/>
          <p:cNvSpPr txBox="1"/>
          <p:nvPr/>
        </p:nvSpPr>
        <p:spPr>
          <a:xfrm>
            <a:off x="409575" y="4647977"/>
            <a:ext cx="18097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>
                <a:solidFill>
                  <a:srgbClr val="54767F"/>
                </a:solidFill>
                <a:latin typeface="+mj-lt"/>
              </a:rPr>
              <a:t>Months 1-3</a:t>
            </a:r>
          </a:p>
        </p:txBody>
      </p:sp>
      <p:sp>
        <p:nvSpPr>
          <p:cNvPr id="25" name="col-partner-desc"/>
          <p:cNvSpPr txBox="1"/>
          <p:nvPr/>
        </p:nvSpPr>
        <p:spPr>
          <a:xfrm>
            <a:off x="409575" y="4905115"/>
            <a:ext cx="17716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Choose and sign the Vietnam distribution partner</a:t>
            </a:r>
          </a:p>
        </p:txBody>
      </p:sp>
      <p:sp>
        <p:nvSpPr>
          <p:cNvPr id="26" name="col-pilot-months"/>
          <p:cNvSpPr txBox="1"/>
          <p:nvPr/>
        </p:nvSpPr>
        <p:spPr>
          <a:xfrm>
            <a:off x="2438400" y="4647977"/>
            <a:ext cx="16192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>
                <a:solidFill>
                  <a:srgbClr val="54767F"/>
                </a:solidFill>
                <a:latin typeface="+mj-lt"/>
              </a:rPr>
              <a:t>Months 4-6</a:t>
            </a:r>
          </a:p>
        </p:txBody>
      </p:sp>
      <p:sp>
        <p:nvSpPr>
          <p:cNvPr id="27" name="col-pilot-desc"/>
          <p:cNvSpPr txBox="1"/>
          <p:nvPr/>
        </p:nvSpPr>
        <p:spPr>
          <a:xfrm>
            <a:off x="2438400" y="4905115"/>
            <a:ext cx="169545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Pilot in Ho Chi Minh City</a:t>
            </a:r>
          </a:p>
        </p:txBody>
      </p:sp>
      <p:sp>
        <p:nvSpPr>
          <p:cNvPr id="28" name="col-rollout-months"/>
          <p:cNvSpPr txBox="1"/>
          <p:nvPr/>
        </p:nvSpPr>
        <p:spPr>
          <a:xfrm>
            <a:off x="4391025" y="4647977"/>
            <a:ext cx="34290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>
                <a:solidFill>
                  <a:srgbClr val="54767F"/>
                </a:solidFill>
                <a:latin typeface="+mj-lt"/>
              </a:rPr>
              <a:t>Months 7-12</a:t>
            </a:r>
          </a:p>
        </p:txBody>
      </p:sp>
      <p:sp>
        <p:nvSpPr>
          <p:cNvPr id="29" name="col-rollout-desc"/>
          <p:cNvSpPr txBox="1"/>
          <p:nvPr/>
        </p:nvSpPr>
        <p:spPr>
          <a:xfrm>
            <a:off x="4391025" y="4905115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National rollout in Vietnam</a:t>
            </a:r>
          </a:p>
        </p:txBody>
      </p:sp>
      <p:sp>
        <p:nvSpPr>
          <p:cNvPr id="30" name="col-indonesia-months"/>
          <p:cNvSpPr txBox="1"/>
          <p:nvPr/>
        </p:nvSpPr>
        <p:spPr>
          <a:xfrm>
            <a:off x="8172450" y="4647977"/>
            <a:ext cx="36004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>
                <a:solidFill>
                  <a:srgbClr val="54767F"/>
                </a:solidFill>
                <a:latin typeface="+mj-lt"/>
              </a:rPr>
              <a:t>Months 13-18</a:t>
            </a:r>
          </a:p>
        </p:txBody>
      </p:sp>
      <p:sp>
        <p:nvSpPr>
          <p:cNvPr id="31" name="col-indonesia-desc"/>
          <p:cNvSpPr txBox="1"/>
          <p:nvPr/>
        </p:nvSpPr>
        <p:spPr>
          <a:xfrm>
            <a:off x="8172450" y="4905115"/>
            <a:ext cx="36004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Indonesia partner search and entry preparation, with the Phase 2 funding decision at month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We expect partners to lower Indonesia's entry cost; no data yet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8</a:t>
            </a:r>
            <a:endParaRPr lang="en-US"/>
          </a:p>
        </p:txBody>
      </p:sp>
      <p:sp>
        <p:nvSpPr>
          <p:cNvPr id="41" name="subtitle"/>
          <p:cNvSpPr txBox="1"/>
          <p:nvPr/>
        </p:nvSpPr>
        <p:spPr>
          <a:xfrm>
            <a:off x="409575" y="1307209"/>
            <a:ext cx="11363325" cy="2831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Vietnam carries the $12M entry cost; Indonesia starts from its proven choices</a:t>
            </a:r>
          </a:p>
        </p:txBody>
      </p:sp>
      <p:cxnSp>
        <p:nvCxnSpPr>
          <p:cNvPr id="45" name="Connector 2"/>
          <p:cNvCxnSpPr/>
          <p:nvPr/>
        </p:nvCxnSpPr>
        <p:spPr>
          <a:xfrm>
            <a:off x="6096000" y="2381250"/>
            <a:ext cx="3804285" cy="1263968"/>
          </a:xfrm>
          <a:prstGeom prst="line">
            <a:avLst/>
          </a:prstGeom>
          <a:ln w="28575">
            <a:solidFill>
              <a:srgbClr val="547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447722" y="3645218"/>
            <a:ext cx="1452563" cy="2044064"/>
          </a:xfrm>
          <a:prstGeom prst="line">
            <a:avLst/>
          </a:prstGeom>
          <a:ln w="28575">
            <a:solidFill>
              <a:srgbClr val="547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"/>
          <p:cNvCxnSpPr/>
          <p:nvPr/>
        </p:nvCxnSpPr>
        <p:spPr>
          <a:xfrm flipH="1">
            <a:off x="3744278" y="5689282"/>
            <a:ext cx="4703444" cy="0"/>
          </a:xfrm>
          <a:prstGeom prst="line">
            <a:avLst/>
          </a:prstGeom>
          <a:ln w="28575">
            <a:solidFill>
              <a:srgbClr val="547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5"/>
          <p:cNvCxnSpPr/>
          <p:nvPr/>
        </p:nvCxnSpPr>
        <p:spPr>
          <a:xfrm flipH="1" flipV="1">
            <a:off x="2291715" y="3645218"/>
            <a:ext cx="1452563" cy="2044064"/>
          </a:xfrm>
          <a:prstGeom prst="line">
            <a:avLst/>
          </a:prstGeom>
          <a:ln w="28575">
            <a:solidFill>
              <a:srgbClr val="547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291715" y="2381250"/>
            <a:ext cx="3804285" cy="1263968"/>
          </a:xfrm>
          <a:prstGeom prst="line">
            <a:avLst/>
          </a:prstGeom>
          <a:ln w="28575">
            <a:solidFill>
              <a:srgbClr val="547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7888605" y="2887028"/>
            <a:ext cx="236220" cy="201930"/>
          </a:xfrm>
          <a:custGeom>
            <a:avLst/>
            <a:gdLst/>
            <a:ahLst/>
            <a:cxnLst/>
            <a:rect l="l" t="t" r="r" b="b"/>
            <a:pathLst>
              <a:path w="236220" h="201930">
                <a:moveTo>
                  <a:pt x="236220" y="167640"/>
                </a:moveTo>
                <a:lnTo>
                  <a:pt x="0" y="201930"/>
                </a:lnTo>
                <a:lnTo>
                  <a:pt x="67627" y="0"/>
                </a:lnTo>
                <a:close/>
              </a:path>
            </a:pathLst>
          </a:cu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Freeform 8"/>
          <p:cNvSpPr/>
          <p:nvPr/>
        </p:nvSpPr>
        <p:spPr>
          <a:xfrm>
            <a:off x="9096375" y="4540568"/>
            <a:ext cx="211455" cy="235267"/>
          </a:xfrm>
          <a:custGeom>
            <a:avLst/>
            <a:gdLst/>
            <a:ahLst/>
            <a:cxnLst/>
            <a:rect l="l" t="t" r="r" b="b"/>
            <a:pathLst>
              <a:path w="211455" h="235267">
                <a:moveTo>
                  <a:pt x="0" y="235267"/>
                </a:moveTo>
                <a:lnTo>
                  <a:pt x="37147" y="0"/>
                </a:lnTo>
                <a:lnTo>
                  <a:pt x="211455" y="122872"/>
                </a:lnTo>
                <a:close/>
              </a:path>
            </a:pathLst>
          </a:cu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Freeform 9"/>
          <p:cNvSpPr/>
          <p:nvPr/>
        </p:nvSpPr>
        <p:spPr>
          <a:xfrm>
            <a:off x="5962650" y="5582602"/>
            <a:ext cx="213360" cy="213360"/>
          </a:xfrm>
          <a:custGeom>
            <a:avLst/>
            <a:gdLst/>
            <a:ahLst/>
            <a:cxnLst/>
            <a:rect l="l" t="t" r="r" b="b"/>
            <a:pathLst>
              <a:path w="213360" h="213360">
                <a:moveTo>
                  <a:pt x="0" y="106680"/>
                </a:moveTo>
                <a:lnTo>
                  <a:pt x="213360" y="0"/>
                </a:lnTo>
                <a:lnTo>
                  <a:pt x="213360" y="213360"/>
                </a:lnTo>
                <a:close/>
              </a:path>
            </a:pathLst>
          </a:cu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Freeform 10"/>
          <p:cNvSpPr/>
          <p:nvPr/>
        </p:nvSpPr>
        <p:spPr>
          <a:xfrm>
            <a:off x="2940368" y="4558665"/>
            <a:ext cx="210502" cy="235267"/>
          </a:xfrm>
          <a:custGeom>
            <a:avLst/>
            <a:gdLst/>
            <a:ahLst/>
            <a:cxnLst/>
            <a:rect l="l" t="t" r="r" b="b"/>
            <a:pathLst>
              <a:path w="210502" h="235267">
                <a:moveTo>
                  <a:pt x="0" y="0"/>
                </a:moveTo>
                <a:lnTo>
                  <a:pt x="210502" y="112395"/>
                </a:lnTo>
                <a:lnTo>
                  <a:pt x="37147" y="235267"/>
                </a:lnTo>
                <a:close/>
              </a:path>
            </a:pathLst>
          </a:cu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Freeform 11"/>
          <p:cNvSpPr/>
          <p:nvPr/>
        </p:nvSpPr>
        <p:spPr>
          <a:xfrm>
            <a:off x="4084320" y="2937510"/>
            <a:ext cx="236220" cy="201930"/>
          </a:xfrm>
          <a:custGeom>
            <a:avLst/>
            <a:gdLst/>
            <a:ahLst/>
            <a:cxnLst/>
            <a:rect l="l" t="t" r="r" b="b"/>
            <a:pathLst>
              <a:path w="236220" h="201930">
                <a:moveTo>
                  <a:pt x="236220" y="33338"/>
                </a:moveTo>
                <a:lnTo>
                  <a:pt x="66675" y="201930"/>
                </a:lnTo>
                <a:lnTo>
                  <a:pt x="0" y="0"/>
                </a:lnTo>
                <a:close/>
              </a:path>
            </a:pathLst>
          </a:cu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tep-tile-1"/>
          <p:cNvSpPr/>
          <p:nvPr/>
        </p:nvSpPr>
        <p:spPr>
          <a:xfrm>
            <a:off x="4667250" y="1752600"/>
            <a:ext cx="2857500" cy="1257300"/>
          </a:xfrm>
          <a:prstGeom prst="roundRect">
            <a:avLst>
              <a:gd name="adj" fmla="val 606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num-1"/>
          <p:cNvSpPr/>
          <p:nvPr/>
        </p:nvSpPr>
        <p:spPr>
          <a:xfrm>
            <a:off x="4819650" y="1914525"/>
            <a:ext cx="3048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tep-num-1"/>
          <p:cNvSpPr txBox="1"/>
          <p:nvPr/>
        </p:nvSpPr>
        <p:spPr>
          <a:xfrm>
            <a:off x="4819650" y="1838102"/>
            <a:ext cx="3048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1</a:t>
            </a:r>
          </a:p>
        </p:txBody>
      </p:sp>
      <p:sp>
        <p:nvSpPr>
          <p:cNvPr id="16" name="step-head-1"/>
          <p:cNvSpPr txBox="1"/>
          <p:nvPr/>
        </p:nvSpPr>
        <p:spPr>
          <a:xfrm>
            <a:off x="5219700" y="1877384"/>
            <a:ext cx="2152650" cy="3035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MORE PARTNERS</a:t>
            </a:r>
          </a:p>
        </p:txBody>
      </p:sp>
      <p:sp>
        <p:nvSpPr>
          <p:cNvPr id="17" name="step-text-1"/>
          <p:cNvSpPr txBox="1"/>
          <p:nvPr/>
        </p:nvSpPr>
        <p:spPr>
          <a:xfrm>
            <a:off x="4819650" y="2280062"/>
            <a:ext cx="25527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chemeClr val="bg1"/>
                </a:solidFill>
                <a:latin typeface="+mj-lt"/>
              </a:rPr>
              <a:t>Each market adds a distribution partner and its retailer relationships</a:t>
            </a:r>
          </a:p>
        </p:txBody>
      </p:sp>
      <p:sp>
        <p:nvSpPr>
          <p:cNvPr id="18" name="step-tile-2"/>
          <p:cNvSpPr/>
          <p:nvPr/>
        </p:nvSpPr>
        <p:spPr>
          <a:xfrm>
            <a:off x="8467725" y="3019425"/>
            <a:ext cx="2857500" cy="1257300"/>
          </a:xfrm>
          <a:prstGeom prst="roundRect">
            <a:avLst>
              <a:gd name="adj" fmla="val 606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tep-num-2"/>
          <p:cNvSpPr/>
          <p:nvPr/>
        </p:nvSpPr>
        <p:spPr>
          <a:xfrm>
            <a:off x="8620125" y="3181350"/>
            <a:ext cx="3048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ep-num-2"/>
          <p:cNvSpPr txBox="1"/>
          <p:nvPr/>
        </p:nvSpPr>
        <p:spPr>
          <a:xfrm>
            <a:off x="8620125" y="3104927"/>
            <a:ext cx="3048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2</a:t>
            </a:r>
          </a:p>
        </p:txBody>
      </p:sp>
      <p:sp>
        <p:nvSpPr>
          <p:cNvPr id="21" name="step-head-2"/>
          <p:cNvSpPr txBox="1"/>
          <p:nvPr/>
        </p:nvSpPr>
        <p:spPr>
          <a:xfrm>
            <a:off x="9020175" y="3144209"/>
            <a:ext cx="2152650" cy="3035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WIDER DISTRIBUTION</a:t>
            </a:r>
          </a:p>
        </p:txBody>
      </p:sp>
      <p:sp>
        <p:nvSpPr>
          <p:cNvPr id="22" name="step-text-2"/>
          <p:cNvSpPr txBox="1"/>
          <p:nvPr/>
        </p:nvSpPr>
        <p:spPr>
          <a:xfrm>
            <a:off x="8620125" y="3546887"/>
            <a:ext cx="25527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chemeClr val="bg1"/>
                </a:solidFill>
                <a:latin typeface="+mj-lt"/>
              </a:rPr>
              <a:t>More outlets carry Meridian products sooner</a:t>
            </a:r>
          </a:p>
        </p:txBody>
      </p:sp>
      <p:sp>
        <p:nvSpPr>
          <p:cNvPr id="23" name="step-tile-3"/>
          <p:cNvSpPr/>
          <p:nvPr/>
        </p:nvSpPr>
        <p:spPr>
          <a:xfrm>
            <a:off x="7019925" y="5057775"/>
            <a:ext cx="2857500" cy="1257300"/>
          </a:xfrm>
          <a:prstGeom prst="roundRect">
            <a:avLst>
              <a:gd name="adj" fmla="val 606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step-num-3"/>
          <p:cNvSpPr/>
          <p:nvPr/>
        </p:nvSpPr>
        <p:spPr>
          <a:xfrm>
            <a:off x="7172325" y="5219700"/>
            <a:ext cx="3048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num-3"/>
          <p:cNvSpPr txBox="1"/>
          <p:nvPr/>
        </p:nvSpPr>
        <p:spPr>
          <a:xfrm>
            <a:off x="7172325" y="5143277"/>
            <a:ext cx="3048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3</a:t>
            </a:r>
          </a:p>
        </p:txBody>
      </p:sp>
      <p:sp>
        <p:nvSpPr>
          <p:cNvPr id="26" name="step-head-3"/>
          <p:cNvSpPr txBox="1"/>
          <p:nvPr/>
        </p:nvSpPr>
        <p:spPr>
          <a:xfrm>
            <a:off x="7572375" y="5182559"/>
            <a:ext cx="2152650" cy="3035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MORE SALES DATA</a:t>
            </a:r>
          </a:p>
        </p:txBody>
      </p:sp>
      <p:sp>
        <p:nvSpPr>
          <p:cNvPr id="27" name="step-text-3"/>
          <p:cNvSpPr txBox="1"/>
          <p:nvPr/>
        </p:nvSpPr>
        <p:spPr>
          <a:xfrm>
            <a:off x="7172325" y="5585237"/>
            <a:ext cx="25527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chemeClr val="bg1"/>
                </a:solidFill>
                <a:latin typeface="+mj-lt"/>
              </a:rPr>
              <a:t>Wider distribution gives earlier, more detailed sell-through data</a:t>
            </a:r>
          </a:p>
        </p:txBody>
      </p:sp>
      <p:sp>
        <p:nvSpPr>
          <p:cNvPr id="28" name="step-tile-4"/>
          <p:cNvSpPr/>
          <p:nvPr/>
        </p:nvSpPr>
        <p:spPr>
          <a:xfrm>
            <a:off x="2314575" y="5057775"/>
            <a:ext cx="2857500" cy="1257300"/>
          </a:xfrm>
          <a:prstGeom prst="roundRect">
            <a:avLst>
              <a:gd name="adj" fmla="val 606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num-4"/>
          <p:cNvSpPr/>
          <p:nvPr/>
        </p:nvSpPr>
        <p:spPr>
          <a:xfrm>
            <a:off x="2466975" y="5219700"/>
            <a:ext cx="3048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step-num-4"/>
          <p:cNvSpPr txBox="1"/>
          <p:nvPr/>
        </p:nvSpPr>
        <p:spPr>
          <a:xfrm>
            <a:off x="2466975" y="5143277"/>
            <a:ext cx="3048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4</a:t>
            </a:r>
          </a:p>
        </p:txBody>
      </p:sp>
      <p:sp>
        <p:nvSpPr>
          <p:cNvPr id="31" name="step-head-4"/>
          <p:cNvSpPr txBox="1"/>
          <p:nvPr/>
        </p:nvSpPr>
        <p:spPr>
          <a:xfrm>
            <a:off x="2867025" y="5182559"/>
            <a:ext cx="2152650" cy="3035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BETTER TARGETING</a:t>
            </a:r>
          </a:p>
        </p:txBody>
      </p:sp>
      <p:sp>
        <p:nvSpPr>
          <p:cNvPr id="32" name="step-text-4"/>
          <p:cNvSpPr txBox="1"/>
          <p:nvPr/>
        </p:nvSpPr>
        <p:spPr>
          <a:xfrm>
            <a:off x="2466975" y="5585237"/>
            <a:ext cx="25527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chemeClr val="bg1"/>
                </a:solidFill>
                <a:latin typeface="+mj-lt"/>
              </a:rPr>
              <a:t>The data shows which products, prices and channels work</a:t>
            </a:r>
          </a:p>
        </p:txBody>
      </p:sp>
      <p:sp>
        <p:nvSpPr>
          <p:cNvPr id="33" name="step-tile-5"/>
          <p:cNvSpPr/>
          <p:nvPr/>
        </p:nvSpPr>
        <p:spPr>
          <a:xfrm>
            <a:off x="866775" y="3019425"/>
            <a:ext cx="2857500" cy="1257300"/>
          </a:xfrm>
          <a:prstGeom prst="roundRect">
            <a:avLst>
              <a:gd name="adj" fmla="val 606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tep-num-5"/>
          <p:cNvSpPr/>
          <p:nvPr/>
        </p:nvSpPr>
        <p:spPr>
          <a:xfrm>
            <a:off x="1019175" y="3181350"/>
            <a:ext cx="3048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tep-num-5"/>
          <p:cNvSpPr txBox="1"/>
          <p:nvPr/>
        </p:nvSpPr>
        <p:spPr>
          <a:xfrm>
            <a:off x="1019175" y="3104927"/>
            <a:ext cx="3048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5</a:t>
            </a:r>
          </a:p>
        </p:txBody>
      </p:sp>
      <p:sp>
        <p:nvSpPr>
          <p:cNvPr id="36" name="step-head-5"/>
          <p:cNvSpPr txBox="1"/>
          <p:nvPr/>
        </p:nvSpPr>
        <p:spPr>
          <a:xfrm>
            <a:off x="1419225" y="3144209"/>
            <a:ext cx="2152650" cy="3035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0"/>
              </a:lnSpc>
              <a:defRPr/>
            </a:pPr>
            <a:r>
              <a:rPr sz="1400" b="1" i="0">
                <a:solidFill>
                  <a:schemeClr val="bg1"/>
                </a:solidFill>
                <a:latin typeface="+mj-lt"/>
              </a:rPr>
              <a:t>CHEAPER NEXT ENTRY</a:t>
            </a:r>
          </a:p>
        </p:txBody>
      </p:sp>
      <p:sp>
        <p:nvSpPr>
          <p:cNvPr id="37" name="step-text-5"/>
          <p:cNvSpPr txBox="1"/>
          <p:nvPr/>
        </p:nvSpPr>
        <p:spPr>
          <a:xfrm>
            <a:off x="1019175" y="3546887"/>
            <a:ext cx="2552700" cy="6362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defRPr/>
            </a:pPr>
            <a:r>
              <a:rPr sz="1200" b="0" i="0">
                <a:solidFill>
                  <a:schemeClr val="bg1"/>
                </a:solidFill>
                <a:latin typeface="+mj-lt"/>
              </a:rPr>
              <a:t>The next market starts from proven choices, so it should cost less to enter, which attracts more partners</a:t>
            </a:r>
          </a:p>
        </p:txBody>
      </p:sp>
      <p:sp>
        <p:nvSpPr>
          <p:cNvPr id="38" name="loop-hub"/>
          <p:cNvSpPr/>
          <p:nvPr/>
        </p:nvSpPr>
        <p:spPr>
          <a:xfrm>
            <a:off x="4381500" y="3524250"/>
            <a:ext cx="3429000" cy="137160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loop-hub-claim"/>
          <p:cNvSpPr txBox="1"/>
          <p:nvPr/>
        </p:nvSpPr>
        <p:spPr>
          <a:xfrm>
            <a:off x="4524375" y="3748288"/>
            <a:ext cx="3143250" cy="547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79"/>
              </a:lnSpc>
              <a:defRPr/>
            </a:pPr>
            <a:r>
              <a:rPr sz="1600" b="1" i="0">
                <a:solidFill>
                  <a:schemeClr val="tx2"/>
                </a:solidFill>
                <a:latin typeface="+mj-lt"/>
              </a:rPr>
              <a:t>We expect partners to lower Indonesia's entry cost;</a:t>
            </a:r>
          </a:p>
        </p:txBody>
      </p:sp>
      <p:sp>
        <p:nvSpPr>
          <p:cNvPr id="40" name="loop-hub-nodata"/>
          <p:cNvSpPr txBox="1"/>
          <p:nvPr/>
        </p:nvSpPr>
        <p:spPr>
          <a:xfrm>
            <a:off x="4524375" y="4337498"/>
            <a:ext cx="3143101" cy="2831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79"/>
              </a:lnSpc>
              <a:defRPr/>
            </a:pPr>
            <a:r>
              <a:rPr sz="1600" b="1" i="0">
                <a:solidFill>
                  <a:schemeClr val="tx2"/>
                </a:solidFill>
                <a:latin typeface="+mj-lt"/>
              </a:rPr>
              <a:t>no data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Spending stays capped at $12M until Gate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9</a:t>
            </a:r>
            <a:endParaRPr lang="en-US"/>
          </a:p>
        </p:txBody>
      </p:sp>
      <p:sp>
        <p:nvSpPr>
          <p:cNvPr id="59" name="subtitle"/>
          <p:cNvSpPr txBox="1"/>
          <p:nvPr/>
        </p:nvSpPr>
        <p:spPr>
          <a:xfrm>
            <a:off x="409575" y="1307209"/>
            <a:ext cx="11363325" cy="2831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At most $12M is at risk before Gate 2; launch marketing is the largest part at $4.0M</a:t>
            </a:r>
          </a:p>
        </p:txBody>
      </p:sp>
      <p:sp>
        <p:nvSpPr>
          <p:cNvPr id="63" name="chart-axis-title"/>
          <p:cNvSpPr txBox="1"/>
          <p:nvPr/>
        </p:nvSpPr>
        <p:spPr>
          <a:xfrm>
            <a:off x="409575" y="1847655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050" b="1" i="0">
                <a:solidFill>
                  <a:srgbClr val="5F5E5A"/>
                </a:solidFill>
                <a:latin typeface="+mj-lt"/>
              </a:rPr>
              <a:t>Spending ($M)</a:t>
            </a:r>
          </a:p>
        </p:txBody>
      </p:sp>
      <p:sp>
        <p:nvSpPr>
          <p:cNvPr id="4" name="chart-ytick-0"/>
          <p:cNvSpPr txBox="1"/>
          <p:nvPr/>
        </p:nvSpPr>
        <p:spPr>
          <a:xfrm>
            <a:off x="409575" y="5610044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0</a:t>
            </a:r>
          </a:p>
        </p:txBody>
      </p:sp>
      <p:sp>
        <p:nvSpPr>
          <p:cNvPr id="60" name="chart-grid-2"/>
          <p:cNvSpPr/>
          <p:nvPr/>
        </p:nvSpPr>
        <p:spPr>
          <a:xfrm>
            <a:off x="952500" y="5150048"/>
            <a:ext cx="6858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hart-ytick-2"/>
          <p:cNvSpPr txBox="1"/>
          <p:nvPr/>
        </p:nvSpPr>
        <p:spPr>
          <a:xfrm>
            <a:off x="409575" y="5045092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2</a:t>
            </a:r>
          </a:p>
        </p:txBody>
      </p:sp>
      <p:sp>
        <p:nvSpPr>
          <p:cNvPr id="7" name="chart-grid-4"/>
          <p:cNvSpPr/>
          <p:nvPr/>
        </p:nvSpPr>
        <p:spPr>
          <a:xfrm>
            <a:off x="952500" y="4584353"/>
            <a:ext cx="6858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hart-ytick-4"/>
          <p:cNvSpPr txBox="1"/>
          <p:nvPr/>
        </p:nvSpPr>
        <p:spPr>
          <a:xfrm>
            <a:off x="409575" y="4479396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4</a:t>
            </a:r>
          </a:p>
        </p:txBody>
      </p:sp>
      <p:sp>
        <p:nvSpPr>
          <p:cNvPr id="9" name="chart-grid-6"/>
          <p:cNvSpPr/>
          <p:nvPr/>
        </p:nvSpPr>
        <p:spPr>
          <a:xfrm>
            <a:off x="952500" y="4019550"/>
            <a:ext cx="6858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hart-ytick-6"/>
          <p:cNvSpPr txBox="1"/>
          <p:nvPr/>
        </p:nvSpPr>
        <p:spPr>
          <a:xfrm>
            <a:off x="409575" y="3914594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6</a:t>
            </a:r>
          </a:p>
        </p:txBody>
      </p:sp>
      <p:sp>
        <p:nvSpPr>
          <p:cNvPr id="11" name="chart-grid-8"/>
          <p:cNvSpPr/>
          <p:nvPr/>
        </p:nvSpPr>
        <p:spPr>
          <a:xfrm>
            <a:off x="952500" y="3454598"/>
            <a:ext cx="6858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hart-ytick-8"/>
          <p:cNvSpPr txBox="1"/>
          <p:nvPr/>
        </p:nvSpPr>
        <p:spPr>
          <a:xfrm>
            <a:off x="409575" y="3349642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8</a:t>
            </a:r>
          </a:p>
        </p:txBody>
      </p:sp>
      <p:sp>
        <p:nvSpPr>
          <p:cNvPr id="13" name="chart-grid-10"/>
          <p:cNvSpPr/>
          <p:nvPr/>
        </p:nvSpPr>
        <p:spPr>
          <a:xfrm>
            <a:off x="952500" y="2888903"/>
            <a:ext cx="6858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hart-ytick-10"/>
          <p:cNvSpPr txBox="1"/>
          <p:nvPr/>
        </p:nvSpPr>
        <p:spPr>
          <a:xfrm>
            <a:off x="409575" y="2783946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10</a:t>
            </a:r>
          </a:p>
        </p:txBody>
      </p:sp>
      <p:sp>
        <p:nvSpPr>
          <p:cNvPr id="56" name="chart-grid-12"/>
          <p:cNvSpPr/>
          <p:nvPr/>
        </p:nvSpPr>
        <p:spPr>
          <a:xfrm>
            <a:off x="952500" y="2324100"/>
            <a:ext cx="6858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hart-ytick-12"/>
          <p:cNvSpPr txBox="1"/>
          <p:nvPr/>
        </p:nvSpPr>
        <p:spPr>
          <a:xfrm>
            <a:off x="409575" y="2219144"/>
            <a:ext cx="4476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50"/>
              </a:lnSpc>
              <a:defRPr/>
            </a:pPr>
            <a:r>
              <a:rPr sz="1000" b="0" i="0">
                <a:solidFill>
                  <a:srgbClr val="5F5E5A"/>
                </a:solidFill>
                <a:latin typeface="+mj-lt"/>
              </a:rPr>
              <a:t>12</a:t>
            </a:r>
          </a:p>
        </p:txBody>
      </p:sp>
      <p:sp>
        <p:nvSpPr>
          <p:cNvPr id="16" name="chart-bar-onboarding"/>
          <p:cNvSpPr/>
          <p:nvPr/>
        </p:nvSpPr>
        <p:spPr>
          <a:xfrm>
            <a:off x="1143000" y="5008215"/>
            <a:ext cx="762000" cy="7066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hart-val-onboarding"/>
          <p:cNvSpPr txBox="1"/>
          <p:nvPr/>
        </p:nvSpPr>
        <p:spPr>
          <a:xfrm>
            <a:off x="952500" y="4760370"/>
            <a:ext cx="114285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$2.5M</a:t>
            </a:r>
          </a:p>
        </p:txBody>
      </p:sp>
      <p:sp>
        <p:nvSpPr>
          <p:cNvPr id="18" name="chart-xlab-onboarding"/>
          <p:cNvSpPr txBox="1"/>
          <p:nvPr/>
        </p:nvSpPr>
        <p:spPr>
          <a:xfrm>
            <a:off x="990600" y="5800530"/>
            <a:ext cx="10668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Partner onboarding</a:t>
            </a:r>
          </a:p>
        </p:txBody>
      </p:sp>
      <p:sp>
        <p:nvSpPr>
          <p:cNvPr id="19" name="chart-connector-1"/>
          <p:cNvSpPr/>
          <p:nvPr/>
        </p:nvSpPr>
        <p:spPr>
          <a:xfrm>
            <a:off x="1905000" y="5008215"/>
            <a:ext cx="381000" cy="952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hart-bar-marketing"/>
          <p:cNvSpPr/>
          <p:nvPr/>
        </p:nvSpPr>
        <p:spPr>
          <a:xfrm>
            <a:off x="2286000" y="3878461"/>
            <a:ext cx="762000" cy="11304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hart-val-marketing"/>
          <p:cNvSpPr txBox="1"/>
          <p:nvPr/>
        </p:nvSpPr>
        <p:spPr>
          <a:xfrm>
            <a:off x="2095500" y="3630616"/>
            <a:ext cx="114285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$4.0M</a:t>
            </a:r>
          </a:p>
        </p:txBody>
      </p:sp>
      <p:sp>
        <p:nvSpPr>
          <p:cNvPr id="22" name="chart-xlab-marketing"/>
          <p:cNvSpPr txBox="1"/>
          <p:nvPr/>
        </p:nvSpPr>
        <p:spPr>
          <a:xfrm>
            <a:off x="2133600" y="5800530"/>
            <a:ext cx="106665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Launch marketing</a:t>
            </a:r>
          </a:p>
        </p:txBody>
      </p:sp>
      <p:sp>
        <p:nvSpPr>
          <p:cNvPr id="23" name="chart-connector-2"/>
          <p:cNvSpPr/>
          <p:nvPr/>
        </p:nvSpPr>
        <p:spPr>
          <a:xfrm>
            <a:off x="3048000" y="3878461"/>
            <a:ext cx="381000" cy="952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hart-bar-distribution"/>
          <p:cNvSpPr/>
          <p:nvPr/>
        </p:nvSpPr>
        <p:spPr>
          <a:xfrm>
            <a:off x="3429000" y="3030736"/>
            <a:ext cx="762000" cy="847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hart-val-distribution"/>
          <p:cNvSpPr txBox="1"/>
          <p:nvPr/>
        </p:nvSpPr>
        <p:spPr>
          <a:xfrm>
            <a:off x="3238500" y="2782891"/>
            <a:ext cx="114285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$3.0M</a:t>
            </a:r>
          </a:p>
        </p:txBody>
      </p:sp>
      <p:sp>
        <p:nvSpPr>
          <p:cNvPr id="26" name="chart-xlab-distribution"/>
          <p:cNvSpPr txBox="1"/>
          <p:nvPr/>
        </p:nvSpPr>
        <p:spPr>
          <a:xfrm>
            <a:off x="3276600" y="5800530"/>
            <a:ext cx="106665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Distribution setup</a:t>
            </a:r>
          </a:p>
        </p:txBody>
      </p:sp>
      <p:sp>
        <p:nvSpPr>
          <p:cNvPr id="27" name="chart-connector-3"/>
          <p:cNvSpPr/>
          <p:nvPr/>
        </p:nvSpPr>
        <p:spPr>
          <a:xfrm>
            <a:off x="4191000" y="3030736"/>
            <a:ext cx="381000" cy="952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hart-bar-team"/>
          <p:cNvSpPr/>
          <p:nvPr/>
        </p:nvSpPr>
        <p:spPr>
          <a:xfrm>
            <a:off x="4572000" y="2606873"/>
            <a:ext cx="762000" cy="4238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hart-val-team"/>
          <p:cNvSpPr txBox="1"/>
          <p:nvPr/>
        </p:nvSpPr>
        <p:spPr>
          <a:xfrm>
            <a:off x="4381500" y="2359028"/>
            <a:ext cx="114285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$1.5M</a:t>
            </a:r>
          </a:p>
        </p:txBody>
      </p:sp>
      <p:sp>
        <p:nvSpPr>
          <p:cNvPr id="30" name="chart-xlab-team"/>
          <p:cNvSpPr txBox="1"/>
          <p:nvPr/>
        </p:nvSpPr>
        <p:spPr>
          <a:xfrm>
            <a:off x="4419600" y="5800530"/>
            <a:ext cx="106665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Local team</a:t>
            </a:r>
          </a:p>
        </p:txBody>
      </p:sp>
      <p:sp>
        <p:nvSpPr>
          <p:cNvPr id="31" name="chart-connector-4"/>
          <p:cNvSpPr/>
          <p:nvPr/>
        </p:nvSpPr>
        <p:spPr>
          <a:xfrm>
            <a:off x="5334000" y="2606873"/>
            <a:ext cx="381000" cy="952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hart-bar-contingency"/>
          <p:cNvSpPr/>
          <p:nvPr/>
        </p:nvSpPr>
        <p:spPr>
          <a:xfrm>
            <a:off x="5715000" y="2324100"/>
            <a:ext cx="762000" cy="2827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hart-val-contingency"/>
          <p:cNvSpPr txBox="1"/>
          <p:nvPr/>
        </p:nvSpPr>
        <p:spPr>
          <a:xfrm>
            <a:off x="5524500" y="2076255"/>
            <a:ext cx="114285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$1.0M</a:t>
            </a:r>
          </a:p>
        </p:txBody>
      </p:sp>
      <p:sp>
        <p:nvSpPr>
          <p:cNvPr id="34" name="chart-xlab-contingency"/>
          <p:cNvSpPr txBox="1"/>
          <p:nvPr/>
        </p:nvSpPr>
        <p:spPr>
          <a:xfrm>
            <a:off x="5562600" y="5800530"/>
            <a:ext cx="106665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defRPr/>
            </a:pPr>
            <a:r>
              <a:rPr sz="1050" b="0" i="0">
                <a:solidFill>
                  <a:srgbClr val="1A1A1A"/>
                </a:solidFill>
                <a:latin typeface="+mj-lt"/>
              </a:rPr>
              <a:t>Contingency</a:t>
            </a:r>
          </a:p>
        </p:txBody>
      </p:sp>
      <p:sp>
        <p:nvSpPr>
          <p:cNvPr id="57" name="chart-connector-5"/>
          <p:cNvSpPr/>
          <p:nvPr/>
        </p:nvSpPr>
        <p:spPr>
          <a:xfrm>
            <a:off x="6477000" y="2324100"/>
            <a:ext cx="381000" cy="952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hart-bar-total"/>
          <p:cNvSpPr/>
          <p:nvPr/>
        </p:nvSpPr>
        <p:spPr>
          <a:xfrm>
            <a:off x="6858000" y="2324100"/>
            <a:ext cx="762000" cy="339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hart-val-total"/>
          <p:cNvSpPr txBox="1"/>
          <p:nvPr/>
        </p:nvSpPr>
        <p:spPr>
          <a:xfrm>
            <a:off x="6667500" y="2076255"/>
            <a:ext cx="11430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0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$12M</a:t>
            </a:r>
          </a:p>
        </p:txBody>
      </p:sp>
      <p:sp>
        <p:nvSpPr>
          <p:cNvPr id="37" name="chart-xlab-total"/>
          <p:cNvSpPr txBox="1"/>
          <p:nvPr/>
        </p:nvSpPr>
        <p:spPr>
          <a:xfrm>
            <a:off x="6705600" y="5800530"/>
            <a:ext cx="10668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defRPr/>
            </a:pPr>
            <a:r>
              <a:rPr sz="1050" b="1" i="0">
                <a:solidFill>
                  <a:srgbClr val="1A1A1A"/>
                </a:solidFill>
                <a:latin typeface="+mj-lt"/>
              </a:rPr>
              <a:t>Total</a:t>
            </a:r>
          </a:p>
        </p:txBody>
      </p:sp>
      <p:sp>
        <p:nvSpPr>
          <p:cNvPr id="38" name="chart-baseline"/>
          <p:cNvSpPr/>
          <p:nvPr/>
        </p:nvSpPr>
        <p:spPr>
          <a:xfrm>
            <a:off x="952500" y="5715000"/>
            <a:ext cx="6858000" cy="9525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58" name="chart-cap-line"/>
          <p:cNvCxnSpPr/>
          <p:nvPr/>
        </p:nvCxnSpPr>
        <p:spPr>
          <a:xfrm>
            <a:off x="952500" y="2324100"/>
            <a:ext cx="6858000" cy="0"/>
          </a:xfrm>
          <a:prstGeom prst="line">
            <a:avLst/>
          </a:prstGeom>
          <a:ln w="19050" cap="flat">
            <a:solidFill>
              <a:schemeClr val="tx2"/>
            </a:solidFill>
            <a:custDash>
              <a:ds d="30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hart-cap-label"/>
          <p:cNvSpPr txBox="1"/>
          <p:nvPr/>
        </p:nvSpPr>
        <p:spPr>
          <a:xfrm>
            <a:off x="1028700" y="2057205"/>
            <a:ext cx="2476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050" b="1" i="0">
                <a:solidFill>
                  <a:schemeClr val="tx2"/>
                </a:solidFill>
                <a:latin typeface="+mj-lt"/>
              </a:rPr>
              <a:t>Capped at $12M until Gate 2</a:t>
            </a:r>
          </a:p>
        </p:txBody>
      </p:sp>
      <p:sp>
        <p:nvSpPr>
          <p:cNvPr id="40" name="ev-divider-v"/>
          <p:cNvSpPr/>
          <p:nvPr/>
        </p:nvSpPr>
        <p:spPr>
          <a:xfrm>
            <a:off x="8115300" y="1866900"/>
            <a:ext cx="9525" cy="441960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ev-marketing-marker"/>
          <p:cNvSpPr/>
          <p:nvPr/>
        </p:nvSpPr>
        <p:spPr>
          <a:xfrm>
            <a:off x="8343900" y="1952625"/>
            <a:ext cx="133350" cy="133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ev-marketing-head"/>
          <p:cNvSpPr txBox="1"/>
          <p:nvPr/>
        </p:nvSpPr>
        <p:spPr>
          <a:xfrm>
            <a:off x="8591550" y="1885690"/>
            <a:ext cx="3181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Launch marketing is the largest part</a:t>
            </a:r>
          </a:p>
        </p:txBody>
      </p:sp>
      <p:sp>
        <p:nvSpPr>
          <p:cNvPr id="43" name="ev-marketing-body"/>
          <p:cNvSpPr txBox="1"/>
          <p:nvPr/>
        </p:nvSpPr>
        <p:spPr>
          <a:xfrm>
            <a:off x="8591550" y="2161952"/>
            <a:ext cx="31813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$4.0M, a third of the total</a:t>
            </a:r>
          </a:p>
        </p:txBody>
      </p:sp>
      <p:sp>
        <p:nvSpPr>
          <p:cNvPr id="44" name="ev-marketing-rule"/>
          <p:cNvSpPr/>
          <p:nvPr/>
        </p:nvSpPr>
        <p:spPr>
          <a:xfrm>
            <a:off x="8343900" y="2876550"/>
            <a:ext cx="3429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ev-setup-marker"/>
          <p:cNvSpPr/>
          <p:nvPr/>
        </p:nvSpPr>
        <p:spPr>
          <a:xfrm>
            <a:off x="8343900" y="3057525"/>
            <a:ext cx="133350" cy="133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ev-setup-head"/>
          <p:cNvSpPr txBox="1"/>
          <p:nvPr/>
        </p:nvSpPr>
        <p:spPr>
          <a:xfrm>
            <a:off x="8591550" y="2990590"/>
            <a:ext cx="3181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Set-up costs</a:t>
            </a:r>
          </a:p>
        </p:txBody>
      </p:sp>
      <p:sp>
        <p:nvSpPr>
          <p:cNvPr id="47" name="ev-setup-body"/>
          <p:cNvSpPr txBox="1"/>
          <p:nvPr/>
        </p:nvSpPr>
        <p:spPr>
          <a:xfrm>
            <a:off x="8591550" y="3266852"/>
            <a:ext cx="3181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Partner onboarding $2.5M and distribution setup $3.0M</a:t>
            </a:r>
          </a:p>
        </p:txBody>
      </p:sp>
      <p:sp>
        <p:nvSpPr>
          <p:cNvPr id="48" name="ev-setup-rule"/>
          <p:cNvSpPr/>
          <p:nvPr/>
        </p:nvSpPr>
        <p:spPr>
          <a:xfrm>
            <a:off x="8343900" y="3981450"/>
            <a:ext cx="3429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ev-team-marker"/>
          <p:cNvSpPr/>
          <p:nvPr/>
        </p:nvSpPr>
        <p:spPr>
          <a:xfrm>
            <a:off x="8343900" y="4162425"/>
            <a:ext cx="133350" cy="133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ev-team-head"/>
          <p:cNvSpPr txBox="1"/>
          <p:nvPr/>
        </p:nvSpPr>
        <p:spPr>
          <a:xfrm>
            <a:off x="8591550" y="4095490"/>
            <a:ext cx="3181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Team and buffer</a:t>
            </a:r>
          </a:p>
        </p:txBody>
      </p:sp>
      <p:sp>
        <p:nvSpPr>
          <p:cNvPr id="51" name="ev-team-body"/>
          <p:cNvSpPr txBox="1"/>
          <p:nvPr/>
        </p:nvSpPr>
        <p:spPr>
          <a:xfrm>
            <a:off x="8591550" y="4371752"/>
            <a:ext cx="3181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A local team of $1.5M and $1.0M of contingency</a:t>
            </a:r>
          </a:p>
        </p:txBody>
      </p:sp>
      <p:sp>
        <p:nvSpPr>
          <p:cNvPr id="52" name="ev-team-rule"/>
          <p:cNvSpPr/>
          <p:nvPr/>
        </p:nvSpPr>
        <p:spPr>
          <a:xfrm>
            <a:off x="8343900" y="5086350"/>
            <a:ext cx="3429000" cy="9525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ev-phase2-marker"/>
          <p:cNvSpPr/>
          <p:nvPr/>
        </p:nvSpPr>
        <p:spPr>
          <a:xfrm>
            <a:off x="8353425" y="5276850"/>
            <a:ext cx="114300" cy="1143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ev-phase2-head"/>
          <p:cNvSpPr txBox="1"/>
          <p:nvPr/>
        </p:nvSpPr>
        <p:spPr>
          <a:xfrm>
            <a:off x="8591550" y="5200390"/>
            <a:ext cx="3181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Phase 2 is separate</a:t>
            </a:r>
          </a:p>
        </p:txBody>
      </p:sp>
      <p:sp>
        <p:nvSpPr>
          <p:cNvPr id="55" name="ev-phase2-body"/>
          <p:cNvSpPr txBox="1"/>
          <p:nvPr/>
        </p:nvSpPr>
        <p:spPr>
          <a:xfrm>
            <a:off x="8591550" y="5476652"/>
            <a:ext cx="3181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defRPr/>
            </a:pPr>
            <a:r>
              <a:rPr sz="1200" b="0" i="0">
                <a:solidFill>
                  <a:srgbClr val="5F5E5A"/>
                </a:solidFill>
                <a:latin typeface="+mj-lt"/>
              </a:rPr>
              <a:t>Indonesia is a new funding decision at month 18, not part of this $12M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/>
            </a:pPr>
            <a:r>
              <a:rPr sz="2800"/>
              <a:t>Approve $12M of Phase 1 funding by 15 November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/>
              <a:t>Illustrative data, not real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160" y="6382512"/>
            <a:ext cx="1353312" cy="274320"/>
          </a:xfrm>
        </p:spPr>
        <p:txBody>
          <a:bodyPr/>
          <a:lstStyle/>
          <a:p>
            <a:pPr>
              <a:defRPr/>
            </a:pPr>
            <a:r>
              <a:rPr lang="en-US" smtClean="0"/>
              <a:t>10</a:t>
            </a:r>
            <a:endParaRPr lang="en-US"/>
          </a:p>
        </p:txBody>
      </p:sp>
      <p:sp>
        <p:nvSpPr>
          <p:cNvPr id="46" name="Rectangle 1"/>
          <p:cNvSpPr/>
          <p:nvPr/>
        </p:nvSpPr>
        <p:spPr>
          <a:xfrm>
            <a:off x="409575" y="285750"/>
            <a:ext cx="638175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ubtitle"/>
          <p:cNvSpPr txBox="1"/>
          <p:nvPr/>
        </p:nvSpPr>
        <p:spPr>
          <a:xfrm>
            <a:off x="409575" y="1307209"/>
            <a:ext cx="11363325" cy="2831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9"/>
              </a:lnSpc>
              <a:defRPr/>
            </a:pPr>
            <a:r>
              <a:rPr sz="1600" b="0" i="0">
                <a:solidFill>
                  <a:srgbClr val="5F5E5A"/>
                </a:solidFill>
                <a:latin typeface="+mj-lt"/>
              </a:rPr>
              <a:t>Approval by 15 Nov 2026 starts the clock; the committee decides again at months 6, 12 and 18</a:t>
            </a:r>
          </a:p>
        </p:txBody>
      </p:sp>
      <p:sp>
        <p:nvSpPr>
          <p:cNvPr id="4" name="tbl-header"/>
          <p:cNvSpPr/>
          <p:nvPr/>
        </p:nvSpPr>
        <p:spPr>
          <a:xfrm>
            <a:off x="409575" y="1752600"/>
            <a:ext cx="11363325" cy="4191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bl-h-step"/>
          <p:cNvSpPr txBox="1"/>
          <p:nvPr/>
        </p:nvSpPr>
        <p:spPr>
          <a:xfrm>
            <a:off x="1171575" y="1809527"/>
            <a:ext cx="18859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spc="72">
                <a:solidFill>
                  <a:schemeClr val="bg1"/>
                </a:solidFill>
                <a:latin typeface="+mj-lt"/>
              </a:rPr>
              <a:t>STEP</a:t>
            </a:r>
          </a:p>
        </p:txBody>
      </p:sp>
      <p:sp>
        <p:nvSpPr>
          <p:cNvPr id="48" name="tbl-h-what"/>
          <p:cNvSpPr txBox="1"/>
          <p:nvPr/>
        </p:nvSpPr>
        <p:spPr>
          <a:xfrm>
            <a:off x="3362325" y="1809527"/>
            <a:ext cx="41719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spc="72">
                <a:solidFill>
                  <a:schemeClr val="bg1"/>
                </a:solidFill>
                <a:latin typeface="+mj-lt"/>
              </a:rPr>
              <a:t>DECISION OR NEXT STEP</a:t>
            </a:r>
          </a:p>
        </p:txBody>
      </p:sp>
      <p:sp>
        <p:nvSpPr>
          <p:cNvPr id="7" name="tbl-h-owner"/>
          <p:cNvSpPr txBox="1"/>
          <p:nvPr/>
        </p:nvSpPr>
        <p:spPr>
          <a:xfrm>
            <a:off x="7839075" y="1809527"/>
            <a:ext cx="22669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spc="72">
                <a:solidFill>
                  <a:schemeClr val="bg1"/>
                </a:solidFill>
                <a:latin typeface="+mj-lt"/>
              </a:rPr>
              <a:t>OWNER</a:t>
            </a:r>
          </a:p>
        </p:txBody>
      </p:sp>
      <p:sp>
        <p:nvSpPr>
          <p:cNvPr id="8" name="tbl-h-date"/>
          <p:cNvSpPr txBox="1"/>
          <p:nvPr/>
        </p:nvSpPr>
        <p:spPr>
          <a:xfrm>
            <a:off x="10410825" y="1809527"/>
            <a:ext cx="120967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spc="72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sp>
        <p:nvSpPr>
          <p:cNvPr id="9" name="row1-fill"/>
          <p:cNvSpPr/>
          <p:nvPr/>
        </p:nvSpPr>
        <p:spPr>
          <a:xfrm>
            <a:off x="409575" y="2171700"/>
            <a:ext cx="11363325" cy="952500"/>
          </a:xfrm>
          <a:prstGeom prst="rect">
            <a:avLst/>
          </a:prstGeom>
          <a:solidFill>
            <a:srgbClr val="F9D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409575" y="311467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ow1-stripe"/>
          <p:cNvSpPr/>
          <p:nvPr/>
        </p:nvSpPr>
        <p:spPr>
          <a:xfrm>
            <a:off x="409575" y="2171700"/>
            <a:ext cx="76200" cy="95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1-num"/>
          <p:cNvSpPr/>
          <p:nvPr/>
        </p:nvSpPr>
        <p:spPr>
          <a:xfrm>
            <a:off x="628650" y="2486025"/>
            <a:ext cx="323850" cy="3238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ow1-num"/>
          <p:cNvSpPr txBox="1"/>
          <p:nvPr/>
        </p:nvSpPr>
        <p:spPr>
          <a:xfrm>
            <a:off x="638175" y="2495327"/>
            <a:ext cx="3048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defRPr/>
            </a:pPr>
            <a:r>
              <a:rPr sz="1200" b="1" i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14" name="row1-label"/>
          <p:cNvSpPr txBox="1"/>
          <p:nvPr/>
        </p:nvSpPr>
        <p:spPr>
          <a:xfrm>
            <a:off x="1171575" y="2533427"/>
            <a:ext cx="18859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48">
                <a:solidFill>
                  <a:schemeClr val="tx2"/>
                </a:solidFill>
                <a:latin typeface="+mj-lt"/>
              </a:rPr>
              <a:t>PHASE 1 FUNDING</a:t>
            </a:r>
          </a:p>
        </p:txBody>
      </p:sp>
      <p:sp>
        <p:nvSpPr>
          <p:cNvPr id="15" name="row1-text"/>
          <p:cNvSpPr txBox="1"/>
          <p:nvPr/>
        </p:nvSpPr>
        <p:spPr>
          <a:xfrm>
            <a:off x="3362325" y="2357638"/>
            <a:ext cx="4171950" cy="547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9"/>
              </a:lnSpc>
              <a:defRPr/>
            </a:pPr>
            <a:r>
              <a:rPr sz="1600" b="1" i="0">
                <a:solidFill>
                  <a:schemeClr val="tx2"/>
                </a:solidFill>
                <a:latin typeface="+mj-lt"/>
              </a:rPr>
              <a:t>Approve $12M of Phase 1 funding for the Vietnam entry</a:t>
            </a:r>
          </a:p>
        </p:txBody>
      </p:sp>
      <p:sp>
        <p:nvSpPr>
          <p:cNvPr id="16" name="row1-owner"/>
          <p:cNvSpPr txBox="1"/>
          <p:nvPr/>
        </p:nvSpPr>
        <p:spPr>
          <a:xfrm>
            <a:off x="7839075" y="2510419"/>
            <a:ext cx="2266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Investment committee</a:t>
            </a:r>
          </a:p>
        </p:txBody>
      </p:sp>
      <p:sp>
        <p:nvSpPr>
          <p:cNvPr id="17" name="row1-date"/>
          <p:cNvSpPr txBox="1"/>
          <p:nvPr/>
        </p:nvSpPr>
        <p:spPr>
          <a:xfrm>
            <a:off x="10410825" y="2510419"/>
            <a:ext cx="1209675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15 Nov 2026</a:t>
            </a:r>
          </a:p>
        </p:txBody>
      </p:sp>
      <p:sp>
        <p:nvSpPr>
          <p:cNvPr id="18" name="row2-fill"/>
          <p:cNvSpPr/>
          <p:nvPr/>
        </p:nvSpPr>
        <p:spPr>
          <a:xfrm>
            <a:off x="409575" y="3124200"/>
            <a:ext cx="11363325" cy="7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409575" y="389572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ow2-num"/>
          <p:cNvSpPr/>
          <p:nvPr/>
        </p:nvSpPr>
        <p:spPr>
          <a:xfrm>
            <a:off x="628650" y="3352800"/>
            <a:ext cx="323850" cy="323850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2-num"/>
          <p:cNvSpPr txBox="1"/>
          <p:nvPr/>
        </p:nvSpPr>
        <p:spPr>
          <a:xfrm>
            <a:off x="638175" y="3362102"/>
            <a:ext cx="3048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2</a:t>
            </a:r>
          </a:p>
        </p:txBody>
      </p:sp>
      <p:sp>
        <p:nvSpPr>
          <p:cNvPr id="22" name="row2-label"/>
          <p:cNvSpPr txBox="1"/>
          <p:nvPr/>
        </p:nvSpPr>
        <p:spPr>
          <a:xfrm>
            <a:off x="1171575" y="3400202"/>
            <a:ext cx="18859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48">
                <a:solidFill>
                  <a:schemeClr val="tx2"/>
                </a:solidFill>
                <a:latin typeface="+mj-lt"/>
              </a:rPr>
              <a:t>PARTNER SIGNED</a:t>
            </a:r>
          </a:p>
        </p:txBody>
      </p:sp>
      <p:sp>
        <p:nvSpPr>
          <p:cNvPr id="23" name="row2-text"/>
          <p:cNvSpPr txBox="1"/>
          <p:nvPr/>
        </p:nvSpPr>
        <p:spPr>
          <a:xfrm>
            <a:off x="3362325" y="3377194"/>
            <a:ext cx="4171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Sign the Vietnam distribution partner</a:t>
            </a:r>
          </a:p>
        </p:txBody>
      </p:sp>
      <p:sp>
        <p:nvSpPr>
          <p:cNvPr id="24" name="row2-owner"/>
          <p:cNvSpPr txBox="1"/>
          <p:nvPr/>
        </p:nvSpPr>
        <p:spPr>
          <a:xfrm>
            <a:off x="7839075" y="3377194"/>
            <a:ext cx="2266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Head of International</a:t>
            </a:r>
          </a:p>
        </p:txBody>
      </p:sp>
      <p:sp>
        <p:nvSpPr>
          <p:cNvPr id="25" name="row2-date"/>
          <p:cNvSpPr txBox="1"/>
          <p:nvPr/>
        </p:nvSpPr>
        <p:spPr>
          <a:xfrm>
            <a:off x="10410825" y="3377194"/>
            <a:ext cx="1209675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31 Jan 2027</a:t>
            </a:r>
          </a:p>
        </p:txBody>
      </p:sp>
      <p:sp>
        <p:nvSpPr>
          <p:cNvPr id="26" name="row3-fill"/>
          <p:cNvSpPr/>
          <p:nvPr/>
        </p:nvSpPr>
        <p:spPr>
          <a:xfrm>
            <a:off x="409575" y="3905250"/>
            <a:ext cx="11363325" cy="7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ectangle 26"/>
          <p:cNvSpPr/>
          <p:nvPr/>
        </p:nvSpPr>
        <p:spPr>
          <a:xfrm>
            <a:off x="409575" y="467677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3-num"/>
          <p:cNvSpPr/>
          <p:nvPr/>
        </p:nvSpPr>
        <p:spPr>
          <a:xfrm>
            <a:off x="628650" y="4133850"/>
            <a:ext cx="323850" cy="323850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3-num"/>
          <p:cNvSpPr txBox="1"/>
          <p:nvPr/>
        </p:nvSpPr>
        <p:spPr>
          <a:xfrm>
            <a:off x="638175" y="4143152"/>
            <a:ext cx="3048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3</a:t>
            </a:r>
          </a:p>
        </p:txBody>
      </p:sp>
      <p:sp>
        <p:nvSpPr>
          <p:cNvPr id="30" name="row3-label"/>
          <p:cNvSpPr txBox="1"/>
          <p:nvPr/>
        </p:nvSpPr>
        <p:spPr>
          <a:xfrm>
            <a:off x="1171575" y="4181252"/>
            <a:ext cx="18859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48">
                <a:solidFill>
                  <a:schemeClr val="tx2"/>
                </a:solidFill>
                <a:latin typeface="+mj-lt"/>
              </a:rPr>
              <a:t>PILOT LAUNCHED</a:t>
            </a:r>
          </a:p>
        </p:txBody>
      </p:sp>
      <p:sp>
        <p:nvSpPr>
          <p:cNvPr id="31" name="row3-text"/>
          <p:cNvSpPr txBox="1"/>
          <p:nvPr/>
        </p:nvSpPr>
        <p:spPr>
          <a:xfrm>
            <a:off x="3362325" y="4158244"/>
            <a:ext cx="4171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Launch the Ho Chi Minh City pilot</a:t>
            </a:r>
          </a:p>
        </p:txBody>
      </p:sp>
      <p:sp>
        <p:nvSpPr>
          <p:cNvPr id="32" name="row3-owner"/>
          <p:cNvSpPr txBox="1"/>
          <p:nvPr/>
        </p:nvSpPr>
        <p:spPr>
          <a:xfrm>
            <a:off x="7839075" y="4158244"/>
            <a:ext cx="2266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Vietnam general manager</a:t>
            </a:r>
          </a:p>
        </p:txBody>
      </p:sp>
      <p:sp>
        <p:nvSpPr>
          <p:cNvPr id="33" name="row3-date"/>
          <p:cNvSpPr txBox="1"/>
          <p:nvPr/>
        </p:nvSpPr>
        <p:spPr>
          <a:xfrm>
            <a:off x="10410825" y="4158244"/>
            <a:ext cx="1209675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1 Mar 2027</a:t>
            </a:r>
          </a:p>
        </p:txBody>
      </p:sp>
      <p:sp>
        <p:nvSpPr>
          <p:cNvPr id="34" name="row4-fill"/>
          <p:cNvSpPr/>
          <p:nvPr/>
        </p:nvSpPr>
        <p:spPr>
          <a:xfrm>
            <a:off x="409575" y="4686300"/>
            <a:ext cx="11363325" cy="7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ectangle 34"/>
          <p:cNvSpPr/>
          <p:nvPr/>
        </p:nvSpPr>
        <p:spPr>
          <a:xfrm>
            <a:off x="409575" y="5457825"/>
            <a:ext cx="11363325" cy="9525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4-num"/>
          <p:cNvSpPr/>
          <p:nvPr/>
        </p:nvSpPr>
        <p:spPr>
          <a:xfrm>
            <a:off x="628650" y="4914900"/>
            <a:ext cx="323850" cy="323850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4-num"/>
          <p:cNvSpPr txBox="1"/>
          <p:nvPr/>
        </p:nvSpPr>
        <p:spPr>
          <a:xfrm>
            <a:off x="638175" y="4924202"/>
            <a:ext cx="3048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defRPr/>
            </a:pPr>
            <a:r>
              <a:rPr sz="1200" b="1" i="0">
                <a:solidFill>
                  <a:schemeClr val="tx2"/>
                </a:solidFill>
                <a:latin typeface="+mj-lt"/>
              </a:rPr>
              <a:t>4</a:t>
            </a:r>
          </a:p>
        </p:txBody>
      </p:sp>
      <p:sp>
        <p:nvSpPr>
          <p:cNvPr id="38" name="row4-label"/>
          <p:cNvSpPr txBox="1"/>
          <p:nvPr/>
        </p:nvSpPr>
        <p:spPr>
          <a:xfrm>
            <a:off x="1171575" y="4962302"/>
            <a:ext cx="18859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48">
                <a:solidFill>
                  <a:schemeClr val="tx2"/>
                </a:solidFill>
                <a:latin typeface="+mj-lt"/>
              </a:rPr>
              <a:t>GATE 1 REVIEW</a:t>
            </a:r>
          </a:p>
        </p:txBody>
      </p:sp>
      <p:sp>
        <p:nvSpPr>
          <p:cNvPr id="39" name="row4-text"/>
          <p:cNvSpPr txBox="1"/>
          <p:nvPr/>
        </p:nvSpPr>
        <p:spPr>
          <a:xfrm>
            <a:off x="3362325" y="4939294"/>
            <a:ext cx="4171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Review pilot sell-through</a:t>
            </a:r>
          </a:p>
        </p:txBody>
      </p:sp>
      <p:sp>
        <p:nvSpPr>
          <p:cNvPr id="40" name="row4-owner"/>
          <p:cNvSpPr txBox="1"/>
          <p:nvPr/>
        </p:nvSpPr>
        <p:spPr>
          <a:xfrm>
            <a:off x="7839075" y="4939294"/>
            <a:ext cx="2266950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1A1A1A"/>
                </a:solidFill>
                <a:latin typeface="+mj-lt"/>
              </a:rPr>
              <a:t>Investment committee</a:t>
            </a:r>
          </a:p>
        </p:txBody>
      </p:sp>
      <p:sp>
        <p:nvSpPr>
          <p:cNvPr id="41" name="row4-date"/>
          <p:cNvSpPr txBox="1"/>
          <p:nvPr/>
        </p:nvSpPr>
        <p:spPr>
          <a:xfrm>
            <a:off x="10410825" y="4939294"/>
            <a:ext cx="1209675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1" i="0">
                <a:solidFill>
                  <a:schemeClr val="tx2"/>
                </a:solidFill>
                <a:latin typeface="+mj-lt"/>
              </a:rPr>
              <a:t>Jun 2027</a:t>
            </a:r>
          </a:p>
        </p:txBody>
      </p:sp>
      <p:sp>
        <p:nvSpPr>
          <p:cNvPr id="42" name="ifno-fill"/>
          <p:cNvSpPr/>
          <p:nvPr/>
        </p:nvSpPr>
        <p:spPr>
          <a:xfrm>
            <a:off x="409575" y="5657850"/>
            <a:ext cx="11363325" cy="6477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ectangle 42"/>
          <p:cNvSpPr/>
          <p:nvPr/>
        </p:nvSpPr>
        <p:spPr>
          <a:xfrm>
            <a:off x="409575" y="5657850"/>
            <a:ext cx="38100" cy="647700"/>
          </a:xfrm>
          <a:prstGeom prst="rect">
            <a:avLst/>
          </a:prstGeom>
          <a:solidFill>
            <a:srgbClr val="54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ifno-label"/>
          <p:cNvSpPr txBox="1"/>
          <p:nvPr/>
        </p:nvSpPr>
        <p:spPr>
          <a:xfrm>
            <a:off x="1171575" y="5867177"/>
            <a:ext cx="188595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defRPr/>
            </a:pPr>
            <a:r>
              <a:rPr sz="1200" b="1" i="0" spc="48">
                <a:solidFill>
                  <a:srgbClr val="5F5E5A"/>
                </a:solidFill>
                <a:latin typeface="+mj-lt"/>
              </a:rPr>
              <a:t>IF THE ANSWER IS NO</a:t>
            </a:r>
          </a:p>
        </p:txBody>
      </p:sp>
      <p:sp>
        <p:nvSpPr>
          <p:cNvPr id="45" name="ifno-text"/>
          <p:cNvSpPr txBox="1"/>
          <p:nvPr/>
        </p:nvSpPr>
        <p:spPr>
          <a:xfrm>
            <a:off x="3362325" y="5844169"/>
            <a:ext cx="8258175" cy="2502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defRPr/>
            </a:pPr>
            <a:r>
              <a:rPr sz="1400" b="0" i="0">
                <a:solidFill>
                  <a:srgbClr val="5F5E5A"/>
                </a:solidFill>
                <a:latin typeface="+mj-lt"/>
              </a:rPr>
              <a:t>Meridian waits; the category doubles by 2030 and Vietnam passes Thailand in 2027 without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idian">
  <a:themeElements>
    <a:clrScheme name="Meridian">
      <a:dk1>
        <a:srgbClr val="1F2933"/>
      </a:dk1>
      <a:lt1>
        <a:srgbClr val="FFFFFF"/>
      </a:lt1>
      <a:dk2>
        <a:srgbClr val="0B3C49"/>
      </a:dk2>
      <a:lt2>
        <a:srgbClr val="E9EEF0"/>
      </a:lt2>
      <a:accent1>
        <a:srgbClr val="F2A541"/>
      </a:accent1>
      <a:accent2>
        <a:srgbClr val="2A7F8E"/>
      </a:accent2>
      <a:accent3>
        <a:srgbClr val="5B6770"/>
      </a:accent3>
      <a:accent4>
        <a:srgbClr val="8FB8C2"/>
      </a:accent4>
      <a:accent5>
        <a:srgbClr val="C9792B"/>
      </a:accent5>
      <a:accent6>
        <a:srgbClr val="A3ADB4"/>
      </a:accent6>
      <a:hlink>
        <a:srgbClr val="2A7F8E"/>
      </a:hlink>
      <a:folHlink>
        <a:srgbClr val="5B6770"/>
      </a:folHlink>
    </a:clrScheme>
    <a:fontScheme name="Meridian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Lab example: Meridian Southeast Asia entry</dc:title>
  <dc:subject/>
  <dc:creator>Slide Lab example</dc:creator>
  <cp:keywords/>
  <dc:description/>
  <cp:lastModifiedBy>Slide Lab example</cp:lastModifiedBy>
  <cp:revision>1</cp:revision>
  <dcterms:created xsi:type="dcterms:W3CDTF">2013-01-27T09:14:16Z</dcterms:created>
  <dcterms:modified xsi:type="dcterms:W3CDTF">2013-01-27T09:15:58Z</dcterms:modified>
  <cp:category/>
</cp:coreProperties>
</file>