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12"/>
  </p:notesMasterIdLst>
  <p:handoutMasterIdLst>
    <p:handoutMasterId r:id="rId13"/>
  </p:handoutMasterIdLst>
  <p:sldIdLst>
    <p:sldId id="2147471492" r:id="rId2"/>
    <p:sldId id="2147472387" r:id="rId3"/>
    <p:sldId id="2147472290" r:id="rId4"/>
    <p:sldId id="2147471030" r:id="rId5"/>
    <p:sldId id="2147471262" r:id="rId6"/>
    <p:sldId id="2147472110" r:id="rId7"/>
    <p:sldId id="2147472248" r:id="rId8"/>
    <p:sldId id="2147472153" r:id="rId9"/>
    <p:sldId id="2147472291" r:id="rId10"/>
    <p:sldId id="2147472318" r:id="rId11"/>
  </p:sldIdLst>
  <p:sldSz cx="12192000" cy="6858000"/>
  <p:notesSz cx="6858000" cy="9144000"/>
  <p:custDataLst>
    <p:tags r:id="rId1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 varScale="1">
        <p:scale>
          <a:sx n="89" d="100"/>
          <a:sy n="89" d="100"/>
        </p:scale>
        <p:origin x="66" y="28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Year 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10</c:v>
                </c:pt>
                <c:pt idx="2">
                  <c:v>12</c:v>
                </c:pt>
                <c:pt idx="3">
                  <c:v>14</c:v>
                </c:pt>
                <c:pt idx="4">
                  <c:v>17</c:v>
                </c:pt>
                <c:pt idx="5">
                  <c:v>21</c:v>
                </c:pt>
                <c:pt idx="6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AE-1F49-B8E8-FD354A66A5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4334655"/>
        <c:axId val="53539183"/>
      </c:barChart>
      <c:catAx>
        <c:axId val="54334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53539183"/>
        <c:crosses val="autoZero"/>
        <c:auto val="1"/>
        <c:lblAlgn val="ctr"/>
        <c:lblOffset val="100"/>
        <c:noMultiLvlLbl val="0"/>
      </c:catAx>
      <c:valAx>
        <c:axId val="5353918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4334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D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04/20/2026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04/20/2026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772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44571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4658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9869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tags" Target="../tags/tag12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tags" Target="../tags/tag121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10" Type="http://schemas.openxmlformats.org/officeDocument/2006/relationships/tags" Target="../tags/tag131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90.xml"/><Relationship Id="rId9" Type="http://schemas.openxmlformats.org/officeDocument/2006/relationships/tags" Target="../tags/tag19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8.xml"/><Relationship Id="rId7" Type="http://schemas.openxmlformats.org/officeDocument/2006/relationships/tags" Target="../tags/tag202.xml"/><Relationship Id="rId2" Type="http://schemas.openxmlformats.org/officeDocument/2006/relationships/tags" Target="../tags/tag197.xml"/><Relationship Id="rId1" Type="http://schemas.openxmlformats.org/officeDocument/2006/relationships/tags" Target="../tags/tag196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17.xml"/><Relationship Id="rId13" Type="http://schemas.openxmlformats.org/officeDocument/2006/relationships/tags" Target="../tags/tag222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12.xml"/><Relationship Id="rId7" Type="http://schemas.openxmlformats.org/officeDocument/2006/relationships/tags" Target="../tags/tag216.xml"/><Relationship Id="rId12" Type="http://schemas.openxmlformats.org/officeDocument/2006/relationships/tags" Target="../tags/tag221.xml"/><Relationship Id="rId17" Type="http://schemas.openxmlformats.org/officeDocument/2006/relationships/tags" Target="../tags/tag226.xml"/><Relationship Id="rId2" Type="http://schemas.openxmlformats.org/officeDocument/2006/relationships/tags" Target="../tags/tag211.xml"/><Relationship Id="rId16" Type="http://schemas.openxmlformats.org/officeDocument/2006/relationships/tags" Target="../tags/tag225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11" Type="http://schemas.openxmlformats.org/officeDocument/2006/relationships/tags" Target="../tags/tag220.xml"/><Relationship Id="rId5" Type="http://schemas.openxmlformats.org/officeDocument/2006/relationships/tags" Target="../tags/tag214.xml"/><Relationship Id="rId15" Type="http://schemas.openxmlformats.org/officeDocument/2006/relationships/tags" Target="../tags/tag224.xml"/><Relationship Id="rId10" Type="http://schemas.openxmlformats.org/officeDocument/2006/relationships/tags" Target="../tags/tag219.xml"/><Relationship Id="rId4" Type="http://schemas.openxmlformats.org/officeDocument/2006/relationships/tags" Target="../tags/tag213.xml"/><Relationship Id="rId9" Type="http://schemas.openxmlformats.org/officeDocument/2006/relationships/tags" Target="../tags/tag218.xml"/><Relationship Id="rId14" Type="http://schemas.openxmlformats.org/officeDocument/2006/relationships/tags" Target="../tags/tag223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13" Type="http://schemas.openxmlformats.org/officeDocument/2006/relationships/tags" Target="../tags/tag239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tags" Target="../tags/tag238.xml"/><Relationship Id="rId2" Type="http://schemas.openxmlformats.org/officeDocument/2006/relationships/tags" Target="../tags/tag228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tags" Target="../tags/tag237.xml"/><Relationship Id="rId5" Type="http://schemas.openxmlformats.org/officeDocument/2006/relationships/tags" Target="../tags/tag231.xml"/><Relationship Id="rId15" Type="http://schemas.openxmlformats.org/officeDocument/2006/relationships/tags" Target="../tags/tag241.xml"/><Relationship Id="rId10" Type="http://schemas.openxmlformats.org/officeDocument/2006/relationships/tags" Target="../tags/tag236.xml"/><Relationship Id="rId4" Type="http://schemas.openxmlformats.org/officeDocument/2006/relationships/tags" Target="../tags/tag230.xml"/><Relationship Id="rId9" Type="http://schemas.openxmlformats.org/officeDocument/2006/relationships/tags" Target="../tags/tag235.xml"/><Relationship Id="rId14" Type="http://schemas.openxmlformats.org/officeDocument/2006/relationships/tags" Target="../tags/tag2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66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" Type="http://schemas.openxmlformats.org/officeDocument/2006/relationships/tags" Target="../tags/tag261.xml"/><Relationship Id="rId7" Type="http://schemas.openxmlformats.org/officeDocument/2006/relationships/tags" Target="../tags/tag265.xml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" Type="http://schemas.openxmlformats.org/officeDocument/2006/relationships/tags" Target="../tags/tag260.xml"/><Relationship Id="rId16" Type="http://schemas.openxmlformats.org/officeDocument/2006/relationships/tags" Target="../tags/tag274.xml"/><Relationship Id="rId1" Type="http://schemas.openxmlformats.org/officeDocument/2006/relationships/tags" Target="../tags/tag259.xml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10" Type="http://schemas.openxmlformats.org/officeDocument/2006/relationships/tags" Target="../tags/tag268.xml"/><Relationship Id="rId19" Type="http://schemas.openxmlformats.org/officeDocument/2006/relationships/slideMaster" Target="../slideMasters/slideMaster1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79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13" Type="http://schemas.openxmlformats.org/officeDocument/2006/relationships/tags" Target="../tags/tag306.xml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tags" Target="../tags/tag305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tags" Target="../tags/tag304.xml"/><Relationship Id="rId5" Type="http://schemas.openxmlformats.org/officeDocument/2006/relationships/tags" Target="../tags/tag298.xml"/><Relationship Id="rId10" Type="http://schemas.openxmlformats.org/officeDocument/2006/relationships/tags" Target="../tags/tag303.xml"/><Relationship Id="rId4" Type="http://schemas.openxmlformats.org/officeDocument/2006/relationships/tags" Target="../tags/tag297.xml"/><Relationship Id="rId9" Type="http://schemas.openxmlformats.org/officeDocument/2006/relationships/tags" Target="../tags/tag302.xml"/><Relationship Id="rId1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20.xml"/><Relationship Id="rId13" Type="http://schemas.openxmlformats.org/officeDocument/2006/relationships/tags" Target="../tags/tag32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315.xml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tags" Target="../tags/tag329.xml"/><Relationship Id="rId2" Type="http://schemas.openxmlformats.org/officeDocument/2006/relationships/tags" Target="../tags/tag314.xml"/><Relationship Id="rId16" Type="http://schemas.openxmlformats.org/officeDocument/2006/relationships/tags" Target="../tags/tag328.xml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5" Type="http://schemas.openxmlformats.org/officeDocument/2006/relationships/tags" Target="../tags/tag317.xml"/><Relationship Id="rId15" Type="http://schemas.openxmlformats.org/officeDocument/2006/relationships/tags" Target="../tags/tag327.xml"/><Relationship Id="rId10" Type="http://schemas.openxmlformats.org/officeDocument/2006/relationships/tags" Target="../tags/tag322.xml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tags" Target="../tags/tag32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6.xml"/><Relationship Id="rId47" Type="http://schemas.openxmlformats.org/officeDocument/2006/relationships/tags" Target="../tags/tag21.xml"/><Relationship Id="rId63" Type="http://schemas.openxmlformats.org/officeDocument/2006/relationships/tags" Target="../tags/tag37.xml"/><Relationship Id="rId68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3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6.xml"/><Relationship Id="rId37" Type="http://schemas.openxmlformats.org/officeDocument/2006/relationships/tags" Target="../tags/tag11.xml"/><Relationship Id="rId40" Type="http://schemas.openxmlformats.org/officeDocument/2006/relationships/tags" Target="../tags/tag14.xml"/><Relationship Id="rId45" Type="http://schemas.openxmlformats.org/officeDocument/2006/relationships/tags" Target="../tags/tag19.xml"/><Relationship Id="rId53" Type="http://schemas.openxmlformats.org/officeDocument/2006/relationships/tags" Target="../tags/tag27.xml"/><Relationship Id="rId58" Type="http://schemas.openxmlformats.org/officeDocument/2006/relationships/tags" Target="../tags/tag32.xml"/><Relationship Id="rId66" Type="http://schemas.openxmlformats.org/officeDocument/2006/relationships/tags" Target="../tags/tag40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tags" Target="../tags/tag4.xml"/><Relationship Id="rId35" Type="http://schemas.openxmlformats.org/officeDocument/2006/relationships/tags" Target="../tags/tag9.xml"/><Relationship Id="rId43" Type="http://schemas.openxmlformats.org/officeDocument/2006/relationships/tags" Target="../tags/tag17.xml"/><Relationship Id="rId48" Type="http://schemas.openxmlformats.org/officeDocument/2006/relationships/tags" Target="../tags/tag22.xml"/><Relationship Id="rId56" Type="http://schemas.openxmlformats.org/officeDocument/2006/relationships/tags" Target="../tags/tag30.xml"/><Relationship Id="rId64" Type="http://schemas.openxmlformats.org/officeDocument/2006/relationships/tags" Target="../tags/tag38.xml"/><Relationship Id="rId69" Type="http://schemas.openxmlformats.org/officeDocument/2006/relationships/tags" Target="../tags/tag43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7.xml"/><Relationship Id="rId38" Type="http://schemas.openxmlformats.org/officeDocument/2006/relationships/tags" Target="../tags/tag12.xml"/><Relationship Id="rId46" Type="http://schemas.openxmlformats.org/officeDocument/2006/relationships/tags" Target="../tags/tag20.xml"/><Relationship Id="rId59" Type="http://schemas.openxmlformats.org/officeDocument/2006/relationships/tags" Target="../tags/tag33.xml"/><Relationship Id="rId67" Type="http://schemas.openxmlformats.org/officeDocument/2006/relationships/tags" Target="../tags/tag41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5.xml"/><Relationship Id="rId54" Type="http://schemas.openxmlformats.org/officeDocument/2006/relationships/tags" Target="../tags/tag28.xml"/><Relationship Id="rId62" Type="http://schemas.openxmlformats.org/officeDocument/2006/relationships/tags" Target="../tags/tag36.xml"/><Relationship Id="rId7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36" Type="http://schemas.openxmlformats.org/officeDocument/2006/relationships/tags" Target="../tags/tag10.xml"/><Relationship Id="rId49" Type="http://schemas.openxmlformats.org/officeDocument/2006/relationships/tags" Target="../tags/tag23.xml"/><Relationship Id="rId57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5.xml"/><Relationship Id="rId44" Type="http://schemas.openxmlformats.org/officeDocument/2006/relationships/tags" Target="../tags/tag18.xml"/><Relationship Id="rId52" Type="http://schemas.openxmlformats.org/officeDocument/2006/relationships/tags" Target="../tags/tag26.xml"/><Relationship Id="rId60" Type="http://schemas.openxmlformats.org/officeDocument/2006/relationships/tags" Target="../tags/tag34.xml"/><Relationship Id="rId65" Type="http://schemas.openxmlformats.org/officeDocument/2006/relationships/tags" Target="../tags/tag3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3.xml"/><Relationship Id="rId34" Type="http://schemas.openxmlformats.org/officeDocument/2006/relationships/tags" Target="../tags/tag8.xml"/><Relationship Id="rId50" Type="http://schemas.openxmlformats.org/officeDocument/2006/relationships/tags" Target="../tags/tag24.xml"/><Relationship Id="rId55" Type="http://schemas.openxmlformats.org/officeDocument/2006/relationships/tags" Target="../tags/tag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FC086D-550C-0391-52E6-60372882047E}"/>
              </a:ext>
            </a:extLst>
          </p:cNvPr>
          <p:cNvGraphicFramePr>
            <a:graphicFrameLocks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4203103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47" imgH="348" progId="TCLayout.ActiveDocument.1">
                  <p:embed/>
                </p:oleObj>
              </mc:Choice>
              <mc:Fallback>
                <p:oleObj name="think-cell Slide" r:id="rId7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42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0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1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344.xml"/><Relationship Id="rId18" Type="http://schemas.openxmlformats.org/officeDocument/2006/relationships/tags" Target="../tags/tag349.xml"/><Relationship Id="rId26" Type="http://schemas.openxmlformats.org/officeDocument/2006/relationships/tags" Target="../tags/tag357.xml"/><Relationship Id="rId39" Type="http://schemas.openxmlformats.org/officeDocument/2006/relationships/tags" Target="../tags/tag370.xml"/><Relationship Id="rId21" Type="http://schemas.openxmlformats.org/officeDocument/2006/relationships/tags" Target="../tags/tag352.xml"/><Relationship Id="rId34" Type="http://schemas.openxmlformats.org/officeDocument/2006/relationships/tags" Target="../tags/tag365.xml"/><Relationship Id="rId42" Type="http://schemas.openxmlformats.org/officeDocument/2006/relationships/tags" Target="../tags/tag373.xml"/><Relationship Id="rId47" Type="http://schemas.openxmlformats.org/officeDocument/2006/relationships/tags" Target="../tags/tag378.xml"/><Relationship Id="rId50" Type="http://schemas.openxmlformats.org/officeDocument/2006/relationships/tags" Target="../tags/tag381.xml"/><Relationship Id="rId55" Type="http://schemas.openxmlformats.org/officeDocument/2006/relationships/slideLayout" Target="../slideLayouts/slideLayout2.xml"/><Relationship Id="rId7" Type="http://schemas.openxmlformats.org/officeDocument/2006/relationships/tags" Target="../tags/tag338.xml"/><Relationship Id="rId2" Type="http://schemas.openxmlformats.org/officeDocument/2006/relationships/tags" Target="../tags/tag333.xml"/><Relationship Id="rId16" Type="http://schemas.openxmlformats.org/officeDocument/2006/relationships/tags" Target="../tags/tag347.xml"/><Relationship Id="rId29" Type="http://schemas.openxmlformats.org/officeDocument/2006/relationships/tags" Target="../tags/tag360.xml"/><Relationship Id="rId11" Type="http://schemas.openxmlformats.org/officeDocument/2006/relationships/tags" Target="../tags/tag342.xml"/><Relationship Id="rId24" Type="http://schemas.openxmlformats.org/officeDocument/2006/relationships/tags" Target="../tags/tag355.xml"/><Relationship Id="rId32" Type="http://schemas.openxmlformats.org/officeDocument/2006/relationships/tags" Target="../tags/tag363.xml"/><Relationship Id="rId37" Type="http://schemas.openxmlformats.org/officeDocument/2006/relationships/tags" Target="../tags/tag368.xml"/><Relationship Id="rId40" Type="http://schemas.openxmlformats.org/officeDocument/2006/relationships/tags" Target="../tags/tag371.xml"/><Relationship Id="rId45" Type="http://schemas.openxmlformats.org/officeDocument/2006/relationships/tags" Target="../tags/tag376.xml"/><Relationship Id="rId53" Type="http://schemas.openxmlformats.org/officeDocument/2006/relationships/tags" Target="../tags/tag384.xml"/><Relationship Id="rId58" Type="http://schemas.openxmlformats.org/officeDocument/2006/relationships/image" Target="../media/image3.emf"/><Relationship Id="rId5" Type="http://schemas.openxmlformats.org/officeDocument/2006/relationships/tags" Target="../tags/tag336.xml"/><Relationship Id="rId19" Type="http://schemas.openxmlformats.org/officeDocument/2006/relationships/tags" Target="../tags/tag350.xml"/><Relationship Id="rId4" Type="http://schemas.openxmlformats.org/officeDocument/2006/relationships/tags" Target="../tags/tag335.xml"/><Relationship Id="rId9" Type="http://schemas.openxmlformats.org/officeDocument/2006/relationships/tags" Target="../tags/tag340.xml"/><Relationship Id="rId14" Type="http://schemas.openxmlformats.org/officeDocument/2006/relationships/tags" Target="../tags/tag345.xml"/><Relationship Id="rId22" Type="http://schemas.openxmlformats.org/officeDocument/2006/relationships/tags" Target="../tags/tag353.xml"/><Relationship Id="rId27" Type="http://schemas.openxmlformats.org/officeDocument/2006/relationships/tags" Target="../tags/tag358.xml"/><Relationship Id="rId30" Type="http://schemas.openxmlformats.org/officeDocument/2006/relationships/tags" Target="../tags/tag361.xml"/><Relationship Id="rId35" Type="http://schemas.openxmlformats.org/officeDocument/2006/relationships/tags" Target="../tags/tag366.xml"/><Relationship Id="rId43" Type="http://schemas.openxmlformats.org/officeDocument/2006/relationships/tags" Target="../tags/tag374.xml"/><Relationship Id="rId48" Type="http://schemas.openxmlformats.org/officeDocument/2006/relationships/tags" Target="../tags/tag379.xml"/><Relationship Id="rId56" Type="http://schemas.openxmlformats.org/officeDocument/2006/relationships/notesSlide" Target="../notesSlides/notesSlide4.xml"/><Relationship Id="rId8" Type="http://schemas.openxmlformats.org/officeDocument/2006/relationships/tags" Target="../tags/tag339.xml"/><Relationship Id="rId51" Type="http://schemas.openxmlformats.org/officeDocument/2006/relationships/tags" Target="../tags/tag382.xml"/><Relationship Id="rId3" Type="http://schemas.openxmlformats.org/officeDocument/2006/relationships/tags" Target="../tags/tag334.xml"/><Relationship Id="rId12" Type="http://schemas.openxmlformats.org/officeDocument/2006/relationships/tags" Target="../tags/tag343.xml"/><Relationship Id="rId17" Type="http://schemas.openxmlformats.org/officeDocument/2006/relationships/tags" Target="../tags/tag348.xml"/><Relationship Id="rId25" Type="http://schemas.openxmlformats.org/officeDocument/2006/relationships/tags" Target="../tags/tag356.xml"/><Relationship Id="rId33" Type="http://schemas.openxmlformats.org/officeDocument/2006/relationships/tags" Target="../tags/tag364.xml"/><Relationship Id="rId38" Type="http://schemas.openxmlformats.org/officeDocument/2006/relationships/tags" Target="../tags/tag369.xml"/><Relationship Id="rId46" Type="http://schemas.openxmlformats.org/officeDocument/2006/relationships/tags" Target="../tags/tag377.xml"/><Relationship Id="rId20" Type="http://schemas.openxmlformats.org/officeDocument/2006/relationships/tags" Target="../tags/tag351.xml"/><Relationship Id="rId41" Type="http://schemas.openxmlformats.org/officeDocument/2006/relationships/tags" Target="../tags/tag372.xml"/><Relationship Id="rId54" Type="http://schemas.openxmlformats.org/officeDocument/2006/relationships/tags" Target="../tags/tag385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15" Type="http://schemas.openxmlformats.org/officeDocument/2006/relationships/tags" Target="../tags/tag346.xml"/><Relationship Id="rId23" Type="http://schemas.openxmlformats.org/officeDocument/2006/relationships/tags" Target="../tags/tag354.xml"/><Relationship Id="rId28" Type="http://schemas.openxmlformats.org/officeDocument/2006/relationships/tags" Target="../tags/tag359.xml"/><Relationship Id="rId36" Type="http://schemas.openxmlformats.org/officeDocument/2006/relationships/tags" Target="../tags/tag367.xml"/><Relationship Id="rId49" Type="http://schemas.openxmlformats.org/officeDocument/2006/relationships/tags" Target="../tags/tag380.xml"/><Relationship Id="rId57" Type="http://schemas.openxmlformats.org/officeDocument/2006/relationships/oleObject" Target="../embeddings/oleObject4.bin"/><Relationship Id="rId10" Type="http://schemas.openxmlformats.org/officeDocument/2006/relationships/tags" Target="../tags/tag341.xml"/><Relationship Id="rId31" Type="http://schemas.openxmlformats.org/officeDocument/2006/relationships/tags" Target="../tags/tag362.xml"/><Relationship Id="rId44" Type="http://schemas.openxmlformats.org/officeDocument/2006/relationships/tags" Target="../tags/tag375.xml"/><Relationship Id="rId52" Type="http://schemas.openxmlformats.org/officeDocument/2006/relationships/tags" Target="../tags/tag3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 rIns="0"/>
          <a:lstStyle/>
          <a:p>
            <a:r>
              <a:rPr lang="en-US" sz="4800" dirty="0"/>
              <a:t>Executive Summary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7B643-C49A-0B52-D16E-3F2B8EFC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3B5FEC6-AFDE-17C3-D55C-C06BC68F7F2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4939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19EA9EBA-0AAC-813B-5112-6F3FA266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br>
              <a:rPr lang="en-US" dirty="0"/>
            </a:br>
            <a:r>
              <a:rPr lang="en-US" dirty="0"/>
              <a:t>Executive summary</a:t>
            </a:r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B89F56FC-6F3C-D3C8-ADDD-45E9A123C4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Slideworks guide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51CFD-0258-4A0B-470C-0EC259F48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800ACC-400D-B53D-F01D-68ED8384D7EF}"/>
              </a:ext>
            </a:extLst>
          </p:cNvPr>
          <p:cNvSpPr/>
          <p:nvPr/>
        </p:nvSpPr>
        <p:spPr>
          <a:xfrm>
            <a:off x="3733890" y="1447711"/>
            <a:ext cx="7903373" cy="1133372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What: </a:t>
            </a:r>
            <a:b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B310E0-DB44-3999-073E-9E8A15953981}"/>
              </a:ext>
            </a:extLst>
          </p:cNvPr>
          <p:cNvSpPr/>
          <p:nvPr/>
        </p:nvSpPr>
        <p:spPr>
          <a:xfrm>
            <a:off x="3733890" y="2720757"/>
            <a:ext cx="7903373" cy="1133372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Why: </a:t>
            </a:r>
            <a:b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Grab your audience’s attention up front and paint a compelling story so they are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predisposed to what your “answer” is and what they need to decide on</a:t>
            </a:r>
            <a:endParaRPr lang="en-US" sz="160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1B8027-2582-3516-A3F4-A13561241B50}"/>
              </a:ext>
            </a:extLst>
          </p:cNvPr>
          <p:cNvSpPr/>
          <p:nvPr/>
        </p:nvSpPr>
        <p:spPr>
          <a:xfrm>
            <a:off x="3733890" y="3993803"/>
            <a:ext cx="7903373" cy="2292697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situation-complication-resolution framework to draft structure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riefly describe the overall context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(situation)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 problem / opportunity your business case will address (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complication)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Describe your intended solution and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other options you reviewed, if relevant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(resolution)</a:t>
            </a:r>
            <a:endParaRPr lang="en-US" sz="1600" b="1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Briefly list benefits including financial benefits like ROI or NPV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(resolution)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Briefly describe next steps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(resolution)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734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AD5114-80E6-FC21-1A36-7A0665D1284D}"/>
              </a:ext>
            </a:extLst>
          </p:cNvPr>
          <p:cNvSpPr/>
          <p:nvPr/>
        </p:nvSpPr>
        <p:spPr>
          <a:xfrm>
            <a:off x="554736" y="1630680"/>
            <a:ext cx="1533144" cy="106299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Vision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B6656-43BB-EAC4-7A15-7C9D3D23D823}"/>
              </a:ext>
            </a:extLst>
          </p:cNvPr>
          <p:cNvSpPr/>
          <p:nvPr/>
        </p:nvSpPr>
        <p:spPr>
          <a:xfrm>
            <a:off x="554736" y="2819400"/>
            <a:ext cx="1533144" cy="106299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Strategic objective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FD79FB-8156-0AFF-4870-4FEA3EB06BFD}"/>
              </a:ext>
            </a:extLst>
          </p:cNvPr>
          <p:cNvSpPr/>
          <p:nvPr/>
        </p:nvSpPr>
        <p:spPr>
          <a:xfrm>
            <a:off x="554736" y="4008120"/>
            <a:ext cx="1533144" cy="106299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0A5FBB-949D-45F8-E23E-0169D1AC51FA}"/>
              </a:ext>
            </a:extLst>
          </p:cNvPr>
          <p:cNvSpPr/>
          <p:nvPr/>
        </p:nvSpPr>
        <p:spPr>
          <a:xfrm>
            <a:off x="554736" y="5196840"/>
            <a:ext cx="1533144" cy="106299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Sponsor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F88B2B-9254-9BF3-E63B-03D2A08761C6}"/>
              </a:ext>
            </a:extLst>
          </p:cNvPr>
          <p:cNvSpPr/>
          <p:nvPr/>
        </p:nvSpPr>
        <p:spPr>
          <a:xfrm>
            <a:off x="2246376" y="1630680"/>
            <a:ext cx="9390888" cy="10629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vision for proposed project including qualitative and quantitative benefits]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DCC986-B4E0-C524-85EE-669493FF0F2F}"/>
              </a:ext>
            </a:extLst>
          </p:cNvPr>
          <p:cNvSpPr/>
          <p:nvPr/>
        </p:nvSpPr>
        <p:spPr>
          <a:xfrm>
            <a:off x="2246376" y="2819400"/>
            <a:ext cx="9390888" cy="10629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strategic objective of project and how it fits into overall company or BU/team strategy. This can also be business need]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2C3C5D-48EA-F491-712A-51BF4B4DB586}"/>
              </a:ext>
            </a:extLst>
          </p:cNvPr>
          <p:cNvSpPr/>
          <p:nvPr/>
        </p:nvSpPr>
        <p:spPr>
          <a:xfrm>
            <a:off x="2246376" y="4008120"/>
            <a:ext cx="9390888" cy="10629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brief description of suggested solution]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4D4BDC-EB2E-3DF2-717F-6C146E076BB0}"/>
              </a:ext>
            </a:extLst>
          </p:cNvPr>
          <p:cNvSpPr/>
          <p:nvPr/>
        </p:nvSpPr>
        <p:spPr>
          <a:xfrm>
            <a:off x="2246376" y="5196840"/>
            <a:ext cx="9390888" cy="1062990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person, team, department, BU or similar who will sponsor the business case]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FFA93C-F7F1-DF60-B73C-96AFCD4729F7}"/>
              </a:ext>
            </a:extLst>
          </p:cNvPr>
          <p:cNvCxnSpPr>
            <a:cxnSpLocks/>
          </p:cNvCxnSpPr>
          <p:nvPr/>
        </p:nvCxnSpPr>
        <p:spPr>
          <a:xfrm>
            <a:off x="554736" y="275653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EA6BE2-4645-4F44-B91D-5AE08E702A3C}"/>
              </a:ext>
            </a:extLst>
          </p:cNvPr>
          <p:cNvCxnSpPr>
            <a:cxnSpLocks/>
          </p:cNvCxnSpPr>
          <p:nvPr/>
        </p:nvCxnSpPr>
        <p:spPr>
          <a:xfrm>
            <a:off x="554736" y="394525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ED5210-88B3-D094-5E8F-B050EB54D1DE}"/>
              </a:ext>
            </a:extLst>
          </p:cNvPr>
          <p:cNvCxnSpPr>
            <a:cxnSpLocks/>
          </p:cNvCxnSpPr>
          <p:nvPr/>
        </p:nvCxnSpPr>
        <p:spPr>
          <a:xfrm>
            <a:off x="554736" y="5133975"/>
            <a:ext cx="11082528" cy="0"/>
          </a:xfrm>
          <a:prstGeom prst="line">
            <a:avLst/>
          </a:prstGeom>
          <a:ln w="9525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08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16A8395-6630-34BD-4E87-B42FB0A3E7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14300" indent="0">
              <a:buNone/>
            </a:pPr>
            <a:r>
              <a:rPr lang="en-GB" sz="1400" b="1" dirty="0">
                <a:solidFill>
                  <a:schemeClr val="accent2"/>
                </a:solidFill>
              </a:rPr>
              <a:t>Business need: </a:t>
            </a:r>
            <a:r>
              <a:rPr lang="en-GB" sz="1400" b="1" dirty="0">
                <a:solidFill>
                  <a:schemeClr val="tx1"/>
                </a:solidFill>
              </a:rPr>
              <a:t>[Insert main business problem or opportunity]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114300" indent="0">
              <a:buNone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sz="1400" b="1" dirty="0">
                <a:solidFill>
                  <a:schemeClr val="accent2"/>
                </a:solidFill>
              </a:rPr>
              <a:t>Suggested solution: </a:t>
            </a:r>
            <a:r>
              <a:rPr lang="en-GB" sz="1400" b="1" dirty="0">
                <a:solidFill>
                  <a:schemeClr val="tx1"/>
                </a:solidFill>
              </a:rPr>
              <a:t>[Insert high-level solution]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114300" indent="0">
              <a:buNone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sz="1400" b="1" dirty="0">
                <a:solidFill>
                  <a:schemeClr val="accent2"/>
                </a:solidFill>
              </a:rPr>
              <a:t>Path forward: </a:t>
            </a:r>
            <a:r>
              <a:rPr lang="en-GB" sz="1400" b="1" dirty="0">
                <a:solidFill>
                  <a:schemeClr val="tx1"/>
                </a:solidFill>
              </a:rPr>
              <a:t>[Insert main timeframe for implementation e.g., “Project expected to take 7 months”]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[Supporting information in bullet points]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sz="1400" b="1" dirty="0">
                <a:solidFill>
                  <a:schemeClr val="accent2"/>
                </a:solidFill>
              </a:rPr>
              <a:t>Immediate next steps: </a:t>
            </a:r>
            <a:r>
              <a:rPr lang="en-GB" sz="1400" b="1" dirty="0">
                <a:solidFill>
                  <a:schemeClr val="tx1"/>
                </a:solidFill>
              </a:rPr>
              <a:t>[Insert next steps or to-dos]</a:t>
            </a:r>
          </a:p>
        </p:txBody>
      </p:sp>
    </p:spTree>
    <p:extLst>
      <p:ext uri="{BB962C8B-B14F-4D97-AF65-F5344CB8AC3E}">
        <p14:creationId xmlns:p14="http://schemas.microsoft.com/office/powerpoint/2010/main" val="257712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15C1-FA95-6FE3-A12D-4454179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Executive summary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0D799A-556F-39B3-C238-55DA4835B7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319E67-2518-CF13-8F57-BAF450306D10}"/>
              </a:ext>
            </a:extLst>
          </p:cNvPr>
          <p:cNvSpPr/>
          <p:nvPr/>
        </p:nvSpPr>
        <p:spPr>
          <a:xfrm>
            <a:off x="550864" y="136888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1BFF1-6A16-0A82-1E8A-CE50EB88E00E}"/>
              </a:ext>
            </a:extLst>
          </p:cNvPr>
          <p:cNvSpPr/>
          <p:nvPr/>
        </p:nvSpPr>
        <p:spPr>
          <a:xfrm>
            <a:off x="550864" y="1778000"/>
            <a:ext cx="3429000" cy="442068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background/reasons for starting project]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bullet points on business need/opportunity/problem]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bullet points on business need/opportunity/problem]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C30BB9F-031E-3C6B-43A7-C9A7CEE5110F}"/>
              </a:ext>
            </a:extLst>
          </p:cNvPr>
          <p:cNvSpPr/>
          <p:nvPr/>
        </p:nvSpPr>
        <p:spPr>
          <a:xfrm>
            <a:off x="4379406" y="1778000"/>
            <a:ext cx="3431094" cy="44206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We have identified three possible options:</a:t>
            </a:r>
            <a:br>
              <a:rPr lang="en-US" sz="1200" dirty="0">
                <a:solidFill>
                  <a:schemeClr val="tx1"/>
                </a:solidFill>
              </a:rPr>
            </a:b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300"/>
              </a:spcAft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[Insert option 1]: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300"/>
              </a:spcAft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[Insert option 2]: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spcAft>
                <a:spcPts val="300"/>
              </a:spcAft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[Insert option 3]: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  <a:p>
            <a:pPr marL="484650" lvl="1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[Insert description and main stats in bullet points]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0F6AA15-3304-294C-852C-1C2E59EF520A}"/>
              </a:ext>
            </a:extLst>
          </p:cNvPr>
          <p:cNvSpPr/>
          <p:nvPr/>
        </p:nvSpPr>
        <p:spPr>
          <a:xfrm>
            <a:off x="8210042" y="1778000"/>
            <a:ext cx="3431094" cy="442068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We recommend option [insert]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reason(s) why]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reason(s) why]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reason(s) why]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Project can be implemented over [xx] months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more details e.g., start date, teams or what needs to be clarified further]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more details e.g., start date, teams or what needs to be clarified further]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more details e.g., start date, teams or what needs to be clarified further]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Immediate next steps: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[Insert next steps]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5143860-2055-99AF-C786-22F787956D7D}"/>
              </a:ext>
            </a:extLst>
          </p:cNvPr>
          <p:cNvSpPr/>
          <p:nvPr/>
        </p:nvSpPr>
        <p:spPr>
          <a:xfrm>
            <a:off x="4379406" y="1368884"/>
            <a:ext cx="899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238454E-7E61-F428-921E-AEC35137B305}"/>
              </a:ext>
            </a:extLst>
          </p:cNvPr>
          <p:cNvSpPr/>
          <p:nvPr/>
        </p:nvSpPr>
        <p:spPr>
          <a:xfrm>
            <a:off x="8210042" y="1368884"/>
            <a:ext cx="29867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Recommendation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3378234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72F651-B71D-1323-ABB0-DC8E49D24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0A8304-A6EA-11F7-75FB-41AA7AEE49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746920-9FF8-5522-7EB0-AFD399369423}"/>
              </a:ext>
            </a:extLst>
          </p:cNvPr>
          <p:cNvSpPr txBox="1">
            <a:spLocks/>
          </p:cNvSpPr>
          <p:nvPr/>
        </p:nvSpPr>
        <p:spPr>
          <a:xfrm>
            <a:off x="554736" y="1452736"/>
            <a:ext cx="11082528" cy="892800"/>
          </a:xfrm>
          <a:prstGeom prst="rect">
            <a:avLst/>
          </a:prstGeom>
          <a:noFill/>
        </p:spPr>
        <p:txBody>
          <a:bodyPr vert="horz" lIns="72000" tIns="72000" rIns="72000" bIns="72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indent="0">
              <a:buNone/>
            </a:pPr>
            <a:r>
              <a:rPr lang="en-GB" sz="1200" b="1" dirty="0">
                <a:solidFill>
                  <a:schemeClr val="tx1"/>
                </a:solidFill>
              </a:rPr>
              <a:t>Problem:</a:t>
            </a:r>
          </a:p>
          <a:p>
            <a:pPr>
              <a:buNone/>
            </a:pPr>
            <a:r>
              <a:rPr lang="en-GB" sz="1200" dirty="0">
                <a:solidFill>
                  <a:schemeClr val="tx1"/>
                </a:solidFill>
              </a:rPr>
              <a:t>[Insert brief description of problem, 2-3 lines max]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A2EBC92-0B66-F00B-0559-A4FEA330D826}"/>
              </a:ext>
            </a:extLst>
          </p:cNvPr>
          <p:cNvSpPr txBox="1">
            <a:spLocks/>
          </p:cNvSpPr>
          <p:nvPr/>
        </p:nvSpPr>
        <p:spPr>
          <a:xfrm>
            <a:off x="554736" y="2207515"/>
            <a:ext cx="11082528" cy="201473"/>
          </a:xfrm>
          <a:prstGeom prst="rect">
            <a:avLst/>
          </a:prstGeom>
          <a:noFill/>
        </p:spPr>
        <p:txBody>
          <a:bodyPr vert="horz" lIns="72000" tIns="72000" rIns="7200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indent="0">
              <a:buNone/>
            </a:pPr>
            <a:r>
              <a:rPr lang="en-GB" sz="1200" b="1" dirty="0">
                <a:solidFill>
                  <a:schemeClr val="tx1"/>
                </a:solidFill>
              </a:rPr>
              <a:t>Solutions: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90531E5-3882-3DB2-0E84-37AA28521D0D}"/>
              </a:ext>
            </a:extLst>
          </p:cNvPr>
          <p:cNvSpPr txBox="1">
            <a:spLocks/>
          </p:cNvSpPr>
          <p:nvPr/>
        </p:nvSpPr>
        <p:spPr>
          <a:xfrm>
            <a:off x="554736" y="5365456"/>
            <a:ext cx="11082528" cy="8927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72000" tIns="72000" rIns="72000" bIns="72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indent="0">
              <a:buNone/>
            </a:pPr>
            <a:r>
              <a:rPr lang="en-GB" sz="1200" b="1" dirty="0">
                <a:solidFill>
                  <a:schemeClr val="tx1"/>
                </a:solidFill>
              </a:rPr>
              <a:t>Recommendation:</a:t>
            </a:r>
          </a:p>
          <a:p>
            <a:pPr>
              <a:buNone/>
            </a:pPr>
            <a:r>
              <a:rPr lang="en-GB" sz="1200" dirty="0">
                <a:solidFill>
                  <a:schemeClr val="tx1"/>
                </a:solidFill>
              </a:rPr>
              <a:t>[Insert recommendation and highlight next steps]</a:t>
            </a:r>
          </a:p>
        </p:txBody>
      </p:sp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1E2C59A9-6861-642E-6DDA-EB6F0E868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964634"/>
              </p:ext>
            </p:extLst>
          </p:nvPr>
        </p:nvGraphicFramePr>
        <p:xfrm>
          <a:off x="554734" y="2483896"/>
          <a:ext cx="1108252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784">
                  <a:extLst>
                    <a:ext uri="{9D8B030D-6E8A-4147-A177-3AD203B41FA5}">
                      <a16:colId xmlns:a16="http://schemas.microsoft.com/office/drawing/2014/main" val="37025601"/>
                    </a:ext>
                  </a:extLst>
                </a:gridCol>
                <a:gridCol w="3797480">
                  <a:extLst>
                    <a:ext uri="{9D8B030D-6E8A-4147-A177-3AD203B41FA5}">
                      <a16:colId xmlns:a16="http://schemas.microsoft.com/office/drawing/2014/main" val="4183002035"/>
                    </a:ext>
                  </a:extLst>
                </a:gridCol>
                <a:gridCol w="3797480">
                  <a:extLst>
                    <a:ext uri="{9D8B030D-6E8A-4147-A177-3AD203B41FA5}">
                      <a16:colId xmlns:a16="http://schemas.microsoft.com/office/drawing/2014/main" val="1262215776"/>
                    </a:ext>
                  </a:extLst>
                </a:gridCol>
                <a:gridCol w="1743784">
                  <a:extLst>
                    <a:ext uri="{9D8B030D-6E8A-4147-A177-3AD203B41FA5}">
                      <a16:colId xmlns:a16="http://schemas.microsoft.com/office/drawing/2014/main" val="4119181002"/>
                    </a:ext>
                  </a:extLst>
                </a:gridCol>
              </a:tblGrid>
              <a:tr h="245504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Options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Benefits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NPV / ROI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2129"/>
                  </a:ext>
                </a:extLst>
              </a:tr>
              <a:tr h="75295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Option 1: [Insert name of option 1 e.g., “Fully outsourced”]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description of solution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description of solution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description of solution in bullet points]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description of financial and other benefits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description of benefits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description of benefits in bullet points]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[Insert estimated NPV and/or ROI, if relevant]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733070"/>
                  </a:ext>
                </a:extLst>
              </a:tr>
              <a:tr h="75295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Option 2: [Insert name of option 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solution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solution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solution in bullet points]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financial and other benefits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benefits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benefits in bullet points]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estimated NPV and/or ROI, if relevant]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695511"/>
                  </a:ext>
                </a:extLst>
              </a:tr>
              <a:tr h="75295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Option 3: [Insert name of option 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solution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solution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solution in bullet points]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financial and other benefits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benefits in bullet points]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description of benefits in bullet points]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estimated NPV and/or ROI, if relevant]</a:t>
                      </a: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328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27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78DD-1856-A45E-5F72-F1282730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1EADE-7C79-A782-A015-D6429C7690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2A215-90DC-28C3-3B21-9CD173AB1D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A145BA-1BA2-4052-BF05-66741EC5FB51}"/>
              </a:ext>
            </a:extLst>
          </p:cNvPr>
          <p:cNvSpPr/>
          <p:nvPr/>
        </p:nvSpPr>
        <p:spPr>
          <a:xfrm>
            <a:off x="554736" y="2008414"/>
            <a:ext cx="6874764" cy="2058619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08000" rIns="9144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tx1"/>
                </a:solidFill>
              </a:rPr>
              <a:t>Project background and benefits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brief description of context and business need]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expected tangible and intangible benefits of implementing project]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expected tangible and intangible benefits of implementing project]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expected tangible and intangible benefits of implementing project]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C9A5D-7F81-275C-3DEA-0BFCA1A00485}"/>
              </a:ext>
            </a:extLst>
          </p:cNvPr>
          <p:cNvSpPr/>
          <p:nvPr/>
        </p:nvSpPr>
        <p:spPr>
          <a:xfrm>
            <a:off x="554736" y="4200666"/>
            <a:ext cx="6874764" cy="2058619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08000" rIns="9144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tx1"/>
                </a:solidFill>
              </a:rPr>
              <a:t>Costs, team, and setup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D095AF-5D78-4554-3914-DCC2122F4E03}"/>
              </a:ext>
            </a:extLst>
          </p:cNvPr>
          <p:cNvSpPr/>
          <p:nvPr/>
        </p:nvSpPr>
        <p:spPr>
          <a:xfrm>
            <a:off x="7630160" y="2008413"/>
            <a:ext cx="4007104" cy="4250871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08000" rIns="9144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tx1"/>
                </a:solidFill>
              </a:rPr>
              <a:t>Expected outcome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894C1-449D-0502-2F5E-42340D54FE91}"/>
              </a:ext>
            </a:extLst>
          </p:cNvPr>
          <p:cNvSpPr txBox="1"/>
          <p:nvPr/>
        </p:nvSpPr>
        <p:spPr>
          <a:xfrm>
            <a:off x="765968" y="5486586"/>
            <a:ext cx="3136524" cy="6830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sz="1400" b="1" dirty="0"/>
              <a:t>Number of FTEs needed:</a:t>
            </a:r>
          </a:p>
          <a:p>
            <a:r>
              <a:rPr lang="en-US" sz="1400" dirty="0"/>
              <a:t>[Insert number]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35BE37-003F-586E-33FA-73DEB105392B}"/>
              </a:ext>
            </a:extLst>
          </p:cNvPr>
          <p:cNvSpPr txBox="1"/>
          <p:nvPr/>
        </p:nvSpPr>
        <p:spPr>
          <a:xfrm>
            <a:off x="4081745" y="4674517"/>
            <a:ext cx="3136524" cy="6830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sz="1400" b="1" dirty="0"/>
              <a:t>Project sponsor:</a:t>
            </a:r>
          </a:p>
          <a:p>
            <a:r>
              <a:rPr lang="en-US" sz="1400" dirty="0"/>
              <a:t>[Insert name]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B2F64-244D-43EF-1A1F-EFFA817B6B5C}"/>
              </a:ext>
            </a:extLst>
          </p:cNvPr>
          <p:cNvSpPr txBox="1"/>
          <p:nvPr/>
        </p:nvSpPr>
        <p:spPr>
          <a:xfrm>
            <a:off x="765968" y="4674517"/>
            <a:ext cx="3136524" cy="6830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sz="1400" b="1" dirty="0"/>
              <a:t>Project costs:</a:t>
            </a:r>
          </a:p>
          <a:p>
            <a:r>
              <a:rPr lang="en-US" sz="1400" dirty="0"/>
              <a:t>[Insert expected costs]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378A8-491E-075C-EA59-90391AD8D352}"/>
              </a:ext>
            </a:extLst>
          </p:cNvPr>
          <p:cNvSpPr txBox="1"/>
          <p:nvPr/>
        </p:nvSpPr>
        <p:spPr>
          <a:xfrm>
            <a:off x="4081745" y="5486586"/>
            <a:ext cx="3136524" cy="6830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US" sz="1400" b="1" dirty="0"/>
              <a:t>Project manager:</a:t>
            </a:r>
          </a:p>
          <a:p>
            <a:r>
              <a:rPr lang="en-US" sz="1400" dirty="0"/>
              <a:t>[Insert name]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C9A940-D618-6210-DD13-E0BA74378E85}"/>
              </a:ext>
            </a:extLst>
          </p:cNvPr>
          <p:cNvSpPr txBox="1"/>
          <p:nvPr/>
        </p:nvSpPr>
        <p:spPr>
          <a:xfrm>
            <a:off x="7833712" y="2420901"/>
            <a:ext cx="3600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 dirty="0"/>
              <a:t>Revenue generated, </a:t>
            </a:r>
            <a:r>
              <a:rPr lang="en-US" sz="1400" dirty="0"/>
              <a:t>[unit]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15B989-9882-53FA-6DF8-86AF6495F220}"/>
              </a:ext>
            </a:extLst>
          </p:cNvPr>
          <p:cNvSpPr txBox="1"/>
          <p:nvPr/>
        </p:nvSpPr>
        <p:spPr>
          <a:xfrm>
            <a:off x="7833712" y="4674517"/>
            <a:ext cx="3600000" cy="683093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Net present value (NPV):</a:t>
            </a:r>
          </a:p>
          <a:p>
            <a:r>
              <a:rPr lang="en-US" sz="1400" dirty="0">
                <a:solidFill>
                  <a:schemeClr val="bg1"/>
                </a:solidFill>
              </a:rPr>
              <a:t>[Insert NPV]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0A321A-30A2-F882-8212-11C5F8788025}"/>
              </a:ext>
            </a:extLst>
          </p:cNvPr>
          <p:cNvSpPr txBox="1"/>
          <p:nvPr/>
        </p:nvSpPr>
        <p:spPr>
          <a:xfrm>
            <a:off x="7833712" y="5486586"/>
            <a:ext cx="3600000" cy="683093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>
            <a:no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Return on investment (ROI):</a:t>
            </a:r>
          </a:p>
          <a:p>
            <a:r>
              <a:rPr lang="en-US" sz="1400" dirty="0">
                <a:solidFill>
                  <a:schemeClr val="bg1"/>
                </a:solidFill>
              </a:rPr>
              <a:t>[Insert ROI]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74F13AE-CB53-7832-9635-27AD065AC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2111578"/>
              </p:ext>
            </p:extLst>
          </p:nvPr>
        </p:nvGraphicFramePr>
        <p:xfrm>
          <a:off x="7826032" y="2728678"/>
          <a:ext cx="3600000" cy="1816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7080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361A-B5A7-DCDA-6428-E9E3AC04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A7DEF7-65C1-DE17-3767-559386036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36" y="1318966"/>
            <a:ext cx="11082528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F6960-0278-1FCF-4A5E-1E9CEC4DDC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reeform: Shape 8241">
            <a:extLst>
              <a:ext uri="{FF2B5EF4-FFF2-40B4-BE49-F238E27FC236}">
                <a16:creationId xmlns:a16="http://schemas.microsoft.com/office/drawing/2014/main" id="{748DB74A-6C36-74EB-F995-EF644B38CB2D}"/>
              </a:ext>
            </a:extLst>
          </p:cNvPr>
          <p:cNvSpPr/>
          <p:nvPr/>
        </p:nvSpPr>
        <p:spPr>
          <a:xfrm>
            <a:off x="554736" y="2859307"/>
            <a:ext cx="2220503" cy="29477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1245">
                <a:moveTo>
                  <a:pt x="0" y="0"/>
                </a:moveTo>
                <a:lnTo>
                  <a:pt x="0" y="0"/>
                </a:lnTo>
                <a:lnTo>
                  <a:pt x="0" y="1245"/>
                </a:lnTo>
                <a:lnTo>
                  <a:pt x="1245" y="1245"/>
                </a:lnTo>
                <a:lnTo>
                  <a:pt x="1245" y="1245"/>
                </a:lnTo>
                <a:lnTo>
                  <a:pt x="12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</a:ln>
          <a:effectLst/>
        </p:spPr>
        <p:txBody>
          <a:bodyPr vert="horz" wrap="square" lIns="72000" tIns="540000" rIns="72000" bIns="108000" anchor="t" anchorCtr="1" compatLnSpc="0"/>
          <a:lstStyle/>
          <a:p>
            <a:pPr algn="ctr" defTabSz="457200">
              <a:lnSpc>
                <a:spcPts val="1658"/>
              </a:lnSpc>
            </a:pPr>
            <a:r>
              <a:rPr lang="en-AU" sz="1600" b="1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Problem/opportunity</a:t>
            </a:r>
          </a:p>
          <a:p>
            <a:pPr algn="ctr" defTabSz="457200">
              <a:lnSpc>
                <a:spcPts val="1658"/>
              </a:lnSpc>
            </a:pPr>
            <a:endParaRPr lang="en-AU" sz="14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 defTabSz="457200">
              <a:lnSpc>
                <a:spcPts val="1658"/>
              </a:lnSpc>
            </a:pPr>
            <a:r>
              <a:rPr lang="en-AU" sz="14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[Summarize the underlying problem or opportunity this business case is responding to]</a:t>
            </a:r>
          </a:p>
        </p:txBody>
      </p:sp>
      <p:sp>
        <p:nvSpPr>
          <p:cNvPr id="26" name="Freeform: Shape 8241">
            <a:extLst>
              <a:ext uri="{FF2B5EF4-FFF2-40B4-BE49-F238E27FC236}">
                <a16:creationId xmlns:a16="http://schemas.microsoft.com/office/drawing/2014/main" id="{1A02BCC4-46D3-FA76-5CE8-0BA7D61626EF}"/>
              </a:ext>
            </a:extLst>
          </p:cNvPr>
          <p:cNvSpPr/>
          <p:nvPr/>
        </p:nvSpPr>
        <p:spPr>
          <a:xfrm>
            <a:off x="3508744" y="2859307"/>
            <a:ext cx="2220503" cy="29477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1245">
                <a:moveTo>
                  <a:pt x="0" y="0"/>
                </a:moveTo>
                <a:lnTo>
                  <a:pt x="0" y="0"/>
                </a:lnTo>
                <a:lnTo>
                  <a:pt x="0" y="1245"/>
                </a:lnTo>
                <a:lnTo>
                  <a:pt x="1245" y="1245"/>
                </a:lnTo>
                <a:lnTo>
                  <a:pt x="1245" y="1245"/>
                </a:lnTo>
                <a:lnTo>
                  <a:pt x="12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</a:ln>
          <a:effectLst/>
        </p:spPr>
        <p:txBody>
          <a:bodyPr vert="horz" wrap="square" lIns="72000" tIns="540000" rIns="72000" bIns="108000" anchor="t" anchorCtr="1" compatLnSpc="0"/>
          <a:lstStyle/>
          <a:p>
            <a:pPr algn="ctr" defTabSz="457200">
              <a:lnSpc>
                <a:spcPts val="1658"/>
              </a:lnSpc>
            </a:pPr>
            <a:r>
              <a:rPr lang="en-AU" sz="1600" b="1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Solution</a:t>
            </a:r>
          </a:p>
          <a:p>
            <a:pPr algn="ctr" defTabSz="457200">
              <a:lnSpc>
                <a:spcPts val="1658"/>
              </a:lnSpc>
            </a:pPr>
            <a:endParaRPr lang="en-AU" sz="14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 defTabSz="457200">
              <a:lnSpc>
                <a:spcPts val="1658"/>
              </a:lnSpc>
            </a:pPr>
            <a:r>
              <a:rPr lang="en-AU" sz="14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[Summarize the suggested solution to the problem / opportunity]</a:t>
            </a:r>
          </a:p>
        </p:txBody>
      </p:sp>
      <p:sp>
        <p:nvSpPr>
          <p:cNvPr id="27" name="Freeform: Shape 8241">
            <a:extLst>
              <a:ext uri="{FF2B5EF4-FFF2-40B4-BE49-F238E27FC236}">
                <a16:creationId xmlns:a16="http://schemas.microsoft.com/office/drawing/2014/main" id="{3618E085-E242-DB74-5082-796228E0A98B}"/>
              </a:ext>
            </a:extLst>
          </p:cNvPr>
          <p:cNvSpPr/>
          <p:nvPr/>
        </p:nvSpPr>
        <p:spPr>
          <a:xfrm>
            <a:off x="6462752" y="2859307"/>
            <a:ext cx="2220503" cy="29477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1245">
                <a:moveTo>
                  <a:pt x="0" y="0"/>
                </a:moveTo>
                <a:lnTo>
                  <a:pt x="0" y="0"/>
                </a:lnTo>
                <a:lnTo>
                  <a:pt x="0" y="1245"/>
                </a:lnTo>
                <a:lnTo>
                  <a:pt x="1245" y="1245"/>
                </a:lnTo>
                <a:lnTo>
                  <a:pt x="1245" y="1245"/>
                </a:lnTo>
                <a:lnTo>
                  <a:pt x="12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</a:ln>
          <a:effectLst/>
        </p:spPr>
        <p:txBody>
          <a:bodyPr vert="horz" wrap="square" lIns="72000" tIns="540000" rIns="72000" bIns="108000" anchor="t" anchorCtr="1" compatLnSpc="0"/>
          <a:lstStyle/>
          <a:p>
            <a:pPr algn="ctr" defTabSz="457200">
              <a:lnSpc>
                <a:spcPts val="1658"/>
              </a:lnSpc>
            </a:pPr>
            <a:r>
              <a:rPr lang="en-AU" sz="1600" b="1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Outcomes </a:t>
            </a:r>
          </a:p>
          <a:p>
            <a:pPr algn="ctr" defTabSz="457200">
              <a:lnSpc>
                <a:spcPts val="1658"/>
              </a:lnSpc>
            </a:pPr>
            <a:endParaRPr lang="en-AU" sz="14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 defTabSz="457200">
              <a:lnSpc>
                <a:spcPts val="1658"/>
              </a:lnSpc>
            </a:pPr>
            <a:r>
              <a:rPr lang="en-AU" sz="14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[Summarize the outcomes and benefits that can expected from successfully addressing the problem / opportunity]</a:t>
            </a:r>
          </a:p>
        </p:txBody>
      </p:sp>
      <p:sp>
        <p:nvSpPr>
          <p:cNvPr id="28" name="Freeform: Shape 8241">
            <a:extLst>
              <a:ext uri="{FF2B5EF4-FFF2-40B4-BE49-F238E27FC236}">
                <a16:creationId xmlns:a16="http://schemas.microsoft.com/office/drawing/2014/main" id="{1157CB7A-8BCA-C9F0-20D9-7ED999677121}"/>
              </a:ext>
            </a:extLst>
          </p:cNvPr>
          <p:cNvSpPr/>
          <p:nvPr/>
        </p:nvSpPr>
        <p:spPr>
          <a:xfrm>
            <a:off x="9416761" y="2859307"/>
            <a:ext cx="2220503" cy="294772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1245">
                <a:moveTo>
                  <a:pt x="0" y="0"/>
                </a:moveTo>
                <a:lnTo>
                  <a:pt x="0" y="0"/>
                </a:lnTo>
                <a:lnTo>
                  <a:pt x="0" y="1245"/>
                </a:lnTo>
                <a:lnTo>
                  <a:pt x="1245" y="1245"/>
                </a:lnTo>
                <a:lnTo>
                  <a:pt x="1245" y="1245"/>
                </a:lnTo>
                <a:lnTo>
                  <a:pt x="124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</a:ln>
          <a:effectLst/>
        </p:spPr>
        <p:txBody>
          <a:bodyPr vert="horz" wrap="square" lIns="72000" tIns="540000" rIns="72000" bIns="108000" anchor="t" anchorCtr="1" compatLnSpc="0"/>
          <a:lstStyle/>
          <a:p>
            <a:pPr algn="ctr" defTabSz="457200">
              <a:lnSpc>
                <a:spcPts val="1658"/>
              </a:lnSpc>
            </a:pPr>
            <a:r>
              <a:rPr lang="en-AU" sz="1600" b="1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Strategic rationale</a:t>
            </a:r>
          </a:p>
          <a:p>
            <a:pPr algn="ctr" defTabSz="457200">
              <a:lnSpc>
                <a:spcPts val="1658"/>
              </a:lnSpc>
            </a:pPr>
            <a:endParaRPr lang="en-AU" sz="1400" dirty="0"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  <a:p>
            <a:pPr algn="ctr" defTabSz="457200">
              <a:lnSpc>
                <a:spcPts val="1658"/>
              </a:lnSpc>
            </a:pPr>
            <a:r>
              <a:rPr lang="en-AU" sz="1400" dirty="0"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[Summarize the strategic rationale for addressing the problem / opportunity, including how this feeds into the overall company strategy]</a:t>
            </a:r>
          </a:p>
        </p:txBody>
      </p:sp>
      <p:sp>
        <p:nvSpPr>
          <p:cNvPr id="6" name="Freeform: Shape 8242">
            <a:extLst>
              <a:ext uri="{FF2B5EF4-FFF2-40B4-BE49-F238E27FC236}">
                <a16:creationId xmlns:a16="http://schemas.microsoft.com/office/drawing/2014/main" id="{89D0E58A-3B63-DF42-6209-EB3D6D253514}"/>
              </a:ext>
            </a:extLst>
          </p:cNvPr>
          <p:cNvSpPr/>
          <p:nvPr/>
        </p:nvSpPr>
        <p:spPr>
          <a:xfrm>
            <a:off x="1304987" y="2494287"/>
            <a:ext cx="720000" cy="72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" h="550">
                <a:moveTo>
                  <a:pt x="550" y="275"/>
                </a:moveTo>
                <a:cubicBezTo>
                  <a:pt x="550" y="426"/>
                  <a:pt x="427" y="550"/>
                  <a:pt x="275" y="550"/>
                </a:cubicBezTo>
                <a:cubicBezTo>
                  <a:pt x="123" y="550"/>
                  <a:pt x="0" y="426"/>
                  <a:pt x="0" y="275"/>
                </a:cubicBezTo>
                <a:cubicBezTo>
                  <a:pt x="0" y="123"/>
                  <a:pt x="123" y="0"/>
                  <a:pt x="275" y="0"/>
                </a:cubicBezTo>
                <a:cubicBezTo>
                  <a:pt x="427" y="0"/>
                  <a:pt x="550" y="123"/>
                  <a:pt x="550" y="275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  <a:effectLst/>
        </p:spPr>
        <p:txBody>
          <a:bodyPr vert="horz" wrap="none" lIns="36563" tIns="18281" rIns="36563" bIns="18281" anchor="ctr" anchorCtr="1" compatLnSpc="0"/>
          <a:lstStyle/>
          <a:p>
            <a:pPr algn="ctr" defTabSz="457200" hangingPunct="0">
              <a:defRPr/>
            </a:pPr>
            <a:r>
              <a:rPr lang="en-US" sz="2000" b="1" kern="0" dirty="0">
                <a:solidFill>
                  <a:schemeClr val="bg1"/>
                </a:solidFill>
                <a:latin typeface="Arial" panose="020B0604020202020204" pitchFamily="34" charset="0"/>
                <a:ea typeface="Arial Unicode MS" pitchFamily="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Freeform: Shape 8543">
            <a:extLst>
              <a:ext uri="{FF2B5EF4-FFF2-40B4-BE49-F238E27FC236}">
                <a16:creationId xmlns:a16="http://schemas.microsoft.com/office/drawing/2014/main" id="{83316818-084B-6DFB-AE52-8CEF9B223899}"/>
              </a:ext>
            </a:extLst>
          </p:cNvPr>
          <p:cNvSpPr/>
          <p:nvPr/>
        </p:nvSpPr>
        <p:spPr>
          <a:xfrm>
            <a:off x="4258995" y="2494287"/>
            <a:ext cx="720000" cy="72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" h="549">
                <a:moveTo>
                  <a:pt x="550" y="275"/>
                </a:moveTo>
                <a:cubicBezTo>
                  <a:pt x="550" y="426"/>
                  <a:pt x="427" y="549"/>
                  <a:pt x="275" y="549"/>
                </a:cubicBezTo>
                <a:cubicBezTo>
                  <a:pt x="124" y="549"/>
                  <a:pt x="0" y="426"/>
                  <a:pt x="0" y="275"/>
                </a:cubicBezTo>
                <a:cubicBezTo>
                  <a:pt x="0" y="123"/>
                  <a:pt x="124" y="0"/>
                  <a:pt x="275" y="0"/>
                </a:cubicBezTo>
                <a:cubicBezTo>
                  <a:pt x="427" y="0"/>
                  <a:pt x="550" y="123"/>
                  <a:pt x="550" y="275"/>
                </a:cubicBezTo>
                <a:close/>
              </a:path>
            </a:pathLst>
          </a:custGeom>
          <a:solidFill>
            <a:schemeClr val="accent2"/>
          </a:solidFill>
          <a:ln cap="flat">
            <a:noFill/>
            <a:prstDash val="solid"/>
          </a:ln>
          <a:effectLst/>
        </p:spPr>
        <p:txBody>
          <a:bodyPr vert="horz" wrap="none" lIns="36563" tIns="18281" rIns="36563" bIns="18281" anchor="ctr" anchorCtr="1" compatLnSpc="0"/>
          <a:lstStyle/>
          <a:p>
            <a:pPr algn="ctr" defTabSz="457200" hangingPunct="0">
              <a:defRPr/>
            </a:pPr>
            <a:r>
              <a:rPr lang="en-US" sz="2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Freeform: Shape 8392">
            <a:extLst>
              <a:ext uri="{FF2B5EF4-FFF2-40B4-BE49-F238E27FC236}">
                <a16:creationId xmlns:a16="http://schemas.microsoft.com/office/drawing/2014/main" id="{0D9C83C9-0D73-53A1-8A4A-1B2334A21A89}"/>
              </a:ext>
            </a:extLst>
          </p:cNvPr>
          <p:cNvSpPr/>
          <p:nvPr/>
        </p:nvSpPr>
        <p:spPr>
          <a:xfrm>
            <a:off x="7213003" y="2494287"/>
            <a:ext cx="720000" cy="72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" h="549">
                <a:moveTo>
                  <a:pt x="550" y="274"/>
                </a:moveTo>
                <a:cubicBezTo>
                  <a:pt x="550" y="426"/>
                  <a:pt x="427" y="549"/>
                  <a:pt x="275" y="549"/>
                </a:cubicBezTo>
                <a:cubicBezTo>
                  <a:pt x="123" y="549"/>
                  <a:pt x="0" y="426"/>
                  <a:pt x="0" y="274"/>
                </a:cubicBezTo>
                <a:cubicBezTo>
                  <a:pt x="0" y="123"/>
                  <a:pt x="123" y="0"/>
                  <a:pt x="275" y="0"/>
                </a:cubicBezTo>
                <a:cubicBezTo>
                  <a:pt x="427" y="0"/>
                  <a:pt x="550" y="123"/>
                  <a:pt x="550" y="274"/>
                </a:cubicBezTo>
                <a:close/>
              </a:path>
            </a:pathLst>
          </a:custGeom>
          <a:solidFill>
            <a:schemeClr val="accent3"/>
          </a:solidFill>
          <a:ln cap="flat">
            <a:noFill/>
            <a:prstDash val="solid"/>
          </a:ln>
          <a:effectLst/>
        </p:spPr>
        <p:txBody>
          <a:bodyPr vert="horz" wrap="none" lIns="36563" tIns="18281" rIns="36563" bIns="18281" anchor="ctr" anchorCtr="1" compatLnSpc="0"/>
          <a:lstStyle/>
          <a:p>
            <a:pPr defTabSz="457200" hangingPunct="0">
              <a:defRPr/>
            </a:pPr>
            <a:r>
              <a:rPr lang="en-US" sz="2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2" name="Freeform: Shape 8392">
            <a:extLst>
              <a:ext uri="{FF2B5EF4-FFF2-40B4-BE49-F238E27FC236}">
                <a16:creationId xmlns:a16="http://schemas.microsoft.com/office/drawing/2014/main" id="{1A707109-F613-44D0-FE31-98B934E869CC}"/>
              </a:ext>
            </a:extLst>
          </p:cNvPr>
          <p:cNvSpPr/>
          <p:nvPr/>
        </p:nvSpPr>
        <p:spPr>
          <a:xfrm>
            <a:off x="10167012" y="2494287"/>
            <a:ext cx="720000" cy="7200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0" h="549">
                <a:moveTo>
                  <a:pt x="550" y="274"/>
                </a:moveTo>
                <a:cubicBezTo>
                  <a:pt x="550" y="426"/>
                  <a:pt x="427" y="549"/>
                  <a:pt x="275" y="549"/>
                </a:cubicBezTo>
                <a:cubicBezTo>
                  <a:pt x="123" y="549"/>
                  <a:pt x="0" y="426"/>
                  <a:pt x="0" y="274"/>
                </a:cubicBezTo>
                <a:cubicBezTo>
                  <a:pt x="0" y="123"/>
                  <a:pt x="123" y="0"/>
                  <a:pt x="275" y="0"/>
                </a:cubicBezTo>
                <a:cubicBezTo>
                  <a:pt x="427" y="0"/>
                  <a:pt x="550" y="123"/>
                  <a:pt x="550" y="274"/>
                </a:cubicBezTo>
                <a:close/>
              </a:path>
            </a:pathLst>
          </a:custGeom>
          <a:solidFill>
            <a:schemeClr val="accent4"/>
          </a:solidFill>
          <a:ln cap="flat">
            <a:noFill/>
            <a:prstDash val="solid"/>
          </a:ln>
          <a:effectLst/>
        </p:spPr>
        <p:txBody>
          <a:bodyPr vert="horz" wrap="none" lIns="36563" tIns="18281" rIns="36563" bIns="18281" anchor="ctr" anchorCtr="1" compatLnSpc="0"/>
          <a:lstStyle/>
          <a:p>
            <a:pPr defTabSz="457200" hangingPunct="0">
              <a:defRPr/>
            </a:pPr>
            <a:r>
              <a:rPr lang="en-US" sz="2000" b="1" kern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7432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78DD-1856-A45E-5F72-F1282730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evaluated three options for [insert problem]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2A215-90DC-28C3-3B21-9CD173AB1D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272507-6049-2382-6928-CD6269EEB15E}"/>
              </a:ext>
            </a:extLst>
          </p:cNvPr>
          <p:cNvSpPr/>
          <p:nvPr/>
        </p:nvSpPr>
        <p:spPr>
          <a:xfrm>
            <a:off x="554736" y="2493175"/>
            <a:ext cx="1694330" cy="135692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Main approach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C580E1-A410-CA33-67FF-2DCD73F097E6}"/>
              </a:ext>
            </a:extLst>
          </p:cNvPr>
          <p:cNvSpPr/>
          <p:nvPr/>
        </p:nvSpPr>
        <p:spPr>
          <a:xfrm>
            <a:off x="554736" y="3938647"/>
            <a:ext cx="1694330" cy="54000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relevant dimension e.g., cost]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B7605E-451C-5508-4C6F-A16927153720}"/>
              </a:ext>
            </a:extLst>
          </p:cNvPr>
          <p:cNvSpPr/>
          <p:nvPr/>
        </p:nvSpPr>
        <p:spPr>
          <a:xfrm>
            <a:off x="554736" y="4567192"/>
            <a:ext cx="1694330" cy="54000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dimension]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ED4A6D-42F2-BFA8-E9F9-2F9E14AD1C48}"/>
              </a:ext>
            </a:extLst>
          </p:cNvPr>
          <p:cNvSpPr/>
          <p:nvPr/>
        </p:nvSpPr>
        <p:spPr>
          <a:xfrm>
            <a:off x="554736" y="5195737"/>
            <a:ext cx="1694330" cy="54000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dimension]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2AF84E-1D6B-E0A9-5B8A-F73724F0624D}"/>
              </a:ext>
            </a:extLst>
          </p:cNvPr>
          <p:cNvSpPr/>
          <p:nvPr/>
        </p:nvSpPr>
        <p:spPr>
          <a:xfrm>
            <a:off x="554736" y="5824282"/>
            <a:ext cx="1694330" cy="54000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dimension]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671AFC-749B-3359-A0EE-9C32E5D27B88}"/>
              </a:ext>
            </a:extLst>
          </p:cNvPr>
          <p:cNvSpPr/>
          <p:nvPr/>
        </p:nvSpPr>
        <p:spPr>
          <a:xfrm>
            <a:off x="2576277" y="2479729"/>
            <a:ext cx="2883228" cy="1356927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option A]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7C9724-BA1D-891D-CEA1-F9A8711C67AE}"/>
              </a:ext>
            </a:extLst>
          </p:cNvPr>
          <p:cNvSpPr/>
          <p:nvPr/>
        </p:nvSpPr>
        <p:spPr>
          <a:xfrm>
            <a:off x="2576277" y="3925201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A works in this dimension]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59C62A-CE20-043B-96AD-4FEB53E4F125}"/>
              </a:ext>
            </a:extLst>
          </p:cNvPr>
          <p:cNvSpPr/>
          <p:nvPr/>
        </p:nvSpPr>
        <p:spPr>
          <a:xfrm>
            <a:off x="2576277" y="4553746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A works in this dimension]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CBBF1B-D700-2A94-5E93-46DE7B39DFB0}"/>
              </a:ext>
            </a:extLst>
          </p:cNvPr>
          <p:cNvSpPr/>
          <p:nvPr/>
        </p:nvSpPr>
        <p:spPr>
          <a:xfrm>
            <a:off x="2576277" y="5182291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A works in this dimension]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F3A7CB-E845-5710-2896-9DFD2DFF3562}"/>
              </a:ext>
            </a:extLst>
          </p:cNvPr>
          <p:cNvSpPr/>
          <p:nvPr/>
        </p:nvSpPr>
        <p:spPr>
          <a:xfrm>
            <a:off x="2576277" y="5810836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A works in this dimension]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3446DE-41EB-E86E-578A-0BDC90387620}"/>
              </a:ext>
            </a:extLst>
          </p:cNvPr>
          <p:cNvSpPr/>
          <p:nvPr/>
        </p:nvSpPr>
        <p:spPr>
          <a:xfrm>
            <a:off x="5665157" y="2479729"/>
            <a:ext cx="2883228" cy="1356927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option B]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CDAB5F-1E98-72E7-0EDC-E8B97563D22D}"/>
              </a:ext>
            </a:extLst>
          </p:cNvPr>
          <p:cNvSpPr/>
          <p:nvPr/>
        </p:nvSpPr>
        <p:spPr>
          <a:xfrm>
            <a:off x="5665157" y="3925201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B works in this dimension]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698B6E-EC9F-EECD-A7DB-C6A33975B963}"/>
              </a:ext>
            </a:extLst>
          </p:cNvPr>
          <p:cNvSpPr/>
          <p:nvPr/>
        </p:nvSpPr>
        <p:spPr>
          <a:xfrm>
            <a:off x="5665157" y="4553746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B works in this dimension]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0FB7D0-B16E-0A73-CA2C-D03401D4EF3A}"/>
              </a:ext>
            </a:extLst>
          </p:cNvPr>
          <p:cNvSpPr/>
          <p:nvPr/>
        </p:nvSpPr>
        <p:spPr>
          <a:xfrm>
            <a:off x="5665157" y="5182291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B works in this dimension]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9C7A07-1559-04C0-33A4-FABADFCCEA7F}"/>
              </a:ext>
            </a:extLst>
          </p:cNvPr>
          <p:cNvSpPr/>
          <p:nvPr/>
        </p:nvSpPr>
        <p:spPr>
          <a:xfrm>
            <a:off x="5665157" y="5810836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B works in this dimension]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269D56-7138-A041-64B2-A4EC1AB04603}"/>
              </a:ext>
            </a:extLst>
          </p:cNvPr>
          <p:cNvSpPr/>
          <p:nvPr/>
        </p:nvSpPr>
        <p:spPr>
          <a:xfrm>
            <a:off x="8754036" y="2479729"/>
            <a:ext cx="2883228" cy="1356927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option C]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268D90-888C-3B92-7898-D09A56358262}"/>
              </a:ext>
            </a:extLst>
          </p:cNvPr>
          <p:cNvSpPr/>
          <p:nvPr/>
        </p:nvSpPr>
        <p:spPr>
          <a:xfrm>
            <a:off x="8754036" y="3925201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C works in this dimension]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F8871C-50E7-3A6B-A1BB-6407FB029D5F}"/>
              </a:ext>
            </a:extLst>
          </p:cNvPr>
          <p:cNvSpPr/>
          <p:nvPr/>
        </p:nvSpPr>
        <p:spPr>
          <a:xfrm>
            <a:off x="8754036" y="4553746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C works in this dimension]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9652F3-5CB8-E8D3-133F-6CAF52FA2F81}"/>
              </a:ext>
            </a:extLst>
          </p:cNvPr>
          <p:cNvSpPr/>
          <p:nvPr/>
        </p:nvSpPr>
        <p:spPr>
          <a:xfrm>
            <a:off x="8754036" y="5182291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C works in this dimension]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A8A55B-DBFD-0740-0475-15414957D674}"/>
              </a:ext>
            </a:extLst>
          </p:cNvPr>
          <p:cNvSpPr/>
          <p:nvPr/>
        </p:nvSpPr>
        <p:spPr>
          <a:xfrm>
            <a:off x="8754036" y="5810836"/>
            <a:ext cx="2883228" cy="540000"/>
          </a:xfrm>
          <a:prstGeom prst="rect">
            <a:avLst/>
          </a:prstGeom>
          <a:noFill/>
          <a:ln w="9525" cap="sq">
            <a:solidFill>
              <a:srgbClr val="000000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brief description of how option C works in this dimension]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0639CD5-3DD8-F561-CE93-EC4BD6FD75D7}"/>
              </a:ext>
            </a:extLst>
          </p:cNvPr>
          <p:cNvCxnSpPr>
            <a:cxnSpLocks/>
          </p:cNvCxnSpPr>
          <p:nvPr/>
        </p:nvCxnSpPr>
        <p:spPr>
          <a:xfrm>
            <a:off x="2576277" y="2370239"/>
            <a:ext cx="2883228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DCC3C5F-F334-6DFB-5199-14DF28F1A6C2}"/>
              </a:ext>
            </a:extLst>
          </p:cNvPr>
          <p:cNvCxnSpPr>
            <a:cxnSpLocks/>
          </p:cNvCxnSpPr>
          <p:nvPr/>
        </p:nvCxnSpPr>
        <p:spPr>
          <a:xfrm>
            <a:off x="5665157" y="2370239"/>
            <a:ext cx="2883228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8C45B68-4C4C-8AAB-C507-2E8810E03AFD}"/>
              </a:ext>
            </a:extLst>
          </p:cNvPr>
          <p:cNvCxnSpPr>
            <a:cxnSpLocks/>
          </p:cNvCxnSpPr>
          <p:nvPr/>
        </p:nvCxnSpPr>
        <p:spPr>
          <a:xfrm>
            <a:off x="8754036" y="2370239"/>
            <a:ext cx="2883228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F0FE396-1C8B-13DE-0E1C-DE6B855F9FBA}"/>
              </a:ext>
            </a:extLst>
          </p:cNvPr>
          <p:cNvSpPr txBox="1"/>
          <p:nvPr/>
        </p:nvSpPr>
        <p:spPr>
          <a:xfrm>
            <a:off x="2866424" y="1971024"/>
            <a:ext cx="2302933" cy="33443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[Insert option A]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AE3B39-59F6-4151-487F-A0C194965E39}"/>
              </a:ext>
            </a:extLst>
          </p:cNvPr>
          <p:cNvSpPr txBox="1"/>
          <p:nvPr/>
        </p:nvSpPr>
        <p:spPr>
          <a:xfrm>
            <a:off x="5955304" y="1971024"/>
            <a:ext cx="2302933" cy="33443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[Insert option B]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09BE54-5737-5719-093A-079F38627FB7}"/>
              </a:ext>
            </a:extLst>
          </p:cNvPr>
          <p:cNvSpPr txBox="1"/>
          <p:nvPr/>
        </p:nvSpPr>
        <p:spPr>
          <a:xfrm>
            <a:off x="9044184" y="1971024"/>
            <a:ext cx="2302933" cy="33443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[Insert option C]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055C282-13AB-4B1D-4A73-C68ABEC9407F}"/>
              </a:ext>
            </a:extLst>
          </p:cNvPr>
          <p:cNvSpPr/>
          <p:nvPr/>
        </p:nvSpPr>
        <p:spPr>
          <a:xfrm>
            <a:off x="3837890" y="1548074"/>
            <a:ext cx="360000" cy="36000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FF1DA1E-CB9E-713C-C9EB-B0CE92F23C3C}"/>
              </a:ext>
            </a:extLst>
          </p:cNvPr>
          <p:cNvSpPr/>
          <p:nvPr/>
        </p:nvSpPr>
        <p:spPr>
          <a:xfrm>
            <a:off x="6926770" y="1548074"/>
            <a:ext cx="360000" cy="36000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F17211C-47B1-5728-D5C0-4B860C7FA8F6}"/>
              </a:ext>
            </a:extLst>
          </p:cNvPr>
          <p:cNvSpPr/>
          <p:nvPr/>
        </p:nvSpPr>
        <p:spPr>
          <a:xfrm>
            <a:off x="10015650" y="1548074"/>
            <a:ext cx="360000" cy="36000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78612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30F3619-F8F0-A8F6-ABD7-E7BC929846D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7" imgW="351" imgH="360" progId="TCLayout.ActiveDocument.1">
                  <p:embed/>
                </p:oleObj>
              </mc:Choice>
              <mc:Fallback>
                <p:oleObj name="think-cell Slide" r:id="rId57" imgW="351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0F3619-F8F0-A8F6-ABD7-E7BC929846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67778DD-1856-A45E-5F72-F12827300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 dirty="0"/>
              <a:t>Based on this, we recommend moving forward with option [insert]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79DCF2-A5AD-E99F-B41C-01E3445948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B7605E-451C-5508-4C6F-A16927153720}"/>
              </a:ext>
            </a:extLst>
          </p:cNvPr>
          <p:cNvSpPr/>
          <p:nvPr/>
        </p:nvSpPr>
        <p:spPr>
          <a:xfrm>
            <a:off x="554736" y="3801148"/>
            <a:ext cx="1694330" cy="75259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dimension]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ED4A6D-42F2-BFA8-E9F9-2F9E14AD1C48}"/>
              </a:ext>
            </a:extLst>
          </p:cNvPr>
          <p:cNvSpPr/>
          <p:nvPr/>
        </p:nvSpPr>
        <p:spPr>
          <a:xfrm>
            <a:off x="554736" y="4632278"/>
            <a:ext cx="1694330" cy="75259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dimension]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2AF84E-1D6B-E0A9-5B8A-F73724F0624D}"/>
              </a:ext>
            </a:extLst>
          </p:cNvPr>
          <p:cNvSpPr/>
          <p:nvPr/>
        </p:nvSpPr>
        <p:spPr>
          <a:xfrm>
            <a:off x="554736" y="5463408"/>
            <a:ext cx="1694330" cy="75259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dimension]</a:t>
            </a:r>
          </a:p>
        </p:txBody>
      </p:sp>
      <p:sp>
        <p:nvSpPr>
          <p:cNvPr id="277" name="object 143">
            <a:extLst>
              <a:ext uri="{FF2B5EF4-FFF2-40B4-BE49-F238E27FC236}">
                <a16:creationId xmlns:a16="http://schemas.microsoft.com/office/drawing/2014/main" id="{564EFA35-9D2C-04C0-B063-72196BC1CB56}"/>
              </a:ext>
            </a:extLst>
          </p:cNvPr>
          <p:cNvSpPr/>
          <p:nvPr/>
        </p:nvSpPr>
        <p:spPr>
          <a:xfrm>
            <a:off x="10516447" y="1252151"/>
            <a:ext cx="569259" cy="67235"/>
          </a:xfrm>
          <a:custGeom>
            <a:avLst/>
            <a:gdLst/>
            <a:ahLst/>
            <a:cxnLst/>
            <a:rect l="l" t="t" r="r" b="b"/>
            <a:pathLst>
              <a:path w="645159" h="76200">
                <a:moveTo>
                  <a:pt x="76200" y="33527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5051"/>
                </a:lnTo>
                <a:lnTo>
                  <a:pt x="63246" y="33527"/>
                </a:lnTo>
                <a:lnTo>
                  <a:pt x="76200" y="33527"/>
                </a:lnTo>
                <a:close/>
              </a:path>
              <a:path w="645159" h="76200">
                <a:moveTo>
                  <a:pt x="585977" y="38100"/>
                </a:moveTo>
                <a:lnTo>
                  <a:pt x="584453" y="35051"/>
                </a:lnTo>
                <a:lnTo>
                  <a:pt x="580644" y="33527"/>
                </a:lnTo>
                <a:lnTo>
                  <a:pt x="63246" y="33527"/>
                </a:lnTo>
                <a:lnTo>
                  <a:pt x="60198" y="35051"/>
                </a:lnTo>
                <a:lnTo>
                  <a:pt x="58674" y="38100"/>
                </a:lnTo>
                <a:lnTo>
                  <a:pt x="60198" y="41909"/>
                </a:lnTo>
                <a:lnTo>
                  <a:pt x="63246" y="42672"/>
                </a:lnTo>
                <a:lnTo>
                  <a:pt x="580644" y="42672"/>
                </a:lnTo>
                <a:lnTo>
                  <a:pt x="584453" y="41909"/>
                </a:lnTo>
                <a:lnTo>
                  <a:pt x="585977" y="38100"/>
                </a:lnTo>
                <a:close/>
              </a:path>
              <a:path w="645159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60198" y="41909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  <a:path w="645159" h="76200">
                <a:moveTo>
                  <a:pt x="644651" y="38100"/>
                </a:moveTo>
                <a:lnTo>
                  <a:pt x="568451" y="0"/>
                </a:lnTo>
                <a:lnTo>
                  <a:pt x="568451" y="33527"/>
                </a:lnTo>
                <a:lnTo>
                  <a:pt x="580644" y="33527"/>
                </a:lnTo>
                <a:lnTo>
                  <a:pt x="584453" y="35051"/>
                </a:lnTo>
                <a:lnTo>
                  <a:pt x="585977" y="38100"/>
                </a:lnTo>
                <a:lnTo>
                  <a:pt x="585977" y="67437"/>
                </a:lnTo>
                <a:lnTo>
                  <a:pt x="644651" y="38100"/>
                </a:lnTo>
                <a:close/>
              </a:path>
              <a:path w="645159" h="76200">
                <a:moveTo>
                  <a:pt x="585977" y="67437"/>
                </a:moveTo>
                <a:lnTo>
                  <a:pt x="585977" y="38100"/>
                </a:lnTo>
                <a:lnTo>
                  <a:pt x="584453" y="41909"/>
                </a:lnTo>
                <a:lnTo>
                  <a:pt x="580644" y="42672"/>
                </a:lnTo>
                <a:lnTo>
                  <a:pt x="568451" y="42672"/>
                </a:lnTo>
                <a:lnTo>
                  <a:pt x="568451" y="76200"/>
                </a:lnTo>
                <a:lnTo>
                  <a:pt x="585977" y="6743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 sz="1588">
              <a:cs typeface="Arial" panose="020B0604020202020204" pitchFamily="34" charset="0"/>
            </a:endParaRPr>
          </a:p>
        </p:txBody>
      </p:sp>
      <p:sp>
        <p:nvSpPr>
          <p:cNvPr id="278" name="object 144">
            <a:extLst>
              <a:ext uri="{FF2B5EF4-FFF2-40B4-BE49-F238E27FC236}">
                <a16:creationId xmlns:a16="http://schemas.microsoft.com/office/drawing/2014/main" id="{25C5C1D9-4222-BEFB-F144-C0117FF5D1F3}"/>
              </a:ext>
            </a:extLst>
          </p:cNvPr>
          <p:cNvSpPr txBox="1"/>
          <p:nvPr/>
        </p:nvSpPr>
        <p:spPr>
          <a:xfrm>
            <a:off x="9918281" y="1213807"/>
            <a:ext cx="388952" cy="16520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00" spc="-9" dirty="0">
                <a:cs typeface="Arial" panose="020B0604020202020204" pitchFamily="34" charset="0"/>
              </a:rPr>
              <a:t>Worse</a:t>
            </a:r>
            <a:endParaRPr sz="1000" dirty="0">
              <a:cs typeface="Arial" panose="020B0604020202020204" pitchFamily="34" charset="0"/>
            </a:endParaRPr>
          </a:p>
        </p:txBody>
      </p:sp>
      <p:sp>
        <p:nvSpPr>
          <p:cNvPr id="279" name="object 145">
            <a:extLst>
              <a:ext uri="{FF2B5EF4-FFF2-40B4-BE49-F238E27FC236}">
                <a16:creationId xmlns:a16="http://schemas.microsoft.com/office/drawing/2014/main" id="{C9D386FD-A3B9-1EB2-BFEF-4CFD26271584}"/>
              </a:ext>
            </a:extLst>
          </p:cNvPr>
          <p:cNvSpPr txBox="1"/>
          <p:nvPr/>
        </p:nvSpPr>
        <p:spPr>
          <a:xfrm>
            <a:off x="11315146" y="1203218"/>
            <a:ext cx="360000" cy="16520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00" spc="-9" dirty="0">
                <a:cs typeface="Arial" panose="020B0604020202020204" pitchFamily="34" charset="0"/>
              </a:rPr>
              <a:t>Better</a:t>
            </a:r>
            <a:endParaRPr sz="1000" dirty="0"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04BDA4-9461-56C7-FC33-5360A1E2EF3A}"/>
              </a:ext>
            </a:extLst>
          </p:cNvPr>
          <p:cNvSpPr/>
          <p:nvPr/>
        </p:nvSpPr>
        <p:spPr>
          <a:xfrm>
            <a:off x="554736" y="2970018"/>
            <a:ext cx="1694330" cy="752593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relevant dimension e.g., cost]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90AA60-37FD-CD19-CF16-EAED9314A1B9}"/>
              </a:ext>
            </a:extLst>
          </p:cNvPr>
          <p:cNvSpPr/>
          <p:nvPr/>
        </p:nvSpPr>
        <p:spPr>
          <a:xfrm>
            <a:off x="4740335" y="2486846"/>
            <a:ext cx="1080000" cy="4046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Short-term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3377A1-E741-4D93-F2F3-C8DC2679E963}"/>
              </a:ext>
            </a:extLst>
          </p:cNvPr>
          <p:cNvCxnSpPr>
            <a:cxnSpLocks/>
          </p:cNvCxnSpPr>
          <p:nvPr/>
        </p:nvCxnSpPr>
        <p:spPr>
          <a:xfrm>
            <a:off x="4740335" y="2370239"/>
            <a:ext cx="2208081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BBA090-3A1C-AF5B-3D5D-69E8622B6A1D}"/>
              </a:ext>
            </a:extLst>
          </p:cNvPr>
          <p:cNvCxnSpPr>
            <a:cxnSpLocks/>
          </p:cNvCxnSpPr>
          <p:nvPr/>
        </p:nvCxnSpPr>
        <p:spPr>
          <a:xfrm>
            <a:off x="7090011" y="2370239"/>
            <a:ext cx="2208081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568DBB-355C-63A1-867E-692B91B35E9B}"/>
              </a:ext>
            </a:extLst>
          </p:cNvPr>
          <p:cNvCxnSpPr>
            <a:cxnSpLocks/>
          </p:cNvCxnSpPr>
          <p:nvPr/>
        </p:nvCxnSpPr>
        <p:spPr>
          <a:xfrm>
            <a:off x="9439684" y="2370239"/>
            <a:ext cx="2208081" cy="0"/>
          </a:xfrm>
          <a:prstGeom prst="line">
            <a:avLst/>
          </a:prstGeom>
          <a:ln w="1587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D2D9724-5EE1-23A3-8E89-6720EE95E023}"/>
              </a:ext>
            </a:extLst>
          </p:cNvPr>
          <p:cNvSpPr txBox="1"/>
          <p:nvPr/>
        </p:nvSpPr>
        <p:spPr>
          <a:xfrm>
            <a:off x="4740335" y="1971024"/>
            <a:ext cx="2208081" cy="33443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[Insert option A]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041C52-D0F2-6A38-1DC0-1BB3E483C90F}"/>
              </a:ext>
            </a:extLst>
          </p:cNvPr>
          <p:cNvSpPr txBox="1"/>
          <p:nvPr/>
        </p:nvSpPr>
        <p:spPr>
          <a:xfrm>
            <a:off x="7090010" y="1971024"/>
            <a:ext cx="2208081" cy="33443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[Insert option B]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567BCB-1F9C-F09A-4286-0FF7D590FF5E}"/>
              </a:ext>
            </a:extLst>
          </p:cNvPr>
          <p:cNvSpPr txBox="1"/>
          <p:nvPr/>
        </p:nvSpPr>
        <p:spPr>
          <a:xfrm>
            <a:off x="9439683" y="1971024"/>
            <a:ext cx="2208081" cy="33443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[Insert option C]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D9DFC22-E9A2-4C0D-C52D-D00FA299A4E4}"/>
              </a:ext>
            </a:extLst>
          </p:cNvPr>
          <p:cNvSpPr/>
          <p:nvPr/>
        </p:nvSpPr>
        <p:spPr>
          <a:xfrm>
            <a:off x="5664376" y="1548074"/>
            <a:ext cx="360000" cy="36000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C32055D-7121-DE42-2177-771202D53815}"/>
              </a:ext>
            </a:extLst>
          </p:cNvPr>
          <p:cNvSpPr/>
          <p:nvPr/>
        </p:nvSpPr>
        <p:spPr>
          <a:xfrm>
            <a:off x="8014050" y="1548074"/>
            <a:ext cx="360000" cy="36000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AD1FC6-68CA-44E6-9A82-B596064A25DA}"/>
              </a:ext>
            </a:extLst>
          </p:cNvPr>
          <p:cNvSpPr/>
          <p:nvPr/>
        </p:nvSpPr>
        <p:spPr>
          <a:xfrm>
            <a:off x="10363723" y="1548074"/>
            <a:ext cx="360000" cy="36000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E2FC0F-BDDE-0804-D640-9F87322856E4}"/>
              </a:ext>
            </a:extLst>
          </p:cNvPr>
          <p:cNvSpPr/>
          <p:nvPr/>
        </p:nvSpPr>
        <p:spPr>
          <a:xfrm>
            <a:off x="2390660" y="2486846"/>
            <a:ext cx="2208081" cy="4046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Current state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9A6084-AD01-90E2-7333-0D36E1BD2F78}"/>
              </a:ext>
            </a:extLst>
          </p:cNvPr>
          <p:cNvSpPr/>
          <p:nvPr/>
        </p:nvSpPr>
        <p:spPr>
          <a:xfrm>
            <a:off x="5868416" y="2486846"/>
            <a:ext cx="1080000" cy="4046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Long-term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0CE3F77-0B93-435D-BA82-F2715D125B80}"/>
              </a:ext>
            </a:extLst>
          </p:cNvPr>
          <p:cNvSpPr/>
          <p:nvPr/>
        </p:nvSpPr>
        <p:spPr>
          <a:xfrm>
            <a:off x="7090011" y="2486846"/>
            <a:ext cx="1080000" cy="4046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Short-term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FAD8B0-F8DF-D3E9-01F9-396AF25ED99B}"/>
              </a:ext>
            </a:extLst>
          </p:cNvPr>
          <p:cNvSpPr/>
          <p:nvPr/>
        </p:nvSpPr>
        <p:spPr>
          <a:xfrm>
            <a:off x="8218091" y="2486846"/>
            <a:ext cx="1080000" cy="4046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Long-term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279F05-9932-E179-55AA-11B2E2723C8A}"/>
              </a:ext>
            </a:extLst>
          </p:cNvPr>
          <p:cNvSpPr/>
          <p:nvPr/>
        </p:nvSpPr>
        <p:spPr>
          <a:xfrm>
            <a:off x="9439684" y="2486846"/>
            <a:ext cx="1080000" cy="4046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Short-term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71FA20-7394-2488-1B0C-1FB614C3D3EB}"/>
              </a:ext>
            </a:extLst>
          </p:cNvPr>
          <p:cNvSpPr/>
          <p:nvPr/>
        </p:nvSpPr>
        <p:spPr>
          <a:xfrm>
            <a:off x="10567763" y="2486846"/>
            <a:ext cx="1080000" cy="40463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sq">
            <a:noFill/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Long-term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6A0B7B-746F-275E-EBAC-E6F3EA656E9C}"/>
              </a:ext>
            </a:extLst>
          </p:cNvPr>
          <p:cNvCxnSpPr>
            <a:cxnSpLocks/>
          </p:cNvCxnSpPr>
          <p:nvPr/>
        </p:nvCxnSpPr>
        <p:spPr>
          <a:xfrm>
            <a:off x="7019213" y="2486846"/>
            <a:ext cx="1" cy="372915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D6C82AD-D315-5D5A-8772-6C0C4B47B35E}"/>
              </a:ext>
            </a:extLst>
          </p:cNvPr>
          <p:cNvCxnSpPr>
            <a:cxnSpLocks/>
          </p:cNvCxnSpPr>
          <p:nvPr/>
        </p:nvCxnSpPr>
        <p:spPr>
          <a:xfrm>
            <a:off x="4669537" y="2486846"/>
            <a:ext cx="1" cy="372915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D089FC-42A9-5535-7009-B0B8495E32C9}"/>
              </a:ext>
            </a:extLst>
          </p:cNvPr>
          <p:cNvCxnSpPr>
            <a:cxnSpLocks/>
          </p:cNvCxnSpPr>
          <p:nvPr/>
        </p:nvCxnSpPr>
        <p:spPr>
          <a:xfrm>
            <a:off x="9368887" y="2486846"/>
            <a:ext cx="1" cy="372915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ED560244-5D3A-73A7-1858-35BDA3958BC0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0942662" y="3181214"/>
            <a:ext cx="330200" cy="330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B42B58B-4DA2-6C6C-E4B7-FB0100BD4C4D}"/>
              </a:ext>
            </a:extLst>
          </p:cNvPr>
          <p:cNvGrpSpPr/>
          <p:nvPr/>
        </p:nvGrpSpPr>
        <p:grpSpPr>
          <a:xfrm>
            <a:off x="3329601" y="4012345"/>
            <a:ext cx="330200" cy="330200"/>
            <a:chOff x="2736828" y="4127287"/>
            <a:chExt cx="330200" cy="330200"/>
          </a:xfrm>
          <a:solidFill>
            <a:schemeClr val="accent1"/>
          </a:solidFill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D2F7598-477F-3CCB-C3C1-0C2BB669F5A0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auto">
            <a:xfrm>
              <a:off x="2736828" y="4127287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12119C8A-7413-84A2-1F0D-9C001FF72EBB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gray">
            <a:xfrm>
              <a:off x="2736828" y="4127287"/>
              <a:ext cx="330200" cy="330200"/>
            </a:xfrm>
            <a:prstGeom prst="arc">
              <a:avLst>
                <a:gd name="adj1" fmla="val 16200000"/>
                <a:gd name="adj2" fmla="val 108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8B24C2D-0501-DFE7-AF70-2A4B171BBB83}"/>
              </a:ext>
            </a:extLst>
          </p:cNvPr>
          <p:cNvGrpSpPr/>
          <p:nvPr/>
        </p:nvGrpSpPr>
        <p:grpSpPr>
          <a:xfrm>
            <a:off x="10942662" y="5674604"/>
            <a:ext cx="330200" cy="330200"/>
            <a:chOff x="2736828" y="5155774"/>
            <a:chExt cx="330200" cy="330200"/>
          </a:xfrm>
          <a:solidFill>
            <a:schemeClr val="accent1"/>
          </a:solidFill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A120390-DA67-A065-12E6-7331107D2254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auto">
            <a:xfrm>
              <a:off x="2736828" y="5155774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5706D0EC-9560-4DC2-F012-30DCE62808FC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2736828" y="5155774"/>
              <a:ext cx="330200" cy="330200"/>
            </a:xfrm>
            <a:prstGeom prst="arc">
              <a:avLst>
                <a:gd name="adj1" fmla="val 16200000"/>
                <a:gd name="adj2" fmla="val 54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D1CC5C4-F9F4-A8D5-D7A1-B04854C2337D}"/>
              </a:ext>
            </a:extLst>
          </p:cNvPr>
          <p:cNvGrpSpPr/>
          <p:nvPr/>
        </p:nvGrpSpPr>
        <p:grpSpPr>
          <a:xfrm>
            <a:off x="3329601" y="5674604"/>
            <a:ext cx="330200" cy="330200"/>
            <a:chOff x="2736828" y="6184260"/>
            <a:chExt cx="330200" cy="330200"/>
          </a:xfrm>
          <a:solidFill>
            <a:schemeClr val="accent1"/>
          </a:solidFill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46C1062-7A17-57FD-AFA5-9816549EBEB4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 bwMode="auto">
            <a:xfrm>
              <a:off x="2736828" y="6184260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D047CC55-3CCF-405B-611C-241ECFC9B753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2736828" y="6184260"/>
              <a:ext cx="330200" cy="330200"/>
            </a:xfrm>
            <a:prstGeom prst="arc">
              <a:avLst>
                <a:gd name="adj1" fmla="val 16200000"/>
                <a:gd name="adj2" fmla="val 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6D32BDC-ED1B-6A35-3703-D4524CDA9A4D}"/>
              </a:ext>
            </a:extLst>
          </p:cNvPr>
          <p:cNvGrpSpPr/>
          <p:nvPr/>
        </p:nvGrpSpPr>
        <p:grpSpPr>
          <a:xfrm>
            <a:off x="3329600" y="4843475"/>
            <a:ext cx="330200" cy="330200"/>
            <a:chOff x="2736828" y="6184260"/>
            <a:chExt cx="330200" cy="330200"/>
          </a:xfrm>
          <a:solidFill>
            <a:schemeClr val="accent1"/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9017F04-161A-0FC9-66ED-63E9F73852B7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 bwMode="auto">
            <a:xfrm>
              <a:off x="2736828" y="6184260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2BAA0FCA-B1BC-7E28-ED11-1F3409C1F970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 bwMode="gray">
            <a:xfrm>
              <a:off x="2736828" y="6184260"/>
              <a:ext cx="330200" cy="330200"/>
            </a:xfrm>
            <a:prstGeom prst="arc">
              <a:avLst>
                <a:gd name="adj1" fmla="val 16200000"/>
                <a:gd name="adj2" fmla="val 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128" name="Oval 127">
            <a:extLst>
              <a:ext uri="{FF2B5EF4-FFF2-40B4-BE49-F238E27FC236}">
                <a16:creationId xmlns:a16="http://schemas.microsoft.com/office/drawing/2014/main" id="{98F3D981-5ED8-60BA-B6CC-647D41028AE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329600" y="3181214"/>
            <a:ext cx="330200" cy="330200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27BB9B89-D567-809F-63A9-0B3953EB5D2A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0942662" y="4012344"/>
            <a:ext cx="330200" cy="330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60F0B68A-9CD5-40AD-4F72-DAB964DDD60D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942662" y="4843475"/>
            <a:ext cx="330200" cy="330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2418C92-1865-0BD5-8B8B-CF1D23422E7F}"/>
              </a:ext>
            </a:extLst>
          </p:cNvPr>
          <p:cNvGrpSpPr/>
          <p:nvPr/>
        </p:nvGrpSpPr>
        <p:grpSpPr>
          <a:xfrm>
            <a:off x="5115235" y="5674604"/>
            <a:ext cx="330200" cy="330200"/>
            <a:chOff x="2736828" y="6184260"/>
            <a:chExt cx="330200" cy="330200"/>
          </a:xfrm>
          <a:solidFill>
            <a:schemeClr val="accent1"/>
          </a:solidFill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2475ADE7-06E4-925E-2D9D-496489ACE763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 bwMode="auto">
            <a:xfrm>
              <a:off x="2736828" y="6184260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34" name="Arc 133">
              <a:extLst>
                <a:ext uri="{FF2B5EF4-FFF2-40B4-BE49-F238E27FC236}">
                  <a16:creationId xmlns:a16="http://schemas.microsoft.com/office/drawing/2014/main" id="{156A66A4-3545-B1AD-FCEA-9066A4371275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 bwMode="gray">
            <a:xfrm>
              <a:off x="2736828" y="6184260"/>
              <a:ext cx="330200" cy="330200"/>
            </a:xfrm>
            <a:prstGeom prst="arc">
              <a:avLst>
                <a:gd name="adj1" fmla="val 16200000"/>
                <a:gd name="adj2" fmla="val 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EDF95634-EC5B-A873-0E85-E9A06B7EAB13}"/>
              </a:ext>
            </a:extLst>
          </p:cNvPr>
          <p:cNvGrpSpPr/>
          <p:nvPr/>
        </p:nvGrpSpPr>
        <p:grpSpPr>
          <a:xfrm>
            <a:off x="5115235" y="4843475"/>
            <a:ext cx="330200" cy="330200"/>
            <a:chOff x="2736828" y="6184260"/>
            <a:chExt cx="330200" cy="330200"/>
          </a:xfrm>
          <a:solidFill>
            <a:schemeClr val="accent1"/>
          </a:solidFill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F37710F-AF5E-D51B-7F3C-F5A42374A50D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 bwMode="auto">
            <a:xfrm>
              <a:off x="2736828" y="6184260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37" name="Arc 136">
              <a:extLst>
                <a:ext uri="{FF2B5EF4-FFF2-40B4-BE49-F238E27FC236}">
                  <a16:creationId xmlns:a16="http://schemas.microsoft.com/office/drawing/2014/main" id="{A2B27098-5A4E-E373-978B-407D8865BD12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 bwMode="gray">
            <a:xfrm>
              <a:off x="2736828" y="6184260"/>
              <a:ext cx="330200" cy="330200"/>
            </a:xfrm>
            <a:prstGeom prst="arc">
              <a:avLst>
                <a:gd name="adj1" fmla="val 16200000"/>
                <a:gd name="adj2" fmla="val 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958265E-7233-62DB-D67E-D993DDC24EF6}"/>
              </a:ext>
            </a:extLst>
          </p:cNvPr>
          <p:cNvGrpSpPr/>
          <p:nvPr/>
        </p:nvGrpSpPr>
        <p:grpSpPr>
          <a:xfrm rot="10800000">
            <a:off x="5115235" y="4012345"/>
            <a:ext cx="330200" cy="330200"/>
            <a:chOff x="2736828" y="5155774"/>
            <a:chExt cx="330200" cy="330200"/>
          </a:xfrm>
          <a:solidFill>
            <a:schemeClr val="accent1"/>
          </a:solidFill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750E581-9E6B-8DF1-B597-FEC43B254953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auto">
            <a:xfrm>
              <a:off x="2736828" y="5155774"/>
              <a:ext cx="330200" cy="330200"/>
            </a:xfrm>
            <a:prstGeom prst="ellipse">
              <a:avLst/>
            </a:prstGeom>
            <a:grpFill/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40" name="Arc 139">
              <a:extLst>
                <a:ext uri="{FF2B5EF4-FFF2-40B4-BE49-F238E27FC236}">
                  <a16:creationId xmlns:a16="http://schemas.microsoft.com/office/drawing/2014/main" id="{00CCD696-6D59-A11A-BA52-6B2D6661A449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2736828" y="5155774"/>
              <a:ext cx="330200" cy="3302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39879C1-98A9-EA77-2C87-501B8A0C4686}"/>
              </a:ext>
            </a:extLst>
          </p:cNvPr>
          <p:cNvGrpSpPr/>
          <p:nvPr/>
        </p:nvGrpSpPr>
        <p:grpSpPr>
          <a:xfrm rot="10800000">
            <a:off x="5115235" y="3181214"/>
            <a:ext cx="330200" cy="330200"/>
            <a:chOff x="2736828" y="5155774"/>
            <a:chExt cx="330200" cy="330200"/>
          </a:xfrm>
          <a:solidFill>
            <a:schemeClr val="accent1"/>
          </a:solidFill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55F27D6F-B30B-E5D4-B50D-7257E55A38F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auto">
            <a:xfrm>
              <a:off x="2736828" y="5155774"/>
              <a:ext cx="330200" cy="330200"/>
            </a:xfrm>
            <a:prstGeom prst="ellipse">
              <a:avLst/>
            </a:prstGeom>
            <a:grpFill/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43" name="Arc 142">
              <a:extLst>
                <a:ext uri="{FF2B5EF4-FFF2-40B4-BE49-F238E27FC236}">
                  <a16:creationId xmlns:a16="http://schemas.microsoft.com/office/drawing/2014/main" id="{0774FD2A-785E-8D51-FD46-C49740B0FAEC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2736828" y="5155774"/>
              <a:ext cx="330200" cy="3302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16E51E7-1C9F-9575-5496-FD56C786F1C4}"/>
              </a:ext>
            </a:extLst>
          </p:cNvPr>
          <p:cNvGrpSpPr/>
          <p:nvPr/>
        </p:nvGrpSpPr>
        <p:grpSpPr>
          <a:xfrm>
            <a:off x="6243316" y="3181214"/>
            <a:ext cx="330200" cy="330200"/>
            <a:chOff x="2736828" y="6184260"/>
            <a:chExt cx="330200" cy="330200"/>
          </a:xfrm>
          <a:solidFill>
            <a:schemeClr val="accent1"/>
          </a:solidFill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E7D4657-3BA4-36DC-FFC4-941E62621DF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auto">
            <a:xfrm>
              <a:off x="2736828" y="6184260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46" name="Arc 145">
              <a:extLst>
                <a:ext uri="{FF2B5EF4-FFF2-40B4-BE49-F238E27FC236}">
                  <a16:creationId xmlns:a16="http://schemas.microsoft.com/office/drawing/2014/main" id="{C449ED64-7B8F-3982-73D1-913DBB500D46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2736828" y="6184260"/>
              <a:ext cx="330200" cy="330200"/>
            </a:xfrm>
            <a:prstGeom prst="arc">
              <a:avLst>
                <a:gd name="adj1" fmla="val 16200000"/>
                <a:gd name="adj2" fmla="val 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8E6CB47-CBD0-77CE-16D3-836EED6BB649}"/>
              </a:ext>
            </a:extLst>
          </p:cNvPr>
          <p:cNvGrpSpPr/>
          <p:nvPr/>
        </p:nvGrpSpPr>
        <p:grpSpPr>
          <a:xfrm>
            <a:off x="6243316" y="4012344"/>
            <a:ext cx="330200" cy="330200"/>
            <a:chOff x="2736828" y="4127287"/>
            <a:chExt cx="330200" cy="330200"/>
          </a:xfrm>
          <a:solidFill>
            <a:schemeClr val="accent1"/>
          </a:solidFill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E6613C74-FF26-50AE-6999-528AD72DBE4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auto">
            <a:xfrm>
              <a:off x="2736828" y="4127287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49" name="Arc 148">
              <a:extLst>
                <a:ext uri="{FF2B5EF4-FFF2-40B4-BE49-F238E27FC236}">
                  <a16:creationId xmlns:a16="http://schemas.microsoft.com/office/drawing/2014/main" id="{8AB4FF61-852F-51FB-2842-C8965F5E9FF1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2736828" y="4127287"/>
              <a:ext cx="330200" cy="3302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76E8BCD-646C-9140-AC41-2BD73BFDFCB6}"/>
              </a:ext>
            </a:extLst>
          </p:cNvPr>
          <p:cNvGrpSpPr/>
          <p:nvPr/>
        </p:nvGrpSpPr>
        <p:grpSpPr>
          <a:xfrm>
            <a:off x="6243316" y="4843475"/>
            <a:ext cx="330200" cy="330200"/>
            <a:chOff x="2736828" y="4127287"/>
            <a:chExt cx="330200" cy="330200"/>
          </a:xfrm>
          <a:solidFill>
            <a:schemeClr val="accent1"/>
          </a:solidFill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E32FC28-77A9-6ECB-F0E1-84D2EC132137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auto">
            <a:xfrm>
              <a:off x="2736828" y="4127287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52" name="Arc 151">
              <a:extLst>
                <a:ext uri="{FF2B5EF4-FFF2-40B4-BE49-F238E27FC236}">
                  <a16:creationId xmlns:a16="http://schemas.microsoft.com/office/drawing/2014/main" id="{530ABD3C-5CBF-DD6C-B038-DDA6FAAC630A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2736828" y="4127287"/>
              <a:ext cx="330200" cy="330200"/>
            </a:xfrm>
            <a:prstGeom prst="arc">
              <a:avLst>
                <a:gd name="adj1" fmla="val 16200000"/>
                <a:gd name="adj2" fmla="val 108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95D020D-4AB3-F842-357A-6292F0110497}"/>
              </a:ext>
            </a:extLst>
          </p:cNvPr>
          <p:cNvGrpSpPr/>
          <p:nvPr/>
        </p:nvGrpSpPr>
        <p:grpSpPr>
          <a:xfrm>
            <a:off x="6243316" y="5674604"/>
            <a:ext cx="330200" cy="330200"/>
            <a:chOff x="2736828" y="5155774"/>
            <a:chExt cx="330200" cy="330200"/>
          </a:xfrm>
          <a:solidFill>
            <a:schemeClr val="accent1"/>
          </a:solidFill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45FD39B-0648-3B12-D482-63CC6580BB28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>
              <a:off x="2736828" y="5155774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55" name="Arc 154">
              <a:extLst>
                <a:ext uri="{FF2B5EF4-FFF2-40B4-BE49-F238E27FC236}">
                  <a16:creationId xmlns:a16="http://schemas.microsoft.com/office/drawing/2014/main" id="{BC421A38-C294-4349-25F4-AF8F7F1DBE3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2736828" y="5155774"/>
              <a:ext cx="330200" cy="330200"/>
            </a:xfrm>
            <a:prstGeom prst="arc">
              <a:avLst>
                <a:gd name="adj1" fmla="val 16200000"/>
                <a:gd name="adj2" fmla="val 54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300B5E7-0670-D697-F337-2D05C9C5D9DE}"/>
              </a:ext>
            </a:extLst>
          </p:cNvPr>
          <p:cNvGrpSpPr/>
          <p:nvPr/>
        </p:nvGrpSpPr>
        <p:grpSpPr>
          <a:xfrm>
            <a:off x="7464909" y="5674605"/>
            <a:ext cx="330200" cy="330200"/>
            <a:chOff x="2736828" y="6184260"/>
            <a:chExt cx="330200" cy="330200"/>
          </a:xfrm>
          <a:solidFill>
            <a:schemeClr val="accent1"/>
          </a:solidFill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FFCA64C4-21B0-213C-DE22-70800D64D0FA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auto">
            <a:xfrm>
              <a:off x="2736828" y="6184260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58" name="Arc 157">
              <a:extLst>
                <a:ext uri="{FF2B5EF4-FFF2-40B4-BE49-F238E27FC236}">
                  <a16:creationId xmlns:a16="http://schemas.microsoft.com/office/drawing/2014/main" id="{3CC0EE21-234B-F379-96E5-865C608CC7E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2736828" y="6184260"/>
              <a:ext cx="330200" cy="330200"/>
            </a:xfrm>
            <a:prstGeom prst="arc">
              <a:avLst>
                <a:gd name="adj1" fmla="val 16200000"/>
                <a:gd name="adj2" fmla="val 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FCB3D68-07B9-4FD4-E2EB-F58663567B39}"/>
              </a:ext>
            </a:extLst>
          </p:cNvPr>
          <p:cNvGrpSpPr/>
          <p:nvPr/>
        </p:nvGrpSpPr>
        <p:grpSpPr>
          <a:xfrm>
            <a:off x="7464911" y="4843475"/>
            <a:ext cx="330200" cy="330200"/>
            <a:chOff x="2736828" y="5155774"/>
            <a:chExt cx="330200" cy="330200"/>
          </a:xfrm>
          <a:solidFill>
            <a:schemeClr val="accent1"/>
          </a:solidFill>
        </p:grpSpPr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2077D1A4-D875-463D-C7C3-0347B5F58BC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auto">
            <a:xfrm>
              <a:off x="2736828" y="5155774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61" name="Arc 160">
              <a:extLst>
                <a:ext uri="{FF2B5EF4-FFF2-40B4-BE49-F238E27FC236}">
                  <a16:creationId xmlns:a16="http://schemas.microsoft.com/office/drawing/2014/main" id="{E8FEC94E-46BF-99C5-5B27-18F5455D47B0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2736828" y="5155774"/>
              <a:ext cx="330200" cy="330200"/>
            </a:xfrm>
            <a:prstGeom prst="arc">
              <a:avLst>
                <a:gd name="adj1" fmla="val 16200000"/>
                <a:gd name="adj2" fmla="val 54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4C2914E-A120-7ADC-B3A1-B46EC5FF76A9}"/>
              </a:ext>
            </a:extLst>
          </p:cNvPr>
          <p:cNvGrpSpPr/>
          <p:nvPr/>
        </p:nvGrpSpPr>
        <p:grpSpPr>
          <a:xfrm>
            <a:off x="7464910" y="4012344"/>
            <a:ext cx="330200" cy="330200"/>
            <a:chOff x="2736828" y="4127287"/>
            <a:chExt cx="330200" cy="330200"/>
          </a:xfrm>
          <a:solidFill>
            <a:schemeClr val="accent1"/>
          </a:solidFill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8529E2A-48DA-5334-2042-1D18B019ECC1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auto">
            <a:xfrm>
              <a:off x="2736828" y="4127287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FAFAFD9B-74DB-673E-C339-E69AB82D89EA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2736828" y="4127287"/>
              <a:ext cx="330200" cy="330200"/>
            </a:xfrm>
            <a:prstGeom prst="arc">
              <a:avLst>
                <a:gd name="adj1" fmla="val 16200000"/>
                <a:gd name="adj2" fmla="val 108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7C5544D-4470-0613-A79E-6766EF7A0F1D}"/>
              </a:ext>
            </a:extLst>
          </p:cNvPr>
          <p:cNvGrpSpPr/>
          <p:nvPr/>
        </p:nvGrpSpPr>
        <p:grpSpPr>
          <a:xfrm>
            <a:off x="7464909" y="3181214"/>
            <a:ext cx="330200" cy="330200"/>
            <a:chOff x="2736828" y="4127287"/>
            <a:chExt cx="330200" cy="330200"/>
          </a:xfrm>
          <a:solidFill>
            <a:schemeClr val="accent1"/>
          </a:solidFill>
        </p:grpSpPr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C84A45C4-5E9B-75AC-5D8D-D3299C007A3F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auto">
            <a:xfrm>
              <a:off x="2736828" y="4127287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254" name="Arc 253">
              <a:extLst>
                <a:ext uri="{FF2B5EF4-FFF2-40B4-BE49-F238E27FC236}">
                  <a16:creationId xmlns:a16="http://schemas.microsoft.com/office/drawing/2014/main" id="{E2563B45-134E-4244-6BF8-3AB4AD87A964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2736828" y="4127287"/>
              <a:ext cx="330200" cy="330200"/>
            </a:xfrm>
            <a:prstGeom prst="arc">
              <a:avLst>
                <a:gd name="adj1" fmla="val 16200000"/>
                <a:gd name="adj2" fmla="val 108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2B4F68C-ECAA-F2E5-F03B-CA8D62A3E023}"/>
              </a:ext>
            </a:extLst>
          </p:cNvPr>
          <p:cNvGrpSpPr/>
          <p:nvPr/>
        </p:nvGrpSpPr>
        <p:grpSpPr>
          <a:xfrm>
            <a:off x="8592989" y="3181214"/>
            <a:ext cx="330200" cy="330200"/>
            <a:chOff x="2736828" y="4127287"/>
            <a:chExt cx="330200" cy="330200"/>
          </a:xfrm>
          <a:solidFill>
            <a:schemeClr val="accent1"/>
          </a:solidFill>
        </p:grpSpPr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F53DD62A-11F9-180D-A350-F8664B8BAF18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auto">
            <a:xfrm>
              <a:off x="2736828" y="4127287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285" name="Arc 284">
              <a:extLst>
                <a:ext uri="{FF2B5EF4-FFF2-40B4-BE49-F238E27FC236}">
                  <a16:creationId xmlns:a16="http://schemas.microsoft.com/office/drawing/2014/main" id="{B9F1C151-98C5-476A-168A-4E83FDB5FD5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2736828" y="4127287"/>
              <a:ext cx="330200" cy="330200"/>
            </a:xfrm>
            <a:prstGeom prst="arc">
              <a:avLst>
                <a:gd name="adj1" fmla="val 16200000"/>
                <a:gd name="adj2" fmla="val 108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286" name="Oval 285">
            <a:extLst>
              <a:ext uri="{FF2B5EF4-FFF2-40B4-BE49-F238E27FC236}">
                <a16:creationId xmlns:a16="http://schemas.microsoft.com/office/drawing/2014/main" id="{D6E2C104-0A01-F0FE-BC8C-A5077AD16C41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92991" y="4012344"/>
            <a:ext cx="330200" cy="3302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2BA7594E-EB4F-496E-8DF7-59CEDF69347E}"/>
              </a:ext>
            </a:extLst>
          </p:cNvPr>
          <p:cNvGrpSpPr/>
          <p:nvPr/>
        </p:nvGrpSpPr>
        <p:grpSpPr>
          <a:xfrm>
            <a:off x="9814584" y="4012344"/>
            <a:ext cx="330200" cy="330200"/>
            <a:chOff x="2736828" y="5155774"/>
            <a:chExt cx="330200" cy="330200"/>
          </a:xfrm>
          <a:solidFill>
            <a:schemeClr val="accent1"/>
          </a:solidFill>
        </p:grpSpPr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F5AD6DDD-B06F-F177-245E-3BE322021C1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2736828" y="5155774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289" name="Arc 288">
              <a:extLst>
                <a:ext uri="{FF2B5EF4-FFF2-40B4-BE49-F238E27FC236}">
                  <a16:creationId xmlns:a16="http://schemas.microsoft.com/office/drawing/2014/main" id="{E382F24F-F2B3-ED66-3DAA-0699D2285188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2736828" y="5155774"/>
              <a:ext cx="330200" cy="330200"/>
            </a:xfrm>
            <a:prstGeom prst="arc">
              <a:avLst>
                <a:gd name="adj1" fmla="val 16200000"/>
                <a:gd name="adj2" fmla="val 54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8777610-717D-1E46-F8FF-5F433D1C06E5}"/>
              </a:ext>
            </a:extLst>
          </p:cNvPr>
          <p:cNvGrpSpPr/>
          <p:nvPr/>
        </p:nvGrpSpPr>
        <p:grpSpPr>
          <a:xfrm>
            <a:off x="9814584" y="4843475"/>
            <a:ext cx="330200" cy="330200"/>
            <a:chOff x="2736828" y="4127287"/>
            <a:chExt cx="330200" cy="330200"/>
          </a:xfrm>
          <a:solidFill>
            <a:schemeClr val="accent1"/>
          </a:solidFill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3CB13C79-F10A-9C0D-7456-24654601098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2736828" y="4127287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292" name="Arc 291">
              <a:extLst>
                <a:ext uri="{FF2B5EF4-FFF2-40B4-BE49-F238E27FC236}">
                  <a16:creationId xmlns:a16="http://schemas.microsoft.com/office/drawing/2014/main" id="{A483B206-7894-9C22-5A88-33408943CC1D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gray">
            <a:xfrm>
              <a:off x="2736828" y="4127287"/>
              <a:ext cx="330200" cy="330200"/>
            </a:xfrm>
            <a:prstGeom prst="arc">
              <a:avLst>
                <a:gd name="adj1" fmla="val 16200000"/>
                <a:gd name="adj2" fmla="val 108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05E5EB05-25ED-8E70-1AF1-3FF8B6B81B59}"/>
              </a:ext>
            </a:extLst>
          </p:cNvPr>
          <p:cNvGrpSpPr/>
          <p:nvPr/>
        </p:nvGrpSpPr>
        <p:grpSpPr>
          <a:xfrm>
            <a:off x="9814583" y="5674604"/>
            <a:ext cx="330200" cy="330200"/>
            <a:chOff x="2736828" y="6184260"/>
            <a:chExt cx="330200" cy="330200"/>
          </a:xfrm>
          <a:solidFill>
            <a:schemeClr val="accent1"/>
          </a:solidFill>
        </p:grpSpPr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9E95D88D-9CD2-EBE9-EAF7-43CF1719448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2736828" y="6184260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295" name="Arc 294">
              <a:extLst>
                <a:ext uri="{FF2B5EF4-FFF2-40B4-BE49-F238E27FC236}">
                  <a16:creationId xmlns:a16="http://schemas.microsoft.com/office/drawing/2014/main" id="{335A02E6-03FC-3943-6771-8B9E4FC4BE2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gray">
            <a:xfrm>
              <a:off x="2736828" y="6184260"/>
              <a:ext cx="330200" cy="330200"/>
            </a:xfrm>
            <a:prstGeom prst="arc">
              <a:avLst>
                <a:gd name="adj1" fmla="val 16200000"/>
                <a:gd name="adj2" fmla="val 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7239FE87-14CD-CE87-14E1-BBA6B8462D97}"/>
              </a:ext>
            </a:extLst>
          </p:cNvPr>
          <p:cNvGrpSpPr/>
          <p:nvPr/>
        </p:nvGrpSpPr>
        <p:grpSpPr>
          <a:xfrm>
            <a:off x="8592989" y="4843475"/>
            <a:ext cx="330200" cy="330200"/>
            <a:chOff x="2736828" y="5155774"/>
            <a:chExt cx="330200" cy="330200"/>
          </a:xfrm>
          <a:solidFill>
            <a:schemeClr val="accent1"/>
          </a:solidFill>
        </p:grpSpPr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6B309B7C-8CF3-BBF1-8412-7AC80DE4F05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2736828" y="5155774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298" name="Arc 297">
              <a:extLst>
                <a:ext uri="{FF2B5EF4-FFF2-40B4-BE49-F238E27FC236}">
                  <a16:creationId xmlns:a16="http://schemas.microsoft.com/office/drawing/2014/main" id="{6372031C-421C-18E7-BA69-31CCE74AB2F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gray">
            <a:xfrm>
              <a:off x="2736828" y="5155774"/>
              <a:ext cx="330200" cy="330200"/>
            </a:xfrm>
            <a:prstGeom prst="arc">
              <a:avLst>
                <a:gd name="adj1" fmla="val 16200000"/>
                <a:gd name="adj2" fmla="val 54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C7EF1A6F-6783-D242-FE08-E17DF259D9F3}"/>
              </a:ext>
            </a:extLst>
          </p:cNvPr>
          <p:cNvGrpSpPr/>
          <p:nvPr/>
        </p:nvGrpSpPr>
        <p:grpSpPr>
          <a:xfrm>
            <a:off x="8592990" y="5674604"/>
            <a:ext cx="330200" cy="330200"/>
            <a:chOff x="2736828" y="5155774"/>
            <a:chExt cx="330200" cy="330200"/>
          </a:xfrm>
          <a:solidFill>
            <a:schemeClr val="accent1"/>
          </a:solidFill>
        </p:grpSpPr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6DC6126F-1350-8CEB-083A-E6799855ED7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2736828" y="5155774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301" name="Arc 300">
              <a:extLst>
                <a:ext uri="{FF2B5EF4-FFF2-40B4-BE49-F238E27FC236}">
                  <a16:creationId xmlns:a16="http://schemas.microsoft.com/office/drawing/2014/main" id="{C32F297A-AD13-9125-034A-876066F0F29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2736828" y="5155774"/>
              <a:ext cx="330200" cy="330200"/>
            </a:xfrm>
            <a:prstGeom prst="arc">
              <a:avLst>
                <a:gd name="adj1" fmla="val 16200000"/>
                <a:gd name="adj2" fmla="val 540000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22A6CA55-C7A7-77BE-6EF4-560D85E728BF}"/>
              </a:ext>
            </a:extLst>
          </p:cNvPr>
          <p:cNvGrpSpPr/>
          <p:nvPr/>
        </p:nvGrpSpPr>
        <p:grpSpPr>
          <a:xfrm>
            <a:off x="9814584" y="3181215"/>
            <a:ext cx="330200" cy="330200"/>
            <a:chOff x="2736828" y="6184260"/>
            <a:chExt cx="330200" cy="330200"/>
          </a:xfrm>
          <a:solidFill>
            <a:schemeClr val="accent1"/>
          </a:solidFill>
        </p:grpSpPr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D26CB495-2D40-969D-4AE2-340C998D92EA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2736828" y="6184260"/>
              <a:ext cx="330200" cy="330200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  <p:sp>
          <p:nvSpPr>
            <p:cNvPr id="304" name="Arc 303">
              <a:extLst>
                <a:ext uri="{FF2B5EF4-FFF2-40B4-BE49-F238E27FC236}">
                  <a16:creationId xmlns:a16="http://schemas.microsoft.com/office/drawing/2014/main" id="{F4A19E40-E7A0-6912-180A-EA875B4245A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gray">
            <a:xfrm>
              <a:off x="2736828" y="6184260"/>
              <a:ext cx="330200" cy="330200"/>
            </a:xfrm>
            <a:prstGeom prst="arc">
              <a:avLst>
                <a:gd name="adj1" fmla="val 16200000"/>
                <a:gd name="adj2" fmla="val 0"/>
              </a:avLst>
            </a:prstGeom>
            <a:grp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10" name="Oval 309">
            <a:extLst>
              <a:ext uri="{FF2B5EF4-FFF2-40B4-BE49-F238E27FC236}">
                <a16:creationId xmlns:a16="http://schemas.microsoft.com/office/drawing/2014/main" id="{E1CC628E-9210-6B6E-239F-362EB82FDE90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107762" y="1203218"/>
            <a:ext cx="165100" cy="165100"/>
          </a:xfrm>
          <a:prstGeom prst="ellipse">
            <a:avLst/>
          </a:prstGeom>
          <a:solidFill>
            <a:schemeClr val="accent1"/>
          </a:solidFill>
          <a:ln w="9525" algn="ctr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9F09EAE8-194C-12E3-4C43-A5D8C9506D19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0329290" y="1203218"/>
            <a:ext cx="165100" cy="165100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C11C103D-471F-FE11-4E78-E0DB55083DF8}"/>
              </a:ext>
            </a:extLst>
          </p:cNvPr>
          <p:cNvCxnSpPr>
            <a:cxnSpLocks/>
          </p:cNvCxnSpPr>
          <p:nvPr/>
        </p:nvCxnSpPr>
        <p:spPr>
          <a:xfrm rot="16200000">
            <a:off x="6101250" y="-1784633"/>
            <a:ext cx="1" cy="110930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8A729A11-18E1-7451-20B3-C153262563D0}"/>
              </a:ext>
            </a:extLst>
          </p:cNvPr>
          <p:cNvCxnSpPr>
            <a:cxnSpLocks/>
          </p:cNvCxnSpPr>
          <p:nvPr/>
        </p:nvCxnSpPr>
        <p:spPr>
          <a:xfrm rot="16200000">
            <a:off x="6101250" y="-953503"/>
            <a:ext cx="1" cy="110930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720E6873-A5F0-F556-757D-C6AF72F79664}"/>
              </a:ext>
            </a:extLst>
          </p:cNvPr>
          <p:cNvCxnSpPr>
            <a:cxnSpLocks/>
          </p:cNvCxnSpPr>
          <p:nvPr/>
        </p:nvCxnSpPr>
        <p:spPr>
          <a:xfrm rot="16200000">
            <a:off x="6101250" y="-122373"/>
            <a:ext cx="1" cy="110930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AB9D98C-EABB-EC01-50EA-1C6C150A1C50}"/>
              </a:ext>
            </a:extLst>
          </p:cNvPr>
          <p:cNvSpPr/>
          <p:nvPr/>
        </p:nvSpPr>
        <p:spPr>
          <a:xfrm>
            <a:off x="6983814" y="1381004"/>
            <a:ext cx="2420471" cy="4903727"/>
          </a:xfrm>
          <a:prstGeom prst="rect">
            <a:avLst/>
          </a:prstGeom>
          <a:noFill/>
          <a:ln w="38100" cap="sq">
            <a:solidFill>
              <a:schemeClr val="accent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2426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4q95sbBXElu9WKy6X.BjA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4q95sbBXElu9WKy6X.BjA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4q95sbBXElu9WKy6X.BjA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4q95sbBXElu9WKy6X.Bj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4q95sbBXElu9WKy6X.BjA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tMeg6bHEy64vOSlVf6UQ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5wpVwmAJd1NtFzM6JQeg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Eh_K_rDgym7KdPWTFZSQ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5wpVwmAJd1NtFzM6JQeg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Eh_K_rDgym7KdPWTFZSQ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tMeg6bHEy64vOSlVf6UQ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XitrkJe3.ZwwOessjT9A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1Bp_7kGOFQARAYGGPorA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5wpVwmAJd1NtFzM6JQeg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Eh_K_rDgym7KdPWTFZSQ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XitrkJe3.ZwwOessjT9A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1Bp_7kGOFQARAYGGPorA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XitrkJe3.ZwwOessjT9A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1Bp_7kGOFQARAYGGPorA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XitrkJe3.ZwwOessjT9A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1Bp_7kGOFQARAYGGPorA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5wpVwmAJd1NtFzM6JQeg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Eh_K_rDgym7KdPWTFZSQ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tMeg6bHEy64vOSlVf6U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5wpVwmAJd1NtFzM6JQeg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Eh_K_rDgym7KdPWTFZSQ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XitrkJe3.ZwwOessjT9A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1Bp_7kGOFQARAYGGPorA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XitrkJe3.ZwwOessjT9A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1Bp_7kGOFQARAYGGPorA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tMeg6bHEy64vOSlVf6UQ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5wpVwmAJd1NtFzM6JQeg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Eh_K_rDgym7KdPWTFZSQ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5wpVwmAJd1NtFzM6JQeg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Eh_K_rDgym7KdPWTFZSQ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tMeg6bHEy64vOSlVf6UQ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tMeg6bHEy64vOSlVf6UQ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tMeg6bHEy64vOSlVf6UQ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irxA4yr0r7azkpxXCimQ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tMeg6bHEy64vOSlVf6UQ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5wpVwmAJd1NtFzM6JQeg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8Eh_K_rDgym7KdPWTFZSQ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XitrkJe3.ZwwOessjT9A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1Bp_7kGOFQARAYGGPorA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2812</TotalTime>
  <Words>1324</Words>
  <Application>Microsoft Office PowerPoint</Application>
  <PresentationFormat>Widescreen</PresentationFormat>
  <Paragraphs>195</Paragraphs>
  <Slides>10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Segoe UI</vt:lpstr>
      <vt:lpstr>Wingdings</vt:lpstr>
      <vt:lpstr>Slideworks</vt:lpstr>
      <vt:lpstr>think-cell Slide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</dc:description>
  <cp:lastModifiedBy>Peralta, Mario</cp:lastModifiedBy>
  <cp:revision>354</cp:revision>
  <dcterms:created xsi:type="dcterms:W3CDTF">2025-08-18T13:32:02Z</dcterms:created>
  <dcterms:modified xsi:type="dcterms:W3CDTF">2026-04-20T21:40:48Z</dcterms:modified>
  <cp:category>Management consulting, presentation design, business</cp:category>
</cp:coreProperties>
</file>