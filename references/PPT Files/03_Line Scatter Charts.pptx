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32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tags/tag352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9"/>
  </p:notesMasterIdLst>
  <p:handoutMasterIdLst>
    <p:handoutMasterId r:id="rId10"/>
  </p:handoutMasterIdLst>
  <p:sldIdLst>
    <p:sldId id="2147471492" r:id="rId2"/>
    <p:sldId id="2147472025" r:id="rId3"/>
    <p:sldId id="2147471302" r:id="rId4"/>
    <p:sldId id="2147471259" r:id="rId5"/>
    <p:sldId id="2147471781" r:id="rId6"/>
    <p:sldId id="2147470514" r:id="rId7"/>
    <p:sldId id="2147472033" r:id="rId8"/>
  </p:sldIdLst>
  <p:sldSz cx="12192000" cy="6858000"/>
  <p:notesSz cx="6858000" cy="9144000"/>
  <p:custDataLst>
    <p:tags r:id="rId11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3574"/>
  </p:normalViewPr>
  <p:slideViewPr>
    <p:cSldViewPr snapToGrid="0" showGuides="1">
      <p:cViewPr varScale="1">
        <p:scale>
          <a:sx n="92" d="100"/>
          <a:sy n="92" d="100"/>
        </p:scale>
        <p:origin x="618" y="30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93719706283104"/>
          <c:y val="4.2260633388089365E-2"/>
          <c:w val="0.84142527906578868"/>
          <c:h val="0.8026201868141129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Dimension 2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Pt>
            <c:idx val="7"/>
            <c:marker>
              <c:symbol val="circle"/>
              <c:size val="7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DB28-4BD4-8E25-8800CA9B6C3E}"/>
              </c:ext>
            </c:extLst>
          </c:dPt>
          <c:dLbls>
            <c:dLbl>
              <c:idx val="0"/>
              <c:layout>
                <c:manualLayout>
                  <c:x val="-0.12262552087720074"/>
                  <c:y val="-5.243385113886373E-2"/>
                </c:manualLayout>
              </c:layout>
              <c:tx>
                <c:rich>
                  <a:bodyPr/>
                  <a:lstStyle/>
                  <a:p>
                    <a:fld id="{D7BFF420-2D8B-4052-88DE-D55D99F76689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DB28-4BD4-8E25-8800CA9B6C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E01982D-EB54-42C6-8EBB-6793C7C6E16E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DB28-4BD4-8E25-8800CA9B6C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26671B7-93EA-4D07-B3DC-AA21273B6A82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DB28-4BD4-8E25-8800CA9B6C3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9632146-C90A-4903-9C63-E7C27599CEF8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DB28-4BD4-8E25-8800CA9B6C3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1385349-5455-4EAB-B3CE-7CB656809C9B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DB28-4BD4-8E25-8800CA9B6C3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DE56417-061B-443B-A988-5C299552BAAD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DB28-4BD4-8E25-8800CA9B6C3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FD7E1587-7ABE-4C97-88B2-C83AFAB4E841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DB28-4BD4-8E25-8800CA9B6C3E}"/>
                </c:ext>
              </c:extLst>
            </c:dLbl>
            <c:dLbl>
              <c:idx val="7"/>
              <c:tx>
                <c:rich>
                  <a:bodyPr rot="0" spcFirstLastPara="1" vertOverflow="clip" horzOverflow="clip" vert="horz" wrap="square" lIns="36576" tIns="18288" rIns="36576" bIns="18288" anchor="ctr" anchorCtr="1">
                    <a:sp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594ECCA-CDC3-4AAA-9C2E-269F15E1CDF7}" type="CELLRANGE">
                      <a:rPr lang="en-GB"/>
                      <a:pPr>
                        <a:defRPr/>
                      </a:pPr>
                      <a:t>[CELLRANGE]</a:t>
                    </a:fld>
                    <a:endParaRPr lang="en-GB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DB28-4BD4-8E25-8800CA9B6C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Sheet1!$A$2:$A$9</c:f>
              <c:numCache>
                <c:formatCode>General</c:formatCode>
                <c:ptCount val="8"/>
                <c:pt idx="0">
                  <c:v>10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9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8</c:v>
                </c:pt>
                <c:pt idx="2">
                  <c:v>10</c:v>
                </c:pt>
                <c:pt idx="3">
                  <c:v>6</c:v>
                </c:pt>
                <c:pt idx="4">
                  <c:v>3</c:v>
                </c:pt>
                <c:pt idx="5">
                  <c:v>5</c:v>
                </c:pt>
                <c:pt idx="6">
                  <c:v>7</c:v>
                </c:pt>
                <c:pt idx="7">
                  <c:v>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Sheet1!$C$2:$C$9</c15:f>
                <c15:dlblRangeCache>
                  <c:ptCount val="8"/>
                  <c:pt idx="0">
                    <c:v>Competitor 1</c:v>
                  </c:pt>
                  <c:pt idx="1">
                    <c:v>Competitor 2</c:v>
                  </c:pt>
                  <c:pt idx="2">
                    <c:v>Competitor 3</c:v>
                  </c:pt>
                  <c:pt idx="3">
                    <c:v>Competitor 4</c:v>
                  </c:pt>
                  <c:pt idx="4">
                    <c:v>Competitor 5</c:v>
                  </c:pt>
                  <c:pt idx="5">
                    <c:v>Competitor 6</c:v>
                  </c:pt>
                  <c:pt idx="6">
                    <c:v>Competitor 7</c:v>
                  </c:pt>
                  <c:pt idx="7">
                    <c:v>Company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DB28-4BD4-8E25-8800CA9B6C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0173744"/>
        <c:axId val="1640178320"/>
      </c:scatterChart>
      <c:valAx>
        <c:axId val="1640173744"/>
        <c:scaling>
          <c:orientation val="minMax"/>
          <c:max val="1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[Dimension 1]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178320"/>
        <c:crosses val="autoZero"/>
        <c:crossBetween val="midCat"/>
      </c:valAx>
      <c:valAx>
        <c:axId val="1640178320"/>
        <c:scaling>
          <c:orientation val="minMax"/>
          <c:max val="1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[Dimension 2]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173744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7146881030115137E-2"/>
          <c:y val="3.9206779930002919E-2"/>
          <c:w val="0.87105332508120525"/>
          <c:h val="0.7951261888615717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Pt>
            <c:idx val="7"/>
            <c:marker>
              <c:symbol val="circle"/>
              <c:size val="7"/>
              <c:spPr>
                <a:solidFill>
                  <a:schemeClr val="accent2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1C96-42FB-8C41-D092B22019AC}"/>
              </c:ext>
            </c:extLst>
          </c:dPt>
          <c:dLbls>
            <c:dLbl>
              <c:idx val="0"/>
              <c:layout>
                <c:manualLayout>
                  <c:x val="-7.0813672902882957E-2"/>
                  <c:y val="3.0639461206589683E-2"/>
                </c:manualLayout>
              </c:layout>
              <c:tx>
                <c:rich>
                  <a:bodyPr/>
                  <a:lstStyle/>
                  <a:p>
                    <a:fld id="{0AA272C1-D0CC-4C43-BFD4-492EFFEBD7E3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1C96-42FB-8C41-D092B22019AC}"/>
                </c:ext>
              </c:extLst>
            </c:dLbl>
            <c:dLbl>
              <c:idx val="1"/>
              <c:layout>
                <c:manualLayout>
                  <c:x val="-6.3567747326713445E-3"/>
                  <c:y val="-3.0677195489828158E-3"/>
                </c:manualLayout>
              </c:layout>
              <c:tx>
                <c:rich>
                  <a:bodyPr/>
                  <a:lstStyle/>
                  <a:p>
                    <a:fld id="{2F049800-59CF-4B6A-8171-C93EB6F7B9FA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C96-42FB-8C41-D092B22019A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7C7169E-0DB3-4277-A8C8-532A01FADB33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1C96-42FB-8C41-D092B22019A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BFD1EDD-A3F5-4E2B-A5FE-1287EEB639CB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1C96-42FB-8C41-D092B22019A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889A954-92C8-4EC9-BE6C-B5F26BBE82B8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1C96-42FB-8C41-D092B22019A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BA294C8-B40D-4159-A8DC-FFE4DCF6C947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1C96-42FB-8C41-D092B22019A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E462C9B-DDDA-44A3-8D1D-9C20AAACBAF0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C96-42FB-8C41-D092B22019AC}"/>
                </c:ext>
              </c:extLst>
            </c:dLbl>
            <c:dLbl>
              <c:idx val="7"/>
              <c:tx>
                <c:rich>
                  <a:bodyPr rot="0" spcFirstLastPara="1" vertOverflow="clip" horzOverflow="clip" vert="horz" wrap="square" lIns="36576" tIns="18288" rIns="36576" bIns="18288" anchor="ctr" anchorCtr="1">
                    <a:spAutoFit/>
                  </a:bodyPr>
                  <a:lstStyle/>
                  <a:p>
                    <a:pPr>
                      <a:defRPr sz="12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574F895-75C2-40C5-BE8A-641C5329DBC2}" type="CELLRANGE">
                      <a:rPr lang="en-GB"/>
                      <a:pPr>
                        <a:defRPr/>
                      </a:pPr>
                      <a:t>[CELLRANGE]</a:t>
                    </a:fld>
                    <a:endParaRPr lang="en-GB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12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1C96-42FB-8C41-D092B22019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Sheet1!$A$2:$A$9</c:f>
              <c:numCache>
                <c:formatCode>General</c:formatCode>
                <c:ptCount val="8"/>
                <c:pt idx="0">
                  <c:v>24</c:v>
                </c:pt>
                <c:pt idx="1">
                  <c:v>25</c:v>
                </c:pt>
                <c:pt idx="2">
                  <c:v>5</c:v>
                </c:pt>
                <c:pt idx="3">
                  <c:v>18</c:v>
                </c:pt>
                <c:pt idx="4">
                  <c:v>12</c:v>
                </c:pt>
                <c:pt idx="5">
                  <c:v>23</c:v>
                </c:pt>
                <c:pt idx="6">
                  <c:v>20</c:v>
                </c:pt>
                <c:pt idx="7">
                  <c:v>7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8</c:v>
                </c:pt>
                <c:pt idx="2">
                  <c:v>7</c:v>
                </c:pt>
                <c:pt idx="3">
                  <c:v>4</c:v>
                </c:pt>
                <c:pt idx="4">
                  <c:v>11</c:v>
                </c:pt>
                <c:pt idx="5">
                  <c:v>10</c:v>
                </c:pt>
                <c:pt idx="6">
                  <c:v>9</c:v>
                </c:pt>
                <c:pt idx="7">
                  <c:v>9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Sheet1!$C$2:$C$9</c15:f>
                <c15:dlblRangeCache>
                  <c:ptCount val="8"/>
                  <c:pt idx="0">
                    <c:v>Competitor 1</c:v>
                  </c:pt>
                  <c:pt idx="1">
                    <c:v>Competitor 2</c:v>
                  </c:pt>
                  <c:pt idx="2">
                    <c:v>Competitor 3</c:v>
                  </c:pt>
                  <c:pt idx="3">
                    <c:v>Competitor 4</c:v>
                  </c:pt>
                  <c:pt idx="4">
                    <c:v>Competitor 5</c:v>
                  </c:pt>
                  <c:pt idx="5">
                    <c:v>Competitor 6</c:v>
                  </c:pt>
                  <c:pt idx="6">
                    <c:v>Competitor 7</c:v>
                  </c:pt>
                  <c:pt idx="7">
                    <c:v>Company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1C96-42FB-8C41-D092B2201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0173744"/>
        <c:axId val="1640178320"/>
      </c:scatterChart>
      <c:valAx>
        <c:axId val="1640173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/>
                  <a:t>Market share</a:t>
                </a:r>
              </a:p>
            </c:rich>
          </c:tx>
          <c:layout>
            <c:manualLayout>
              <c:xMode val="edge"/>
              <c:yMode val="edge"/>
              <c:x val="0.45353135103736814"/>
              <c:y val="0.935134294344090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\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178320"/>
        <c:crosses val="autoZero"/>
        <c:crossBetween val="midCat"/>
      </c:valAx>
      <c:valAx>
        <c:axId val="1640178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/>
                  <a:t>Revenue growth</a:t>
                </a:r>
              </a:p>
            </c:rich>
          </c:tx>
          <c:layout>
            <c:manualLayout>
              <c:xMode val="edge"/>
              <c:yMode val="edge"/>
              <c:x val="0"/>
              <c:y val="0.263574739833652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\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173744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93F-764A-B101-6F88BA733F1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93F-764A-B101-6F88BA733F1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693F-764A-B101-6F88BA733F1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93F-764A-B101-6F88BA733F1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93F-764A-B101-6F88BA733F15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93F-764A-B101-6F88BA733F1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Product 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693F-764A-B101-6F88BA733F1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Product 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93F-764A-B101-6F88BA733F15}"/>
                </c:ext>
              </c:extLst>
            </c:dLbl>
            <c:dLbl>
              <c:idx val="2"/>
              <c:layout>
                <c:manualLayout>
                  <c:x val="-2.7483540983748462E-2"/>
                  <c:y val="-7.969953651267969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Product 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693F-764A-B101-6F88BA733F1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Product 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93F-764A-B101-6F88BA733F1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Product 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93F-764A-B101-6F88BA733F1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Product 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93F-764A-B101-6F88BA733F15}"/>
                </c:ext>
              </c:extLst>
            </c:dLbl>
            <c:dLbl>
              <c:idx val="6"/>
              <c:layout>
                <c:manualLayout>
                  <c:x val="-9.3902098361140579E-2"/>
                  <c:y val="-6.694761067065088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Product 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693F-764A-B101-6F88BA733F1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dirty="0"/>
                      <a:t>Product 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93F-764A-B101-6F88BA733F1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dirty="0"/>
                      <a:t>Product 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93F-764A-B101-6F88BA733F1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dirty="0"/>
                      <a:t>Product 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693F-764A-B101-6F88BA733F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710</c:v>
                </c:pt>
                <c:pt idx="1">
                  <c:v>268</c:v>
                </c:pt>
                <c:pt idx="2">
                  <c:v>439</c:v>
                </c:pt>
                <c:pt idx="3">
                  <c:v>142</c:v>
                </c:pt>
                <c:pt idx="4">
                  <c:v>317</c:v>
                </c:pt>
                <c:pt idx="5">
                  <c:v>200</c:v>
                </c:pt>
                <c:pt idx="6">
                  <c:v>278</c:v>
                </c:pt>
                <c:pt idx="7">
                  <c:v>277</c:v>
                </c:pt>
                <c:pt idx="8">
                  <c:v>454</c:v>
                </c:pt>
                <c:pt idx="9">
                  <c:v>558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2316</c:v>
                </c:pt>
                <c:pt idx="1">
                  <c:v>2232</c:v>
                </c:pt>
                <c:pt idx="2">
                  <c:v>1514</c:v>
                </c:pt>
                <c:pt idx="3">
                  <c:v>1872</c:v>
                </c:pt>
                <c:pt idx="4">
                  <c:v>1530</c:v>
                </c:pt>
                <c:pt idx="5">
                  <c:v>1200</c:v>
                </c:pt>
                <c:pt idx="6">
                  <c:v>1344</c:v>
                </c:pt>
                <c:pt idx="7">
                  <c:v>731</c:v>
                </c:pt>
                <c:pt idx="8">
                  <c:v>1422</c:v>
                </c:pt>
                <c:pt idx="9">
                  <c:v>2303</c:v>
                </c:pt>
              </c:numCache>
            </c:numRef>
          </c:yVal>
          <c:bubbleSize>
            <c:numRef>
              <c:f>Sheet1!$C$2:$C$11</c:f>
              <c:numCache>
                <c:formatCode>General</c:formatCode>
                <c:ptCount val="10"/>
                <c:pt idx="0">
                  <c:v>10</c:v>
                </c:pt>
                <c:pt idx="1">
                  <c:v>4</c:v>
                </c:pt>
                <c:pt idx="2">
                  <c:v>8</c:v>
                </c:pt>
                <c:pt idx="3">
                  <c:v>5</c:v>
                </c:pt>
                <c:pt idx="4">
                  <c:v>17</c:v>
                </c:pt>
                <c:pt idx="5">
                  <c:v>3</c:v>
                </c:pt>
                <c:pt idx="6">
                  <c:v>8</c:v>
                </c:pt>
                <c:pt idx="7">
                  <c:v>20</c:v>
                </c:pt>
                <c:pt idx="8">
                  <c:v>8</c:v>
                </c:pt>
                <c:pt idx="9">
                  <c:v>18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693F-764A-B101-6F88BA733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sizeRepresents val="w"/>
        <c:axId val="1078438992"/>
        <c:axId val="1078567568"/>
      </c:bubbleChart>
      <c:valAx>
        <c:axId val="1078438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567568"/>
        <c:crosses val="autoZero"/>
        <c:crossBetween val="midCat"/>
      </c:valAx>
      <c:valAx>
        <c:axId val="107856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438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360855942873924E-2"/>
          <c:y val="8.356618703157237E-2"/>
          <c:w val="0.90476611693753073"/>
          <c:h val="0.88931925228265152"/>
        </c:manualLayout>
      </c:layout>
      <c:bubbleChart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[Dimension 2]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1B8-604A-ABFC-BBA0261FE66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A1B8-604A-ABFC-BBA0261FE66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B89-4A32-A222-752CD3639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B89-4A32-A222-752CD3639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5B89-4A32-A222-752CD3639B4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D06448E-7B48-45AB-8A10-CDE0B96A2EDD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A1B8-604A-ABFC-BBA0261FE66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B64F6BF-E075-499A-8E52-796CE529ECDF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A1B8-604A-ABFC-BBA0261FE6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C9B5300-EAED-47FF-AED0-AB2C01EC68E9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A1B8-604A-ABFC-BBA0261FE66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C2F8321C-48DA-416C-A426-EABA1D3C6E0F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5B89-4A32-A222-752CD3639B4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30C3685-E762-47A0-8D57-D5F68C33E855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A1B8-604A-ABFC-BBA0261FE66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8048100-7C37-4500-849D-1D874309F431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5B89-4A32-A222-752CD3639B4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2FE4691-64BD-4481-98AD-2F7DBC1EFC94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dLblPos val="b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A1B8-604A-ABFC-BBA0261FE66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C4CE53B3-5524-4855-8EC2-DB26D4A59EDB}" type="CELLRANGE">
                      <a:rPr lang="en-GB"/>
                      <a:pPr/>
                      <a:t>[CELLRANGE]</a:t>
                    </a:fld>
                    <a:endParaRPr lang="en-GB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A1B8-604A-ABFC-BBA0261FE66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8FE05A56-908C-47E0-B212-8BD7A9C9F3A9}" type="CELLRANGE">
                      <a:rPr lang="en-US"/>
                      <a:pPr/>
                      <a:t>[CELLRANGE]</a:t>
                    </a:fld>
                    <a:endParaRPr lang="en-GB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5B89-4A32-A222-752CD3639B4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Sheet1!$B$2:$B$10</c:f>
              <c:numCache>
                <c:formatCode>0.0</c:formatCode>
                <c:ptCount val="9"/>
                <c:pt idx="0">
                  <c:v>-31</c:v>
                </c:pt>
                <c:pt idx="1">
                  <c:v>-11</c:v>
                </c:pt>
                <c:pt idx="2">
                  <c:v>-1</c:v>
                </c:pt>
                <c:pt idx="3">
                  <c:v>5.2</c:v>
                </c:pt>
                <c:pt idx="4">
                  <c:v>16.399999999999999</c:v>
                </c:pt>
                <c:pt idx="5">
                  <c:v>17.600000000000001</c:v>
                </c:pt>
                <c:pt idx="6">
                  <c:v>38</c:v>
                </c:pt>
                <c:pt idx="7">
                  <c:v>35</c:v>
                </c:pt>
                <c:pt idx="8">
                  <c:v>100.1</c:v>
                </c:pt>
              </c:numCache>
            </c:numRef>
          </c:xVal>
          <c:yVal>
            <c:numRef>
              <c:f>Sheet1!$C$2:$C$10</c:f>
              <c:numCache>
                <c:formatCode>0.0</c:formatCode>
                <c:ptCount val="9"/>
                <c:pt idx="0">
                  <c:v>-8.6999999999999993</c:v>
                </c:pt>
                <c:pt idx="1">
                  <c:v>4.3</c:v>
                </c:pt>
                <c:pt idx="2">
                  <c:v>1.2</c:v>
                </c:pt>
                <c:pt idx="3">
                  <c:v>31.4</c:v>
                </c:pt>
                <c:pt idx="4">
                  <c:v>11.1</c:v>
                </c:pt>
                <c:pt idx="5">
                  <c:v>-7.4</c:v>
                </c:pt>
                <c:pt idx="6">
                  <c:v>-6.1</c:v>
                </c:pt>
                <c:pt idx="7">
                  <c:v>9.4</c:v>
                </c:pt>
                <c:pt idx="8">
                  <c:v>17.8</c:v>
                </c:pt>
              </c:numCache>
            </c:numRef>
          </c:yVal>
          <c:bubbleSize>
            <c:numRef>
              <c:f>Sheet1!$D$2:$D$10</c:f>
              <c:numCache>
                <c:formatCode>General</c:formatCode>
                <c:ptCount val="9"/>
                <c:pt idx="0">
                  <c:v>0.4</c:v>
                </c:pt>
                <c:pt idx="1">
                  <c:v>0.8</c:v>
                </c:pt>
                <c:pt idx="2">
                  <c:v>1.8</c:v>
                </c:pt>
                <c:pt idx="3">
                  <c:v>5</c:v>
                </c:pt>
                <c:pt idx="4">
                  <c:v>0.9</c:v>
                </c:pt>
                <c:pt idx="5">
                  <c:v>3.5</c:v>
                </c:pt>
                <c:pt idx="6">
                  <c:v>0.2</c:v>
                </c:pt>
                <c:pt idx="7">
                  <c:v>0.54</c:v>
                </c:pt>
                <c:pt idx="8">
                  <c:v>4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Sheet1!$A$2:$A$10</c15:f>
                <c15:dlblRangeCache>
                  <c:ptCount val="9"/>
                  <c:pt idx="0">
                    <c:v>[Competitor]</c:v>
                  </c:pt>
                  <c:pt idx="1">
                    <c:v>[Competitor]</c:v>
                  </c:pt>
                  <c:pt idx="2">
                    <c:v>[Competitor]</c:v>
                  </c:pt>
                  <c:pt idx="3">
                    <c:v>[Competitor]</c:v>
                  </c:pt>
                  <c:pt idx="4">
                    <c:v>[Competitor]</c:v>
                  </c:pt>
                  <c:pt idx="5">
                    <c:v>[Competitor]</c:v>
                  </c:pt>
                  <c:pt idx="6">
                    <c:v>[Competitor]</c:v>
                  </c:pt>
                  <c:pt idx="7">
                    <c:v>[Competitor]</c:v>
                  </c:pt>
                  <c:pt idx="8">
                    <c:v>[Competitor]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5B89-4A32-A222-752CD3639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503471104"/>
        <c:axId val="1202154720"/>
      </c:bubbleChart>
      <c:valAx>
        <c:axId val="503471104"/>
        <c:scaling>
          <c:orientation val="minMax"/>
          <c:max val="120"/>
          <c:min val="-60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154720"/>
        <c:crosses val="autoZero"/>
        <c:crossBetween val="midCat"/>
        <c:minorUnit val="20"/>
      </c:valAx>
      <c:valAx>
        <c:axId val="1202154720"/>
        <c:scaling>
          <c:orientation val="minMax"/>
          <c:max val="4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471104"/>
        <c:crosses val="autoZero"/>
        <c:crossBetween val="midCat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0.53273</cdr:x>
      <cdr:y>0.04059</cdr:y>
    </cdr:from>
    <cdr:to>
      <cdr:x>0.53273</cdr:x>
      <cdr:y>0.83781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58ED0D37-6A5A-F395-0C76-C554A6CD652B}"/>
            </a:ext>
          </a:extLst>
        </cdr:cNvPr>
        <cdr:cNvCxnSpPr/>
      </cdr:nvCxnSpPr>
      <cdr:spPr>
        <a:xfrm xmlns:a="http://schemas.openxmlformats.org/drawingml/2006/main">
          <a:off x="3888934" y="150098"/>
          <a:ext cx="0" cy="2947860"/>
        </a:xfrm>
        <a:prstGeom xmlns:a="http://schemas.openxmlformats.org/drawingml/2006/main" prst="line">
          <a:avLst/>
        </a:prstGeom>
        <a:ln xmlns:a="http://schemas.openxmlformats.org/drawingml/2006/main" w="15875" cap="sq">
          <a:solidFill>
            <a:srgbClr val="000000"/>
          </a:solidFill>
          <a:prstDash val="dash"/>
          <a:miter lim="800000"/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0.09677</cdr:x>
      <cdr:y>0.43769</cdr:y>
    </cdr:from>
    <cdr:to>
      <cdr:x>0.96859</cdr:x>
      <cdr:y>0.43769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F80FBA78-A54A-A7F5-B29D-8D629C6D243A}"/>
            </a:ext>
          </a:extLst>
        </cdr:cNvPr>
        <cdr:cNvCxnSpPr/>
      </cdr:nvCxnSpPr>
      <cdr:spPr>
        <a:xfrm xmlns:a="http://schemas.openxmlformats.org/drawingml/2006/main" flipH="1">
          <a:off x="706436" y="1618414"/>
          <a:ext cx="6364224" cy="0"/>
        </a:xfrm>
        <a:prstGeom xmlns:a="http://schemas.openxmlformats.org/drawingml/2006/main" prst="line">
          <a:avLst/>
        </a:prstGeom>
        <a:ln xmlns:a="http://schemas.openxmlformats.org/drawingml/2006/main" w="15875" cap="sq">
          <a:solidFill>
            <a:srgbClr val="000000"/>
          </a:solidFill>
          <a:prstDash val="dash"/>
          <a:miter lim="800000"/>
          <a:tailEnd type="non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0.10526</cdr:x>
      <cdr:y>0.13792</cdr:y>
    </cdr:from>
    <cdr:to>
      <cdr:x>0.26949</cdr:x>
      <cdr:y>0.21662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47F4D12-D56D-2393-D58A-F9A2F0AD3F13}"/>
            </a:ext>
          </a:extLst>
        </cdr:cNvPr>
        <cdr:cNvSpPr txBox="1"/>
      </cdr:nvSpPr>
      <cdr:spPr>
        <a:xfrm xmlns:a="http://schemas.openxmlformats.org/drawingml/2006/main">
          <a:off x="1167330" y="549443"/>
          <a:ext cx="1821416" cy="313518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r"/>
          <a:r>
            <a:rPr lang="en-US" sz="1200" i="1" dirty="0">
              <a:solidFill>
                <a:schemeClr val="bg1">
                  <a:lumMod val="65000"/>
                </a:schemeClr>
              </a:solidFill>
            </a:rPr>
            <a:t>[State e.g. profitable]</a:t>
          </a:r>
        </a:p>
      </cdr:txBody>
    </cdr:sp>
  </cdr:relSizeAnchor>
  <cdr:relSizeAnchor xmlns:cdr="http://schemas.openxmlformats.org/drawingml/2006/chartDrawing">
    <cdr:from>
      <cdr:x>0.70343</cdr:x>
      <cdr:y>0.63929</cdr:y>
    </cdr:from>
    <cdr:to>
      <cdr:x>0.87949</cdr:x>
      <cdr:y>0.71798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D6BCAE15-854F-9777-D2D6-88D0541CC2BF}"/>
            </a:ext>
          </a:extLst>
        </cdr:cNvPr>
        <cdr:cNvSpPr txBox="1"/>
      </cdr:nvSpPr>
      <cdr:spPr>
        <a:xfrm xmlns:a="http://schemas.openxmlformats.org/drawingml/2006/main">
          <a:off x="7801285" y="2546764"/>
          <a:ext cx="1952543" cy="313479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200" b="0" i="1" dirty="0">
              <a:solidFill>
                <a:schemeClr val="bg1">
                  <a:lumMod val="65000"/>
                </a:schemeClr>
              </a:solidFill>
            </a:rPr>
            <a:t>[State, e.g. unprofitable]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913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05165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6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074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47" imgH="348" progId="TCLayout.ActiveDocument.1">
                  <p:embed/>
                </p:oleObj>
              </mc:Choice>
              <mc:Fallback>
                <p:oleObj name="think-cell Slide" r:id="rId7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0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2.xml"/><Relationship Id="rId6" Type="http://schemas.openxmlformats.org/officeDocument/2006/relationships/chart" Target="../charts/char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40.xml"/><Relationship Id="rId3" Type="http://schemas.openxmlformats.org/officeDocument/2006/relationships/tags" Target="../tags/tag335.xml"/><Relationship Id="rId7" Type="http://schemas.openxmlformats.org/officeDocument/2006/relationships/tags" Target="../tags/tag339.xml"/><Relationship Id="rId2" Type="http://schemas.openxmlformats.org/officeDocument/2006/relationships/tags" Target="../tags/tag334.xml"/><Relationship Id="rId1" Type="http://schemas.openxmlformats.org/officeDocument/2006/relationships/tags" Target="../tags/tag333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4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43.xml"/><Relationship Id="rId7" Type="http://schemas.openxmlformats.org/officeDocument/2006/relationships/tags" Target="../tags/tag34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342.xml"/><Relationship Id="rId1" Type="http://schemas.openxmlformats.org/officeDocument/2006/relationships/tags" Target="../tags/tag341.xml"/><Relationship Id="rId6" Type="http://schemas.openxmlformats.org/officeDocument/2006/relationships/tags" Target="../tags/tag346.xml"/><Relationship Id="rId11" Type="http://schemas.openxmlformats.org/officeDocument/2006/relationships/tags" Target="../tags/tag351.xml"/><Relationship Id="rId5" Type="http://schemas.openxmlformats.org/officeDocument/2006/relationships/tags" Target="../tags/tag345.xml"/><Relationship Id="rId10" Type="http://schemas.openxmlformats.org/officeDocument/2006/relationships/tags" Target="../tags/tag350.xml"/><Relationship Id="rId4" Type="http://schemas.openxmlformats.org/officeDocument/2006/relationships/tags" Target="../tags/tag344.xml"/><Relationship Id="rId9" Type="http://schemas.openxmlformats.org/officeDocument/2006/relationships/tags" Target="../tags/tag349.xml"/><Relationship Id="rId1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2.xml"/><Relationship Id="rId5" Type="http://schemas.openxmlformats.org/officeDocument/2006/relationships/chart" Target="../charts/chart4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Line / Scatter Charts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449">
            <a:extLst>
              <a:ext uri="{FF2B5EF4-FFF2-40B4-BE49-F238E27FC236}">
                <a16:creationId xmlns:a16="http://schemas.microsoft.com/office/drawing/2014/main" id="{06E8F2DC-E8B9-BB29-17A7-07C0555511C1}"/>
              </a:ext>
            </a:extLst>
          </p:cNvPr>
          <p:cNvSpPr/>
          <p:nvPr/>
        </p:nvSpPr>
        <p:spPr>
          <a:xfrm rot="10800000">
            <a:off x="1328468" y="2551261"/>
            <a:ext cx="6159260" cy="3067305"/>
          </a:xfrm>
          <a:custGeom>
            <a:avLst/>
            <a:gdLst>
              <a:gd name="connsiteX0" fmla="*/ 0 w 843699"/>
              <a:gd name="connsiteY0" fmla="*/ 0 h 843698"/>
              <a:gd name="connsiteX1" fmla="*/ 839343 w 843699"/>
              <a:gd name="connsiteY1" fmla="*/ 757436 h 843698"/>
              <a:gd name="connsiteX2" fmla="*/ 843699 w 843699"/>
              <a:gd name="connsiteY2" fmla="*/ 843698 h 843698"/>
              <a:gd name="connsiteX3" fmla="*/ 0 w 843699"/>
              <a:gd name="connsiteY3" fmla="*/ 843698 h 843698"/>
              <a:gd name="connsiteX4" fmla="*/ 0 w 843699"/>
              <a:gd name="connsiteY4" fmla="*/ 0 h 84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699" h="843698">
                <a:moveTo>
                  <a:pt x="0" y="0"/>
                </a:moveTo>
                <a:cubicBezTo>
                  <a:pt x="436839" y="0"/>
                  <a:pt x="796137" y="331996"/>
                  <a:pt x="839343" y="757436"/>
                </a:cubicBezTo>
                <a:lnTo>
                  <a:pt x="843699" y="843698"/>
                </a:lnTo>
                <a:lnTo>
                  <a:pt x="0" y="8436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08000" bIns="108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Freeform 448">
            <a:extLst>
              <a:ext uri="{FF2B5EF4-FFF2-40B4-BE49-F238E27FC236}">
                <a16:creationId xmlns:a16="http://schemas.microsoft.com/office/drawing/2014/main" id="{20EF60A0-F2E4-54EE-FD76-864F7398F83C}"/>
              </a:ext>
            </a:extLst>
          </p:cNvPr>
          <p:cNvSpPr/>
          <p:nvPr/>
        </p:nvSpPr>
        <p:spPr>
          <a:xfrm rot="10800000">
            <a:off x="2777707" y="2551261"/>
            <a:ext cx="4710021" cy="2345586"/>
          </a:xfrm>
          <a:custGeom>
            <a:avLst/>
            <a:gdLst>
              <a:gd name="connsiteX0" fmla="*/ 0 w 843699"/>
              <a:gd name="connsiteY0" fmla="*/ 0 h 843698"/>
              <a:gd name="connsiteX1" fmla="*/ 839343 w 843699"/>
              <a:gd name="connsiteY1" fmla="*/ 757436 h 843698"/>
              <a:gd name="connsiteX2" fmla="*/ 843699 w 843699"/>
              <a:gd name="connsiteY2" fmla="*/ 843698 h 843698"/>
              <a:gd name="connsiteX3" fmla="*/ 0 w 843699"/>
              <a:gd name="connsiteY3" fmla="*/ 843698 h 843698"/>
              <a:gd name="connsiteX4" fmla="*/ 0 w 843699"/>
              <a:gd name="connsiteY4" fmla="*/ 0 h 84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699" h="843698">
                <a:moveTo>
                  <a:pt x="0" y="0"/>
                </a:moveTo>
                <a:cubicBezTo>
                  <a:pt x="436839" y="0"/>
                  <a:pt x="796137" y="331996"/>
                  <a:pt x="839343" y="757436"/>
                </a:cubicBezTo>
                <a:lnTo>
                  <a:pt x="843699" y="843698"/>
                </a:lnTo>
                <a:lnTo>
                  <a:pt x="0" y="8436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08000" bIns="108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Freeform 440">
            <a:extLst>
              <a:ext uri="{FF2B5EF4-FFF2-40B4-BE49-F238E27FC236}">
                <a16:creationId xmlns:a16="http://schemas.microsoft.com/office/drawing/2014/main" id="{B1BDD9F0-412C-C84E-17A0-601DC2FC777B}"/>
              </a:ext>
            </a:extLst>
          </p:cNvPr>
          <p:cNvSpPr/>
          <p:nvPr/>
        </p:nvSpPr>
        <p:spPr>
          <a:xfrm rot="10800000">
            <a:off x="4226944" y="2551261"/>
            <a:ext cx="3260784" cy="1623867"/>
          </a:xfrm>
          <a:custGeom>
            <a:avLst/>
            <a:gdLst>
              <a:gd name="connsiteX0" fmla="*/ 0 w 843699"/>
              <a:gd name="connsiteY0" fmla="*/ 0 h 843698"/>
              <a:gd name="connsiteX1" fmla="*/ 839343 w 843699"/>
              <a:gd name="connsiteY1" fmla="*/ 757436 h 843698"/>
              <a:gd name="connsiteX2" fmla="*/ 843699 w 843699"/>
              <a:gd name="connsiteY2" fmla="*/ 843698 h 843698"/>
              <a:gd name="connsiteX3" fmla="*/ 0 w 843699"/>
              <a:gd name="connsiteY3" fmla="*/ 843698 h 843698"/>
              <a:gd name="connsiteX4" fmla="*/ 0 w 843699"/>
              <a:gd name="connsiteY4" fmla="*/ 0 h 843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699" h="843698">
                <a:moveTo>
                  <a:pt x="0" y="0"/>
                </a:moveTo>
                <a:cubicBezTo>
                  <a:pt x="436839" y="0"/>
                  <a:pt x="796137" y="331996"/>
                  <a:pt x="839343" y="757436"/>
                </a:cubicBezTo>
                <a:lnTo>
                  <a:pt x="843699" y="843698"/>
                </a:lnTo>
                <a:lnTo>
                  <a:pt x="0" y="8436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08000" bIns="108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231D252D-69FB-928F-8796-C22C819F3376}"/>
              </a:ext>
            </a:extLst>
          </p:cNvPr>
          <p:cNvGraphicFramePr>
            <a:graphicFrameLocks/>
          </p:cNvGraphicFramePr>
          <p:nvPr/>
        </p:nvGraphicFramePr>
        <p:xfrm>
          <a:off x="550865" y="2376739"/>
          <a:ext cx="7299958" cy="38335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[Insert company] is [insert e.g., well-positioned to xx / strong in xx but weak in xx etc.]</a:t>
            </a:r>
            <a:endParaRPr lang="en-IN" dirty="0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18410547-90F2-EA45-DA34-7A2E4A93BB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FCAB83D-72EE-A4C6-8C26-2851715BC5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0C1EF40C-5AE7-17B7-BB56-CFC8CB7E6130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38;p14">
            <a:extLst>
              <a:ext uri="{FF2B5EF4-FFF2-40B4-BE49-F238E27FC236}">
                <a16:creationId xmlns:a16="http://schemas.microsoft.com/office/drawing/2014/main" id="{745CBAF7-98D8-E714-3A2E-9A6EBDB72146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ACF7F-14E3-C68A-9F2A-063E4DF888D9}"/>
              </a:ext>
            </a:extLst>
          </p:cNvPr>
          <p:cNvSpPr txBox="1"/>
          <p:nvPr/>
        </p:nvSpPr>
        <p:spPr>
          <a:xfrm>
            <a:off x="554736" y="1733550"/>
            <a:ext cx="7296092" cy="47456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latin typeface="Arial" panose="020B0604020202020204"/>
              </a:rPr>
              <a:t>[Description]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4711E-A8F0-04F5-41E6-F608F377F68B}"/>
              </a:ext>
            </a:extLst>
          </p:cNvPr>
          <p:cNvCxnSpPr>
            <a:cxnSpLocks/>
          </p:cNvCxnSpPr>
          <p:nvPr/>
        </p:nvCxnSpPr>
        <p:spPr>
          <a:xfrm>
            <a:off x="554736" y="2292428"/>
            <a:ext cx="72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AABF1B1-381F-0A8A-A994-B8F5723B3A73}"/>
              </a:ext>
            </a:extLst>
          </p:cNvPr>
          <p:cNvSpPr txBox="1"/>
          <p:nvPr/>
        </p:nvSpPr>
        <p:spPr>
          <a:xfrm>
            <a:off x="8106032" y="1733550"/>
            <a:ext cx="3535105" cy="47456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[Key takeaways]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B1812E-334A-1747-63B9-8F259EAB9AF5}"/>
              </a:ext>
            </a:extLst>
          </p:cNvPr>
          <p:cNvCxnSpPr>
            <a:cxnSpLocks/>
          </p:cNvCxnSpPr>
          <p:nvPr/>
        </p:nvCxnSpPr>
        <p:spPr>
          <a:xfrm>
            <a:off x="7997639" y="17335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CD056C4-0EF4-867A-D775-7DA1F0E7F7CA}"/>
              </a:ext>
            </a:extLst>
          </p:cNvPr>
          <p:cNvSpPr txBox="1"/>
          <p:nvPr/>
        </p:nvSpPr>
        <p:spPr>
          <a:xfrm>
            <a:off x="8240476" y="2551261"/>
            <a:ext cx="34006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latin typeface="Arial" panose="020B0604020202020204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361093-9079-1C92-21C7-FD59A98A4464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A01F5CA-0428-3A1C-F1A5-D774A14E22A5}"/>
              </a:ext>
            </a:extLst>
          </p:cNvPr>
          <p:cNvSpPr/>
          <p:nvPr/>
        </p:nvSpPr>
        <p:spPr>
          <a:xfrm>
            <a:off x="6614161" y="4490720"/>
            <a:ext cx="1221922" cy="436880"/>
          </a:xfrm>
          <a:prstGeom prst="rect">
            <a:avLst/>
          </a:prstGeom>
          <a:noFill/>
          <a:ln w="15875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05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[Insert company] has a [insert e.g., challenger] position in market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EB11F-5EFB-5D72-9773-C86A94C37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B3C03C-E0B6-7963-9CED-80CA19A5A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A4DCD2D-89A9-A7ED-32DF-1E1D56613FD0}"/>
              </a:ext>
            </a:extLst>
          </p:cNvPr>
          <p:cNvGraphicFramePr>
            <a:graphicFrameLocks/>
          </p:cNvGraphicFramePr>
          <p:nvPr/>
        </p:nvGraphicFramePr>
        <p:xfrm>
          <a:off x="550864" y="2487594"/>
          <a:ext cx="7299959" cy="3697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42864B4-F349-ADB6-BAE4-ECDFB5ECE807}"/>
              </a:ext>
            </a:extLst>
          </p:cNvPr>
          <p:cNvSpPr/>
          <p:nvPr/>
        </p:nvSpPr>
        <p:spPr>
          <a:xfrm>
            <a:off x="1400093" y="5281176"/>
            <a:ext cx="3510395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Laggards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CD7E08-F27A-2413-5C92-DB807B6A8CAA}"/>
              </a:ext>
            </a:extLst>
          </p:cNvPr>
          <p:cNvSpPr/>
          <p:nvPr/>
        </p:nvSpPr>
        <p:spPr>
          <a:xfrm>
            <a:off x="1400093" y="2732216"/>
            <a:ext cx="283262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Challengers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14ED70-B685-4304-10CA-255C3A4434DD}"/>
              </a:ext>
            </a:extLst>
          </p:cNvPr>
          <p:cNvSpPr/>
          <p:nvPr/>
        </p:nvSpPr>
        <p:spPr>
          <a:xfrm>
            <a:off x="4946650" y="5281176"/>
            <a:ext cx="2549992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Incumbents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834188-F6F2-2194-4C96-BBC61B888F56}"/>
              </a:ext>
            </a:extLst>
          </p:cNvPr>
          <p:cNvSpPr/>
          <p:nvPr/>
        </p:nvSpPr>
        <p:spPr>
          <a:xfrm>
            <a:off x="5499100" y="2732216"/>
            <a:ext cx="1997542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leaders</a:t>
            </a:r>
          </a:p>
        </p:txBody>
      </p:sp>
      <p:sp>
        <p:nvSpPr>
          <p:cNvPr id="10" name="Google Shape;507;p14">
            <a:extLst>
              <a:ext uri="{FF2B5EF4-FFF2-40B4-BE49-F238E27FC236}">
                <a16:creationId xmlns:a16="http://schemas.microsoft.com/office/drawing/2014/main" id="{1C77F557-FB9D-BC30-4046-1F955190116D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38;p14">
            <a:extLst>
              <a:ext uri="{FF2B5EF4-FFF2-40B4-BE49-F238E27FC236}">
                <a16:creationId xmlns:a16="http://schemas.microsoft.com/office/drawing/2014/main" id="{3BD30A2F-FA74-F50F-9352-C3B6E78A5AE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928C8-FE6C-9C0C-14CC-45DD2E495E6E}"/>
              </a:ext>
            </a:extLst>
          </p:cNvPr>
          <p:cNvSpPr txBox="1"/>
          <p:nvPr/>
        </p:nvSpPr>
        <p:spPr>
          <a:xfrm>
            <a:off x="554736" y="1733550"/>
            <a:ext cx="7296092" cy="47456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latin typeface="Arial" panose="020B0604020202020204"/>
              </a:rPr>
              <a:t>[Description]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9131F-EB26-6C0E-72B4-87DF99E24071}"/>
              </a:ext>
            </a:extLst>
          </p:cNvPr>
          <p:cNvCxnSpPr>
            <a:cxnSpLocks/>
          </p:cNvCxnSpPr>
          <p:nvPr/>
        </p:nvCxnSpPr>
        <p:spPr>
          <a:xfrm>
            <a:off x="554736" y="2292428"/>
            <a:ext cx="7297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3F9BF09-1337-0062-4D1A-F165D5D6F543}"/>
              </a:ext>
            </a:extLst>
          </p:cNvPr>
          <p:cNvSpPr txBox="1"/>
          <p:nvPr/>
        </p:nvSpPr>
        <p:spPr>
          <a:xfrm>
            <a:off x="8106032" y="1733550"/>
            <a:ext cx="3535105" cy="47456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[Key takeaways]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F01090-E0BE-F3AD-3DB2-33FF7A0404FD}"/>
              </a:ext>
            </a:extLst>
          </p:cNvPr>
          <p:cNvCxnSpPr>
            <a:cxnSpLocks/>
          </p:cNvCxnSpPr>
          <p:nvPr/>
        </p:nvCxnSpPr>
        <p:spPr>
          <a:xfrm>
            <a:off x="7997639" y="17335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B3B56DB-4835-63C3-AD38-73E2999E4031}"/>
              </a:ext>
            </a:extLst>
          </p:cNvPr>
          <p:cNvSpPr txBox="1"/>
          <p:nvPr/>
        </p:nvSpPr>
        <p:spPr>
          <a:xfrm>
            <a:off x="8240476" y="2551261"/>
            <a:ext cx="34006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latin typeface="Arial" panose="020B0604020202020204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123FFCC-7CC0-8E8C-B077-635F53DF4379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BBEEAE7-A3B2-A02E-C793-E09E40B7131F}"/>
              </a:ext>
            </a:extLst>
          </p:cNvPr>
          <p:cNvSpPr/>
          <p:nvPr/>
        </p:nvSpPr>
        <p:spPr>
          <a:xfrm>
            <a:off x="2467674" y="3170385"/>
            <a:ext cx="1221922" cy="436880"/>
          </a:xfrm>
          <a:prstGeom prst="rect">
            <a:avLst/>
          </a:prstGeom>
          <a:noFill/>
          <a:ln w="15875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31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Line 20">
            <a:extLst>
              <a:ext uri="{FF2B5EF4-FFF2-40B4-BE49-F238E27FC236}">
                <a16:creationId xmlns:a16="http://schemas.microsoft.com/office/drawing/2014/main" id="{44988973-3A32-1B9D-F594-B3984FB13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0338" y="1910376"/>
            <a:ext cx="0" cy="4428000"/>
          </a:xfrm>
          <a:prstGeom prst="lin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10" name="Line 21">
            <a:extLst>
              <a:ext uri="{FF2B5EF4-FFF2-40B4-BE49-F238E27FC236}">
                <a16:creationId xmlns:a16="http://schemas.microsoft.com/office/drawing/2014/main" id="{86B2A2F3-28BA-8DCD-1813-79CD4F365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6638" y="1910376"/>
            <a:ext cx="0" cy="4428000"/>
          </a:xfrm>
          <a:prstGeom prst="lin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11" name="Line 22">
            <a:extLst>
              <a:ext uri="{FF2B5EF4-FFF2-40B4-BE49-F238E27FC236}">
                <a16:creationId xmlns:a16="http://schemas.microsoft.com/office/drawing/2014/main" id="{98DFB30E-FE5E-5397-8492-2D89EEE63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1730" y="1910376"/>
            <a:ext cx="0" cy="4428000"/>
          </a:xfrm>
          <a:prstGeom prst="lin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13" name="Line 24">
            <a:extLst>
              <a:ext uri="{FF2B5EF4-FFF2-40B4-BE49-F238E27FC236}">
                <a16:creationId xmlns:a16="http://schemas.microsoft.com/office/drawing/2014/main" id="{B5FC7D0A-A040-BE9C-5EAF-56EF5BDCE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5431" y="1910376"/>
            <a:ext cx="0" cy="4428000"/>
          </a:xfrm>
          <a:prstGeom prst="lin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[Insert company] has created unique position in terms of [insert]</a:t>
            </a:r>
            <a:endParaRPr lang="en-DK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906075-8A2B-2CDE-E3AB-D7753D32BB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3C6FD9-C70F-F870-F6C2-5330EF20570F}"/>
              </a:ext>
            </a:extLst>
          </p:cNvPr>
          <p:cNvSpPr/>
          <p:nvPr/>
        </p:nvSpPr>
        <p:spPr>
          <a:xfrm>
            <a:off x="467806" y="1421892"/>
            <a:ext cx="27911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Company competitor overview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1659BF1-BFF3-689F-6046-F5CDAE269F36}"/>
              </a:ext>
            </a:extLst>
          </p:cNvPr>
          <p:cNvCxnSpPr>
            <a:stCxn id="71" idx="6"/>
            <a:endCxn id="48" idx="1"/>
          </p:cNvCxnSpPr>
          <p:nvPr/>
        </p:nvCxnSpPr>
        <p:spPr>
          <a:xfrm>
            <a:off x="4339657" y="2471834"/>
            <a:ext cx="359265" cy="377078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13D2EF60-2446-8E2C-CCE8-3128CD7661F1}"/>
              </a:ext>
            </a:extLst>
          </p:cNvPr>
          <p:cNvSpPr/>
          <p:nvPr/>
        </p:nvSpPr>
        <p:spPr>
          <a:xfrm>
            <a:off x="3522357" y="2366157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58D8882-AD2C-D9D1-6FCA-E02B7791EA26}"/>
              </a:ext>
            </a:extLst>
          </p:cNvPr>
          <p:cNvSpPr/>
          <p:nvPr/>
        </p:nvSpPr>
        <p:spPr>
          <a:xfrm>
            <a:off x="4668015" y="2817960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28E1B56-746D-6DF9-A670-CF716B89EF3B}"/>
              </a:ext>
            </a:extLst>
          </p:cNvPr>
          <p:cNvSpPr/>
          <p:nvPr/>
        </p:nvSpPr>
        <p:spPr>
          <a:xfrm>
            <a:off x="5256616" y="3269763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43B6434-32B5-7FEF-C59A-9A9099B2E2EA}"/>
              </a:ext>
            </a:extLst>
          </p:cNvPr>
          <p:cNvSpPr/>
          <p:nvPr/>
        </p:nvSpPr>
        <p:spPr>
          <a:xfrm>
            <a:off x="5197916" y="3721566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E4CD8AF-39DC-DBC5-9374-3DFDAC6C74D2}"/>
              </a:ext>
            </a:extLst>
          </p:cNvPr>
          <p:cNvSpPr/>
          <p:nvPr/>
        </p:nvSpPr>
        <p:spPr>
          <a:xfrm>
            <a:off x="3020650" y="4173369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C05E192-5E05-146B-9EFF-49EFAE3A0ACB}"/>
              </a:ext>
            </a:extLst>
          </p:cNvPr>
          <p:cNvSpPr/>
          <p:nvPr/>
        </p:nvSpPr>
        <p:spPr>
          <a:xfrm>
            <a:off x="5182291" y="4625172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05F6DD4-4675-8C80-ED24-5379A5B8F9C9}"/>
              </a:ext>
            </a:extLst>
          </p:cNvPr>
          <p:cNvSpPr/>
          <p:nvPr/>
        </p:nvSpPr>
        <p:spPr>
          <a:xfrm>
            <a:off x="4664973" y="5076975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6AAD4BB-C7EE-4EAD-7534-D39D36B3E793}"/>
              </a:ext>
            </a:extLst>
          </p:cNvPr>
          <p:cNvSpPr/>
          <p:nvPr/>
        </p:nvSpPr>
        <p:spPr>
          <a:xfrm>
            <a:off x="5205423" y="5528778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8D76940-7C8F-D84A-DBC8-F1A4129D8D72}"/>
              </a:ext>
            </a:extLst>
          </p:cNvPr>
          <p:cNvSpPr/>
          <p:nvPr/>
        </p:nvSpPr>
        <p:spPr>
          <a:xfrm>
            <a:off x="3340163" y="5980579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ED26DC2-7FD1-DF3B-7D6A-89E4B78EA0A8}"/>
              </a:ext>
            </a:extLst>
          </p:cNvPr>
          <p:cNvSpPr/>
          <p:nvPr/>
        </p:nvSpPr>
        <p:spPr>
          <a:xfrm>
            <a:off x="4128614" y="2366157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A073A96-140D-B77E-D4D9-451451DE7A7C}"/>
              </a:ext>
            </a:extLst>
          </p:cNvPr>
          <p:cNvSpPr/>
          <p:nvPr/>
        </p:nvSpPr>
        <p:spPr>
          <a:xfrm>
            <a:off x="4756203" y="5980579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A3E6AEE-7207-0A5D-CFAF-B9B428AD330E}"/>
              </a:ext>
            </a:extLst>
          </p:cNvPr>
          <p:cNvSpPr/>
          <p:nvPr/>
        </p:nvSpPr>
        <p:spPr>
          <a:xfrm>
            <a:off x="3615343" y="2817960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6500EC1-32EC-835F-2F1F-7EF66B9759A4}"/>
              </a:ext>
            </a:extLst>
          </p:cNvPr>
          <p:cNvSpPr/>
          <p:nvPr/>
        </p:nvSpPr>
        <p:spPr>
          <a:xfrm>
            <a:off x="3005131" y="3269763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710B9F3-88AB-9FA3-1788-B7EE1F61CF3E}"/>
              </a:ext>
            </a:extLst>
          </p:cNvPr>
          <p:cNvSpPr/>
          <p:nvPr/>
        </p:nvSpPr>
        <p:spPr>
          <a:xfrm>
            <a:off x="3539891" y="3721566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44D6506-6F21-6085-2C96-10411B8A7110}"/>
              </a:ext>
            </a:extLst>
          </p:cNvPr>
          <p:cNvSpPr/>
          <p:nvPr/>
        </p:nvSpPr>
        <p:spPr>
          <a:xfrm>
            <a:off x="4166142" y="4173369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CC59A2F-CBEF-8F5A-41F6-80140F8FA68B}"/>
              </a:ext>
            </a:extLst>
          </p:cNvPr>
          <p:cNvSpPr/>
          <p:nvPr/>
        </p:nvSpPr>
        <p:spPr>
          <a:xfrm>
            <a:off x="4617668" y="4625172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6FE63E4-392B-0884-9856-E4514C801BAC}"/>
              </a:ext>
            </a:extLst>
          </p:cNvPr>
          <p:cNvSpPr/>
          <p:nvPr/>
        </p:nvSpPr>
        <p:spPr>
          <a:xfrm>
            <a:off x="3556087" y="5076975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8D8B208-3967-3165-6F6F-A470F5873427}"/>
              </a:ext>
            </a:extLst>
          </p:cNvPr>
          <p:cNvSpPr/>
          <p:nvPr/>
        </p:nvSpPr>
        <p:spPr>
          <a:xfrm>
            <a:off x="3915951" y="5528778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8A7F40B-D3CB-EB59-19FB-B59095971076}"/>
              </a:ext>
            </a:extLst>
          </p:cNvPr>
          <p:cNvCxnSpPr>
            <a:stCxn id="74" idx="7"/>
            <a:endCxn id="48" idx="3"/>
          </p:cNvCxnSpPr>
          <p:nvPr/>
        </p:nvCxnSpPr>
        <p:spPr>
          <a:xfrm flipV="1">
            <a:off x="3185267" y="2998361"/>
            <a:ext cx="1513655" cy="302354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2A59F73-FCF1-1B99-D6D7-9E2FE2875785}"/>
              </a:ext>
            </a:extLst>
          </p:cNvPr>
          <p:cNvCxnSpPr>
            <a:stCxn id="74" idx="4"/>
            <a:endCxn id="75" idx="0"/>
          </p:cNvCxnSpPr>
          <p:nvPr/>
        </p:nvCxnSpPr>
        <p:spPr>
          <a:xfrm>
            <a:off x="3110653" y="3481116"/>
            <a:ext cx="534760" cy="240450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13D22EF-48FD-B4F6-C436-625CCAE444D1}"/>
              </a:ext>
            </a:extLst>
          </p:cNvPr>
          <p:cNvCxnSpPr>
            <a:stCxn id="75" idx="4"/>
            <a:endCxn id="76" idx="0"/>
          </p:cNvCxnSpPr>
          <p:nvPr/>
        </p:nvCxnSpPr>
        <p:spPr>
          <a:xfrm>
            <a:off x="3645413" y="3932919"/>
            <a:ext cx="626251" cy="240450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9C8EF9A-48D5-CAA3-4528-127A51DED359}"/>
              </a:ext>
            </a:extLst>
          </p:cNvPr>
          <p:cNvCxnSpPr>
            <a:stCxn id="76" idx="4"/>
            <a:endCxn id="52" idx="0"/>
          </p:cNvCxnSpPr>
          <p:nvPr/>
        </p:nvCxnSpPr>
        <p:spPr>
          <a:xfrm>
            <a:off x="4271664" y="4384722"/>
            <a:ext cx="1016149" cy="240450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DB22908-B121-418A-540C-9C0631D3217C}"/>
              </a:ext>
            </a:extLst>
          </p:cNvPr>
          <p:cNvCxnSpPr>
            <a:stCxn id="52" idx="3"/>
            <a:endCxn id="78" idx="7"/>
          </p:cNvCxnSpPr>
          <p:nvPr/>
        </p:nvCxnSpPr>
        <p:spPr>
          <a:xfrm flipH="1">
            <a:off x="3736223" y="4805573"/>
            <a:ext cx="1476975" cy="302354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9EAD36-2E6C-5981-3A62-98B9F04D9498}"/>
              </a:ext>
            </a:extLst>
          </p:cNvPr>
          <p:cNvCxnSpPr>
            <a:stCxn id="69" idx="1"/>
            <a:endCxn id="78" idx="5"/>
          </p:cNvCxnSpPr>
          <p:nvPr/>
        </p:nvCxnSpPr>
        <p:spPr>
          <a:xfrm flipH="1" flipV="1">
            <a:off x="3736223" y="5257376"/>
            <a:ext cx="1500107" cy="302354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C7B3C89-947E-98D4-DC38-A0870E4649C8}"/>
              </a:ext>
            </a:extLst>
          </p:cNvPr>
          <p:cNvCxnSpPr>
            <a:stCxn id="69" idx="2"/>
            <a:endCxn id="70" idx="6"/>
          </p:cNvCxnSpPr>
          <p:nvPr/>
        </p:nvCxnSpPr>
        <p:spPr>
          <a:xfrm flipH="1">
            <a:off x="3551206" y="5634455"/>
            <a:ext cx="1654217" cy="451801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591E556-86A0-BE38-9312-599627442B8B}"/>
              </a:ext>
            </a:extLst>
          </p:cNvPr>
          <p:cNvCxnSpPr>
            <a:cxnSpLocks/>
            <a:endCxn id="79" idx="2"/>
          </p:cNvCxnSpPr>
          <p:nvPr/>
        </p:nvCxnSpPr>
        <p:spPr>
          <a:xfrm flipH="1" flipV="1">
            <a:off x="3915951" y="5634455"/>
            <a:ext cx="847412" cy="460339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025ADF2-3D69-301B-6CFF-E2394F79192A}"/>
              </a:ext>
            </a:extLst>
          </p:cNvPr>
          <p:cNvCxnSpPr>
            <a:stCxn id="53" idx="4"/>
            <a:endCxn id="79" idx="0"/>
          </p:cNvCxnSpPr>
          <p:nvPr/>
        </p:nvCxnSpPr>
        <p:spPr>
          <a:xfrm flipH="1">
            <a:off x="4021473" y="5288328"/>
            <a:ext cx="749022" cy="24045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69A57CA-14CD-FF1A-B24F-6244CAC49FA7}"/>
              </a:ext>
            </a:extLst>
          </p:cNvPr>
          <p:cNvCxnSpPr>
            <a:stCxn id="77" idx="4"/>
            <a:endCxn id="53" idx="0"/>
          </p:cNvCxnSpPr>
          <p:nvPr/>
        </p:nvCxnSpPr>
        <p:spPr>
          <a:xfrm>
            <a:off x="4723190" y="4836525"/>
            <a:ext cx="47305" cy="24045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1F1EBCC-932E-7BCE-B8AA-E967BC22E7D5}"/>
              </a:ext>
            </a:extLst>
          </p:cNvPr>
          <p:cNvCxnSpPr>
            <a:stCxn id="51" idx="4"/>
            <a:endCxn id="77" idx="0"/>
          </p:cNvCxnSpPr>
          <p:nvPr/>
        </p:nvCxnSpPr>
        <p:spPr>
          <a:xfrm>
            <a:off x="3126172" y="4384722"/>
            <a:ext cx="1597018" cy="24045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B7CC837-49E5-EC28-337B-923D8A55A6B3}"/>
              </a:ext>
            </a:extLst>
          </p:cNvPr>
          <p:cNvCxnSpPr>
            <a:cxnSpLocks/>
            <a:stCxn id="50" idx="4"/>
            <a:endCxn id="51" idx="7"/>
          </p:cNvCxnSpPr>
          <p:nvPr/>
        </p:nvCxnSpPr>
        <p:spPr>
          <a:xfrm flipH="1">
            <a:off x="3200786" y="3932919"/>
            <a:ext cx="2102652" cy="271402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A6CD5D9-5E8A-BF39-42F9-39EA6A13807A}"/>
              </a:ext>
            </a:extLst>
          </p:cNvPr>
          <p:cNvCxnSpPr>
            <a:cxnSpLocks/>
            <a:stCxn id="50" idx="0"/>
            <a:endCxn id="49" idx="4"/>
          </p:cNvCxnSpPr>
          <p:nvPr/>
        </p:nvCxnSpPr>
        <p:spPr>
          <a:xfrm flipV="1">
            <a:off x="5303438" y="3481116"/>
            <a:ext cx="58700" cy="24045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C8A0864-E8EE-E117-9CFE-2054BA2FFE56}"/>
              </a:ext>
            </a:extLst>
          </p:cNvPr>
          <p:cNvCxnSpPr>
            <a:stCxn id="73" idx="4"/>
            <a:endCxn id="49" idx="0"/>
          </p:cNvCxnSpPr>
          <p:nvPr/>
        </p:nvCxnSpPr>
        <p:spPr>
          <a:xfrm>
            <a:off x="3720865" y="3029313"/>
            <a:ext cx="1641273" cy="24045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B6D09D3-A1B0-C856-117F-9961ECC95000}"/>
              </a:ext>
            </a:extLst>
          </p:cNvPr>
          <p:cNvCxnSpPr>
            <a:stCxn id="73" idx="7"/>
            <a:endCxn id="47" idx="3"/>
          </p:cNvCxnSpPr>
          <p:nvPr/>
        </p:nvCxnSpPr>
        <p:spPr>
          <a:xfrm flipH="1" flipV="1">
            <a:off x="3553264" y="2546558"/>
            <a:ext cx="242215" cy="302354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</p:cxnSp>
      <p:sp>
        <p:nvSpPr>
          <p:cNvPr id="98" name="TextBox 59">
            <a:extLst>
              <a:ext uri="{FF2B5EF4-FFF2-40B4-BE49-F238E27FC236}">
                <a16:creationId xmlns:a16="http://schemas.microsoft.com/office/drawing/2014/main" id="{49C1EC64-F28D-207F-770F-180F3D4A0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5542121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/>
              <a:t>[Buying criteria X]</a:t>
            </a:r>
            <a:endParaRPr lang="en-GB" sz="1200" dirty="0">
              <a:cs typeface="Arial" charset="0"/>
            </a:endParaRPr>
          </a:p>
        </p:txBody>
      </p:sp>
      <p:sp>
        <p:nvSpPr>
          <p:cNvPr id="99" name="TextBox 60">
            <a:extLst>
              <a:ext uri="{FF2B5EF4-FFF2-40B4-BE49-F238E27FC236}">
                <a16:creationId xmlns:a16="http://schemas.microsoft.com/office/drawing/2014/main" id="{EA4F9119-BE52-43AE-F6EE-A48057071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2831303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>
                <a:cs typeface="Arial" charset="0"/>
              </a:rPr>
              <a:t>Brand</a:t>
            </a:r>
          </a:p>
        </p:txBody>
      </p:sp>
      <p:sp>
        <p:nvSpPr>
          <p:cNvPr id="100" name="TextBox 61">
            <a:extLst>
              <a:ext uri="{FF2B5EF4-FFF2-40B4-BE49-F238E27FC236}">
                <a16:creationId xmlns:a16="http://schemas.microsoft.com/office/drawing/2014/main" id="{0E86E1C6-09C1-CD82-6D56-576823976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3283106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>
                <a:cs typeface="Arial" charset="0"/>
              </a:rPr>
              <a:t>Delivery</a:t>
            </a:r>
          </a:p>
        </p:txBody>
      </p:sp>
      <p:sp>
        <p:nvSpPr>
          <p:cNvPr id="101" name="TextBox 62">
            <a:extLst>
              <a:ext uri="{FF2B5EF4-FFF2-40B4-BE49-F238E27FC236}">
                <a16:creationId xmlns:a16="http://schemas.microsoft.com/office/drawing/2014/main" id="{5797DC29-A166-B4AD-4449-591E039A6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4638515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/>
              <a:t>[Buying criteria X]</a:t>
            </a:r>
            <a:endParaRPr lang="en-GB" sz="1200" dirty="0">
              <a:cs typeface="Arial" charset="0"/>
            </a:endParaRPr>
          </a:p>
        </p:txBody>
      </p:sp>
      <p:sp>
        <p:nvSpPr>
          <p:cNvPr id="102" name="TextBox 63">
            <a:extLst>
              <a:ext uri="{FF2B5EF4-FFF2-40B4-BE49-F238E27FC236}">
                <a16:creationId xmlns:a16="http://schemas.microsoft.com/office/drawing/2014/main" id="{46B058EC-13A0-9279-8511-F61ECEEFB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3734909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>
                <a:cs typeface="Arial" charset="0"/>
              </a:rPr>
              <a:t>Customer service</a:t>
            </a:r>
          </a:p>
        </p:txBody>
      </p:sp>
      <p:sp>
        <p:nvSpPr>
          <p:cNvPr id="103" name="TextBox 64">
            <a:extLst>
              <a:ext uri="{FF2B5EF4-FFF2-40B4-BE49-F238E27FC236}">
                <a16:creationId xmlns:a16="http://schemas.microsoft.com/office/drawing/2014/main" id="{A577738A-C965-08FA-194B-EB213A88F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4186712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>
                <a:cs typeface="Arial" charset="0"/>
              </a:rPr>
              <a:t>Range of products</a:t>
            </a:r>
          </a:p>
        </p:txBody>
      </p:sp>
      <p:sp>
        <p:nvSpPr>
          <p:cNvPr id="104" name="TextBox 65">
            <a:extLst>
              <a:ext uri="{FF2B5EF4-FFF2-40B4-BE49-F238E27FC236}">
                <a16:creationId xmlns:a16="http://schemas.microsoft.com/office/drawing/2014/main" id="{42A7C313-9184-F541-348B-A6C6D36F4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5993922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/>
              <a:t>[Buying criteria X]</a:t>
            </a:r>
            <a:endParaRPr lang="en-GB" sz="1200" dirty="0">
              <a:cs typeface="Arial" charset="0"/>
            </a:endParaRPr>
          </a:p>
        </p:txBody>
      </p:sp>
      <p:sp>
        <p:nvSpPr>
          <p:cNvPr id="105" name="TextBox 70">
            <a:extLst>
              <a:ext uri="{FF2B5EF4-FFF2-40B4-BE49-F238E27FC236}">
                <a16:creationId xmlns:a16="http://schemas.microsoft.com/office/drawing/2014/main" id="{C6949FCF-A33D-C65B-886A-C2464096B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5090318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/>
              <a:t>[Buying criteria X]</a:t>
            </a:r>
            <a:endParaRPr lang="en-GB" sz="1200" dirty="0">
              <a:cs typeface="Arial" charset="0"/>
            </a:endParaRPr>
          </a:p>
        </p:txBody>
      </p:sp>
      <p:sp>
        <p:nvSpPr>
          <p:cNvPr id="106" name="TextBox 60">
            <a:extLst>
              <a:ext uri="{FF2B5EF4-FFF2-40B4-BE49-F238E27FC236}">
                <a16:creationId xmlns:a16="http://schemas.microsoft.com/office/drawing/2014/main" id="{88DF0449-84BB-D0A4-9217-C9DBB3306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579" y="2379500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>
                <a:cs typeface="Arial" charset="0"/>
              </a:rPr>
              <a:t>Price</a:t>
            </a: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F959508A-3155-A02A-5B7F-A3B63B88B2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9979" y="2016260"/>
            <a:ext cx="19786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0" dirty="0"/>
              <a:t>Customer buying criteria</a:t>
            </a:r>
          </a:p>
        </p:txBody>
      </p:sp>
      <p:sp>
        <p:nvSpPr>
          <p:cNvPr id="108" name="Line 19">
            <a:extLst>
              <a:ext uri="{FF2B5EF4-FFF2-40B4-BE49-F238E27FC236}">
                <a16:creationId xmlns:a16="http://schemas.microsoft.com/office/drawing/2014/main" id="{E5D54FDD-4887-D64A-25F9-4E9D907CC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9131" y="1910376"/>
            <a:ext cx="0" cy="4428000"/>
          </a:xfrm>
          <a:prstGeom prst="lin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12" name="Line 23">
            <a:extLst>
              <a:ext uri="{FF2B5EF4-FFF2-40B4-BE49-F238E27FC236}">
                <a16:creationId xmlns:a16="http://schemas.microsoft.com/office/drawing/2014/main" id="{A518F635-4B65-7D80-22F4-9589DE301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6823" y="1910376"/>
            <a:ext cx="0" cy="4428000"/>
          </a:xfrm>
          <a:prstGeom prst="lin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14" name="Rectangle 26">
            <a:extLst>
              <a:ext uri="{FF2B5EF4-FFF2-40B4-BE49-F238E27FC236}">
                <a16:creationId xmlns:a16="http://schemas.microsoft.com/office/drawing/2014/main" id="{F7A84E3C-7871-2F6A-CA98-EBB8EB230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4046" y="2014003"/>
            <a:ext cx="361377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1</a:t>
            </a:r>
          </a:p>
        </p:txBody>
      </p:sp>
      <p:sp>
        <p:nvSpPr>
          <p:cNvPr id="115" name="Rectangle 29">
            <a:extLst>
              <a:ext uri="{FF2B5EF4-FFF2-40B4-BE49-F238E27FC236}">
                <a16:creationId xmlns:a16="http://schemas.microsoft.com/office/drawing/2014/main" id="{5219312A-153F-A57C-B019-46F872753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4417" y="2014003"/>
            <a:ext cx="361377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5</a:t>
            </a:r>
          </a:p>
        </p:txBody>
      </p:sp>
      <p:sp>
        <p:nvSpPr>
          <p:cNvPr id="116" name="Rectangle 30">
            <a:extLst>
              <a:ext uri="{FF2B5EF4-FFF2-40B4-BE49-F238E27FC236}">
                <a16:creationId xmlns:a16="http://schemas.microsoft.com/office/drawing/2014/main" id="{C1D5AF14-EF28-D424-0E9B-02BCD0832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9324" y="2014003"/>
            <a:ext cx="361377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4</a:t>
            </a:r>
          </a:p>
        </p:txBody>
      </p:sp>
      <p:sp>
        <p:nvSpPr>
          <p:cNvPr id="117" name="Rectangle 31">
            <a:extLst>
              <a:ext uri="{FF2B5EF4-FFF2-40B4-BE49-F238E27FC236}">
                <a16:creationId xmlns:a16="http://schemas.microsoft.com/office/drawing/2014/main" id="{2D2E9223-67F0-EC47-2085-93CDF6E2F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231" y="2014003"/>
            <a:ext cx="361377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3</a:t>
            </a:r>
          </a:p>
        </p:txBody>
      </p:sp>
      <p:sp>
        <p:nvSpPr>
          <p:cNvPr id="118" name="Rectangle 32">
            <a:extLst>
              <a:ext uri="{FF2B5EF4-FFF2-40B4-BE49-F238E27FC236}">
                <a16:creationId xmlns:a16="http://schemas.microsoft.com/office/drawing/2014/main" id="{855BD22E-54B4-8498-4FBF-2B1A9D3FE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138" y="2014003"/>
            <a:ext cx="361377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</a:t>
            </a:r>
          </a:p>
        </p:txBody>
      </p:sp>
      <p:sp>
        <p:nvSpPr>
          <p:cNvPr id="119" name="Line 33">
            <a:extLst>
              <a:ext uri="{FF2B5EF4-FFF2-40B4-BE49-F238E27FC236}">
                <a16:creationId xmlns:a16="http://schemas.microsoft.com/office/drawing/2014/main" id="{6093AD07-F859-AD4C-CDBD-3772E5400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7470" y="6328233"/>
            <a:ext cx="289100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0" name="Line 34">
            <a:extLst>
              <a:ext uri="{FF2B5EF4-FFF2-40B4-BE49-F238E27FC236}">
                <a16:creationId xmlns:a16="http://schemas.microsoft.com/office/drawing/2014/main" id="{DF4A3EF7-465C-D253-F241-FBDC4EFAB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7472" y="2204391"/>
            <a:ext cx="289100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1" name="Line 33">
            <a:extLst>
              <a:ext uri="{FF2B5EF4-FFF2-40B4-BE49-F238E27FC236}">
                <a16:creationId xmlns:a16="http://schemas.microsoft.com/office/drawing/2014/main" id="{D0499561-6322-A7F5-49CC-84E0DB65A2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7472" y="1910376"/>
            <a:ext cx="289100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565C676-9682-DDB2-CC79-4760D9CF4C11}"/>
              </a:ext>
            </a:extLst>
          </p:cNvPr>
          <p:cNvCxnSpPr>
            <a:cxnSpLocks/>
          </p:cNvCxnSpPr>
          <p:nvPr/>
        </p:nvCxnSpPr>
        <p:spPr>
          <a:xfrm>
            <a:off x="655249" y="2428839"/>
            <a:ext cx="0" cy="3614422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60">
            <a:extLst>
              <a:ext uri="{FF2B5EF4-FFF2-40B4-BE49-F238E27FC236}">
                <a16:creationId xmlns:a16="http://schemas.microsoft.com/office/drawing/2014/main" id="{018437B1-859C-B203-C101-2E03D1C898A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551671" y="4143717"/>
            <a:ext cx="2401887" cy="18466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>
                <a:cs typeface="Arial" charset="0"/>
              </a:rPr>
              <a:t>Ranking by importance to customer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11BD934-E8B8-B614-19D3-6B0E39D2587B}"/>
              </a:ext>
            </a:extLst>
          </p:cNvPr>
          <p:cNvSpPr/>
          <p:nvPr/>
        </p:nvSpPr>
        <p:spPr>
          <a:xfrm>
            <a:off x="7763905" y="1421892"/>
            <a:ext cx="13356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Main findings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612B0-BCAB-EE8E-C1D1-838AC750CD1C}"/>
              </a:ext>
            </a:extLst>
          </p:cNvPr>
          <p:cNvSpPr/>
          <p:nvPr/>
        </p:nvSpPr>
        <p:spPr>
          <a:xfrm>
            <a:off x="7763905" y="1818238"/>
            <a:ext cx="3877231" cy="4506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/>
                </a:solidFill>
              </a:rPr>
              <a:t>[Insert main findings]</a:t>
            </a:r>
            <a:endParaRPr lang="en-DK" sz="1200" dirty="0">
              <a:solidFill>
                <a:schemeClr val="tx1"/>
              </a:solidFill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47E36B0D-08B6-85E8-33AC-0D198865672E}"/>
              </a:ext>
            </a:extLst>
          </p:cNvPr>
          <p:cNvSpPr/>
          <p:nvPr/>
        </p:nvSpPr>
        <p:spPr>
          <a:xfrm>
            <a:off x="5853105" y="1914357"/>
            <a:ext cx="211043" cy="211353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386A4B4D-EDFA-2128-34AA-0EB960F9F7A2}"/>
              </a:ext>
            </a:extLst>
          </p:cNvPr>
          <p:cNvSpPr/>
          <p:nvPr/>
        </p:nvSpPr>
        <p:spPr>
          <a:xfrm>
            <a:off x="5853105" y="2237246"/>
            <a:ext cx="211043" cy="211353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5" name="TextBox 60">
            <a:extLst>
              <a:ext uri="{FF2B5EF4-FFF2-40B4-BE49-F238E27FC236}">
                <a16:creationId xmlns:a16="http://schemas.microsoft.com/office/drawing/2014/main" id="{D273F8DB-14BE-461B-AB0B-389D46FDD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473" y="1927700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>
                <a:cs typeface="Arial" charset="0"/>
              </a:rPr>
              <a:t>Company</a:t>
            </a:r>
          </a:p>
        </p:txBody>
      </p:sp>
      <p:sp>
        <p:nvSpPr>
          <p:cNvPr id="136" name="TextBox 60">
            <a:extLst>
              <a:ext uri="{FF2B5EF4-FFF2-40B4-BE49-F238E27FC236}">
                <a16:creationId xmlns:a16="http://schemas.microsoft.com/office/drawing/2014/main" id="{B09076A4-CDFA-DFEA-CEA5-E74395B31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473" y="2250589"/>
            <a:ext cx="17300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GB" sz="1200" dirty="0">
                <a:cs typeface="Arial" charset="0"/>
              </a:rPr>
              <a:t>Peer group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AA206E4-D0CE-8F4F-BC34-7761F97FD3D6}"/>
              </a:ext>
            </a:extLst>
          </p:cNvPr>
          <p:cNvGrpSpPr/>
          <p:nvPr/>
        </p:nvGrpSpPr>
        <p:grpSpPr>
          <a:xfrm>
            <a:off x="7049345" y="2290131"/>
            <a:ext cx="410399" cy="3384000"/>
            <a:chOff x="5901553" y="1737000"/>
            <a:chExt cx="410399" cy="3384000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90B1ED5-4321-7D4A-8F3C-104F7DC514D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737000"/>
              <a:ext cx="0" cy="3384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68E92A2-4716-E84F-AEB3-682DF1400218}"/>
                </a:ext>
              </a:extLst>
            </p:cNvPr>
            <p:cNvSpPr/>
            <p:nvPr/>
          </p:nvSpPr>
          <p:spPr>
            <a:xfrm>
              <a:off x="5901553" y="3223260"/>
              <a:ext cx="410399" cy="4114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8" name="Triangle 127">
              <a:extLst>
                <a:ext uri="{FF2B5EF4-FFF2-40B4-BE49-F238E27FC236}">
                  <a16:creationId xmlns:a16="http://schemas.microsoft.com/office/drawing/2014/main" id="{E70AD5DD-8D20-9C49-B4EE-4D2CFE7342ED}"/>
                </a:ext>
              </a:extLst>
            </p:cNvPr>
            <p:cNvSpPr/>
            <p:nvPr/>
          </p:nvSpPr>
          <p:spPr>
            <a:xfrm rot="5400000">
              <a:off x="5976930" y="3353720"/>
              <a:ext cx="259644" cy="150560"/>
            </a:xfrm>
            <a:prstGeom prst="triangl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1670FC9-2D9D-1E4E-867D-4ECDADE00118}"/>
                </a:ext>
              </a:extLst>
            </p:cNvPr>
            <p:cNvSpPr/>
            <p:nvPr/>
          </p:nvSpPr>
          <p:spPr>
            <a:xfrm>
              <a:off x="6017360" y="3282939"/>
              <a:ext cx="46376" cy="300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6AD85B13-6E88-9CDB-05E2-DA04D23EA9F8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61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4E9833-DD52-7E34-E139-F3155CA0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[Insert company] is positioned in the same [insert] segment as [insert competitor] and [insert competitor]</a:t>
            </a:r>
          </a:p>
        </p:txBody>
      </p:sp>
      <p:sp>
        <p:nvSpPr>
          <p:cNvPr id="22" name="Subtitle 21">
            <a:extLst>
              <a:ext uri="{FF2B5EF4-FFF2-40B4-BE49-F238E27FC236}">
                <a16:creationId xmlns:a16="http://schemas.microsoft.com/office/drawing/2014/main" id="{267BD4C2-45F4-B09C-0AF7-C8D42C790E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B92E9B2-DF60-8D42-A5BF-32722ED7F2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35AD8-C16E-7171-0987-659953CBDE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90338" y="6410325"/>
            <a:ext cx="601662" cy="238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5D071-114D-6740-ACBA-997E6BB584AE}" type="slidenum">
              <a:rPr kumimoji="0" lang="da-DK" altLang="en-US" sz="18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a-DK" alt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9B6417-92E4-E15A-3B1A-5FACF1B0D4D2}"/>
              </a:ext>
            </a:extLst>
          </p:cNvPr>
          <p:cNvSpPr txBox="1"/>
          <p:nvPr/>
        </p:nvSpPr>
        <p:spPr>
          <a:xfrm>
            <a:off x="558609" y="1780461"/>
            <a:ext cx="649372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Positioning of main [insert] players in [insert market]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EE3AC9-7019-D7F6-7848-6A52B6439D90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649471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D1E095C-48C8-94E3-71AB-4FA8B1F316FC}"/>
              </a:ext>
            </a:extLst>
          </p:cNvPr>
          <p:cNvSpPr txBox="1"/>
          <p:nvPr/>
        </p:nvSpPr>
        <p:spPr>
          <a:xfrm>
            <a:off x="7462738" y="1780461"/>
            <a:ext cx="4178400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B00957-AE24-269F-C330-DF5A7E0D79B2}"/>
              </a:ext>
            </a:extLst>
          </p:cNvPr>
          <p:cNvCxnSpPr>
            <a:cxnSpLocks/>
          </p:cNvCxnSpPr>
          <p:nvPr/>
        </p:nvCxnSpPr>
        <p:spPr>
          <a:xfrm>
            <a:off x="7462737" y="2292428"/>
            <a:ext cx="4178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B927290-6BED-E025-EAF8-742D41744AAF}"/>
              </a:ext>
            </a:extLst>
          </p:cNvPr>
          <p:cNvSpPr txBox="1"/>
          <p:nvPr/>
        </p:nvSpPr>
        <p:spPr>
          <a:xfrm>
            <a:off x="7578157" y="2427691"/>
            <a:ext cx="405910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latin typeface="Arial" panose="020B0604020202020204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1195E1-EDB9-5273-A747-E4A7C105F3B8}"/>
              </a:ext>
            </a:extLst>
          </p:cNvPr>
          <p:cNvCxnSpPr>
            <a:cxnSpLocks/>
          </p:cNvCxnSpPr>
          <p:nvPr/>
        </p:nvCxnSpPr>
        <p:spPr>
          <a:xfrm>
            <a:off x="7257537" y="2292677"/>
            <a:ext cx="0" cy="384048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A24DB3-7809-0FB3-7F4E-FE3E5BB25005}"/>
              </a:ext>
            </a:extLst>
          </p:cNvPr>
          <p:cNvGrpSpPr/>
          <p:nvPr/>
        </p:nvGrpSpPr>
        <p:grpSpPr>
          <a:xfrm>
            <a:off x="7052338" y="4007177"/>
            <a:ext cx="410399" cy="411480"/>
            <a:chOff x="5945672" y="4205532"/>
            <a:chExt cx="410399" cy="411480"/>
          </a:xfrm>
          <a:solidFill>
            <a:schemeClr val="accent2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B64D22-EE17-EB00-E215-EB168E700285}"/>
                </a:ext>
              </a:extLst>
            </p:cNvPr>
            <p:cNvSpPr/>
            <p:nvPr/>
          </p:nvSpPr>
          <p:spPr>
            <a:xfrm>
              <a:off x="5945672" y="4205532"/>
              <a:ext cx="410399" cy="4114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C360EF7C-E382-3588-F1E0-507B0EE7DCDB}"/>
                </a:ext>
              </a:extLst>
            </p:cNvPr>
            <p:cNvSpPr/>
            <p:nvPr/>
          </p:nvSpPr>
          <p:spPr>
            <a:xfrm rot="5400000">
              <a:off x="6032808" y="4333088"/>
              <a:ext cx="259644" cy="150560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09E3D1F-9E06-394C-F4A9-7FA0861FD9C3}"/>
                </a:ext>
              </a:extLst>
            </p:cNvPr>
            <p:cNvSpPr/>
            <p:nvPr/>
          </p:nvSpPr>
          <p:spPr>
            <a:xfrm>
              <a:off x="6061092" y="4266956"/>
              <a:ext cx="46376" cy="300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Rectangle 13">
            <a:extLst>
              <a:ext uri="{FF2B5EF4-FFF2-40B4-BE49-F238E27FC236}">
                <a16:creationId xmlns:a16="http://schemas.microsoft.com/office/drawing/2014/main" id="{1FD641DA-7EA7-BAB3-E040-931B50A5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0962" y="2472454"/>
            <a:ext cx="5402057" cy="32226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SzPct val="80000"/>
            </a:pPr>
            <a:endParaRPr lang="en-US" sz="1000" b="1">
              <a:latin typeface="Verdana" panose="020B0604030504040204" pitchFamily="34" charset="0"/>
            </a:endParaRPr>
          </a:p>
        </p:txBody>
      </p:sp>
      <p:sp>
        <p:nvSpPr>
          <p:cNvPr id="37" name="Line 14">
            <a:extLst>
              <a:ext uri="{FF2B5EF4-FFF2-40B4-BE49-F238E27FC236}">
                <a16:creationId xmlns:a16="http://schemas.microsoft.com/office/drawing/2014/main" id="{A2F6BF76-D255-5CC1-1564-B9C70CA4D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0962" y="4083766"/>
            <a:ext cx="5400531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SzPct val="80000"/>
            </a:pPr>
            <a:endParaRPr lang="en-US" sz="1000" b="1">
              <a:latin typeface="Verdana" panose="020B0604030504040204" pitchFamily="34" charset="0"/>
            </a:endParaRPr>
          </a:p>
        </p:txBody>
      </p:sp>
      <p:sp>
        <p:nvSpPr>
          <p:cNvPr id="38" name="Line 15">
            <a:extLst>
              <a:ext uri="{FF2B5EF4-FFF2-40B4-BE49-F238E27FC236}">
                <a16:creationId xmlns:a16="http://schemas.microsoft.com/office/drawing/2014/main" id="{38F24E62-1A6C-48B1-E216-849CA86A3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1990" y="2472454"/>
            <a:ext cx="0" cy="322262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SzPct val="80000"/>
            </a:pPr>
            <a:endParaRPr lang="en-US" sz="1000" b="1">
              <a:latin typeface="Verdana" panose="020B0604030504040204" pitchFamily="34" charset="0"/>
            </a:endParaRPr>
          </a:p>
        </p:txBody>
      </p:sp>
      <p:sp>
        <p:nvSpPr>
          <p:cNvPr id="40" name="Line 16">
            <a:extLst>
              <a:ext uri="{FF2B5EF4-FFF2-40B4-BE49-F238E27FC236}">
                <a16:creationId xmlns:a16="http://schemas.microsoft.com/office/drawing/2014/main" id="{BD29147E-7E9A-0394-5A4A-B78B0E021720}"/>
              </a:ext>
            </a:extLst>
          </p:cNvPr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1209436" y="5914070"/>
            <a:ext cx="542984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SzPct val="80000"/>
            </a:pPr>
            <a:endParaRPr lang="en-US" sz="1000" b="1">
              <a:latin typeface="Verdana" panose="020B0604030504040204" pitchFamily="34" charset="0"/>
            </a:endParaRPr>
          </a:p>
        </p:txBody>
      </p:sp>
      <p:sp>
        <p:nvSpPr>
          <p:cNvPr id="41" name="AutoShape 17">
            <a:extLst>
              <a:ext uri="{FF2B5EF4-FFF2-40B4-BE49-F238E27FC236}">
                <a16:creationId xmlns:a16="http://schemas.microsoft.com/office/drawing/2014/main" id="{1C9D17AA-6F02-C9E3-32F4-1375F8B9CB0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808358" y="5828333"/>
            <a:ext cx="2232000" cy="1714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80000"/>
            </a:pP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[Insert dimension e.g., brand]</a:t>
            </a:r>
          </a:p>
        </p:txBody>
      </p:sp>
      <p:sp>
        <p:nvSpPr>
          <p:cNvPr id="42" name="Line 16">
            <a:extLst>
              <a:ext uri="{FF2B5EF4-FFF2-40B4-BE49-F238E27FC236}">
                <a16:creationId xmlns:a16="http://schemas.microsoft.com/office/drawing/2014/main" id="{371DD0BC-5BDC-863F-52FD-24FFBD20E3CD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 flipV="1">
            <a:off x="964411" y="2472454"/>
            <a:ext cx="1517" cy="32226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SzPct val="80000"/>
            </a:pPr>
            <a:endParaRPr lang="en-US" sz="1000" b="1">
              <a:latin typeface="Verdana" panose="020B0604030504040204" pitchFamily="34" charset="0"/>
            </a:endParaRPr>
          </a:p>
        </p:txBody>
      </p:sp>
      <p:sp>
        <p:nvSpPr>
          <p:cNvPr id="43" name="AutoShape 17">
            <a:extLst>
              <a:ext uri="{FF2B5EF4-FFF2-40B4-BE49-F238E27FC236}">
                <a16:creationId xmlns:a16="http://schemas.microsoft.com/office/drawing/2014/main" id="{8B4D7FD0-A323-4D92-1FF4-55587449E787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-96830" y="3998029"/>
            <a:ext cx="2124000" cy="1714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SzPct val="80000"/>
            </a:pP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[Insert dimension e.g., price]</a:t>
            </a:r>
          </a:p>
        </p:txBody>
      </p:sp>
      <p:sp>
        <p:nvSpPr>
          <p:cNvPr id="44" name="Text Box 8">
            <a:extLst>
              <a:ext uri="{FF2B5EF4-FFF2-40B4-BE49-F238E27FC236}">
                <a16:creationId xmlns:a16="http://schemas.microsoft.com/office/drawing/2014/main" id="{5ADD8CBF-49B8-BCE4-D39A-4CDFFBE7B233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09436" y="5964826"/>
            <a:ext cx="977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</a:t>
            </a:r>
          </a:p>
        </p:txBody>
      </p:sp>
      <p:sp>
        <p:nvSpPr>
          <p:cNvPr id="45" name="Text Box 9">
            <a:extLst>
              <a:ext uri="{FF2B5EF4-FFF2-40B4-BE49-F238E27FC236}">
                <a16:creationId xmlns:a16="http://schemas.microsoft.com/office/drawing/2014/main" id="{D625365D-279F-FA88-5E86-7374E7F3780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47382" y="2472454"/>
            <a:ext cx="476711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</a:t>
            </a:r>
          </a:p>
        </p:txBody>
      </p:sp>
      <p:sp>
        <p:nvSpPr>
          <p:cNvPr id="46" name="Text Box 10">
            <a:extLst>
              <a:ext uri="{FF2B5EF4-FFF2-40B4-BE49-F238E27FC236}">
                <a16:creationId xmlns:a16="http://schemas.microsoft.com/office/drawing/2014/main" id="{E03A9435-F6CB-0119-4D98-D60F0E2C44E3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76701" y="5450603"/>
            <a:ext cx="44739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47" name="Text Box 11">
            <a:extLst>
              <a:ext uri="{FF2B5EF4-FFF2-40B4-BE49-F238E27FC236}">
                <a16:creationId xmlns:a16="http://schemas.microsoft.com/office/drawing/2014/main" id="{B7184662-6973-68BB-51CE-D8D70DB3D8BA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604230" y="5964826"/>
            <a:ext cx="10350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CE3CDA-4238-5ECA-1E19-4AF426B31587}"/>
              </a:ext>
            </a:extLst>
          </p:cNvPr>
          <p:cNvSpPr/>
          <p:nvPr/>
        </p:nvSpPr>
        <p:spPr>
          <a:xfrm>
            <a:off x="5466470" y="2731362"/>
            <a:ext cx="1104307" cy="431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9F2BBBF-AE88-26CF-6C95-FDDCE8DB46AC}"/>
              </a:ext>
            </a:extLst>
          </p:cNvPr>
          <p:cNvSpPr/>
          <p:nvPr/>
        </p:nvSpPr>
        <p:spPr>
          <a:xfrm>
            <a:off x="4319921" y="2861762"/>
            <a:ext cx="1104307" cy="431830"/>
          </a:xfrm>
          <a:prstGeom prst="rect">
            <a:avLst/>
          </a:prstGeom>
          <a:solidFill>
            <a:schemeClr val="accent2"/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[Company]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D8B379-8ADC-3A1D-58B3-22677164A280}"/>
              </a:ext>
            </a:extLst>
          </p:cNvPr>
          <p:cNvSpPr/>
          <p:nvPr/>
        </p:nvSpPr>
        <p:spPr>
          <a:xfrm>
            <a:off x="3563700" y="3516324"/>
            <a:ext cx="1104307" cy="431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92CE83-0CE7-6F92-4AFB-D08DCD4CB735}"/>
              </a:ext>
            </a:extLst>
          </p:cNvPr>
          <p:cNvSpPr/>
          <p:nvPr/>
        </p:nvSpPr>
        <p:spPr>
          <a:xfrm>
            <a:off x="1728405" y="5006955"/>
            <a:ext cx="1104307" cy="431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44B28B-DE99-44A5-E751-1DBC48A84A09}"/>
              </a:ext>
            </a:extLst>
          </p:cNvPr>
          <p:cNvSpPr/>
          <p:nvPr/>
        </p:nvSpPr>
        <p:spPr>
          <a:xfrm>
            <a:off x="1733076" y="2897984"/>
            <a:ext cx="1104307" cy="431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8329125-8A3F-EF4B-A7D5-06B299E870C3}"/>
              </a:ext>
            </a:extLst>
          </p:cNvPr>
          <p:cNvSpPr/>
          <p:nvPr/>
        </p:nvSpPr>
        <p:spPr>
          <a:xfrm>
            <a:off x="3019324" y="4459253"/>
            <a:ext cx="1104307" cy="431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16EE61F-A2B3-C9B5-1279-584371DDA5CF}"/>
              </a:ext>
            </a:extLst>
          </p:cNvPr>
          <p:cNvSpPr/>
          <p:nvPr/>
        </p:nvSpPr>
        <p:spPr>
          <a:xfrm>
            <a:off x="4597289" y="2517735"/>
            <a:ext cx="1104307" cy="431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[Competitor]</a:t>
            </a:r>
          </a:p>
        </p:txBody>
      </p:sp>
      <p:sp>
        <p:nvSpPr>
          <p:cNvPr id="7" name="Google Shape;507;p14">
            <a:extLst>
              <a:ext uri="{FF2B5EF4-FFF2-40B4-BE49-F238E27FC236}">
                <a16:creationId xmlns:a16="http://schemas.microsoft.com/office/drawing/2014/main" id="{567B5118-335B-938A-76C7-1AE7067374A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538;p14">
            <a:extLst>
              <a:ext uri="{FF2B5EF4-FFF2-40B4-BE49-F238E27FC236}">
                <a16:creationId xmlns:a16="http://schemas.microsoft.com/office/drawing/2014/main" id="{98C05A22-B59D-4DEE-48D8-D7D7827CF281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9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9F75C8-6678-272B-8BAC-43EB2470C22E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gray">
          <a:xfrm flipV="1">
            <a:off x="1086678" y="2131551"/>
            <a:ext cx="10304133" cy="3474119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91BE2A-EB8E-F06F-0B2E-D2083945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[Bubble chart / Insert action title]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7C67018-0F50-2E45-F865-C32D8A5D54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654F6857-1BFD-E331-ABC4-2AF87C5179BE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7ECA4C63-C65A-8DED-CCC2-BF183CC310D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CCAF05A-91A3-0CB7-D75C-E41593FA9E21}"/>
              </a:ext>
            </a:extLst>
          </p:cNvPr>
          <p:cNvGraphicFramePr/>
          <p:nvPr/>
        </p:nvGraphicFramePr>
        <p:xfrm>
          <a:off x="550863" y="1961733"/>
          <a:ext cx="11090274" cy="3983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551B1-A40E-5B0A-27A3-8F4D63543D5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9342269" y="5975176"/>
            <a:ext cx="2078038" cy="25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da-DK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Graphik Regular" panose="020B0503030202060203" pitchFamily="34" charset="77"/>
              </a:rPr>
              <a:t>[Dimension 2], </a:t>
            </a:r>
            <a:r>
              <a:rPr lang="da-DK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Graphik Regular" panose="020B0503030202060203" pitchFamily="34" charset="77"/>
              </a:rPr>
              <a:t>[Unit]</a:t>
            </a:r>
            <a:endParaRPr lang="da-DK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Graphik Regular" panose="020B0503030202060203" pitchFamily="34" charset="77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9DA030E-8F69-FCA8-8DFA-F91AB3DB8B1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550863" y="1598577"/>
            <a:ext cx="207803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da-DK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Graphik Regular" panose="020B0503030202060203" pitchFamily="34" charset="77"/>
              </a:rPr>
              <a:t>[Dimension 1], </a:t>
            </a:r>
            <a:r>
              <a:rPr lang="da-DK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Graphik Regular" panose="020B0503030202060203" pitchFamily="34" charset="77"/>
              </a:rPr>
              <a:t>[Unit]</a:t>
            </a:r>
            <a:endParaRPr lang="da-DK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Graphik Regular" panose="020B050303020206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FA0735-1EB2-E99B-D98D-0792B0ED9F8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8711073" y="1598577"/>
            <a:ext cx="257175" cy="2571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0DF9D8D-EB31-7E8E-5DAE-665145EC9F4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8968247" y="1631120"/>
            <a:ext cx="2672889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9144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sym typeface="Graphik Regular" panose="020B0503030202060203" pitchFamily="34" charset="77"/>
              </a:rPr>
              <a:t>Size = [Insert dimension]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Graphik Regular" panose="020B0503030202060203" pitchFamily="34" charset="77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18D9AC-4D8C-1A63-E6CC-93EF0ABCEA04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3108122" y="1598577"/>
            <a:ext cx="257175" cy="257175"/>
          </a:xfrm>
          <a:prstGeom prst="ellips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02B6BA3-8778-1F37-6206-BF4E2C4DFE2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3365296" y="1631120"/>
            <a:ext cx="115369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9144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sym typeface="Graphik Regular" panose="020B0503030202060203" pitchFamily="34" charset="77"/>
              </a:rPr>
              <a:t>[Insert group 1]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Graphik Regular" panose="020B0503030202060203" pitchFamily="34" charset="77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BD1AF8E-3D41-363B-AEA7-FA1B8D7B07F1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183932" y="1631120"/>
            <a:ext cx="115369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9144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sym typeface="Graphik Regular" panose="020B0503030202060203" pitchFamily="34" charset="77"/>
              </a:rPr>
              <a:t>[Insert group 2]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Graphik Regular" panose="020B0503030202060203" pitchFamily="34" charset="77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4E78F6-B22E-F174-FA1C-A9CE7E2B818B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7002568" y="1631120"/>
            <a:ext cx="115369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9144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  <a:sym typeface="Graphik Regular" panose="020B0503030202060203" pitchFamily="34" charset="77"/>
              </a:rPr>
              <a:t>[Insert group 3]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  <a:sym typeface="Graphik Regular" panose="020B050303020206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A2A1FA-1A78-5CF8-7D6C-C66F22D76090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4926757" y="1598577"/>
            <a:ext cx="257175" cy="257175"/>
          </a:xfrm>
          <a:prstGeom prst="ellipse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DCE4F6-AC96-709C-06CA-5B567FF07CE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745392" y="1598577"/>
            <a:ext cx="257175" cy="257175"/>
          </a:xfrm>
          <a:prstGeom prst="ellipse">
            <a:avLst/>
          </a:prstGeom>
          <a:solidFill>
            <a:schemeClr val="accent3"/>
          </a:solidFill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1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23CA773-68FA-D983-3F87-2D33FD5C4B8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23CA773-68FA-D983-3F87-2D33FD5C4B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CFEEB34-A92B-82D0-EF26-73D42D91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The competitive landscape for [insert market] is [insert]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5C17602-DB36-AB39-5ECD-3B9A30D4F1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90D63-44F8-16E6-486B-5A80B2EA70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FDA24159-68C6-C74E-975A-6BADA0A5C9BB}"/>
              </a:ext>
            </a:extLst>
          </p:cNvPr>
          <p:cNvGraphicFramePr/>
          <p:nvPr/>
        </p:nvGraphicFramePr>
        <p:xfrm>
          <a:off x="974002" y="2890391"/>
          <a:ext cx="6430018" cy="3089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object 17">
            <a:extLst>
              <a:ext uri="{FF2B5EF4-FFF2-40B4-BE49-F238E27FC236}">
                <a16:creationId xmlns:a16="http://schemas.microsoft.com/office/drawing/2014/main" id="{6785FB39-1298-109B-1036-91BF8511D5BD}"/>
              </a:ext>
            </a:extLst>
          </p:cNvPr>
          <p:cNvSpPr txBox="1"/>
          <p:nvPr/>
        </p:nvSpPr>
        <p:spPr>
          <a:xfrm>
            <a:off x="5310886" y="5959431"/>
            <a:ext cx="17741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2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[Dimension 1]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63B6589C-4DCD-FEF4-9F9F-3D18EE16D4C4}"/>
              </a:ext>
            </a:extLst>
          </p:cNvPr>
          <p:cNvSpPr txBox="1"/>
          <p:nvPr/>
        </p:nvSpPr>
        <p:spPr>
          <a:xfrm rot="5400000">
            <a:off x="669703" y="2971029"/>
            <a:ext cx="369332" cy="70954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[Dimen-sion 2]</a:t>
            </a:r>
            <a:endParaRPr kumimoji="0" lang="en-US" sz="1200" b="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771A0D2-1E01-E34D-164B-3CDE1FA0E64F}"/>
              </a:ext>
            </a:extLst>
          </p:cNvPr>
          <p:cNvSpPr/>
          <p:nvPr/>
        </p:nvSpPr>
        <p:spPr>
          <a:xfrm>
            <a:off x="1325638" y="2770512"/>
            <a:ext cx="139700" cy="13970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1E61D9-1E95-3790-1FAB-65401A4A8ACC}"/>
              </a:ext>
            </a:extLst>
          </p:cNvPr>
          <p:cNvSpPr>
            <a:spLocks/>
          </p:cNvSpPr>
          <p:nvPr/>
        </p:nvSpPr>
        <p:spPr>
          <a:xfrm>
            <a:off x="1530406" y="2748029"/>
            <a:ext cx="641201" cy="18466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A7F2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[Group 1]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409954E-EC43-4F80-E485-52FEE2B635E4}"/>
              </a:ext>
            </a:extLst>
          </p:cNvPr>
          <p:cNvSpPr>
            <a:spLocks/>
          </p:cNvSpPr>
          <p:nvPr/>
        </p:nvSpPr>
        <p:spPr>
          <a:xfrm>
            <a:off x="3309657" y="2748029"/>
            <a:ext cx="641201" cy="18466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A7F2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[Group 2]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687D95-D415-90FC-35A2-72C101DAA241}"/>
              </a:ext>
            </a:extLst>
          </p:cNvPr>
          <p:cNvSpPr/>
          <p:nvPr/>
        </p:nvSpPr>
        <p:spPr>
          <a:xfrm>
            <a:off x="3096760" y="2770512"/>
            <a:ext cx="139700" cy="139700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8B4386-EE11-826A-2630-CA405DB961E7}"/>
              </a:ext>
            </a:extLst>
          </p:cNvPr>
          <p:cNvSpPr txBox="1"/>
          <p:nvPr/>
        </p:nvSpPr>
        <p:spPr>
          <a:xfrm>
            <a:off x="554736" y="1750107"/>
            <a:ext cx="7167319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[Description/takeaway from graph]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EC1DA1-AFD8-6E84-094E-84127E0F8D64}"/>
              </a:ext>
            </a:extLst>
          </p:cNvPr>
          <p:cNvCxnSpPr>
            <a:cxnSpLocks/>
          </p:cNvCxnSpPr>
          <p:nvPr/>
        </p:nvCxnSpPr>
        <p:spPr>
          <a:xfrm>
            <a:off x="554736" y="2262074"/>
            <a:ext cx="716840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DCEDC7B-5302-2AB4-49AE-5D22725E9BE7}"/>
              </a:ext>
            </a:extLst>
          </p:cNvPr>
          <p:cNvSpPr txBox="1"/>
          <p:nvPr/>
        </p:nvSpPr>
        <p:spPr>
          <a:xfrm>
            <a:off x="7921782" y="1750107"/>
            <a:ext cx="3714918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Comments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05B636-D8BC-0D3A-2C7B-0EA482AA009E}"/>
              </a:ext>
            </a:extLst>
          </p:cNvPr>
          <p:cNvCxnSpPr>
            <a:cxnSpLocks/>
          </p:cNvCxnSpPr>
          <p:nvPr/>
        </p:nvCxnSpPr>
        <p:spPr>
          <a:xfrm>
            <a:off x="7921782" y="2262074"/>
            <a:ext cx="371548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D719EA7-CAD9-6B85-C5DE-7F70DD0C95A2}"/>
              </a:ext>
            </a:extLst>
          </p:cNvPr>
          <p:cNvCxnSpPr>
            <a:cxnSpLocks/>
          </p:cNvCxnSpPr>
          <p:nvPr/>
        </p:nvCxnSpPr>
        <p:spPr>
          <a:xfrm>
            <a:off x="7822462" y="1706564"/>
            <a:ext cx="1" cy="45037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9565364-D406-C539-5184-F249A1BF24DE}"/>
              </a:ext>
            </a:extLst>
          </p:cNvPr>
          <p:cNvSpPr/>
          <p:nvPr/>
        </p:nvSpPr>
        <p:spPr>
          <a:xfrm>
            <a:off x="7921782" y="2407001"/>
            <a:ext cx="3715482" cy="3803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[Insert comments or observations]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400" dirty="0">
                <a:solidFill>
                  <a:schemeClr val="tx1"/>
                </a:solidFill>
                <a:latin typeface="Arial" panose="020B0604020202020204"/>
              </a:rPr>
              <a:t>…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48B3A1-9778-B398-363A-3991466B20D5}"/>
              </a:ext>
            </a:extLst>
          </p:cNvPr>
          <p:cNvSpPr txBox="1"/>
          <p:nvPr/>
        </p:nvSpPr>
        <p:spPr>
          <a:xfrm>
            <a:off x="554736" y="2333256"/>
            <a:ext cx="880049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[Data],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[Unit]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C7DB81-EC2A-2A7D-854B-DD0CA215C1EC}"/>
              </a:ext>
            </a:extLst>
          </p:cNvPr>
          <p:cNvSpPr>
            <a:spLocks/>
          </p:cNvSpPr>
          <p:nvPr/>
        </p:nvSpPr>
        <p:spPr>
          <a:xfrm>
            <a:off x="5230040" y="2748029"/>
            <a:ext cx="641201" cy="18466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A7F2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[Group 3]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80FF4B-2F13-64ED-0948-6F45FD1F6973}"/>
              </a:ext>
            </a:extLst>
          </p:cNvPr>
          <p:cNvSpPr/>
          <p:nvPr/>
        </p:nvSpPr>
        <p:spPr>
          <a:xfrm>
            <a:off x="5017143" y="2770512"/>
            <a:ext cx="139700" cy="139700"/>
          </a:xfrm>
          <a:prstGeom prst="rect">
            <a:avLst/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4BD75505-7E1B-D72B-96EE-0FB2B83EEE96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AE2F2E84-5E29-437C-E00E-F39CD94B3F63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6013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zw21T4FUmQpoTTwS__oA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daK.A3PHE28L1qwD7vWwg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zw21T4FUmQpoTTwS__oA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daK.A3PHE28L1qwD7vWwg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Av.M6oTPUK66PjEB6RuTQ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N92HtyQJ0Wr8viINwVnsQ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36GtBJ120Oh5VHE1pmEZ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03MeiX8W0y.0KxKayPOeg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5ukHsWwJPVm_j7jrPZcpQ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tMY5tqzkI8ZwUVyiD1Y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G9i6r7aQ7tk2xRmTxS2A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zatj72c_xhXw8YaLPfsQ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AjLe5_FqKLW2U0jIt3rQ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zatj72c_xhXw8YaLPfsQ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AjLe5_FqKLW2U0jIt3rQ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AjLe5_FqKLW2U0jIt3rQ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AjLe5_FqKLW2U0jIt3rQ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zatj72c_xhXw8YaLPfsQ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zatj72c_xhXw8YaLPfsQ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2819</TotalTime>
  <Words>494</Words>
  <Application>Microsoft Office PowerPoint</Application>
  <PresentationFormat>Widescreen</PresentationFormat>
  <Paragraphs>122</Paragraphs>
  <Slides>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Segoe UI</vt:lpstr>
      <vt:lpstr>Verdana</vt:lpstr>
      <vt:lpstr>Wingdings</vt:lpstr>
      <vt:lpstr>Slideworks</vt:lpstr>
      <vt:lpstr>think-cell Slide</vt:lpstr>
      <vt:lpstr>Line / Scatter Charts</vt:lpstr>
      <vt:lpstr>[Insert company] is [insert e.g., well-positioned to xx / strong in xx but weak in xx etc.]</vt:lpstr>
      <vt:lpstr>[Insert company] has a [insert e.g., challenger] position in market</vt:lpstr>
      <vt:lpstr>[Insert company] has created unique position in terms of [insert]</vt:lpstr>
      <vt:lpstr>[Insert company] is positioned in the same [insert] segment as [insert competitor] and [insert competitor]</vt:lpstr>
      <vt:lpstr>[Bubble chart / Insert action title]</vt:lpstr>
      <vt:lpstr>The competitive landscape for [insert market] is [insert]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357</cp:revision>
  <dcterms:created xsi:type="dcterms:W3CDTF">2025-08-18T13:32:02Z</dcterms:created>
  <dcterms:modified xsi:type="dcterms:W3CDTF">2026-04-20T22:46:41Z</dcterms:modified>
  <cp:category>Management consulting, presentation design, business</cp:category>
</cp:coreProperties>
</file>