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32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333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34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1.xml" ContentType="application/vnd.openxmlformats-officedocument.themeOverride+xml"/>
  <Override PartName="/ppt/tags/tag338.xml" ContentType="application/vnd.openxmlformats-officedocument.presentationml.tag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339.xml" ContentType="application/vnd.openxmlformats-officedocument.presentationml.tag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ags/tag340.xml" ContentType="application/vnd.openxmlformats-officedocument.presentationml.tag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ags/tag341.xml" ContentType="application/vnd.openxmlformats-officedocument.presentationml.tag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ags/tag342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13"/>
  </p:notesMasterIdLst>
  <p:handoutMasterIdLst>
    <p:handoutMasterId r:id="rId14"/>
  </p:handoutMasterIdLst>
  <p:sldIdLst>
    <p:sldId id="2147471492" r:id="rId2"/>
    <p:sldId id="2147472037" r:id="rId3"/>
    <p:sldId id="2147472058" r:id="rId4"/>
    <p:sldId id="2147472039" r:id="rId5"/>
    <p:sldId id="2147472045" r:id="rId6"/>
    <p:sldId id="2147471772" r:id="rId7"/>
    <p:sldId id="2147472046" r:id="rId8"/>
    <p:sldId id="2147472055" r:id="rId9"/>
    <p:sldId id="2147472029" r:id="rId10"/>
    <p:sldId id="2147472031" r:id="rId11"/>
    <p:sldId id="2147472059" r:id="rId12"/>
  </p:sldIdLst>
  <p:sldSz cx="12192000" cy="6858000"/>
  <p:notesSz cx="6858000" cy="9144000"/>
  <p:custDataLst>
    <p:tags r:id="rId1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3"/>
    <p:restoredTop sz="93574"/>
  </p:normalViewPr>
  <p:slideViewPr>
    <p:cSldViewPr snapToGrid="0" showGuides="1">
      <p:cViewPr varScale="1">
        <p:scale>
          <a:sx n="89" d="100"/>
          <a:sy n="89" d="100"/>
        </p:scale>
        <p:origin x="66" y="28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959244641780411E-2"/>
          <c:y val="2.7197711436178024E-2"/>
          <c:w val="0.94068094611631869"/>
          <c:h val="0.8758168364547651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E7CE-6541-B274-25782B2DC6AA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7CE-6541-B274-25782B2DC6AA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E7CE-6541-B274-25782B2DC6AA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7CE-6541-B274-25782B2DC6AA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E7CE-6541-B274-25782B2DC6A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D99AB04-A9CE-42A6-8151-6CF703A8025F}" type="VALUE">
                      <a:rPr lang="en-US" smtClean="0"/>
                      <a:pPr/>
                      <a:t>[VALUE]</a:t>
                    </a:fld>
                    <a:endParaRPr lang="en-GB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0984898317162748E-2"/>
                      <c:h val="0.1336583426546096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6EAE-4E69-8AAA-E8B6F1DF10E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A1931EB-9349-4D6F-B99F-3D6F4D72DC5E}" type="VALUE">
                      <a:rPr lang="en-US" smtClean="0"/>
                      <a:pPr/>
                      <a:t>[VALUE]</a:t>
                    </a:fld>
                    <a:endParaRPr lang="en-GB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E-6EAE-4E69-8AAA-E8B6F1DF10E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F7CB1EF-87D5-44AC-8F6D-5F4C75F47767}" type="VALUE">
                      <a:rPr lang="en-US" smtClean="0"/>
                      <a:pPr/>
                      <a:t>[VALUE]</a:t>
                    </a:fld>
                    <a:endParaRPr lang="en-GB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1-6EAE-4E69-8AAA-E8B6F1DF10E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6F42573E-FAE8-4A60-BA0F-A63B73D74C36}" type="VALUE">
                      <a:rPr lang="en-US" smtClean="0"/>
                      <a:pPr/>
                      <a:t>[VALUE]</a:t>
                    </a:fld>
                    <a:endParaRPr lang="en-GB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4-6EAE-4E69-8AAA-E8B6F1DF10E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88D12FD4-5336-4C37-B3EA-6219407EFEB9}" type="VALUE">
                      <a:rPr lang="en-US" smtClean="0"/>
                      <a:pPr/>
                      <a:t>[VALUE]</a:t>
                    </a:fld>
                    <a:endParaRPr lang="en-GB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7-6EAE-4E69-8AAA-E8B6F1DF10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0.7</c:v>
                </c:pt>
                <c:pt idx="1">
                  <c:v>0.8</c:v>
                </c:pt>
                <c:pt idx="2">
                  <c:v>0.8</c:v>
                </c:pt>
                <c:pt idx="3">
                  <c:v>0.9</c:v>
                </c:pt>
                <c:pt idx="4">
                  <c:v>0.9</c:v>
                </c:pt>
                <c:pt idx="5">
                  <c:v>0.7</c:v>
                </c:pt>
                <c:pt idx="6">
                  <c:v>0.8</c:v>
                </c:pt>
                <c:pt idx="7">
                  <c:v>0.9</c:v>
                </c:pt>
                <c:pt idx="8">
                  <c:v>0.9</c:v>
                </c:pt>
                <c:pt idx="9">
                  <c:v>0.9</c:v>
                </c:pt>
                <c:pt idx="10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AE-4E69-8AAA-E8B6F1DF10E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98"/>
        <c:overlap val="100"/>
        <c:axId val="1734831503"/>
        <c:axId val="1908854559"/>
      </c:barChart>
      <c:catAx>
        <c:axId val="1734831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8854559"/>
        <c:crosses val="autoZero"/>
        <c:auto val="1"/>
        <c:lblAlgn val="ctr"/>
        <c:lblOffset val="100"/>
        <c:noMultiLvlLbl val="0"/>
      </c:catAx>
      <c:valAx>
        <c:axId val="190885455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34831503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832793959007551E-2"/>
          <c:y val="0.16364902506963788"/>
          <c:w val="0.9703344120819849"/>
          <c:h val="0.7377097361437062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0.34</c:v>
                </c:pt>
                <c:pt idx="1">
                  <c:v>0.28999999999999998</c:v>
                </c:pt>
                <c:pt idx="2">
                  <c:v>0.38</c:v>
                </c:pt>
                <c:pt idx="3">
                  <c:v>0.28999999999999998</c:v>
                </c:pt>
                <c:pt idx="4">
                  <c:v>0.35</c:v>
                </c:pt>
                <c:pt idx="5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0B-4DDE-912D-003348C84E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Sheet1!$C$2:$C$7</c:f>
              <c:numCache>
                <c:formatCode>0%</c:formatCode>
                <c:ptCount val="6"/>
                <c:pt idx="0">
                  <c:v>0.66</c:v>
                </c:pt>
                <c:pt idx="1">
                  <c:v>0.71</c:v>
                </c:pt>
                <c:pt idx="2">
                  <c:v>0.64</c:v>
                </c:pt>
                <c:pt idx="3">
                  <c:v>0.71</c:v>
                </c:pt>
                <c:pt idx="4">
                  <c:v>0.65</c:v>
                </c:pt>
                <c:pt idx="5">
                  <c:v>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0B-4DDE-912D-003348C84E2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33265807"/>
        <c:axId val="333079215"/>
      </c:barChart>
      <c:catAx>
        <c:axId val="1332658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079215"/>
        <c:crosses val="autoZero"/>
        <c:auto val="1"/>
        <c:lblAlgn val="ctr"/>
        <c:lblOffset val="100"/>
        <c:noMultiLvlLbl val="0"/>
      </c:catAx>
      <c:valAx>
        <c:axId val="333079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265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5706000667442344"/>
          <c:y val="2.2086204068241473E-2"/>
          <c:w val="0.32489030758572396"/>
          <c:h val="6.27470882545931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2.7197671719606478E-2"/>
          <c:w val="0.99884381564830238"/>
          <c:h val="0.8304654775295945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70CE-8C45-B5B9-5D6A25720ADF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0CE-8C45-B5B9-5D6A25720ADF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0CE-8C45-B5B9-5D6A25720ADF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0CE-8C45-B5B9-5D6A25720AD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D99AB04-A9CE-42A6-8151-6CF703A8025F}" type="VALUE">
                      <a:rPr lang="en-US" smtClean="0"/>
                      <a:pPr/>
                      <a:t>[VALUE]</a:t>
                    </a:fld>
                    <a:endParaRPr lang="en-GB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061749712218386E-2"/>
                      <c:h val="0.1336583534337595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6EAE-4E69-8AAA-E8B6F1DF10E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A1931EB-9349-4D6F-B99F-3D6F4D72DC5E}" type="VALUE">
                      <a:rPr lang="en-US" smtClean="0"/>
                      <a:pPr/>
                      <a:t>[VALUE]</a:t>
                    </a:fld>
                    <a:endParaRPr lang="en-GB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E-6EAE-4E69-8AAA-E8B6F1DF10E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F7CB1EF-87D5-44AC-8F6D-5F4C75F47767}" type="VALUE">
                      <a:rPr lang="en-US" smtClean="0"/>
                      <a:pPr/>
                      <a:t>[VALUE]</a:t>
                    </a:fld>
                    <a:endParaRPr lang="en-GB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1-6EAE-4E69-8AAA-E8B6F1DF10E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6F42573E-FAE8-4A60-BA0F-A63B73D74C36}" type="VALUE">
                      <a:rPr lang="en-US" smtClean="0"/>
                      <a:pPr/>
                      <a:t>[VALUE]</a:t>
                    </a:fld>
                    <a:endParaRPr lang="en-GB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4-6EAE-4E69-8AAA-E8B6F1DF10E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88D12FD4-5336-4C37-B3EA-6219407EFEB9}" type="VALUE">
                      <a:rPr lang="en-US" smtClean="0"/>
                      <a:pPr/>
                      <a:t>[VALUE]</a:t>
                    </a:fld>
                    <a:endParaRPr lang="en-GB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7-6EAE-4E69-8AAA-E8B6F1DF10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40</c:v>
                </c:pt>
                <c:pt idx="1">
                  <c:v>49</c:v>
                </c:pt>
                <c:pt idx="2">
                  <c:v>54</c:v>
                </c:pt>
                <c:pt idx="3">
                  <c:v>60</c:v>
                </c:pt>
                <c:pt idx="4">
                  <c:v>68</c:v>
                </c:pt>
                <c:pt idx="5">
                  <c:v>118</c:v>
                </c:pt>
                <c:pt idx="6">
                  <c:v>155</c:v>
                </c:pt>
                <c:pt idx="7">
                  <c:v>175</c:v>
                </c:pt>
                <c:pt idx="8">
                  <c:v>200</c:v>
                </c:pt>
                <c:pt idx="9">
                  <c:v>227</c:v>
                </c:pt>
                <c:pt idx="10">
                  <c:v>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AE-4E69-8AAA-E8B6F1DF10E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34831503"/>
        <c:axId val="1908854559"/>
      </c:barChart>
      <c:catAx>
        <c:axId val="1734831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8854559"/>
        <c:crosses val="autoZero"/>
        <c:auto val="1"/>
        <c:lblAlgn val="ctr"/>
        <c:lblOffset val="100"/>
        <c:noMultiLvlLbl val="0"/>
      </c:catAx>
      <c:valAx>
        <c:axId val="190885455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34831503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514845959076478E-2"/>
          <c:y val="0.15318617501729259"/>
          <c:w val="0.93696182467666067"/>
          <c:h val="0.737693841807931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 formatCode="#,##0">
                  <c:v>1064</c:v>
                </c:pt>
                <c:pt idx="1">
                  <c:v>985</c:v>
                </c:pt>
                <c:pt idx="2">
                  <c:v>960</c:v>
                </c:pt>
                <c:pt idx="3">
                  <c:v>933</c:v>
                </c:pt>
                <c:pt idx="4">
                  <c:v>697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8C-4B0B-8EFA-016C180B8E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18C-4B0B-8EFA-016C180B8E37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1278</c:v>
                </c:pt>
                <c:pt idx="1">
                  <c:v>1364</c:v>
                </c:pt>
                <c:pt idx="2">
                  <c:v>1459</c:v>
                </c:pt>
                <c:pt idx="3">
                  <c:v>1490</c:v>
                </c:pt>
                <c:pt idx="4">
                  <c:v>1238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8C-4B0B-8EFA-016C180B8E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43932319"/>
        <c:axId val="220128687"/>
      </c:barChart>
      <c:catAx>
        <c:axId val="643932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0128687"/>
        <c:crosses val="autoZero"/>
        <c:auto val="1"/>
        <c:lblAlgn val="ctr"/>
        <c:lblOffset val="100"/>
        <c:noMultiLvlLbl val="0"/>
      </c:catAx>
      <c:valAx>
        <c:axId val="22012868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643932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 formatCode="#,##0">
                  <c:v>17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8C-4B0B-8EFA-016C180B8E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18C-4B0B-8EFA-016C180B8E3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12</c:v>
                </c:pt>
                <c:pt idx="3">
                  <c:v>12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8C-4B0B-8EFA-016C180B8E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43932319"/>
        <c:axId val="220128687"/>
      </c:barChart>
      <c:catAx>
        <c:axId val="643932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0128687"/>
        <c:crosses val="autoZero"/>
        <c:auto val="1"/>
        <c:lblAlgn val="ctr"/>
        <c:lblOffset val="100"/>
        <c:noMultiLvlLbl val="0"/>
      </c:catAx>
      <c:valAx>
        <c:axId val="22012868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643932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 formatCode="#,##0">
                  <c:v>19</c:v>
                </c:pt>
                <c:pt idx="1">
                  <c:v>19</c:v>
                </c:pt>
                <c:pt idx="2">
                  <c:v>19</c:v>
                </c:pt>
                <c:pt idx="3">
                  <c:v>20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8C-4B0B-8EFA-016C180B8E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18C-4B0B-8EFA-016C180B8E3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</c:v>
                </c:pt>
                <c:pt idx="1">
                  <c:v>16</c:v>
                </c:pt>
                <c:pt idx="2">
                  <c:v>18</c:v>
                </c:pt>
                <c:pt idx="3">
                  <c:v>18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8C-4B0B-8EFA-016C180B8E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43932319"/>
        <c:axId val="220128687"/>
      </c:barChart>
      <c:catAx>
        <c:axId val="643932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0128687"/>
        <c:crosses val="autoZero"/>
        <c:auto val="1"/>
        <c:lblAlgn val="ctr"/>
        <c:lblOffset val="100"/>
        <c:noMultiLvlLbl val="0"/>
      </c:catAx>
      <c:valAx>
        <c:axId val="22012868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643932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84441192724181E-2"/>
          <c:y val="4.2101806239737277E-2"/>
          <c:w val="0.91400613876657599"/>
          <c:h val="0.8574384236453201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051C2C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051C2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127-6842-BA7C-57384860FBA8}"/>
              </c:ext>
            </c:extLst>
          </c:dPt>
          <c:dPt>
            <c:idx val="3"/>
            <c:invertIfNegative val="0"/>
            <c:bubble3D val="0"/>
            <c:spPr>
              <a:solidFill>
                <a:srgbClr val="22A3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127-6842-BA7C-57384860FBA8}"/>
              </c:ext>
            </c:extLst>
          </c:dPt>
          <c:dPt>
            <c:idx val="4"/>
            <c:invertIfNegative val="0"/>
            <c:bubble3D val="0"/>
            <c:spPr>
              <a:solidFill>
                <a:srgbClr val="22A3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127-6842-BA7C-57384860FBA8}"/>
              </c:ext>
            </c:extLst>
          </c:dPt>
          <c:dPt>
            <c:idx val="5"/>
            <c:invertIfNegative val="0"/>
            <c:bubble3D val="0"/>
            <c:spPr>
              <a:solidFill>
                <a:srgbClr val="051C2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127-6842-BA7C-57384860FBA8}"/>
              </c:ext>
            </c:extLst>
          </c:dPt>
          <c:dPt>
            <c:idx val="6"/>
            <c:invertIfNegative val="0"/>
            <c:bubble3D val="0"/>
            <c:spPr>
              <a:solidFill>
                <a:srgbClr val="22A3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127-6842-BA7C-57384860FBA8}"/>
              </c:ext>
            </c:extLst>
          </c:dPt>
          <c:dPt>
            <c:idx val="7"/>
            <c:invertIfNegative val="0"/>
            <c:bubble3D val="0"/>
            <c:spPr>
              <a:solidFill>
                <a:srgbClr val="051C2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127-6842-BA7C-57384860FBA8}"/>
              </c:ext>
            </c:extLst>
          </c:dPt>
          <c:dPt>
            <c:idx val="8"/>
            <c:invertIfNegative val="0"/>
            <c:bubble3D val="0"/>
            <c:spPr>
              <a:solidFill>
                <a:srgbClr val="22A3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127-6842-BA7C-57384860FBA8}"/>
              </c:ext>
            </c:extLst>
          </c:dPt>
          <c:dPt>
            <c:idx val="9"/>
            <c:invertIfNegative val="0"/>
            <c:bubble3D val="0"/>
            <c:spPr>
              <a:solidFill>
                <a:srgbClr val="051C2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2BF-244D-87E4-A494F94D9A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[Insert]</c:v>
                </c:pt>
                <c:pt idx="1">
                  <c:v>[Insert]</c:v>
                </c:pt>
                <c:pt idx="2">
                  <c:v>[Insert]</c:v>
                </c:pt>
                <c:pt idx="3">
                  <c:v>[Insert]</c:v>
                </c:pt>
                <c:pt idx="4">
                  <c:v>[Insert]</c:v>
                </c:pt>
                <c:pt idx="5">
                  <c:v>[Insert]</c:v>
                </c:pt>
                <c:pt idx="6">
                  <c:v>[Insert]</c:v>
                </c:pt>
                <c:pt idx="7">
                  <c:v>[Insert]</c:v>
                </c:pt>
                <c:pt idx="8">
                  <c:v>[Insert]</c:v>
                </c:pt>
                <c:pt idx="9">
                  <c:v>[Insert]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</c:v>
                </c:pt>
                <c:pt idx="1">
                  <c:v>17</c:v>
                </c:pt>
                <c:pt idx="2">
                  <c:v>17</c:v>
                </c:pt>
                <c:pt idx="3">
                  <c:v>17</c:v>
                </c:pt>
                <c:pt idx="4">
                  <c:v>23</c:v>
                </c:pt>
                <c:pt idx="5">
                  <c:v>25</c:v>
                </c:pt>
                <c:pt idx="6">
                  <c:v>28</c:v>
                </c:pt>
                <c:pt idx="7">
                  <c:v>29</c:v>
                </c:pt>
                <c:pt idx="8">
                  <c:v>31</c:v>
                </c:pt>
                <c:pt idx="9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9127-6842-BA7C-57384860FB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1169445424"/>
        <c:axId val="1169444176"/>
      </c:barChart>
      <c:catAx>
        <c:axId val="1169445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9444176"/>
        <c:crosses val="autoZero"/>
        <c:auto val="1"/>
        <c:lblAlgn val="ctr"/>
        <c:lblOffset val="100"/>
        <c:noMultiLvlLbl val="0"/>
      </c:catAx>
      <c:valAx>
        <c:axId val="1169444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FFFFFF">
                  <a:lumMod val="75000"/>
                </a:srgb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9445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716625504575076E-2"/>
          <c:y val="0.15723655509884737"/>
          <c:w val="0.98228337449542491"/>
          <c:h val="0.7314397277174735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&lt;2 yrs</c:v>
                </c:pt>
                <c:pt idx="1">
                  <c:v>3-4 yrs</c:v>
                </c:pt>
                <c:pt idx="2">
                  <c:v>5-6 yrs</c:v>
                </c:pt>
                <c:pt idx="3">
                  <c:v>7.9 yrs</c:v>
                </c:pt>
                <c:pt idx="4">
                  <c:v>10+ yrs</c:v>
                </c:pt>
                <c:pt idx="6">
                  <c:v>Total</c:v>
                </c:pt>
              </c:strCache>
            </c:strRef>
          </c:cat>
          <c:val>
            <c:numRef>
              <c:f>Sheet1!$B$2:$B$8</c:f>
              <c:numCache>
                <c:formatCode>0%</c:formatCode>
                <c:ptCount val="7"/>
                <c:pt idx="0">
                  <c:v>0.21</c:v>
                </c:pt>
                <c:pt idx="1">
                  <c:v>0.41</c:v>
                </c:pt>
                <c:pt idx="2">
                  <c:v>0.5</c:v>
                </c:pt>
                <c:pt idx="3">
                  <c:v>0.64</c:v>
                </c:pt>
                <c:pt idx="4">
                  <c:v>0.81</c:v>
                </c:pt>
                <c:pt idx="6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65-4778-B8D7-5B18A13113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Series2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&lt;2 yrs</c:v>
                </c:pt>
                <c:pt idx="1">
                  <c:v>3-4 yrs</c:v>
                </c:pt>
                <c:pt idx="2">
                  <c:v>5-6 yrs</c:v>
                </c:pt>
                <c:pt idx="3">
                  <c:v>7.9 yrs</c:v>
                </c:pt>
                <c:pt idx="4">
                  <c:v>10+ yrs</c:v>
                </c:pt>
                <c:pt idx="6">
                  <c:v>Total</c:v>
                </c:pt>
              </c:strCache>
            </c:strRef>
          </c:cat>
          <c:val>
            <c:numRef>
              <c:f>Sheet1!$C$2:$C$8</c:f>
              <c:numCache>
                <c:formatCode>0%</c:formatCode>
                <c:ptCount val="7"/>
                <c:pt idx="0">
                  <c:v>0.16</c:v>
                </c:pt>
                <c:pt idx="1">
                  <c:v>0.24</c:v>
                </c:pt>
                <c:pt idx="2">
                  <c:v>0.28000000000000003</c:v>
                </c:pt>
                <c:pt idx="3">
                  <c:v>0.2</c:v>
                </c:pt>
                <c:pt idx="4">
                  <c:v>0.12</c:v>
                </c:pt>
                <c:pt idx="6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E5-4127-A2A9-F20DF36C38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3D1-DF41-BA45-F81FDFB1AA48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D1-DF41-BA45-F81FDFB1AA48}"/>
                </c:ext>
              </c:extLst>
            </c:dLbl>
            <c:dLbl>
              <c:idx val="4"/>
              <c:layout>
                <c:manualLayout>
                  <c:x val="-4.8872391428090405E-2"/>
                  <c:y val="-4.235519244042395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6E5-4127-A2A9-F20DF36C38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&lt;2 yrs</c:v>
                </c:pt>
                <c:pt idx="1">
                  <c:v>3-4 yrs</c:v>
                </c:pt>
                <c:pt idx="2">
                  <c:v>5-6 yrs</c:v>
                </c:pt>
                <c:pt idx="3">
                  <c:v>7.9 yrs</c:v>
                </c:pt>
                <c:pt idx="4">
                  <c:v>10+ yrs</c:v>
                </c:pt>
                <c:pt idx="6">
                  <c:v>Total</c:v>
                </c:pt>
              </c:strCache>
            </c:strRef>
          </c:cat>
          <c:val>
            <c:numRef>
              <c:f>Sheet1!$D$2:$D$8</c:f>
              <c:numCache>
                <c:formatCode>0%</c:formatCode>
                <c:ptCount val="7"/>
                <c:pt idx="0">
                  <c:v>0.19</c:v>
                </c:pt>
                <c:pt idx="1">
                  <c:v>0.12</c:v>
                </c:pt>
                <c:pt idx="2">
                  <c:v>0.05</c:v>
                </c:pt>
                <c:pt idx="3">
                  <c:v>0.04</c:v>
                </c:pt>
                <c:pt idx="4">
                  <c:v>0.01</c:v>
                </c:pt>
                <c:pt idx="6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E5-4127-A2A9-F20DF36C38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6E5-4127-A2A9-F20DF36C38C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6E5-4127-A2A9-F20DF36C38C4}"/>
                </c:ext>
              </c:extLst>
            </c:dLbl>
            <c:dLbl>
              <c:idx val="4"/>
              <c:layout>
                <c:manualLayout>
                  <c:x val="5.0908741070927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6E5-4127-A2A9-F20DF36C38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&lt;2 yrs</c:v>
                </c:pt>
                <c:pt idx="1">
                  <c:v>3-4 yrs</c:v>
                </c:pt>
                <c:pt idx="2">
                  <c:v>5-6 yrs</c:v>
                </c:pt>
                <c:pt idx="3">
                  <c:v>7.9 yrs</c:v>
                </c:pt>
                <c:pt idx="4">
                  <c:v>10+ yrs</c:v>
                </c:pt>
                <c:pt idx="6">
                  <c:v>Total</c:v>
                </c:pt>
              </c:strCache>
            </c:strRef>
          </c:cat>
          <c:val>
            <c:numRef>
              <c:f>Sheet1!$E$2:$E$8</c:f>
              <c:numCache>
                <c:formatCode>0%</c:formatCode>
                <c:ptCount val="7"/>
                <c:pt idx="0">
                  <c:v>0.28000000000000003</c:v>
                </c:pt>
                <c:pt idx="1">
                  <c:v>0.08</c:v>
                </c:pt>
                <c:pt idx="2">
                  <c:v>0.04</c:v>
                </c:pt>
                <c:pt idx="3">
                  <c:v>0.01</c:v>
                </c:pt>
                <c:pt idx="4">
                  <c:v>0.01</c:v>
                </c:pt>
                <c:pt idx="6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E5-4127-A2A9-F20DF36C38C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Series5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4.5807939503443446E-3"/>
                  <c:y val="-4.579527277395308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B8-4B2A-94DD-DB90D456DD2C}"/>
                </c:ext>
              </c:extLst>
            </c:dLbl>
            <c:dLbl>
              <c:idx val="3"/>
              <c:layout>
                <c:manualLayout>
                  <c:x val="-1.2635999513421203E-3"/>
                  <c:y val="-4.57952727739531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4B8-4B2A-94DD-DB90D456DD2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B8-4B2A-94DD-DB90D456DD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&lt;2 yrs</c:v>
                </c:pt>
                <c:pt idx="1">
                  <c:v>3-4 yrs</c:v>
                </c:pt>
                <c:pt idx="2">
                  <c:v>5-6 yrs</c:v>
                </c:pt>
                <c:pt idx="3">
                  <c:v>7.9 yrs</c:v>
                </c:pt>
                <c:pt idx="4">
                  <c:v>10+ yrs</c:v>
                </c:pt>
                <c:pt idx="6">
                  <c:v>Total</c:v>
                </c:pt>
              </c:strCache>
            </c:strRef>
          </c:cat>
          <c:val>
            <c:numRef>
              <c:f>Sheet1!$F$2:$F$8</c:f>
              <c:numCache>
                <c:formatCode>0%</c:formatCode>
                <c:ptCount val="7"/>
                <c:pt idx="0">
                  <c:v>0.16</c:v>
                </c:pt>
                <c:pt idx="1">
                  <c:v>0.15</c:v>
                </c:pt>
                <c:pt idx="2">
                  <c:v>0.14000000000000001</c:v>
                </c:pt>
                <c:pt idx="3">
                  <c:v>0.11</c:v>
                </c:pt>
                <c:pt idx="4">
                  <c:v>0.05</c:v>
                </c:pt>
                <c:pt idx="6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28-499D-A60B-5F0B84D1B6E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23537919"/>
        <c:axId val="221481711"/>
      </c:barChart>
      <c:catAx>
        <c:axId val="623537919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1481711"/>
        <c:crosses val="autoZero"/>
        <c:auto val="1"/>
        <c:lblAlgn val="ctr"/>
        <c:lblOffset val="100"/>
        <c:noMultiLvlLbl val="0"/>
      </c:catAx>
      <c:valAx>
        <c:axId val="22148171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3537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996497865910002E-2"/>
          <c:y val="0.16822429906542055"/>
          <c:w val="0.94867308724583166"/>
          <c:h val="0.7474575023916403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Channel1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7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8-4B6F-9F65-EA7EE25CD7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Channel2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13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78-4B6F-9F65-EA7EE25CD74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Channel3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78-4B6F-9F65-EA7EE25CD74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Channel4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D78-4B6F-9F65-EA7EE25CD74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ser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serLines>
        <c:axId val="1379918079"/>
        <c:axId val="686242223"/>
      </c:barChart>
      <c:catAx>
        <c:axId val="1379918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6242223"/>
        <c:crosses val="autoZero"/>
        <c:auto val="1"/>
        <c:lblAlgn val="ctr"/>
        <c:lblOffset val="100"/>
        <c:noMultiLvlLbl val="0"/>
      </c:catAx>
      <c:valAx>
        <c:axId val="68624222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99180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2414396666285782E-2"/>
          <c:y val="5.304437412613143E-2"/>
          <c:w val="0.93958910546780416"/>
          <c:h val="9.33730713567346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95607643371641E-4"/>
          <c:y val="2.4519949863914298E-3"/>
          <c:w val="0.63194681886784609"/>
          <c:h val="0.8989068429410670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I’m not at all familiar with [insert]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[Group 1]</c:v>
                </c:pt>
                <c:pt idx="1">
                  <c:v>[Group 2]</c:v>
                </c:pt>
                <c:pt idx="2">
                  <c:v>[Group 3]</c:v>
                </c:pt>
                <c:pt idx="3">
                  <c:v>[Group 4]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</c:v>
                </c:pt>
                <c:pt idx="1">
                  <c:v>0.14000000000000001</c:v>
                </c:pt>
                <c:pt idx="2">
                  <c:v>0.2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07-4DD1-906C-ADD6D4BDD3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I’m not very familiar with [insert]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[Group 1]</c:v>
                </c:pt>
                <c:pt idx="1">
                  <c:v>[Group 2]</c:v>
                </c:pt>
                <c:pt idx="2">
                  <c:v>[Group 3]</c:v>
                </c:pt>
                <c:pt idx="3">
                  <c:v>[Group 4]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0.15</c:v>
                </c:pt>
                <c:pt idx="1">
                  <c:v>0.16</c:v>
                </c:pt>
                <c:pt idx="2">
                  <c:v>0.17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07-4DD1-906C-ADD6D4BDD3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I’m fairly familiar with [insert]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[Group 1]</c:v>
                </c:pt>
                <c:pt idx="1">
                  <c:v>[Group 2]</c:v>
                </c:pt>
                <c:pt idx="2">
                  <c:v>[Group 3]</c:v>
                </c:pt>
                <c:pt idx="3">
                  <c:v>[Group 4]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0.28000000000000003</c:v>
                </c:pt>
                <c:pt idx="1">
                  <c:v>0.27</c:v>
                </c:pt>
                <c:pt idx="2">
                  <c:v>0.2</c:v>
                </c:pt>
                <c:pt idx="3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07-4DD1-906C-ADD6D4BDD3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I’m very familiar with [insert]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[Group 1]</c:v>
                </c:pt>
                <c:pt idx="1">
                  <c:v>[Group 2]</c:v>
                </c:pt>
                <c:pt idx="2">
                  <c:v>[Group 3]</c:v>
                </c:pt>
                <c:pt idx="3">
                  <c:v>[Group 4]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0.24</c:v>
                </c:pt>
                <c:pt idx="1">
                  <c:v>0.22</c:v>
                </c:pt>
                <c:pt idx="2">
                  <c:v>0.18</c:v>
                </c:pt>
                <c:pt idx="3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D07-4DD1-906C-ADD6D4BDD3C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I’m very familiar and have used this [insert]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[Group 1]</c:v>
                </c:pt>
                <c:pt idx="1">
                  <c:v>[Group 2]</c:v>
                </c:pt>
                <c:pt idx="2">
                  <c:v>[Group 3]</c:v>
                </c:pt>
                <c:pt idx="3">
                  <c:v>[Group 4]</c:v>
                </c:pt>
              </c:strCache>
            </c:strRef>
          </c:cat>
          <c:val>
            <c:numRef>
              <c:f>Sheet1!$F$2:$F$5</c:f>
              <c:numCache>
                <c:formatCode>0%</c:formatCode>
                <c:ptCount val="4"/>
                <c:pt idx="0">
                  <c:v>0.23</c:v>
                </c:pt>
                <c:pt idx="1">
                  <c:v>0.21</c:v>
                </c:pt>
                <c:pt idx="2">
                  <c:v>0.26</c:v>
                </c:pt>
                <c:pt idx="3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D07-4DD1-906C-ADD6D4BDD3C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33265807"/>
        <c:axId val="333079215"/>
      </c:barChart>
      <c:catAx>
        <c:axId val="133265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079215"/>
        <c:crosses val="autoZero"/>
        <c:auto val="1"/>
        <c:lblAlgn val="ctr"/>
        <c:lblOffset val="100"/>
        <c:noMultiLvlLbl val="0"/>
      </c:catAx>
      <c:valAx>
        <c:axId val="33307921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33265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088085260783881"/>
          <c:y val="3.0086555423019617E-2"/>
          <c:w val="0.31494584501131145"/>
          <c:h val="0.8738823590499529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140978557704645"/>
          <c:y val="3.9361963445657157E-2"/>
          <c:w val="0.66677436240192023"/>
          <c:h val="0.8955576040612962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F22-E645-BB16-884976FE4ED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F22-E645-BB16-884976FE4ED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7F22-E645-BB16-884976FE4ED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[Metric 1]</c:v>
                </c:pt>
                <c:pt idx="1">
                  <c:v>[Metric 2]</c:v>
                </c:pt>
                <c:pt idx="2">
                  <c:v>[Metric 3]</c:v>
                </c:pt>
                <c:pt idx="3">
                  <c:v>[Metric 4]</c:v>
                </c:pt>
                <c:pt idx="4">
                  <c:v>[Metric 5]</c:v>
                </c:pt>
                <c:pt idx="5">
                  <c:v>[Metric 6]</c:v>
                </c:pt>
                <c:pt idx="6">
                  <c:v>[Metric 7]</c:v>
                </c:pt>
                <c:pt idx="7">
                  <c:v>[Metric 8]</c:v>
                </c:pt>
                <c:pt idx="8">
                  <c:v>[Metric 9]</c:v>
                </c:pt>
                <c:pt idx="9">
                  <c:v>[Metric 10]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0.06</c:v>
                </c:pt>
                <c:pt idx="1">
                  <c:v>0.09</c:v>
                </c:pt>
                <c:pt idx="2">
                  <c:v>0.11</c:v>
                </c:pt>
                <c:pt idx="3">
                  <c:v>0.14000000000000001</c:v>
                </c:pt>
                <c:pt idx="4">
                  <c:v>0.15</c:v>
                </c:pt>
                <c:pt idx="5">
                  <c:v>0.17</c:v>
                </c:pt>
                <c:pt idx="6">
                  <c:v>0.23</c:v>
                </c:pt>
                <c:pt idx="7">
                  <c:v>0.37</c:v>
                </c:pt>
                <c:pt idx="8">
                  <c:v>0.4</c:v>
                </c:pt>
                <c:pt idx="9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A5-4BA6-AB74-E128C3C575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[Metric 1]</c:v>
                </c:pt>
                <c:pt idx="1">
                  <c:v>[Metric 2]</c:v>
                </c:pt>
                <c:pt idx="2">
                  <c:v>[Metric 3]</c:v>
                </c:pt>
                <c:pt idx="3">
                  <c:v>[Metric 4]</c:v>
                </c:pt>
                <c:pt idx="4">
                  <c:v>[Metric 5]</c:v>
                </c:pt>
                <c:pt idx="5">
                  <c:v>[Metric 6]</c:v>
                </c:pt>
                <c:pt idx="6">
                  <c:v>[Metric 7]</c:v>
                </c:pt>
                <c:pt idx="7">
                  <c:v>[Metric 8]</c:v>
                </c:pt>
                <c:pt idx="8">
                  <c:v>[Metric 9]</c:v>
                </c:pt>
                <c:pt idx="9">
                  <c:v>[Metric 10]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</c:numCache>
            </c:numRef>
          </c:val>
          <c:extLst>
            <c:ext xmlns:c16="http://schemas.microsoft.com/office/drawing/2014/chart" uri="{C3380CC4-5D6E-409C-BE32-E72D297353CC}">
              <c16:uniqueId val="{00000001-00A5-4BA6-AB74-E128C3C575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380955103"/>
        <c:axId val="512317375"/>
      </c:barChart>
      <c:catAx>
        <c:axId val="3809551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2317375"/>
        <c:crosses val="autoZero"/>
        <c:auto val="1"/>
        <c:lblAlgn val="l"/>
        <c:lblOffset val="100"/>
        <c:noMultiLvlLbl val="0"/>
      </c:catAx>
      <c:valAx>
        <c:axId val="51231737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380955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[Insert metric 1]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7.7880000000000003</c:v>
                </c:pt>
                <c:pt idx="1">
                  <c:v>8.25</c:v>
                </c:pt>
                <c:pt idx="2">
                  <c:v>8.25</c:v>
                </c:pt>
                <c:pt idx="3">
                  <c:v>7.9619999999999997</c:v>
                </c:pt>
                <c:pt idx="4">
                  <c:v>7.9619999999999997</c:v>
                </c:pt>
                <c:pt idx="5">
                  <c:v>6.923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97-49BD-B67C-12B36D9F96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[Insert metric 2]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20.077000000000002</c:v>
                </c:pt>
                <c:pt idx="1">
                  <c:v>21.288</c:v>
                </c:pt>
                <c:pt idx="2">
                  <c:v>25.5</c:v>
                </c:pt>
                <c:pt idx="3">
                  <c:v>24.231000000000002</c:v>
                </c:pt>
                <c:pt idx="4">
                  <c:v>25.731000000000002</c:v>
                </c:pt>
                <c:pt idx="5">
                  <c:v>24.922999999999998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97-49BD-B67C-12B36D9F9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8719055"/>
        <c:axId val="1336784671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[Insert metric 3]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numFmt formatCode="0" sourceLinked="0"/>
            <c:spPr>
              <a:solidFill>
                <a:schemeClr val="accent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2663.4180000000001</c:v>
                </c:pt>
                <c:pt idx="1">
                  <c:v>2592.2269999999999</c:v>
                </c:pt>
                <c:pt idx="2">
                  <c:v>3157.9250000000002</c:v>
                </c:pt>
                <c:pt idx="3">
                  <c:v>3047.9110000000001</c:v>
                </c:pt>
                <c:pt idx="4">
                  <c:v>3240.7840000000001</c:v>
                </c:pt>
                <c:pt idx="5">
                  <c:v>3705.489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F97-49BD-B67C-12B36D9F9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9577968"/>
        <c:axId val="1057751631"/>
      </c:lineChart>
      <c:catAx>
        <c:axId val="7187190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6784671"/>
        <c:crosses val="autoZero"/>
        <c:auto val="1"/>
        <c:lblAlgn val="ctr"/>
        <c:lblOffset val="100"/>
        <c:noMultiLvlLbl val="0"/>
      </c:catAx>
      <c:valAx>
        <c:axId val="133678467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8719055"/>
        <c:crosses val="autoZero"/>
        <c:crossBetween val="between"/>
      </c:valAx>
      <c:valAx>
        <c:axId val="1057751631"/>
        <c:scaling>
          <c:orientation val="minMax"/>
          <c:max val="5000"/>
        </c:scaling>
        <c:delete val="0"/>
        <c:axPos val="r"/>
        <c:numFmt formatCode="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9577968"/>
        <c:crosses val="max"/>
        <c:crossBetween val="between"/>
      </c:valAx>
      <c:catAx>
        <c:axId val="4795779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577516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04/20/2026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04/20/2026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3743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404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821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039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5" Type="http://schemas.openxmlformats.org/officeDocument/2006/relationships/tags" Target="../tags/tag154.xml"/><Relationship Id="rId10" Type="http://schemas.openxmlformats.org/officeDocument/2006/relationships/tags" Target="../tags/tag149.xml"/><Relationship Id="rId19" Type="http://schemas.openxmlformats.org/officeDocument/2006/relationships/tags" Target="../tags/tag158.xml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tags" Target="../tags/tag15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2" Type="http://schemas.openxmlformats.org/officeDocument/2006/relationships/tags" Target="../tags/tag228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10" Type="http://schemas.openxmlformats.org/officeDocument/2006/relationships/tags" Target="../tags/tag251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10" Type="http://schemas.openxmlformats.org/officeDocument/2006/relationships/tags" Target="../tags/tag268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tags" Target="../tags/tag293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10" Type="http://schemas.openxmlformats.org/officeDocument/2006/relationships/tags" Target="../tags/tag286.xml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13" Type="http://schemas.openxmlformats.org/officeDocument/2006/relationships/tags" Target="../tags/tag306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tags" Target="../tags/tag305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tags" Target="../tags/tag304.xml"/><Relationship Id="rId5" Type="http://schemas.openxmlformats.org/officeDocument/2006/relationships/tags" Target="../tags/tag298.xml"/><Relationship Id="rId10" Type="http://schemas.openxmlformats.org/officeDocument/2006/relationships/tags" Target="../tags/tag303.xml"/><Relationship Id="rId4" Type="http://schemas.openxmlformats.org/officeDocument/2006/relationships/tags" Target="../tags/tag297.xml"/><Relationship Id="rId9" Type="http://schemas.openxmlformats.org/officeDocument/2006/relationships/tags" Target="../tags/tag302.xml"/><Relationship Id="rId1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10" Type="http://schemas.openxmlformats.org/officeDocument/2006/relationships/tags" Target="../tags/tag322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6.xml"/><Relationship Id="rId47" Type="http://schemas.openxmlformats.org/officeDocument/2006/relationships/tags" Target="../tags/tag21.xml"/><Relationship Id="rId63" Type="http://schemas.openxmlformats.org/officeDocument/2006/relationships/tags" Target="../tags/tag37.xml"/><Relationship Id="rId68" Type="http://schemas.openxmlformats.org/officeDocument/2006/relationships/tags" Target="../tags/tag42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3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6.xml"/><Relationship Id="rId37" Type="http://schemas.openxmlformats.org/officeDocument/2006/relationships/tags" Target="../tags/tag11.xml"/><Relationship Id="rId40" Type="http://schemas.openxmlformats.org/officeDocument/2006/relationships/tags" Target="../tags/tag14.xml"/><Relationship Id="rId45" Type="http://schemas.openxmlformats.org/officeDocument/2006/relationships/tags" Target="../tags/tag19.xml"/><Relationship Id="rId53" Type="http://schemas.openxmlformats.org/officeDocument/2006/relationships/tags" Target="../tags/tag27.xml"/><Relationship Id="rId58" Type="http://schemas.openxmlformats.org/officeDocument/2006/relationships/tags" Target="../tags/tag32.xml"/><Relationship Id="rId66" Type="http://schemas.openxmlformats.org/officeDocument/2006/relationships/tags" Target="../tags/tag40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tags" Target="../tags/tag4.xml"/><Relationship Id="rId35" Type="http://schemas.openxmlformats.org/officeDocument/2006/relationships/tags" Target="../tags/tag9.xml"/><Relationship Id="rId43" Type="http://schemas.openxmlformats.org/officeDocument/2006/relationships/tags" Target="../tags/tag17.xml"/><Relationship Id="rId48" Type="http://schemas.openxmlformats.org/officeDocument/2006/relationships/tags" Target="../tags/tag22.xml"/><Relationship Id="rId56" Type="http://schemas.openxmlformats.org/officeDocument/2006/relationships/tags" Target="../tags/tag30.xml"/><Relationship Id="rId64" Type="http://schemas.openxmlformats.org/officeDocument/2006/relationships/tags" Target="../tags/tag38.xml"/><Relationship Id="rId69" Type="http://schemas.openxmlformats.org/officeDocument/2006/relationships/tags" Target="../tags/tag43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7.xml"/><Relationship Id="rId38" Type="http://schemas.openxmlformats.org/officeDocument/2006/relationships/tags" Target="../tags/tag12.xml"/><Relationship Id="rId46" Type="http://schemas.openxmlformats.org/officeDocument/2006/relationships/tags" Target="../tags/tag20.xml"/><Relationship Id="rId59" Type="http://schemas.openxmlformats.org/officeDocument/2006/relationships/tags" Target="../tags/tag33.xml"/><Relationship Id="rId67" Type="http://schemas.openxmlformats.org/officeDocument/2006/relationships/tags" Target="../tags/tag41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5.xml"/><Relationship Id="rId54" Type="http://schemas.openxmlformats.org/officeDocument/2006/relationships/tags" Target="../tags/tag28.xml"/><Relationship Id="rId62" Type="http://schemas.openxmlformats.org/officeDocument/2006/relationships/tags" Target="../tags/tag36.xml"/><Relationship Id="rId7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36" Type="http://schemas.openxmlformats.org/officeDocument/2006/relationships/tags" Target="../tags/tag10.xml"/><Relationship Id="rId49" Type="http://schemas.openxmlformats.org/officeDocument/2006/relationships/tags" Target="../tags/tag23.xml"/><Relationship Id="rId57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5.xml"/><Relationship Id="rId44" Type="http://schemas.openxmlformats.org/officeDocument/2006/relationships/tags" Target="../tags/tag18.xml"/><Relationship Id="rId52" Type="http://schemas.openxmlformats.org/officeDocument/2006/relationships/tags" Target="../tags/tag26.xml"/><Relationship Id="rId60" Type="http://schemas.openxmlformats.org/officeDocument/2006/relationships/tags" Target="../tags/tag34.xml"/><Relationship Id="rId65" Type="http://schemas.openxmlformats.org/officeDocument/2006/relationships/tags" Target="../tags/tag3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3.xml"/><Relationship Id="rId34" Type="http://schemas.openxmlformats.org/officeDocument/2006/relationships/tags" Target="../tags/tag8.xml"/><Relationship Id="rId50" Type="http://schemas.openxmlformats.org/officeDocument/2006/relationships/tags" Target="../tags/tag24.xml"/><Relationship Id="rId55" Type="http://schemas.openxmlformats.org/officeDocument/2006/relationships/tags" Target="../tags/tag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FC086D-550C-0391-52E6-60372882047E}"/>
              </a:ext>
            </a:extLst>
          </p:cNvPr>
          <p:cNvGraphicFramePr>
            <a:graphicFrameLocks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4203103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47" imgH="348" progId="TCLayout.ActiveDocument.1">
                  <p:embed/>
                </p:oleObj>
              </mc:Choice>
              <mc:Fallback>
                <p:oleObj name="think-cell Slide" r:id="rId70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42" r:id="rId2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0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1.xml"/><Relationship Id="rId6" Type="http://schemas.openxmlformats.org/officeDocument/2006/relationships/chart" Target="../charts/chart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2.xml"/><Relationship Id="rId6" Type="http://schemas.openxmlformats.org/officeDocument/2006/relationships/chart" Target="../charts/char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3.xml"/><Relationship Id="rId6" Type="http://schemas.openxmlformats.org/officeDocument/2006/relationships/chart" Target="../charts/chart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4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37.xml"/><Relationship Id="rId2" Type="http://schemas.openxmlformats.org/officeDocument/2006/relationships/tags" Target="../tags/tag336.xml"/><Relationship Id="rId1" Type="http://schemas.openxmlformats.org/officeDocument/2006/relationships/tags" Target="../tags/tag335.xml"/><Relationship Id="rId5" Type="http://schemas.openxmlformats.org/officeDocument/2006/relationships/chart" Target="../charts/chart7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8.xml"/><Relationship Id="rId5" Type="http://schemas.openxmlformats.org/officeDocument/2006/relationships/chart" Target="../charts/chart8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9.xml"/><Relationship Id="rId5" Type="http://schemas.openxmlformats.org/officeDocument/2006/relationships/chart" Target="../charts/chart9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0.xml"/><Relationship Id="rId5" Type="http://schemas.openxmlformats.org/officeDocument/2006/relationships/chart" Target="../charts/chart10.xml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1.xml"/><Relationship Id="rId5" Type="http://schemas.openxmlformats.org/officeDocument/2006/relationships/chart" Target="../charts/chart11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2.xml"/><Relationship Id="rId6" Type="http://schemas.openxmlformats.org/officeDocument/2006/relationships/chart" Target="../charts/chart1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 rIns="0"/>
          <a:lstStyle/>
          <a:p>
            <a:r>
              <a:rPr lang="en-US" sz="4800" dirty="0"/>
              <a:t>Bar Charts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Object 106" hidden="1">
            <a:extLst>
              <a:ext uri="{FF2B5EF4-FFF2-40B4-BE49-F238E27FC236}">
                <a16:creationId xmlns:a16="http://schemas.microsoft.com/office/drawing/2014/main" id="{D399510A-1D28-C5BC-F5E9-68EDDAAD0BC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07" name="Object 106" hidden="1">
                        <a:extLst>
                          <a:ext uri="{FF2B5EF4-FFF2-40B4-BE49-F238E27FC236}">
                            <a16:creationId xmlns:a16="http://schemas.microsoft.com/office/drawing/2014/main" id="{D399510A-1D28-C5BC-F5E9-68EDDAAD0B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object 99">
            <a:extLst>
              <a:ext uri="{FF2B5EF4-FFF2-40B4-BE49-F238E27FC236}">
                <a16:creationId xmlns:a16="http://schemas.microsoft.com/office/drawing/2014/main" id="{74FC4AFA-5724-16E4-0858-E837361AF590}"/>
              </a:ext>
            </a:extLst>
          </p:cNvPr>
          <p:cNvSpPr txBox="1"/>
          <p:nvPr/>
        </p:nvSpPr>
        <p:spPr>
          <a:xfrm>
            <a:off x="4518660" y="2543175"/>
            <a:ext cx="3177540" cy="358474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76200" tIns="36000" rIns="76200" bIns="76200" rtlCol="0">
            <a:no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Forecasted</a:t>
            </a:r>
            <a:r>
              <a:rPr kumimoji="0" lang="en-US" sz="1200" i="1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200" i="1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data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736" y="689067"/>
            <a:ext cx="11082528" cy="397545"/>
          </a:xfrm>
        </p:spPr>
        <p:txBody>
          <a:bodyPr vert="horz" wrap="square" lIns="0" tIns="12700" rIns="0" bIns="0" rtlCol="0">
            <a:spAutoFit/>
          </a:bodyPr>
          <a:lstStyle/>
          <a:p>
            <a:r>
              <a:rPr lang="en-IN" dirty="0"/>
              <a:t>The [insert market] is projected to reach xx [currency] in 20xx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F3465A9-9649-A95B-A01C-BD4FC4DAB6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12E8-FAB9-862E-F35B-A3F7ADEDB2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39" name="Chart 138">
            <a:extLst>
              <a:ext uri="{FF2B5EF4-FFF2-40B4-BE49-F238E27FC236}">
                <a16:creationId xmlns:a16="http://schemas.microsoft.com/office/drawing/2014/main" id="{68A7714F-CF70-7B70-4903-F0D81E0B0002}"/>
              </a:ext>
            </a:extLst>
          </p:cNvPr>
          <p:cNvGraphicFramePr/>
          <p:nvPr/>
        </p:nvGraphicFramePr>
        <p:xfrm>
          <a:off x="558609" y="2838449"/>
          <a:ext cx="7297200" cy="32051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3333F4-9A3D-BFBC-2783-8FD314905E09}"/>
              </a:ext>
            </a:extLst>
          </p:cNvPr>
          <p:cNvCxnSpPr>
            <a:cxnSpLocks/>
          </p:cNvCxnSpPr>
          <p:nvPr/>
        </p:nvCxnSpPr>
        <p:spPr>
          <a:xfrm flipV="1">
            <a:off x="1135888" y="2759456"/>
            <a:ext cx="6299200" cy="497840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53CE218-EC61-7D88-7052-29506B088A2F}"/>
              </a:ext>
            </a:extLst>
          </p:cNvPr>
          <p:cNvSpPr/>
          <p:nvPr/>
        </p:nvSpPr>
        <p:spPr>
          <a:xfrm>
            <a:off x="3877194" y="2888808"/>
            <a:ext cx="617560" cy="269621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+2%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1E6F7A-6468-42D0-A992-74A5BC6854BF}"/>
              </a:ext>
            </a:extLst>
          </p:cNvPr>
          <p:cNvSpPr txBox="1"/>
          <p:nvPr/>
        </p:nvSpPr>
        <p:spPr>
          <a:xfrm>
            <a:off x="554736" y="1750107"/>
            <a:ext cx="7167319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[Description/takeaway from graph]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C029CE-4BCC-6A0C-1182-5168A8CBCDF5}"/>
              </a:ext>
            </a:extLst>
          </p:cNvPr>
          <p:cNvCxnSpPr>
            <a:cxnSpLocks/>
          </p:cNvCxnSpPr>
          <p:nvPr/>
        </p:nvCxnSpPr>
        <p:spPr>
          <a:xfrm>
            <a:off x="554736" y="2262074"/>
            <a:ext cx="716840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DD8A6F-04A9-5972-2EA7-03B97185E206}"/>
              </a:ext>
            </a:extLst>
          </p:cNvPr>
          <p:cNvSpPr txBox="1"/>
          <p:nvPr/>
        </p:nvSpPr>
        <p:spPr>
          <a:xfrm>
            <a:off x="554736" y="2333256"/>
            <a:ext cx="880049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[Data],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[Unit]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102939-42D2-CDE9-3F8E-DAAF852686D6}"/>
              </a:ext>
            </a:extLst>
          </p:cNvPr>
          <p:cNvSpPr/>
          <p:nvPr/>
        </p:nvSpPr>
        <p:spPr>
          <a:xfrm>
            <a:off x="7921782" y="2407001"/>
            <a:ext cx="3715482" cy="3803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observations or comments]</a:t>
            </a:r>
          </a:p>
          <a:p>
            <a: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observations or comments]</a:t>
            </a:r>
          </a:p>
          <a:p>
            <a: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observations or comments]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tx1"/>
                </a:solidFill>
                <a:latin typeface="Arial"/>
              </a:rPr>
              <a:t>…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806E59-91CE-BAFC-C878-27D49E712F8C}"/>
              </a:ext>
            </a:extLst>
          </p:cNvPr>
          <p:cNvCxnSpPr>
            <a:cxnSpLocks/>
          </p:cNvCxnSpPr>
          <p:nvPr/>
        </p:nvCxnSpPr>
        <p:spPr>
          <a:xfrm>
            <a:off x="7822462" y="1706564"/>
            <a:ext cx="1" cy="45037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C78EE34-829A-169B-1DAE-9371475DDD3D}"/>
              </a:ext>
            </a:extLst>
          </p:cNvPr>
          <p:cNvSpPr txBox="1"/>
          <p:nvPr/>
        </p:nvSpPr>
        <p:spPr>
          <a:xfrm>
            <a:off x="7921782" y="1750107"/>
            <a:ext cx="3714918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Comments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DBFC14-AFCE-D41F-AA2B-F2E1F7E1AE97}"/>
              </a:ext>
            </a:extLst>
          </p:cNvPr>
          <p:cNvCxnSpPr>
            <a:cxnSpLocks/>
          </p:cNvCxnSpPr>
          <p:nvPr/>
        </p:nvCxnSpPr>
        <p:spPr>
          <a:xfrm>
            <a:off x="7921782" y="2262074"/>
            <a:ext cx="371548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507;p14">
            <a:extLst>
              <a:ext uri="{FF2B5EF4-FFF2-40B4-BE49-F238E27FC236}">
                <a16:creationId xmlns:a16="http://schemas.microsoft.com/office/drawing/2014/main" id="{99E0A600-1691-C7A6-6DFE-12C059372964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538;p14">
            <a:extLst>
              <a:ext uri="{FF2B5EF4-FFF2-40B4-BE49-F238E27FC236}">
                <a16:creationId xmlns:a16="http://schemas.microsoft.com/office/drawing/2014/main" id="{86AFBEA4-4F16-A63E-019E-E31D9CE1C65B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C96F2F-B112-20EC-775E-B8E93FBAD5F6}"/>
              </a:ext>
            </a:extLst>
          </p:cNvPr>
          <p:cNvSpPr txBox="1"/>
          <p:nvPr/>
        </p:nvSpPr>
        <p:spPr>
          <a:xfrm>
            <a:off x="10073640" y="58978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64910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3BD4E12-6D3A-69F5-E020-4C2250021B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3BD4E12-6D3A-69F5-E020-4C2250021B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CFEEB34-A92B-82D0-EF26-73D42D91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[Insert] market has been [insert description]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0CB760E-59AA-6FC8-842B-A62E8BAECF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6CE08C1-D51F-2C7A-757C-45A4B3FC05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5" name="Chart 54">
            <a:extLst>
              <a:ext uri="{FF2B5EF4-FFF2-40B4-BE49-F238E27FC236}">
                <a16:creationId xmlns:a16="http://schemas.microsoft.com/office/drawing/2014/main" id="{BEA8C7A7-4BBF-76F4-2C31-DF49AA9D4D04}"/>
              </a:ext>
            </a:extLst>
          </p:cNvPr>
          <p:cNvGraphicFramePr/>
          <p:nvPr/>
        </p:nvGraphicFramePr>
        <p:xfrm>
          <a:off x="547688" y="2119085"/>
          <a:ext cx="11087100" cy="3901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8" name="object 24">
            <a:extLst>
              <a:ext uri="{FF2B5EF4-FFF2-40B4-BE49-F238E27FC236}">
                <a16:creationId xmlns:a16="http://schemas.microsoft.com/office/drawing/2014/main" id="{7D5A0EF0-95F9-5E92-D7A0-6C4BDC328698}"/>
              </a:ext>
            </a:extLst>
          </p:cNvPr>
          <p:cNvSpPr txBox="1"/>
          <p:nvPr/>
        </p:nvSpPr>
        <p:spPr>
          <a:xfrm>
            <a:off x="7173100" y="2894376"/>
            <a:ext cx="209033" cy="228268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xx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9" name="object 36">
            <a:extLst>
              <a:ext uri="{FF2B5EF4-FFF2-40B4-BE49-F238E27FC236}">
                <a16:creationId xmlns:a16="http://schemas.microsoft.com/office/drawing/2014/main" id="{E00DF5B9-B6F2-15A9-91CB-D9760EABC6EB}"/>
              </a:ext>
            </a:extLst>
          </p:cNvPr>
          <p:cNvSpPr txBox="1"/>
          <p:nvPr/>
        </p:nvSpPr>
        <p:spPr>
          <a:xfrm>
            <a:off x="1948240" y="2894376"/>
            <a:ext cx="209033" cy="228268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xx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0" name="object 37">
            <a:extLst>
              <a:ext uri="{FF2B5EF4-FFF2-40B4-BE49-F238E27FC236}">
                <a16:creationId xmlns:a16="http://schemas.microsoft.com/office/drawing/2014/main" id="{0EA43481-90C0-5AF7-B6FA-68009F0C877C}"/>
              </a:ext>
            </a:extLst>
          </p:cNvPr>
          <p:cNvSpPr txBox="1"/>
          <p:nvPr/>
        </p:nvSpPr>
        <p:spPr>
          <a:xfrm>
            <a:off x="3689861" y="2894376"/>
            <a:ext cx="209033" cy="228268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xx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1" name="object 38">
            <a:extLst>
              <a:ext uri="{FF2B5EF4-FFF2-40B4-BE49-F238E27FC236}">
                <a16:creationId xmlns:a16="http://schemas.microsoft.com/office/drawing/2014/main" id="{2CC84C63-AB5E-380D-9A06-6E8284774873}"/>
              </a:ext>
            </a:extLst>
          </p:cNvPr>
          <p:cNvSpPr txBox="1"/>
          <p:nvPr/>
        </p:nvSpPr>
        <p:spPr>
          <a:xfrm>
            <a:off x="5431480" y="2894376"/>
            <a:ext cx="209033" cy="228268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xx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2" name="object 39">
            <a:extLst>
              <a:ext uri="{FF2B5EF4-FFF2-40B4-BE49-F238E27FC236}">
                <a16:creationId xmlns:a16="http://schemas.microsoft.com/office/drawing/2014/main" id="{627516E1-8679-CB73-1966-F187273DFF4F}"/>
              </a:ext>
            </a:extLst>
          </p:cNvPr>
          <p:cNvSpPr txBox="1"/>
          <p:nvPr/>
        </p:nvSpPr>
        <p:spPr>
          <a:xfrm>
            <a:off x="8914720" y="2894376"/>
            <a:ext cx="209033" cy="228268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xx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3" name="object 40">
            <a:extLst>
              <a:ext uri="{FF2B5EF4-FFF2-40B4-BE49-F238E27FC236}">
                <a16:creationId xmlns:a16="http://schemas.microsoft.com/office/drawing/2014/main" id="{14D1A004-8B18-AC77-5F9F-76290887E7F2}"/>
              </a:ext>
            </a:extLst>
          </p:cNvPr>
          <p:cNvSpPr txBox="1"/>
          <p:nvPr/>
        </p:nvSpPr>
        <p:spPr>
          <a:xfrm>
            <a:off x="10656339" y="2894376"/>
            <a:ext cx="209033" cy="228268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xx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Google Shape;711;p19">
            <a:extLst>
              <a:ext uri="{FF2B5EF4-FFF2-40B4-BE49-F238E27FC236}">
                <a16:creationId xmlns:a16="http://schemas.microsoft.com/office/drawing/2014/main" id="{1C67073B-5579-728B-3A68-5A65DC8B44A8}"/>
              </a:ext>
            </a:extLst>
          </p:cNvPr>
          <p:cNvSpPr/>
          <p:nvPr/>
        </p:nvSpPr>
        <p:spPr>
          <a:xfrm>
            <a:off x="467806" y="1863786"/>
            <a:ext cx="716235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[Data], </a:t>
            </a: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[Unit]</a:t>
            </a: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C93A7F30-CE7F-E76F-FDA4-EDAAFEA2C951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8;p14">
            <a:extLst>
              <a:ext uri="{FF2B5EF4-FFF2-40B4-BE49-F238E27FC236}">
                <a16:creationId xmlns:a16="http://schemas.microsoft.com/office/drawing/2014/main" id="{117FE550-7978-855F-4155-25A2929894F3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6062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Object 106" hidden="1">
            <a:extLst>
              <a:ext uri="{FF2B5EF4-FFF2-40B4-BE49-F238E27FC236}">
                <a16:creationId xmlns:a16="http://schemas.microsoft.com/office/drawing/2014/main" id="{D399510A-1D28-C5BC-F5E9-68EDDAAD0BC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07" name="Object 106" hidden="1">
                        <a:extLst>
                          <a:ext uri="{FF2B5EF4-FFF2-40B4-BE49-F238E27FC236}">
                            <a16:creationId xmlns:a16="http://schemas.microsoft.com/office/drawing/2014/main" id="{D399510A-1D28-C5BC-F5E9-68EDDAAD0B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object 99">
            <a:extLst>
              <a:ext uri="{FF2B5EF4-FFF2-40B4-BE49-F238E27FC236}">
                <a16:creationId xmlns:a16="http://schemas.microsoft.com/office/drawing/2014/main" id="{74FC4AFA-5724-16E4-0858-E837361AF590}"/>
              </a:ext>
            </a:extLst>
          </p:cNvPr>
          <p:cNvSpPr txBox="1"/>
          <p:nvPr/>
        </p:nvSpPr>
        <p:spPr>
          <a:xfrm>
            <a:off x="5141317" y="2555351"/>
            <a:ext cx="2585700" cy="365494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txBody>
          <a:bodyPr vert="horz" wrap="square" lIns="76200" tIns="36000" rIns="76200" bIns="76200" rtlCol="0">
            <a:no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Forecasted</a:t>
            </a:r>
            <a:r>
              <a:rPr kumimoji="0" lang="en-US" sz="1200" i="1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200" i="1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data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736" y="304347"/>
            <a:ext cx="11082528" cy="782265"/>
          </a:xfrm>
        </p:spPr>
        <p:txBody>
          <a:bodyPr vert="horz" wrap="square" lIns="0" tIns="12700" rIns="0" bIns="0" rtlCol="0">
            <a:spAutoFit/>
          </a:bodyPr>
          <a:lstStyle/>
          <a:p>
            <a:r>
              <a:rPr lang="en-IN" dirty="0"/>
              <a:t>The [insert market] saw a xx% growth from 20xx-20xx and is expected to [insert forecast e.g., continue growth trajectory]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191A698-1416-95E8-48BD-3A1E235F28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07ADB4-214E-F1AA-00CA-C78882C8DC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39" name="Chart 138">
            <a:extLst>
              <a:ext uri="{FF2B5EF4-FFF2-40B4-BE49-F238E27FC236}">
                <a16:creationId xmlns:a16="http://schemas.microsoft.com/office/drawing/2014/main" id="{68A7714F-CF70-7B70-4903-F0D81E0B0002}"/>
              </a:ext>
            </a:extLst>
          </p:cNvPr>
          <p:cNvGraphicFramePr/>
          <p:nvPr/>
        </p:nvGraphicFramePr>
        <p:xfrm>
          <a:off x="558609" y="2719182"/>
          <a:ext cx="7168407" cy="2800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3333F4-9A3D-BFBC-2783-8FD314905E09}"/>
              </a:ext>
            </a:extLst>
          </p:cNvPr>
          <p:cNvCxnSpPr>
            <a:cxnSpLocks/>
          </p:cNvCxnSpPr>
          <p:nvPr/>
        </p:nvCxnSpPr>
        <p:spPr>
          <a:xfrm flipV="1">
            <a:off x="874643" y="4364549"/>
            <a:ext cx="2647967" cy="248478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53CE218-EC61-7D88-7052-29506B088A2F}"/>
              </a:ext>
            </a:extLst>
          </p:cNvPr>
          <p:cNvSpPr/>
          <p:nvPr/>
        </p:nvSpPr>
        <p:spPr>
          <a:xfrm rot="21154229">
            <a:off x="1889846" y="4353978"/>
            <a:ext cx="617560" cy="269621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+14%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2B0AA5-5AA0-9DF8-3129-7EEF1D6BE6FC}"/>
              </a:ext>
            </a:extLst>
          </p:cNvPr>
          <p:cNvCxnSpPr>
            <a:cxnSpLocks/>
          </p:cNvCxnSpPr>
          <p:nvPr/>
        </p:nvCxnSpPr>
        <p:spPr>
          <a:xfrm flipV="1">
            <a:off x="3522610" y="3798595"/>
            <a:ext cx="1187070" cy="508298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77E90E6-2568-418C-B8CD-FCEA2EC7D54F}"/>
              </a:ext>
            </a:extLst>
          </p:cNvPr>
          <p:cNvCxnSpPr>
            <a:cxnSpLocks/>
          </p:cNvCxnSpPr>
          <p:nvPr/>
        </p:nvCxnSpPr>
        <p:spPr>
          <a:xfrm flipV="1">
            <a:off x="4722956" y="2922604"/>
            <a:ext cx="2721453" cy="864209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715E5B4F-76F9-0A0B-0072-C2B18698AAA7}"/>
              </a:ext>
            </a:extLst>
          </p:cNvPr>
          <p:cNvSpPr/>
          <p:nvPr/>
        </p:nvSpPr>
        <p:spPr>
          <a:xfrm rot="20305763">
            <a:off x="3905958" y="3951336"/>
            <a:ext cx="420375" cy="202816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+73%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9ACDC7-CE4C-8A7E-1F14-90FC73803A82}"/>
              </a:ext>
            </a:extLst>
          </p:cNvPr>
          <p:cNvSpPr/>
          <p:nvPr/>
        </p:nvSpPr>
        <p:spPr>
          <a:xfrm>
            <a:off x="5829652" y="3243801"/>
            <a:ext cx="508061" cy="221815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+17%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E2DDF8-918A-EAA4-E113-2B5A52BE3EA3}"/>
              </a:ext>
            </a:extLst>
          </p:cNvPr>
          <p:cNvSpPr txBox="1"/>
          <p:nvPr/>
        </p:nvSpPr>
        <p:spPr>
          <a:xfrm>
            <a:off x="554736" y="1750107"/>
            <a:ext cx="7167319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[Description/takeaway from graph]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ADF1-EC11-BA85-5E34-CD9B228BA5BA}"/>
              </a:ext>
            </a:extLst>
          </p:cNvPr>
          <p:cNvCxnSpPr>
            <a:cxnSpLocks/>
          </p:cNvCxnSpPr>
          <p:nvPr/>
        </p:nvCxnSpPr>
        <p:spPr>
          <a:xfrm>
            <a:off x="554736" y="2262074"/>
            <a:ext cx="716840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9A60F1F-5D5D-E036-CA70-48E4EE8CDAD9}"/>
              </a:ext>
            </a:extLst>
          </p:cNvPr>
          <p:cNvSpPr txBox="1"/>
          <p:nvPr/>
        </p:nvSpPr>
        <p:spPr>
          <a:xfrm>
            <a:off x="554736" y="2333256"/>
            <a:ext cx="880049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[Data],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[Unit]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DE67C9-E1EA-3D32-5F36-5E8310FACBAA}"/>
              </a:ext>
            </a:extLst>
          </p:cNvPr>
          <p:cNvSpPr txBox="1"/>
          <p:nvPr/>
        </p:nvSpPr>
        <p:spPr>
          <a:xfrm>
            <a:off x="7921782" y="1750107"/>
            <a:ext cx="3714918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Comments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4F96CA-BD02-5250-1084-EA9C48995443}"/>
              </a:ext>
            </a:extLst>
          </p:cNvPr>
          <p:cNvCxnSpPr>
            <a:cxnSpLocks/>
          </p:cNvCxnSpPr>
          <p:nvPr/>
        </p:nvCxnSpPr>
        <p:spPr>
          <a:xfrm>
            <a:off x="7921782" y="2262074"/>
            <a:ext cx="371548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9777F0-A02C-E1AB-59ED-E5E049CBAB16}"/>
              </a:ext>
            </a:extLst>
          </p:cNvPr>
          <p:cNvCxnSpPr>
            <a:cxnSpLocks/>
          </p:cNvCxnSpPr>
          <p:nvPr/>
        </p:nvCxnSpPr>
        <p:spPr>
          <a:xfrm>
            <a:off x="7822462" y="1706564"/>
            <a:ext cx="1" cy="45037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4C00130-13E4-CAB9-7E71-576B2E0D475B}"/>
              </a:ext>
            </a:extLst>
          </p:cNvPr>
          <p:cNvSpPr/>
          <p:nvPr/>
        </p:nvSpPr>
        <p:spPr>
          <a:xfrm>
            <a:off x="7921782" y="2407001"/>
            <a:ext cx="3715482" cy="3803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observations or comments]</a:t>
            </a:r>
          </a:p>
          <a:p>
            <a: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observations or comments]</a:t>
            </a:r>
          </a:p>
          <a:p>
            <a: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observations or comments]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tx1"/>
                </a:solidFill>
                <a:latin typeface="Arial"/>
              </a:rPr>
              <a:t>…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0FE3B6B-A5F6-0CA5-653A-8E83A19F3D36}"/>
              </a:ext>
            </a:extLst>
          </p:cNvPr>
          <p:cNvSpPr/>
          <p:nvPr/>
        </p:nvSpPr>
        <p:spPr>
          <a:xfrm>
            <a:off x="1275337" y="5671569"/>
            <a:ext cx="511703" cy="324686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22%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1366AC5-C486-8578-893D-0FD5377381F0}"/>
              </a:ext>
            </a:extLst>
          </p:cNvPr>
          <p:cNvSpPr/>
          <p:nvPr/>
        </p:nvSpPr>
        <p:spPr>
          <a:xfrm>
            <a:off x="1927103" y="5671569"/>
            <a:ext cx="511703" cy="324686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12%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9B32459-5F55-5E20-3CD7-89D72523E4D6}"/>
              </a:ext>
            </a:extLst>
          </p:cNvPr>
          <p:cNvSpPr/>
          <p:nvPr/>
        </p:nvSpPr>
        <p:spPr>
          <a:xfrm>
            <a:off x="2578869" y="5671569"/>
            <a:ext cx="511703" cy="324686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11%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4B61B73-4C11-C7CE-2FDD-3336AF00D64B}"/>
              </a:ext>
            </a:extLst>
          </p:cNvPr>
          <p:cNvSpPr/>
          <p:nvPr/>
        </p:nvSpPr>
        <p:spPr>
          <a:xfrm>
            <a:off x="3230635" y="5671569"/>
            <a:ext cx="511703" cy="324686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13%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F3E3F92-C003-5D40-2C25-C87175DFEBED}"/>
              </a:ext>
            </a:extLst>
          </p:cNvPr>
          <p:cNvSpPr/>
          <p:nvPr/>
        </p:nvSpPr>
        <p:spPr>
          <a:xfrm>
            <a:off x="3882401" y="5671569"/>
            <a:ext cx="511703" cy="324686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73%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847421C-0266-A56E-80AE-549288B42ECE}"/>
              </a:ext>
            </a:extLst>
          </p:cNvPr>
          <p:cNvSpPr/>
          <p:nvPr/>
        </p:nvSpPr>
        <p:spPr>
          <a:xfrm>
            <a:off x="4534167" y="5671569"/>
            <a:ext cx="511703" cy="324686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32%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1EC9386-E704-D85D-22CA-982320D54F8B}"/>
              </a:ext>
            </a:extLst>
          </p:cNvPr>
          <p:cNvSpPr/>
          <p:nvPr/>
        </p:nvSpPr>
        <p:spPr>
          <a:xfrm>
            <a:off x="5185933" y="5671569"/>
            <a:ext cx="511703" cy="324686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13%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24040B-366A-7840-0B5A-00627C92AA4E}"/>
              </a:ext>
            </a:extLst>
          </p:cNvPr>
          <p:cNvSpPr/>
          <p:nvPr/>
        </p:nvSpPr>
        <p:spPr>
          <a:xfrm>
            <a:off x="5837699" y="5671569"/>
            <a:ext cx="511703" cy="324686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14%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93F8F0D-7E7E-C3F8-393C-3FCA2EE61E6B}"/>
              </a:ext>
            </a:extLst>
          </p:cNvPr>
          <p:cNvSpPr/>
          <p:nvPr/>
        </p:nvSpPr>
        <p:spPr>
          <a:xfrm>
            <a:off x="6489465" y="5671569"/>
            <a:ext cx="511703" cy="324686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14%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13E3D93-E8B7-E8BD-D097-64EE3538AF63}"/>
              </a:ext>
            </a:extLst>
          </p:cNvPr>
          <p:cNvSpPr/>
          <p:nvPr/>
        </p:nvSpPr>
        <p:spPr>
          <a:xfrm>
            <a:off x="7141234" y="5671569"/>
            <a:ext cx="511703" cy="324686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14%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F4CCB4-A9B7-4973-53E7-72C778D529DC}"/>
              </a:ext>
            </a:extLst>
          </p:cNvPr>
          <p:cNvSpPr txBox="1"/>
          <p:nvPr/>
        </p:nvSpPr>
        <p:spPr>
          <a:xfrm>
            <a:off x="623607" y="5619451"/>
            <a:ext cx="563594" cy="4289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/>
              <a:t>YoY growth:</a:t>
            </a:r>
          </a:p>
        </p:txBody>
      </p:sp>
      <p:sp>
        <p:nvSpPr>
          <p:cNvPr id="5" name="Google Shape;507;p14">
            <a:extLst>
              <a:ext uri="{FF2B5EF4-FFF2-40B4-BE49-F238E27FC236}">
                <a16:creationId xmlns:a16="http://schemas.microsoft.com/office/drawing/2014/main" id="{C195F4F7-6316-FB30-ADFA-2E424538F636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538;p14">
            <a:extLst>
              <a:ext uri="{FF2B5EF4-FFF2-40B4-BE49-F238E27FC236}">
                <a16:creationId xmlns:a16="http://schemas.microsoft.com/office/drawing/2014/main" id="{AE8471DD-B745-4EC6-C511-56CDF37C8DE4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608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think-cell data - do not delete" hidden="1">
            <a:extLst>
              <a:ext uri="{FF2B5EF4-FFF2-40B4-BE49-F238E27FC236}">
                <a16:creationId xmlns:a16="http://schemas.microsoft.com/office/drawing/2014/main" id="{12C16524-70E5-5793-D44F-B4EE8C66F50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C16524-70E5-5793-D44F-B4EE8C66F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95">
            <a:extLst>
              <a:ext uri="{FF2B5EF4-FFF2-40B4-BE49-F238E27FC236}">
                <a16:creationId xmlns:a16="http://schemas.microsoft.com/office/drawing/2014/main" id="{E40BB84A-2DB5-397F-D025-D61EE8169C67}"/>
              </a:ext>
            </a:extLst>
          </p:cNvPr>
          <p:cNvGraphicFramePr>
            <a:graphicFrameLocks noGrp="1"/>
          </p:cNvGraphicFramePr>
          <p:nvPr/>
        </p:nvGraphicFramePr>
        <p:xfrm>
          <a:off x="499596" y="5220444"/>
          <a:ext cx="3447247" cy="823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7406">
                <a:tc>
                  <a:txBody>
                    <a:bodyPr/>
                    <a:lstStyle/>
                    <a:p>
                      <a:pPr marL="45085" marR="60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lang="en-US" sz="1200" b="1" spc="-15" noProof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200" b="1" spc="-10" noProof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growth </a:t>
                      </a:r>
                      <a:r>
                        <a:rPr lang="en-US" sz="1200" b="1" spc="-25" noProof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[insert]</a:t>
                      </a:r>
                      <a:endParaRPr lang="en-US" sz="1200" noProof="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lang="en-US" sz="1200" b="1" noProof="0" dirty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-</a:t>
                      </a:r>
                      <a:r>
                        <a:rPr lang="en-US" sz="1200" b="1" spc="-25" noProof="0" dirty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7%</a:t>
                      </a:r>
                      <a:endParaRPr lang="en-US" sz="1200" noProof="0" dirty="0">
                        <a:solidFill>
                          <a:srgbClr val="E5546C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5570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lang="en-US" sz="1200" b="1" noProof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-</a:t>
                      </a:r>
                      <a:r>
                        <a:rPr lang="en-US" sz="1200" b="1" spc="-25" noProof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3%</a:t>
                      </a:r>
                      <a:endParaRPr lang="en-US" sz="1200" noProof="0">
                        <a:solidFill>
                          <a:srgbClr val="E5546C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5570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lang="en-US" sz="1200" b="1" noProof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-</a:t>
                      </a:r>
                      <a:r>
                        <a:rPr lang="en-US" sz="1200" b="1" spc="-25" noProof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3%</a:t>
                      </a:r>
                      <a:endParaRPr lang="en-US" sz="1200" noProof="0">
                        <a:solidFill>
                          <a:srgbClr val="E5546C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5570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lang="en-US" sz="1200" b="1" noProof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-</a:t>
                      </a:r>
                      <a:r>
                        <a:rPr lang="en-US" sz="1200" b="1" spc="-25" noProof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25%</a:t>
                      </a:r>
                      <a:endParaRPr lang="en-US" sz="1200" noProof="0">
                        <a:solidFill>
                          <a:srgbClr val="E5546C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5570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406">
                <a:tc>
                  <a:txBody>
                    <a:bodyPr/>
                    <a:lstStyle/>
                    <a:p>
                      <a:pPr marL="45085" marR="60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%</a:t>
                      </a:r>
                      <a:r>
                        <a:rPr lang="en-US" sz="1200" b="1" spc="-15" noProof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 </a:t>
                      </a:r>
                      <a:r>
                        <a:rPr lang="en-US" sz="1200" b="1" spc="-10" noProof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growth </a:t>
                      </a:r>
                      <a:r>
                        <a:rPr lang="en-US" sz="1200" b="1" spc="-25" noProof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[insert]</a:t>
                      </a:r>
                      <a:endParaRPr lang="en-US" sz="1200" noProof="0" dirty="0">
                        <a:solidFill>
                          <a:schemeClr val="bg1"/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B="0">
                    <a:lnL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sz="1200" b="1" spc="-25" noProof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7%</a:t>
                      </a:r>
                      <a:endParaRPr lang="en-US" sz="1200" noProof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4935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sz="1200" b="1" spc="-25" noProof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7%</a:t>
                      </a:r>
                      <a:endParaRPr lang="en-US" sz="1200" noProof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4935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sz="1200" b="1" spc="-25" noProof="0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2%</a:t>
                      </a:r>
                      <a:endParaRPr lang="en-US" sz="1200" noProof="0" dirty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4935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sz="1200" b="1" noProof="0" dirty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-</a:t>
                      </a:r>
                      <a:r>
                        <a:rPr lang="en-US" sz="1200" b="1" spc="-25" noProof="0" dirty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17%</a:t>
                      </a:r>
                      <a:endParaRPr lang="en-US" sz="1200" noProof="0" dirty="0">
                        <a:solidFill>
                          <a:srgbClr val="E5546C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4935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8" name="Chart 127">
            <a:extLst>
              <a:ext uri="{FF2B5EF4-FFF2-40B4-BE49-F238E27FC236}">
                <a16:creationId xmlns:a16="http://schemas.microsoft.com/office/drawing/2014/main" id="{525A464B-71C2-CC83-D527-DA465C21F9A2}"/>
              </a:ext>
            </a:extLst>
          </p:cNvPr>
          <p:cNvGraphicFramePr/>
          <p:nvPr/>
        </p:nvGraphicFramePr>
        <p:xfrm>
          <a:off x="547688" y="2562860"/>
          <a:ext cx="3550540" cy="2389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9" name="Chart 128">
            <a:extLst>
              <a:ext uri="{FF2B5EF4-FFF2-40B4-BE49-F238E27FC236}">
                <a16:creationId xmlns:a16="http://schemas.microsoft.com/office/drawing/2014/main" id="{1E6C86D0-62E4-9C65-75AB-A4AAF9FD281B}"/>
              </a:ext>
            </a:extLst>
          </p:cNvPr>
          <p:cNvGraphicFramePr/>
          <p:nvPr/>
        </p:nvGraphicFramePr>
        <p:xfrm>
          <a:off x="4322088" y="2562860"/>
          <a:ext cx="3550540" cy="247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30" name="Chart 129">
            <a:extLst>
              <a:ext uri="{FF2B5EF4-FFF2-40B4-BE49-F238E27FC236}">
                <a16:creationId xmlns:a16="http://schemas.microsoft.com/office/drawing/2014/main" id="{728771A8-1104-5E07-92D7-6621296BFA14}"/>
              </a:ext>
            </a:extLst>
          </p:cNvPr>
          <p:cNvGraphicFramePr/>
          <p:nvPr/>
        </p:nvGraphicFramePr>
        <p:xfrm>
          <a:off x="8089440" y="2562860"/>
          <a:ext cx="3550540" cy="247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7" name="object 92">
            <a:extLst>
              <a:ext uri="{FF2B5EF4-FFF2-40B4-BE49-F238E27FC236}">
                <a16:creationId xmlns:a16="http://schemas.microsoft.com/office/drawing/2014/main" id="{BB2F66D3-6E74-EF49-40C3-AACE87818AD6}"/>
              </a:ext>
            </a:extLst>
          </p:cNvPr>
          <p:cNvSpPr/>
          <p:nvPr/>
        </p:nvSpPr>
        <p:spPr>
          <a:xfrm>
            <a:off x="9664565" y="1414486"/>
            <a:ext cx="214629" cy="160655"/>
          </a:xfrm>
          <a:custGeom>
            <a:avLst/>
            <a:gdLst/>
            <a:ahLst/>
            <a:cxnLst/>
            <a:rect l="l" t="t" r="r" b="b"/>
            <a:pathLst>
              <a:path w="214629" h="160654">
                <a:moveTo>
                  <a:pt x="214312" y="0"/>
                </a:moveTo>
                <a:lnTo>
                  <a:pt x="0" y="0"/>
                </a:lnTo>
                <a:lnTo>
                  <a:pt x="0" y="160338"/>
                </a:lnTo>
                <a:lnTo>
                  <a:pt x="214312" y="160338"/>
                </a:lnTo>
                <a:lnTo>
                  <a:pt x="214312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A02DC1E-7933-C990-2B75-E302E554243A}"/>
              </a:ext>
            </a:extLst>
          </p:cNvPr>
          <p:cNvSpPr txBox="1"/>
          <p:nvPr/>
        </p:nvSpPr>
        <p:spPr>
          <a:xfrm>
            <a:off x="11044992" y="1402480"/>
            <a:ext cx="501419" cy="18466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marL="1006475" marR="0" lvl="0" indent="-1006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77670" algn="l"/>
              </a:tabLst>
              <a:defRPr/>
            </a:pPr>
            <a:r>
              <a:rPr kumimoji="0" 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Series2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3B86772-3D71-C9E2-DF83-6CF55DE9E33D}"/>
              </a:ext>
            </a:extLst>
          </p:cNvPr>
          <p:cNvSpPr txBox="1"/>
          <p:nvPr/>
        </p:nvSpPr>
        <p:spPr>
          <a:xfrm>
            <a:off x="9910998" y="1402480"/>
            <a:ext cx="496931" cy="18466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77670" algn="l"/>
              </a:tabLst>
              <a:defRPr/>
            </a:pPr>
            <a:r>
              <a:rPr kumimoji="0" lang="en-US" sz="1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Series1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4" name="object 92">
            <a:extLst>
              <a:ext uri="{FF2B5EF4-FFF2-40B4-BE49-F238E27FC236}">
                <a16:creationId xmlns:a16="http://schemas.microsoft.com/office/drawing/2014/main" id="{1A4F440C-4447-4D51-CDE5-386B41B08D91}"/>
              </a:ext>
            </a:extLst>
          </p:cNvPr>
          <p:cNvSpPr/>
          <p:nvPr/>
        </p:nvSpPr>
        <p:spPr>
          <a:xfrm>
            <a:off x="10800539" y="1414486"/>
            <a:ext cx="214629" cy="160655"/>
          </a:xfrm>
          <a:custGeom>
            <a:avLst/>
            <a:gdLst/>
            <a:ahLst/>
            <a:cxnLst/>
            <a:rect l="l" t="t" r="r" b="b"/>
            <a:pathLst>
              <a:path w="214629" h="160654">
                <a:moveTo>
                  <a:pt x="214312" y="0"/>
                </a:moveTo>
                <a:lnTo>
                  <a:pt x="0" y="0"/>
                </a:lnTo>
                <a:lnTo>
                  <a:pt x="0" y="160338"/>
                </a:lnTo>
                <a:lnTo>
                  <a:pt x="214312" y="160338"/>
                </a:lnTo>
                <a:lnTo>
                  <a:pt x="214312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4FFAFD-EBEC-C905-36E8-599E3E020998}"/>
              </a:ext>
            </a:extLst>
          </p:cNvPr>
          <p:cNvSpPr txBox="1"/>
          <p:nvPr/>
        </p:nvSpPr>
        <p:spPr>
          <a:xfrm>
            <a:off x="547688" y="1750107"/>
            <a:ext cx="3550001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[Description/takeaway from graph]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B6038F-3167-637B-55FD-A469B8826A6E}"/>
              </a:ext>
            </a:extLst>
          </p:cNvPr>
          <p:cNvCxnSpPr>
            <a:cxnSpLocks/>
          </p:cNvCxnSpPr>
          <p:nvPr/>
        </p:nvCxnSpPr>
        <p:spPr>
          <a:xfrm>
            <a:off x="547688" y="2262074"/>
            <a:ext cx="35505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37C3BC4-1422-73D4-CAB7-E72FC46733AD}"/>
              </a:ext>
            </a:extLst>
          </p:cNvPr>
          <p:cNvSpPr txBox="1"/>
          <p:nvPr/>
        </p:nvSpPr>
        <p:spPr>
          <a:xfrm>
            <a:off x="4318563" y="1750107"/>
            <a:ext cx="3550001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[Description/takeaway from graph]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847C52-4183-9528-8E16-91B75858125F}"/>
              </a:ext>
            </a:extLst>
          </p:cNvPr>
          <p:cNvCxnSpPr>
            <a:cxnSpLocks/>
          </p:cNvCxnSpPr>
          <p:nvPr/>
        </p:nvCxnSpPr>
        <p:spPr>
          <a:xfrm>
            <a:off x="4318563" y="2262074"/>
            <a:ext cx="35505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E42ECAD-F64A-20A7-DB11-19BC089E1C41}"/>
              </a:ext>
            </a:extLst>
          </p:cNvPr>
          <p:cNvSpPr txBox="1"/>
          <p:nvPr/>
        </p:nvSpPr>
        <p:spPr>
          <a:xfrm>
            <a:off x="8089440" y="1750107"/>
            <a:ext cx="3550001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[Description/takeaway from graph]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D61E90-025A-186C-4FEB-D0CED372FF04}"/>
              </a:ext>
            </a:extLst>
          </p:cNvPr>
          <p:cNvCxnSpPr>
            <a:cxnSpLocks/>
          </p:cNvCxnSpPr>
          <p:nvPr/>
        </p:nvCxnSpPr>
        <p:spPr>
          <a:xfrm>
            <a:off x="8089440" y="2262074"/>
            <a:ext cx="35505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DD01CD-31C8-1FA1-A52B-DC08491F74E5}"/>
              </a:ext>
            </a:extLst>
          </p:cNvPr>
          <p:cNvSpPr txBox="1"/>
          <p:nvPr/>
        </p:nvSpPr>
        <p:spPr>
          <a:xfrm>
            <a:off x="554736" y="2333256"/>
            <a:ext cx="3294172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[Data],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[Unit]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3FE931-D877-A8BD-D293-4E1AC5240C90}"/>
              </a:ext>
            </a:extLst>
          </p:cNvPr>
          <p:cNvSpPr txBox="1"/>
          <p:nvPr/>
        </p:nvSpPr>
        <p:spPr>
          <a:xfrm>
            <a:off x="4322088" y="2333256"/>
            <a:ext cx="880049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[Data],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[Unit]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E3AD55-242E-D8A7-BC97-C84B38B3998D}"/>
              </a:ext>
            </a:extLst>
          </p:cNvPr>
          <p:cNvSpPr txBox="1"/>
          <p:nvPr/>
        </p:nvSpPr>
        <p:spPr>
          <a:xfrm>
            <a:off x="8089440" y="2333256"/>
            <a:ext cx="880049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[Data],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[Unit]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921F24-F7C6-0175-083E-AB4D76B38036}"/>
              </a:ext>
            </a:extLst>
          </p:cNvPr>
          <p:cNvCxnSpPr>
            <a:cxnSpLocks/>
          </p:cNvCxnSpPr>
          <p:nvPr/>
        </p:nvCxnSpPr>
        <p:spPr>
          <a:xfrm>
            <a:off x="7979270" y="1706564"/>
            <a:ext cx="1" cy="45037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661635-353C-6B43-EB56-5E7D4C13BC60}"/>
              </a:ext>
            </a:extLst>
          </p:cNvPr>
          <p:cNvCxnSpPr>
            <a:cxnSpLocks/>
          </p:cNvCxnSpPr>
          <p:nvPr/>
        </p:nvCxnSpPr>
        <p:spPr>
          <a:xfrm>
            <a:off x="4208395" y="1706564"/>
            <a:ext cx="1" cy="45037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bject 2">
            <a:extLst>
              <a:ext uri="{FF2B5EF4-FFF2-40B4-BE49-F238E27FC236}">
                <a16:creationId xmlns:a16="http://schemas.microsoft.com/office/drawing/2014/main" id="{7EC5CF2A-114B-9551-C25C-ACDCD1C7D9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4736" y="565957"/>
            <a:ext cx="11082528" cy="520655"/>
          </a:xfrm>
        </p:spPr>
        <p:txBody>
          <a:bodyPr vert="horz" wrap="square" lIns="0" tIns="134620" rIns="0" bIns="0" rtlCol="0">
            <a:spAutoFit/>
          </a:bodyPr>
          <a:lstStyle/>
          <a:p>
            <a:r>
              <a:rPr lang="en-IN" dirty="0"/>
              <a:t>[Insert] market driven primarily by [insert]</a:t>
            </a: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815772CC-C9AF-8E2A-A0DA-909A8EAEA6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16E727C-4B3D-BD08-7788-D6A68A67DB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4" name="object 95">
            <a:extLst>
              <a:ext uri="{FF2B5EF4-FFF2-40B4-BE49-F238E27FC236}">
                <a16:creationId xmlns:a16="http://schemas.microsoft.com/office/drawing/2014/main" id="{07F37C60-EEC1-B220-8E8C-6B6ADC2AD2A2}"/>
              </a:ext>
            </a:extLst>
          </p:cNvPr>
          <p:cNvGraphicFramePr>
            <a:graphicFrameLocks noGrp="1"/>
          </p:cNvGraphicFramePr>
          <p:nvPr/>
        </p:nvGraphicFramePr>
        <p:xfrm>
          <a:off x="4346165" y="5220444"/>
          <a:ext cx="3447247" cy="823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7406">
                <a:tc>
                  <a:txBody>
                    <a:bodyPr/>
                    <a:lstStyle/>
                    <a:p>
                      <a:pPr marL="45085" marR="60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r>
                        <a:rPr lang="en-US" sz="1200" b="1" spc="-15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spc="-1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growth </a:t>
                      </a:r>
                      <a:r>
                        <a:rPr lang="en-US" sz="1200" b="1" spc="-25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[insert]</a:t>
                      </a:r>
                      <a:endParaRPr lang="en-US" sz="1200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6355" marB="0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10%</a:t>
                      </a:r>
                      <a:endParaRPr sz="1200" dirty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5570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5%</a:t>
                      </a:r>
                      <a:endParaRPr sz="120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5570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4%</a:t>
                      </a:r>
                      <a:endParaRPr sz="1200" dirty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5570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6%</a:t>
                      </a:r>
                      <a:endParaRPr sz="120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5570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406">
                <a:tc>
                  <a:txBody>
                    <a:bodyPr/>
                    <a:lstStyle/>
                    <a:p>
                      <a:pPr marL="45085" marR="60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r>
                        <a:rPr lang="en-US" sz="1200" b="1" spc="-15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spc="-1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growth </a:t>
                      </a:r>
                      <a:r>
                        <a:rPr lang="en-US" sz="1200" b="1" spc="-25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[insert]</a:t>
                      </a:r>
                      <a:endParaRPr lang="en-US" sz="1200" noProof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B="0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6%</a:t>
                      </a:r>
                      <a:endParaRPr sz="1200" dirty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4935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5%</a:t>
                      </a:r>
                      <a:endParaRPr sz="1200" dirty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4935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2%</a:t>
                      </a:r>
                      <a:endParaRPr sz="1200" dirty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4935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5%</a:t>
                      </a:r>
                      <a:endParaRPr sz="1200" dirty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4935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object 95">
            <a:extLst>
              <a:ext uri="{FF2B5EF4-FFF2-40B4-BE49-F238E27FC236}">
                <a16:creationId xmlns:a16="http://schemas.microsoft.com/office/drawing/2014/main" id="{B68C4FEC-0D6E-D211-3F80-D0E089BE562A}"/>
              </a:ext>
            </a:extLst>
          </p:cNvPr>
          <p:cNvGraphicFramePr>
            <a:graphicFrameLocks noGrp="1"/>
          </p:cNvGraphicFramePr>
          <p:nvPr/>
        </p:nvGraphicFramePr>
        <p:xfrm>
          <a:off x="8192733" y="5220444"/>
          <a:ext cx="3447247" cy="823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7406">
                <a:tc>
                  <a:txBody>
                    <a:bodyPr/>
                    <a:lstStyle/>
                    <a:p>
                      <a:pPr marL="45085" marR="60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lang="en-US" sz="1200" b="1" spc="-15" noProof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200" b="1" spc="-10" noProof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growth </a:t>
                      </a:r>
                      <a:r>
                        <a:rPr lang="en-US" sz="1200" b="1" spc="-25" noProof="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[insert]</a:t>
                      </a:r>
                      <a:endParaRPr lang="en-US" sz="1200" noProof="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2%</a:t>
                      </a:r>
                      <a:endParaRPr sz="1200" dirty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5570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236220" algn="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3%</a:t>
                      </a:r>
                      <a:endParaRPr sz="1200" dirty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5570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1%</a:t>
                      </a:r>
                      <a:endParaRPr sz="1200" dirty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5570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dirty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-</a:t>
                      </a:r>
                      <a:r>
                        <a:rPr sz="1200" b="1" spc="-25" dirty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21%</a:t>
                      </a:r>
                      <a:endParaRPr sz="1200" dirty="0">
                        <a:solidFill>
                          <a:srgbClr val="E5546C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5570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406">
                <a:tc>
                  <a:txBody>
                    <a:bodyPr/>
                    <a:lstStyle/>
                    <a:p>
                      <a:pPr marL="45085" marR="60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%</a:t>
                      </a:r>
                      <a:r>
                        <a:rPr lang="en-US" sz="1200" b="1" spc="-15" noProof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 </a:t>
                      </a:r>
                      <a:r>
                        <a:rPr lang="en-US" sz="1200" b="1" spc="-10" noProof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growth </a:t>
                      </a:r>
                      <a:r>
                        <a:rPr lang="en-US" sz="1200" b="1" spc="-25" noProof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[insert]</a:t>
                      </a:r>
                      <a:endParaRPr lang="en-US" sz="1200" noProof="0" dirty="0">
                        <a:solidFill>
                          <a:schemeClr val="bg1"/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B="0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13%</a:t>
                      </a:r>
                      <a:endParaRPr sz="120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4935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200025" algn="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13%</a:t>
                      </a:r>
                      <a:endParaRPr sz="1200" dirty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4935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spc="-25" dirty="0">
                          <a:solidFill>
                            <a:srgbClr val="3C96B4"/>
                          </a:solidFill>
                          <a:latin typeface="+mn-lt"/>
                          <a:cs typeface="Calibri"/>
                        </a:rPr>
                        <a:t>5%</a:t>
                      </a:r>
                      <a:endParaRPr sz="1200" dirty="0">
                        <a:solidFill>
                          <a:srgbClr val="3C96B4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4935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dirty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-</a:t>
                      </a:r>
                      <a:r>
                        <a:rPr sz="1200" b="1" spc="-25" dirty="0">
                          <a:solidFill>
                            <a:srgbClr val="E5546C"/>
                          </a:solidFill>
                          <a:latin typeface="+mn-lt"/>
                          <a:cs typeface="Calibri"/>
                        </a:rPr>
                        <a:t>13%</a:t>
                      </a:r>
                      <a:endParaRPr sz="1200" dirty="0">
                        <a:solidFill>
                          <a:srgbClr val="E5546C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114935" marB="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Google Shape;507;p14">
            <a:extLst>
              <a:ext uri="{FF2B5EF4-FFF2-40B4-BE49-F238E27FC236}">
                <a16:creationId xmlns:a16="http://schemas.microsoft.com/office/drawing/2014/main" id="{3912C8F0-9BE5-2F7B-3B8A-08020EE27DE6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538;p14">
            <a:extLst>
              <a:ext uri="{FF2B5EF4-FFF2-40B4-BE49-F238E27FC236}">
                <a16:creationId xmlns:a16="http://schemas.microsoft.com/office/drawing/2014/main" id="{A628CBEF-C321-5D3A-2110-4864C9ECB86C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354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AE82-3FC9-9941-9EFF-EF4817CF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market is [insert e.g., profitable] compared to the [insert] average</a:t>
            </a:r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CCC734B4-B78C-E517-1A3F-DAD022CC6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03C39FA-BA92-991D-3CF2-B32284F4AF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C1B18D7-D45B-9D1D-785F-393CC4E514F3}"/>
              </a:ext>
            </a:extLst>
          </p:cNvPr>
          <p:cNvGraphicFramePr>
            <a:graphicFrameLocks/>
          </p:cNvGraphicFramePr>
          <p:nvPr/>
        </p:nvGraphicFramePr>
        <p:xfrm>
          <a:off x="536295" y="2695752"/>
          <a:ext cx="7274067" cy="3327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6250945-570D-6C70-6B0B-16C2C0C88079}"/>
              </a:ext>
            </a:extLst>
          </p:cNvPr>
          <p:cNvSpPr txBox="1"/>
          <p:nvPr/>
        </p:nvSpPr>
        <p:spPr>
          <a:xfrm>
            <a:off x="558609" y="1593423"/>
            <a:ext cx="7296092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[Description/takeaway from graph]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935BD4-64AC-64CF-B478-ABD42C550C4C}"/>
              </a:ext>
            </a:extLst>
          </p:cNvPr>
          <p:cNvCxnSpPr>
            <a:cxnSpLocks/>
          </p:cNvCxnSpPr>
          <p:nvPr/>
        </p:nvCxnSpPr>
        <p:spPr>
          <a:xfrm>
            <a:off x="558609" y="2105390"/>
            <a:ext cx="7297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0BE452-B3EB-94F4-6299-60FA1BD61B07}"/>
              </a:ext>
            </a:extLst>
          </p:cNvPr>
          <p:cNvSpPr txBox="1"/>
          <p:nvPr/>
        </p:nvSpPr>
        <p:spPr>
          <a:xfrm>
            <a:off x="558608" y="2217399"/>
            <a:ext cx="3988669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[Unit]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80D15-F7EF-0017-745C-8A83BDCBE768}"/>
              </a:ext>
            </a:extLst>
          </p:cNvPr>
          <p:cNvSpPr txBox="1"/>
          <p:nvPr/>
        </p:nvSpPr>
        <p:spPr>
          <a:xfrm>
            <a:off x="8106032" y="1593423"/>
            <a:ext cx="353510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Comments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198D9C-6012-9131-6CAA-38E6F506953A}"/>
              </a:ext>
            </a:extLst>
          </p:cNvPr>
          <p:cNvCxnSpPr>
            <a:cxnSpLocks/>
          </p:cNvCxnSpPr>
          <p:nvPr/>
        </p:nvCxnSpPr>
        <p:spPr>
          <a:xfrm>
            <a:off x="7980920" y="1470312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304CC7-0BBD-7309-C927-A3AF3F71C826}"/>
              </a:ext>
            </a:extLst>
          </p:cNvPr>
          <p:cNvCxnSpPr>
            <a:cxnSpLocks/>
          </p:cNvCxnSpPr>
          <p:nvPr/>
        </p:nvCxnSpPr>
        <p:spPr>
          <a:xfrm>
            <a:off x="8106032" y="2105390"/>
            <a:ext cx="353510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6B31234-234A-8593-856E-CA6B499B7907}"/>
              </a:ext>
            </a:extLst>
          </p:cNvPr>
          <p:cNvSpPr txBox="1"/>
          <p:nvPr/>
        </p:nvSpPr>
        <p:spPr>
          <a:xfrm>
            <a:off x="8240476" y="2364223"/>
            <a:ext cx="340066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latin typeface="Arial" panose="020B0604020202020204"/>
              </a:rPr>
              <a:t>…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7" name="Line 33">
            <a:extLst>
              <a:ext uri="{FF2B5EF4-FFF2-40B4-BE49-F238E27FC236}">
                <a16:creationId xmlns:a16="http://schemas.microsoft.com/office/drawing/2014/main" id="{CF629EAA-E3A4-BD66-70DE-72CB522A058A}"/>
              </a:ext>
            </a:extLst>
          </p:cNvPr>
          <p:cNvSpPr>
            <a:spLocks noChangeShapeType="1"/>
          </p:cNvSpPr>
          <p:nvPr>
            <p:custDataLst>
              <p:tags r:id="rId1"/>
            </p:custDataLst>
          </p:nvPr>
        </p:nvSpPr>
        <p:spPr bwMode="gray">
          <a:xfrm flipH="1" flipV="1">
            <a:off x="5549900" y="2839649"/>
            <a:ext cx="1887" cy="28438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32962" fontAlgn="base">
              <a:spcBef>
                <a:spcPct val="0"/>
              </a:spcBef>
              <a:spcAft>
                <a:spcPct val="0"/>
              </a:spcAft>
            </a:pPr>
            <a:endParaRPr lang="en-US" sz="1530">
              <a:latin typeface="Arial" panose="020B0604020202020204" pitchFamily="34" charset="0"/>
            </a:endParaRP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F074A938-C524-BAE9-0BEF-EA8224C3A28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 rot="5400000">
            <a:off x="5484300" y="2674605"/>
            <a:ext cx="131200" cy="155496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pPr defTabSz="932962" fontAlgn="base">
              <a:spcBef>
                <a:spcPct val="0"/>
              </a:spcBef>
              <a:spcAft>
                <a:spcPct val="0"/>
              </a:spcAft>
            </a:pPr>
            <a:endParaRPr lang="en-US" sz="1530">
              <a:latin typeface="Arial" panose="020B0604020202020204" pitchFamily="34" charset="0"/>
            </a:endParaRP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C7B1780E-D430-C884-5C4C-FABC3086A6A9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5324755" y="2404008"/>
            <a:ext cx="450289" cy="24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/>
          <a:lstStyle>
            <a:lvl1pPr defTabSz="895350"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4463" indent="-142875" defTabSz="895350"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5275" indent="-149225" defTabSz="895350"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1800" indent="-134938" defTabSz="895350"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582613" indent="-149225" defTabSz="895350"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0398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4970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9542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4114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3526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err="1">
                <a:cs typeface="Arial" panose="020B0604020202020204" pitchFamily="34" charset="0"/>
              </a:rPr>
              <a:t>Ø</a:t>
            </a:r>
            <a:r>
              <a:rPr lang="en-US" altLang="en-US" sz="1200" dirty="0">
                <a:cs typeface="Arial" panose="020B0604020202020204" pitchFamily="34" charset="0"/>
              </a:rPr>
              <a:t> </a:t>
            </a:r>
            <a:fld id="{8BCAE2A5-FFB7-5D47-A485-FD47A82151F3}" type="datetime'''''''''''''''''''''''''''''''''''2''''''''3'">
              <a:rPr lang="en-US" altLang="en-US" sz="1200">
                <a:cs typeface="Arial" panose="020B0604020202020204" pitchFamily="34" charset="0"/>
              </a:rPr>
              <a:pPr algn="ctr" defTabSz="913526"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 sz="1200" dirty="0">
              <a:cs typeface="Arial" panose="020B0604020202020204" pitchFamily="34" charset="0"/>
            </a:endParaRP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8A221B50-D908-A094-4F38-FCC44E3FB0F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538;p14">
            <a:extLst>
              <a:ext uri="{FF2B5EF4-FFF2-40B4-BE49-F238E27FC236}">
                <a16:creationId xmlns:a16="http://schemas.microsoft.com/office/drawing/2014/main" id="{37E7AC7B-A1A8-DED9-979B-C917D024BC13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4984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think-cell data - do not delete" hidden="1">
            <a:extLst>
              <a:ext uri="{FF2B5EF4-FFF2-40B4-BE49-F238E27FC236}">
                <a16:creationId xmlns:a16="http://schemas.microsoft.com/office/drawing/2014/main" id="{D90A54CF-AEDE-46B6-3885-F45B276652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0A54CF-AEDE-46B6-3885-F45B276652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" name="Chart 142">
            <a:extLst>
              <a:ext uri="{FF2B5EF4-FFF2-40B4-BE49-F238E27FC236}">
                <a16:creationId xmlns:a16="http://schemas.microsoft.com/office/drawing/2014/main" id="{C7441107-1068-1A2A-5064-A5F17BC20015}"/>
              </a:ext>
            </a:extLst>
          </p:cNvPr>
          <p:cNvGraphicFramePr/>
          <p:nvPr/>
        </p:nvGraphicFramePr>
        <p:xfrm>
          <a:off x="554735" y="2649062"/>
          <a:ext cx="7168408" cy="35736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2BB4CF-B98F-5B76-BABA-02DAABF133C7}"/>
              </a:ext>
            </a:extLst>
          </p:cNvPr>
          <p:cNvSpPr txBox="1"/>
          <p:nvPr/>
        </p:nvSpPr>
        <p:spPr>
          <a:xfrm>
            <a:off x="554736" y="1750107"/>
            <a:ext cx="7167319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[Description/takeaway from graph]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ABD360B-DDE6-82E8-2779-2B0E32F36435}"/>
              </a:ext>
            </a:extLst>
          </p:cNvPr>
          <p:cNvCxnSpPr>
            <a:cxnSpLocks/>
          </p:cNvCxnSpPr>
          <p:nvPr/>
        </p:nvCxnSpPr>
        <p:spPr>
          <a:xfrm>
            <a:off x="554736" y="2262074"/>
            <a:ext cx="716840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41A110-EB27-DF5F-C2BD-32DB915FB85D}"/>
              </a:ext>
            </a:extLst>
          </p:cNvPr>
          <p:cNvSpPr txBox="1"/>
          <p:nvPr/>
        </p:nvSpPr>
        <p:spPr>
          <a:xfrm>
            <a:off x="7921782" y="1750107"/>
            <a:ext cx="3714918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Comments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0DA70E-8ACD-156D-9053-0122CF21FBD6}"/>
              </a:ext>
            </a:extLst>
          </p:cNvPr>
          <p:cNvCxnSpPr>
            <a:cxnSpLocks/>
          </p:cNvCxnSpPr>
          <p:nvPr/>
        </p:nvCxnSpPr>
        <p:spPr>
          <a:xfrm>
            <a:off x="7921782" y="2262074"/>
            <a:ext cx="371548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6FE9A8D-18DF-5D8B-FD45-BF810B49848C}"/>
              </a:ext>
            </a:extLst>
          </p:cNvPr>
          <p:cNvCxnSpPr>
            <a:cxnSpLocks/>
          </p:cNvCxnSpPr>
          <p:nvPr/>
        </p:nvCxnSpPr>
        <p:spPr>
          <a:xfrm>
            <a:off x="7822462" y="1706564"/>
            <a:ext cx="1" cy="45037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9AFFE0B-1207-BA5E-D71F-56965A299726}"/>
              </a:ext>
            </a:extLst>
          </p:cNvPr>
          <p:cNvSpPr/>
          <p:nvPr/>
        </p:nvSpPr>
        <p:spPr>
          <a:xfrm>
            <a:off x="7921782" y="2407001"/>
            <a:ext cx="3715482" cy="3803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observations or comments]</a:t>
            </a:r>
          </a:p>
          <a:p>
            <a: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observations or comments]</a:t>
            </a:r>
          </a:p>
          <a:p>
            <a: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observations or comments]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tx1"/>
                </a:solidFill>
                <a:latin typeface="Arial"/>
              </a:rPr>
              <a:t>…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8BA290-5742-6CFD-8289-855F3BD5DBFB}"/>
              </a:ext>
            </a:extLst>
          </p:cNvPr>
          <p:cNvSpPr txBox="1"/>
          <p:nvPr/>
        </p:nvSpPr>
        <p:spPr>
          <a:xfrm>
            <a:off x="554736" y="2333256"/>
            <a:ext cx="880049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[Data],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[Unit]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3D8573-4708-6F0B-A422-2C87173AA40B}"/>
              </a:ext>
            </a:extLst>
          </p:cNvPr>
          <p:cNvCxnSpPr>
            <a:cxnSpLocks/>
          </p:cNvCxnSpPr>
          <p:nvPr/>
        </p:nvCxnSpPr>
        <p:spPr>
          <a:xfrm>
            <a:off x="6214449" y="3221458"/>
            <a:ext cx="0" cy="2809932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386DED5C-0490-DFA6-50BC-0A17A56B0B4B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8;p14">
            <a:extLst>
              <a:ext uri="{FF2B5EF4-FFF2-40B4-BE49-F238E27FC236}">
                <a16:creationId xmlns:a16="http://schemas.microsoft.com/office/drawing/2014/main" id="{60A4EB8E-962F-4FDE-DB22-0E62D508164E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DE600FC-A999-3FED-BF79-805AEA136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[Insert main takeaway/action title]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69BC2F9-D922-3598-FD65-CC30A8F5E5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687B1F6-8098-3186-7EDD-AFDB6DA270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34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Object 103" hidden="1">
            <a:extLst>
              <a:ext uri="{FF2B5EF4-FFF2-40B4-BE49-F238E27FC236}">
                <a16:creationId xmlns:a16="http://schemas.microsoft.com/office/drawing/2014/main" id="{DF5429A4-FE30-9C2F-3277-8973159CDBB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04" name="Object 103" hidden="1">
                        <a:extLst>
                          <a:ext uri="{FF2B5EF4-FFF2-40B4-BE49-F238E27FC236}">
                            <a16:creationId xmlns:a16="http://schemas.microsoft.com/office/drawing/2014/main" id="{DF5429A4-FE30-9C2F-3277-8973159CD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1827913" y="1813098"/>
            <a:ext cx="52578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Channel</a:t>
            </a:r>
            <a:endParaRPr kumimoji="0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25801" y="1807003"/>
            <a:ext cx="72199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Description</a:t>
            </a:r>
            <a:endParaRPr kumimoji="0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554736" y="565957"/>
            <a:ext cx="11082528" cy="520655"/>
          </a:xfrm>
        </p:spPr>
        <p:txBody>
          <a:bodyPr vert="horz" wrap="square" lIns="0" tIns="134620" rIns="0" bIns="0" rtlCol="0">
            <a:spAutoFit/>
          </a:bodyPr>
          <a:lstStyle/>
          <a:p>
            <a:r>
              <a:rPr lang="en-IN" dirty="0"/>
              <a:t>[Insert segment/product] is distributed across four main channels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6659132-37AD-64D5-6F5C-FBE6BCFB72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0100436-8614-17B6-CEDD-29BF178B24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547688" y="4205538"/>
            <a:ext cx="846772" cy="1764037"/>
          </a:xfrm>
          <a:prstGeom prst="rect">
            <a:avLst/>
          </a:prstGeom>
          <a:solidFill>
            <a:schemeClr val="accent4"/>
          </a:solidFill>
          <a:ln w="15875">
            <a:solidFill>
              <a:schemeClr val="accent4"/>
            </a:solidFill>
          </a:ln>
        </p:spPr>
        <p:txBody>
          <a:bodyPr vert="horz" wrap="square" lIns="36000" tIns="91440" rIns="36000" bIns="0" rtlCol="0" anchor="ctr">
            <a:no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[Group 1]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688" y="2289862"/>
            <a:ext cx="846772" cy="1764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vert="horz" wrap="square" lIns="36000" tIns="91440" rIns="36000" bIns="0" rtlCol="0" anchor="ctr">
            <a:no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[Group 1]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6818" y="2290905"/>
            <a:ext cx="1063343" cy="816271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txBody>
          <a:bodyPr vert="horz" wrap="none" lIns="91440" tIns="91440" rIns="91440" bIns="91440" rtlCol="0" anchor="ctr">
            <a:no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[Channel 1]</a:t>
            </a:r>
            <a:endParaRPr kumimoji="0" lang="en-US" sz="1000" b="0" i="0" u="none" strike="noStrike" kern="1200" cap="none" spc="0" normalizeH="0" baseline="23809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6818" y="3236662"/>
            <a:ext cx="1063343" cy="817200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txBody>
          <a:bodyPr vert="horz" wrap="none" lIns="91440" tIns="91440" rIns="91440" bIns="91440" rtlCol="0" anchor="ctr">
            <a:no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[Channel 2]</a:t>
            </a:r>
            <a:endParaRPr kumimoji="0" lang="en-US" sz="1000" b="0" i="0" u="none" strike="noStrike" kern="1200" cap="none" spc="0" normalizeH="0" baseline="23809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16818" y="4205538"/>
            <a:ext cx="1063343" cy="817200"/>
          </a:xfrm>
          <a:prstGeom prst="rect">
            <a:avLst/>
          </a:prstGeom>
          <a:noFill/>
          <a:ln w="15875">
            <a:solidFill>
              <a:schemeClr val="accent4"/>
            </a:solidFill>
          </a:ln>
        </p:spPr>
        <p:txBody>
          <a:bodyPr vert="horz" wrap="none" lIns="91440" tIns="91440" rIns="91440" bIns="91440" rtlCol="0" anchor="ctr">
            <a:no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[Channel 3]</a:t>
            </a:r>
            <a:endParaRPr kumimoji="0" lang="en-US" sz="1000" b="0" i="0" u="none" strike="noStrike" kern="1200" cap="none" spc="0" normalizeH="0" baseline="23809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16818" y="5152375"/>
            <a:ext cx="1063343" cy="817200"/>
          </a:xfrm>
          <a:prstGeom prst="rect">
            <a:avLst/>
          </a:prstGeom>
          <a:noFill/>
          <a:ln w="15875">
            <a:solidFill>
              <a:schemeClr val="accent4"/>
            </a:solidFill>
          </a:ln>
        </p:spPr>
        <p:txBody>
          <a:bodyPr vert="horz" wrap="none" lIns="91440" tIns="91440" rIns="91440" bIns="91440" rtlCol="0" anchor="ctr">
            <a:no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[Channel 4]</a:t>
            </a:r>
            <a:endParaRPr kumimoji="0" lang="en-US" sz="1000" b="0" i="0" u="none" strike="noStrike" kern="1200" cap="none" spc="0" normalizeH="0" baseline="23809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07213" y="2290905"/>
            <a:ext cx="3301233" cy="8162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ctr">
            <a:noAutofit/>
          </a:bodyPr>
          <a:lstStyle/>
          <a:p>
            <a:pPr marL="97155" marR="5080" lvl="0" indent="-8509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97155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short description]</a:t>
            </a:r>
          </a:p>
          <a:p>
            <a:pPr marL="97155" marR="5080" indent="-85090">
              <a:spcBef>
                <a:spcPts val="100"/>
              </a:spcBef>
              <a:buFontTx/>
              <a:buChar char="•"/>
              <a:tabLst>
                <a:tab pos="97155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short description]</a:t>
            </a:r>
          </a:p>
          <a:p>
            <a:pPr marL="97155" marR="5080" indent="-85090">
              <a:spcBef>
                <a:spcPts val="100"/>
              </a:spcBef>
              <a:buFontTx/>
              <a:buChar char="•"/>
              <a:tabLst>
                <a:tab pos="97155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short description]</a:t>
            </a:r>
          </a:p>
          <a:p>
            <a:pPr marL="97155" marR="5080" lvl="0" indent="-8509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97155" algn="l"/>
              </a:tabLst>
              <a:defRPr/>
            </a:pPr>
            <a:r>
              <a:rPr lang="en-US" sz="1000" dirty="0">
                <a:latin typeface="Arial"/>
                <a:cs typeface="Arial"/>
              </a:rPr>
              <a:t>…</a:t>
            </a:r>
            <a:endParaRPr kumimoji="0" lang="en-US" sz="1000" b="0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07213" y="3236662"/>
            <a:ext cx="3301233" cy="81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ctr">
            <a:noAutofit/>
          </a:bodyPr>
          <a:lstStyle/>
          <a:p>
            <a:pPr marL="97155" marR="5080" lvl="0" indent="-8509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97155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short description]</a:t>
            </a:r>
          </a:p>
          <a:p>
            <a:pPr marL="97155" marR="5080" indent="-85090">
              <a:spcBef>
                <a:spcPts val="100"/>
              </a:spcBef>
              <a:buFontTx/>
              <a:buChar char="•"/>
              <a:tabLst>
                <a:tab pos="97155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short description]</a:t>
            </a:r>
          </a:p>
          <a:p>
            <a:pPr marL="97155" marR="5080" indent="-85090">
              <a:spcBef>
                <a:spcPts val="100"/>
              </a:spcBef>
              <a:buFontTx/>
              <a:buChar char="•"/>
              <a:tabLst>
                <a:tab pos="97155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short description]</a:t>
            </a:r>
          </a:p>
          <a:p>
            <a:pPr marL="97155" marR="5080" lvl="0" indent="-8509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97155" algn="l"/>
              </a:tabLst>
              <a:defRPr/>
            </a:pPr>
            <a:r>
              <a:rPr lang="en-US" sz="1000" dirty="0">
                <a:latin typeface="Arial"/>
                <a:cs typeface="Arial"/>
              </a:rPr>
              <a:t>…</a:t>
            </a:r>
            <a:endParaRPr kumimoji="0" lang="en-US" sz="1000" b="0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07213" y="4205538"/>
            <a:ext cx="3301233" cy="81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ctr">
            <a:noAutofit/>
          </a:bodyPr>
          <a:lstStyle/>
          <a:p>
            <a:pPr marL="97155" marR="5080" lvl="0" indent="-8509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97155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short description]</a:t>
            </a:r>
          </a:p>
          <a:p>
            <a:pPr marL="97155" marR="5080" indent="-85090">
              <a:spcBef>
                <a:spcPts val="100"/>
              </a:spcBef>
              <a:buFontTx/>
              <a:buChar char="•"/>
              <a:tabLst>
                <a:tab pos="97155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short description]</a:t>
            </a:r>
          </a:p>
          <a:p>
            <a:pPr marL="97155" marR="5080" indent="-85090">
              <a:spcBef>
                <a:spcPts val="100"/>
              </a:spcBef>
              <a:buFontTx/>
              <a:buChar char="•"/>
              <a:tabLst>
                <a:tab pos="97155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short description]</a:t>
            </a:r>
          </a:p>
          <a:p>
            <a:pPr marL="97155" marR="5080" lvl="0" indent="-8509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97155" algn="l"/>
              </a:tabLst>
              <a:defRPr/>
            </a:pPr>
            <a:r>
              <a:rPr lang="en-US" sz="1000" dirty="0">
                <a:latin typeface="Arial"/>
                <a:cs typeface="Arial"/>
              </a:rPr>
              <a:t>…</a:t>
            </a:r>
            <a:endParaRPr kumimoji="0" lang="en-US" sz="1000" b="0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07213" y="5152375"/>
            <a:ext cx="3301233" cy="81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ctr">
            <a:noAutofit/>
          </a:bodyPr>
          <a:lstStyle/>
          <a:p>
            <a:pPr marL="97155" marR="5080" lvl="0" indent="-8509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97155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short description]</a:t>
            </a:r>
          </a:p>
          <a:p>
            <a:pPr marL="97155" marR="5080" indent="-85090">
              <a:spcBef>
                <a:spcPts val="100"/>
              </a:spcBef>
              <a:buFontTx/>
              <a:buChar char="•"/>
              <a:tabLst>
                <a:tab pos="97155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short description]</a:t>
            </a:r>
          </a:p>
          <a:p>
            <a:pPr marL="97155" marR="5080" indent="-85090">
              <a:spcBef>
                <a:spcPts val="100"/>
              </a:spcBef>
              <a:buFontTx/>
              <a:buChar char="•"/>
              <a:tabLst>
                <a:tab pos="97155" algn="l"/>
              </a:tabLst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short description]</a:t>
            </a:r>
          </a:p>
          <a:p>
            <a:pPr marL="97155" marR="5080" lvl="0" indent="-8509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97155" algn="l"/>
              </a:tabLst>
              <a:defRPr/>
            </a:pPr>
            <a:r>
              <a:rPr lang="en-US" sz="1000" dirty="0">
                <a:latin typeface="Arial"/>
                <a:cs typeface="Arial"/>
              </a:rPr>
              <a:t>…</a:t>
            </a:r>
            <a:endParaRPr kumimoji="0" lang="en-US" sz="1000" b="0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119" name="Chart 118">
            <a:extLst>
              <a:ext uri="{FF2B5EF4-FFF2-40B4-BE49-F238E27FC236}">
                <a16:creationId xmlns:a16="http://schemas.microsoft.com/office/drawing/2014/main" id="{692CD8E7-0BDC-C0B6-2AD0-23C445D33153}"/>
              </a:ext>
            </a:extLst>
          </p:cNvPr>
          <p:cNvGraphicFramePr/>
          <p:nvPr/>
        </p:nvGraphicFramePr>
        <p:xfrm>
          <a:off x="6303136" y="2227120"/>
          <a:ext cx="5334828" cy="39844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310C10A8-4E9F-5F8C-AF4D-AED9C06080D2}"/>
              </a:ext>
            </a:extLst>
          </p:cNvPr>
          <p:cNvGrpSpPr/>
          <p:nvPr/>
        </p:nvGrpSpPr>
        <p:grpSpPr>
          <a:xfrm>
            <a:off x="5892737" y="1980794"/>
            <a:ext cx="410399" cy="4176000"/>
            <a:chOff x="5945672" y="2130770"/>
            <a:chExt cx="410399" cy="417600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7BFC79B-A583-DA7D-C6D5-90F4C5C5B238}"/>
                </a:ext>
              </a:extLst>
            </p:cNvPr>
            <p:cNvCxnSpPr>
              <a:cxnSpLocks/>
            </p:cNvCxnSpPr>
            <p:nvPr/>
          </p:nvCxnSpPr>
          <p:spPr>
            <a:xfrm>
              <a:off x="6150872" y="2130770"/>
              <a:ext cx="0" cy="417600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7DDD0DF-645A-67C4-3B03-2D9169AF713E}"/>
                </a:ext>
              </a:extLst>
            </p:cNvPr>
            <p:cNvGrpSpPr/>
            <p:nvPr/>
          </p:nvGrpSpPr>
          <p:grpSpPr>
            <a:xfrm>
              <a:off x="5945672" y="4013030"/>
              <a:ext cx="410399" cy="411480"/>
              <a:chOff x="5945672" y="4205532"/>
              <a:chExt cx="410399" cy="41148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973AB5B-B225-8345-3A88-4BA5720080FD}"/>
                  </a:ext>
                </a:extLst>
              </p:cNvPr>
              <p:cNvSpPr/>
              <p:nvPr/>
            </p:nvSpPr>
            <p:spPr>
              <a:xfrm>
                <a:off x="5945672" y="4205532"/>
                <a:ext cx="410399" cy="41148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Triangle 32">
                <a:extLst>
                  <a:ext uri="{FF2B5EF4-FFF2-40B4-BE49-F238E27FC236}">
                    <a16:creationId xmlns:a16="http://schemas.microsoft.com/office/drawing/2014/main" id="{98522B44-6019-6C63-128A-D076C09CC1E2}"/>
                  </a:ext>
                </a:extLst>
              </p:cNvPr>
              <p:cNvSpPr/>
              <p:nvPr/>
            </p:nvSpPr>
            <p:spPr>
              <a:xfrm rot="5400000">
                <a:off x="6032808" y="4333088"/>
                <a:ext cx="259644" cy="150560"/>
              </a:xfrm>
              <a:prstGeom prst="triangl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5F200FD-6009-7C4D-BF2A-B2824BE83D9D}"/>
                  </a:ext>
                </a:extLst>
              </p:cNvPr>
              <p:cNvSpPr/>
              <p:nvPr/>
            </p:nvSpPr>
            <p:spPr>
              <a:xfrm>
                <a:off x="6061092" y="4266956"/>
                <a:ext cx="46376" cy="30052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5" name="object 3">
            <a:extLst>
              <a:ext uri="{FF2B5EF4-FFF2-40B4-BE49-F238E27FC236}">
                <a16:creationId xmlns:a16="http://schemas.microsoft.com/office/drawing/2014/main" id="{B9F4CD99-759B-FC92-4AB4-8781BD409A6F}"/>
              </a:ext>
            </a:extLst>
          </p:cNvPr>
          <p:cNvSpPr txBox="1"/>
          <p:nvPr/>
        </p:nvSpPr>
        <p:spPr>
          <a:xfrm>
            <a:off x="547688" y="1810401"/>
            <a:ext cx="5345049" cy="340786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91440" tIns="91440" rIns="91440" bIns="91440" rtlCol="0" anchor="ctr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bg1"/>
                </a:solidFill>
                <a:latin typeface="Arial"/>
                <a:cs typeface="Arial"/>
              </a:rPr>
              <a:t>[Insert segment/product] </a:t>
            </a:r>
            <a:r>
              <a:rPr kumimoji="0" lang="en-US" sz="1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distribution channel landscape</a:t>
            </a:r>
            <a:endParaRPr kumimoji="0" lang="en-US" sz="1200" b="0" i="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5AA9D568-5B0A-A4C8-CD49-AA89ADBBAFFB}"/>
              </a:ext>
            </a:extLst>
          </p:cNvPr>
          <p:cNvSpPr txBox="1"/>
          <p:nvPr/>
        </p:nvSpPr>
        <p:spPr>
          <a:xfrm>
            <a:off x="6296088" y="1810401"/>
            <a:ext cx="5345049" cy="340786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91440" tIns="91440" rIns="91440" bIns="91440" rtlCol="0" anchor="ctr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[Description], [Unit]</a:t>
            </a:r>
            <a:endParaRPr kumimoji="0" lang="en-US" sz="1200" b="0" i="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196148" y="3128391"/>
            <a:ext cx="169918" cy="197490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29</a:t>
            </a:r>
            <a:endParaRPr kumimoji="0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0580697" y="2840546"/>
            <a:ext cx="169918" cy="197490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33</a:t>
            </a:r>
          </a:p>
        </p:txBody>
      </p:sp>
      <p:sp>
        <p:nvSpPr>
          <p:cNvPr id="86" name="object 86"/>
          <p:cNvSpPr txBox="1"/>
          <p:nvPr/>
        </p:nvSpPr>
        <p:spPr>
          <a:xfrm>
            <a:off x="8888422" y="2925509"/>
            <a:ext cx="169918" cy="197490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32</a:t>
            </a:r>
            <a:endParaRPr kumimoji="0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45944ADC-2510-206C-2B8A-4648E5A14622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538;p14">
            <a:extLst>
              <a:ext uri="{FF2B5EF4-FFF2-40B4-BE49-F238E27FC236}">
                <a16:creationId xmlns:a16="http://schemas.microsoft.com/office/drawing/2014/main" id="{EEDF2A8C-74D1-354C-1C60-8EF3F6507395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404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44827A14-3DA8-3BA1-D5B5-F201CEDDE5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44827A14-3DA8-3BA1-D5B5-F201CEDDE5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CFEEB34-A92B-82D0-EF26-73D42D91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Xx</a:t>
            </a:r>
            <a:r>
              <a:rPr lang="en-US" dirty="0"/>
              <a:t>% of customers are familiar with [insert]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15B05224-B4C1-C1A1-26B3-F2AF3BF99B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B4A8E41-7956-A1A1-0134-67DD05986D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C02482A4-F012-860B-C5A4-5115880FDE50}"/>
              </a:ext>
            </a:extLst>
          </p:cNvPr>
          <p:cNvGraphicFramePr/>
          <p:nvPr/>
        </p:nvGraphicFramePr>
        <p:xfrm>
          <a:off x="554736" y="2733575"/>
          <a:ext cx="7168407" cy="3466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5" name="object 69">
            <a:extLst>
              <a:ext uri="{FF2B5EF4-FFF2-40B4-BE49-F238E27FC236}">
                <a16:creationId xmlns:a16="http://schemas.microsoft.com/office/drawing/2014/main" id="{53B76DC4-51F5-6224-9AE7-9DF2414D5765}"/>
              </a:ext>
            </a:extLst>
          </p:cNvPr>
          <p:cNvSpPr/>
          <p:nvPr/>
        </p:nvSpPr>
        <p:spPr>
          <a:xfrm>
            <a:off x="1396403" y="3291399"/>
            <a:ext cx="133350" cy="1910618"/>
          </a:xfrm>
          <a:custGeom>
            <a:avLst/>
            <a:gdLst/>
            <a:ahLst/>
            <a:cxnLst/>
            <a:rect l="l" t="t" r="r" b="b"/>
            <a:pathLst>
              <a:path w="133350" h="1782445">
                <a:moveTo>
                  <a:pt x="0" y="0"/>
                </a:moveTo>
                <a:lnTo>
                  <a:pt x="25891" y="5227"/>
                </a:lnTo>
                <a:lnTo>
                  <a:pt x="47034" y="19482"/>
                </a:lnTo>
                <a:lnTo>
                  <a:pt x="61289" y="40625"/>
                </a:lnTo>
                <a:lnTo>
                  <a:pt x="66516" y="66516"/>
                </a:lnTo>
                <a:lnTo>
                  <a:pt x="66516" y="824453"/>
                </a:lnTo>
                <a:lnTo>
                  <a:pt x="71744" y="850344"/>
                </a:lnTo>
                <a:lnTo>
                  <a:pt x="85999" y="871487"/>
                </a:lnTo>
                <a:lnTo>
                  <a:pt x="107142" y="885742"/>
                </a:lnTo>
                <a:lnTo>
                  <a:pt x="133033" y="890970"/>
                </a:lnTo>
                <a:lnTo>
                  <a:pt x="107142" y="896197"/>
                </a:lnTo>
                <a:lnTo>
                  <a:pt x="85999" y="910452"/>
                </a:lnTo>
                <a:lnTo>
                  <a:pt x="71744" y="931595"/>
                </a:lnTo>
                <a:lnTo>
                  <a:pt x="66516" y="957486"/>
                </a:lnTo>
                <a:lnTo>
                  <a:pt x="66516" y="1715421"/>
                </a:lnTo>
                <a:lnTo>
                  <a:pt x="61289" y="1741312"/>
                </a:lnTo>
                <a:lnTo>
                  <a:pt x="47034" y="1762455"/>
                </a:lnTo>
                <a:lnTo>
                  <a:pt x="25891" y="1776710"/>
                </a:lnTo>
                <a:lnTo>
                  <a:pt x="0" y="1781938"/>
                </a:lnTo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object 70">
            <a:extLst>
              <a:ext uri="{FF2B5EF4-FFF2-40B4-BE49-F238E27FC236}">
                <a16:creationId xmlns:a16="http://schemas.microsoft.com/office/drawing/2014/main" id="{D15D4280-B90B-A600-C559-A7BB75189C66}"/>
              </a:ext>
            </a:extLst>
          </p:cNvPr>
          <p:cNvSpPr/>
          <p:nvPr/>
        </p:nvSpPr>
        <p:spPr>
          <a:xfrm>
            <a:off x="2511079" y="3290197"/>
            <a:ext cx="133350" cy="1769864"/>
          </a:xfrm>
          <a:custGeom>
            <a:avLst/>
            <a:gdLst/>
            <a:ahLst/>
            <a:cxnLst/>
            <a:rect l="l" t="t" r="r" b="b"/>
            <a:pathLst>
              <a:path w="133350" h="1671320">
                <a:moveTo>
                  <a:pt x="0" y="0"/>
                </a:moveTo>
                <a:lnTo>
                  <a:pt x="25891" y="5227"/>
                </a:lnTo>
                <a:lnTo>
                  <a:pt x="47034" y="19482"/>
                </a:lnTo>
                <a:lnTo>
                  <a:pt x="61289" y="40625"/>
                </a:lnTo>
                <a:lnTo>
                  <a:pt x="66516" y="66516"/>
                </a:lnTo>
                <a:lnTo>
                  <a:pt x="66516" y="769097"/>
                </a:lnTo>
                <a:lnTo>
                  <a:pt x="71744" y="794988"/>
                </a:lnTo>
                <a:lnTo>
                  <a:pt x="85999" y="816131"/>
                </a:lnTo>
                <a:lnTo>
                  <a:pt x="107142" y="830386"/>
                </a:lnTo>
                <a:lnTo>
                  <a:pt x="133033" y="835613"/>
                </a:lnTo>
                <a:lnTo>
                  <a:pt x="107142" y="840840"/>
                </a:lnTo>
                <a:lnTo>
                  <a:pt x="85999" y="855096"/>
                </a:lnTo>
                <a:lnTo>
                  <a:pt x="71744" y="876239"/>
                </a:lnTo>
                <a:lnTo>
                  <a:pt x="66516" y="902130"/>
                </a:lnTo>
                <a:lnTo>
                  <a:pt x="66516" y="1604710"/>
                </a:lnTo>
                <a:lnTo>
                  <a:pt x="61289" y="1630601"/>
                </a:lnTo>
                <a:lnTo>
                  <a:pt x="47034" y="1651744"/>
                </a:lnTo>
                <a:lnTo>
                  <a:pt x="25891" y="1665998"/>
                </a:lnTo>
                <a:lnTo>
                  <a:pt x="0" y="1671226"/>
                </a:lnTo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object 71">
            <a:extLst>
              <a:ext uri="{FF2B5EF4-FFF2-40B4-BE49-F238E27FC236}">
                <a16:creationId xmlns:a16="http://schemas.microsoft.com/office/drawing/2014/main" id="{ADEB087E-F312-9B0B-1358-B127DA1FC0ED}"/>
              </a:ext>
            </a:extLst>
          </p:cNvPr>
          <p:cNvSpPr/>
          <p:nvPr/>
        </p:nvSpPr>
        <p:spPr>
          <a:xfrm>
            <a:off x="3642201" y="3290197"/>
            <a:ext cx="133350" cy="1591152"/>
          </a:xfrm>
          <a:custGeom>
            <a:avLst/>
            <a:gdLst/>
            <a:ahLst/>
            <a:cxnLst/>
            <a:rect l="l" t="t" r="r" b="b"/>
            <a:pathLst>
              <a:path w="133350" h="1511300">
                <a:moveTo>
                  <a:pt x="0" y="0"/>
                </a:moveTo>
                <a:lnTo>
                  <a:pt x="25891" y="5227"/>
                </a:lnTo>
                <a:lnTo>
                  <a:pt x="47034" y="19482"/>
                </a:lnTo>
                <a:lnTo>
                  <a:pt x="61289" y="40624"/>
                </a:lnTo>
                <a:lnTo>
                  <a:pt x="66516" y="66516"/>
                </a:lnTo>
                <a:lnTo>
                  <a:pt x="66516" y="689135"/>
                </a:lnTo>
                <a:lnTo>
                  <a:pt x="71744" y="715026"/>
                </a:lnTo>
                <a:lnTo>
                  <a:pt x="85999" y="736169"/>
                </a:lnTo>
                <a:lnTo>
                  <a:pt x="107142" y="750424"/>
                </a:lnTo>
                <a:lnTo>
                  <a:pt x="133033" y="755651"/>
                </a:lnTo>
                <a:lnTo>
                  <a:pt x="107142" y="760878"/>
                </a:lnTo>
                <a:lnTo>
                  <a:pt x="85999" y="775133"/>
                </a:lnTo>
                <a:lnTo>
                  <a:pt x="71744" y="796276"/>
                </a:lnTo>
                <a:lnTo>
                  <a:pt x="66516" y="822167"/>
                </a:lnTo>
                <a:lnTo>
                  <a:pt x="66516" y="1444786"/>
                </a:lnTo>
                <a:lnTo>
                  <a:pt x="61289" y="1470676"/>
                </a:lnTo>
                <a:lnTo>
                  <a:pt x="47034" y="1491819"/>
                </a:lnTo>
                <a:lnTo>
                  <a:pt x="25891" y="1506074"/>
                </a:lnTo>
                <a:lnTo>
                  <a:pt x="0" y="1511302"/>
                </a:lnTo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object 72">
            <a:extLst>
              <a:ext uri="{FF2B5EF4-FFF2-40B4-BE49-F238E27FC236}">
                <a16:creationId xmlns:a16="http://schemas.microsoft.com/office/drawing/2014/main" id="{F520A4A4-A6A5-AAB3-A260-5C15CC92AD7D}"/>
              </a:ext>
            </a:extLst>
          </p:cNvPr>
          <p:cNvSpPr/>
          <p:nvPr/>
        </p:nvSpPr>
        <p:spPr>
          <a:xfrm>
            <a:off x="4773323" y="3290197"/>
            <a:ext cx="133350" cy="1422830"/>
          </a:xfrm>
          <a:custGeom>
            <a:avLst/>
            <a:gdLst/>
            <a:ahLst/>
            <a:cxnLst/>
            <a:rect l="l" t="t" r="r" b="b"/>
            <a:pathLst>
              <a:path w="133350" h="1294764">
                <a:moveTo>
                  <a:pt x="0" y="0"/>
                </a:moveTo>
                <a:lnTo>
                  <a:pt x="25891" y="5227"/>
                </a:lnTo>
                <a:lnTo>
                  <a:pt x="47033" y="19481"/>
                </a:lnTo>
                <a:lnTo>
                  <a:pt x="61288" y="40624"/>
                </a:lnTo>
                <a:lnTo>
                  <a:pt x="66516" y="66515"/>
                </a:lnTo>
                <a:lnTo>
                  <a:pt x="66516" y="580787"/>
                </a:lnTo>
                <a:lnTo>
                  <a:pt x="71743" y="606678"/>
                </a:lnTo>
                <a:lnTo>
                  <a:pt x="85998" y="627821"/>
                </a:lnTo>
                <a:lnTo>
                  <a:pt x="107140" y="642075"/>
                </a:lnTo>
                <a:lnTo>
                  <a:pt x="133032" y="647303"/>
                </a:lnTo>
                <a:lnTo>
                  <a:pt x="107140" y="652530"/>
                </a:lnTo>
                <a:lnTo>
                  <a:pt x="85998" y="666784"/>
                </a:lnTo>
                <a:lnTo>
                  <a:pt x="71743" y="687927"/>
                </a:lnTo>
                <a:lnTo>
                  <a:pt x="66516" y="713818"/>
                </a:lnTo>
                <a:lnTo>
                  <a:pt x="66516" y="1228090"/>
                </a:lnTo>
                <a:lnTo>
                  <a:pt x="61288" y="1253981"/>
                </a:lnTo>
                <a:lnTo>
                  <a:pt x="47033" y="1275124"/>
                </a:lnTo>
                <a:lnTo>
                  <a:pt x="25891" y="1289378"/>
                </a:lnTo>
                <a:lnTo>
                  <a:pt x="0" y="1294606"/>
                </a:lnTo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object 73">
            <a:extLst>
              <a:ext uri="{FF2B5EF4-FFF2-40B4-BE49-F238E27FC236}">
                <a16:creationId xmlns:a16="http://schemas.microsoft.com/office/drawing/2014/main" id="{960147F5-1995-4156-7845-D2BADA4EF464}"/>
              </a:ext>
            </a:extLst>
          </p:cNvPr>
          <p:cNvSpPr txBox="1"/>
          <p:nvPr/>
        </p:nvSpPr>
        <p:spPr>
          <a:xfrm>
            <a:off x="1571578" y="4142846"/>
            <a:ext cx="3289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74%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0" name="object 74">
            <a:extLst>
              <a:ext uri="{FF2B5EF4-FFF2-40B4-BE49-F238E27FC236}">
                <a16:creationId xmlns:a16="http://schemas.microsoft.com/office/drawing/2014/main" id="{091F9817-0A9F-6F5C-EEEB-3490B68F43A6}"/>
              </a:ext>
            </a:extLst>
          </p:cNvPr>
          <p:cNvSpPr txBox="1"/>
          <p:nvPr/>
        </p:nvSpPr>
        <p:spPr>
          <a:xfrm>
            <a:off x="2690075" y="4076384"/>
            <a:ext cx="3289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70%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1" name="object 75">
            <a:extLst>
              <a:ext uri="{FF2B5EF4-FFF2-40B4-BE49-F238E27FC236}">
                <a16:creationId xmlns:a16="http://schemas.microsoft.com/office/drawing/2014/main" id="{1E39F4D8-D082-0C69-1609-346F8FFA3CC2}"/>
              </a:ext>
            </a:extLst>
          </p:cNvPr>
          <p:cNvSpPr txBox="1"/>
          <p:nvPr/>
        </p:nvSpPr>
        <p:spPr>
          <a:xfrm>
            <a:off x="3809465" y="3977639"/>
            <a:ext cx="3289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63%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2" name="object 76">
            <a:extLst>
              <a:ext uri="{FF2B5EF4-FFF2-40B4-BE49-F238E27FC236}">
                <a16:creationId xmlns:a16="http://schemas.microsoft.com/office/drawing/2014/main" id="{73277AF8-A4BF-897B-19D4-FD9FED96BF72}"/>
              </a:ext>
            </a:extLst>
          </p:cNvPr>
          <p:cNvSpPr txBox="1"/>
          <p:nvPr/>
        </p:nvSpPr>
        <p:spPr>
          <a:xfrm>
            <a:off x="4962174" y="3902867"/>
            <a:ext cx="3289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55%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B7BC2-0257-D1AE-3F7A-E418B041829C}"/>
              </a:ext>
            </a:extLst>
          </p:cNvPr>
          <p:cNvSpPr txBox="1"/>
          <p:nvPr/>
        </p:nvSpPr>
        <p:spPr>
          <a:xfrm>
            <a:off x="554736" y="1750107"/>
            <a:ext cx="7167319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[Description/takeaway from graph]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3249B15-4911-94E7-3273-2E726830BBE4}"/>
              </a:ext>
            </a:extLst>
          </p:cNvPr>
          <p:cNvCxnSpPr>
            <a:cxnSpLocks/>
          </p:cNvCxnSpPr>
          <p:nvPr/>
        </p:nvCxnSpPr>
        <p:spPr>
          <a:xfrm>
            <a:off x="554736" y="2262074"/>
            <a:ext cx="716840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CC77F60-12E3-E049-E19D-3FA3ADF350FC}"/>
              </a:ext>
            </a:extLst>
          </p:cNvPr>
          <p:cNvSpPr txBox="1"/>
          <p:nvPr/>
        </p:nvSpPr>
        <p:spPr>
          <a:xfrm>
            <a:off x="7921782" y="1750107"/>
            <a:ext cx="3714918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Comments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5FF8F0-2D6F-D015-73A1-1593BF20E919}"/>
              </a:ext>
            </a:extLst>
          </p:cNvPr>
          <p:cNvCxnSpPr>
            <a:cxnSpLocks/>
          </p:cNvCxnSpPr>
          <p:nvPr/>
        </p:nvCxnSpPr>
        <p:spPr>
          <a:xfrm>
            <a:off x="7921782" y="2262074"/>
            <a:ext cx="371548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FAA26-F9B4-2466-A188-E35415FA7100}"/>
              </a:ext>
            </a:extLst>
          </p:cNvPr>
          <p:cNvCxnSpPr>
            <a:cxnSpLocks/>
          </p:cNvCxnSpPr>
          <p:nvPr/>
        </p:nvCxnSpPr>
        <p:spPr>
          <a:xfrm>
            <a:off x="7822462" y="1706564"/>
            <a:ext cx="1" cy="45037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7D6B240-8BA8-3403-EA3E-31F919B5088D}"/>
              </a:ext>
            </a:extLst>
          </p:cNvPr>
          <p:cNvSpPr/>
          <p:nvPr/>
        </p:nvSpPr>
        <p:spPr>
          <a:xfrm>
            <a:off x="7921782" y="2407001"/>
            <a:ext cx="3715482" cy="3803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solidFill>
                  <a:schemeClr val="tx1"/>
                </a:solidFill>
                <a:latin typeface="Arial" panose="020B0604020202020204"/>
              </a:rPr>
              <a:t>…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8AD68C-877A-2508-AAC3-968CA03C59B2}"/>
              </a:ext>
            </a:extLst>
          </p:cNvPr>
          <p:cNvSpPr txBox="1"/>
          <p:nvPr/>
        </p:nvSpPr>
        <p:spPr>
          <a:xfrm>
            <a:off x="554736" y="2333256"/>
            <a:ext cx="880049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latin typeface="Arial" panose="020B0604020202020204"/>
              </a:rPr>
              <a:t>[Data],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  <a:latin typeface="Arial" panose="020B0604020202020204"/>
              </a:rPr>
              <a:t>[Unit]</a:t>
            </a: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7" name="Google Shape;507;p14">
            <a:extLst>
              <a:ext uri="{FF2B5EF4-FFF2-40B4-BE49-F238E27FC236}">
                <a16:creationId xmlns:a16="http://schemas.microsoft.com/office/drawing/2014/main" id="{673FF385-15B4-0674-3F60-BF96FF659F23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538;p14">
            <a:extLst>
              <a:ext uri="{FF2B5EF4-FFF2-40B4-BE49-F238E27FC236}">
                <a16:creationId xmlns:a16="http://schemas.microsoft.com/office/drawing/2014/main" id="{FEED034A-1DD0-C877-98A9-C45A64C81A92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7256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44827A14-3DA8-3BA1-D5B5-F201CEDDE5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44827A14-3DA8-3BA1-D5B5-F201CEDDE5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CFEEB34-A92B-82D0-EF26-73D42D91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[Insert] customers are driven primarily by [insert metric]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9522D0A6-8941-FE76-0091-A6B1C4F5BF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6CFA14E-833E-E32B-D762-938BF86459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2A0D3DAA-AE39-64E5-162A-23F8CA234A42}"/>
              </a:ext>
            </a:extLst>
          </p:cNvPr>
          <p:cNvGraphicFramePr/>
          <p:nvPr/>
        </p:nvGraphicFramePr>
        <p:xfrm>
          <a:off x="559900" y="2589103"/>
          <a:ext cx="7162153" cy="3688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AF3CE22-B4F3-C163-6903-C94FBAE20BF8}"/>
              </a:ext>
            </a:extLst>
          </p:cNvPr>
          <p:cNvSpPr txBox="1"/>
          <p:nvPr/>
        </p:nvSpPr>
        <p:spPr>
          <a:xfrm>
            <a:off x="554736" y="1750107"/>
            <a:ext cx="7167319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[Description/takeaway from graph]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9B2E5D-2EC5-DE06-95AA-5BB8F8C21FA1}"/>
              </a:ext>
            </a:extLst>
          </p:cNvPr>
          <p:cNvCxnSpPr>
            <a:cxnSpLocks/>
          </p:cNvCxnSpPr>
          <p:nvPr/>
        </p:nvCxnSpPr>
        <p:spPr>
          <a:xfrm>
            <a:off x="554736" y="2262074"/>
            <a:ext cx="716840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CA97B7D-74BD-F52D-6D8E-978A947D0BD3}"/>
              </a:ext>
            </a:extLst>
          </p:cNvPr>
          <p:cNvSpPr txBox="1"/>
          <p:nvPr/>
        </p:nvSpPr>
        <p:spPr>
          <a:xfrm>
            <a:off x="7921782" y="1750107"/>
            <a:ext cx="3714918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Comments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1A51D-A773-7F93-1DEF-04B02D160829}"/>
              </a:ext>
            </a:extLst>
          </p:cNvPr>
          <p:cNvCxnSpPr>
            <a:cxnSpLocks/>
          </p:cNvCxnSpPr>
          <p:nvPr/>
        </p:nvCxnSpPr>
        <p:spPr>
          <a:xfrm>
            <a:off x="7921782" y="2262074"/>
            <a:ext cx="371548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FCAD29-D72A-DEE3-CE2A-9183C0E09D70}"/>
              </a:ext>
            </a:extLst>
          </p:cNvPr>
          <p:cNvCxnSpPr>
            <a:cxnSpLocks/>
          </p:cNvCxnSpPr>
          <p:nvPr/>
        </p:nvCxnSpPr>
        <p:spPr>
          <a:xfrm>
            <a:off x="7822462" y="1706564"/>
            <a:ext cx="1" cy="45037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E64E48B-5F94-1D98-84BA-BE7AE95D5C8A}"/>
              </a:ext>
            </a:extLst>
          </p:cNvPr>
          <p:cNvSpPr txBox="1"/>
          <p:nvPr/>
        </p:nvSpPr>
        <p:spPr>
          <a:xfrm>
            <a:off x="554736" y="2333256"/>
            <a:ext cx="880049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latin typeface="Arial" panose="020B0604020202020204"/>
              </a:rPr>
              <a:t>[Data],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  <a:latin typeface="Arial" panose="020B0604020202020204"/>
              </a:rPr>
              <a:t>[Unit]</a:t>
            </a: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5D4553-B705-D38E-0BB8-FAA34E3EB4ED}"/>
              </a:ext>
            </a:extLst>
          </p:cNvPr>
          <p:cNvSpPr/>
          <p:nvPr/>
        </p:nvSpPr>
        <p:spPr>
          <a:xfrm>
            <a:off x="7921782" y="2407001"/>
            <a:ext cx="3715482" cy="3803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solidFill>
                  <a:schemeClr val="tx1"/>
                </a:solidFill>
                <a:latin typeface="Arial" panose="020B0604020202020204"/>
              </a:rPr>
              <a:t>…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7" name="Google Shape;507;p14">
            <a:extLst>
              <a:ext uri="{FF2B5EF4-FFF2-40B4-BE49-F238E27FC236}">
                <a16:creationId xmlns:a16="http://schemas.microsoft.com/office/drawing/2014/main" id="{3EB607EB-EEDD-57A2-4E58-AA08027416C1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538;p14">
            <a:extLst>
              <a:ext uri="{FF2B5EF4-FFF2-40B4-BE49-F238E27FC236}">
                <a16:creationId xmlns:a16="http://schemas.microsoft.com/office/drawing/2014/main" id="{DBA3C94C-0C4F-C3C7-B6F2-06E736CD1973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9857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25E16F2-4474-8C33-E591-96DC9BD576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25E16F2-4474-8C33-E591-96DC9BD576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CFEEB34-A92B-82D0-EF26-73D42D91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[Insert] market has been [insert description] since 20xx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707018-34DF-ECC5-DC00-C5461FECAD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AFD246-9D62-F741-3156-2C809AE9ECE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4" name="Chart 83">
            <a:extLst>
              <a:ext uri="{FF2B5EF4-FFF2-40B4-BE49-F238E27FC236}">
                <a16:creationId xmlns:a16="http://schemas.microsoft.com/office/drawing/2014/main" id="{19AE70DD-EB91-E626-9478-0356CD22EA93}"/>
              </a:ext>
            </a:extLst>
          </p:cNvPr>
          <p:cNvGraphicFramePr/>
          <p:nvPr/>
        </p:nvGraphicFramePr>
        <p:xfrm>
          <a:off x="554737" y="2143593"/>
          <a:ext cx="11082528" cy="4081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Google Shape;711;p19">
            <a:extLst>
              <a:ext uri="{FF2B5EF4-FFF2-40B4-BE49-F238E27FC236}">
                <a16:creationId xmlns:a16="http://schemas.microsoft.com/office/drawing/2014/main" id="{9563A4C1-ED0A-D535-CE68-2B68A3FF80E6}"/>
              </a:ext>
            </a:extLst>
          </p:cNvPr>
          <p:cNvSpPr/>
          <p:nvPr/>
        </p:nvSpPr>
        <p:spPr>
          <a:xfrm>
            <a:off x="467806" y="1861877"/>
            <a:ext cx="716235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[Description]:</a:t>
            </a: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B1DA9191-384B-C5EF-4217-E6EA83034BF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383204EA-EABB-3E35-B5A6-7E1E553F4F95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944CA-EDB6-2134-8E62-96C840DFCD0F}"/>
              </a:ext>
            </a:extLst>
          </p:cNvPr>
          <p:cNvSpPr txBox="1"/>
          <p:nvPr/>
        </p:nvSpPr>
        <p:spPr>
          <a:xfrm>
            <a:off x="15336982" y="1641764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471EF7-D35D-447B-37AF-4BA35D08EF6B}"/>
              </a:ext>
            </a:extLst>
          </p:cNvPr>
          <p:cNvSpPr txBox="1"/>
          <p:nvPr/>
        </p:nvSpPr>
        <p:spPr>
          <a:xfrm>
            <a:off x="13757564" y="268085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95884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4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PnOpdBFk2kXx50GB.lDA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MSXsDQLUSsz6n1DavXEA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wfAQtvV0q9sKBI_.0Agw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FFFFFF"/>
    </a:dk2>
    <a:lt2>
      <a:srgbClr val="FFFFFF"/>
    </a:lt2>
    <a:accent1>
      <a:srgbClr val="1F6FD8"/>
    </a:accent1>
    <a:accent2>
      <a:srgbClr val="B7472A"/>
    </a:accent2>
    <a:accent3>
      <a:srgbClr val="F5E3DF"/>
    </a:accent3>
    <a:accent4>
      <a:srgbClr val="424242"/>
    </a:accent4>
    <a:accent5>
      <a:srgbClr val="D9D9D9"/>
    </a:accent5>
    <a:accent6>
      <a:srgbClr val="F0F0F0"/>
    </a:accent6>
    <a:hlink>
      <a:srgbClr val="555555"/>
    </a:hlink>
    <a:folHlink>
      <a:srgbClr val="333333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2816</TotalTime>
  <Words>734</Words>
  <Application>Microsoft Office PowerPoint</Application>
  <PresentationFormat>Widescreen</PresentationFormat>
  <Paragraphs>192</Paragraphs>
  <Slides>11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Segoe UI</vt:lpstr>
      <vt:lpstr>Wingdings</vt:lpstr>
      <vt:lpstr>Slideworks</vt:lpstr>
      <vt:lpstr>think-cell Slide</vt:lpstr>
      <vt:lpstr>Bar Charts</vt:lpstr>
      <vt:lpstr>The [insert market] is projected to reach xx [currency] in 20xx</vt:lpstr>
      <vt:lpstr>[Insert] market has been [insert description]</vt:lpstr>
      <vt:lpstr>The [insert market] saw a xx% growth from 20xx-20xx and is expected to [insert forecast e.g., continue growth trajectory]</vt:lpstr>
      <vt:lpstr>[Insert] market driven primarily by [insert]</vt:lpstr>
      <vt:lpstr>The market is [insert e.g., profitable] compared to the [insert] average</vt:lpstr>
      <vt:lpstr>[Insert main takeaway/action title]</vt:lpstr>
      <vt:lpstr>[Insert segment/product] is distributed across four main channels</vt:lpstr>
      <vt:lpstr>Xx% of customers are familiar with [insert]</vt:lpstr>
      <vt:lpstr>[Insert] customers are driven primarily by [insert metric]</vt:lpstr>
      <vt:lpstr>[Insert] market has been [insert description] since 20xx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</dc:description>
  <cp:lastModifiedBy>Peralta, Mario</cp:lastModifiedBy>
  <cp:revision>355</cp:revision>
  <dcterms:created xsi:type="dcterms:W3CDTF">2025-08-18T13:32:02Z</dcterms:created>
  <dcterms:modified xsi:type="dcterms:W3CDTF">2026-04-20T21:44:53Z</dcterms:modified>
  <cp:category>Management consulting, presentation design, business</cp:category>
</cp:coreProperties>
</file>