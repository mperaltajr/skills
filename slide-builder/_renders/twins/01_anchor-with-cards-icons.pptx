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Consultants rarely lack ideas — they struggle to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cut through them</a:t>
            </a:r>
            <a:r>
              <a:rPr sz="2400" b="1" i="0">
                <a:solidFill>
                  <a:srgbClr val="1A1A2E"/>
                </a:solidFill>
                <a:latin typeface="Inter"/>
              </a:rPr>
              <a:t>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Not a knowledge gap. Not a skill deficit. A structural one — and structural problems have structural solutions.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ody-bg"/>
          <p:cNvSpPr/>
          <p:nvPr/>
        </p:nvSpPr>
        <p:spPr>
          <a:xfrm>
            <a:off x="609600" y="2762250"/>
            <a:ext cx="3505200" cy="1905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609600" y="2762250"/>
            <a:ext cx="35052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icon"/>
          <p:cNvSpPr txBox="1"/>
          <p:nvPr/>
        </p:nvSpPr>
        <p:spPr>
          <a:xfrm>
            <a:off x="819150" y="29718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875">
                <a:solidFill>
                  <a:srgbClr val="A100FF"/>
                </a:solidFill>
                <a:latin typeface="Segoe UI Symbol"/>
              </a:rPr>
              <a:t>☰</a:t>
            </a:r>
          </a:p>
        </p:txBody>
      </p:sp>
      <p:sp>
        <p:nvSpPr>
          <p:cNvPr id="8" name="card-1-heading"/>
          <p:cNvSpPr txBox="1"/>
          <p:nvPr/>
        </p:nvSpPr>
        <p:spPr>
          <a:xfrm>
            <a:off x="819150" y="3390900"/>
            <a:ext cx="3086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Too much to say</a:t>
            </a:r>
          </a:p>
        </p:txBody>
      </p:sp>
      <p:sp>
        <p:nvSpPr>
          <p:cNvPr id="9" name="card-1-body"/>
          <p:cNvSpPr txBox="1"/>
          <p:nvPr/>
        </p:nvSpPr>
        <p:spPr>
          <a:xfrm>
            <a:off x="819150" y="3676650"/>
            <a:ext cx="30861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Knowing what to cut is harder than knowing what to include. Every workstream produces legitimate findings, and not all of them belong on the page.</a:t>
            </a:r>
          </a:p>
        </p:txBody>
      </p:sp>
      <p:sp>
        <p:nvSpPr>
          <p:cNvPr id="10" name="card-2-body-bg"/>
          <p:cNvSpPr/>
          <p:nvPr/>
        </p:nvSpPr>
        <p:spPr>
          <a:xfrm>
            <a:off x="4343400" y="2762250"/>
            <a:ext cx="3505200" cy="1905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rd-2-accent"/>
          <p:cNvSpPr/>
          <p:nvPr/>
        </p:nvSpPr>
        <p:spPr>
          <a:xfrm>
            <a:off x="4343400" y="2762250"/>
            <a:ext cx="35052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2-icon"/>
          <p:cNvSpPr txBox="1"/>
          <p:nvPr/>
        </p:nvSpPr>
        <p:spPr>
          <a:xfrm>
            <a:off x="4552950" y="29718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875">
                <a:solidFill>
                  <a:srgbClr val="A100FF"/>
                </a:solidFill>
                <a:latin typeface="Segoe UI Symbol"/>
              </a:rPr>
              <a:t>✦</a:t>
            </a:r>
          </a:p>
        </p:txBody>
      </p:sp>
      <p:sp>
        <p:nvSpPr>
          <p:cNvPr id="13" name="card-2-heading"/>
          <p:cNvSpPr txBox="1"/>
          <p:nvPr/>
        </p:nvSpPr>
        <p:spPr>
          <a:xfrm>
            <a:off x="4552950" y="3390900"/>
            <a:ext cx="3086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Too many cooks</a:t>
            </a:r>
          </a:p>
        </p:txBody>
      </p:sp>
      <p:sp>
        <p:nvSpPr>
          <p:cNvPr id="14" name="card-2-body"/>
          <p:cNvSpPr txBox="1"/>
          <p:nvPr/>
        </p:nvSpPr>
        <p:spPr>
          <a:xfrm>
            <a:off x="4552950" y="3676650"/>
            <a:ext cx="30861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Every collaborator has a view on what belongs on the page. More opinions mean harder choices, not a richer argument.</a:t>
            </a:r>
          </a:p>
        </p:txBody>
      </p:sp>
      <p:sp>
        <p:nvSpPr>
          <p:cNvPr id="15" name="card-3-body-bg"/>
          <p:cNvSpPr/>
          <p:nvPr/>
        </p:nvSpPr>
        <p:spPr>
          <a:xfrm>
            <a:off x="8077200" y="2762250"/>
            <a:ext cx="3505200" cy="1905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3-accent"/>
          <p:cNvSpPr/>
          <p:nvPr/>
        </p:nvSpPr>
        <p:spPr>
          <a:xfrm>
            <a:off x="8077200" y="2762250"/>
            <a:ext cx="35052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ard-3-icon"/>
          <p:cNvSpPr txBox="1"/>
          <p:nvPr/>
        </p:nvSpPr>
        <p:spPr>
          <a:xfrm>
            <a:off x="8286750" y="29718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875">
                <a:solidFill>
                  <a:srgbClr val="A100FF"/>
                </a:solidFill>
                <a:latin typeface="Segoe UI Symbol"/>
              </a:rPr>
              <a:t>→</a:t>
            </a:r>
          </a:p>
        </p:txBody>
      </p:sp>
      <p:sp>
        <p:nvSpPr>
          <p:cNvPr id="18" name="card-3-heading"/>
          <p:cNvSpPr txBox="1"/>
          <p:nvPr/>
        </p:nvSpPr>
        <p:spPr>
          <a:xfrm>
            <a:off x="8286750" y="3390900"/>
            <a:ext cx="3086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The audience needs what's next</a:t>
            </a:r>
          </a:p>
        </p:txBody>
      </p:sp>
      <p:sp>
        <p:nvSpPr>
          <p:cNvPr id="19" name="card-3-body"/>
          <p:cNvSpPr txBox="1"/>
          <p:nvPr/>
        </p:nvSpPr>
        <p:spPr>
          <a:xfrm>
            <a:off x="8286750" y="3676650"/>
            <a:ext cx="30861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They don't need to understand all the work. They need to understand the next step — and most decks bury it.</a:t>
            </a:r>
          </a:p>
        </p:txBody>
      </p:sp>
      <p:sp>
        <p:nvSpPr>
          <p:cNvPr id="20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The fix is a structured way to think, argue, and build — not another tool that produces slides faster.</a:t>
            </a:r>
          </a:p>
        </p:txBody>
      </p:sp>
      <p:sp>
        <p:nvSpPr>
          <p:cNvPr id="2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