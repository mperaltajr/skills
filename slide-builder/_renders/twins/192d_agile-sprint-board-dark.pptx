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Agile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Sprint Board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Live task status across Backlog, In Progress, Review, and Done — Sprint 14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print-label"/>
          <p:cNvSpPr txBox="1"/>
          <p:nvPr/>
        </p:nvSpPr>
        <p:spPr>
          <a:xfrm>
            <a:off x="609600" y="21145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SPRINT 14 · DAY 7 OF 10</a:t>
            </a:r>
          </a:p>
        </p:txBody>
      </p:sp>
      <p:sp>
        <p:nvSpPr>
          <p:cNvPr id="6" name="sprint-pct"/>
          <p:cNvSpPr txBox="1"/>
          <p:nvPr/>
        </p:nvSpPr>
        <p:spPr>
          <a:xfrm>
            <a:off x="10287000" y="2114550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68% complete</a:t>
            </a:r>
          </a:p>
        </p:txBody>
      </p:sp>
      <p:sp>
        <p:nvSpPr>
          <p:cNvPr id="7" name="sprint-track"/>
          <p:cNvSpPr/>
          <p:nvPr/>
        </p:nvSpPr>
        <p:spPr>
          <a:xfrm>
            <a:off x="609600" y="2286000"/>
            <a:ext cx="10972800" cy="571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print-fill"/>
          <p:cNvSpPr/>
          <p:nvPr/>
        </p:nvSpPr>
        <p:spPr>
          <a:xfrm>
            <a:off x="609600" y="2286000"/>
            <a:ext cx="7458075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illar-1-header"/>
          <p:cNvSpPr/>
          <p:nvPr/>
        </p:nvSpPr>
        <p:spPr>
          <a:xfrm>
            <a:off x="609600" y="2476500"/>
            <a:ext cx="26574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illar-1-name"/>
          <p:cNvSpPr txBox="1"/>
          <p:nvPr/>
        </p:nvSpPr>
        <p:spPr>
          <a:xfrm>
            <a:off x="704850" y="253365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BACKLOG</a:t>
            </a:r>
          </a:p>
        </p:txBody>
      </p:sp>
      <p:sp>
        <p:nvSpPr>
          <p:cNvPr id="11" name="pillar-1-tag"/>
          <p:cNvSpPr txBox="1"/>
          <p:nvPr/>
        </p:nvSpPr>
        <p:spPr>
          <a:xfrm>
            <a:off x="2886075" y="2533650"/>
            <a:ext cx="2286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4</a:t>
            </a:r>
          </a:p>
        </p:txBody>
      </p:sp>
      <p:sp>
        <p:nvSpPr>
          <p:cNvPr id="12" name="pillar-1-body"/>
          <p:cNvSpPr/>
          <p:nvPr/>
        </p:nvSpPr>
        <p:spPr>
          <a:xfrm>
            <a:off x="609600" y="2743200"/>
            <a:ext cx="2657475" cy="3543300"/>
          </a:xfrm>
          <a:prstGeom prst="rect">
            <a:avLst/>
          </a:prstGeom>
          <a:solidFill>
            <a:srgbClr val="2A1444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kanban-1-card-1-bg"/>
          <p:cNvSpPr/>
          <p:nvPr/>
        </p:nvSpPr>
        <p:spPr>
          <a:xfrm>
            <a:off x="685800" y="281940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kanban-1-card-1-title"/>
          <p:cNvSpPr txBox="1"/>
          <p:nvPr/>
        </p:nvSpPr>
        <p:spPr>
          <a:xfrm>
            <a:off x="762000" y="28575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User onboarding flow redesign</a:t>
            </a:r>
          </a:p>
        </p:txBody>
      </p:sp>
      <p:sp>
        <p:nvSpPr>
          <p:cNvPr id="15" name="kanban-1-card-1-points"/>
          <p:cNvSpPr txBox="1"/>
          <p:nvPr/>
        </p:nvSpPr>
        <p:spPr>
          <a:xfrm>
            <a:off x="2638425" y="285750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 pts</a:t>
            </a:r>
          </a:p>
        </p:txBody>
      </p:sp>
      <p:sp>
        <p:nvSpPr>
          <p:cNvPr id="16" name="kanban-1-card-1-epic"/>
          <p:cNvSpPr txBox="1"/>
          <p:nvPr/>
        </p:nvSpPr>
        <p:spPr>
          <a:xfrm>
            <a:off x="762000" y="3067050"/>
            <a:ext cx="571500" cy="13335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UX</a:t>
            </a:r>
          </a:p>
        </p:txBody>
      </p:sp>
      <p:sp>
        <p:nvSpPr>
          <p:cNvPr id="17" name="kanban-1-card-2-bg"/>
          <p:cNvSpPr/>
          <p:nvPr/>
        </p:nvSpPr>
        <p:spPr>
          <a:xfrm>
            <a:off x="685800" y="333375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kanban-1-card-2-title"/>
          <p:cNvSpPr txBox="1"/>
          <p:nvPr/>
        </p:nvSpPr>
        <p:spPr>
          <a:xfrm>
            <a:off x="762000" y="33718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OAuth 2.0 refresh token support</a:t>
            </a:r>
          </a:p>
        </p:txBody>
      </p:sp>
      <p:sp>
        <p:nvSpPr>
          <p:cNvPr id="19" name="kanban-1-card-2-points"/>
          <p:cNvSpPr txBox="1"/>
          <p:nvPr/>
        </p:nvSpPr>
        <p:spPr>
          <a:xfrm>
            <a:off x="2638425" y="337185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 pts</a:t>
            </a:r>
          </a:p>
        </p:txBody>
      </p:sp>
      <p:sp>
        <p:nvSpPr>
          <p:cNvPr id="20" name="kanban-1-card-2-epic"/>
          <p:cNvSpPr txBox="1"/>
          <p:nvPr/>
        </p:nvSpPr>
        <p:spPr>
          <a:xfrm>
            <a:off x="762000" y="3581400"/>
            <a:ext cx="571500" cy="13335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Auth</a:t>
            </a:r>
          </a:p>
        </p:txBody>
      </p:sp>
      <p:sp>
        <p:nvSpPr>
          <p:cNvPr id="21" name="kanban-1-card-3-bg"/>
          <p:cNvSpPr/>
          <p:nvPr/>
        </p:nvSpPr>
        <p:spPr>
          <a:xfrm>
            <a:off x="685800" y="384810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kanban-1-card-3-title"/>
          <p:cNvSpPr txBox="1"/>
          <p:nvPr/>
        </p:nvSpPr>
        <p:spPr>
          <a:xfrm>
            <a:off x="762000" y="38862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Export to CSV endpoint</a:t>
            </a:r>
          </a:p>
        </p:txBody>
      </p:sp>
      <p:sp>
        <p:nvSpPr>
          <p:cNvPr id="23" name="kanban-1-card-3-points"/>
          <p:cNvSpPr txBox="1"/>
          <p:nvPr/>
        </p:nvSpPr>
        <p:spPr>
          <a:xfrm>
            <a:off x="2638425" y="388620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 pts</a:t>
            </a:r>
          </a:p>
        </p:txBody>
      </p:sp>
      <p:sp>
        <p:nvSpPr>
          <p:cNvPr id="24" name="kanban-1-card-3-epic"/>
          <p:cNvSpPr txBox="1"/>
          <p:nvPr/>
        </p:nvSpPr>
        <p:spPr>
          <a:xfrm>
            <a:off x="762000" y="4095750"/>
            <a:ext cx="571500" cy="13335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API</a:t>
            </a:r>
          </a:p>
        </p:txBody>
      </p:sp>
      <p:sp>
        <p:nvSpPr>
          <p:cNvPr id="25" name="kanban-1-card-4-bg"/>
          <p:cNvSpPr/>
          <p:nvPr/>
        </p:nvSpPr>
        <p:spPr>
          <a:xfrm>
            <a:off x="685800" y="436245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kanban-1-card-4-title"/>
          <p:cNvSpPr txBox="1"/>
          <p:nvPr/>
        </p:nvSpPr>
        <p:spPr>
          <a:xfrm>
            <a:off x="762000" y="44005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Terraform module for staging env</a:t>
            </a:r>
          </a:p>
        </p:txBody>
      </p:sp>
      <p:sp>
        <p:nvSpPr>
          <p:cNvPr id="27" name="kanban-1-card-4-points"/>
          <p:cNvSpPr txBox="1"/>
          <p:nvPr/>
        </p:nvSpPr>
        <p:spPr>
          <a:xfrm>
            <a:off x="2638425" y="440055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 pts</a:t>
            </a:r>
          </a:p>
        </p:txBody>
      </p:sp>
      <p:sp>
        <p:nvSpPr>
          <p:cNvPr id="28" name="kanban-1-card-4-epic"/>
          <p:cNvSpPr txBox="1"/>
          <p:nvPr/>
        </p:nvSpPr>
        <p:spPr>
          <a:xfrm>
            <a:off x="762000" y="4610100"/>
            <a:ext cx="571500" cy="13335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1FAE5"/>
                </a:solidFill>
                <a:latin typeface="Inter"/>
              </a:rPr>
              <a:t>Infra</a:t>
            </a:r>
          </a:p>
        </p:txBody>
      </p:sp>
      <p:sp>
        <p:nvSpPr>
          <p:cNvPr id="29" name="pillar-2-header"/>
          <p:cNvSpPr/>
          <p:nvPr/>
        </p:nvSpPr>
        <p:spPr>
          <a:xfrm>
            <a:off x="3381375" y="2476500"/>
            <a:ext cx="26574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pillar-2-name"/>
          <p:cNvSpPr txBox="1"/>
          <p:nvPr/>
        </p:nvSpPr>
        <p:spPr>
          <a:xfrm>
            <a:off x="3476625" y="253365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 PROGRESS</a:t>
            </a:r>
          </a:p>
        </p:txBody>
      </p:sp>
      <p:sp>
        <p:nvSpPr>
          <p:cNvPr id="31" name="pillar-2-tag"/>
          <p:cNvSpPr txBox="1"/>
          <p:nvPr/>
        </p:nvSpPr>
        <p:spPr>
          <a:xfrm>
            <a:off x="5657850" y="2533650"/>
            <a:ext cx="2286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32" name="pillar-2-body"/>
          <p:cNvSpPr/>
          <p:nvPr/>
        </p:nvSpPr>
        <p:spPr>
          <a:xfrm>
            <a:off x="3381375" y="2743200"/>
            <a:ext cx="2657475" cy="3543300"/>
          </a:xfrm>
          <a:prstGeom prst="rect">
            <a:avLst/>
          </a:prstGeom>
          <a:solidFill>
            <a:srgbClr val="2A1444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kanban-2-card-1-bg"/>
          <p:cNvSpPr/>
          <p:nvPr/>
        </p:nvSpPr>
        <p:spPr>
          <a:xfrm>
            <a:off x="3457575" y="281940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kanban-2-card-1-accent"/>
          <p:cNvSpPr/>
          <p:nvPr/>
        </p:nvSpPr>
        <p:spPr>
          <a:xfrm>
            <a:off x="3457575" y="281940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kanban-2-card-1-title"/>
          <p:cNvSpPr txBox="1"/>
          <p:nvPr/>
        </p:nvSpPr>
        <p:spPr>
          <a:xfrm>
            <a:off x="3533775" y="28575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Dashboard performance tuning</a:t>
            </a:r>
          </a:p>
        </p:txBody>
      </p:sp>
      <p:sp>
        <p:nvSpPr>
          <p:cNvPr id="36" name="kanban-2-card-1-points"/>
          <p:cNvSpPr txBox="1"/>
          <p:nvPr/>
        </p:nvSpPr>
        <p:spPr>
          <a:xfrm>
            <a:off x="5410200" y="285750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 pts</a:t>
            </a:r>
          </a:p>
        </p:txBody>
      </p:sp>
      <p:sp>
        <p:nvSpPr>
          <p:cNvPr id="37" name="kanban-2-card-1-epic"/>
          <p:cNvSpPr txBox="1"/>
          <p:nvPr/>
        </p:nvSpPr>
        <p:spPr>
          <a:xfrm>
            <a:off x="3533775" y="3067050"/>
            <a:ext cx="571500" cy="1333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7ED"/>
                </a:solidFill>
                <a:latin typeface="Inter"/>
              </a:rPr>
              <a:t>Perf</a:t>
            </a:r>
          </a:p>
        </p:txBody>
      </p:sp>
      <p:sp>
        <p:nvSpPr>
          <p:cNvPr id="38" name="kanban-2-card-2-bg"/>
          <p:cNvSpPr/>
          <p:nvPr/>
        </p:nvSpPr>
        <p:spPr>
          <a:xfrm>
            <a:off x="3457575" y="333375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kanban-2-card-2-accent"/>
          <p:cNvSpPr/>
          <p:nvPr/>
        </p:nvSpPr>
        <p:spPr>
          <a:xfrm>
            <a:off x="3457575" y="333375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kanban-2-card-2-title"/>
          <p:cNvSpPr txBox="1"/>
          <p:nvPr/>
        </p:nvSpPr>
        <p:spPr>
          <a:xfrm>
            <a:off x="3533775" y="33718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GraphQL schema migration v3</a:t>
            </a:r>
          </a:p>
        </p:txBody>
      </p:sp>
      <p:sp>
        <p:nvSpPr>
          <p:cNvPr id="41" name="kanban-2-card-2-points"/>
          <p:cNvSpPr txBox="1"/>
          <p:nvPr/>
        </p:nvSpPr>
        <p:spPr>
          <a:xfrm>
            <a:off x="5410200" y="337185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13 pts</a:t>
            </a:r>
          </a:p>
        </p:txBody>
      </p:sp>
      <p:sp>
        <p:nvSpPr>
          <p:cNvPr id="42" name="kanban-2-card-2-epic"/>
          <p:cNvSpPr txBox="1"/>
          <p:nvPr/>
        </p:nvSpPr>
        <p:spPr>
          <a:xfrm>
            <a:off x="3533775" y="3581400"/>
            <a:ext cx="571500" cy="13335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API</a:t>
            </a:r>
          </a:p>
        </p:txBody>
      </p:sp>
      <p:sp>
        <p:nvSpPr>
          <p:cNvPr id="43" name="kanban-2-card-3-bg"/>
          <p:cNvSpPr/>
          <p:nvPr/>
        </p:nvSpPr>
        <p:spPr>
          <a:xfrm>
            <a:off x="3457575" y="384810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kanban-2-card-3-accent"/>
          <p:cNvSpPr/>
          <p:nvPr/>
        </p:nvSpPr>
        <p:spPr>
          <a:xfrm>
            <a:off x="3457575" y="384810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kanban-2-card-3-title"/>
          <p:cNvSpPr txBox="1"/>
          <p:nvPr/>
        </p:nvSpPr>
        <p:spPr>
          <a:xfrm>
            <a:off x="3533775" y="38862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Notification preference centre UI</a:t>
            </a:r>
          </a:p>
        </p:txBody>
      </p:sp>
      <p:sp>
        <p:nvSpPr>
          <p:cNvPr id="46" name="kanban-2-card-3-points"/>
          <p:cNvSpPr txBox="1"/>
          <p:nvPr/>
        </p:nvSpPr>
        <p:spPr>
          <a:xfrm>
            <a:off x="5410200" y="388620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 pts</a:t>
            </a:r>
          </a:p>
        </p:txBody>
      </p:sp>
      <p:sp>
        <p:nvSpPr>
          <p:cNvPr id="47" name="kanban-2-card-3-epic"/>
          <p:cNvSpPr txBox="1"/>
          <p:nvPr/>
        </p:nvSpPr>
        <p:spPr>
          <a:xfrm>
            <a:off x="3533775" y="4095750"/>
            <a:ext cx="571500" cy="133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BEAFE"/>
                </a:solidFill>
                <a:latin typeface="Inter"/>
              </a:rPr>
              <a:t>UI</a:t>
            </a:r>
          </a:p>
        </p:txBody>
      </p:sp>
      <p:sp>
        <p:nvSpPr>
          <p:cNvPr id="48" name="pillar-3-header"/>
          <p:cNvSpPr/>
          <p:nvPr/>
        </p:nvSpPr>
        <p:spPr>
          <a:xfrm>
            <a:off x="6153150" y="2476500"/>
            <a:ext cx="26574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pillar-3-name"/>
          <p:cNvSpPr txBox="1"/>
          <p:nvPr/>
        </p:nvSpPr>
        <p:spPr>
          <a:xfrm>
            <a:off x="6248400" y="253365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</a:t>
            </a:r>
          </a:p>
        </p:txBody>
      </p:sp>
      <p:sp>
        <p:nvSpPr>
          <p:cNvPr id="50" name="pillar-3-tag"/>
          <p:cNvSpPr txBox="1"/>
          <p:nvPr/>
        </p:nvSpPr>
        <p:spPr>
          <a:xfrm>
            <a:off x="8429625" y="2533650"/>
            <a:ext cx="2286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51" name="pillar-3-body"/>
          <p:cNvSpPr/>
          <p:nvPr/>
        </p:nvSpPr>
        <p:spPr>
          <a:xfrm>
            <a:off x="6153150" y="2743200"/>
            <a:ext cx="2657475" cy="3543300"/>
          </a:xfrm>
          <a:prstGeom prst="rect">
            <a:avLst/>
          </a:prstGeom>
          <a:solidFill>
            <a:srgbClr val="2A1444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kanban-3-card-1-bg"/>
          <p:cNvSpPr/>
          <p:nvPr/>
        </p:nvSpPr>
        <p:spPr>
          <a:xfrm>
            <a:off x="6229350" y="281940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kanban-3-card-1-title"/>
          <p:cNvSpPr txBox="1"/>
          <p:nvPr/>
        </p:nvSpPr>
        <p:spPr>
          <a:xfrm>
            <a:off x="6305550" y="28575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Role-based access control audit</a:t>
            </a:r>
          </a:p>
        </p:txBody>
      </p:sp>
      <p:sp>
        <p:nvSpPr>
          <p:cNvPr id="54" name="kanban-3-card-1-points"/>
          <p:cNvSpPr txBox="1"/>
          <p:nvPr/>
        </p:nvSpPr>
        <p:spPr>
          <a:xfrm>
            <a:off x="8181975" y="285750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 pts</a:t>
            </a:r>
          </a:p>
        </p:txBody>
      </p:sp>
      <p:sp>
        <p:nvSpPr>
          <p:cNvPr id="55" name="kanban-3-card-1-epic"/>
          <p:cNvSpPr txBox="1"/>
          <p:nvPr/>
        </p:nvSpPr>
        <p:spPr>
          <a:xfrm>
            <a:off x="6305550" y="3067050"/>
            <a:ext cx="571500" cy="13335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E2E2"/>
                </a:solidFill>
                <a:latin typeface="Inter"/>
              </a:rPr>
              <a:t>Security</a:t>
            </a:r>
          </a:p>
        </p:txBody>
      </p:sp>
      <p:sp>
        <p:nvSpPr>
          <p:cNvPr id="56" name="kanban-3-card-2-bg"/>
          <p:cNvSpPr/>
          <p:nvPr/>
        </p:nvSpPr>
        <p:spPr>
          <a:xfrm>
            <a:off x="6229350" y="3333750"/>
            <a:ext cx="2505075" cy="571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kanban-3-card-2-accent"/>
          <p:cNvSpPr/>
          <p:nvPr/>
        </p:nvSpPr>
        <p:spPr>
          <a:xfrm>
            <a:off x="6229350" y="3333750"/>
            <a:ext cx="28575" cy="571500"/>
          </a:xfrm>
          <a:prstGeom prst="rect">
            <a:avLst/>
          </a:prstGeom>
          <a:solidFill>
            <a:srgbClr val="FB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kanban-3-card-2-title"/>
          <p:cNvSpPr txBox="1"/>
          <p:nvPr/>
        </p:nvSpPr>
        <p:spPr>
          <a:xfrm>
            <a:off x="6305550" y="33718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Payment gateway webhook handler</a:t>
            </a:r>
          </a:p>
        </p:txBody>
      </p:sp>
      <p:sp>
        <p:nvSpPr>
          <p:cNvPr id="59" name="kanban-3-card-2-points"/>
          <p:cNvSpPr txBox="1"/>
          <p:nvPr/>
        </p:nvSpPr>
        <p:spPr>
          <a:xfrm>
            <a:off x="8181975" y="337185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13 pts</a:t>
            </a:r>
          </a:p>
        </p:txBody>
      </p:sp>
      <p:sp>
        <p:nvSpPr>
          <p:cNvPr id="60" name="kanban-3-card-2-epic"/>
          <p:cNvSpPr txBox="1"/>
          <p:nvPr/>
        </p:nvSpPr>
        <p:spPr>
          <a:xfrm>
            <a:off x="6305550" y="3695700"/>
            <a:ext cx="571500" cy="13335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API</a:t>
            </a:r>
          </a:p>
        </p:txBody>
      </p:sp>
      <p:sp>
        <p:nvSpPr>
          <p:cNvPr id="61" name="kanban-3-card-2-blocked"/>
          <p:cNvSpPr txBox="1"/>
          <p:nvPr/>
        </p:nvSpPr>
        <p:spPr>
          <a:xfrm>
            <a:off x="6305550" y="3848100"/>
            <a:ext cx="22002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B7285"/>
                </a:solidFill>
                <a:latin typeface="Inter"/>
              </a:rPr>
              <a:t>BLOCKED — AWAITING VENDOR KEY</a:t>
            </a:r>
          </a:p>
        </p:txBody>
      </p:sp>
      <p:sp>
        <p:nvSpPr>
          <p:cNvPr id="62" name="kanban-3-card-3-bg"/>
          <p:cNvSpPr/>
          <p:nvPr/>
        </p:nvSpPr>
        <p:spPr>
          <a:xfrm>
            <a:off x="6229350" y="396240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kanban-3-card-3-title"/>
          <p:cNvSpPr txBox="1"/>
          <p:nvPr/>
        </p:nvSpPr>
        <p:spPr>
          <a:xfrm>
            <a:off x="6305550" y="40005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pipeline unit test coverage</a:t>
            </a:r>
          </a:p>
        </p:txBody>
      </p:sp>
      <p:sp>
        <p:nvSpPr>
          <p:cNvPr id="64" name="kanban-3-card-3-points"/>
          <p:cNvSpPr txBox="1"/>
          <p:nvPr/>
        </p:nvSpPr>
        <p:spPr>
          <a:xfrm>
            <a:off x="8181975" y="400050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 pts</a:t>
            </a:r>
          </a:p>
        </p:txBody>
      </p:sp>
      <p:sp>
        <p:nvSpPr>
          <p:cNvPr id="65" name="kanban-3-card-3-epic"/>
          <p:cNvSpPr txBox="1"/>
          <p:nvPr/>
        </p:nvSpPr>
        <p:spPr>
          <a:xfrm>
            <a:off x="6305550" y="4210050"/>
            <a:ext cx="571500" cy="133350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E7F3"/>
                </a:solidFill>
                <a:latin typeface="Inter"/>
              </a:rPr>
              <a:t>Data</a:t>
            </a:r>
          </a:p>
        </p:txBody>
      </p:sp>
      <p:sp>
        <p:nvSpPr>
          <p:cNvPr id="66" name="pillar-4-header"/>
          <p:cNvSpPr/>
          <p:nvPr/>
        </p:nvSpPr>
        <p:spPr>
          <a:xfrm>
            <a:off x="8924925" y="2476500"/>
            <a:ext cx="26574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pillar-4-name"/>
          <p:cNvSpPr txBox="1"/>
          <p:nvPr/>
        </p:nvSpPr>
        <p:spPr>
          <a:xfrm>
            <a:off x="9020175" y="253365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DONE</a:t>
            </a:r>
          </a:p>
        </p:txBody>
      </p:sp>
      <p:sp>
        <p:nvSpPr>
          <p:cNvPr id="68" name="pillar-4-tag"/>
          <p:cNvSpPr txBox="1"/>
          <p:nvPr/>
        </p:nvSpPr>
        <p:spPr>
          <a:xfrm>
            <a:off x="11201400" y="2533650"/>
            <a:ext cx="2286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4</a:t>
            </a:r>
          </a:p>
        </p:txBody>
      </p:sp>
      <p:sp>
        <p:nvSpPr>
          <p:cNvPr id="69" name="pillar-4-body"/>
          <p:cNvSpPr/>
          <p:nvPr/>
        </p:nvSpPr>
        <p:spPr>
          <a:xfrm>
            <a:off x="8924925" y="2743200"/>
            <a:ext cx="2657475" cy="3543300"/>
          </a:xfrm>
          <a:prstGeom prst="rect">
            <a:avLst/>
          </a:prstGeom>
          <a:solidFill>
            <a:srgbClr val="2A1444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kanban-4-card-1-bg"/>
          <p:cNvSpPr/>
          <p:nvPr/>
        </p:nvSpPr>
        <p:spPr>
          <a:xfrm>
            <a:off x="9001125" y="281940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kanban-4-card-1-accent"/>
          <p:cNvSpPr/>
          <p:nvPr/>
        </p:nvSpPr>
        <p:spPr>
          <a:xfrm>
            <a:off x="9001125" y="2819400"/>
            <a:ext cx="28575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kanban-4-card-1-title"/>
          <p:cNvSpPr txBox="1"/>
          <p:nvPr/>
        </p:nvSpPr>
        <p:spPr>
          <a:xfrm>
            <a:off x="9077325" y="28575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Login page accessibility fixes</a:t>
            </a:r>
          </a:p>
        </p:txBody>
      </p:sp>
      <p:sp>
        <p:nvSpPr>
          <p:cNvPr id="73" name="kanban-4-card-1-points"/>
          <p:cNvSpPr txBox="1"/>
          <p:nvPr/>
        </p:nvSpPr>
        <p:spPr>
          <a:xfrm>
            <a:off x="10953750" y="285750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 pts</a:t>
            </a:r>
          </a:p>
        </p:txBody>
      </p:sp>
      <p:sp>
        <p:nvSpPr>
          <p:cNvPr id="74" name="kanban-4-card-1-epic"/>
          <p:cNvSpPr txBox="1"/>
          <p:nvPr/>
        </p:nvSpPr>
        <p:spPr>
          <a:xfrm>
            <a:off x="9077325" y="3067050"/>
            <a:ext cx="571500" cy="13335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UX</a:t>
            </a:r>
          </a:p>
        </p:txBody>
      </p:sp>
      <p:sp>
        <p:nvSpPr>
          <p:cNvPr id="75" name="kanban-4-card-2-bg"/>
          <p:cNvSpPr/>
          <p:nvPr/>
        </p:nvSpPr>
        <p:spPr>
          <a:xfrm>
            <a:off x="9001125" y="333375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kanban-4-card-2-accent"/>
          <p:cNvSpPr/>
          <p:nvPr/>
        </p:nvSpPr>
        <p:spPr>
          <a:xfrm>
            <a:off x="9001125" y="3333750"/>
            <a:ext cx="28575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kanban-4-card-2-title"/>
          <p:cNvSpPr txBox="1"/>
          <p:nvPr/>
        </p:nvSpPr>
        <p:spPr>
          <a:xfrm>
            <a:off x="9077325" y="33718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CI/CD pipeline Helm chart update</a:t>
            </a:r>
          </a:p>
        </p:txBody>
      </p:sp>
      <p:sp>
        <p:nvSpPr>
          <p:cNvPr id="78" name="kanban-4-card-2-points"/>
          <p:cNvSpPr txBox="1"/>
          <p:nvPr/>
        </p:nvSpPr>
        <p:spPr>
          <a:xfrm>
            <a:off x="10953750" y="337185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 pts</a:t>
            </a:r>
          </a:p>
        </p:txBody>
      </p:sp>
      <p:sp>
        <p:nvSpPr>
          <p:cNvPr id="79" name="kanban-4-card-2-epic"/>
          <p:cNvSpPr txBox="1"/>
          <p:nvPr/>
        </p:nvSpPr>
        <p:spPr>
          <a:xfrm>
            <a:off x="9077325" y="3581400"/>
            <a:ext cx="571500" cy="13335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1FAE5"/>
                </a:solidFill>
                <a:latin typeface="Inter"/>
              </a:rPr>
              <a:t>Infra</a:t>
            </a:r>
          </a:p>
        </p:txBody>
      </p:sp>
      <p:sp>
        <p:nvSpPr>
          <p:cNvPr id="80" name="kanban-4-card-3-bg"/>
          <p:cNvSpPr/>
          <p:nvPr/>
        </p:nvSpPr>
        <p:spPr>
          <a:xfrm>
            <a:off x="9001125" y="384810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kanban-4-card-3-accent"/>
          <p:cNvSpPr/>
          <p:nvPr/>
        </p:nvSpPr>
        <p:spPr>
          <a:xfrm>
            <a:off x="9001125" y="3848100"/>
            <a:ext cx="28575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kanban-4-card-3-title"/>
          <p:cNvSpPr txBox="1"/>
          <p:nvPr/>
        </p:nvSpPr>
        <p:spPr>
          <a:xfrm>
            <a:off x="9077325" y="38862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User search API pagination</a:t>
            </a:r>
          </a:p>
        </p:txBody>
      </p:sp>
      <p:sp>
        <p:nvSpPr>
          <p:cNvPr id="83" name="kanban-4-card-3-points"/>
          <p:cNvSpPr txBox="1"/>
          <p:nvPr/>
        </p:nvSpPr>
        <p:spPr>
          <a:xfrm>
            <a:off x="10953750" y="388620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 pts</a:t>
            </a:r>
          </a:p>
        </p:txBody>
      </p:sp>
      <p:sp>
        <p:nvSpPr>
          <p:cNvPr id="84" name="kanban-4-card-3-epic"/>
          <p:cNvSpPr txBox="1"/>
          <p:nvPr/>
        </p:nvSpPr>
        <p:spPr>
          <a:xfrm>
            <a:off x="9077325" y="4095750"/>
            <a:ext cx="571500" cy="13335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API</a:t>
            </a:r>
          </a:p>
        </p:txBody>
      </p:sp>
      <p:sp>
        <p:nvSpPr>
          <p:cNvPr id="85" name="kanban-4-card-4-bg"/>
          <p:cNvSpPr/>
          <p:nvPr/>
        </p:nvSpPr>
        <p:spPr>
          <a:xfrm>
            <a:off x="9001125" y="4362450"/>
            <a:ext cx="2505075" cy="457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kanban-4-card-4-accent"/>
          <p:cNvSpPr/>
          <p:nvPr/>
        </p:nvSpPr>
        <p:spPr>
          <a:xfrm>
            <a:off x="9001125" y="4362450"/>
            <a:ext cx="28575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kanban-4-card-4-title"/>
          <p:cNvSpPr txBox="1"/>
          <p:nvPr/>
        </p:nvSpPr>
        <p:spPr>
          <a:xfrm>
            <a:off x="9077325" y="44005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Dark mode token system setup</a:t>
            </a:r>
          </a:p>
        </p:txBody>
      </p:sp>
      <p:sp>
        <p:nvSpPr>
          <p:cNvPr id="88" name="kanban-4-card-4-points"/>
          <p:cNvSpPr txBox="1"/>
          <p:nvPr/>
        </p:nvSpPr>
        <p:spPr>
          <a:xfrm>
            <a:off x="10953750" y="440055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 pts</a:t>
            </a:r>
          </a:p>
        </p:txBody>
      </p:sp>
      <p:sp>
        <p:nvSpPr>
          <p:cNvPr id="89" name="kanban-4-card-4-epic"/>
          <p:cNvSpPr txBox="1"/>
          <p:nvPr/>
        </p:nvSpPr>
        <p:spPr>
          <a:xfrm>
            <a:off x="9077325" y="4610100"/>
            <a:ext cx="571500" cy="133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BEAFE"/>
                </a:solidFill>
                <a:latin typeface="Inter"/>
              </a:rPr>
              <a:t>UI</a:t>
            </a:r>
          </a:p>
        </p:txBody>
      </p:sp>
      <p:sp>
        <p:nvSpPr>
          <p:cNvPr id="9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