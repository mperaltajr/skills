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Sprint 14 ·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Two-week delivery plan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Day-by-day task allocation across workstreams — 19 May to 30 May 2026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goal-strip"/>
          <p:cNvSpPr/>
          <p:nvPr/>
        </p:nvSpPr>
        <p:spPr>
          <a:xfrm>
            <a:off x="533400" y="2209800"/>
            <a:ext cx="11125200" cy="3429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goal-label"/>
          <p:cNvSpPr txBox="1"/>
          <p:nvPr/>
        </p:nvSpPr>
        <p:spPr>
          <a:xfrm>
            <a:off x="647700" y="2209800"/>
            <a:ext cx="12382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SPRINT 14 GOAL:</a:t>
            </a:r>
          </a:p>
        </p:txBody>
      </p:sp>
      <p:sp>
        <p:nvSpPr>
          <p:cNvPr id="7" name="goal-text"/>
          <p:cNvSpPr txBox="1"/>
          <p:nvPr/>
        </p:nvSpPr>
        <p:spPr>
          <a:xfrm>
            <a:off x="1905000" y="2209800"/>
            <a:ext cx="68580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Complete API integration layer and user acceptance testing for module 3.</a:t>
            </a:r>
          </a:p>
        </p:txBody>
      </p:sp>
      <p:sp>
        <p:nvSpPr>
          <p:cNvPr id="8" name="sprint-dates"/>
          <p:cNvSpPr txBox="1"/>
          <p:nvPr/>
        </p:nvSpPr>
        <p:spPr>
          <a:xfrm>
            <a:off x="9753600" y="2209800"/>
            <a:ext cx="18097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19 May – 30 May 2026</a:t>
            </a:r>
          </a:p>
        </p:txBody>
      </p:sp>
      <p:sp>
        <p:nvSpPr>
          <p:cNvPr id="9" name="wh-corner-bg"/>
          <p:cNvSpPr/>
          <p:nvPr/>
        </p:nvSpPr>
        <p:spPr>
          <a:xfrm>
            <a:off x="533400" y="2667000"/>
            <a:ext cx="1238250" cy="209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wh-corner"/>
          <p:cNvSpPr txBox="1"/>
          <p:nvPr/>
        </p:nvSpPr>
        <p:spPr>
          <a:xfrm>
            <a:off x="647700" y="2667000"/>
            <a:ext cx="11239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WORKSTREAM</a:t>
            </a:r>
          </a:p>
        </p:txBody>
      </p:sp>
      <p:sp>
        <p:nvSpPr>
          <p:cNvPr id="11" name="week-1-bg"/>
          <p:cNvSpPr/>
          <p:nvPr/>
        </p:nvSpPr>
        <p:spPr>
          <a:xfrm>
            <a:off x="1771650" y="2667000"/>
            <a:ext cx="4905375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week-1-label"/>
          <p:cNvSpPr txBox="1"/>
          <p:nvPr/>
        </p:nvSpPr>
        <p:spPr>
          <a:xfrm>
            <a:off x="1771650" y="2667000"/>
            <a:ext cx="49053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Week 1 · Mon 19 – Fri 23 May</a:t>
            </a:r>
          </a:p>
        </p:txBody>
      </p:sp>
      <p:sp>
        <p:nvSpPr>
          <p:cNvPr id="13" name="week-2-bg"/>
          <p:cNvSpPr/>
          <p:nvPr/>
        </p:nvSpPr>
        <p:spPr>
          <a:xfrm>
            <a:off x="6677025" y="2667000"/>
            <a:ext cx="4905375" cy="2095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week-2-label"/>
          <p:cNvSpPr txBox="1"/>
          <p:nvPr/>
        </p:nvSpPr>
        <p:spPr>
          <a:xfrm>
            <a:off x="6677025" y="2667000"/>
            <a:ext cx="49053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Week 2 · Mon 26 – Fri 30 May</a:t>
            </a:r>
          </a:p>
        </p:txBody>
      </p:sp>
      <p:sp>
        <p:nvSpPr>
          <p:cNvPr id="15" name="dh-bg"/>
          <p:cNvSpPr/>
          <p:nvPr/>
        </p:nvSpPr>
        <p:spPr>
          <a:xfrm>
            <a:off x="533400" y="2876550"/>
            <a:ext cx="11125200" cy="1905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dh-corner"/>
          <p:cNvSpPr txBox="1"/>
          <p:nvPr/>
        </p:nvSpPr>
        <p:spPr>
          <a:xfrm>
            <a:off x="647700" y="2876550"/>
            <a:ext cx="11239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DAY</a:t>
            </a:r>
          </a:p>
        </p:txBody>
      </p:sp>
      <p:sp>
        <p:nvSpPr>
          <p:cNvPr id="17" name="day-1"/>
          <p:cNvSpPr txBox="1"/>
          <p:nvPr/>
        </p:nvSpPr>
        <p:spPr>
          <a:xfrm>
            <a:off x="1771650" y="2876550"/>
            <a:ext cx="981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Mon 19</a:t>
            </a:r>
          </a:p>
        </p:txBody>
      </p:sp>
      <p:sp>
        <p:nvSpPr>
          <p:cNvPr id="18" name="day-2"/>
          <p:cNvSpPr txBox="1"/>
          <p:nvPr/>
        </p:nvSpPr>
        <p:spPr>
          <a:xfrm>
            <a:off x="2752725" y="2876550"/>
            <a:ext cx="981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Tue 20</a:t>
            </a:r>
          </a:p>
        </p:txBody>
      </p:sp>
      <p:sp>
        <p:nvSpPr>
          <p:cNvPr id="19" name="day-3"/>
          <p:cNvSpPr txBox="1"/>
          <p:nvPr/>
        </p:nvSpPr>
        <p:spPr>
          <a:xfrm>
            <a:off x="3733800" y="2876550"/>
            <a:ext cx="981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Wed 21</a:t>
            </a:r>
          </a:p>
        </p:txBody>
      </p:sp>
      <p:sp>
        <p:nvSpPr>
          <p:cNvPr id="20" name="day-4"/>
          <p:cNvSpPr txBox="1"/>
          <p:nvPr/>
        </p:nvSpPr>
        <p:spPr>
          <a:xfrm>
            <a:off x="4714875" y="2876550"/>
            <a:ext cx="981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Thu 22</a:t>
            </a:r>
          </a:p>
        </p:txBody>
      </p:sp>
      <p:sp>
        <p:nvSpPr>
          <p:cNvPr id="21" name="day-5"/>
          <p:cNvSpPr txBox="1"/>
          <p:nvPr/>
        </p:nvSpPr>
        <p:spPr>
          <a:xfrm>
            <a:off x="5695950" y="2876550"/>
            <a:ext cx="981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Fri 23</a:t>
            </a:r>
          </a:p>
        </p:txBody>
      </p:sp>
      <p:sp>
        <p:nvSpPr>
          <p:cNvPr id="22" name="day-6"/>
          <p:cNvSpPr txBox="1"/>
          <p:nvPr/>
        </p:nvSpPr>
        <p:spPr>
          <a:xfrm>
            <a:off x="6677025" y="2876550"/>
            <a:ext cx="981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Mon 26</a:t>
            </a:r>
          </a:p>
        </p:txBody>
      </p:sp>
      <p:sp>
        <p:nvSpPr>
          <p:cNvPr id="23" name="day-7"/>
          <p:cNvSpPr txBox="1"/>
          <p:nvPr/>
        </p:nvSpPr>
        <p:spPr>
          <a:xfrm>
            <a:off x="7658100" y="2876550"/>
            <a:ext cx="981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Tue 27</a:t>
            </a:r>
          </a:p>
        </p:txBody>
      </p:sp>
      <p:sp>
        <p:nvSpPr>
          <p:cNvPr id="24" name="day-8"/>
          <p:cNvSpPr txBox="1"/>
          <p:nvPr/>
        </p:nvSpPr>
        <p:spPr>
          <a:xfrm>
            <a:off x="8639175" y="2876550"/>
            <a:ext cx="981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Wed 28</a:t>
            </a:r>
          </a:p>
        </p:txBody>
      </p:sp>
      <p:sp>
        <p:nvSpPr>
          <p:cNvPr id="25" name="day-9"/>
          <p:cNvSpPr txBox="1"/>
          <p:nvPr/>
        </p:nvSpPr>
        <p:spPr>
          <a:xfrm>
            <a:off x="9620250" y="2876550"/>
            <a:ext cx="981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Thu 29</a:t>
            </a:r>
          </a:p>
        </p:txBody>
      </p:sp>
      <p:sp>
        <p:nvSpPr>
          <p:cNvPr id="26" name="day-10"/>
          <p:cNvSpPr txBox="1"/>
          <p:nvPr/>
        </p:nvSpPr>
        <p:spPr>
          <a:xfrm>
            <a:off x="10601325" y="2876550"/>
            <a:ext cx="981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Fri 30</a:t>
            </a:r>
          </a:p>
        </p:txBody>
      </p:sp>
      <p:sp>
        <p:nvSpPr>
          <p:cNvPr id="27" name="row-1-label-bg"/>
          <p:cNvSpPr/>
          <p:nvPr/>
        </p:nvSpPr>
        <p:spPr>
          <a:xfrm>
            <a:off x="533400" y="3067050"/>
            <a:ext cx="1238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row-1-label"/>
          <p:cNvSpPr txBox="1"/>
          <p:nvPr/>
        </p:nvSpPr>
        <p:spPr>
          <a:xfrm>
            <a:off x="647700" y="3067050"/>
            <a:ext cx="11239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UX Design</a:t>
            </a:r>
          </a:p>
        </p:txBody>
      </p:sp>
      <p:sp>
        <p:nvSpPr>
          <p:cNvPr id="29" name="row-1-cell-1"/>
          <p:cNvSpPr/>
          <p:nvPr/>
        </p:nvSpPr>
        <p:spPr>
          <a:xfrm>
            <a:off x="1771650" y="306705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row-1-cell-1-rule"/>
          <p:cNvSpPr/>
          <p:nvPr/>
        </p:nvSpPr>
        <p:spPr>
          <a:xfrm>
            <a:off x="2743200" y="30670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row-1-cell-2"/>
          <p:cNvSpPr/>
          <p:nvPr/>
        </p:nvSpPr>
        <p:spPr>
          <a:xfrm>
            <a:off x="2752725" y="306705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row-1-cell-2-rule"/>
          <p:cNvSpPr/>
          <p:nvPr/>
        </p:nvSpPr>
        <p:spPr>
          <a:xfrm>
            <a:off x="3724275" y="30670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row-1-cell-3"/>
          <p:cNvSpPr/>
          <p:nvPr/>
        </p:nvSpPr>
        <p:spPr>
          <a:xfrm>
            <a:off x="3733800" y="306705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row-1-cell-3-rule"/>
          <p:cNvSpPr/>
          <p:nvPr/>
        </p:nvSpPr>
        <p:spPr>
          <a:xfrm>
            <a:off x="4705350" y="30670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row-1-cell-4"/>
          <p:cNvSpPr/>
          <p:nvPr/>
        </p:nvSpPr>
        <p:spPr>
          <a:xfrm>
            <a:off x="4714875" y="306705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row-1-cell-4-rule"/>
          <p:cNvSpPr/>
          <p:nvPr/>
        </p:nvSpPr>
        <p:spPr>
          <a:xfrm>
            <a:off x="5686425" y="30670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row-1-cell-5"/>
          <p:cNvSpPr/>
          <p:nvPr/>
        </p:nvSpPr>
        <p:spPr>
          <a:xfrm>
            <a:off x="5695950" y="306705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row-1-cell-5-rule"/>
          <p:cNvSpPr/>
          <p:nvPr/>
        </p:nvSpPr>
        <p:spPr>
          <a:xfrm>
            <a:off x="6667500" y="30670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row-1-cell-6"/>
          <p:cNvSpPr/>
          <p:nvPr/>
        </p:nvSpPr>
        <p:spPr>
          <a:xfrm>
            <a:off x="6677025" y="306705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row-1-cell-6-rule"/>
          <p:cNvSpPr/>
          <p:nvPr/>
        </p:nvSpPr>
        <p:spPr>
          <a:xfrm>
            <a:off x="7648575" y="30670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row-1-cell-7"/>
          <p:cNvSpPr/>
          <p:nvPr/>
        </p:nvSpPr>
        <p:spPr>
          <a:xfrm>
            <a:off x="7658100" y="306705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row-1-cell-7-rule"/>
          <p:cNvSpPr/>
          <p:nvPr/>
        </p:nvSpPr>
        <p:spPr>
          <a:xfrm>
            <a:off x="8629650" y="30670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row-1-cell-8"/>
          <p:cNvSpPr/>
          <p:nvPr/>
        </p:nvSpPr>
        <p:spPr>
          <a:xfrm>
            <a:off x="8639175" y="306705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row-1-cell-8-rule"/>
          <p:cNvSpPr/>
          <p:nvPr/>
        </p:nvSpPr>
        <p:spPr>
          <a:xfrm>
            <a:off x="9610725" y="30670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row-1-cell-9"/>
          <p:cNvSpPr/>
          <p:nvPr/>
        </p:nvSpPr>
        <p:spPr>
          <a:xfrm>
            <a:off x="9620250" y="306705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row-1-cell-9-rule"/>
          <p:cNvSpPr/>
          <p:nvPr/>
        </p:nvSpPr>
        <p:spPr>
          <a:xfrm>
            <a:off x="10591800" y="30670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row-1-cell-10"/>
          <p:cNvSpPr/>
          <p:nvPr/>
        </p:nvSpPr>
        <p:spPr>
          <a:xfrm>
            <a:off x="10601325" y="306705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row-1-bottom-rule"/>
          <p:cNvSpPr/>
          <p:nvPr/>
        </p:nvSpPr>
        <p:spPr>
          <a:xfrm>
            <a:off x="533400" y="3419475"/>
            <a:ext cx="11125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row-1-bar-1"/>
          <p:cNvSpPr/>
          <p:nvPr/>
        </p:nvSpPr>
        <p:spPr>
          <a:xfrm>
            <a:off x="1800225" y="3162300"/>
            <a:ext cx="2886075" cy="1714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row-1-bar-1-label"/>
          <p:cNvSpPr txBox="1"/>
          <p:nvPr/>
        </p:nvSpPr>
        <p:spPr>
          <a:xfrm>
            <a:off x="1800225" y="3162300"/>
            <a:ext cx="28860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Wireframes &amp; flows</a:t>
            </a:r>
          </a:p>
        </p:txBody>
      </p:sp>
      <p:sp>
        <p:nvSpPr>
          <p:cNvPr id="51" name="row-1-bar-2"/>
          <p:cNvSpPr/>
          <p:nvPr/>
        </p:nvSpPr>
        <p:spPr>
          <a:xfrm>
            <a:off x="6705600" y="3162300"/>
            <a:ext cx="2886075" cy="1714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row-1-bar-2-label"/>
          <p:cNvSpPr txBox="1"/>
          <p:nvPr/>
        </p:nvSpPr>
        <p:spPr>
          <a:xfrm>
            <a:off x="6705600" y="3162300"/>
            <a:ext cx="28860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UAT screens</a:t>
            </a:r>
          </a:p>
        </p:txBody>
      </p:sp>
      <p:sp>
        <p:nvSpPr>
          <p:cNvPr id="53" name="row-2-label-bg"/>
          <p:cNvSpPr/>
          <p:nvPr/>
        </p:nvSpPr>
        <p:spPr>
          <a:xfrm>
            <a:off x="533400" y="3429000"/>
            <a:ext cx="1238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row-2-label"/>
          <p:cNvSpPr txBox="1"/>
          <p:nvPr/>
        </p:nvSpPr>
        <p:spPr>
          <a:xfrm>
            <a:off x="647700" y="3429000"/>
            <a:ext cx="11239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Frontend Dev</a:t>
            </a:r>
          </a:p>
        </p:txBody>
      </p:sp>
      <p:sp>
        <p:nvSpPr>
          <p:cNvPr id="55" name="row-2-cell-1"/>
          <p:cNvSpPr/>
          <p:nvPr/>
        </p:nvSpPr>
        <p:spPr>
          <a:xfrm>
            <a:off x="1771650" y="342900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row-2-cell-1-rule"/>
          <p:cNvSpPr/>
          <p:nvPr/>
        </p:nvSpPr>
        <p:spPr>
          <a:xfrm>
            <a:off x="2743200" y="34290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row-2-cell-2"/>
          <p:cNvSpPr/>
          <p:nvPr/>
        </p:nvSpPr>
        <p:spPr>
          <a:xfrm>
            <a:off x="2752725" y="342900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row-2-cell-2-rule"/>
          <p:cNvSpPr/>
          <p:nvPr/>
        </p:nvSpPr>
        <p:spPr>
          <a:xfrm>
            <a:off x="3724275" y="34290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row-2-cell-3"/>
          <p:cNvSpPr/>
          <p:nvPr/>
        </p:nvSpPr>
        <p:spPr>
          <a:xfrm>
            <a:off x="3733800" y="342900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row-2-cell-3-rule"/>
          <p:cNvSpPr/>
          <p:nvPr/>
        </p:nvSpPr>
        <p:spPr>
          <a:xfrm>
            <a:off x="4705350" y="34290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row-2-cell-4"/>
          <p:cNvSpPr/>
          <p:nvPr/>
        </p:nvSpPr>
        <p:spPr>
          <a:xfrm>
            <a:off x="4714875" y="342900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row-2-cell-4-rule"/>
          <p:cNvSpPr/>
          <p:nvPr/>
        </p:nvSpPr>
        <p:spPr>
          <a:xfrm>
            <a:off x="5686425" y="34290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row-2-cell-5"/>
          <p:cNvSpPr/>
          <p:nvPr/>
        </p:nvSpPr>
        <p:spPr>
          <a:xfrm>
            <a:off x="5695950" y="342900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row-2-cell-5-rule"/>
          <p:cNvSpPr/>
          <p:nvPr/>
        </p:nvSpPr>
        <p:spPr>
          <a:xfrm>
            <a:off x="6667500" y="34290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row-2-cell-6"/>
          <p:cNvSpPr/>
          <p:nvPr/>
        </p:nvSpPr>
        <p:spPr>
          <a:xfrm>
            <a:off x="6677025" y="342900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row-2-cell-6-rule"/>
          <p:cNvSpPr/>
          <p:nvPr/>
        </p:nvSpPr>
        <p:spPr>
          <a:xfrm>
            <a:off x="7648575" y="34290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row-2-cell-7"/>
          <p:cNvSpPr/>
          <p:nvPr/>
        </p:nvSpPr>
        <p:spPr>
          <a:xfrm>
            <a:off x="7658100" y="342900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row-2-cell-7-rule"/>
          <p:cNvSpPr/>
          <p:nvPr/>
        </p:nvSpPr>
        <p:spPr>
          <a:xfrm>
            <a:off x="8629650" y="34290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row-2-cell-8"/>
          <p:cNvSpPr/>
          <p:nvPr/>
        </p:nvSpPr>
        <p:spPr>
          <a:xfrm>
            <a:off x="8639175" y="342900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row-2-cell-8-rule"/>
          <p:cNvSpPr/>
          <p:nvPr/>
        </p:nvSpPr>
        <p:spPr>
          <a:xfrm>
            <a:off x="9610725" y="34290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row-2-cell-9"/>
          <p:cNvSpPr/>
          <p:nvPr/>
        </p:nvSpPr>
        <p:spPr>
          <a:xfrm>
            <a:off x="9620250" y="342900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row-2-cell-9-rule"/>
          <p:cNvSpPr/>
          <p:nvPr/>
        </p:nvSpPr>
        <p:spPr>
          <a:xfrm>
            <a:off x="10591800" y="34290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row-2-cell-10"/>
          <p:cNvSpPr/>
          <p:nvPr/>
        </p:nvSpPr>
        <p:spPr>
          <a:xfrm>
            <a:off x="10601325" y="342900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row-2-bottom-rule"/>
          <p:cNvSpPr/>
          <p:nvPr/>
        </p:nvSpPr>
        <p:spPr>
          <a:xfrm>
            <a:off x="533400" y="3781425"/>
            <a:ext cx="11125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row-2-bar-1"/>
          <p:cNvSpPr/>
          <p:nvPr/>
        </p:nvSpPr>
        <p:spPr>
          <a:xfrm>
            <a:off x="1800225" y="3524250"/>
            <a:ext cx="77914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row-2-bar-1-label"/>
          <p:cNvSpPr txBox="1"/>
          <p:nvPr/>
        </p:nvSpPr>
        <p:spPr>
          <a:xfrm>
            <a:off x="1800225" y="3524250"/>
            <a:ext cx="779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API integration UI</a:t>
            </a:r>
          </a:p>
        </p:txBody>
      </p:sp>
      <p:sp>
        <p:nvSpPr>
          <p:cNvPr id="77" name="row-3-label-bg"/>
          <p:cNvSpPr/>
          <p:nvPr/>
        </p:nvSpPr>
        <p:spPr>
          <a:xfrm>
            <a:off x="533400" y="3790950"/>
            <a:ext cx="1238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row-3-label"/>
          <p:cNvSpPr txBox="1"/>
          <p:nvPr/>
        </p:nvSpPr>
        <p:spPr>
          <a:xfrm>
            <a:off x="647700" y="3790950"/>
            <a:ext cx="11239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Backend Dev</a:t>
            </a:r>
          </a:p>
        </p:txBody>
      </p:sp>
      <p:sp>
        <p:nvSpPr>
          <p:cNvPr id="79" name="row-3-cell-1"/>
          <p:cNvSpPr/>
          <p:nvPr/>
        </p:nvSpPr>
        <p:spPr>
          <a:xfrm>
            <a:off x="1771650" y="379095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row-3-cell-1-rule"/>
          <p:cNvSpPr/>
          <p:nvPr/>
        </p:nvSpPr>
        <p:spPr>
          <a:xfrm>
            <a:off x="2743200" y="37909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row-3-cell-2"/>
          <p:cNvSpPr/>
          <p:nvPr/>
        </p:nvSpPr>
        <p:spPr>
          <a:xfrm>
            <a:off x="2752725" y="379095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row-3-cell-2-rule"/>
          <p:cNvSpPr/>
          <p:nvPr/>
        </p:nvSpPr>
        <p:spPr>
          <a:xfrm>
            <a:off x="3724275" y="37909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row-3-cell-3"/>
          <p:cNvSpPr/>
          <p:nvPr/>
        </p:nvSpPr>
        <p:spPr>
          <a:xfrm>
            <a:off x="3733800" y="379095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row-3-cell-3-rule"/>
          <p:cNvSpPr/>
          <p:nvPr/>
        </p:nvSpPr>
        <p:spPr>
          <a:xfrm>
            <a:off x="4705350" y="37909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row-3-cell-4"/>
          <p:cNvSpPr/>
          <p:nvPr/>
        </p:nvSpPr>
        <p:spPr>
          <a:xfrm>
            <a:off x="4714875" y="379095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row-3-cell-4-rule"/>
          <p:cNvSpPr/>
          <p:nvPr/>
        </p:nvSpPr>
        <p:spPr>
          <a:xfrm>
            <a:off x="5686425" y="37909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row-3-cell-5"/>
          <p:cNvSpPr/>
          <p:nvPr/>
        </p:nvSpPr>
        <p:spPr>
          <a:xfrm>
            <a:off x="5695950" y="379095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row-3-cell-5-rule"/>
          <p:cNvSpPr/>
          <p:nvPr/>
        </p:nvSpPr>
        <p:spPr>
          <a:xfrm>
            <a:off x="6667500" y="37909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" name="row-3-cell-6"/>
          <p:cNvSpPr/>
          <p:nvPr/>
        </p:nvSpPr>
        <p:spPr>
          <a:xfrm>
            <a:off x="6677025" y="379095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row-3-cell-6-rule"/>
          <p:cNvSpPr/>
          <p:nvPr/>
        </p:nvSpPr>
        <p:spPr>
          <a:xfrm>
            <a:off x="7648575" y="37909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" name="row-3-cell-7"/>
          <p:cNvSpPr/>
          <p:nvPr/>
        </p:nvSpPr>
        <p:spPr>
          <a:xfrm>
            <a:off x="7658100" y="379095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" name="row-3-cell-7-rule"/>
          <p:cNvSpPr/>
          <p:nvPr/>
        </p:nvSpPr>
        <p:spPr>
          <a:xfrm>
            <a:off x="8629650" y="37909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row-3-cell-8"/>
          <p:cNvSpPr/>
          <p:nvPr/>
        </p:nvSpPr>
        <p:spPr>
          <a:xfrm>
            <a:off x="8639175" y="379095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4" name="row-3-cell-8-rule"/>
          <p:cNvSpPr/>
          <p:nvPr/>
        </p:nvSpPr>
        <p:spPr>
          <a:xfrm>
            <a:off x="9610725" y="37909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5" name="row-3-cell-9"/>
          <p:cNvSpPr/>
          <p:nvPr/>
        </p:nvSpPr>
        <p:spPr>
          <a:xfrm>
            <a:off x="9620250" y="379095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6" name="row-3-cell-9-rule"/>
          <p:cNvSpPr/>
          <p:nvPr/>
        </p:nvSpPr>
        <p:spPr>
          <a:xfrm>
            <a:off x="10591800" y="37909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7" name="row-3-cell-10"/>
          <p:cNvSpPr/>
          <p:nvPr/>
        </p:nvSpPr>
        <p:spPr>
          <a:xfrm>
            <a:off x="10601325" y="379095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8" name="row-3-bottom-rule"/>
          <p:cNvSpPr/>
          <p:nvPr/>
        </p:nvSpPr>
        <p:spPr>
          <a:xfrm>
            <a:off x="533400" y="4143375"/>
            <a:ext cx="11125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9" name="row-3-bar-1"/>
          <p:cNvSpPr/>
          <p:nvPr/>
        </p:nvSpPr>
        <p:spPr>
          <a:xfrm>
            <a:off x="1800225" y="3886200"/>
            <a:ext cx="975360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0" name="row-3-bar-1-label"/>
          <p:cNvSpPr txBox="1"/>
          <p:nvPr/>
        </p:nvSpPr>
        <p:spPr>
          <a:xfrm>
            <a:off x="1800225" y="3886200"/>
            <a:ext cx="9753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API layer build · full sprint</a:t>
            </a:r>
          </a:p>
        </p:txBody>
      </p:sp>
      <p:sp>
        <p:nvSpPr>
          <p:cNvPr id="101" name="row-4-label-bg"/>
          <p:cNvSpPr/>
          <p:nvPr/>
        </p:nvSpPr>
        <p:spPr>
          <a:xfrm>
            <a:off x="533400" y="4152900"/>
            <a:ext cx="1238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2" name="row-4-label"/>
          <p:cNvSpPr txBox="1"/>
          <p:nvPr/>
        </p:nvSpPr>
        <p:spPr>
          <a:xfrm>
            <a:off x="647700" y="4152900"/>
            <a:ext cx="11239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QA Testing</a:t>
            </a:r>
          </a:p>
        </p:txBody>
      </p:sp>
      <p:sp>
        <p:nvSpPr>
          <p:cNvPr id="103" name="row-4-cell-1"/>
          <p:cNvSpPr/>
          <p:nvPr/>
        </p:nvSpPr>
        <p:spPr>
          <a:xfrm>
            <a:off x="1771650" y="415290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4" name="row-4-cell-1-rule"/>
          <p:cNvSpPr/>
          <p:nvPr/>
        </p:nvSpPr>
        <p:spPr>
          <a:xfrm>
            <a:off x="2743200" y="41529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5" name="row-4-cell-2"/>
          <p:cNvSpPr/>
          <p:nvPr/>
        </p:nvSpPr>
        <p:spPr>
          <a:xfrm>
            <a:off x="2752725" y="415290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6" name="row-4-cell-2-rule"/>
          <p:cNvSpPr/>
          <p:nvPr/>
        </p:nvSpPr>
        <p:spPr>
          <a:xfrm>
            <a:off x="3724275" y="41529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7" name="row-4-cell-3"/>
          <p:cNvSpPr/>
          <p:nvPr/>
        </p:nvSpPr>
        <p:spPr>
          <a:xfrm>
            <a:off x="3733800" y="415290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8" name="row-4-cell-3-rule"/>
          <p:cNvSpPr/>
          <p:nvPr/>
        </p:nvSpPr>
        <p:spPr>
          <a:xfrm>
            <a:off x="4705350" y="41529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9" name="row-4-cell-4"/>
          <p:cNvSpPr/>
          <p:nvPr/>
        </p:nvSpPr>
        <p:spPr>
          <a:xfrm>
            <a:off x="4714875" y="415290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0" name="row-4-cell-4-rule"/>
          <p:cNvSpPr/>
          <p:nvPr/>
        </p:nvSpPr>
        <p:spPr>
          <a:xfrm>
            <a:off x="5686425" y="41529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1" name="row-4-cell-5"/>
          <p:cNvSpPr/>
          <p:nvPr/>
        </p:nvSpPr>
        <p:spPr>
          <a:xfrm>
            <a:off x="5695950" y="415290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2" name="row-4-cell-5-rule"/>
          <p:cNvSpPr/>
          <p:nvPr/>
        </p:nvSpPr>
        <p:spPr>
          <a:xfrm>
            <a:off x="6667500" y="41529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3" name="row-4-cell-6"/>
          <p:cNvSpPr/>
          <p:nvPr/>
        </p:nvSpPr>
        <p:spPr>
          <a:xfrm>
            <a:off x="6677025" y="415290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4" name="row-4-cell-6-rule"/>
          <p:cNvSpPr/>
          <p:nvPr/>
        </p:nvSpPr>
        <p:spPr>
          <a:xfrm>
            <a:off x="7648575" y="41529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5" name="row-4-cell-7"/>
          <p:cNvSpPr/>
          <p:nvPr/>
        </p:nvSpPr>
        <p:spPr>
          <a:xfrm>
            <a:off x="7658100" y="415290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6" name="row-4-cell-7-rule"/>
          <p:cNvSpPr/>
          <p:nvPr/>
        </p:nvSpPr>
        <p:spPr>
          <a:xfrm>
            <a:off x="8629650" y="41529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7" name="row-4-cell-8"/>
          <p:cNvSpPr/>
          <p:nvPr/>
        </p:nvSpPr>
        <p:spPr>
          <a:xfrm>
            <a:off x="8639175" y="415290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8" name="row-4-cell-8-rule"/>
          <p:cNvSpPr/>
          <p:nvPr/>
        </p:nvSpPr>
        <p:spPr>
          <a:xfrm>
            <a:off x="9610725" y="41529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9" name="row-4-cell-9"/>
          <p:cNvSpPr/>
          <p:nvPr/>
        </p:nvSpPr>
        <p:spPr>
          <a:xfrm>
            <a:off x="9620250" y="415290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0" name="row-4-cell-9-rule"/>
          <p:cNvSpPr/>
          <p:nvPr/>
        </p:nvSpPr>
        <p:spPr>
          <a:xfrm>
            <a:off x="10591800" y="41529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1" name="row-4-cell-10"/>
          <p:cNvSpPr/>
          <p:nvPr/>
        </p:nvSpPr>
        <p:spPr>
          <a:xfrm>
            <a:off x="10601325" y="415290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2" name="row-4-bottom-rule"/>
          <p:cNvSpPr/>
          <p:nvPr/>
        </p:nvSpPr>
        <p:spPr>
          <a:xfrm>
            <a:off x="533400" y="4505325"/>
            <a:ext cx="11125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3" name="row-4-bar-1"/>
          <p:cNvSpPr/>
          <p:nvPr/>
        </p:nvSpPr>
        <p:spPr>
          <a:xfrm>
            <a:off x="4743450" y="4248150"/>
            <a:ext cx="6810375" cy="1714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4" name="row-4-bar-1-label"/>
          <p:cNvSpPr txBox="1"/>
          <p:nvPr/>
        </p:nvSpPr>
        <p:spPr>
          <a:xfrm>
            <a:off x="4743450" y="4248150"/>
            <a:ext cx="68103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Test cases · regression · UAT sign-off</a:t>
            </a:r>
          </a:p>
        </p:txBody>
      </p:sp>
      <p:sp>
        <p:nvSpPr>
          <p:cNvPr id="125" name="row-5-label-bg"/>
          <p:cNvSpPr/>
          <p:nvPr/>
        </p:nvSpPr>
        <p:spPr>
          <a:xfrm>
            <a:off x="533400" y="4514850"/>
            <a:ext cx="1238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6" name="row-5-label"/>
          <p:cNvSpPr txBox="1"/>
          <p:nvPr/>
        </p:nvSpPr>
        <p:spPr>
          <a:xfrm>
            <a:off x="647700" y="4514850"/>
            <a:ext cx="11239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Data Engineering</a:t>
            </a:r>
          </a:p>
        </p:txBody>
      </p:sp>
      <p:sp>
        <p:nvSpPr>
          <p:cNvPr id="127" name="row-5-cell-1"/>
          <p:cNvSpPr/>
          <p:nvPr/>
        </p:nvSpPr>
        <p:spPr>
          <a:xfrm>
            <a:off x="1771650" y="451485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8" name="row-5-cell-1-rule"/>
          <p:cNvSpPr/>
          <p:nvPr/>
        </p:nvSpPr>
        <p:spPr>
          <a:xfrm>
            <a:off x="2743200" y="45148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9" name="row-5-cell-2"/>
          <p:cNvSpPr/>
          <p:nvPr/>
        </p:nvSpPr>
        <p:spPr>
          <a:xfrm>
            <a:off x="2752725" y="451485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0" name="row-5-cell-2-rule"/>
          <p:cNvSpPr/>
          <p:nvPr/>
        </p:nvSpPr>
        <p:spPr>
          <a:xfrm>
            <a:off x="3724275" y="45148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1" name="row-5-cell-3"/>
          <p:cNvSpPr/>
          <p:nvPr/>
        </p:nvSpPr>
        <p:spPr>
          <a:xfrm>
            <a:off x="3733800" y="451485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2" name="row-5-cell-3-rule"/>
          <p:cNvSpPr/>
          <p:nvPr/>
        </p:nvSpPr>
        <p:spPr>
          <a:xfrm>
            <a:off x="4705350" y="45148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3" name="row-5-cell-4"/>
          <p:cNvSpPr/>
          <p:nvPr/>
        </p:nvSpPr>
        <p:spPr>
          <a:xfrm>
            <a:off x="4714875" y="451485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4" name="row-5-cell-4-rule"/>
          <p:cNvSpPr/>
          <p:nvPr/>
        </p:nvSpPr>
        <p:spPr>
          <a:xfrm>
            <a:off x="5686425" y="45148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5" name="row-5-cell-5"/>
          <p:cNvSpPr/>
          <p:nvPr/>
        </p:nvSpPr>
        <p:spPr>
          <a:xfrm>
            <a:off x="5695950" y="451485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6" name="row-5-cell-5-rule"/>
          <p:cNvSpPr/>
          <p:nvPr/>
        </p:nvSpPr>
        <p:spPr>
          <a:xfrm>
            <a:off x="6667500" y="45148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7" name="row-5-cell-6"/>
          <p:cNvSpPr/>
          <p:nvPr/>
        </p:nvSpPr>
        <p:spPr>
          <a:xfrm>
            <a:off x="6677025" y="451485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8" name="row-5-cell-6-rule"/>
          <p:cNvSpPr/>
          <p:nvPr/>
        </p:nvSpPr>
        <p:spPr>
          <a:xfrm>
            <a:off x="7648575" y="45148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9" name="row-5-cell-7"/>
          <p:cNvSpPr/>
          <p:nvPr/>
        </p:nvSpPr>
        <p:spPr>
          <a:xfrm>
            <a:off x="7658100" y="451485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0" name="row-5-cell-7-rule"/>
          <p:cNvSpPr/>
          <p:nvPr/>
        </p:nvSpPr>
        <p:spPr>
          <a:xfrm>
            <a:off x="8629650" y="45148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1" name="row-5-cell-8"/>
          <p:cNvSpPr/>
          <p:nvPr/>
        </p:nvSpPr>
        <p:spPr>
          <a:xfrm>
            <a:off x="8639175" y="451485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2" name="row-5-cell-8-rule"/>
          <p:cNvSpPr/>
          <p:nvPr/>
        </p:nvSpPr>
        <p:spPr>
          <a:xfrm>
            <a:off x="9610725" y="45148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3" name="row-5-cell-9"/>
          <p:cNvSpPr/>
          <p:nvPr/>
        </p:nvSpPr>
        <p:spPr>
          <a:xfrm>
            <a:off x="9620250" y="451485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4" name="row-5-cell-9-rule"/>
          <p:cNvSpPr/>
          <p:nvPr/>
        </p:nvSpPr>
        <p:spPr>
          <a:xfrm>
            <a:off x="10591800" y="45148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5" name="row-5-cell-10"/>
          <p:cNvSpPr/>
          <p:nvPr/>
        </p:nvSpPr>
        <p:spPr>
          <a:xfrm>
            <a:off x="10601325" y="451485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6" name="row-5-bottom-rule"/>
          <p:cNvSpPr/>
          <p:nvPr/>
        </p:nvSpPr>
        <p:spPr>
          <a:xfrm>
            <a:off x="533400" y="4867275"/>
            <a:ext cx="11125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7" name="row-5-bar-1"/>
          <p:cNvSpPr/>
          <p:nvPr/>
        </p:nvSpPr>
        <p:spPr>
          <a:xfrm>
            <a:off x="1800225" y="4610100"/>
            <a:ext cx="4848225" cy="1714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8" name="row-5-bar-1-label"/>
          <p:cNvSpPr txBox="1"/>
          <p:nvPr/>
        </p:nvSpPr>
        <p:spPr>
          <a:xfrm>
            <a:off x="1800225" y="4610100"/>
            <a:ext cx="48482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Pipeline &amp; schema setup</a:t>
            </a:r>
          </a:p>
        </p:txBody>
      </p:sp>
      <p:sp>
        <p:nvSpPr>
          <p:cNvPr id="149" name="row-6-label-bg"/>
          <p:cNvSpPr/>
          <p:nvPr/>
        </p:nvSpPr>
        <p:spPr>
          <a:xfrm>
            <a:off x="533400" y="4876800"/>
            <a:ext cx="1238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0" name="row-6-label"/>
          <p:cNvSpPr txBox="1"/>
          <p:nvPr/>
        </p:nvSpPr>
        <p:spPr>
          <a:xfrm>
            <a:off x="647700" y="4876800"/>
            <a:ext cx="11239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Stakeholder Review</a:t>
            </a:r>
          </a:p>
        </p:txBody>
      </p:sp>
      <p:sp>
        <p:nvSpPr>
          <p:cNvPr id="151" name="row-6-cell-1"/>
          <p:cNvSpPr/>
          <p:nvPr/>
        </p:nvSpPr>
        <p:spPr>
          <a:xfrm>
            <a:off x="1771650" y="487680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2" name="row-6-cell-1-rule"/>
          <p:cNvSpPr/>
          <p:nvPr/>
        </p:nvSpPr>
        <p:spPr>
          <a:xfrm>
            <a:off x="2743200" y="48768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3" name="row-6-cell-2"/>
          <p:cNvSpPr/>
          <p:nvPr/>
        </p:nvSpPr>
        <p:spPr>
          <a:xfrm>
            <a:off x="2752725" y="487680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4" name="row-6-cell-2-rule"/>
          <p:cNvSpPr/>
          <p:nvPr/>
        </p:nvSpPr>
        <p:spPr>
          <a:xfrm>
            <a:off x="3724275" y="48768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5" name="row-6-cell-3"/>
          <p:cNvSpPr/>
          <p:nvPr/>
        </p:nvSpPr>
        <p:spPr>
          <a:xfrm>
            <a:off x="3733800" y="487680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6" name="row-6-cell-3-rule"/>
          <p:cNvSpPr/>
          <p:nvPr/>
        </p:nvSpPr>
        <p:spPr>
          <a:xfrm>
            <a:off x="4705350" y="48768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7" name="row-6-cell-4"/>
          <p:cNvSpPr/>
          <p:nvPr/>
        </p:nvSpPr>
        <p:spPr>
          <a:xfrm>
            <a:off x="4714875" y="487680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8" name="row-6-cell-4-rule"/>
          <p:cNvSpPr/>
          <p:nvPr/>
        </p:nvSpPr>
        <p:spPr>
          <a:xfrm>
            <a:off x="5686425" y="48768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9" name="row-6-cell-5"/>
          <p:cNvSpPr/>
          <p:nvPr/>
        </p:nvSpPr>
        <p:spPr>
          <a:xfrm>
            <a:off x="5695950" y="487680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0" name="row-6-cell-5-rule"/>
          <p:cNvSpPr/>
          <p:nvPr/>
        </p:nvSpPr>
        <p:spPr>
          <a:xfrm>
            <a:off x="6667500" y="48768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1" name="row-6-cell-6"/>
          <p:cNvSpPr/>
          <p:nvPr/>
        </p:nvSpPr>
        <p:spPr>
          <a:xfrm>
            <a:off x="6677025" y="487680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2" name="row-6-cell-6-rule"/>
          <p:cNvSpPr/>
          <p:nvPr/>
        </p:nvSpPr>
        <p:spPr>
          <a:xfrm>
            <a:off x="7648575" y="48768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3" name="row-6-cell-7"/>
          <p:cNvSpPr/>
          <p:nvPr/>
        </p:nvSpPr>
        <p:spPr>
          <a:xfrm>
            <a:off x="7658100" y="487680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4" name="row-6-cell-7-rule"/>
          <p:cNvSpPr/>
          <p:nvPr/>
        </p:nvSpPr>
        <p:spPr>
          <a:xfrm>
            <a:off x="8629650" y="48768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5" name="row-6-cell-8"/>
          <p:cNvSpPr/>
          <p:nvPr/>
        </p:nvSpPr>
        <p:spPr>
          <a:xfrm>
            <a:off x="8639175" y="487680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6" name="row-6-cell-8-rule"/>
          <p:cNvSpPr/>
          <p:nvPr/>
        </p:nvSpPr>
        <p:spPr>
          <a:xfrm>
            <a:off x="9610725" y="48768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7" name="row-6-cell-9"/>
          <p:cNvSpPr/>
          <p:nvPr/>
        </p:nvSpPr>
        <p:spPr>
          <a:xfrm>
            <a:off x="9620250" y="4876800"/>
            <a:ext cx="981075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8" name="row-6-cell-9-rule"/>
          <p:cNvSpPr/>
          <p:nvPr/>
        </p:nvSpPr>
        <p:spPr>
          <a:xfrm>
            <a:off x="10591800" y="48768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9" name="row-6-cell-10"/>
          <p:cNvSpPr/>
          <p:nvPr/>
        </p:nvSpPr>
        <p:spPr>
          <a:xfrm>
            <a:off x="10601325" y="4876800"/>
            <a:ext cx="981075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0" name="row-6-bottom-rule"/>
          <p:cNvSpPr/>
          <p:nvPr/>
        </p:nvSpPr>
        <p:spPr>
          <a:xfrm>
            <a:off x="533400" y="5229225"/>
            <a:ext cx="11125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1" name="row-6-bar-1"/>
          <p:cNvSpPr/>
          <p:nvPr/>
        </p:nvSpPr>
        <p:spPr>
          <a:xfrm>
            <a:off x="10629900" y="4972050"/>
            <a:ext cx="923925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2" name="row-6-bar-1-label"/>
          <p:cNvSpPr txBox="1"/>
          <p:nvPr/>
        </p:nvSpPr>
        <p:spPr>
          <a:xfrm>
            <a:off x="10629900" y="4972050"/>
            <a:ext cx="923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Review</a:t>
            </a:r>
          </a:p>
        </p:txBody>
      </p:sp>
      <p:sp>
        <p:nvSpPr>
          <p:cNvPr id="173" name="today-line"/>
          <p:cNvSpPr/>
          <p:nvPr/>
        </p:nvSpPr>
        <p:spPr>
          <a:xfrm>
            <a:off x="2257425" y="2876550"/>
            <a:ext cx="19050" cy="2362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4" name="blockers-title"/>
          <p:cNvSpPr txBox="1"/>
          <p:nvPr/>
        </p:nvSpPr>
        <p:spPr>
          <a:xfrm>
            <a:off x="533400" y="541020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BLOCKERS</a:t>
            </a:r>
          </a:p>
        </p:txBody>
      </p:sp>
      <p:sp>
        <p:nvSpPr>
          <p:cNvPr id="175" name="blocker-1-bar"/>
          <p:cNvSpPr/>
          <p:nvPr/>
        </p:nvSpPr>
        <p:spPr>
          <a:xfrm>
            <a:off x="533400" y="5581650"/>
            <a:ext cx="28575" cy="2667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6" name="blocker-1-bg"/>
          <p:cNvSpPr/>
          <p:nvPr/>
        </p:nvSpPr>
        <p:spPr>
          <a:xfrm>
            <a:off x="561975" y="5581650"/>
            <a:ext cx="3781425" cy="2667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7" name="blocker-1"/>
          <p:cNvSpPr txBox="1"/>
          <p:nvPr/>
        </p:nvSpPr>
        <p:spPr>
          <a:xfrm>
            <a:off x="628650" y="5581650"/>
            <a:ext cx="36576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91C1C"/>
                </a:solidFill>
                <a:latin typeface="Inter"/>
              </a:rPr>
              <a:t>AUTH SERVICE:</a:t>
            </a:r>
            <a:r>
              <a:rPr sz="1050" b="0" i="0">
                <a:solidFill>
                  <a:srgbClr val="1A1A2E"/>
                </a:solidFill>
                <a:latin typeface="Inter"/>
              </a:rPr>
              <a:t> OAuth token refresh intermittent failure in staging — DevOps investigating.</a:t>
            </a:r>
          </a:p>
        </p:txBody>
      </p:sp>
      <p:sp>
        <p:nvSpPr>
          <p:cNvPr id="178" name="blocker-2-bar"/>
          <p:cNvSpPr/>
          <p:nvPr/>
        </p:nvSpPr>
        <p:spPr>
          <a:xfrm>
            <a:off x="533400" y="5886450"/>
            <a:ext cx="28575" cy="2667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9" name="blocker-2-bg"/>
          <p:cNvSpPr/>
          <p:nvPr/>
        </p:nvSpPr>
        <p:spPr>
          <a:xfrm>
            <a:off x="561975" y="5886450"/>
            <a:ext cx="3781425" cy="2667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0" name="blocker-2"/>
          <p:cNvSpPr txBox="1"/>
          <p:nvPr/>
        </p:nvSpPr>
        <p:spPr>
          <a:xfrm>
            <a:off x="628650" y="5886450"/>
            <a:ext cx="36576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91C1C"/>
                </a:solidFill>
                <a:latin typeface="Inter"/>
              </a:rPr>
              <a:t>MODULE 3 SPEC:</a:t>
            </a:r>
            <a:r>
              <a:rPr sz="1050" b="0" i="0">
                <a:solidFill>
                  <a:srgbClr val="1A1A2E"/>
                </a:solidFill>
                <a:latin typeface="Inter"/>
              </a:rPr>
              <a:t> Final acceptance criteria not signed off — Product Owner review requested by Wed 21.</a:t>
            </a:r>
          </a:p>
        </p:txBody>
      </p:sp>
      <p:sp>
        <p:nvSpPr>
          <p:cNvPr id="181" name="stats-panel"/>
          <p:cNvSpPr/>
          <p:nvPr/>
        </p:nvSpPr>
        <p:spPr>
          <a:xfrm>
            <a:off x="4495800" y="5410200"/>
            <a:ext cx="7162800" cy="8191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2" name="stats-title"/>
          <p:cNvSpPr txBox="1"/>
          <p:nvPr/>
        </p:nvSpPr>
        <p:spPr>
          <a:xfrm>
            <a:off x="4648200" y="5505450"/>
            <a:ext cx="6858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SPRINT VELOCITY</a:t>
            </a:r>
          </a:p>
        </p:txBody>
      </p:sp>
      <p:sp>
        <p:nvSpPr>
          <p:cNvPr id="183" name="stat-committed"/>
          <p:cNvSpPr txBox="1"/>
          <p:nvPr/>
        </p:nvSpPr>
        <p:spPr>
          <a:xfrm>
            <a:off x="4648200" y="5676900"/>
            <a:ext cx="4191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42</a:t>
            </a:r>
          </a:p>
        </p:txBody>
      </p:sp>
      <p:sp>
        <p:nvSpPr>
          <p:cNvPr id="184" name="stat-committed-label"/>
          <p:cNvSpPr txBox="1"/>
          <p:nvPr/>
        </p:nvSpPr>
        <p:spPr>
          <a:xfrm>
            <a:off x="5105400" y="5772150"/>
            <a:ext cx="1333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pts committed</a:t>
            </a:r>
          </a:p>
        </p:txBody>
      </p:sp>
      <p:sp>
        <p:nvSpPr>
          <p:cNvPr id="185" name="stat-sep"/>
          <p:cNvSpPr/>
          <p:nvPr/>
        </p:nvSpPr>
        <p:spPr>
          <a:xfrm>
            <a:off x="6496050" y="5695950"/>
            <a:ext cx="9525" cy="2667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6" name="stat-completed"/>
          <p:cNvSpPr txBox="1"/>
          <p:nvPr/>
        </p:nvSpPr>
        <p:spPr>
          <a:xfrm>
            <a:off x="6629400" y="5676900"/>
            <a:ext cx="4191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38</a:t>
            </a:r>
          </a:p>
        </p:txBody>
      </p:sp>
      <p:sp>
        <p:nvSpPr>
          <p:cNvPr id="187" name="stat-completed-label"/>
          <p:cNvSpPr txBox="1"/>
          <p:nvPr/>
        </p:nvSpPr>
        <p:spPr>
          <a:xfrm>
            <a:off x="7086600" y="5772150"/>
            <a:ext cx="2095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pts completed last sprint</a:t>
            </a:r>
          </a:p>
        </p:txBody>
      </p:sp>
      <p:sp>
        <p:nvSpPr>
          <p:cNvPr id="188" name="velocity-row"/>
          <p:cNvSpPr txBox="1"/>
          <p:nvPr/>
        </p:nvSpPr>
        <p:spPr>
          <a:xfrm>
            <a:off x="4648200" y="6019800"/>
            <a:ext cx="6858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Velocity trend: </a:t>
            </a:r>
            <a:r>
              <a:rPr sz="1050" b="1" i="0">
                <a:solidFill>
                  <a:srgbClr val="16A34A"/>
                </a:solidFill>
                <a:latin typeface="Inter"/>
              </a:rPr>
              <a:t>↑ improving</a:t>
            </a:r>
            <a:r>
              <a:rPr sz="1050" b="0" i="0">
                <a:solidFill>
                  <a:srgbClr val="64748B"/>
                </a:solidFill>
                <a:latin typeface="Inter"/>
              </a:rPr>
              <a:t> — team capacity stable across both weeks</a:t>
            </a:r>
          </a:p>
        </p:txBody>
      </p:sp>
      <p:sp>
        <p:nvSpPr>
          <p:cNvPr id="18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9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9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283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