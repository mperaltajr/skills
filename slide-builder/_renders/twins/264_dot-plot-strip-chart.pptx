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Performance score distribution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spread varies sharply across functions.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Individual employee performance scores (0–100) across five business functions, Q2 assessment cycle.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dot-swatch"/>
          <p:cNvSpPr/>
          <p:nvPr/>
        </p:nvSpPr>
        <p:spPr>
          <a:xfrm>
            <a:off x="8382000" y="2257425"/>
            <a:ext cx="95250" cy="95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dot-label"/>
          <p:cNvSpPr txBox="1"/>
          <p:nvPr/>
        </p:nvSpPr>
        <p:spPr>
          <a:xfrm>
            <a:off x="8534400" y="22098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Data point</a:t>
            </a:r>
          </a:p>
        </p:txBody>
      </p:sp>
      <p:sp>
        <p:nvSpPr>
          <p:cNvPr id="7" name="legend-outlier-swatch"/>
          <p:cNvSpPr/>
          <p:nvPr/>
        </p:nvSpPr>
        <p:spPr>
          <a:xfrm>
            <a:off x="9429750" y="225742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outlier-label"/>
          <p:cNvSpPr txBox="1"/>
          <p:nvPr/>
        </p:nvSpPr>
        <p:spPr>
          <a:xfrm>
            <a:off x="9582150" y="22098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Outlier</a:t>
            </a:r>
          </a:p>
        </p:txBody>
      </p:sp>
      <p:sp>
        <p:nvSpPr>
          <p:cNvPr id="9" name="legend-median-swatch"/>
          <p:cNvSpPr/>
          <p:nvPr/>
        </p:nvSpPr>
        <p:spPr>
          <a:xfrm>
            <a:off x="10248900" y="2228850"/>
            <a:ext cx="28575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median-label"/>
          <p:cNvSpPr txBox="1"/>
          <p:nvPr/>
        </p:nvSpPr>
        <p:spPr>
          <a:xfrm>
            <a:off x="10325100" y="22098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Median</a:t>
            </a:r>
          </a:p>
        </p:txBody>
      </p:sp>
      <p:sp>
        <p:nvSpPr>
          <p:cNvPr id="11" name="chart-panel"/>
          <p:cNvSpPr/>
          <p:nvPr/>
        </p:nvSpPr>
        <p:spPr>
          <a:xfrm>
            <a:off x="457200" y="2552700"/>
            <a:ext cx="7667625" cy="34956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hart-title"/>
          <p:cNvSpPr txBox="1"/>
          <p:nvPr/>
        </p:nvSpPr>
        <p:spPr>
          <a:xfrm>
            <a:off x="609600" y="2628900"/>
            <a:ext cx="73628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Performance score · individual observations · n=75</a:t>
            </a:r>
          </a:p>
        </p:txBody>
      </p:sp>
      <p:sp>
        <p:nvSpPr>
          <p:cNvPr id="13" name="x-tick-0"/>
          <p:cNvSpPr txBox="1"/>
          <p:nvPr/>
        </p:nvSpPr>
        <p:spPr>
          <a:xfrm>
            <a:off x="1543050" y="561022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0</a:t>
            </a:r>
          </a:p>
        </p:txBody>
      </p:sp>
      <p:sp>
        <p:nvSpPr>
          <p:cNvPr id="14" name="grid-25"/>
          <p:cNvSpPr/>
          <p:nvPr/>
        </p:nvSpPr>
        <p:spPr>
          <a:xfrm>
            <a:off x="3228975" y="2895600"/>
            <a:ext cx="9525" cy="2676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x-tick-25"/>
          <p:cNvSpPr txBox="1"/>
          <p:nvPr/>
        </p:nvSpPr>
        <p:spPr>
          <a:xfrm>
            <a:off x="3076575" y="561022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25</a:t>
            </a:r>
          </a:p>
        </p:txBody>
      </p:sp>
      <p:sp>
        <p:nvSpPr>
          <p:cNvPr id="16" name="grid-50"/>
          <p:cNvSpPr/>
          <p:nvPr/>
        </p:nvSpPr>
        <p:spPr>
          <a:xfrm>
            <a:off x="4762500" y="2895600"/>
            <a:ext cx="9525" cy="2676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x-tick-50"/>
          <p:cNvSpPr txBox="1"/>
          <p:nvPr/>
        </p:nvSpPr>
        <p:spPr>
          <a:xfrm>
            <a:off x="4610100" y="561022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50</a:t>
            </a:r>
          </a:p>
        </p:txBody>
      </p:sp>
      <p:sp>
        <p:nvSpPr>
          <p:cNvPr id="18" name="grid-75"/>
          <p:cNvSpPr/>
          <p:nvPr/>
        </p:nvSpPr>
        <p:spPr>
          <a:xfrm>
            <a:off x="6296025" y="2895600"/>
            <a:ext cx="9525" cy="2676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x-tick-75"/>
          <p:cNvSpPr txBox="1"/>
          <p:nvPr/>
        </p:nvSpPr>
        <p:spPr>
          <a:xfrm>
            <a:off x="6143625" y="561022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75</a:t>
            </a:r>
          </a:p>
        </p:txBody>
      </p:sp>
      <p:sp>
        <p:nvSpPr>
          <p:cNvPr id="20" name="x-tick-100"/>
          <p:cNvSpPr txBox="1"/>
          <p:nvPr/>
        </p:nvSpPr>
        <p:spPr>
          <a:xfrm>
            <a:off x="7686675" y="561022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100</a:t>
            </a:r>
          </a:p>
        </p:txBody>
      </p:sp>
      <p:sp>
        <p:nvSpPr>
          <p:cNvPr id="22" name="x-axis-title"/>
          <p:cNvSpPr txBox="1"/>
          <p:nvPr/>
        </p:nvSpPr>
        <p:spPr>
          <a:xfrm>
            <a:off x="1695450" y="5762625"/>
            <a:ext cx="6143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PERFORMANCE SCORE</a:t>
            </a:r>
          </a:p>
        </p:txBody>
      </p:sp>
      <p:sp>
        <p:nvSpPr>
          <p:cNvPr id="23" name="row-1-name"/>
          <p:cNvSpPr txBox="1"/>
          <p:nvPr/>
        </p:nvSpPr>
        <p:spPr>
          <a:xfrm>
            <a:off x="514350" y="3086100"/>
            <a:ext cx="1123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Q1 Finance</a:t>
            </a:r>
          </a:p>
        </p:txBody>
      </p:sp>
      <p:sp>
        <p:nvSpPr>
          <p:cNvPr id="24" name="row-sep-1"/>
          <p:cNvSpPr/>
          <p:nvPr/>
        </p:nvSpPr>
        <p:spPr>
          <a:xfrm>
            <a:off x="1695450" y="3429000"/>
            <a:ext cx="61436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dot-1-1"/>
          <p:cNvSpPr/>
          <p:nvPr/>
        </p:nvSpPr>
        <p:spPr>
          <a:xfrm>
            <a:off x="4419600" y="31051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dot-1-2"/>
          <p:cNvSpPr/>
          <p:nvPr/>
        </p:nvSpPr>
        <p:spPr>
          <a:xfrm>
            <a:off x="4848225" y="30765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dot-1-3"/>
          <p:cNvSpPr/>
          <p:nvPr/>
        </p:nvSpPr>
        <p:spPr>
          <a:xfrm>
            <a:off x="5219700" y="31146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dot-1-4"/>
          <p:cNvSpPr/>
          <p:nvPr/>
        </p:nvSpPr>
        <p:spPr>
          <a:xfrm>
            <a:off x="5400675" y="31527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dot-1-5"/>
          <p:cNvSpPr/>
          <p:nvPr/>
        </p:nvSpPr>
        <p:spPr>
          <a:xfrm>
            <a:off x="5648325" y="30575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dot-1-6"/>
          <p:cNvSpPr/>
          <p:nvPr/>
        </p:nvSpPr>
        <p:spPr>
          <a:xfrm>
            <a:off x="5772150" y="30670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dot-1-7"/>
          <p:cNvSpPr/>
          <p:nvPr/>
        </p:nvSpPr>
        <p:spPr>
          <a:xfrm>
            <a:off x="5953125" y="31813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dot-1-8"/>
          <p:cNvSpPr/>
          <p:nvPr/>
        </p:nvSpPr>
        <p:spPr>
          <a:xfrm>
            <a:off x="6134100" y="31337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dot-1-9"/>
          <p:cNvSpPr/>
          <p:nvPr/>
        </p:nvSpPr>
        <p:spPr>
          <a:xfrm>
            <a:off x="6257925" y="30670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dot-1-10"/>
          <p:cNvSpPr/>
          <p:nvPr/>
        </p:nvSpPr>
        <p:spPr>
          <a:xfrm>
            <a:off x="6448425" y="31051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dot-1-11"/>
          <p:cNvSpPr/>
          <p:nvPr/>
        </p:nvSpPr>
        <p:spPr>
          <a:xfrm>
            <a:off x="6629400" y="31432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dot-1-12"/>
          <p:cNvSpPr/>
          <p:nvPr/>
        </p:nvSpPr>
        <p:spPr>
          <a:xfrm>
            <a:off x="6810375" y="30575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dot-1-13"/>
          <p:cNvSpPr/>
          <p:nvPr/>
        </p:nvSpPr>
        <p:spPr>
          <a:xfrm>
            <a:off x="7058025" y="31908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dot-1-14"/>
          <p:cNvSpPr/>
          <p:nvPr/>
        </p:nvSpPr>
        <p:spPr>
          <a:xfrm>
            <a:off x="7239000" y="31337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dot-1-15"/>
          <p:cNvSpPr/>
          <p:nvPr/>
        </p:nvSpPr>
        <p:spPr>
          <a:xfrm>
            <a:off x="7486650" y="30861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outlier-1"/>
          <p:cNvSpPr/>
          <p:nvPr/>
        </p:nvSpPr>
        <p:spPr>
          <a:xfrm>
            <a:off x="3981450" y="311467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outlier-1-label"/>
          <p:cNvSpPr txBox="1"/>
          <p:nvPr/>
        </p:nvSpPr>
        <p:spPr>
          <a:xfrm>
            <a:off x="3895725" y="29337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38</a:t>
            </a:r>
          </a:p>
        </p:txBody>
      </p:sp>
      <p:sp>
        <p:nvSpPr>
          <p:cNvPr id="42" name="median-1-line"/>
          <p:cNvSpPr/>
          <p:nvPr/>
        </p:nvSpPr>
        <p:spPr>
          <a:xfrm>
            <a:off x="6105525" y="2990850"/>
            <a:ext cx="28575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median-1-label"/>
          <p:cNvSpPr txBox="1"/>
          <p:nvPr/>
        </p:nvSpPr>
        <p:spPr>
          <a:xfrm>
            <a:off x="6172200" y="30861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72</a:t>
            </a:r>
          </a:p>
        </p:txBody>
      </p:sp>
      <p:sp>
        <p:nvSpPr>
          <p:cNvPr id="44" name="row-2-name"/>
          <p:cNvSpPr txBox="1"/>
          <p:nvPr/>
        </p:nvSpPr>
        <p:spPr>
          <a:xfrm>
            <a:off x="514350" y="3619500"/>
            <a:ext cx="1123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Q2 Operations</a:t>
            </a:r>
          </a:p>
        </p:txBody>
      </p:sp>
      <p:sp>
        <p:nvSpPr>
          <p:cNvPr id="45" name="row-sep-2"/>
          <p:cNvSpPr/>
          <p:nvPr/>
        </p:nvSpPr>
        <p:spPr>
          <a:xfrm>
            <a:off x="1695450" y="3962400"/>
            <a:ext cx="61436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dot-2-1"/>
          <p:cNvSpPr/>
          <p:nvPr/>
        </p:nvSpPr>
        <p:spPr>
          <a:xfrm>
            <a:off x="5219700" y="35909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dot-2-2"/>
          <p:cNvSpPr/>
          <p:nvPr/>
        </p:nvSpPr>
        <p:spPr>
          <a:xfrm>
            <a:off x="5400675" y="36004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dot-2-3"/>
          <p:cNvSpPr/>
          <p:nvPr/>
        </p:nvSpPr>
        <p:spPr>
          <a:xfrm>
            <a:off x="5524500" y="36480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dot-2-4"/>
          <p:cNvSpPr/>
          <p:nvPr/>
        </p:nvSpPr>
        <p:spPr>
          <a:xfrm>
            <a:off x="5648325" y="36480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dot-2-5"/>
          <p:cNvSpPr/>
          <p:nvPr/>
        </p:nvSpPr>
        <p:spPr>
          <a:xfrm>
            <a:off x="5772150" y="36004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dot-2-6"/>
          <p:cNvSpPr/>
          <p:nvPr/>
        </p:nvSpPr>
        <p:spPr>
          <a:xfrm>
            <a:off x="5953125" y="36195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dot-2-7"/>
          <p:cNvSpPr/>
          <p:nvPr/>
        </p:nvSpPr>
        <p:spPr>
          <a:xfrm>
            <a:off x="6076950" y="36004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dot-2-8"/>
          <p:cNvSpPr/>
          <p:nvPr/>
        </p:nvSpPr>
        <p:spPr>
          <a:xfrm>
            <a:off x="6200775" y="36671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dot-2-9"/>
          <p:cNvSpPr/>
          <p:nvPr/>
        </p:nvSpPr>
        <p:spPr>
          <a:xfrm>
            <a:off x="6324600" y="36480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dot-2-10"/>
          <p:cNvSpPr/>
          <p:nvPr/>
        </p:nvSpPr>
        <p:spPr>
          <a:xfrm>
            <a:off x="6505575" y="35909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dot-2-11"/>
          <p:cNvSpPr/>
          <p:nvPr/>
        </p:nvSpPr>
        <p:spPr>
          <a:xfrm>
            <a:off x="6629400" y="37147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dot-2-12"/>
          <p:cNvSpPr/>
          <p:nvPr/>
        </p:nvSpPr>
        <p:spPr>
          <a:xfrm>
            <a:off x="6810375" y="36766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dot-2-13"/>
          <p:cNvSpPr/>
          <p:nvPr/>
        </p:nvSpPr>
        <p:spPr>
          <a:xfrm>
            <a:off x="7058025" y="36004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outlier-2"/>
          <p:cNvSpPr/>
          <p:nvPr/>
        </p:nvSpPr>
        <p:spPr>
          <a:xfrm>
            <a:off x="5019675" y="364807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outlier-2-label"/>
          <p:cNvSpPr txBox="1"/>
          <p:nvPr/>
        </p:nvSpPr>
        <p:spPr>
          <a:xfrm>
            <a:off x="4933950" y="34671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55</a:t>
            </a:r>
          </a:p>
        </p:txBody>
      </p:sp>
      <p:sp>
        <p:nvSpPr>
          <p:cNvPr id="61" name="median-2-line"/>
          <p:cNvSpPr/>
          <p:nvPr/>
        </p:nvSpPr>
        <p:spPr>
          <a:xfrm>
            <a:off x="5857875" y="3524250"/>
            <a:ext cx="28575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median-2-label"/>
          <p:cNvSpPr txBox="1"/>
          <p:nvPr/>
        </p:nvSpPr>
        <p:spPr>
          <a:xfrm>
            <a:off x="5924550" y="36195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68</a:t>
            </a:r>
          </a:p>
        </p:txBody>
      </p:sp>
      <p:sp>
        <p:nvSpPr>
          <p:cNvPr id="63" name="row-3-name"/>
          <p:cNvSpPr txBox="1"/>
          <p:nvPr/>
        </p:nvSpPr>
        <p:spPr>
          <a:xfrm>
            <a:off x="514350" y="4152900"/>
            <a:ext cx="1123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Q3 Technology</a:t>
            </a:r>
          </a:p>
        </p:txBody>
      </p:sp>
      <p:sp>
        <p:nvSpPr>
          <p:cNvPr id="64" name="row-sep-3"/>
          <p:cNvSpPr/>
          <p:nvPr/>
        </p:nvSpPr>
        <p:spPr>
          <a:xfrm>
            <a:off x="1695450" y="4495800"/>
            <a:ext cx="61436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dot-3-1"/>
          <p:cNvSpPr/>
          <p:nvPr/>
        </p:nvSpPr>
        <p:spPr>
          <a:xfrm>
            <a:off x="3800475" y="41529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dot-3-2"/>
          <p:cNvSpPr/>
          <p:nvPr/>
        </p:nvSpPr>
        <p:spPr>
          <a:xfrm>
            <a:off x="4114800" y="42195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dot-3-3"/>
          <p:cNvSpPr/>
          <p:nvPr/>
        </p:nvSpPr>
        <p:spPr>
          <a:xfrm>
            <a:off x="4352925" y="42195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dot-3-4"/>
          <p:cNvSpPr/>
          <p:nvPr/>
        </p:nvSpPr>
        <p:spPr>
          <a:xfrm>
            <a:off x="4600575" y="42100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dot-3-5"/>
          <p:cNvSpPr/>
          <p:nvPr/>
        </p:nvSpPr>
        <p:spPr>
          <a:xfrm>
            <a:off x="4905375" y="41243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dot-3-6"/>
          <p:cNvSpPr/>
          <p:nvPr/>
        </p:nvSpPr>
        <p:spPr>
          <a:xfrm>
            <a:off x="5095875" y="42100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dot-3-7"/>
          <p:cNvSpPr/>
          <p:nvPr/>
        </p:nvSpPr>
        <p:spPr>
          <a:xfrm>
            <a:off x="5276850" y="42100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dot-3-8"/>
          <p:cNvSpPr/>
          <p:nvPr/>
        </p:nvSpPr>
        <p:spPr>
          <a:xfrm>
            <a:off x="5457825" y="41814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dot-3-9"/>
          <p:cNvSpPr/>
          <p:nvPr/>
        </p:nvSpPr>
        <p:spPr>
          <a:xfrm>
            <a:off x="5648325" y="41243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dot-3-10"/>
          <p:cNvSpPr/>
          <p:nvPr/>
        </p:nvSpPr>
        <p:spPr>
          <a:xfrm>
            <a:off x="5772150" y="41529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dot-3-11"/>
          <p:cNvSpPr/>
          <p:nvPr/>
        </p:nvSpPr>
        <p:spPr>
          <a:xfrm>
            <a:off x="5953125" y="41243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dot-3-12"/>
          <p:cNvSpPr/>
          <p:nvPr/>
        </p:nvSpPr>
        <p:spPr>
          <a:xfrm>
            <a:off x="6200775" y="42005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dot-3-13"/>
          <p:cNvSpPr/>
          <p:nvPr/>
        </p:nvSpPr>
        <p:spPr>
          <a:xfrm>
            <a:off x="6448425" y="42481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dot-3-14"/>
          <p:cNvSpPr/>
          <p:nvPr/>
        </p:nvSpPr>
        <p:spPr>
          <a:xfrm>
            <a:off x="6753225" y="41433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outlier-3"/>
          <p:cNvSpPr/>
          <p:nvPr/>
        </p:nvSpPr>
        <p:spPr>
          <a:xfrm>
            <a:off x="7724775" y="418147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outlier-3-label"/>
          <p:cNvSpPr txBox="1"/>
          <p:nvPr/>
        </p:nvSpPr>
        <p:spPr>
          <a:xfrm>
            <a:off x="7639050" y="40005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99</a:t>
            </a:r>
          </a:p>
        </p:txBody>
      </p:sp>
      <p:sp>
        <p:nvSpPr>
          <p:cNvPr id="81" name="median-3-line"/>
          <p:cNvSpPr/>
          <p:nvPr/>
        </p:nvSpPr>
        <p:spPr>
          <a:xfrm>
            <a:off x="5429250" y="4057650"/>
            <a:ext cx="28575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median-3-label"/>
          <p:cNvSpPr txBox="1"/>
          <p:nvPr/>
        </p:nvSpPr>
        <p:spPr>
          <a:xfrm>
            <a:off x="5495925" y="41529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61</a:t>
            </a:r>
          </a:p>
        </p:txBody>
      </p:sp>
      <p:sp>
        <p:nvSpPr>
          <p:cNvPr id="83" name="row-4-name"/>
          <p:cNvSpPr txBox="1"/>
          <p:nvPr/>
        </p:nvSpPr>
        <p:spPr>
          <a:xfrm>
            <a:off x="514350" y="4686300"/>
            <a:ext cx="1123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Q4 HR</a:t>
            </a:r>
          </a:p>
        </p:txBody>
      </p:sp>
      <p:sp>
        <p:nvSpPr>
          <p:cNvPr id="84" name="row-sep-4"/>
          <p:cNvSpPr/>
          <p:nvPr/>
        </p:nvSpPr>
        <p:spPr>
          <a:xfrm>
            <a:off x="1695450" y="5029200"/>
            <a:ext cx="61436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dot-4-1"/>
          <p:cNvSpPr/>
          <p:nvPr/>
        </p:nvSpPr>
        <p:spPr>
          <a:xfrm>
            <a:off x="4352925" y="46958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dot-4-2"/>
          <p:cNvSpPr/>
          <p:nvPr/>
        </p:nvSpPr>
        <p:spPr>
          <a:xfrm>
            <a:off x="4543425" y="47148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dot-4-3"/>
          <p:cNvSpPr/>
          <p:nvPr/>
        </p:nvSpPr>
        <p:spPr>
          <a:xfrm>
            <a:off x="4724400" y="46767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dot-4-4"/>
          <p:cNvSpPr/>
          <p:nvPr/>
        </p:nvSpPr>
        <p:spPr>
          <a:xfrm>
            <a:off x="4905375" y="47339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dot-4-5"/>
          <p:cNvSpPr/>
          <p:nvPr/>
        </p:nvSpPr>
        <p:spPr>
          <a:xfrm>
            <a:off x="5095875" y="46672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dot-4-6"/>
          <p:cNvSpPr/>
          <p:nvPr/>
        </p:nvSpPr>
        <p:spPr>
          <a:xfrm>
            <a:off x="5343525" y="47434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dot-4-7"/>
          <p:cNvSpPr/>
          <p:nvPr/>
        </p:nvSpPr>
        <p:spPr>
          <a:xfrm>
            <a:off x="5457825" y="46958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dot-4-8"/>
          <p:cNvSpPr/>
          <p:nvPr/>
        </p:nvSpPr>
        <p:spPr>
          <a:xfrm>
            <a:off x="5648325" y="47339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dot-4-9"/>
          <p:cNvSpPr/>
          <p:nvPr/>
        </p:nvSpPr>
        <p:spPr>
          <a:xfrm>
            <a:off x="5772150" y="47815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dot-4-10"/>
          <p:cNvSpPr/>
          <p:nvPr/>
        </p:nvSpPr>
        <p:spPr>
          <a:xfrm>
            <a:off x="5953125" y="47529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dot-4-11"/>
          <p:cNvSpPr/>
          <p:nvPr/>
        </p:nvSpPr>
        <p:spPr>
          <a:xfrm>
            <a:off x="6134100" y="46767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dot-4-12"/>
          <p:cNvSpPr/>
          <p:nvPr/>
        </p:nvSpPr>
        <p:spPr>
          <a:xfrm>
            <a:off x="6324600" y="46672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dot-4-13"/>
          <p:cNvSpPr/>
          <p:nvPr/>
        </p:nvSpPr>
        <p:spPr>
          <a:xfrm>
            <a:off x="6572250" y="47434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outlier-4"/>
          <p:cNvSpPr/>
          <p:nvPr/>
        </p:nvSpPr>
        <p:spPr>
          <a:xfrm>
            <a:off x="4105275" y="471487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outlier-4-label"/>
          <p:cNvSpPr txBox="1"/>
          <p:nvPr/>
        </p:nvSpPr>
        <p:spPr>
          <a:xfrm>
            <a:off x="4019550" y="45339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40</a:t>
            </a:r>
          </a:p>
        </p:txBody>
      </p:sp>
      <p:sp>
        <p:nvSpPr>
          <p:cNvPr id="100" name="median-4-line"/>
          <p:cNvSpPr/>
          <p:nvPr/>
        </p:nvSpPr>
        <p:spPr>
          <a:xfrm>
            <a:off x="5248275" y="4591050"/>
            <a:ext cx="28575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median-4-label"/>
          <p:cNvSpPr txBox="1"/>
          <p:nvPr/>
        </p:nvSpPr>
        <p:spPr>
          <a:xfrm>
            <a:off x="5314950" y="46863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58</a:t>
            </a:r>
          </a:p>
        </p:txBody>
      </p:sp>
      <p:sp>
        <p:nvSpPr>
          <p:cNvPr id="102" name="row-5-name"/>
          <p:cNvSpPr txBox="1"/>
          <p:nvPr/>
        </p:nvSpPr>
        <p:spPr>
          <a:xfrm>
            <a:off x="514350" y="5219700"/>
            <a:ext cx="1123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Q5 Strategy</a:t>
            </a:r>
          </a:p>
        </p:txBody>
      </p:sp>
      <p:sp>
        <p:nvSpPr>
          <p:cNvPr id="103" name="dot-5-1"/>
          <p:cNvSpPr/>
          <p:nvPr/>
        </p:nvSpPr>
        <p:spPr>
          <a:xfrm>
            <a:off x="4972050" y="52768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dot-5-2"/>
          <p:cNvSpPr/>
          <p:nvPr/>
        </p:nvSpPr>
        <p:spPr>
          <a:xfrm>
            <a:off x="5219700" y="528637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dot-5-3"/>
          <p:cNvSpPr/>
          <p:nvPr/>
        </p:nvSpPr>
        <p:spPr>
          <a:xfrm>
            <a:off x="5457825" y="52197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dot-5-4"/>
          <p:cNvSpPr/>
          <p:nvPr/>
        </p:nvSpPr>
        <p:spPr>
          <a:xfrm>
            <a:off x="5648325" y="52387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dot-5-5"/>
          <p:cNvSpPr/>
          <p:nvPr/>
        </p:nvSpPr>
        <p:spPr>
          <a:xfrm>
            <a:off x="5829300" y="52006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dot-5-6"/>
          <p:cNvSpPr/>
          <p:nvPr/>
        </p:nvSpPr>
        <p:spPr>
          <a:xfrm>
            <a:off x="6010275" y="52673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dot-5-7"/>
          <p:cNvSpPr/>
          <p:nvPr/>
        </p:nvSpPr>
        <p:spPr>
          <a:xfrm>
            <a:off x="6200775" y="52959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dot-5-8"/>
          <p:cNvSpPr/>
          <p:nvPr/>
        </p:nvSpPr>
        <p:spPr>
          <a:xfrm>
            <a:off x="6324600" y="52006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dot-5-9"/>
          <p:cNvSpPr/>
          <p:nvPr/>
        </p:nvSpPr>
        <p:spPr>
          <a:xfrm>
            <a:off x="6686550" y="52768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dot-5-10"/>
          <p:cNvSpPr/>
          <p:nvPr/>
        </p:nvSpPr>
        <p:spPr>
          <a:xfrm>
            <a:off x="6877050" y="5191125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dot-5-11"/>
          <p:cNvSpPr/>
          <p:nvPr/>
        </p:nvSpPr>
        <p:spPr>
          <a:xfrm>
            <a:off x="7058025" y="52768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dot-5-12"/>
          <p:cNvSpPr/>
          <p:nvPr/>
        </p:nvSpPr>
        <p:spPr>
          <a:xfrm>
            <a:off x="7181850" y="52197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outlier-5"/>
          <p:cNvSpPr/>
          <p:nvPr/>
        </p:nvSpPr>
        <p:spPr>
          <a:xfrm>
            <a:off x="7296150" y="524827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outlier-5-label"/>
          <p:cNvSpPr txBox="1"/>
          <p:nvPr/>
        </p:nvSpPr>
        <p:spPr>
          <a:xfrm>
            <a:off x="7210425" y="50673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92</a:t>
            </a:r>
          </a:p>
        </p:txBody>
      </p:sp>
      <p:sp>
        <p:nvSpPr>
          <p:cNvPr id="117" name="median-5-line"/>
          <p:cNvSpPr/>
          <p:nvPr/>
        </p:nvSpPr>
        <p:spPr>
          <a:xfrm>
            <a:off x="6353175" y="5124450"/>
            <a:ext cx="28575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median-5-label"/>
          <p:cNvSpPr txBox="1"/>
          <p:nvPr/>
        </p:nvSpPr>
        <p:spPr>
          <a:xfrm>
            <a:off x="6419850" y="52197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76</a:t>
            </a:r>
          </a:p>
        </p:txBody>
      </p:sp>
      <p:sp>
        <p:nvSpPr>
          <p:cNvPr id="119" name="obs-panel"/>
          <p:cNvSpPr/>
          <p:nvPr/>
        </p:nvSpPr>
        <p:spPr>
          <a:xfrm>
            <a:off x="8296275" y="2552700"/>
            <a:ext cx="3438525" cy="34956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obs-header"/>
          <p:cNvSpPr txBox="1"/>
          <p:nvPr/>
        </p:nvSpPr>
        <p:spPr>
          <a:xfrm>
            <a:off x="8467725" y="2724150"/>
            <a:ext cx="3095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OBSERVATIONS</a:t>
            </a:r>
          </a:p>
        </p:txBody>
      </p:sp>
      <p:sp>
        <p:nvSpPr>
          <p:cNvPr id="121" name="obs-sub"/>
          <p:cNvSpPr txBox="1"/>
          <p:nvPr/>
        </p:nvSpPr>
        <p:spPr>
          <a:xfrm>
            <a:off x="8467725" y="2933700"/>
            <a:ext cx="30956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Three findings that drive action.</a:t>
            </a:r>
          </a:p>
        </p:txBody>
      </p:sp>
      <p:sp>
        <p:nvSpPr>
          <p:cNvPr id="122" name="obs-1-marker"/>
          <p:cNvSpPr txBox="1"/>
          <p:nvPr/>
        </p:nvSpPr>
        <p:spPr>
          <a:xfrm>
            <a:off x="8467725" y="3467100"/>
            <a:ext cx="114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123" name="obs-1"/>
          <p:cNvSpPr txBox="1"/>
          <p:nvPr/>
        </p:nvSpPr>
        <p:spPr>
          <a:xfrm>
            <a:off x="8620125" y="3448050"/>
            <a:ext cx="2943225" cy="752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Widest spread: Technology (35→99).</a:t>
            </a:r>
            <a:r>
              <a:rPr sz="1050" b="0" i="0">
                <a:solidFill>
                  <a:srgbClr val="FFFFFF"/>
                </a:solidFill>
                <a:latin typeface="Inter"/>
              </a:rPr>
              <a:t> A 64-point range signals inconsistent capability development — coaching investment is uneven across teams.</a:t>
            </a:r>
          </a:p>
        </p:txBody>
      </p:sp>
      <p:sp>
        <p:nvSpPr>
          <p:cNvPr id="124" name="obs-2-marker"/>
          <p:cNvSpPr txBox="1"/>
          <p:nvPr/>
        </p:nvSpPr>
        <p:spPr>
          <a:xfrm>
            <a:off x="8467725" y="4276725"/>
            <a:ext cx="114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125" name="obs-2"/>
          <p:cNvSpPr txBox="1"/>
          <p:nvPr/>
        </p:nvSpPr>
        <p:spPr>
          <a:xfrm>
            <a:off x="8620125" y="4257675"/>
            <a:ext cx="2943225" cy="752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Highest median: Strategy (76).</a:t>
            </a:r>
            <a:r>
              <a:rPr sz="1050" b="0" i="0">
                <a:solidFill>
                  <a:srgbClr val="FFFFFF"/>
                </a:solidFill>
                <a:latin typeface="Inter"/>
              </a:rPr>
              <a:t> Strategy leads all functions; Finance is second at 72. Both sit above the organisation mid-point of 65.</a:t>
            </a:r>
          </a:p>
        </p:txBody>
      </p:sp>
      <p:sp>
        <p:nvSpPr>
          <p:cNvPr id="126" name="obs-3-marker"/>
          <p:cNvSpPr txBox="1"/>
          <p:nvPr/>
        </p:nvSpPr>
        <p:spPr>
          <a:xfrm>
            <a:off x="8467725" y="5086350"/>
            <a:ext cx="114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127" name="obs-3"/>
          <p:cNvSpPr txBox="1"/>
          <p:nvPr/>
        </p:nvSpPr>
        <p:spPr>
          <a:xfrm>
            <a:off x="8620125" y="5067300"/>
            <a:ext cx="2943225" cy="752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Top outliers in Tech &amp; Strategy.</a:t>
            </a:r>
            <a:r>
              <a:rPr sz="1050" b="0" i="0">
                <a:solidFill>
                  <a:srgbClr val="FFFFFF"/>
                </a:solidFill>
                <a:latin typeface="Inter"/>
              </a:rPr>
              <a:t> Scores of 99 and 92 sit more than 30 points above function medians — flag as retention and mentoring priorities.</a:t>
            </a:r>
          </a:p>
        </p:txBody>
      </p:sp>
      <p:sp>
        <p:nvSpPr>
          <p:cNvPr id="12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2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3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