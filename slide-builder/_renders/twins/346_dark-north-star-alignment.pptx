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Aligned to a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Single North Star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All initiatives and metrics trace back to one defining outcome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north-star-box"/>
          <p:cNvSpPr/>
          <p:nvPr/>
        </p:nvSpPr>
        <p:spPr>
          <a:xfrm>
            <a:off x="4572000" y="2571750"/>
            <a:ext cx="3048000" cy="2095500"/>
          </a:xfrm>
          <a:prstGeom prst="rect">
            <a:avLst/>
          </a:prstGeom>
          <a:solidFill>
            <a:srgbClr val="5C2D87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north-star-label"/>
          <p:cNvSpPr txBox="1"/>
          <p:nvPr/>
        </p:nvSpPr>
        <p:spPr>
          <a:xfrm>
            <a:off x="4572000" y="272415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★ NORTH STAR</a:t>
            </a:r>
          </a:p>
        </p:txBody>
      </p:sp>
      <p:sp>
        <p:nvSpPr>
          <p:cNvPr id="7" name="north-star-statement"/>
          <p:cNvSpPr txBox="1"/>
          <p:nvPr/>
        </p:nvSpPr>
        <p:spPr>
          <a:xfrm>
            <a:off x="4762500" y="2990850"/>
            <a:ext cx="2667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Deliver client outcomes
at unprecedented scale</a:t>
            </a:r>
          </a:p>
        </p:txBody>
      </p:sp>
      <p:sp>
        <p:nvSpPr>
          <p:cNvPr id="8" name="north-star-metric"/>
          <p:cNvSpPr txBox="1"/>
          <p:nvPr/>
        </p:nvSpPr>
        <p:spPr>
          <a:xfrm>
            <a:off x="4572000" y="3733800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700" b="1" i="0">
                <a:solidFill>
                  <a:srgbClr val="C780FF"/>
                </a:solidFill>
                <a:latin typeface="Inter"/>
              </a:rPr>
              <a:t>92%</a:t>
            </a:r>
          </a:p>
        </p:txBody>
      </p:sp>
      <p:sp>
        <p:nvSpPr>
          <p:cNvPr id="9" name="north-star-metric-label"/>
          <p:cNvSpPr txBox="1"/>
          <p:nvPr/>
        </p:nvSpPr>
        <p:spPr>
          <a:xfrm>
            <a:off x="4572000" y="42291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CLIENT OUTCOME SCORE</a:t>
            </a:r>
          </a:p>
        </p:txBody>
      </p:sp>
      <p:sp>
        <p:nvSpPr>
          <p:cNvPr id="10" name="sat-nw-bg"/>
          <p:cNvSpPr/>
          <p:nvPr/>
        </p:nvSpPr>
        <p:spPr>
          <a:xfrm>
            <a:off x="952500" y="2190750"/>
            <a:ext cx="2095500" cy="1047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at-nw-name"/>
          <p:cNvSpPr txBox="1"/>
          <p:nvPr/>
        </p:nvSpPr>
        <p:spPr>
          <a:xfrm>
            <a:off x="952500" y="23431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REVENUE GROWTH</a:t>
            </a:r>
          </a:p>
        </p:txBody>
      </p:sp>
      <p:sp>
        <p:nvSpPr>
          <p:cNvPr id="12" name="sat-nw-value"/>
          <p:cNvSpPr txBox="1"/>
          <p:nvPr/>
        </p:nvSpPr>
        <p:spPr>
          <a:xfrm>
            <a:off x="952500" y="255270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+34%</a:t>
            </a:r>
          </a:p>
        </p:txBody>
      </p:sp>
      <p:sp>
        <p:nvSpPr>
          <p:cNvPr id="13" name="sat-nw-drives"/>
          <p:cNvSpPr txBox="1"/>
          <p:nvPr/>
        </p:nvSpPr>
        <p:spPr>
          <a:xfrm>
            <a:off x="952500" y="29337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Drives north star</a:t>
            </a:r>
          </a:p>
        </p:txBody>
      </p:sp>
      <p:sp>
        <p:nvSpPr>
          <p:cNvPr id="14" name="sat-ne-bg"/>
          <p:cNvSpPr/>
          <p:nvPr/>
        </p:nvSpPr>
        <p:spPr>
          <a:xfrm>
            <a:off x="9144000" y="2190750"/>
            <a:ext cx="2095500" cy="1047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at-ne-name"/>
          <p:cNvSpPr txBox="1"/>
          <p:nvPr/>
        </p:nvSpPr>
        <p:spPr>
          <a:xfrm>
            <a:off x="9144000" y="23431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DELIVERY VELOCITY</a:t>
            </a:r>
          </a:p>
        </p:txBody>
      </p:sp>
      <p:sp>
        <p:nvSpPr>
          <p:cNvPr id="16" name="sat-ne-value"/>
          <p:cNvSpPr txBox="1"/>
          <p:nvPr/>
        </p:nvSpPr>
        <p:spPr>
          <a:xfrm>
            <a:off x="9144000" y="255270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2.4× faster</a:t>
            </a:r>
          </a:p>
        </p:txBody>
      </p:sp>
      <p:sp>
        <p:nvSpPr>
          <p:cNvPr id="17" name="sat-ne-drives"/>
          <p:cNvSpPr txBox="1"/>
          <p:nvPr/>
        </p:nvSpPr>
        <p:spPr>
          <a:xfrm>
            <a:off x="9144000" y="293370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Drives north star</a:t>
            </a:r>
          </a:p>
        </p:txBody>
      </p:sp>
      <p:sp>
        <p:nvSpPr>
          <p:cNvPr id="18" name="sat-sw-bg"/>
          <p:cNvSpPr/>
          <p:nvPr/>
        </p:nvSpPr>
        <p:spPr>
          <a:xfrm>
            <a:off x="952500" y="4572000"/>
            <a:ext cx="2095500" cy="1047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at-sw-name"/>
          <p:cNvSpPr txBox="1"/>
          <p:nvPr/>
        </p:nvSpPr>
        <p:spPr>
          <a:xfrm>
            <a:off x="952500" y="47244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TALENT RETENTION</a:t>
            </a:r>
          </a:p>
        </p:txBody>
      </p:sp>
      <p:sp>
        <p:nvSpPr>
          <p:cNvPr id="20" name="sat-sw-value"/>
          <p:cNvSpPr txBox="1"/>
          <p:nvPr/>
        </p:nvSpPr>
        <p:spPr>
          <a:xfrm>
            <a:off x="952500" y="493395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89%</a:t>
            </a:r>
          </a:p>
        </p:txBody>
      </p:sp>
      <p:sp>
        <p:nvSpPr>
          <p:cNvPr id="21" name="sat-sw-drives"/>
          <p:cNvSpPr txBox="1"/>
          <p:nvPr/>
        </p:nvSpPr>
        <p:spPr>
          <a:xfrm>
            <a:off x="952500" y="53149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Drives north star</a:t>
            </a:r>
          </a:p>
        </p:txBody>
      </p:sp>
      <p:sp>
        <p:nvSpPr>
          <p:cNvPr id="22" name="sat-se-bg"/>
          <p:cNvSpPr/>
          <p:nvPr/>
        </p:nvSpPr>
        <p:spPr>
          <a:xfrm>
            <a:off x="9144000" y="4572000"/>
            <a:ext cx="2095500" cy="1047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at-se-name"/>
          <p:cNvSpPr txBox="1"/>
          <p:nvPr/>
        </p:nvSpPr>
        <p:spPr>
          <a:xfrm>
            <a:off x="9144000" y="47244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INNOVATION INDEX</a:t>
            </a:r>
          </a:p>
        </p:txBody>
      </p:sp>
      <p:sp>
        <p:nvSpPr>
          <p:cNvPr id="24" name="sat-se-value"/>
          <p:cNvSpPr txBox="1"/>
          <p:nvPr/>
        </p:nvSpPr>
        <p:spPr>
          <a:xfrm>
            <a:off x="9144000" y="4933950"/>
            <a:ext cx="2095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4.7 / 5.0</a:t>
            </a:r>
          </a:p>
        </p:txBody>
      </p:sp>
      <p:sp>
        <p:nvSpPr>
          <p:cNvPr id="25" name="sat-se-drives"/>
          <p:cNvSpPr txBox="1"/>
          <p:nvPr/>
        </p:nvSpPr>
        <p:spPr>
          <a:xfrm>
            <a:off x="9144000" y="5314950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Drives north star</a:t>
            </a:r>
          </a:p>
        </p:txBody>
      </p:sp>
      <p:cxnSp>
        <p:nvCxnSpPr>
          <p:cNvPr id="26" name="conn-nw"/>
          <p:cNvCxnSpPr/>
          <p:nvPr/>
        </p:nvCxnSpPr>
        <p:spPr>
          <a:xfrm>
            <a:off x="3048000" y="2714625"/>
            <a:ext cx="1714500" cy="47625"/>
          </a:xfrm>
          <a:prstGeom prst="line">
            <a:avLst/>
          </a:prstGeom>
          <a:ln w="9525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-ne"/>
          <p:cNvCxnSpPr/>
          <p:nvPr/>
        </p:nvCxnSpPr>
        <p:spPr>
          <a:xfrm flipH="1">
            <a:off x="7429500" y="2714625"/>
            <a:ext cx="1714500" cy="47625"/>
          </a:xfrm>
          <a:prstGeom prst="line">
            <a:avLst/>
          </a:prstGeom>
          <a:ln w="9525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-sw"/>
          <p:cNvCxnSpPr/>
          <p:nvPr/>
        </p:nvCxnSpPr>
        <p:spPr>
          <a:xfrm flipV="1">
            <a:off x="3048000" y="4476750"/>
            <a:ext cx="1714500" cy="619125"/>
          </a:xfrm>
          <a:prstGeom prst="line">
            <a:avLst/>
          </a:prstGeom>
          <a:ln w="9525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-se"/>
          <p:cNvCxnSpPr/>
          <p:nvPr/>
        </p:nvCxnSpPr>
        <p:spPr>
          <a:xfrm flipH="1" flipV="1">
            <a:off x="7429500" y="4476750"/>
            <a:ext cx="1714500" cy="619125"/>
          </a:xfrm>
          <a:prstGeom prst="line">
            <a:avLst/>
          </a:prstGeom>
          <a:ln w="9525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ill-1-bg"/>
          <p:cNvSpPr/>
          <p:nvPr/>
        </p:nvSpPr>
        <p:spPr>
          <a:xfrm>
            <a:off x="2800350" y="5905500"/>
            <a:ext cx="2095500" cy="285750"/>
          </a:xfrm>
          <a:prstGeom prst="rect">
            <a:avLst/>
          </a:prstGeom>
          <a:solidFill>
            <a:srgbClr val="3C1F5C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ill-1"/>
          <p:cNvSpPr txBox="1"/>
          <p:nvPr/>
        </p:nvSpPr>
        <p:spPr>
          <a:xfrm>
            <a:off x="2800350" y="5905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AI-Led Delivery</a:t>
            </a:r>
          </a:p>
        </p:txBody>
      </p:sp>
      <p:sp>
        <p:nvSpPr>
          <p:cNvPr id="32" name="pill-2-bg"/>
          <p:cNvSpPr/>
          <p:nvPr/>
        </p:nvSpPr>
        <p:spPr>
          <a:xfrm>
            <a:off x="5048250" y="5905500"/>
            <a:ext cx="2095500" cy="285750"/>
          </a:xfrm>
          <a:prstGeom prst="rect">
            <a:avLst/>
          </a:prstGeom>
          <a:solidFill>
            <a:srgbClr val="3C1F5C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ill-2"/>
          <p:cNvSpPr txBox="1"/>
          <p:nvPr/>
        </p:nvSpPr>
        <p:spPr>
          <a:xfrm>
            <a:off x="5048250" y="5905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Client 360 Programme</a:t>
            </a:r>
          </a:p>
        </p:txBody>
      </p:sp>
      <p:sp>
        <p:nvSpPr>
          <p:cNvPr id="34" name="pill-3-bg"/>
          <p:cNvSpPr/>
          <p:nvPr/>
        </p:nvSpPr>
        <p:spPr>
          <a:xfrm>
            <a:off x="7296150" y="5905500"/>
            <a:ext cx="2095500" cy="285750"/>
          </a:xfrm>
          <a:prstGeom prst="rect">
            <a:avLst/>
          </a:prstGeom>
          <a:solidFill>
            <a:srgbClr val="3C1F5C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ill-3"/>
          <p:cNvSpPr txBox="1"/>
          <p:nvPr/>
        </p:nvSpPr>
        <p:spPr>
          <a:xfrm>
            <a:off x="7296150" y="590550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Accelerator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