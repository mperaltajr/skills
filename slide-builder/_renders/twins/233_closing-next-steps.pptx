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Agreed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Next Steps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&amp;amp; Action Register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Owners, due dates, and current status — agreed as of 19 May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head-bg"/>
          <p:cNvSpPr/>
          <p:nvPr/>
        </p:nvSpPr>
        <p:spPr>
          <a:xfrm>
            <a:off x="457200" y="1314450"/>
            <a:ext cx="1127760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ble-col-1-header"/>
          <p:cNvSpPr txBox="1"/>
          <p:nvPr/>
        </p:nvSpPr>
        <p:spPr>
          <a:xfrm>
            <a:off x="533400" y="1371600"/>
            <a:ext cx="190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7" name="table-col-2-header"/>
          <p:cNvSpPr txBox="1"/>
          <p:nvPr/>
        </p:nvSpPr>
        <p:spPr>
          <a:xfrm>
            <a:off x="876300" y="1371600"/>
            <a:ext cx="5372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ACTION</a:t>
            </a:r>
          </a:p>
        </p:txBody>
      </p:sp>
      <p:sp>
        <p:nvSpPr>
          <p:cNvPr id="8" name="table-col-3-header"/>
          <p:cNvSpPr txBox="1"/>
          <p:nvPr/>
        </p:nvSpPr>
        <p:spPr>
          <a:xfrm>
            <a:off x="6400800" y="1371600"/>
            <a:ext cx="1562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OWNER</a:t>
            </a:r>
          </a:p>
        </p:txBody>
      </p:sp>
      <p:sp>
        <p:nvSpPr>
          <p:cNvPr id="9" name="table-col-4-header"/>
          <p:cNvSpPr txBox="1"/>
          <p:nvPr/>
        </p:nvSpPr>
        <p:spPr>
          <a:xfrm>
            <a:off x="8115300" y="1371600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DUE</a:t>
            </a:r>
          </a:p>
        </p:txBody>
      </p:sp>
      <p:sp>
        <p:nvSpPr>
          <p:cNvPr id="10" name="table-col-5-header"/>
          <p:cNvSpPr txBox="1"/>
          <p:nvPr/>
        </p:nvSpPr>
        <p:spPr>
          <a:xfrm>
            <a:off x="9163050" y="137160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11" name="group-1-header-bg"/>
          <p:cNvSpPr/>
          <p:nvPr/>
        </p:nvSpPr>
        <p:spPr>
          <a:xfrm>
            <a:off x="457200" y="1562100"/>
            <a:ext cx="112776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group-1-header"/>
          <p:cNvSpPr txBox="1"/>
          <p:nvPr/>
        </p:nvSpPr>
        <p:spPr>
          <a:xfrm>
            <a:off x="571500" y="1600200"/>
            <a:ext cx="11049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▪ ACCENTURE ACTIONS</a:t>
            </a:r>
          </a:p>
        </p:txBody>
      </p:sp>
      <p:sp>
        <p:nvSpPr>
          <p:cNvPr id="13" name="table-row-1-bg"/>
          <p:cNvSpPr/>
          <p:nvPr/>
        </p:nvSpPr>
        <p:spPr>
          <a:xfrm>
            <a:off x="457200" y="1771650"/>
            <a:ext cx="11277600" cy="40005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able-row-1-num"/>
          <p:cNvSpPr txBox="1"/>
          <p:nvPr/>
        </p:nvSpPr>
        <p:spPr>
          <a:xfrm>
            <a:off x="457200" y="18859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1</a:t>
            </a:r>
          </a:p>
        </p:txBody>
      </p:sp>
      <p:sp>
        <p:nvSpPr>
          <p:cNvPr id="15" name="table-row-1-cell-2"/>
          <p:cNvSpPr txBox="1"/>
          <p:nvPr/>
        </p:nvSpPr>
        <p:spPr>
          <a:xfrm>
            <a:off x="876300" y="1847850"/>
            <a:ext cx="5372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Finalise data architecture blueprint and share with client integration lead</a:t>
            </a:r>
          </a:p>
        </p:txBody>
      </p:sp>
      <p:sp>
        <p:nvSpPr>
          <p:cNvPr id="16" name="table-row-1-cell-3"/>
          <p:cNvSpPr txBox="1"/>
          <p:nvPr/>
        </p:nvSpPr>
        <p:spPr>
          <a:xfrm>
            <a:off x="6400800" y="1885950"/>
            <a:ext cx="10477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S. Okafor</a:t>
            </a:r>
          </a:p>
        </p:txBody>
      </p:sp>
      <p:sp>
        <p:nvSpPr>
          <p:cNvPr id="17" name="table-row-1-cell-4"/>
          <p:cNvSpPr txBox="1"/>
          <p:nvPr/>
        </p:nvSpPr>
        <p:spPr>
          <a:xfrm>
            <a:off x="8115300" y="1885950"/>
            <a:ext cx="895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12 May 26</a:t>
            </a:r>
          </a:p>
        </p:txBody>
      </p:sp>
      <p:sp>
        <p:nvSpPr>
          <p:cNvPr id="18" name="table-row-1-status-pill"/>
          <p:cNvSpPr txBox="1"/>
          <p:nvPr/>
        </p:nvSpPr>
        <p:spPr>
          <a:xfrm>
            <a:off x="9163050" y="1885950"/>
            <a:ext cx="1085850" cy="17145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D4ED8"/>
                </a:solidFill>
                <a:latin typeface="Inter"/>
              </a:rPr>
              <a:t>IN PROGRESS</a:t>
            </a:r>
          </a:p>
        </p:txBody>
      </p:sp>
      <p:sp>
        <p:nvSpPr>
          <p:cNvPr id="19" name="table-row-1-divider"/>
          <p:cNvSpPr/>
          <p:nvPr/>
        </p:nvSpPr>
        <p:spPr>
          <a:xfrm>
            <a:off x="457200" y="2162175"/>
            <a:ext cx="11277600" cy="9525"/>
          </a:xfrm>
          <a:prstGeom prst="rect">
            <a:avLst/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able-row-2-bg"/>
          <p:cNvSpPr/>
          <p:nvPr/>
        </p:nvSpPr>
        <p:spPr>
          <a:xfrm>
            <a:off x="457200" y="2171700"/>
            <a:ext cx="112776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able-row-2-num"/>
          <p:cNvSpPr txBox="1"/>
          <p:nvPr/>
        </p:nvSpPr>
        <p:spPr>
          <a:xfrm>
            <a:off x="457200" y="22860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2</a:t>
            </a:r>
          </a:p>
        </p:txBody>
      </p:sp>
      <p:sp>
        <p:nvSpPr>
          <p:cNvPr id="22" name="table-row-2-cell-2"/>
          <p:cNvSpPr txBox="1"/>
          <p:nvPr/>
        </p:nvSpPr>
        <p:spPr>
          <a:xfrm>
            <a:off x="876300" y="2247900"/>
            <a:ext cx="5372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Conduct UAT kick-off session and distribute test scripts to business users</a:t>
            </a:r>
          </a:p>
        </p:txBody>
      </p:sp>
      <p:sp>
        <p:nvSpPr>
          <p:cNvPr id="23" name="table-row-2-cell-3"/>
          <p:cNvSpPr txBox="1"/>
          <p:nvPr/>
        </p:nvSpPr>
        <p:spPr>
          <a:xfrm>
            <a:off x="6400800" y="2286000"/>
            <a:ext cx="10477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R. Lindqvist</a:t>
            </a:r>
          </a:p>
        </p:txBody>
      </p:sp>
      <p:sp>
        <p:nvSpPr>
          <p:cNvPr id="24" name="table-row-2-cell-4"/>
          <p:cNvSpPr txBox="1"/>
          <p:nvPr/>
        </p:nvSpPr>
        <p:spPr>
          <a:xfrm>
            <a:off x="8115300" y="2286000"/>
            <a:ext cx="895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97706"/>
                </a:solidFill>
                <a:latin typeface="Inter"/>
              </a:rPr>
              <a:t>23 May 26</a:t>
            </a:r>
          </a:p>
        </p:txBody>
      </p:sp>
      <p:sp>
        <p:nvSpPr>
          <p:cNvPr id="25" name="table-row-2-status-pill"/>
          <p:cNvSpPr txBox="1"/>
          <p:nvPr/>
        </p:nvSpPr>
        <p:spPr>
          <a:xfrm>
            <a:off x="9163050" y="2286000"/>
            <a:ext cx="1085850" cy="1714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NOT STARTED</a:t>
            </a:r>
          </a:p>
        </p:txBody>
      </p:sp>
      <p:sp>
        <p:nvSpPr>
          <p:cNvPr id="26" name="table-row-2-divider"/>
          <p:cNvSpPr/>
          <p:nvPr/>
        </p:nvSpPr>
        <p:spPr>
          <a:xfrm>
            <a:off x="457200" y="2562225"/>
            <a:ext cx="11277600" cy="9525"/>
          </a:xfrm>
          <a:prstGeom prst="rect">
            <a:avLst/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able-row-3-bg"/>
          <p:cNvSpPr/>
          <p:nvPr/>
        </p:nvSpPr>
        <p:spPr>
          <a:xfrm>
            <a:off x="457200" y="2571750"/>
            <a:ext cx="11277600" cy="40005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able-row-3-num"/>
          <p:cNvSpPr txBox="1"/>
          <p:nvPr/>
        </p:nvSpPr>
        <p:spPr>
          <a:xfrm>
            <a:off x="457200" y="26860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3</a:t>
            </a:r>
          </a:p>
        </p:txBody>
      </p:sp>
      <p:sp>
        <p:nvSpPr>
          <p:cNvPr id="29" name="table-row-3-cell-2"/>
          <p:cNvSpPr txBox="1"/>
          <p:nvPr/>
        </p:nvSpPr>
        <p:spPr>
          <a:xfrm>
            <a:off x="876300" y="2647950"/>
            <a:ext cx="5372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Submit revised commercial proposal reflecting agreed scope reductions</a:t>
            </a:r>
          </a:p>
        </p:txBody>
      </p:sp>
      <p:sp>
        <p:nvSpPr>
          <p:cNvPr id="30" name="table-row-3-cell-3"/>
          <p:cNvSpPr txBox="1"/>
          <p:nvPr/>
        </p:nvSpPr>
        <p:spPr>
          <a:xfrm>
            <a:off x="6400800" y="2686050"/>
            <a:ext cx="10477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M. Peralta</a:t>
            </a:r>
          </a:p>
        </p:txBody>
      </p:sp>
      <p:sp>
        <p:nvSpPr>
          <p:cNvPr id="31" name="table-row-3-cell-4"/>
          <p:cNvSpPr txBox="1"/>
          <p:nvPr/>
        </p:nvSpPr>
        <p:spPr>
          <a:xfrm>
            <a:off x="8115300" y="2686050"/>
            <a:ext cx="895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06 Jun 26</a:t>
            </a:r>
          </a:p>
        </p:txBody>
      </p:sp>
      <p:sp>
        <p:nvSpPr>
          <p:cNvPr id="32" name="table-row-3-status-pill"/>
          <p:cNvSpPr txBox="1"/>
          <p:nvPr/>
        </p:nvSpPr>
        <p:spPr>
          <a:xfrm>
            <a:off x="9163050" y="2686050"/>
            <a:ext cx="1085850" cy="1714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DONE</a:t>
            </a:r>
          </a:p>
        </p:txBody>
      </p:sp>
      <p:sp>
        <p:nvSpPr>
          <p:cNvPr id="33" name="table-row-3-divider"/>
          <p:cNvSpPr/>
          <p:nvPr/>
        </p:nvSpPr>
        <p:spPr>
          <a:xfrm>
            <a:off x="457200" y="2962275"/>
            <a:ext cx="11277600" cy="9525"/>
          </a:xfrm>
          <a:prstGeom prst="rect">
            <a:avLst/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group-2-header-bg"/>
          <p:cNvSpPr/>
          <p:nvPr/>
        </p:nvSpPr>
        <p:spPr>
          <a:xfrm>
            <a:off x="457200" y="2971800"/>
            <a:ext cx="11277600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group-2-header"/>
          <p:cNvSpPr txBox="1"/>
          <p:nvPr/>
        </p:nvSpPr>
        <p:spPr>
          <a:xfrm>
            <a:off x="571500" y="3009900"/>
            <a:ext cx="11049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▪ CLIENT ACTIONS</a:t>
            </a:r>
          </a:p>
        </p:txBody>
      </p:sp>
      <p:sp>
        <p:nvSpPr>
          <p:cNvPr id="36" name="table-row-4-bg"/>
          <p:cNvSpPr/>
          <p:nvPr/>
        </p:nvSpPr>
        <p:spPr>
          <a:xfrm>
            <a:off x="457200" y="3181350"/>
            <a:ext cx="112776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4-num"/>
          <p:cNvSpPr txBox="1"/>
          <p:nvPr/>
        </p:nvSpPr>
        <p:spPr>
          <a:xfrm>
            <a:off x="457200" y="32956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</a:t>
            </a:r>
          </a:p>
        </p:txBody>
      </p:sp>
      <p:sp>
        <p:nvSpPr>
          <p:cNvPr id="38" name="table-row-4-cell-2"/>
          <p:cNvSpPr txBox="1"/>
          <p:nvPr/>
        </p:nvSpPr>
        <p:spPr>
          <a:xfrm>
            <a:off x="876300" y="3257550"/>
            <a:ext cx="5372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Provide sign-off on target operating model v3 document</a:t>
            </a:r>
          </a:p>
        </p:txBody>
      </p:sp>
      <p:sp>
        <p:nvSpPr>
          <p:cNvPr id="39" name="table-row-4-cell-3"/>
          <p:cNvSpPr txBox="1"/>
          <p:nvPr/>
        </p:nvSpPr>
        <p:spPr>
          <a:xfrm>
            <a:off x="6400800" y="3295650"/>
            <a:ext cx="10477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J. Tran</a:t>
            </a:r>
          </a:p>
        </p:txBody>
      </p:sp>
      <p:sp>
        <p:nvSpPr>
          <p:cNvPr id="40" name="table-row-4-cell-4"/>
          <p:cNvSpPr txBox="1"/>
          <p:nvPr/>
        </p:nvSpPr>
        <p:spPr>
          <a:xfrm>
            <a:off x="8115300" y="3295650"/>
            <a:ext cx="895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09 May 26</a:t>
            </a:r>
          </a:p>
        </p:txBody>
      </p:sp>
      <p:sp>
        <p:nvSpPr>
          <p:cNvPr id="41" name="table-row-4-status-pill"/>
          <p:cNvSpPr txBox="1"/>
          <p:nvPr/>
        </p:nvSpPr>
        <p:spPr>
          <a:xfrm>
            <a:off x="9163050" y="3295650"/>
            <a:ext cx="1085850" cy="17145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D4ED8"/>
                </a:solidFill>
                <a:latin typeface="Inter"/>
              </a:rPr>
              <a:t>IN PROGRESS</a:t>
            </a:r>
          </a:p>
        </p:txBody>
      </p:sp>
      <p:sp>
        <p:nvSpPr>
          <p:cNvPr id="42" name="table-row-4-divider"/>
          <p:cNvSpPr/>
          <p:nvPr/>
        </p:nvSpPr>
        <p:spPr>
          <a:xfrm>
            <a:off x="457200" y="3571875"/>
            <a:ext cx="11277600" cy="9525"/>
          </a:xfrm>
          <a:prstGeom prst="rect">
            <a:avLst/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able-row-5-bg"/>
          <p:cNvSpPr/>
          <p:nvPr/>
        </p:nvSpPr>
        <p:spPr>
          <a:xfrm>
            <a:off x="457200" y="3581400"/>
            <a:ext cx="11277600" cy="40005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5-num"/>
          <p:cNvSpPr txBox="1"/>
          <p:nvPr/>
        </p:nvSpPr>
        <p:spPr>
          <a:xfrm>
            <a:off x="457200" y="36957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5</a:t>
            </a:r>
          </a:p>
        </p:txBody>
      </p:sp>
      <p:sp>
        <p:nvSpPr>
          <p:cNvPr id="45" name="table-row-5-cell-2"/>
          <p:cNvSpPr txBox="1"/>
          <p:nvPr/>
        </p:nvSpPr>
        <p:spPr>
          <a:xfrm>
            <a:off x="876300" y="3657600"/>
            <a:ext cx="5372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Confirm access credentials for legacy ERP environment ahead of migration sprint</a:t>
            </a:r>
          </a:p>
        </p:txBody>
      </p:sp>
      <p:sp>
        <p:nvSpPr>
          <p:cNvPr id="46" name="table-row-5-cell-3"/>
          <p:cNvSpPr txBox="1"/>
          <p:nvPr/>
        </p:nvSpPr>
        <p:spPr>
          <a:xfrm>
            <a:off x="6400800" y="3695700"/>
            <a:ext cx="10477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A. Mensah</a:t>
            </a:r>
          </a:p>
        </p:txBody>
      </p:sp>
      <p:sp>
        <p:nvSpPr>
          <p:cNvPr id="47" name="table-row-5-cell-4"/>
          <p:cNvSpPr txBox="1"/>
          <p:nvPr/>
        </p:nvSpPr>
        <p:spPr>
          <a:xfrm>
            <a:off x="8115300" y="3695700"/>
            <a:ext cx="895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97706"/>
                </a:solidFill>
                <a:latin typeface="Inter"/>
              </a:rPr>
              <a:t>21 May 26</a:t>
            </a:r>
          </a:p>
        </p:txBody>
      </p:sp>
      <p:sp>
        <p:nvSpPr>
          <p:cNvPr id="48" name="table-row-5-status-pill"/>
          <p:cNvSpPr txBox="1"/>
          <p:nvPr/>
        </p:nvSpPr>
        <p:spPr>
          <a:xfrm>
            <a:off x="9163050" y="3695700"/>
            <a:ext cx="1085850" cy="1714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NOT STARTED</a:t>
            </a:r>
          </a:p>
        </p:txBody>
      </p:sp>
      <p:sp>
        <p:nvSpPr>
          <p:cNvPr id="49" name="table-row-5-divider"/>
          <p:cNvSpPr/>
          <p:nvPr/>
        </p:nvSpPr>
        <p:spPr>
          <a:xfrm>
            <a:off x="457200" y="3971925"/>
            <a:ext cx="11277600" cy="9525"/>
          </a:xfrm>
          <a:prstGeom prst="rect">
            <a:avLst/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able-row-6-bg"/>
          <p:cNvSpPr/>
          <p:nvPr/>
        </p:nvSpPr>
        <p:spPr>
          <a:xfrm>
            <a:off x="457200" y="3981450"/>
            <a:ext cx="112776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table-row-6-num"/>
          <p:cNvSpPr txBox="1"/>
          <p:nvPr/>
        </p:nvSpPr>
        <p:spPr>
          <a:xfrm>
            <a:off x="457200" y="40957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6</a:t>
            </a:r>
          </a:p>
        </p:txBody>
      </p:sp>
      <p:sp>
        <p:nvSpPr>
          <p:cNvPr id="52" name="table-row-6-cell-2"/>
          <p:cNvSpPr txBox="1"/>
          <p:nvPr/>
        </p:nvSpPr>
        <p:spPr>
          <a:xfrm>
            <a:off x="876300" y="4057650"/>
            <a:ext cx="5372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Circulate and obtain legal sign-off on data-sharing agreement annex</a:t>
            </a:r>
          </a:p>
        </p:txBody>
      </p:sp>
      <p:sp>
        <p:nvSpPr>
          <p:cNvPr id="53" name="table-row-6-cell-3"/>
          <p:cNvSpPr txBox="1"/>
          <p:nvPr/>
        </p:nvSpPr>
        <p:spPr>
          <a:xfrm>
            <a:off x="6400800" y="4095750"/>
            <a:ext cx="10477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P. Kowalski</a:t>
            </a:r>
          </a:p>
        </p:txBody>
      </p:sp>
      <p:sp>
        <p:nvSpPr>
          <p:cNvPr id="54" name="table-row-6-cell-4"/>
          <p:cNvSpPr txBox="1"/>
          <p:nvPr/>
        </p:nvSpPr>
        <p:spPr>
          <a:xfrm>
            <a:off x="8115300" y="4095750"/>
            <a:ext cx="895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30 May 26</a:t>
            </a:r>
          </a:p>
        </p:txBody>
      </p:sp>
      <p:sp>
        <p:nvSpPr>
          <p:cNvPr id="55" name="table-row-6-status-pill"/>
          <p:cNvSpPr txBox="1"/>
          <p:nvPr/>
        </p:nvSpPr>
        <p:spPr>
          <a:xfrm>
            <a:off x="9163050" y="4095750"/>
            <a:ext cx="1085850" cy="1714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DONE</a:t>
            </a:r>
          </a:p>
        </p:txBody>
      </p:sp>
      <p:sp>
        <p:nvSpPr>
          <p:cNvPr id="56" name="table-row-6-divider"/>
          <p:cNvSpPr/>
          <p:nvPr/>
        </p:nvSpPr>
        <p:spPr>
          <a:xfrm>
            <a:off x="457200" y="4371975"/>
            <a:ext cx="11277600" cy="9525"/>
          </a:xfrm>
          <a:prstGeom prst="rect">
            <a:avLst/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7-bg"/>
          <p:cNvSpPr/>
          <p:nvPr/>
        </p:nvSpPr>
        <p:spPr>
          <a:xfrm>
            <a:off x="457200" y="4381500"/>
            <a:ext cx="11277600" cy="40005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ble-row-7-num"/>
          <p:cNvSpPr txBox="1"/>
          <p:nvPr/>
        </p:nvSpPr>
        <p:spPr>
          <a:xfrm>
            <a:off x="457200" y="44958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7</a:t>
            </a:r>
          </a:p>
        </p:txBody>
      </p:sp>
      <p:sp>
        <p:nvSpPr>
          <p:cNvPr id="59" name="table-row-7-cell-2"/>
          <p:cNvSpPr txBox="1"/>
          <p:nvPr/>
        </p:nvSpPr>
        <p:spPr>
          <a:xfrm>
            <a:off x="876300" y="4457700"/>
            <a:ext cx="5372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Nominate two business SMEs to join the change network and attend onboarding</a:t>
            </a:r>
          </a:p>
        </p:txBody>
      </p:sp>
      <p:sp>
        <p:nvSpPr>
          <p:cNvPr id="60" name="table-row-7-cell-3"/>
          <p:cNvSpPr txBox="1"/>
          <p:nvPr/>
        </p:nvSpPr>
        <p:spPr>
          <a:xfrm>
            <a:off x="6400800" y="4495800"/>
            <a:ext cx="10477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B. Nakamura</a:t>
            </a:r>
          </a:p>
        </p:txBody>
      </p:sp>
      <p:sp>
        <p:nvSpPr>
          <p:cNvPr id="61" name="table-row-7-cell-4"/>
          <p:cNvSpPr txBox="1"/>
          <p:nvPr/>
        </p:nvSpPr>
        <p:spPr>
          <a:xfrm>
            <a:off x="8115300" y="4495800"/>
            <a:ext cx="895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13 Jun 26</a:t>
            </a:r>
          </a:p>
        </p:txBody>
      </p:sp>
      <p:sp>
        <p:nvSpPr>
          <p:cNvPr id="62" name="table-row-7-status-pill"/>
          <p:cNvSpPr txBox="1"/>
          <p:nvPr/>
        </p:nvSpPr>
        <p:spPr>
          <a:xfrm>
            <a:off x="9163050" y="4495800"/>
            <a:ext cx="1085850" cy="1714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DONE</a:t>
            </a:r>
          </a:p>
        </p:txBody>
      </p:sp>
      <p:sp>
        <p:nvSpPr>
          <p:cNvPr id="63" name="table-row-7-divider"/>
          <p:cNvSpPr/>
          <p:nvPr/>
        </p:nvSpPr>
        <p:spPr>
          <a:xfrm>
            <a:off x="457200" y="4772025"/>
            <a:ext cx="11277600" cy="9525"/>
          </a:xfrm>
          <a:prstGeom prst="rect">
            <a:avLst/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summary-label"/>
          <p:cNvSpPr txBox="1"/>
          <p:nvPr/>
        </p:nvSpPr>
        <p:spPr>
          <a:xfrm>
            <a:off x="457200" y="48958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SUMMARY</a:t>
            </a:r>
          </a:p>
        </p:txBody>
      </p:sp>
      <p:sp>
        <p:nvSpPr>
          <p:cNvPr id="65" name="summary-chip-1-dot"/>
          <p:cNvSpPr/>
          <p:nvPr/>
        </p:nvSpPr>
        <p:spPr>
          <a:xfrm>
            <a:off x="1371600" y="4953000"/>
            <a:ext cx="57150" cy="571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summary-chip-1"/>
          <p:cNvSpPr txBox="1"/>
          <p:nvPr/>
        </p:nvSpPr>
        <p:spPr>
          <a:xfrm>
            <a:off x="1485900" y="4895850"/>
            <a:ext cx="1047750" cy="1714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28575" rIns="76200" bIns="28575" lIns="381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3 this week</a:t>
            </a:r>
          </a:p>
        </p:txBody>
      </p:sp>
      <p:sp>
        <p:nvSpPr>
          <p:cNvPr id="67" name="summary-chip-2-dot"/>
          <p:cNvSpPr/>
          <p:nvPr/>
        </p:nvSpPr>
        <p:spPr>
          <a:xfrm>
            <a:off x="2609850" y="4953000"/>
            <a:ext cx="5715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summary-chip-2"/>
          <p:cNvSpPr txBox="1"/>
          <p:nvPr/>
        </p:nvSpPr>
        <p:spPr>
          <a:xfrm>
            <a:off x="2724150" y="4895850"/>
            <a:ext cx="1047750" cy="1714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28575" rIns="76200" bIns="28575" lIns="381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4 complete</a:t>
            </a:r>
          </a:p>
        </p:txBody>
      </p:sp>
      <p:sp>
        <p:nvSpPr>
          <p:cNvPr id="69" name="summary-chip-3-dot"/>
          <p:cNvSpPr/>
          <p:nvPr/>
        </p:nvSpPr>
        <p:spPr>
          <a:xfrm>
            <a:off x="3848100" y="4953000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summary-chip-3"/>
          <p:cNvSpPr txBox="1"/>
          <p:nvPr/>
        </p:nvSpPr>
        <p:spPr>
          <a:xfrm>
            <a:off x="3962400" y="4895850"/>
            <a:ext cx="1047750" cy="1714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28575" rIns="76200" bIns="28575" lIns="381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0 blocked</a:t>
            </a:r>
          </a:p>
        </p:txBody>
      </p:sp>
      <p:sp>
        <p:nvSpPr>
          <p:cNvPr id="7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