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09600" y="266700"/>
            <a:ext cx="9525000" cy="6858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b">
            <a:spAutoFit/>
          </a:bodyPr>
          <a:lstStyle/>
          <a:p>
            <a:pPr algn="l">
              <a:defRPr/>
            </a:pPr>
            <a:r>
              <a:rPr sz="2400" b="1" i="0">
                <a:solidFill>
                  <a:srgbClr val="1A1A2E"/>
                </a:solidFill>
                <a:latin typeface="Inter"/>
              </a:rPr>
              <a:t>The </a:t>
            </a:r>
            <a:r>
              <a:rPr sz="2400" b="1" i="0">
                <a:solidFill>
                  <a:srgbClr val="2D0A4E"/>
                </a:solidFill>
                <a:latin typeface="Inter"/>
              </a:rPr>
              <a:t>Problem</a:t>
            </a:r>
            <a:r>
              <a:rPr sz="2400" b="1" i="0">
                <a:solidFill>
                  <a:srgbClr val="1A1A2E"/>
                </a:solidFill>
                <a:latin typeface="Inter"/>
              </a:rPr>
              <a:t> and the Opportunity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609600" y="666750"/>
            <a:ext cx="838200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64748B"/>
                </a:solidFill>
                <a:latin typeface="Inter"/>
              </a:rPr>
              <a:t>Framing the challenge and the strategic upside of acting now</a:t>
            </a:r>
          </a:p>
        </p:txBody>
      </p:sp>
      <p:sp>
        <p:nvSpPr>
          <p:cNvPr id="4" name="brand-rule"/>
          <p:cNvSpPr/>
          <p:nvPr/>
        </p:nvSpPr>
        <p:spPr>
          <a:xfrm>
            <a:off x="609600" y="876300"/>
            <a:ext cx="609600" cy="28575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" name="panel-1-bg"/>
          <p:cNvSpPr/>
          <p:nvPr/>
        </p:nvSpPr>
        <p:spPr>
          <a:xfrm>
            <a:off x="609600" y="1619250"/>
            <a:ext cx="5181600" cy="3905250"/>
          </a:xfrm>
          <a:prstGeom prst="rect">
            <a:avLst/>
          </a:prstGeom>
          <a:solidFill>
            <a:srgbClr val="FBF8FE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" name="panel-1-header-bg"/>
          <p:cNvSpPr/>
          <p:nvPr/>
        </p:nvSpPr>
        <p:spPr>
          <a:xfrm>
            <a:off x="609600" y="1619250"/>
            <a:ext cx="5181600" cy="342900"/>
          </a:xfrm>
          <a:prstGeom prst="rect">
            <a:avLst/>
          </a:prstGeom>
          <a:solidFill>
            <a:srgbClr val="2D0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" name="panel-1-header"/>
          <p:cNvSpPr txBox="1"/>
          <p:nvPr/>
        </p:nvSpPr>
        <p:spPr>
          <a:xfrm>
            <a:off x="781050" y="1695450"/>
            <a:ext cx="483870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THE PROBLEM</a:t>
            </a:r>
          </a:p>
        </p:txBody>
      </p:sp>
      <p:sp>
        <p:nvSpPr>
          <p:cNvPr id="8" name="panel-1-bullet-1-dot"/>
          <p:cNvSpPr/>
          <p:nvPr/>
        </p:nvSpPr>
        <p:spPr>
          <a:xfrm>
            <a:off x="781050" y="2152650"/>
            <a:ext cx="47625" cy="47625"/>
          </a:xfrm>
          <a:prstGeom prst="rect">
            <a:avLst/>
          </a:prstGeom>
          <a:solidFill>
            <a:srgbClr val="2D0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9" name="panel-1-bullet-1"/>
          <p:cNvSpPr txBox="1"/>
          <p:nvPr/>
        </p:nvSpPr>
        <p:spPr>
          <a:xfrm>
            <a:off x="914400" y="2095500"/>
            <a:ext cx="4686300" cy="495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Fragmented legacy systems create data silos that delay decision-making by an average of 4-6 weeks per cycle.</a:t>
            </a:r>
          </a:p>
        </p:txBody>
      </p:sp>
      <p:sp>
        <p:nvSpPr>
          <p:cNvPr id="10" name="panel-1-bullet-2-dot"/>
          <p:cNvSpPr/>
          <p:nvPr/>
        </p:nvSpPr>
        <p:spPr>
          <a:xfrm>
            <a:off x="781050" y="2686050"/>
            <a:ext cx="47625" cy="47625"/>
          </a:xfrm>
          <a:prstGeom prst="rect">
            <a:avLst/>
          </a:prstGeom>
          <a:solidFill>
            <a:srgbClr val="2D0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1" name="panel-1-bullet-2"/>
          <p:cNvSpPr txBox="1"/>
          <p:nvPr/>
        </p:nvSpPr>
        <p:spPr>
          <a:xfrm>
            <a:off x="914400" y="2628900"/>
            <a:ext cx="4686300" cy="495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Manual reconciliation processes consume an estimated 30% of analyst capacity, crowding out higher-value work.</a:t>
            </a:r>
          </a:p>
        </p:txBody>
      </p:sp>
      <p:sp>
        <p:nvSpPr>
          <p:cNvPr id="12" name="panel-1-bullet-3-dot"/>
          <p:cNvSpPr/>
          <p:nvPr/>
        </p:nvSpPr>
        <p:spPr>
          <a:xfrm>
            <a:off x="781050" y="3219450"/>
            <a:ext cx="47625" cy="47625"/>
          </a:xfrm>
          <a:prstGeom prst="rect">
            <a:avLst/>
          </a:prstGeom>
          <a:solidFill>
            <a:srgbClr val="2D0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3" name="panel-1-bullet-3"/>
          <p:cNvSpPr txBox="1"/>
          <p:nvPr/>
        </p:nvSpPr>
        <p:spPr>
          <a:xfrm>
            <a:off x="914400" y="3162300"/>
            <a:ext cx="4686300" cy="495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Rising regulatory complexity exposes the organisation to compounding compliance risk with each quarterly reporting period.</a:t>
            </a:r>
          </a:p>
        </p:txBody>
      </p:sp>
      <p:sp>
        <p:nvSpPr>
          <p:cNvPr id="14" name="panel-1-stat-rule"/>
          <p:cNvSpPr/>
          <p:nvPr/>
        </p:nvSpPr>
        <p:spPr>
          <a:xfrm>
            <a:off x="781050" y="4533900"/>
            <a:ext cx="4838700" cy="9525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5" name="panel-1-stat"/>
          <p:cNvSpPr txBox="1"/>
          <p:nvPr/>
        </p:nvSpPr>
        <p:spPr>
          <a:xfrm>
            <a:off x="781050" y="4648200"/>
            <a:ext cx="4838700" cy="3048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800" b="1" i="0">
                <a:solidFill>
                  <a:srgbClr val="5C2D87"/>
                </a:solidFill>
                <a:latin typeface="Inter"/>
              </a:rPr>
              <a:t>$120M+</a:t>
            </a:r>
          </a:p>
        </p:txBody>
      </p:sp>
      <p:sp>
        <p:nvSpPr>
          <p:cNvPr id="16" name="panel-1-stat-label"/>
          <p:cNvSpPr txBox="1"/>
          <p:nvPr/>
        </p:nvSpPr>
        <p:spPr>
          <a:xfrm>
            <a:off x="781050" y="4953000"/>
            <a:ext cx="48387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estimated annual cost of operational inefficiency and rework</a:t>
            </a:r>
          </a:p>
        </p:txBody>
      </p:sp>
      <p:sp>
        <p:nvSpPr>
          <p:cNvPr id="17" name="panel-1-source"/>
          <p:cNvSpPr txBox="1"/>
          <p:nvPr/>
        </p:nvSpPr>
        <p:spPr>
          <a:xfrm>
            <a:off x="781050" y="5143500"/>
            <a:ext cx="48387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94A3B8"/>
                </a:solidFill>
                <a:latin typeface="Inter"/>
              </a:rPr>
              <a:t>Source: Internal operations audit, Q1 2026</a:t>
            </a:r>
          </a:p>
        </p:txBody>
      </p:sp>
      <p:sp>
        <p:nvSpPr>
          <p:cNvPr id="18" name="transformation-arrow"/>
          <p:cNvSpPr txBox="1"/>
          <p:nvPr/>
        </p:nvSpPr>
        <p:spPr>
          <a:xfrm>
            <a:off x="5791200" y="3343275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wrap="none" tIns="0" bIns="0" lIns="0" rIns="0" anchor="ctr">
            <a:spAutoFit/>
          </a:bodyPr>
          <a:lstStyle/>
          <a:p>
            <a:pPr algn="ctr">
              <a:defRPr/>
            </a:pPr>
            <a:r>
              <a:rPr sz="3000">
                <a:solidFill>
                  <a:srgbClr val="A100FF"/>
                </a:solidFill>
                <a:latin typeface="Segoe UI Symbol"/>
              </a:rPr>
              <a:t>→</a:t>
            </a:r>
          </a:p>
        </p:txBody>
      </p:sp>
      <p:sp>
        <p:nvSpPr>
          <p:cNvPr id="19" name="panel-2-bg"/>
          <p:cNvSpPr/>
          <p:nvPr/>
        </p:nvSpPr>
        <p:spPr>
          <a:xfrm>
            <a:off x="6400800" y="1619250"/>
            <a:ext cx="5181600" cy="3905250"/>
          </a:xfrm>
          <a:prstGeom prst="rect">
            <a:avLst/>
          </a:prstGeom>
          <a:solidFill>
            <a:srgbClr val="FBF8FE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0" name="panel-2-header-bg"/>
          <p:cNvSpPr/>
          <p:nvPr/>
        </p:nvSpPr>
        <p:spPr>
          <a:xfrm>
            <a:off x="6400800" y="1619250"/>
            <a:ext cx="5181600" cy="3429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1" name="panel-2-header"/>
          <p:cNvSpPr txBox="1"/>
          <p:nvPr/>
        </p:nvSpPr>
        <p:spPr>
          <a:xfrm>
            <a:off x="6572250" y="1695450"/>
            <a:ext cx="483870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THE OPPORTUNITY</a:t>
            </a:r>
          </a:p>
        </p:txBody>
      </p:sp>
      <p:sp>
        <p:nvSpPr>
          <p:cNvPr id="22" name="panel-2-bullet-1-dot"/>
          <p:cNvSpPr/>
          <p:nvPr/>
        </p:nvSpPr>
        <p:spPr>
          <a:xfrm>
            <a:off x="6572250" y="2152650"/>
            <a:ext cx="47625" cy="47625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3" name="panel-2-bullet-1"/>
          <p:cNvSpPr txBox="1"/>
          <p:nvPr/>
        </p:nvSpPr>
        <p:spPr>
          <a:xfrm>
            <a:off x="6705600" y="2095500"/>
            <a:ext cx="4686300" cy="495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A unified data platform reduces cycle time by up to 70%, enabling real-time insight and faster strategic response.</a:t>
            </a:r>
          </a:p>
        </p:txBody>
      </p:sp>
      <p:sp>
        <p:nvSpPr>
          <p:cNvPr id="24" name="panel-2-bullet-2-dot"/>
          <p:cNvSpPr/>
          <p:nvPr/>
        </p:nvSpPr>
        <p:spPr>
          <a:xfrm>
            <a:off x="6572250" y="2686050"/>
            <a:ext cx="47625" cy="47625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5" name="panel-2-bullet-2"/>
          <p:cNvSpPr txBox="1"/>
          <p:nvPr/>
        </p:nvSpPr>
        <p:spPr>
          <a:xfrm>
            <a:off x="6705600" y="2628900"/>
            <a:ext cx="4686300" cy="495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Automating reconciliation and reporting frees analyst bandwidth to focus on analysis, modelling, and stakeholder value.</a:t>
            </a:r>
          </a:p>
        </p:txBody>
      </p:sp>
      <p:sp>
        <p:nvSpPr>
          <p:cNvPr id="26" name="panel-2-bullet-3-dot"/>
          <p:cNvSpPr/>
          <p:nvPr/>
        </p:nvSpPr>
        <p:spPr>
          <a:xfrm>
            <a:off x="6572250" y="3219450"/>
            <a:ext cx="47625" cy="47625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7" name="panel-2-bullet-3"/>
          <p:cNvSpPr txBox="1"/>
          <p:nvPr/>
        </p:nvSpPr>
        <p:spPr>
          <a:xfrm>
            <a:off x="6705600" y="3162300"/>
            <a:ext cx="4686300" cy="495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Embedded compliance controls reduce regulatory exposure and build audit-readiness into every process by default.</a:t>
            </a:r>
          </a:p>
        </p:txBody>
      </p:sp>
      <p:sp>
        <p:nvSpPr>
          <p:cNvPr id="28" name="panel-2-stat-rule"/>
          <p:cNvSpPr/>
          <p:nvPr/>
        </p:nvSpPr>
        <p:spPr>
          <a:xfrm>
            <a:off x="6572250" y="4533900"/>
            <a:ext cx="4838700" cy="9525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9" name="panel-2-stat"/>
          <p:cNvSpPr txBox="1"/>
          <p:nvPr/>
        </p:nvSpPr>
        <p:spPr>
          <a:xfrm>
            <a:off x="6572250" y="4648200"/>
            <a:ext cx="4838700" cy="3048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800" b="1" i="0">
                <a:solidFill>
                  <a:srgbClr val="A100FF"/>
                </a:solidFill>
                <a:latin typeface="Inter"/>
              </a:rPr>
              <a:t>3.4× ROI</a:t>
            </a:r>
          </a:p>
        </p:txBody>
      </p:sp>
      <p:sp>
        <p:nvSpPr>
          <p:cNvPr id="30" name="panel-2-stat-label"/>
          <p:cNvSpPr txBox="1"/>
          <p:nvPr/>
        </p:nvSpPr>
        <p:spPr>
          <a:xfrm>
            <a:off x="6572250" y="4953000"/>
            <a:ext cx="48387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projected return over 36 months with phased modernisation</a:t>
            </a:r>
          </a:p>
        </p:txBody>
      </p:sp>
      <p:sp>
        <p:nvSpPr>
          <p:cNvPr id="31" name="panel-2-source"/>
          <p:cNvSpPr txBox="1"/>
          <p:nvPr/>
        </p:nvSpPr>
        <p:spPr>
          <a:xfrm>
            <a:off x="6572250" y="5143500"/>
            <a:ext cx="48387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94A3B8"/>
                </a:solidFill>
                <a:latin typeface="Inter"/>
              </a:rPr>
              <a:t>Basis: Accenture benchmark, Finance Transformation 2025</a:t>
            </a:r>
          </a:p>
        </p:txBody>
      </p:sp>
      <p:sp>
        <p:nvSpPr>
          <p:cNvPr id="32" name="convergence-bg"/>
          <p:cNvSpPr/>
          <p:nvPr/>
        </p:nvSpPr>
        <p:spPr>
          <a:xfrm>
            <a:off x="609600" y="5638800"/>
            <a:ext cx="10972800" cy="381000"/>
          </a:xfrm>
          <a:prstGeom prst="rect">
            <a:avLst/>
          </a:prstGeom>
          <a:solidFill>
            <a:srgbClr val="2D0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3" name="convergence"/>
          <p:cNvSpPr txBox="1"/>
          <p:nvPr/>
        </p:nvSpPr>
        <p:spPr>
          <a:xfrm>
            <a:off x="609600" y="5638800"/>
            <a:ext cx="10972800" cy="3810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Addressing operational fragmentation unlocks $400M+ in recoverable enterprise value over three years</a:t>
            </a:r>
          </a:p>
        </p:txBody>
      </p:sp>
      <p:sp>
        <p:nvSpPr>
          <p:cNvPr id="34" name="footnote-1"/>
          <p:cNvSpPr txBox="1"/>
          <p:nvPr/>
        </p:nvSpPr>
        <p:spPr>
          <a:xfrm>
            <a:off x="552450" y="6400800"/>
            <a:ext cx="110871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94A3B8"/>
                </a:solidFill>
                <a:latin typeface="Inter"/>
              </a:rPr>
              <a:t>1. [add footnote here or delete]</a:t>
            </a:r>
          </a:p>
        </p:txBody>
      </p:sp>
      <p:sp>
        <p:nvSpPr>
          <p:cNvPr id="35" name="source"/>
          <p:cNvSpPr txBox="1"/>
          <p:nvPr/>
        </p:nvSpPr>
        <p:spPr>
          <a:xfrm>
            <a:off x="552450" y="6553200"/>
            <a:ext cx="104775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/>
            <a:r>
              <a:rPr sz="750" b="0" i="1">
                <a:solidFill>
                  <a:srgbClr val="94A3B8"/>
                </a:solidFill>
                <a:latin typeface="Inter"/>
              </a:rPr>
              <a:t>Source: [add source here or delete]</a:t>
            </a:r>
          </a:p>
        </p:txBody>
      </p:sp>
      <p:sp>
        <p:nvSpPr>
          <p:cNvPr id="36" name="page-number"/>
          <p:cNvSpPr txBox="1"/>
          <p:nvPr/>
        </p:nvSpPr>
        <p:spPr>
          <a:xfrm>
            <a:off x="11144250" y="6553200"/>
            <a:ext cx="4953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/>
            <a:r>
              <a:rPr sz="825" b="0" i="0">
                <a:solidFill>
                  <a:srgbClr val="94A3B8"/>
                </a:solidFill>
                <a:latin typeface="Inter"/>
              </a:rPr>
              <a:t>186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