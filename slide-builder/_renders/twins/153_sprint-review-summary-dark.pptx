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Sprint 14 closes at 93% velocity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single blocker is external dependency, escalated to vendor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Agile delivery · Sprint review · May 5-18,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print-meta"/>
          <p:cNvSpPr/>
          <p:nvPr/>
        </p:nvSpPr>
        <p:spPr>
          <a:xfrm>
            <a:off x="457200" y="2095500"/>
            <a:ext cx="1127760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print-meta-text"/>
          <p:cNvSpPr txBox="1"/>
          <p:nvPr/>
        </p:nvSpPr>
        <p:spPr>
          <a:xfrm>
            <a:off x="609600" y="20955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Sprint 14  ·  May 5-18, 2026  ·  Velocity: 42 points  ·  Target: 45 points (93%)</a:t>
            </a:r>
          </a:p>
        </p:txBody>
      </p:sp>
      <p:sp>
        <p:nvSpPr>
          <p:cNvPr id="7" name="col-1-bg"/>
          <p:cNvSpPr/>
          <p:nvPr/>
        </p:nvSpPr>
        <p:spPr>
          <a:xfrm>
            <a:off x="457200" y="2438400"/>
            <a:ext cx="3676650" cy="33147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l-1-header"/>
          <p:cNvSpPr/>
          <p:nvPr/>
        </p:nvSpPr>
        <p:spPr>
          <a:xfrm>
            <a:off x="457200" y="2438400"/>
            <a:ext cx="3676650" cy="304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l-1-label"/>
          <p:cNvSpPr txBox="1"/>
          <p:nvPr/>
        </p:nvSpPr>
        <p:spPr>
          <a:xfrm>
            <a:off x="571500" y="25146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DONE</a:t>
            </a:r>
          </a:p>
        </p:txBody>
      </p:sp>
      <p:sp>
        <p:nvSpPr>
          <p:cNvPr id="10" name="col-1-count"/>
          <p:cNvSpPr txBox="1"/>
          <p:nvPr/>
        </p:nvSpPr>
        <p:spPr>
          <a:xfrm>
            <a:off x="2895600" y="25336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 STORIES · 32 PTS</a:t>
            </a:r>
          </a:p>
        </p:txBody>
      </p:sp>
      <p:sp>
        <p:nvSpPr>
          <p:cNvPr id="11" name="card-1-1-bg"/>
          <p:cNvSpPr/>
          <p:nvPr/>
        </p:nvSpPr>
        <p:spPr>
          <a:xfrm>
            <a:off x="533400" y="28194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1-accent"/>
          <p:cNvSpPr/>
          <p:nvPr/>
        </p:nvSpPr>
        <p:spPr>
          <a:xfrm>
            <a:off x="533400" y="281940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1-1-id"/>
          <p:cNvSpPr txBox="1"/>
          <p:nvPr/>
        </p:nvSpPr>
        <p:spPr>
          <a:xfrm>
            <a:off x="609600" y="28575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US-142</a:t>
            </a:r>
          </a:p>
        </p:txBody>
      </p:sp>
      <p:sp>
        <p:nvSpPr>
          <p:cNvPr id="14" name="card-1-1-title"/>
          <p:cNvSpPr txBox="1"/>
          <p:nvPr/>
        </p:nvSpPr>
        <p:spPr>
          <a:xfrm>
            <a:off x="1066800" y="28575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User login with SSO integration</a:t>
            </a:r>
          </a:p>
        </p:txBody>
      </p:sp>
      <p:sp>
        <p:nvSpPr>
          <p:cNvPr id="15" name="card-1-1-pts"/>
          <p:cNvSpPr txBox="1"/>
          <p:nvPr/>
        </p:nvSpPr>
        <p:spPr>
          <a:xfrm>
            <a:off x="609600" y="31432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8 pts</a:t>
            </a:r>
          </a:p>
        </p:txBody>
      </p:sp>
      <p:sp>
        <p:nvSpPr>
          <p:cNvPr id="16" name="card-1-1-avatar"/>
          <p:cNvSpPr txBox="1"/>
          <p:nvPr/>
        </p:nvSpPr>
        <p:spPr>
          <a:xfrm>
            <a:off x="3790950" y="310515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17" name="card-1-2-bg"/>
          <p:cNvSpPr/>
          <p:nvPr/>
        </p:nvSpPr>
        <p:spPr>
          <a:xfrm>
            <a:off x="533400" y="337185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1-2-accent"/>
          <p:cNvSpPr/>
          <p:nvPr/>
        </p:nvSpPr>
        <p:spPr>
          <a:xfrm>
            <a:off x="533400" y="337185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1-2-id"/>
          <p:cNvSpPr txBox="1"/>
          <p:nvPr/>
        </p:nvSpPr>
        <p:spPr>
          <a:xfrm>
            <a:off x="609600" y="340995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US-143</a:t>
            </a:r>
          </a:p>
        </p:txBody>
      </p:sp>
      <p:sp>
        <p:nvSpPr>
          <p:cNvPr id="20" name="card-1-2-title"/>
          <p:cNvSpPr txBox="1"/>
          <p:nvPr/>
        </p:nvSpPr>
        <p:spPr>
          <a:xfrm>
            <a:off x="1066800" y="34099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Dashboard data refresh (live polling)</a:t>
            </a:r>
          </a:p>
        </p:txBody>
      </p:sp>
      <p:sp>
        <p:nvSpPr>
          <p:cNvPr id="21" name="card-1-2-pts"/>
          <p:cNvSpPr txBox="1"/>
          <p:nvPr/>
        </p:nvSpPr>
        <p:spPr>
          <a:xfrm>
            <a:off x="609600" y="369570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22" name="card-1-2-avatar"/>
          <p:cNvSpPr txBox="1"/>
          <p:nvPr/>
        </p:nvSpPr>
        <p:spPr>
          <a:xfrm>
            <a:off x="3790950" y="365760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23" name="card-1-3-bg"/>
          <p:cNvSpPr/>
          <p:nvPr/>
        </p:nvSpPr>
        <p:spPr>
          <a:xfrm>
            <a:off x="533400" y="39243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1-3-accent"/>
          <p:cNvSpPr/>
          <p:nvPr/>
        </p:nvSpPr>
        <p:spPr>
          <a:xfrm>
            <a:off x="533400" y="392430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1-3-id"/>
          <p:cNvSpPr txBox="1"/>
          <p:nvPr/>
        </p:nvSpPr>
        <p:spPr>
          <a:xfrm>
            <a:off x="609600" y="39624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US-145</a:t>
            </a:r>
          </a:p>
        </p:txBody>
      </p:sp>
      <p:sp>
        <p:nvSpPr>
          <p:cNvPr id="26" name="card-1-3-title"/>
          <p:cNvSpPr txBox="1"/>
          <p:nvPr/>
        </p:nvSpPr>
        <p:spPr>
          <a:xfrm>
            <a:off x="1066800" y="39624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Export report to PDF &amp; CSV</a:t>
            </a:r>
          </a:p>
        </p:txBody>
      </p:sp>
      <p:sp>
        <p:nvSpPr>
          <p:cNvPr id="27" name="card-1-3-pts"/>
          <p:cNvSpPr txBox="1"/>
          <p:nvPr/>
        </p:nvSpPr>
        <p:spPr>
          <a:xfrm>
            <a:off x="609600" y="42481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28" name="card-1-3-avatar"/>
          <p:cNvSpPr txBox="1"/>
          <p:nvPr/>
        </p:nvSpPr>
        <p:spPr>
          <a:xfrm>
            <a:off x="3790950" y="421005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KL</a:t>
            </a:r>
          </a:p>
        </p:txBody>
      </p:sp>
      <p:sp>
        <p:nvSpPr>
          <p:cNvPr id="29" name="card-1-4-bg"/>
          <p:cNvSpPr/>
          <p:nvPr/>
        </p:nvSpPr>
        <p:spPr>
          <a:xfrm>
            <a:off x="533400" y="447675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1-4-accent"/>
          <p:cNvSpPr/>
          <p:nvPr/>
        </p:nvSpPr>
        <p:spPr>
          <a:xfrm>
            <a:off x="533400" y="447675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1-4-id"/>
          <p:cNvSpPr txBox="1"/>
          <p:nvPr/>
        </p:nvSpPr>
        <p:spPr>
          <a:xfrm>
            <a:off x="609600" y="451485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US-147</a:t>
            </a:r>
          </a:p>
        </p:txBody>
      </p:sp>
      <p:sp>
        <p:nvSpPr>
          <p:cNvPr id="32" name="card-1-4-title"/>
          <p:cNvSpPr txBox="1"/>
          <p:nvPr/>
        </p:nvSpPr>
        <p:spPr>
          <a:xfrm>
            <a:off x="1066800" y="45148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Role-based access control setup</a:t>
            </a:r>
          </a:p>
        </p:txBody>
      </p:sp>
      <p:sp>
        <p:nvSpPr>
          <p:cNvPr id="33" name="card-1-4-pts"/>
          <p:cNvSpPr txBox="1"/>
          <p:nvPr/>
        </p:nvSpPr>
        <p:spPr>
          <a:xfrm>
            <a:off x="609600" y="480060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8 pts</a:t>
            </a:r>
          </a:p>
        </p:txBody>
      </p:sp>
      <p:sp>
        <p:nvSpPr>
          <p:cNvPr id="34" name="card-1-4-avatar"/>
          <p:cNvSpPr txBox="1"/>
          <p:nvPr/>
        </p:nvSpPr>
        <p:spPr>
          <a:xfrm>
            <a:off x="3790950" y="476250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35" name="card-1-5-bg"/>
          <p:cNvSpPr/>
          <p:nvPr/>
        </p:nvSpPr>
        <p:spPr>
          <a:xfrm>
            <a:off x="533400" y="50292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1-5-accent"/>
          <p:cNvSpPr/>
          <p:nvPr/>
        </p:nvSpPr>
        <p:spPr>
          <a:xfrm>
            <a:off x="533400" y="502920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1-5-id"/>
          <p:cNvSpPr txBox="1"/>
          <p:nvPr/>
        </p:nvSpPr>
        <p:spPr>
          <a:xfrm>
            <a:off x="609600" y="50673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US-149</a:t>
            </a:r>
          </a:p>
        </p:txBody>
      </p:sp>
      <p:sp>
        <p:nvSpPr>
          <p:cNvPr id="38" name="card-1-5-title"/>
          <p:cNvSpPr txBox="1"/>
          <p:nvPr/>
        </p:nvSpPr>
        <p:spPr>
          <a:xfrm>
            <a:off x="1066800" y="50673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Notification email templates</a:t>
            </a:r>
          </a:p>
        </p:txBody>
      </p:sp>
      <p:sp>
        <p:nvSpPr>
          <p:cNvPr id="39" name="card-1-5-pts"/>
          <p:cNvSpPr txBox="1"/>
          <p:nvPr/>
        </p:nvSpPr>
        <p:spPr>
          <a:xfrm>
            <a:off x="609600" y="53530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 pts</a:t>
            </a:r>
          </a:p>
        </p:txBody>
      </p:sp>
      <p:sp>
        <p:nvSpPr>
          <p:cNvPr id="40" name="card-1-5-avatar"/>
          <p:cNvSpPr txBox="1"/>
          <p:nvPr/>
        </p:nvSpPr>
        <p:spPr>
          <a:xfrm>
            <a:off x="3790950" y="531495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</a:t>
            </a:r>
          </a:p>
        </p:txBody>
      </p:sp>
      <p:sp>
        <p:nvSpPr>
          <p:cNvPr id="41" name="col-2-bg"/>
          <p:cNvSpPr/>
          <p:nvPr/>
        </p:nvSpPr>
        <p:spPr>
          <a:xfrm>
            <a:off x="4248150" y="2438400"/>
            <a:ext cx="3676650" cy="33147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l-2-header"/>
          <p:cNvSpPr/>
          <p:nvPr/>
        </p:nvSpPr>
        <p:spPr>
          <a:xfrm>
            <a:off x="4248150" y="2438400"/>
            <a:ext cx="3676650" cy="304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l-2-label"/>
          <p:cNvSpPr txBox="1"/>
          <p:nvPr/>
        </p:nvSpPr>
        <p:spPr>
          <a:xfrm>
            <a:off x="4362450" y="25146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 PROGRESS</a:t>
            </a:r>
          </a:p>
        </p:txBody>
      </p:sp>
      <p:sp>
        <p:nvSpPr>
          <p:cNvPr id="44" name="col-2-count"/>
          <p:cNvSpPr txBox="1"/>
          <p:nvPr/>
        </p:nvSpPr>
        <p:spPr>
          <a:xfrm>
            <a:off x="6686550" y="25336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STORIES · 10 PTS</a:t>
            </a:r>
          </a:p>
        </p:txBody>
      </p:sp>
      <p:sp>
        <p:nvSpPr>
          <p:cNvPr id="45" name="card-2-1-bg"/>
          <p:cNvSpPr/>
          <p:nvPr/>
        </p:nvSpPr>
        <p:spPr>
          <a:xfrm>
            <a:off x="4324350" y="28194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2-1-accent"/>
          <p:cNvSpPr/>
          <p:nvPr/>
        </p:nvSpPr>
        <p:spPr>
          <a:xfrm>
            <a:off x="4324350" y="2819400"/>
            <a:ext cx="28575" cy="495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ard-2-1-id"/>
          <p:cNvSpPr txBox="1"/>
          <p:nvPr/>
        </p:nvSpPr>
        <p:spPr>
          <a:xfrm>
            <a:off x="4400550" y="28575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US-153</a:t>
            </a:r>
          </a:p>
        </p:txBody>
      </p:sp>
      <p:sp>
        <p:nvSpPr>
          <p:cNvPr id="48" name="card-2-1-title"/>
          <p:cNvSpPr txBox="1"/>
          <p:nvPr/>
        </p:nvSpPr>
        <p:spPr>
          <a:xfrm>
            <a:off x="4857750" y="28575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Bulk user import via CSV upload</a:t>
            </a:r>
          </a:p>
        </p:txBody>
      </p:sp>
      <p:sp>
        <p:nvSpPr>
          <p:cNvPr id="49" name="card-2-1-pts"/>
          <p:cNvSpPr txBox="1"/>
          <p:nvPr/>
        </p:nvSpPr>
        <p:spPr>
          <a:xfrm>
            <a:off x="4400550" y="31432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50" name="card-2-1-avatar"/>
          <p:cNvSpPr txBox="1"/>
          <p:nvPr/>
        </p:nvSpPr>
        <p:spPr>
          <a:xfrm>
            <a:off x="7581900" y="3105150"/>
            <a:ext cx="190500" cy="1714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KL</a:t>
            </a:r>
          </a:p>
        </p:txBody>
      </p:sp>
      <p:sp>
        <p:nvSpPr>
          <p:cNvPr id="51" name="card-2-2-bg"/>
          <p:cNvSpPr/>
          <p:nvPr/>
        </p:nvSpPr>
        <p:spPr>
          <a:xfrm>
            <a:off x="4324350" y="337185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ard-2-2-accent"/>
          <p:cNvSpPr/>
          <p:nvPr/>
        </p:nvSpPr>
        <p:spPr>
          <a:xfrm>
            <a:off x="4324350" y="3371850"/>
            <a:ext cx="28575" cy="495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ard-2-2-id"/>
          <p:cNvSpPr txBox="1"/>
          <p:nvPr/>
        </p:nvSpPr>
        <p:spPr>
          <a:xfrm>
            <a:off x="4400550" y="340995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US-155</a:t>
            </a:r>
          </a:p>
        </p:txBody>
      </p:sp>
      <p:sp>
        <p:nvSpPr>
          <p:cNvPr id="54" name="card-2-2-title"/>
          <p:cNvSpPr txBox="1"/>
          <p:nvPr/>
        </p:nvSpPr>
        <p:spPr>
          <a:xfrm>
            <a:off x="4857750" y="34099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Audit log viewer — admin panel</a:t>
            </a:r>
          </a:p>
        </p:txBody>
      </p:sp>
      <p:sp>
        <p:nvSpPr>
          <p:cNvPr id="55" name="card-2-2-pts"/>
          <p:cNvSpPr txBox="1"/>
          <p:nvPr/>
        </p:nvSpPr>
        <p:spPr>
          <a:xfrm>
            <a:off x="4400550" y="369570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 pts</a:t>
            </a:r>
          </a:p>
        </p:txBody>
      </p:sp>
      <p:sp>
        <p:nvSpPr>
          <p:cNvPr id="56" name="card-2-2-avatar"/>
          <p:cNvSpPr txBox="1"/>
          <p:nvPr/>
        </p:nvSpPr>
        <p:spPr>
          <a:xfrm>
            <a:off x="7581900" y="3657600"/>
            <a:ext cx="190500" cy="1714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</a:t>
            </a:r>
          </a:p>
        </p:txBody>
      </p:sp>
      <p:sp>
        <p:nvSpPr>
          <p:cNvPr id="57" name="card-2-3-bg"/>
          <p:cNvSpPr/>
          <p:nvPr/>
        </p:nvSpPr>
        <p:spPr>
          <a:xfrm>
            <a:off x="4324350" y="39243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ard-2-3-accent"/>
          <p:cNvSpPr/>
          <p:nvPr/>
        </p:nvSpPr>
        <p:spPr>
          <a:xfrm>
            <a:off x="4324350" y="3924300"/>
            <a:ext cx="28575" cy="495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ard-2-3-id"/>
          <p:cNvSpPr txBox="1"/>
          <p:nvPr/>
        </p:nvSpPr>
        <p:spPr>
          <a:xfrm>
            <a:off x="4400550" y="39624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US-157</a:t>
            </a:r>
          </a:p>
        </p:txBody>
      </p:sp>
      <p:sp>
        <p:nvSpPr>
          <p:cNvPr id="60" name="card-2-3-title"/>
          <p:cNvSpPr txBox="1"/>
          <p:nvPr/>
        </p:nvSpPr>
        <p:spPr>
          <a:xfrm>
            <a:off x="4857750" y="39624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Dark mode theme toggle</a:t>
            </a:r>
          </a:p>
        </p:txBody>
      </p:sp>
      <p:sp>
        <p:nvSpPr>
          <p:cNvPr id="61" name="card-2-3-pts"/>
          <p:cNvSpPr txBox="1"/>
          <p:nvPr/>
        </p:nvSpPr>
        <p:spPr>
          <a:xfrm>
            <a:off x="4400550" y="42481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 pts</a:t>
            </a:r>
          </a:p>
        </p:txBody>
      </p:sp>
      <p:sp>
        <p:nvSpPr>
          <p:cNvPr id="62" name="card-2-3-avatar"/>
          <p:cNvSpPr txBox="1"/>
          <p:nvPr/>
        </p:nvSpPr>
        <p:spPr>
          <a:xfrm>
            <a:off x="7581900" y="4210050"/>
            <a:ext cx="190500" cy="1714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63" name="col-3-bg"/>
          <p:cNvSpPr/>
          <p:nvPr/>
        </p:nvSpPr>
        <p:spPr>
          <a:xfrm>
            <a:off x="8039100" y="2438400"/>
            <a:ext cx="3676650" cy="33147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ol-3-header"/>
          <p:cNvSpPr/>
          <p:nvPr/>
        </p:nvSpPr>
        <p:spPr>
          <a:xfrm>
            <a:off x="8039100" y="2438400"/>
            <a:ext cx="3676650" cy="30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ol-3-label"/>
          <p:cNvSpPr txBox="1"/>
          <p:nvPr/>
        </p:nvSpPr>
        <p:spPr>
          <a:xfrm>
            <a:off x="8153400" y="25146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BLOCKED</a:t>
            </a:r>
          </a:p>
        </p:txBody>
      </p:sp>
      <p:sp>
        <p:nvSpPr>
          <p:cNvPr id="66" name="col-3-count"/>
          <p:cNvSpPr txBox="1"/>
          <p:nvPr/>
        </p:nvSpPr>
        <p:spPr>
          <a:xfrm>
            <a:off x="10477500" y="25336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 STORY · 5 PTS</a:t>
            </a:r>
          </a:p>
        </p:txBody>
      </p:sp>
      <p:sp>
        <p:nvSpPr>
          <p:cNvPr id="67" name="card-3-1-bg"/>
          <p:cNvSpPr/>
          <p:nvPr/>
        </p:nvSpPr>
        <p:spPr>
          <a:xfrm>
            <a:off x="8115300" y="2819400"/>
            <a:ext cx="3524250" cy="495300"/>
          </a:xfrm>
          <a:prstGeom prst="rect">
            <a:avLst/>
          </a:prstGeom>
          <a:solidFill>
            <a:srgbClr val="5C1F1F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ard-3-1-accent"/>
          <p:cNvSpPr/>
          <p:nvPr/>
        </p:nvSpPr>
        <p:spPr>
          <a:xfrm>
            <a:off x="8115300" y="2819400"/>
            <a:ext cx="28575" cy="4953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ard-3-1-id"/>
          <p:cNvSpPr txBox="1"/>
          <p:nvPr/>
        </p:nvSpPr>
        <p:spPr>
          <a:xfrm>
            <a:off x="8191500" y="28575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US-189</a:t>
            </a:r>
          </a:p>
        </p:txBody>
      </p:sp>
      <p:sp>
        <p:nvSpPr>
          <p:cNvPr id="70" name="card-3-1-title"/>
          <p:cNvSpPr txBox="1"/>
          <p:nvPr/>
        </p:nvSpPr>
        <p:spPr>
          <a:xfrm>
            <a:off x="8648700" y="28575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Third-party payment API integration</a:t>
            </a:r>
          </a:p>
        </p:txBody>
      </p:sp>
      <p:sp>
        <p:nvSpPr>
          <p:cNvPr id="71" name="card-3-1-pts"/>
          <p:cNvSpPr txBox="1"/>
          <p:nvPr/>
        </p:nvSpPr>
        <p:spPr>
          <a:xfrm>
            <a:off x="8191500" y="31432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72" name="card-3-1-avatar"/>
          <p:cNvSpPr txBox="1"/>
          <p:nvPr/>
        </p:nvSpPr>
        <p:spPr>
          <a:xfrm>
            <a:off x="11372850" y="3105150"/>
            <a:ext cx="190500" cy="1714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73" name="blocker-bg"/>
          <p:cNvSpPr/>
          <p:nvPr/>
        </p:nvSpPr>
        <p:spPr>
          <a:xfrm>
            <a:off x="8115300" y="3371850"/>
            <a:ext cx="3524250" cy="533400"/>
          </a:xfrm>
          <a:prstGeom prst="rect">
            <a:avLst/>
          </a:prstGeom>
          <a:solidFill>
            <a:srgbClr val="5C1F1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blocker-accent"/>
          <p:cNvSpPr/>
          <p:nvPr/>
        </p:nvSpPr>
        <p:spPr>
          <a:xfrm>
            <a:off x="8115300" y="3371850"/>
            <a:ext cx="28575" cy="533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blocker-label"/>
          <p:cNvSpPr txBox="1"/>
          <p:nvPr/>
        </p:nvSpPr>
        <p:spPr>
          <a:xfrm>
            <a:off x="8191500" y="34290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BLOCKER</a:t>
            </a:r>
          </a:p>
        </p:txBody>
      </p:sp>
      <p:sp>
        <p:nvSpPr>
          <p:cNvPr id="76" name="blocker-text"/>
          <p:cNvSpPr txBox="1"/>
          <p:nvPr/>
        </p:nvSpPr>
        <p:spPr>
          <a:xfrm>
            <a:off x="8191500" y="358140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contract not finalized — ETA unknown. Escalated to vendor. Carrying to Sprint 15.</a:t>
            </a:r>
          </a:p>
        </p:txBody>
      </p:sp>
      <p:sp>
        <p:nvSpPr>
          <p:cNvPr id="77" name="convergence-bg"/>
          <p:cNvSpPr/>
          <p:nvPr/>
        </p:nvSpPr>
        <p:spPr>
          <a:xfrm>
            <a:off x="457200" y="5810250"/>
            <a:ext cx="1127760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onvergence"/>
          <p:cNvSpPr txBox="1"/>
          <p:nvPr/>
        </p:nvSpPr>
        <p:spPr>
          <a:xfrm>
            <a:off x="457200" y="581025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42/45 pts completed  ·  1 blocker  ·  Carryover: US-189 (5 pts) to Sprint 15</a:t>
            </a:r>
          </a:p>
        </p:txBody>
      </p:sp>
      <p:sp>
        <p:nvSpPr>
          <p:cNvPr id="7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