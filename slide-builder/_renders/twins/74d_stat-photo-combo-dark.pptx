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What four weeks looked like — measured, not estimated.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Data and the room it happened in — on the same page.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hoto-zone"/>
          <p:cNvSpPr/>
          <p:nvPr/>
        </p:nvSpPr>
        <p:spPr>
          <a:xfrm>
            <a:off x="609600" y="2095500"/>
            <a:ext cx="5295900" cy="41148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hoto-corner-tag"/>
          <p:cNvSpPr txBox="1"/>
          <p:nvPr/>
        </p:nvSpPr>
        <p:spPr>
          <a:xfrm>
            <a:off x="762000" y="2247900"/>
            <a:ext cx="1714500" cy="2095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38100" rIns="76200" bIns="38100" lIns="7620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PHOTO PLACEHOLDER</a:t>
            </a:r>
          </a:p>
        </p:txBody>
      </p:sp>
      <p:sp>
        <p:nvSpPr>
          <p:cNvPr id="7" name="photo-meta"/>
          <p:cNvSpPr txBox="1"/>
          <p:nvPr/>
        </p:nvSpPr>
        <p:spPr>
          <a:xfrm>
            <a:off x="838200" y="5600700"/>
            <a:ext cx="4838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Pilot week 4 · review session</a:t>
            </a:r>
          </a:p>
        </p:txBody>
      </p:sp>
      <p:sp>
        <p:nvSpPr>
          <p:cNvPr id="8" name="photo-meta-filename"/>
          <p:cNvSpPr txBox="1"/>
          <p:nvPr/>
        </p:nvSpPr>
        <p:spPr>
          <a:xfrm>
            <a:off x="838200" y="5829300"/>
            <a:ext cx="4838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Consolas"/>
              </a:rPr>
              <a:t>replace · pilot-w4_review-room.jpg</a:t>
            </a:r>
          </a:p>
        </p:txBody>
      </p:sp>
      <p:sp>
        <p:nvSpPr>
          <p:cNvPr id="9" name="hero-stat-label"/>
          <p:cNvSpPr txBox="1"/>
          <p:nvPr/>
        </p:nvSpPr>
        <p:spPr>
          <a:xfrm>
            <a:off x="6286500" y="2286000"/>
            <a:ext cx="5295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MEASURED ACROSS 12 PILOT DECKS · WEEKS 1–4</a:t>
            </a:r>
          </a:p>
        </p:txBody>
      </p:sp>
      <p:sp>
        <p:nvSpPr>
          <p:cNvPr id="10" name="hero-stat-value"/>
          <p:cNvSpPr txBox="1"/>
          <p:nvPr/>
        </p:nvSpPr>
        <p:spPr>
          <a:xfrm>
            <a:off x="6286500" y="2762250"/>
            <a:ext cx="1905000" cy="1905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0" b="1" i="0">
                <a:solidFill>
                  <a:srgbClr val="C780FF"/>
                </a:solidFill>
                <a:latin typeface="Inter"/>
              </a:rPr>
              <a:t>5</a:t>
            </a:r>
          </a:p>
        </p:txBody>
      </p:sp>
      <p:sp>
        <p:nvSpPr>
          <p:cNvPr id="11" name="hero-stat-unit"/>
          <p:cNvSpPr txBox="1"/>
          <p:nvPr/>
        </p:nvSpPr>
        <p:spPr>
          <a:xfrm>
            <a:off x="7581900" y="361950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350" b="1" i="0">
                <a:solidFill>
                  <a:srgbClr val="C7B8DD"/>
                </a:solidFill>
                <a:latin typeface="Inter"/>
              </a:rPr>
              <a:t>days</a:t>
            </a:r>
          </a:p>
        </p:txBody>
      </p:sp>
      <p:sp>
        <p:nvSpPr>
          <p:cNvPr id="12" name="hero-stat-caption"/>
          <p:cNvSpPr txBox="1"/>
          <p:nvPr/>
        </p:nvSpPr>
        <p:spPr>
          <a:xfrm>
            <a:off x="6286500" y="4667250"/>
            <a:ext cx="51054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0" i="0">
                <a:solidFill>
                  <a:srgbClr val="FFFFFF"/>
                </a:solidFill>
                <a:latin typeface="Inter"/>
              </a:rPr>
              <a:t>Median time from kickoff to partner-ready, weeks 1–4 of pilot.</a:t>
            </a:r>
          </a:p>
        </p:txBody>
      </p:sp>
      <p:sp>
        <p:nvSpPr>
          <p:cNvPr id="14" name="chart-source"/>
          <p:cNvSpPr txBox="1"/>
          <p:nvPr/>
        </p:nvSpPr>
        <p:spPr>
          <a:xfrm>
            <a:off x="6286500" y="5905500"/>
            <a:ext cx="51054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Compared to 14-day baseline · Apr–May 2026</a:t>
            </a:r>
          </a:p>
        </p:txBody>
      </p:sp>
      <p:sp>
        <p:nvSpPr>
          <p:cNvPr id="1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