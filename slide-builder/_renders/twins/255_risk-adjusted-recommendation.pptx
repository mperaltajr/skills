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Proceed now — the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cost of delay exceeds the risk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of acting.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Risk-adjusted analysis across three independent evidence streams. Mitigation actions are confirmed and owner-assigned before launch.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ommendation-box"/>
          <p:cNvSpPr/>
          <p:nvPr/>
        </p:nvSpPr>
        <p:spPr>
          <a:xfrm>
            <a:off x="457200" y="2190750"/>
            <a:ext cx="7229475" cy="2381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-accent"/>
          <p:cNvSpPr/>
          <p:nvPr/>
        </p:nvSpPr>
        <p:spPr>
          <a:xfrm>
            <a:off x="457200" y="2190750"/>
            <a:ext cx="38100" cy="2381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we-recommend-label"/>
          <p:cNvSpPr txBox="1"/>
          <p:nvPr/>
        </p:nvSpPr>
        <p:spPr>
          <a:xfrm>
            <a:off x="647700" y="2324100"/>
            <a:ext cx="6848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WE RECOMMEND</a:t>
            </a:r>
          </a:p>
        </p:txBody>
      </p:sp>
      <p:sp>
        <p:nvSpPr>
          <p:cNvPr id="8" name="recommendation-statement"/>
          <p:cNvSpPr txBox="1"/>
          <p:nvPr/>
        </p:nvSpPr>
        <p:spPr>
          <a:xfrm>
            <a:off x="647700" y="2514600"/>
            <a:ext cx="6848475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Launch the cost-reduction program in Q3 2026 with a phased diagnostic-first approach, gated at 6 weeks.</a:t>
            </a:r>
          </a:p>
        </p:txBody>
      </p:sp>
      <p:sp>
        <p:nvSpPr>
          <p:cNvPr id="9" name="recommendation-rationale"/>
          <p:cNvSpPr txBox="1"/>
          <p:nvPr/>
        </p:nvSpPr>
        <p:spPr>
          <a:xfrm>
            <a:off x="647700" y="3219450"/>
            <a:ext cx="684847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diagnostic phase de-risks the full commitment: it surfaces detailed savings by sub-category, confirms ownership and governance, and delivers a 6-week payback on its own spend. Delaying to Q4 surrenders &gt;$3.5M in identified run-rate savings and compresses the implementation window. Comparable programs across the portfolio consistently cleared their savings targets — the evidence base is strong enough to act.</a:t>
            </a:r>
          </a:p>
        </p:txBody>
      </p:sp>
      <p:sp>
        <p:nvSpPr>
          <p:cNvPr id="10" name="risk-panel"/>
          <p:cNvSpPr/>
          <p:nvPr/>
        </p:nvSpPr>
        <p:spPr>
          <a:xfrm>
            <a:off x="7839075" y="2190750"/>
            <a:ext cx="3895725" cy="2381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isk-panel-header"/>
          <p:cNvSpPr txBox="1"/>
          <p:nvPr/>
        </p:nvSpPr>
        <p:spPr>
          <a:xfrm>
            <a:off x="7991475" y="2305050"/>
            <a:ext cx="3590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RISKS &amp; MITIGATIONS</a:t>
            </a:r>
          </a:p>
        </p:txBody>
      </p:sp>
      <p:sp>
        <p:nvSpPr>
          <p:cNvPr id="12" name="risk-1-name"/>
          <p:cNvSpPr txBox="1"/>
          <p:nvPr/>
        </p:nvSpPr>
        <p:spPr>
          <a:xfrm>
            <a:off x="7991475" y="2590800"/>
            <a:ext cx="3590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Change-readiness gap</a:t>
            </a:r>
          </a:p>
        </p:txBody>
      </p:sp>
      <p:sp>
        <p:nvSpPr>
          <p:cNvPr id="13" name="risk-1-mit"/>
          <p:cNvSpPr txBox="1"/>
          <p:nvPr/>
        </p:nvSpPr>
        <p:spPr>
          <a:xfrm>
            <a:off x="7991475" y="2781300"/>
            <a:ext cx="3590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Executive sponsor confirmed; change-management workstream scoped in Week 1 with dedicated lead.</a:t>
            </a:r>
          </a:p>
        </p:txBody>
      </p:sp>
      <p:sp>
        <p:nvSpPr>
          <p:cNvPr id="14" name="risk-2-name"/>
          <p:cNvSpPr txBox="1"/>
          <p:nvPr/>
        </p:nvSpPr>
        <p:spPr>
          <a:xfrm>
            <a:off x="7991475" y="3219450"/>
            <a:ext cx="3590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Savings realisation slippage</a:t>
            </a:r>
          </a:p>
        </p:txBody>
      </p:sp>
      <p:sp>
        <p:nvSpPr>
          <p:cNvPr id="15" name="risk-2-mit"/>
          <p:cNvSpPr txBox="1"/>
          <p:nvPr/>
        </p:nvSpPr>
        <p:spPr>
          <a:xfrm>
            <a:off x="7991475" y="3409950"/>
            <a:ext cx="3590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Gate review at Week 6 hard-stops full rollout if diagnostic yields fall below 70% of model.</a:t>
            </a:r>
          </a:p>
        </p:txBody>
      </p:sp>
      <p:sp>
        <p:nvSpPr>
          <p:cNvPr id="16" name="risk-3-name"/>
          <p:cNvSpPr txBox="1"/>
          <p:nvPr/>
        </p:nvSpPr>
        <p:spPr>
          <a:xfrm>
            <a:off x="7991475" y="3848100"/>
            <a:ext cx="3590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Resource contention</a:t>
            </a:r>
          </a:p>
        </p:txBody>
      </p:sp>
      <p:sp>
        <p:nvSpPr>
          <p:cNvPr id="17" name="risk-3-mit"/>
          <p:cNvSpPr txBox="1"/>
          <p:nvPr/>
        </p:nvSpPr>
        <p:spPr>
          <a:xfrm>
            <a:off x="7991475" y="4038600"/>
            <a:ext cx="35909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Diagnostic team ring-fenced; no competing priorities until gate. Backfill approved by PMO.</a:t>
            </a:r>
          </a:p>
        </p:txBody>
      </p:sp>
      <p:sp>
        <p:nvSpPr>
          <p:cNvPr id="18" name="evidence-label"/>
          <p:cNvSpPr txBox="1"/>
          <p:nvPr/>
        </p:nvSpPr>
        <p:spPr>
          <a:xfrm>
            <a:off x="457200" y="47434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SUPPORTING EVIDENCE</a:t>
            </a:r>
          </a:p>
        </p:txBody>
      </p:sp>
      <p:sp>
        <p:nvSpPr>
          <p:cNvPr id="19" name="evidence-card-1"/>
          <p:cNvSpPr/>
          <p:nvPr/>
        </p:nvSpPr>
        <p:spPr>
          <a:xfrm>
            <a:off x="457200" y="4953000"/>
            <a:ext cx="3676650" cy="1095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evidence-card-1-accent"/>
          <p:cNvSpPr/>
          <p:nvPr/>
        </p:nvSpPr>
        <p:spPr>
          <a:xfrm>
            <a:off x="457200" y="4953000"/>
            <a:ext cx="28575" cy="10953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evidence-card-1-text"/>
          <p:cNvSpPr txBox="1"/>
          <p:nvPr/>
        </p:nvSpPr>
        <p:spPr>
          <a:xfrm>
            <a:off x="590550" y="5048250"/>
            <a:ext cx="3409950" cy="904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$14M identified savings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across seven sub-categories in the opportunity model, validated against FY25 actuals by internal finance.</a:t>
            </a:r>
          </a:p>
        </p:txBody>
      </p:sp>
      <p:sp>
        <p:nvSpPr>
          <p:cNvPr id="22" name="evidence-card-2"/>
          <p:cNvSpPr/>
          <p:nvPr/>
        </p:nvSpPr>
        <p:spPr>
          <a:xfrm>
            <a:off x="4248150" y="4953000"/>
            <a:ext cx="3676650" cy="1095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evidence-card-2-accent"/>
          <p:cNvSpPr/>
          <p:nvPr/>
        </p:nvSpPr>
        <p:spPr>
          <a:xfrm>
            <a:off x="4248150" y="4953000"/>
            <a:ext cx="28575" cy="10953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evidence-card-2-text"/>
          <p:cNvSpPr txBox="1"/>
          <p:nvPr/>
        </p:nvSpPr>
        <p:spPr>
          <a:xfrm>
            <a:off x="4381500" y="5048250"/>
            <a:ext cx="3409950" cy="904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92% of comparable programs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delivered at or above their savings target when launched within the Q3 window in prior engagements.</a:t>
            </a:r>
          </a:p>
        </p:txBody>
      </p:sp>
      <p:sp>
        <p:nvSpPr>
          <p:cNvPr id="25" name="evidence-card-3"/>
          <p:cNvSpPr/>
          <p:nvPr/>
        </p:nvSpPr>
        <p:spPr>
          <a:xfrm>
            <a:off x="8039100" y="4953000"/>
            <a:ext cx="3676650" cy="10953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evidence-card-3-accent"/>
          <p:cNvSpPr/>
          <p:nvPr/>
        </p:nvSpPr>
        <p:spPr>
          <a:xfrm>
            <a:off x="8039100" y="4953000"/>
            <a:ext cx="28575" cy="10953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evidence-card-3-text"/>
          <p:cNvSpPr txBox="1"/>
          <p:nvPr/>
        </p:nvSpPr>
        <p:spPr>
          <a:xfrm>
            <a:off x="8172450" y="5048250"/>
            <a:ext cx="3409950" cy="904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6-week payback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on diagnostic investment based on conservative 40% realisation rate; full-program IRR exceeds 8× over 24 months.</a:t>
            </a: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