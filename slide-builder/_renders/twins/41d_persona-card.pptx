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Who Slide Lab is built for — Sarah, Senior Manager.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57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Every design decision answers to her workflow. If it doesn't move her week, it doesn't ship.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ersona-card-bg"/>
          <p:cNvSpPr/>
          <p:nvPr/>
        </p:nvSpPr>
        <p:spPr>
          <a:xfrm>
            <a:off x="609600" y="1619250"/>
            <a:ext cx="10972800" cy="4191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ersona-photo"/>
          <p:cNvSpPr/>
          <p:nvPr/>
        </p:nvSpPr>
        <p:spPr>
          <a:xfrm>
            <a:off x="1771650" y="1847850"/>
            <a:ext cx="1104900" cy="1104900"/>
          </a:xfrm>
          <a:prstGeom prst="rect">
            <a:avLst/>
          </a:prstGeom>
          <a:solidFill>
            <a:srgbClr val="C780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ersona-photo-initials"/>
          <p:cNvSpPr txBox="1"/>
          <p:nvPr/>
        </p:nvSpPr>
        <p:spPr>
          <a:xfrm>
            <a:off x="1771650" y="1847850"/>
            <a:ext cx="1104900" cy="1104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2D0A4E"/>
                </a:solidFill>
                <a:latin typeface="Inter"/>
              </a:rPr>
              <a:t>SK</a:t>
            </a:r>
          </a:p>
        </p:txBody>
      </p:sp>
      <p:sp>
        <p:nvSpPr>
          <p:cNvPr id="8" name="persona-name"/>
          <p:cNvSpPr txBox="1"/>
          <p:nvPr/>
        </p:nvSpPr>
        <p:spPr>
          <a:xfrm>
            <a:off x="838200" y="3105150"/>
            <a:ext cx="29718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Sarah Kim</a:t>
            </a:r>
          </a:p>
        </p:txBody>
      </p:sp>
      <p:sp>
        <p:nvSpPr>
          <p:cNvPr id="9" name="persona-role"/>
          <p:cNvSpPr txBox="1"/>
          <p:nvPr/>
        </p:nvSpPr>
        <p:spPr>
          <a:xfrm>
            <a:off x="838200" y="3390900"/>
            <a:ext cx="2971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Senior Manager, Strategy Practice</a:t>
            </a:r>
          </a:p>
        </p:txBody>
      </p:sp>
      <p:sp>
        <p:nvSpPr>
          <p:cNvPr id="10" name="persona-name-rule"/>
          <p:cNvSpPr/>
          <p:nvPr/>
        </p:nvSpPr>
        <p:spPr>
          <a:xfrm>
            <a:off x="838200" y="3619500"/>
            <a:ext cx="3810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persona-chip-1"/>
          <p:cNvSpPr/>
          <p:nvPr/>
        </p:nvSpPr>
        <p:spPr>
          <a:xfrm>
            <a:off x="838200" y="3714750"/>
            <a:ext cx="952500" cy="17145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persona-chip-1-text"/>
          <p:cNvSpPr txBox="1"/>
          <p:nvPr/>
        </p:nvSpPr>
        <p:spPr>
          <a:xfrm>
            <a:off x="838200" y="3714750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9 yrs consulting</a:t>
            </a:r>
          </a:p>
        </p:txBody>
      </p:sp>
      <p:sp>
        <p:nvSpPr>
          <p:cNvPr id="13" name="persona-chip-2"/>
          <p:cNvSpPr/>
          <p:nvPr/>
        </p:nvSpPr>
        <p:spPr>
          <a:xfrm>
            <a:off x="1838325" y="3714750"/>
            <a:ext cx="762000" cy="17145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persona-chip-2-text"/>
          <p:cNvSpPr txBox="1"/>
          <p:nvPr/>
        </p:nvSpPr>
        <p:spPr>
          <a:xfrm>
            <a:off x="1838325" y="371475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NYC office</a:t>
            </a:r>
          </a:p>
        </p:txBody>
      </p:sp>
      <p:sp>
        <p:nvSpPr>
          <p:cNvPr id="15" name="persona-chip-3"/>
          <p:cNvSpPr/>
          <p:nvPr/>
        </p:nvSpPr>
        <p:spPr>
          <a:xfrm>
            <a:off x="838200" y="3924300"/>
            <a:ext cx="1333500" cy="17145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persona-chip-3-text"/>
          <p:cNvSpPr txBox="1"/>
          <p:nvPr/>
        </p:nvSpPr>
        <p:spPr>
          <a:xfrm>
            <a:off x="838200" y="3924300"/>
            <a:ext cx="1333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6 active engagements</a:t>
            </a:r>
          </a:p>
        </p:txBody>
      </p:sp>
      <p:sp>
        <p:nvSpPr>
          <p:cNvPr id="17" name="persona-skills-rule"/>
          <p:cNvSpPr/>
          <p:nvPr/>
        </p:nvSpPr>
        <p:spPr>
          <a:xfrm>
            <a:off x="838200" y="4324350"/>
            <a:ext cx="29718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persona-skills-label"/>
          <p:cNvSpPr txBox="1"/>
          <p:nvPr/>
        </p:nvSpPr>
        <p:spPr>
          <a:xfrm>
            <a:off x="838200" y="4381500"/>
            <a:ext cx="2971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WHERE SHE LEANS IN</a:t>
            </a:r>
          </a:p>
        </p:txBody>
      </p:sp>
      <p:sp>
        <p:nvSpPr>
          <p:cNvPr id="19" name="persona-skill-1-name"/>
          <p:cNvSpPr txBox="1"/>
          <p:nvPr/>
        </p:nvSpPr>
        <p:spPr>
          <a:xfrm>
            <a:off x="838200" y="45529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Storyline structure</a:t>
            </a:r>
          </a:p>
        </p:txBody>
      </p:sp>
      <p:sp>
        <p:nvSpPr>
          <p:cNvPr id="20" name="persona-skill-1-dot-1"/>
          <p:cNvSpPr/>
          <p:nvPr/>
        </p:nvSpPr>
        <p:spPr>
          <a:xfrm>
            <a:off x="2743200" y="4591050"/>
            <a:ext cx="66675" cy="66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persona-skill-1-dot-2"/>
          <p:cNvSpPr/>
          <p:nvPr/>
        </p:nvSpPr>
        <p:spPr>
          <a:xfrm>
            <a:off x="2838450" y="4591050"/>
            <a:ext cx="66675" cy="66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persona-skill-1-dot-3"/>
          <p:cNvSpPr/>
          <p:nvPr/>
        </p:nvSpPr>
        <p:spPr>
          <a:xfrm>
            <a:off x="2933700" y="4591050"/>
            <a:ext cx="66675" cy="66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persona-skill-1-dot-4"/>
          <p:cNvSpPr/>
          <p:nvPr/>
        </p:nvSpPr>
        <p:spPr>
          <a:xfrm>
            <a:off x="3028950" y="4591050"/>
            <a:ext cx="66675" cy="66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persona-skill-1-dot-5"/>
          <p:cNvSpPr/>
          <p:nvPr/>
        </p:nvSpPr>
        <p:spPr>
          <a:xfrm>
            <a:off x="3124200" y="4591050"/>
            <a:ext cx="66675" cy="66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persona-skill-2-name"/>
          <p:cNvSpPr txBox="1"/>
          <p:nvPr/>
        </p:nvSpPr>
        <p:spPr>
          <a:xfrm>
            <a:off x="838200" y="47434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Client read</a:t>
            </a:r>
          </a:p>
        </p:txBody>
      </p:sp>
      <p:sp>
        <p:nvSpPr>
          <p:cNvPr id="26" name="persona-skill-2-dot-1"/>
          <p:cNvSpPr/>
          <p:nvPr/>
        </p:nvSpPr>
        <p:spPr>
          <a:xfrm>
            <a:off x="2743200" y="4781550"/>
            <a:ext cx="66675" cy="66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persona-skill-2-dot-2"/>
          <p:cNvSpPr/>
          <p:nvPr/>
        </p:nvSpPr>
        <p:spPr>
          <a:xfrm>
            <a:off x="2838450" y="4781550"/>
            <a:ext cx="66675" cy="66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persona-skill-2-dot-3"/>
          <p:cNvSpPr/>
          <p:nvPr/>
        </p:nvSpPr>
        <p:spPr>
          <a:xfrm>
            <a:off x="2933700" y="4781550"/>
            <a:ext cx="66675" cy="66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persona-skill-2-dot-4"/>
          <p:cNvSpPr/>
          <p:nvPr/>
        </p:nvSpPr>
        <p:spPr>
          <a:xfrm>
            <a:off x="3028950" y="4781550"/>
            <a:ext cx="66675" cy="66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persona-skill-2-dot-5"/>
          <p:cNvSpPr/>
          <p:nvPr/>
        </p:nvSpPr>
        <p:spPr>
          <a:xfrm>
            <a:off x="3124200" y="4781550"/>
            <a:ext cx="66675" cy="6667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persona-skill-3-name"/>
          <p:cNvSpPr txBox="1"/>
          <p:nvPr/>
        </p:nvSpPr>
        <p:spPr>
          <a:xfrm>
            <a:off x="838200" y="49339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Slide production speed</a:t>
            </a:r>
          </a:p>
        </p:txBody>
      </p:sp>
      <p:sp>
        <p:nvSpPr>
          <p:cNvPr id="32" name="persona-skill-3-dot-1"/>
          <p:cNvSpPr/>
          <p:nvPr/>
        </p:nvSpPr>
        <p:spPr>
          <a:xfrm>
            <a:off x="2743200" y="4972050"/>
            <a:ext cx="66675" cy="66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persona-skill-3-dot-2"/>
          <p:cNvSpPr/>
          <p:nvPr/>
        </p:nvSpPr>
        <p:spPr>
          <a:xfrm>
            <a:off x="2838450" y="4972050"/>
            <a:ext cx="66675" cy="66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persona-skill-3-dot-3"/>
          <p:cNvSpPr/>
          <p:nvPr/>
        </p:nvSpPr>
        <p:spPr>
          <a:xfrm>
            <a:off x="2933700" y="4972050"/>
            <a:ext cx="66675" cy="66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persona-skill-3-dot-4"/>
          <p:cNvSpPr/>
          <p:nvPr/>
        </p:nvSpPr>
        <p:spPr>
          <a:xfrm>
            <a:off x="3028950" y="4972050"/>
            <a:ext cx="66675" cy="6667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persona-skill-3-dot-5"/>
          <p:cNvSpPr/>
          <p:nvPr/>
        </p:nvSpPr>
        <p:spPr>
          <a:xfrm>
            <a:off x="3124200" y="4972050"/>
            <a:ext cx="66675" cy="6667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persona-skill-4-name"/>
          <p:cNvSpPr txBox="1"/>
          <p:nvPr/>
        </p:nvSpPr>
        <p:spPr>
          <a:xfrm>
            <a:off x="838200" y="51244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Coaching juniors at scale</a:t>
            </a:r>
          </a:p>
        </p:txBody>
      </p:sp>
      <p:sp>
        <p:nvSpPr>
          <p:cNvPr id="38" name="persona-skill-4-dot-1"/>
          <p:cNvSpPr/>
          <p:nvPr/>
        </p:nvSpPr>
        <p:spPr>
          <a:xfrm>
            <a:off x="2743200" y="5162550"/>
            <a:ext cx="66675" cy="66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persona-skill-4-dot-2"/>
          <p:cNvSpPr/>
          <p:nvPr/>
        </p:nvSpPr>
        <p:spPr>
          <a:xfrm>
            <a:off x="2838450" y="5162550"/>
            <a:ext cx="66675" cy="66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persona-skill-4-dot-3"/>
          <p:cNvSpPr/>
          <p:nvPr/>
        </p:nvSpPr>
        <p:spPr>
          <a:xfrm>
            <a:off x="2933700" y="5162550"/>
            <a:ext cx="66675" cy="6667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persona-skill-4-dot-4"/>
          <p:cNvSpPr/>
          <p:nvPr/>
        </p:nvSpPr>
        <p:spPr>
          <a:xfrm>
            <a:off x="3028950" y="5162550"/>
            <a:ext cx="66675" cy="6667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persona-skill-4-dot-5"/>
          <p:cNvSpPr/>
          <p:nvPr/>
        </p:nvSpPr>
        <p:spPr>
          <a:xfrm>
            <a:off x="3124200" y="5162550"/>
            <a:ext cx="66675" cy="6667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persona-divider"/>
          <p:cNvSpPr/>
          <p:nvPr/>
        </p:nvSpPr>
        <p:spPr>
          <a:xfrm>
            <a:off x="4038600" y="1619250"/>
            <a:ext cx="9525" cy="41910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persona-zone-goals-label"/>
          <p:cNvSpPr txBox="1"/>
          <p:nvPr/>
        </p:nvSpPr>
        <p:spPr>
          <a:xfrm>
            <a:off x="4305300" y="1847850"/>
            <a:ext cx="7010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EE7A7"/>
                </a:solidFill>
                <a:latin typeface="Inter"/>
              </a:rPr>
              <a:t>● GOALS — WHAT SHE'S PUSHING TOWARD</a:t>
            </a:r>
          </a:p>
        </p:txBody>
      </p:sp>
      <p:sp>
        <p:nvSpPr>
          <p:cNvPr id="45" name="persona-zone-goals-body-1"/>
          <p:cNvSpPr txBox="1"/>
          <p:nvPr/>
        </p:nvSpPr>
        <p:spPr>
          <a:xfrm>
            <a:off x="4305300" y="2057400"/>
            <a:ext cx="7010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▲  Ship partner-ready decks in under 5 days</a:t>
            </a:r>
          </a:p>
        </p:txBody>
      </p:sp>
      <p:sp>
        <p:nvSpPr>
          <p:cNvPr id="46" name="persona-zone-goals-body-2"/>
          <p:cNvSpPr txBox="1"/>
          <p:nvPr/>
        </p:nvSpPr>
        <p:spPr>
          <a:xfrm>
            <a:off x="4305300" y="2266950"/>
            <a:ext cx="7010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▲  Develop juniors without slowing herself down</a:t>
            </a:r>
          </a:p>
        </p:txBody>
      </p:sp>
      <p:sp>
        <p:nvSpPr>
          <p:cNvPr id="47" name="persona-zone-goals-body-3"/>
          <p:cNvSpPr txBox="1"/>
          <p:nvPr/>
        </p:nvSpPr>
        <p:spPr>
          <a:xfrm>
            <a:off x="4305300" y="2476500"/>
            <a:ext cx="7010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▲  Win the partner promotion within 18 months</a:t>
            </a:r>
          </a:p>
        </p:txBody>
      </p:sp>
      <p:sp>
        <p:nvSpPr>
          <p:cNvPr id="48" name="persona-zone-pains-label"/>
          <p:cNvSpPr txBox="1"/>
          <p:nvPr/>
        </p:nvSpPr>
        <p:spPr>
          <a:xfrm>
            <a:off x="4305300" y="3086100"/>
            <a:ext cx="7010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CA5A5"/>
                </a:solidFill>
                <a:latin typeface="Inter"/>
              </a:rPr>
              <a:t>● PAIN POINTS — WHAT BURNS HER WEEK</a:t>
            </a:r>
          </a:p>
        </p:txBody>
      </p:sp>
      <p:sp>
        <p:nvSpPr>
          <p:cNvPr id="49" name="persona-zone-pains-body-1"/>
          <p:cNvSpPr txBox="1"/>
          <p:nvPr/>
        </p:nvSpPr>
        <p:spPr>
          <a:xfrm>
            <a:off x="4305300" y="3295650"/>
            <a:ext cx="7010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▼  Reviews multiply through the engagement</a:t>
            </a:r>
          </a:p>
        </p:txBody>
      </p:sp>
      <p:sp>
        <p:nvSpPr>
          <p:cNvPr id="50" name="persona-zone-pains-body-2"/>
          <p:cNvSpPr txBox="1"/>
          <p:nvPr/>
        </p:nvSpPr>
        <p:spPr>
          <a:xfrm>
            <a:off x="4305300" y="3505200"/>
            <a:ext cx="7010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▼  Juniors hand her decks she has to rebuild</a:t>
            </a:r>
          </a:p>
        </p:txBody>
      </p:sp>
      <p:sp>
        <p:nvSpPr>
          <p:cNvPr id="51" name="persona-zone-pains-body-3"/>
          <p:cNvSpPr txBox="1"/>
          <p:nvPr/>
        </p:nvSpPr>
        <p:spPr>
          <a:xfrm>
            <a:off x="4305300" y="3714750"/>
            <a:ext cx="7010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▼  No framework for the storyline coaching she does on the fly</a:t>
            </a:r>
          </a:p>
        </p:txBody>
      </p:sp>
      <p:sp>
        <p:nvSpPr>
          <p:cNvPr id="52" name="persona-quote-bg"/>
          <p:cNvSpPr/>
          <p:nvPr/>
        </p:nvSpPr>
        <p:spPr>
          <a:xfrm>
            <a:off x="4229100" y="4972050"/>
            <a:ext cx="7162800" cy="647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quote-mark"/>
          <p:cNvSpPr txBox="1"/>
          <p:nvPr/>
        </p:nvSpPr>
        <p:spPr>
          <a:xfrm>
            <a:off x="4305300" y="4800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0" i="0">
                <a:solidFill>
                  <a:srgbClr val="C780FF"/>
                </a:solidFill>
                <a:latin typeface="Georgia"/>
              </a:rPr>
              <a:t>“</a:t>
            </a:r>
          </a:p>
        </p:txBody>
      </p:sp>
      <p:sp>
        <p:nvSpPr>
          <p:cNvPr id="54" name="persona-quote"/>
          <p:cNvSpPr txBox="1"/>
          <p:nvPr/>
        </p:nvSpPr>
        <p:spPr>
          <a:xfrm>
            <a:off x="4610100" y="5105400"/>
            <a:ext cx="5295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I spend more time on slide structure than slide content. That's backwards.</a:t>
            </a:r>
          </a:p>
        </p:txBody>
      </p:sp>
      <p:sp>
        <p:nvSpPr>
          <p:cNvPr id="55" name="persona-quote-attr"/>
          <p:cNvSpPr txBox="1"/>
          <p:nvPr/>
        </p:nvSpPr>
        <p:spPr>
          <a:xfrm>
            <a:off x="9982200" y="5200650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SARAH K. · WEEK 2</a:t>
            </a:r>
          </a:p>
        </p:txBody>
      </p:sp>
      <p:sp>
        <p:nvSpPr>
          <p:cNvPr id="5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