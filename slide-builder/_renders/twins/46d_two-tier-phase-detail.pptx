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476250"/>
            <a:ext cx="857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HOW THE SKILL WORKS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628650"/>
            <a:ext cx="104775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Two skills, one workflow: the thinking is locked before a single slide is designed.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920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Three sequential phases — structure, design, deliver. MDs read the chevrons; analysts read the detail underneath.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61925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header"/>
          <p:cNvSpPr/>
          <p:nvPr/>
        </p:nvSpPr>
        <p:spPr>
          <a:xfrm>
            <a:off x="457200" y="1885950"/>
            <a:ext cx="3752850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ep-1-num-bg"/>
          <p:cNvSpPr/>
          <p:nvPr/>
        </p:nvSpPr>
        <p:spPr>
          <a:xfrm>
            <a:off x="609600" y="2019300"/>
            <a:ext cx="323850" cy="3238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tep-1-num"/>
          <p:cNvSpPr txBox="1"/>
          <p:nvPr/>
        </p:nvSpPr>
        <p:spPr>
          <a:xfrm>
            <a:off x="609600" y="20193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step-1-eyebrow"/>
          <p:cNvSpPr txBox="1"/>
          <p:nvPr/>
        </p:nvSpPr>
        <p:spPr>
          <a:xfrm>
            <a:off x="1028700" y="2000250"/>
            <a:ext cx="2990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SLIDE-HELPER</a:t>
            </a:r>
          </a:p>
        </p:txBody>
      </p:sp>
      <p:sp>
        <p:nvSpPr>
          <p:cNvPr id="10" name="step-1-name"/>
          <p:cNvSpPr txBox="1"/>
          <p:nvPr/>
        </p:nvSpPr>
        <p:spPr>
          <a:xfrm>
            <a:off x="1028700" y="215265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STRUCTURE</a:t>
            </a:r>
          </a:p>
        </p:txBody>
      </p:sp>
      <p:sp>
        <p:nvSpPr>
          <p:cNvPr id="11" name="step-2-header"/>
          <p:cNvSpPr/>
          <p:nvPr/>
        </p:nvSpPr>
        <p:spPr>
          <a:xfrm>
            <a:off x="4210050" y="1885950"/>
            <a:ext cx="3752850" cy="6096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ep-2-num-bg"/>
          <p:cNvSpPr/>
          <p:nvPr/>
        </p:nvSpPr>
        <p:spPr>
          <a:xfrm>
            <a:off x="4362450" y="2019300"/>
            <a:ext cx="323850" cy="3238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step-2-num"/>
          <p:cNvSpPr txBox="1"/>
          <p:nvPr/>
        </p:nvSpPr>
        <p:spPr>
          <a:xfrm>
            <a:off x="4362450" y="20193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step-2-eyebrow"/>
          <p:cNvSpPr txBox="1"/>
          <p:nvPr/>
        </p:nvSpPr>
        <p:spPr>
          <a:xfrm>
            <a:off x="4781550" y="2000250"/>
            <a:ext cx="2990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0E0E0"/>
                </a:solidFill>
                <a:latin typeface="Inter"/>
              </a:rPr>
              <a:t>SLIDE-BUILDER</a:t>
            </a:r>
          </a:p>
        </p:txBody>
      </p:sp>
      <p:sp>
        <p:nvSpPr>
          <p:cNvPr id="15" name="step-2-name"/>
          <p:cNvSpPr txBox="1"/>
          <p:nvPr/>
        </p:nvSpPr>
        <p:spPr>
          <a:xfrm>
            <a:off x="4781550" y="215265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DESIGN</a:t>
            </a:r>
          </a:p>
        </p:txBody>
      </p:sp>
      <p:sp>
        <p:nvSpPr>
          <p:cNvPr id="16" name="step-3-header"/>
          <p:cNvSpPr/>
          <p:nvPr/>
        </p:nvSpPr>
        <p:spPr>
          <a:xfrm>
            <a:off x="7962900" y="1885950"/>
            <a:ext cx="37528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tep-3-num-bg"/>
          <p:cNvSpPr/>
          <p:nvPr/>
        </p:nvSpPr>
        <p:spPr>
          <a:xfrm>
            <a:off x="8115300" y="2019300"/>
            <a:ext cx="323850" cy="3238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3-num"/>
          <p:cNvSpPr txBox="1"/>
          <p:nvPr/>
        </p:nvSpPr>
        <p:spPr>
          <a:xfrm>
            <a:off x="8115300" y="2019300"/>
            <a:ext cx="3238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step-3-eyebrow"/>
          <p:cNvSpPr txBox="1"/>
          <p:nvPr/>
        </p:nvSpPr>
        <p:spPr>
          <a:xfrm>
            <a:off x="8534400" y="2000250"/>
            <a:ext cx="2990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0E0E0"/>
                </a:solidFill>
                <a:latin typeface="Inter"/>
              </a:rPr>
              <a:t>SLIDE-BUILDER</a:t>
            </a:r>
          </a:p>
        </p:txBody>
      </p:sp>
      <p:sp>
        <p:nvSpPr>
          <p:cNvPr id="20" name="step-3-name"/>
          <p:cNvSpPr txBox="1"/>
          <p:nvPr/>
        </p:nvSpPr>
        <p:spPr>
          <a:xfrm>
            <a:off x="8534400" y="215265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DELIVER</a:t>
            </a:r>
          </a:p>
        </p:txBody>
      </p:sp>
      <p:sp>
        <p:nvSpPr>
          <p:cNvPr id="21" name="step-1-panel"/>
          <p:cNvSpPr/>
          <p:nvPr/>
        </p:nvSpPr>
        <p:spPr>
          <a:xfrm>
            <a:off x="457200" y="2609850"/>
            <a:ext cx="3676650" cy="3524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-1-panel-accent"/>
          <p:cNvSpPr/>
          <p:nvPr/>
        </p:nvSpPr>
        <p:spPr>
          <a:xfrm>
            <a:off x="457200" y="2609850"/>
            <a:ext cx="367665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step-1-activities-label"/>
          <p:cNvSpPr txBox="1"/>
          <p:nvPr/>
        </p:nvSpPr>
        <p:spPr>
          <a:xfrm>
            <a:off x="609600" y="2743200"/>
            <a:ext cx="3371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HAPPENS IN THIS PHASE</a:t>
            </a:r>
          </a:p>
        </p:txBody>
      </p:sp>
      <p:sp>
        <p:nvSpPr>
          <p:cNvPr id="24" name="step-1-eyebrow-rule"/>
          <p:cNvSpPr/>
          <p:nvPr/>
        </p:nvSpPr>
        <p:spPr>
          <a:xfrm>
            <a:off x="609600" y="2914650"/>
            <a:ext cx="33718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step-1-activity-1-num"/>
          <p:cNvSpPr/>
          <p:nvPr/>
        </p:nvSpPr>
        <p:spPr>
          <a:xfrm>
            <a:off x="590550" y="306705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step-1-activity-1-num-text"/>
          <p:cNvSpPr txBox="1"/>
          <p:nvPr/>
        </p:nvSpPr>
        <p:spPr>
          <a:xfrm>
            <a:off x="590550" y="30670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</a:t>
            </a:r>
          </a:p>
        </p:txBody>
      </p:sp>
      <p:sp>
        <p:nvSpPr>
          <p:cNvPr id="27" name="step-1-activity-1-text"/>
          <p:cNvSpPr txBox="1"/>
          <p:nvPr/>
        </p:nvSpPr>
        <p:spPr>
          <a:xfrm>
            <a:off x="876300" y="302895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Template intake — drop your client .pptx; fonts, colors, layouts read automatically.</a:t>
            </a:r>
          </a:p>
        </p:txBody>
      </p:sp>
      <p:sp>
        <p:nvSpPr>
          <p:cNvPr id="28" name="step-1-activity-2-num"/>
          <p:cNvSpPr/>
          <p:nvPr/>
        </p:nvSpPr>
        <p:spPr>
          <a:xfrm>
            <a:off x="590550" y="358140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tep-1-activity-2-num-text"/>
          <p:cNvSpPr txBox="1"/>
          <p:nvPr/>
        </p:nvSpPr>
        <p:spPr>
          <a:xfrm>
            <a:off x="590550" y="3581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30" name="step-1-activity-2-text"/>
          <p:cNvSpPr txBox="1"/>
          <p:nvPr/>
        </p:nvSpPr>
        <p:spPr>
          <a:xfrm>
            <a:off x="876300" y="354330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Opening question — what are you trying to communicate? starts the structured conversation.</a:t>
            </a:r>
          </a:p>
        </p:txBody>
      </p:sp>
      <p:sp>
        <p:nvSpPr>
          <p:cNvPr id="31" name="step-1-activity-3-num"/>
          <p:cNvSpPr/>
          <p:nvPr/>
        </p:nvSpPr>
        <p:spPr>
          <a:xfrm>
            <a:off x="590550" y="409575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step-1-activity-3-num-text"/>
          <p:cNvSpPr txBox="1"/>
          <p:nvPr/>
        </p:nvSpPr>
        <p:spPr>
          <a:xfrm>
            <a:off x="590550" y="40957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33" name="step-1-activity-3-text"/>
          <p:cNvSpPr txBox="1"/>
          <p:nvPr/>
        </p:nvSpPr>
        <p:spPr>
          <a:xfrm>
            <a:off x="876300" y="405765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Audience + assumed knowledge — who sees it and what they already know going in.</a:t>
            </a:r>
          </a:p>
        </p:txBody>
      </p:sp>
      <p:sp>
        <p:nvSpPr>
          <p:cNvPr id="34" name="step-1-activity-4-num"/>
          <p:cNvSpPr/>
          <p:nvPr/>
        </p:nvSpPr>
        <p:spPr>
          <a:xfrm>
            <a:off x="590550" y="461010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tep-1-activity-4-num-text"/>
          <p:cNvSpPr txBox="1"/>
          <p:nvPr/>
        </p:nvSpPr>
        <p:spPr>
          <a:xfrm>
            <a:off x="590550" y="46101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4</a:t>
            </a:r>
          </a:p>
        </p:txBody>
      </p:sp>
      <p:sp>
        <p:nvSpPr>
          <p:cNvPr id="36" name="step-1-activity-4-text"/>
          <p:cNvSpPr txBox="1"/>
          <p:nvPr/>
        </p:nvSpPr>
        <p:spPr>
          <a:xfrm>
            <a:off x="876300" y="457200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Infer + confirm — page type, mode and governing thought reflected back, then confirmed.</a:t>
            </a:r>
          </a:p>
        </p:txBody>
      </p:sp>
      <p:sp>
        <p:nvSpPr>
          <p:cNvPr id="37" name="step-1-activity-5-num"/>
          <p:cNvSpPr/>
          <p:nvPr/>
        </p:nvSpPr>
        <p:spPr>
          <a:xfrm>
            <a:off x="590550" y="512445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step-1-activity-5-num-text"/>
          <p:cNvSpPr txBox="1"/>
          <p:nvPr/>
        </p:nvSpPr>
        <p:spPr>
          <a:xfrm>
            <a:off x="590550" y="51244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5</a:t>
            </a:r>
          </a:p>
        </p:txBody>
      </p:sp>
      <p:sp>
        <p:nvSpPr>
          <p:cNvPr id="39" name="step-1-activity-5-text"/>
          <p:cNvSpPr txBox="1"/>
          <p:nvPr/>
        </p:nvSpPr>
        <p:spPr>
          <a:xfrm>
            <a:off x="876300" y="5086350"/>
            <a:ext cx="310515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Deepen structure — 2-4 supporting buckets, evidence and risks locked in.</a:t>
            </a:r>
          </a:p>
        </p:txBody>
      </p:sp>
      <p:sp>
        <p:nvSpPr>
          <p:cNvPr id="40" name="step-1-output-bg"/>
          <p:cNvSpPr/>
          <p:nvPr/>
        </p:nvSpPr>
        <p:spPr>
          <a:xfrm>
            <a:off x="533400" y="5715000"/>
            <a:ext cx="3524250" cy="342900"/>
          </a:xfrm>
          <a:prstGeom prst="rect">
            <a:avLst/>
          </a:prstGeom>
          <a:solidFill>
            <a:srgbClr val="4A2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step-1-output-accent"/>
          <p:cNvSpPr/>
          <p:nvPr/>
        </p:nvSpPr>
        <p:spPr>
          <a:xfrm>
            <a:off x="533400" y="5715000"/>
            <a:ext cx="28575" cy="3429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step-1-output"/>
          <p:cNvSpPr txBox="1"/>
          <p:nvPr/>
        </p:nvSpPr>
        <p:spPr>
          <a:xfrm>
            <a:off x="628650" y="5791200"/>
            <a:ext cx="33718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→ Structured brief produced (complete handoff document)</a:t>
            </a:r>
          </a:p>
        </p:txBody>
      </p:sp>
      <p:sp>
        <p:nvSpPr>
          <p:cNvPr id="43" name="step-2-panel"/>
          <p:cNvSpPr/>
          <p:nvPr/>
        </p:nvSpPr>
        <p:spPr>
          <a:xfrm>
            <a:off x="4248150" y="2609850"/>
            <a:ext cx="3676650" cy="3524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step-2-panel-accent"/>
          <p:cNvSpPr/>
          <p:nvPr/>
        </p:nvSpPr>
        <p:spPr>
          <a:xfrm>
            <a:off x="4248150" y="2609850"/>
            <a:ext cx="3676650" cy="2857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step-2-activities-label"/>
          <p:cNvSpPr txBox="1"/>
          <p:nvPr/>
        </p:nvSpPr>
        <p:spPr>
          <a:xfrm>
            <a:off x="4400550" y="2743200"/>
            <a:ext cx="3371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HAPPENS IN THIS PHASE</a:t>
            </a:r>
          </a:p>
        </p:txBody>
      </p:sp>
      <p:sp>
        <p:nvSpPr>
          <p:cNvPr id="46" name="step-2-eyebrow-rule"/>
          <p:cNvSpPr/>
          <p:nvPr/>
        </p:nvSpPr>
        <p:spPr>
          <a:xfrm>
            <a:off x="4400550" y="2914650"/>
            <a:ext cx="33718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step-2-activity-1-num"/>
          <p:cNvSpPr/>
          <p:nvPr/>
        </p:nvSpPr>
        <p:spPr>
          <a:xfrm>
            <a:off x="4381500" y="306705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step-2-activity-1-num-text"/>
          <p:cNvSpPr txBox="1"/>
          <p:nvPr/>
        </p:nvSpPr>
        <p:spPr>
          <a:xfrm>
            <a:off x="4381500" y="30670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49" name="step-2-activity-1-text"/>
          <p:cNvSpPr txBox="1"/>
          <p:nvPr/>
        </p:nvSpPr>
        <p:spPr>
          <a:xfrm>
            <a:off x="4667250" y="30289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Reads brief + design rules — applies MBB slide conventions and page-type rules.</a:t>
            </a:r>
          </a:p>
        </p:txBody>
      </p:sp>
      <p:sp>
        <p:nvSpPr>
          <p:cNvPr id="50" name="step-2-activity-2-num"/>
          <p:cNvSpPr/>
          <p:nvPr/>
        </p:nvSpPr>
        <p:spPr>
          <a:xfrm>
            <a:off x="4381500" y="392430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step-2-activity-2-num-text"/>
          <p:cNvSpPr txBox="1"/>
          <p:nvPr/>
        </p:nvSpPr>
        <p:spPr>
          <a:xfrm>
            <a:off x="4381500" y="39243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52" name="step-2-activity-2-text"/>
          <p:cNvSpPr txBox="1"/>
          <p:nvPr/>
        </p:nvSpPr>
        <p:spPr>
          <a:xfrm>
            <a:off x="4667250" y="388620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Generates 3-4 visual mockup variations — each a structurally distinct layout bet.</a:t>
            </a:r>
          </a:p>
        </p:txBody>
      </p:sp>
      <p:sp>
        <p:nvSpPr>
          <p:cNvPr id="53" name="step-2-activity-3-num"/>
          <p:cNvSpPr/>
          <p:nvPr/>
        </p:nvSpPr>
        <p:spPr>
          <a:xfrm>
            <a:off x="4381500" y="4781550"/>
            <a:ext cx="2095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step-2-activity-3-num-text"/>
          <p:cNvSpPr txBox="1"/>
          <p:nvPr/>
        </p:nvSpPr>
        <p:spPr>
          <a:xfrm>
            <a:off x="4381500" y="4781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55" name="step-2-activity-3-text"/>
          <p:cNvSpPr txBox="1"/>
          <p:nvPr/>
        </p:nvSpPr>
        <p:spPr>
          <a:xfrm>
            <a:off x="4667250" y="47434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You select + refine — react, combine options or request changes; nothing locks until approved.</a:t>
            </a:r>
          </a:p>
        </p:txBody>
      </p:sp>
      <p:sp>
        <p:nvSpPr>
          <p:cNvPr id="56" name="step-2-output-bg"/>
          <p:cNvSpPr/>
          <p:nvPr/>
        </p:nvSpPr>
        <p:spPr>
          <a:xfrm>
            <a:off x="4324350" y="5715000"/>
            <a:ext cx="3524250" cy="342900"/>
          </a:xfrm>
          <a:prstGeom prst="rect">
            <a:avLst/>
          </a:prstGeom>
          <a:solidFill>
            <a:srgbClr val="422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step-2-output-accent"/>
          <p:cNvSpPr/>
          <p:nvPr/>
        </p:nvSpPr>
        <p:spPr>
          <a:xfrm>
            <a:off x="4324350" y="5715000"/>
            <a:ext cx="28575" cy="3429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tep-2-output"/>
          <p:cNvSpPr txBox="1"/>
          <p:nvPr/>
        </p:nvSpPr>
        <p:spPr>
          <a:xfrm>
            <a:off x="4419600" y="5791200"/>
            <a:ext cx="33718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→ Approved mockup produced (visual structure + content confirmed)</a:t>
            </a:r>
          </a:p>
        </p:txBody>
      </p:sp>
      <p:sp>
        <p:nvSpPr>
          <p:cNvPr id="59" name="step-3-panel"/>
          <p:cNvSpPr/>
          <p:nvPr/>
        </p:nvSpPr>
        <p:spPr>
          <a:xfrm>
            <a:off x="8039100" y="2609850"/>
            <a:ext cx="3676650" cy="35242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step-3-panel-accent"/>
          <p:cNvSpPr/>
          <p:nvPr/>
        </p:nvSpPr>
        <p:spPr>
          <a:xfrm>
            <a:off x="8039100" y="2609850"/>
            <a:ext cx="36766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step-3-activities-label"/>
          <p:cNvSpPr txBox="1"/>
          <p:nvPr/>
        </p:nvSpPr>
        <p:spPr>
          <a:xfrm>
            <a:off x="8191500" y="2743200"/>
            <a:ext cx="3371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HAPPENS IN THIS PHASE</a:t>
            </a:r>
          </a:p>
        </p:txBody>
      </p:sp>
      <p:sp>
        <p:nvSpPr>
          <p:cNvPr id="62" name="step-3-eyebrow-rule"/>
          <p:cNvSpPr/>
          <p:nvPr/>
        </p:nvSpPr>
        <p:spPr>
          <a:xfrm>
            <a:off x="8191500" y="2914650"/>
            <a:ext cx="33718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step-3-activity-1-num"/>
          <p:cNvSpPr/>
          <p:nvPr/>
        </p:nvSpPr>
        <p:spPr>
          <a:xfrm>
            <a:off x="8172450" y="30670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step-3-activity-1-num-text"/>
          <p:cNvSpPr txBox="1"/>
          <p:nvPr/>
        </p:nvSpPr>
        <p:spPr>
          <a:xfrm>
            <a:off x="8172450" y="30670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</a:t>
            </a:r>
          </a:p>
        </p:txBody>
      </p:sp>
      <p:sp>
        <p:nvSpPr>
          <p:cNvPr id="65" name="step-3-activity-1-text"/>
          <p:cNvSpPr txBox="1"/>
          <p:nvPr/>
        </p:nvSpPr>
        <p:spPr>
          <a:xfrm>
            <a:off x="8458200" y="30289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Builds slide in PPTX XML — uses your exact client template: fonts, colors, placeholder positions.</a:t>
            </a:r>
          </a:p>
        </p:txBody>
      </p:sp>
      <p:sp>
        <p:nvSpPr>
          <p:cNvPr id="66" name="step-3-activity-2-num"/>
          <p:cNvSpPr/>
          <p:nvPr/>
        </p:nvSpPr>
        <p:spPr>
          <a:xfrm>
            <a:off x="8172450" y="392430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step-3-activity-2-num-text"/>
          <p:cNvSpPr txBox="1"/>
          <p:nvPr/>
        </p:nvSpPr>
        <p:spPr>
          <a:xfrm>
            <a:off x="8172450" y="39243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68" name="step-3-activity-2-text"/>
          <p:cNvSpPr txBox="1"/>
          <p:nvPr/>
        </p:nvSpPr>
        <p:spPr>
          <a:xfrm>
            <a:off x="8458200" y="388620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QA'd as PDF before delivery — checked for overlaps, font errors, leftover placeholder text.</a:t>
            </a:r>
          </a:p>
        </p:txBody>
      </p:sp>
      <p:sp>
        <p:nvSpPr>
          <p:cNvPr id="69" name="step-3-activity-3-num"/>
          <p:cNvSpPr/>
          <p:nvPr/>
        </p:nvSpPr>
        <p:spPr>
          <a:xfrm>
            <a:off x="8172450" y="47815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step-3-activity-3-num-text"/>
          <p:cNvSpPr txBox="1"/>
          <p:nvPr/>
        </p:nvSpPr>
        <p:spPr>
          <a:xfrm>
            <a:off x="8172450" y="4781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11</a:t>
            </a:r>
          </a:p>
        </p:txBody>
      </p:sp>
      <p:sp>
        <p:nvSpPr>
          <p:cNvPr id="71" name="step-3-activity-3-text"/>
          <p:cNvSpPr txBox="1"/>
          <p:nvPr/>
        </p:nvSpPr>
        <p:spPr>
          <a:xfrm>
            <a:off x="8458200" y="47434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Delivered to your folder — clickable file link, opens in PowerPoint, ready to present.</a:t>
            </a:r>
          </a:p>
        </p:txBody>
      </p:sp>
      <p:sp>
        <p:nvSpPr>
          <p:cNvPr id="72" name="step-3-output-bg"/>
          <p:cNvSpPr/>
          <p:nvPr/>
        </p:nvSpPr>
        <p:spPr>
          <a:xfrm>
            <a:off x="8115300" y="5715000"/>
            <a:ext cx="3524250" cy="342900"/>
          </a:xfrm>
          <a:prstGeom prst="rect">
            <a:avLst/>
          </a:prstGeom>
          <a:solidFill>
            <a:srgbClr val="37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step-3-output-accent"/>
          <p:cNvSpPr/>
          <p:nvPr/>
        </p:nvSpPr>
        <p:spPr>
          <a:xfrm>
            <a:off x="8115300" y="5715000"/>
            <a:ext cx="28575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step-3-output"/>
          <p:cNvSpPr txBox="1"/>
          <p:nvPr/>
        </p:nvSpPr>
        <p:spPr>
          <a:xfrm>
            <a:off x="8210550" y="5791200"/>
            <a:ext cx="33718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→ Finished .pptx on your client template</a:t>
            </a:r>
          </a:p>
        </p:txBody>
      </p:sp>
      <p:sp>
        <p:nvSpPr>
          <p:cNvPr id="7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