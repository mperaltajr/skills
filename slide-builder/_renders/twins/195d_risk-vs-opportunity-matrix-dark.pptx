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FFFFFF"/>
                </a:solidFill>
                <a:latin typeface="Inter"/>
              </a:rPr>
              <a:t>Opportunity </a:t>
            </a:r>
            <a:r>
              <a:rPr sz="2100" b="1" i="0">
                <a:solidFill>
                  <a:srgbClr val="C780FF"/>
                </a:solidFill>
                <a:latin typeface="Inter"/>
              </a:rPr>
              <a:t>outweighs</a:t>
            </a:r>
            <a:r>
              <a:rPr sz="2100" b="1" i="0">
                <a:solidFill>
                  <a:srgbClr val="FFFFFF"/>
                </a:solidFill>
                <a:latin typeface="Inter"/>
              </a:rPr>
              <a:t> risk — with the right mitigations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Risk vs. Opportunity Matrix · Strategic initiative assessment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anel-1-bg"/>
          <p:cNvSpPr/>
          <p:nvPr/>
        </p:nvSpPr>
        <p:spPr>
          <a:xfrm>
            <a:off x="609600" y="2095500"/>
            <a:ext cx="5257800" cy="3619500"/>
          </a:xfrm>
          <a:prstGeom prst="rect">
            <a:avLst/>
          </a:prstGeom>
          <a:solidFill>
            <a:srgbClr val="4A1422"/>
          </a:solidFill>
          <a:ln w="9525">
            <a:solidFill>
              <a:srgbClr val="7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anel-1-header-bg"/>
          <p:cNvSpPr/>
          <p:nvPr/>
        </p:nvSpPr>
        <p:spPr>
          <a:xfrm>
            <a:off x="609600" y="2095500"/>
            <a:ext cx="5257800" cy="342900"/>
          </a:xfrm>
          <a:prstGeom prst="rect">
            <a:avLst/>
          </a:prstGeom>
          <a:solidFill>
            <a:srgbClr val="FB7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anel-1-icon"/>
          <p:cNvSpPr txBox="1"/>
          <p:nvPr/>
        </p:nvSpPr>
        <p:spPr>
          <a:xfrm>
            <a:off x="723900" y="21717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275">
                <a:solidFill>
                  <a:srgbClr val="FFFFFF"/>
                </a:solidFill>
                <a:latin typeface="Segoe UI Symbol"/>
              </a:rPr>
              <a:t>⚠</a:t>
            </a:r>
          </a:p>
        </p:txBody>
      </p:sp>
      <p:sp>
        <p:nvSpPr>
          <p:cNvPr id="8" name="panel-1-header"/>
          <p:cNvSpPr txBox="1"/>
          <p:nvPr/>
        </p:nvSpPr>
        <p:spPr>
          <a:xfrm>
            <a:off x="990600" y="2190750"/>
            <a:ext cx="4686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RISKS</a:t>
            </a:r>
          </a:p>
        </p:txBody>
      </p:sp>
      <p:sp>
        <p:nvSpPr>
          <p:cNvPr id="9" name="risk-1-bg"/>
          <p:cNvSpPr/>
          <p:nvPr/>
        </p:nvSpPr>
        <p:spPr>
          <a:xfrm>
            <a:off x="723900" y="2571750"/>
            <a:ext cx="5029200" cy="6858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risk-1-accent"/>
          <p:cNvSpPr/>
          <p:nvPr/>
        </p:nvSpPr>
        <p:spPr>
          <a:xfrm>
            <a:off x="723900" y="2571750"/>
            <a:ext cx="28575" cy="685800"/>
          </a:xfrm>
          <a:prstGeom prst="rect">
            <a:avLst/>
          </a:prstGeom>
          <a:solidFill>
            <a:srgbClr val="FB7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risk-1-badge"/>
          <p:cNvSpPr txBox="1"/>
          <p:nvPr/>
        </p:nvSpPr>
        <p:spPr>
          <a:xfrm>
            <a:off x="838200" y="2647950"/>
            <a:ext cx="666750" cy="133350"/>
          </a:xfrm>
          <a:prstGeom prst="rect">
            <a:avLst/>
          </a:prstGeom>
          <a:solidFill>
            <a:srgbClr val="FB7285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CRITICAL</a:t>
            </a:r>
          </a:p>
        </p:txBody>
      </p:sp>
      <p:sp>
        <p:nvSpPr>
          <p:cNvPr id="12" name="risk-1-desc"/>
          <p:cNvSpPr txBox="1"/>
          <p:nvPr/>
        </p:nvSpPr>
        <p:spPr>
          <a:xfrm>
            <a:off x="1562100" y="2647950"/>
            <a:ext cx="4114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Regulatory non-compliance in target markets</a:t>
            </a:r>
          </a:p>
        </p:txBody>
      </p:sp>
      <p:sp>
        <p:nvSpPr>
          <p:cNvPr id="13" name="risk-1-note"/>
          <p:cNvSpPr txBox="1"/>
          <p:nvPr/>
        </p:nvSpPr>
        <p:spPr>
          <a:xfrm>
            <a:off x="838200" y="28575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Mitigation: engage legal counsel Q1; complete gap analysis before go-live</a:t>
            </a:r>
          </a:p>
        </p:txBody>
      </p:sp>
      <p:sp>
        <p:nvSpPr>
          <p:cNvPr id="14" name="risk-2-bg"/>
          <p:cNvSpPr/>
          <p:nvPr/>
        </p:nvSpPr>
        <p:spPr>
          <a:xfrm>
            <a:off x="723900" y="3333750"/>
            <a:ext cx="5029200" cy="6858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risk-2-accent"/>
          <p:cNvSpPr/>
          <p:nvPr/>
        </p:nvSpPr>
        <p:spPr>
          <a:xfrm>
            <a:off x="723900" y="3333750"/>
            <a:ext cx="28575" cy="685800"/>
          </a:xfrm>
          <a:prstGeom prst="rect">
            <a:avLst/>
          </a:prstGeom>
          <a:solidFill>
            <a:srgbClr val="FB7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risk-2-badge"/>
          <p:cNvSpPr txBox="1"/>
          <p:nvPr/>
        </p:nvSpPr>
        <p:spPr>
          <a:xfrm>
            <a:off x="838200" y="3409950"/>
            <a:ext cx="666750" cy="133350"/>
          </a:xfrm>
          <a:prstGeom prst="rect">
            <a:avLst/>
          </a:prstGeom>
          <a:solidFill>
            <a:srgbClr val="FBA54C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HIGH</a:t>
            </a:r>
          </a:p>
        </p:txBody>
      </p:sp>
      <p:sp>
        <p:nvSpPr>
          <p:cNvPr id="17" name="risk-2-desc"/>
          <p:cNvSpPr txBox="1"/>
          <p:nvPr/>
        </p:nvSpPr>
        <p:spPr>
          <a:xfrm>
            <a:off x="1562100" y="3409950"/>
            <a:ext cx="4114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Key talent attrition during transition period</a:t>
            </a:r>
          </a:p>
        </p:txBody>
      </p:sp>
      <p:sp>
        <p:nvSpPr>
          <p:cNvPr id="18" name="risk-2-note"/>
          <p:cNvSpPr txBox="1"/>
          <p:nvPr/>
        </p:nvSpPr>
        <p:spPr>
          <a:xfrm>
            <a:off x="838200" y="36195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Mitigation: retention bonuses + accelerated role clarity by month 2</a:t>
            </a:r>
          </a:p>
        </p:txBody>
      </p:sp>
      <p:sp>
        <p:nvSpPr>
          <p:cNvPr id="19" name="risk-3-bg"/>
          <p:cNvSpPr/>
          <p:nvPr/>
        </p:nvSpPr>
        <p:spPr>
          <a:xfrm>
            <a:off x="723900" y="4095750"/>
            <a:ext cx="5029200" cy="6858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risk-3-accent"/>
          <p:cNvSpPr/>
          <p:nvPr/>
        </p:nvSpPr>
        <p:spPr>
          <a:xfrm>
            <a:off x="723900" y="4095750"/>
            <a:ext cx="28575" cy="685800"/>
          </a:xfrm>
          <a:prstGeom prst="rect">
            <a:avLst/>
          </a:prstGeom>
          <a:solidFill>
            <a:srgbClr val="FB7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isk-3-badge"/>
          <p:cNvSpPr txBox="1"/>
          <p:nvPr/>
        </p:nvSpPr>
        <p:spPr>
          <a:xfrm>
            <a:off x="838200" y="4171950"/>
            <a:ext cx="666750" cy="133350"/>
          </a:xfrm>
          <a:prstGeom prst="rect">
            <a:avLst/>
          </a:prstGeom>
          <a:solidFill>
            <a:srgbClr val="FBA54C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HIGH</a:t>
            </a:r>
          </a:p>
        </p:txBody>
      </p:sp>
      <p:sp>
        <p:nvSpPr>
          <p:cNvPr id="22" name="risk-3-desc"/>
          <p:cNvSpPr txBox="1"/>
          <p:nvPr/>
        </p:nvSpPr>
        <p:spPr>
          <a:xfrm>
            <a:off x="1562100" y="4171950"/>
            <a:ext cx="4114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migration integrity and system downtime</a:t>
            </a:r>
          </a:p>
        </p:txBody>
      </p:sp>
      <p:sp>
        <p:nvSpPr>
          <p:cNvPr id="23" name="risk-3-note"/>
          <p:cNvSpPr txBox="1"/>
          <p:nvPr/>
        </p:nvSpPr>
        <p:spPr>
          <a:xfrm>
            <a:off x="838200" y="43815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Mitigation: parallel-run legacy systems for 60 days; automated reconciliation</a:t>
            </a:r>
          </a:p>
        </p:txBody>
      </p:sp>
      <p:sp>
        <p:nvSpPr>
          <p:cNvPr id="24" name="risk-4-bg"/>
          <p:cNvSpPr/>
          <p:nvPr/>
        </p:nvSpPr>
        <p:spPr>
          <a:xfrm>
            <a:off x="723900" y="4857750"/>
            <a:ext cx="5029200" cy="6858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risk-4-accent"/>
          <p:cNvSpPr/>
          <p:nvPr/>
        </p:nvSpPr>
        <p:spPr>
          <a:xfrm>
            <a:off x="723900" y="4857750"/>
            <a:ext cx="28575" cy="685800"/>
          </a:xfrm>
          <a:prstGeom prst="rect">
            <a:avLst/>
          </a:prstGeom>
          <a:solidFill>
            <a:srgbClr val="FB7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isk-4-badge"/>
          <p:cNvSpPr txBox="1"/>
          <p:nvPr/>
        </p:nvSpPr>
        <p:spPr>
          <a:xfrm>
            <a:off x="838200" y="4933950"/>
            <a:ext cx="666750" cy="1333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MEDIUM</a:t>
            </a:r>
          </a:p>
        </p:txBody>
      </p:sp>
      <p:sp>
        <p:nvSpPr>
          <p:cNvPr id="27" name="risk-4-desc"/>
          <p:cNvSpPr txBox="1"/>
          <p:nvPr/>
        </p:nvSpPr>
        <p:spPr>
          <a:xfrm>
            <a:off x="1562100" y="4933950"/>
            <a:ext cx="4114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Stakeholder resistance slowing adoption curve</a:t>
            </a:r>
          </a:p>
        </p:txBody>
      </p:sp>
      <p:sp>
        <p:nvSpPr>
          <p:cNvPr id="28" name="risk-4-note"/>
          <p:cNvSpPr txBox="1"/>
          <p:nvPr/>
        </p:nvSpPr>
        <p:spPr>
          <a:xfrm>
            <a:off x="838200" y="51435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Mitigation: executive sponsorship + change-champion network in place</a:t>
            </a:r>
          </a:p>
        </p:txBody>
      </p:sp>
      <p:sp>
        <p:nvSpPr>
          <p:cNvPr id="29" name="divider-line"/>
          <p:cNvSpPr/>
          <p:nvPr/>
        </p:nvSpPr>
        <p:spPr>
          <a:xfrm>
            <a:off x="6096000" y="2095500"/>
            <a:ext cx="9525" cy="3619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divider-icon-bg"/>
          <p:cNvSpPr/>
          <p:nvPr/>
        </p:nvSpPr>
        <p:spPr>
          <a:xfrm>
            <a:off x="5943600" y="3752850"/>
            <a:ext cx="304800" cy="3048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divider-icon"/>
          <p:cNvSpPr txBox="1"/>
          <p:nvPr/>
        </p:nvSpPr>
        <p:spPr>
          <a:xfrm>
            <a:off x="5943600" y="37528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025">
                <a:solidFill>
                  <a:srgbClr val="C780FF"/>
                </a:solidFill>
                <a:latin typeface="Segoe UI Symbol"/>
              </a:rPr>
              <a:t>⚖</a:t>
            </a:r>
          </a:p>
        </p:txBody>
      </p:sp>
      <p:sp>
        <p:nvSpPr>
          <p:cNvPr id="32" name="panel-2-bg"/>
          <p:cNvSpPr/>
          <p:nvPr/>
        </p:nvSpPr>
        <p:spPr>
          <a:xfrm>
            <a:off x="6324600" y="2095500"/>
            <a:ext cx="5257800" cy="3619500"/>
          </a:xfrm>
          <a:prstGeom prst="rect">
            <a:avLst/>
          </a:prstGeom>
          <a:solidFill>
            <a:srgbClr val="0F3F2A"/>
          </a:solidFill>
          <a:ln w="9525">
            <a:solidFill>
              <a:srgbClr val="1F5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panel-2-header-bg"/>
          <p:cNvSpPr/>
          <p:nvPr/>
        </p:nvSpPr>
        <p:spPr>
          <a:xfrm>
            <a:off x="6324600" y="2095500"/>
            <a:ext cx="5257800" cy="3429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panel-2-icon"/>
          <p:cNvSpPr txBox="1"/>
          <p:nvPr/>
        </p:nvSpPr>
        <p:spPr>
          <a:xfrm>
            <a:off x="6438900" y="21717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275">
                <a:solidFill>
                  <a:srgbClr val="2D0A4E"/>
                </a:solidFill>
                <a:latin typeface="Segoe UI Symbol"/>
              </a:rPr>
              <a:t>★</a:t>
            </a:r>
          </a:p>
        </p:txBody>
      </p:sp>
      <p:sp>
        <p:nvSpPr>
          <p:cNvPr id="35" name="panel-2-header"/>
          <p:cNvSpPr txBox="1"/>
          <p:nvPr/>
        </p:nvSpPr>
        <p:spPr>
          <a:xfrm>
            <a:off x="6705600" y="2190750"/>
            <a:ext cx="4686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OPPORTUNITIES</a:t>
            </a:r>
          </a:p>
        </p:txBody>
      </p:sp>
      <p:sp>
        <p:nvSpPr>
          <p:cNvPr id="36" name="opp-1-bg"/>
          <p:cNvSpPr/>
          <p:nvPr/>
        </p:nvSpPr>
        <p:spPr>
          <a:xfrm>
            <a:off x="6438900" y="2571750"/>
            <a:ext cx="5029200" cy="6858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opp-1-accent"/>
          <p:cNvSpPr/>
          <p:nvPr/>
        </p:nvSpPr>
        <p:spPr>
          <a:xfrm>
            <a:off x="6438900" y="2571750"/>
            <a:ext cx="28575" cy="685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opp-1-badge"/>
          <p:cNvSpPr txBox="1"/>
          <p:nvPr/>
        </p:nvSpPr>
        <p:spPr>
          <a:xfrm>
            <a:off x="6553200" y="2647950"/>
            <a:ext cx="666750" cy="1333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HIGH</a:t>
            </a:r>
          </a:p>
        </p:txBody>
      </p:sp>
      <p:sp>
        <p:nvSpPr>
          <p:cNvPr id="39" name="opp-1-desc"/>
          <p:cNvSpPr txBox="1"/>
          <p:nvPr/>
        </p:nvSpPr>
        <p:spPr>
          <a:xfrm>
            <a:off x="7277100" y="2647950"/>
            <a:ext cx="4114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35% cost reduction through process automation</a:t>
            </a:r>
          </a:p>
        </p:txBody>
      </p:sp>
      <p:sp>
        <p:nvSpPr>
          <p:cNvPr id="40" name="opp-1-note"/>
          <p:cNvSpPr txBox="1"/>
          <p:nvPr/>
        </p:nvSpPr>
        <p:spPr>
          <a:xfrm>
            <a:off x="6553200" y="28575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Capture action: pilot automation in Finance by Q2; scale post-validation</a:t>
            </a:r>
          </a:p>
        </p:txBody>
      </p:sp>
      <p:sp>
        <p:nvSpPr>
          <p:cNvPr id="41" name="opp-2-bg"/>
          <p:cNvSpPr/>
          <p:nvPr/>
        </p:nvSpPr>
        <p:spPr>
          <a:xfrm>
            <a:off x="6438900" y="3333750"/>
            <a:ext cx="5029200" cy="6858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opp-2-accent"/>
          <p:cNvSpPr/>
          <p:nvPr/>
        </p:nvSpPr>
        <p:spPr>
          <a:xfrm>
            <a:off x="6438900" y="3333750"/>
            <a:ext cx="28575" cy="685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opp-2-badge"/>
          <p:cNvSpPr txBox="1"/>
          <p:nvPr/>
        </p:nvSpPr>
        <p:spPr>
          <a:xfrm>
            <a:off x="6553200" y="3409950"/>
            <a:ext cx="666750" cy="1333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HIGH</a:t>
            </a:r>
          </a:p>
        </p:txBody>
      </p:sp>
      <p:sp>
        <p:nvSpPr>
          <p:cNvPr id="44" name="opp-2-desc"/>
          <p:cNvSpPr txBox="1"/>
          <p:nvPr/>
        </p:nvSpPr>
        <p:spPr>
          <a:xfrm>
            <a:off x="7277100" y="3409950"/>
            <a:ext cx="4114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New revenue stream via platform-as-a-service model</a:t>
            </a:r>
          </a:p>
        </p:txBody>
      </p:sp>
      <p:sp>
        <p:nvSpPr>
          <p:cNvPr id="45" name="opp-2-note"/>
          <p:cNvSpPr txBox="1"/>
          <p:nvPr/>
        </p:nvSpPr>
        <p:spPr>
          <a:xfrm>
            <a:off x="6553200" y="36195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Capture action: identify anchor client for beta; target $8M ARR by year 2</a:t>
            </a:r>
          </a:p>
        </p:txBody>
      </p:sp>
      <p:sp>
        <p:nvSpPr>
          <p:cNvPr id="46" name="opp-3-bg"/>
          <p:cNvSpPr/>
          <p:nvPr/>
        </p:nvSpPr>
        <p:spPr>
          <a:xfrm>
            <a:off x="6438900" y="4095750"/>
            <a:ext cx="5029200" cy="6858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opp-3-accent"/>
          <p:cNvSpPr/>
          <p:nvPr/>
        </p:nvSpPr>
        <p:spPr>
          <a:xfrm>
            <a:off x="6438900" y="4095750"/>
            <a:ext cx="28575" cy="685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opp-3-badge"/>
          <p:cNvSpPr txBox="1"/>
          <p:nvPr/>
        </p:nvSpPr>
        <p:spPr>
          <a:xfrm>
            <a:off x="6553200" y="4171950"/>
            <a:ext cx="666750" cy="1333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MEDIUM</a:t>
            </a:r>
          </a:p>
        </p:txBody>
      </p:sp>
      <p:sp>
        <p:nvSpPr>
          <p:cNvPr id="49" name="opp-3-desc"/>
          <p:cNvSpPr txBox="1"/>
          <p:nvPr/>
        </p:nvSpPr>
        <p:spPr>
          <a:xfrm>
            <a:off x="7277100" y="4171950"/>
            <a:ext cx="4114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First-mover advantage in underserved mid-market segment</a:t>
            </a:r>
          </a:p>
        </p:txBody>
      </p:sp>
      <p:sp>
        <p:nvSpPr>
          <p:cNvPr id="50" name="opp-3-note"/>
          <p:cNvSpPr txBox="1"/>
          <p:nvPr/>
        </p:nvSpPr>
        <p:spPr>
          <a:xfrm>
            <a:off x="6553200" y="43815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Capture action: accelerate GTM launch; lock in 3 lighthouse accounts in H1</a:t>
            </a:r>
          </a:p>
        </p:txBody>
      </p:sp>
      <p:sp>
        <p:nvSpPr>
          <p:cNvPr id="51" name="opp-4-bg"/>
          <p:cNvSpPr/>
          <p:nvPr/>
        </p:nvSpPr>
        <p:spPr>
          <a:xfrm>
            <a:off x="6438900" y="4857750"/>
            <a:ext cx="5029200" cy="6858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opp-4-accent"/>
          <p:cNvSpPr/>
          <p:nvPr/>
        </p:nvSpPr>
        <p:spPr>
          <a:xfrm>
            <a:off x="6438900" y="4857750"/>
            <a:ext cx="28575" cy="685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opp-4-badge"/>
          <p:cNvSpPr txBox="1"/>
          <p:nvPr/>
        </p:nvSpPr>
        <p:spPr>
          <a:xfrm>
            <a:off x="6553200" y="4933950"/>
            <a:ext cx="666750" cy="1333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MEDIUM</a:t>
            </a:r>
          </a:p>
        </p:txBody>
      </p:sp>
      <p:sp>
        <p:nvSpPr>
          <p:cNvPr id="54" name="opp-4-desc"/>
          <p:cNvSpPr txBox="1"/>
          <p:nvPr/>
        </p:nvSpPr>
        <p:spPr>
          <a:xfrm>
            <a:off x="7277100" y="4933950"/>
            <a:ext cx="4114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Talent brand uplift attracting next-gen engineering talent</a:t>
            </a:r>
          </a:p>
        </p:txBody>
      </p:sp>
      <p:sp>
        <p:nvSpPr>
          <p:cNvPr id="55" name="opp-4-note"/>
          <p:cNvSpPr txBox="1"/>
          <p:nvPr/>
        </p:nvSpPr>
        <p:spPr>
          <a:xfrm>
            <a:off x="6553200" y="51435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Capture action: publish case study post-launch; partner with 2 universities</a:t>
            </a:r>
          </a:p>
        </p:txBody>
      </p:sp>
      <p:sp>
        <p:nvSpPr>
          <p:cNvPr id="56" name="convergence-bg"/>
          <p:cNvSpPr/>
          <p:nvPr/>
        </p:nvSpPr>
        <p:spPr>
          <a:xfrm>
            <a:off x="609600" y="5867400"/>
            <a:ext cx="10972800" cy="4191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convergence-accent"/>
          <p:cNvSpPr/>
          <p:nvPr/>
        </p:nvSpPr>
        <p:spPr>
          <a:xfrm>
            <a:off x="609600" y="5867400"/>
            <a:ext cx="38100" cy="419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onvergence-mark"/>
          <p:cNvSpPr txBox="1"/>
          <p:nvPr/>
        </p:nvSpPr>
        <p:spPr>
          <a:xfrm>
            <a:off x="742950" y="5943600"/>
            <a:ext cx="1238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NET ASSESSMENT</a:t>
            </a:r>
          </a:p>
        </p:txBody>
      </p:sp>
      <p:sp>
        <p:nvSpPr>
          <p:cNvPr id="59" name="convergence"/>
          <p:cNvSpPr txBox="1"/>
          <p:nvPr/>
        </p:nvSpPr>
        <p:spPr>
          <a:xfrm>
            <a:off x="2057400" y="5924550"/>
            <a:ext cx="9525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Opportunity outweighs risk if regulatory compliance and talent retention risks are mitigated by end of Q1 — estimated net value upside of $12–15M over 24 months.</a:t>
            </a:r>
          </a:p>
        </p:txBody>
      </p:sp>
      <p:sp>
        <p:nvSpPr>
          <p:cNvPr id="6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