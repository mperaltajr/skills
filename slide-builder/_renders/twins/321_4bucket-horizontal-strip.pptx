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Four pillars driving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sustainable growth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in 2026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Each dimension reflects a distinct lever with measurable outcomes and clear ownership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bucket-1-card"/>
          <p:cNvSpPr/>
          <p:nvPr/>
        </p:nvSpPr>
        <p:spPr>
          <a:xfrm>
            <a:off x="457200" y="1905000"/>
            <a:ext cx="2733675" cy="45148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bucket-1-ghost"/>
          <p:cNvSpPr txBox="1"/>
          <p:nvPr/>
        </p:nvSpPr>
        <p:spPr>
          <a:xfrm>
            <a:off x="590550" y="1981200"/>
            <a:ext cx="7620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350" b="1" i="0">
                <a:solidFill>
                  <a:srgbClr val="C780FF"/>
                </a:solidFill>
                <a:latin typeface="Inter"/>
              </a:rPr>
              <a:t>01</a:t>
            </a:r>
          </a:p>
        </p:txBody>
      </p:sp>
      <p:sp>
        <p:nvSpPr>
          <p:cNvPr id="7" name="bucket-1-num"/>
          <p:cNvSpPr txBox="1"/>
          <p:nvPr/>
        </p:nvSpPr>
        <p:spPr>
          <a:xfrm>
            <a:off x="2714625" y="203835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01</a:t>
            </a:r>
          </a:p>
        </p:txBody>
      </p:sp>
      <p:sp>
        <p:nvSpPr>
          <p:cNvPr id="8" name="bucket-1-title"/>
          <p:cNvSpPr txBox="1"/>
          <p:nvPr/>
        </p:nvSpPr>
        <p:spPr>
          <a:xfrm>
            <a:off x="590550" y="2628900"/>
            <a:ext cx="2466975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Market Expansion</a:t>
            </a:r>
          </a:p>
        </p:txBody>
      </p:sp>
      <p:sp>
        <p:nvSpPr>
          <p:cNvPr id="9" name="bucket-1-rule"/>
          <p:cNvSpPr/>
          <p:nvPr/>
        </p:nvSpPr>
        <p:spPr>
          <a:xfrm>
            <a:off x="590550" y="3086100"/>
            <a:ext cx="246697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bucket-1-bullet-1-dot"/>
          <p:cNvSpPr/>
          <p:nvPr/>
        </p:nvSpPr>
        <p:spPr>
          <a:xfrm>
            <a:off x="590550" y="332422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bucket-1-bullet-1-text"/>
          <p:cNvSpPr txBox="1"/>
          <p:nvPr/>
        </p:nvSpPr>
        <p:spPr>
          <a:xfrm>
            <a:off x="704850" y="3257550"/>
            <a:ext cx="235267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Enter three new geographic corridors by Q3</a:t>
            </a:r>
          </a:p>
        </p:txBody>
      </p:sp>
      <p:sp>
        <p:nvSpPr>
          <p:cNvPr id="12" name="bucket-1-bullet-2-dot"/>
          <p:cNvSpPr/>
          <p:nvPr/>
        </p:nvSpPr>
        <p:spPr>
          <a:xfrm>
            <a:off x="590550" y="372427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bucket-1-bullet-2-text"/>
          <p:cNvSpPr txBox="1"/>
          <p:nvPr/>
        </p:nvSpPr>
        <p:spPr>
          <a:xfrm>
            <a:off x="704850" y="3657600"/>
            <a:ext cx="235267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Leverage existing channel partner network</a:t>
            </a:r>
          </a:p>
        </p:txBody>
      </p:sp>
      <p:sp>
        <p:nvSpPr>
          <p:cNvPr id="14" name="bucket-1-bullet-3-dot"/>
          <p:cNvSpPr/>
          <p:nvPr/>
        </p:nvSpPr>
        <p:spPr>
          <a:xfrm>
            <a:off x="590550" y="412432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bucket-1-bullet-3-text"/>
          <p:cNvSpPr txBox="1"/>
          <p:nvPr/>
        </p:nvSpPr>
        <p:spPr>
          <a:xfrm>
            <a:off x="704850" y="4057650"/>
            <a:ext cx="235267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Localise go-to-market playbook per segment</a:t>
            </a:r>
          </a:p>
        </p:txBody>
      </p:sp>
      <p:sp>
        <p:nvSpPr>
          <p:cNvPr id="16" name="bucket-1-stat"/>
          <p:cNvSpPr txBox="1"/>
          <p:nvPr/>
        </p:nvSpPr>
        <p:spPr>
          <a:xfrm>
            <a:off x="590550" y="5848350"/>
            <a:ext cx="24669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A100FF"/>
                </a:solidFill>
                <a:latin typeface="Inter"/>
              </a:rPr>
              <a:t>+34%</a:t>
            </a:r>
          </a:p>
        </p:txBody>
      </p:sp>
      <p:sp>
        <p:nvSpPr>
          <p:cNvPr id="17" name="bucket-1-stat-label"/>
          <p:cNvSpPr txBox="1"/>
          <p:nvPr/>
        </p:nvSpPr>
        <p:spPr>
          <a:xfrm>
            <a:off x="590550" y="6134100"/>
            <a:ext cx="24669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ADDRESSABLE REACH</a:t>
            </a:r>
          </a:p>
        </p:txBody>
      </p:sp>
      <p:sp>
        <p:nvSpPr>
          <p:cNvPr id="18" name="bucket-2-card"/>
          <p:cNvSpPr/>
          <p:nvPr/>
        </p:nvSpPr>
        <p:spPr>
          <a:xfrm>
            <a:off x="3305175" y="1905000"/>
            <a:ext cx="2733675" cy="45148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bucket-2-ghost"/>
          <p:cNvSpPr txBox="1"/>
          <p:nvPr/>
        </p:nvSpPr>
        <p:spPr>
          <a:xfrm>
            <a:off x="3438525" y="1981200"/>
            <a:ext cx="7620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350" b="1" i="0">
                <a:solidFill>
                  <a:srgbClr val="C780FF"/>
                </a:solidFill>
                <a:latin typeface="Inter"/>
              </a:rPr>
              <a:t>02</a:t>
            </a:r>
          </a:p>
        </p:txBody>
      </p:sp>
      <p:sp>
        <p:nvSpPr>
          <p:cNvPr id="20" name="bucket-2-num"/>
          <p:cNvSpPr txBox="1"/>
          <p:nvPr/>
        </p:nvSpPr>
        <p:spPr>
          <a:xfrm>
            <a:off x="5562600" y="203835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02</a:t>
            </a:r>
          </a:p>
        </p:txBody>
      </p:sp>
      <p:sp>
        <p:nvSpPr>
          <p:cNvPr id="21" name="bucket-2-title"/>
          <p:cNvSpPr txBox="1"/>
          <p:nvPr/>
        </p:nvSpPr>
        <p:spPr>
          <a:xfrm>
            <a:off x="3438525" y="2628900"/>
            <a:ext cx="2466975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Product Velocity</a:t>
            </a:r>
          </a:p>
        </p:txBody>
      </p:sp>
      <p:sp>
        <p:nvSpPr>
          <p:cNvPr id="22" name="bucket-2-rule"/>
          <p:cNvSpPr/>
          <p:nvPr/>
        </p:nvSpPr>
        <p:spPr>
          <a:xfrm>
            <a:off x="3438525" y="3086100"/>
            <a:ext cx="246697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bucket-2-bullet-1-dot"/>
          <p:cNvSpPr/>
          <p:nvPr/>
        </p:nvSpPr>
        <p:spPr>
          <a:xfrm>
            <a:off x="3438525" y="332422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bucket-2-bullet-1-text"/>
          <p:cNvSpPr txBox="1"/>
          <p:nvPr/>
        </p:nvSpPr>
        <p:spPr>
          <a:xfrm>
            <a:off x="3552825" y="3257550"/>
            <a:ext cx="235267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Reduce release cycle from 8 weeks to 3</a:t>
            </a:r>
          </a:p>
        </p:txBody>
      </p:sp>
      <p:sp>
        <p:nvSpPr>
          <p:cNvPr id="25" name="bucket-2-bullet-2-dot"/>
          <p:cNvSpPr/>
          <p:nvPr/>
        </p:nvSpPr>
        <p:spPr>
          <a:xfrm>
            <a:off x="3438525" y="372427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bucket-2-bullet-2-text"/>
          <p:cNvSpPr txBox="1"/>
          <p:nvPr/>
        </p:nvSpPr>
        <p:spPr>
          <a:xfrm>
            <a:off x="3552825" y="3657600"/>
            <a:ext cx="235267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Ship modular feature sets for faster adoption</a:t>
            </a:r>
          </a:p>
        </p:txBody>
      </p:sp>
      <p:sp>
        <p:nvSpPr>
          <p:cNvPr id="27" name="bucket-2-bullet-3-dot"/>
          <p:cNvSpPr/>
          <p:nvPr/>
        </p:nvSpPr>
        <p:spPr>
          <a:xfrm>
            <a:off x="3438525" y="412432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bucket-2-bullet-3-text"/>
          <p:cNvSpPr txBox="1"/>
          <p:nvPr/>
        </p:nvSpPr>
        <p:spPr>
          <a:xfrm>
            <a:off x="3552825" y="4057650"/>
            <a:ext cx="235267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Implement continuous deployment pipeline</a:t>
            </a:r>
          </a:p>
        </p:txBody>
      </p:sp>
      <p:sp>
        <p:nvSpPr>
          <p:cNvPr id="29" name="bucket-2-stat"/>
          <p:cNvSpPr txBox="1"/>
          <p:nvPr/>
        </p:nvSpPr>
        <p:spPr>
          <a:xfrm>
            <a:off x="3438525" y="5848350"/>
            <a:ext cx="24669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A100FF"/>
                </a:solidFill>
                <a:latin typeface="Inter"/>
              </a:rPr>
              <a:t>3×</a:t>
            </a:r>
          </a:p>
        </p:txBody>
      </p:sp>
      <p:sp>
        <p:nvSpPr>
          <p:cNvPr id="30" name="bucket-2-stat-label"/>
          <p:cNvSpPr txBox="1"/>
          <p:nvPr/>
        </p:nvSpPr>
        <p:spPr>
          <a:xfrm>
            <a:off x="3438525" y="6134100"/>
            <a:ext cx="24669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FASTER TIME-TO-MARKET</a:t>
            </a:r>
          </a:p>
        </p:txBody>
      </p:sp>
      <p:sp>
        <p:nvSpPr>
          <p:cNvPr id="31" name="bucket-3-card"/>
          <p:cNvSpPr/>
          <p:nvPr/>
        </p:nvSpPr>
        <p:spPr>
          <a:xfrm>
            <a:off x="6153150" y="1905000"/>
            <a:ext cx="2733675" cy="45148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bucket-3-ghost"/>
          <p:cNvSpPr txBox="1"/>
          <p:nvPr/>
        </p:nvSpPr>
        <p:spPr>
          <a:xfrm>
            <a:off x="6286500" y="1981200"/>
            <a:ext cx="7620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350" b="1" i="0">
                <a:solidFill>
                  <a:srgbClr val="C780FF"/>
                </a:solidFill>
                <a:latin typeface="Inter"/>
              </a:rPr>
              <a:t>03</a:t>
            </a:r>
          </a:p>
        </p:txBody>
      </p:sp>
      <p:sp>
        <p:nvSpPr>
          <p:cNvPr id="33" name="bucket-3-num"/>
          <p:cNvSpPr txBox="1"/>
          <p:nvPr/>
        </p:nvSpPr>
        <p:spPr>
          <a:xfrm>
            <a:off x="8410575" y="203835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03</a:t>
            </a:r>
          </a:p>
        </p:txBody>
      </p:sp>
      <p:sp>
        <p:nvSpPr>
          <p:cNvPr id="34" name="bucket-3-title"/>
          <p:cNvSpPr txBox="1"/>
          <p:nvPr/>
        </p:nvSpPr>
        <p:spPr>
          <a:xfrm>
            <a:off x="6286500" y="2628900"/>
            <a:ext cx="2466975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Talent &amp; Culture</a:t>
            </a:r>
          </a:p>
        </p:txBody>
      </p:sp>
      <p:sp>
        <p:nvSpPr>
          <p:cNvPr id="35" name="bucket-3-rule"/>
          <p:cNvSpPr/>
          <p:nvPr/>
        </p:nvSpPr>
        <p:spPr>
          <a:xfrm>
            <a:off x="6286500" y="3086100"/>
            <a:ext cx="246697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bucket-3-bullet-1-dot"/>
          <p:cNvSpPr/>
          <p:nvPr/>
        </p:nvSpPr>
        <p:spPr>
          <a:xfrm>
            <a:off x="6286500" y="332422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bucket-3-bullet-1-text"/>
          <p:cNvSpPr txBox="1"/>
          <p:nvPr/>
        </p:nvSpPr>
        <p:spPr>
          <a:xfrm>
            <a:off x="6400800" y="3257550"/>
            <a:ext cx="235267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Upskill 60% of workforce in AI-adjacent roles</a:t>
            </a:r>
          </a:p>
        </p:txBody>
      </p:sp>
      <p:sp>
        <p:nvSpPr>
          <p:cNvPr id="38" name="bucket-3-bullet-2-dot"/>
          <p:cNvSpPr/>
          <p:nvPr/>
        </p:nvSpPr>
        <p:spPr>
          <a:xfrm>
            <a:off x="6286500" y="372427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bucket-3-bullet-2-text"/>
          <p:cNvSpPr txBox="1"/>
          <p:nvPr/>
        </p:nvSpPr>
        <p:spPr>
          <a:xfrm>
            <a:off x="6400800" y="3657600"/>
            <a:ext cx="235267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Introduce structured cross-functional rotations</a:t>
            </a:r>
          </a:p>
        </p:txBody>
      </p:sp>
      <p:sp>
        <p:nvSpPr>
          <p:cNvPr id="40" name="bucket-3-bullet-3-dot"/>
          <p:cNvSpPr/>
          <p:nvPr/>
        </p:nvSpPr>
        <p:spPr>
          <a:xfrm>
            <a:off x="6286500" y="412432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bucket-3-bullet-3-text"/>
          <p:cNvSpPr txBox="1"/>
          <p:nvPr/>
        </p:nvSpPr>
        <p:spPr>
          <a:xfrm>
            <a:off x="6400800" y="4057650"/>
            <a:ext cx="235267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Tie performance KPIs to innovation outcomes</a:t>
            </a:r>
          </a:p>
        </p:txBody>
      </p:sp>
      <p:sp>
        <p:nvSpPr>
          <p:cNvPr id="42" name="bucket-3-stat"/>
          <p:cNvSpPr txBox="1"/>
          <p:nvPr/>
        </p:nvSpPr>
        <p:spPr>
          <a:xfrm>
            <a:off x="6286500" y="5848350"/>
            <a:ext cx="24669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A100FF"/>
                </a:solidFill>
                <a:latin typeface="Inter"/>
              </a:rPr>
              <a:t>↑18 pts</a:t>
            </a:r>
          </a:p>
        </p:txBody>
      </p:sp>
      <p:sp>
        <p:nvSpPr>
          <p:cNvPr id="43" name="bucket-3-stat-label"/>
          <p:cNvSpPr txBox="1"/>
          <p:nvPr/>
        </p:nvSpPr>
        <p:spPr>
          <a:xfrm>
            <a:off x="6286500" y="6134100"/>
            <a:ext cx="24669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ENGAGEMENT SCORE</a:t>
            </a:r>
          </a:p>
        </p:txBody>
      </p:sp>
      <p:sp>
        <p:nvSpPr>
          <p:cNvPr id="44" name="bucket-4-card"/>
          <p:cNvSpPr/>
          <p:nvPr/>
        </p:nvSpPr>
        <p:spPr>
          <a:xfrm>
            <a:off x="9001125" y="1905000"/>
            <a:ext cx="2733675" cy="45148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bucket-4-ghost"/>
          <p:cNvSpPr txBox="1"/>
          <p:nvPr/>
        </p:nvSpPr>
        <p:spPr>
          <a:xfrm>
            <a:off x="9134475" y="1981200"/>
            <a:ext cx="7620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350" b="1" i="0">
                <a:solidFill>
                  <a:srgbClr val="C780FF"/>
                </a:solidFill>
                <a:latin typeface="Inter"/>
              </a:rPr>
              <a:t>04</a:t>
            </a:r>
          </a:p>
        </p:txBody>
      </p:sp>
      <p:sp>
        <p:nvSpPr>
          <p:cNvPr id="46" name="bucket-4-num"/>
          <p:cNvSpPr txBox="1"/>
          <p:nvPr/>
        </p:nvSpPr>
        <p:spPr>
          <a:xfrm>
            <a:off x="11258550" y="203835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04</a:t>
            </a:r>
          </a:p>
        </p:txBody>
      </p:sp>
      <p:sp>
        <p:nvSpPr>
          <p:cNvPr id="47" name="bucket-4-title"/>
          <p:cNvSpPr txBox="1"/>
          <p:nvPr/>
        </p:nvSpPr>
        <p:spPr>
          <a:xfrm>
            <a:off x="9134475" y="2628900"/>
            <a:ext cx="2466975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Operational Efficiency</a:t>
            </a:r>
          </a:p>
        </p:txBody>
      </p:sp>
      <p:sp>
        <p:nvSpPr>
          <p:cNvPr id="48" name="bucket-4-rule"/>
          <p:cNvSpPr/>
          <p:nvPr/>
        </p:nvSpPr>
        <p:spPr>
          <a:xfrm>
            <a:off x="9134475" y="3086100"/>
            <a:ext cx="246697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bucket-4-bullet-1-dot"/>
          <p:cNvSpPr/>
          <p:nvPr/>
        </p:nvSpPr>
        <p:spPr>
          <a:xfrm>
            <a:off x="9134475" y="332422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bucket-4-bullet-1-text"/>
          <p:cNvSpPr txBox="1"/>
          <p:nvPr/>
        </p:nvSpPr>
        <p:spPr>
          <a:xfrm>
            <a:off x="9248775" y="3257550"/>
            <a:ext cx="235267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Automate 40% of repetitive back-office tasks</a:t>
            </a:r>
          </a:p>
        </p:txBody>
      </p:sp>
      <p:sp>
        <p:nvSpPr>
          <p:cNvPr id="51" name="bucket-4-bullet-2-dot"/>
          <p:cNvSpPr/>
          <p:nvPr/>
        </p:nvSpPr>
        <p:spPr>
          <a:xfrm>
            <a:off x="9134475" y="372427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bucket-4-bullet-2-text"/>
          <p:cNvSpPr txBox="1"/>
          <p:nvPr/>
        </p:nvSpPr>
        <p:spPr>
          <a:xfrm>
            <a:off x="9248775" y="3657600"/>
            <a:ext cx="235267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Consolidate vendor portfolio by 25% in year one</a:t>
            </a:r>
          </a:p>
        </p:txBody>
      </p:sp>
      <p:sp>
        <p:nvSpPr>
          <p:cNvPr id="53" name="bucket-4-bullet-3-dot"/>
          <p:cNvSpPr/>
          <p:nvPr/>
        </p:nvSpPr>
        <p:spPr>
          <a:xfrm>
            <a:off x="9134475" y="412432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bucket-4-bullet-3-text"/>
          <p:cNvSpPr txBox="1"/>
          <p:nvPr/>
        </p:nvSpPr>
        <p:spPr>
          <a:xfrm>
            <a:off x="9248775" y="4057650"/>
            <a:ext cx="2352675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Standardise reporting across all business units</a:t>
            </a:r>
          </a:p>
        </p:txBody>
      </p:sp>
      <p:sp>
        <p:nvSpPr>
          <p:cNvPr id="55" name="bucket-4-stat"/>
          <p:cNvSpPr txBox="1"/>
          <p:nvPr/>
        </p:nvSpPr>
        <p:spPr>
          <a:xfrm>
            <a:off x="9134475" y="5848350"/>
            <a:ext cx="24669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A100FF"/>
                </a:solidFill>
                <a:latin typeface="Inter"/>
              </a:rPr>
              <a:t>$12M</a:t>
            </a:r>
          </a:p>
        </p:txBody>
      </p:sp>
      <p:sp>
        <p:nvSpPr>
          <p:cNvPr id="56" name="bucket-4-stat-label"/>
          <p:cNvSpPr txBox="1"/>
          <p:nvPr/>
        </p:nvSpPr>
        <p:spPr>
          <a:xfrm>
            <a:off x="9134475" y="6134100"/>
            <a:ext cx="24669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PROJECTED ANNUAL SAVINGS</a:t>
            </a:r>
          </a:p>
        </p:txBody>
      </p:sp>
      <p:sp>
        <p:nvSpPr>
          <p:cNvPr id="5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