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190500"/>
            <a:ext cx="112776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1A1A2E"/>
                </a:solidFill>
                <a:latin typeface="Inter"/>
              </a:rPr>
              <a:t>Strategic priorities require </a:t>
            </a:r>
            <a:r>
              <a:rPr sz="2400" b="1" i="0">
                <a:solidFill>
                  <a:srgbClr val="2D0A4E"/>
                </a:solidFill>
                <a:latin typeface="Inter"/>
              </a:rPr>
              <a:t>one clear focal point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57200" y="914400"/>
            <a:ext cx="101346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How the seven value buckets map to delivery outcomes and measurable client impact</a:t>
            </a:r>
          </a:p>
        </p:txBody>
      </p:sp>
      <p:sp>
        <p:nvSpPr>
          <p:cNvPr id="4" name="brand-rule"/>
          <p:cNvSpPr/>
          <p:nvPr/>
        </p:nvSpPr>
        <p:spPr>
          <a:xfrm>
            <a:off x="457200" y="1123950"/>
            <a:ext cx="6096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hero-card"/>
          <p:cNvSpPr/>
          <p:nvPr/>
        </p:nvSpPr>
        <p:spPr>
          <a:xfrm>
            <a:off x="457200" y="1905000"/>
            <a:ext cx="4191000" cy="4514850"/>
          </a:xfrm>
          <a:prstGeom prst="rect">
            <a:avLst/>
          </a:prstGeom>
          <a:solidFill>
            <a:srgbClr val="FFFFFF"/>
          </a:solidFill>
          <a:ln w="190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hero-top"/>
          <p:cNvSpPr/>
          <p:nvPr/>
        </p:nvSpPr>
        <p:spPr>
          <a:xfrm>
            <a:off x="457200" y="1905000"/>
            <a:ext cx="4191000" cy="38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hero-label"/>
          <p:cNvSpPr txBox="1"/>
          <p:nvPr/>
        </p:nvSpPr>
        <p:spPr>
          <a:xfrm>
            <a:off x="685800" y="2095500"/>
            <a:ext cx="37338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PRIMARY DRIVER · 01</a:t>
            </a:r>
          </a:p>
        </p:txBody>
      </p:sp>
      <p:sp>
        <p:nvSpPr>
          <p:cNvPr id="8" name="hero-title"/>
          <p:cNvSpPr txBox="1"/>
          <p:nvPr/>
        </p:nvSpPr>
        <p:spPr>
          <a:xfrm>
            <a:off x="685800" y="2343150"/>
            <a:ext cx="3733800" cy="628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650" b="1" i="0">
                <a:solidFill>
                  <a:srgbClr val="2D0A4E"/>
                </a:solidFill>
                <a:latin typeface="Inter"/>
              </a:rPr>
              <a:t>Accelerate Core Platform Modernisation</a:t>
            </a:r>
          </a:p>
        </p:txBody>
      </p:sp>
      <p:sp>
        <p:nvSpPr>
          <p:cNvPr id="9" name="hero-rule"/>
          <p:cNvSpPr/>
          <p:nvPr/>
        </p:nvSpPr>
        <p:spPr>
          <a:xfrm>
            <a:off x="685800" y="3086100"/>
            <a:ext cx="4572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hero-desc"/>
          <p:cNvSpPr txBox="1"/>
          <p:nvPr/>
        </p:nvSpPr>
        <p:spPr>
          <a:xfrm>
            <a:off x="685800" y="3276600"/>
            <a:ext cx="3733800" cy="1619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Migrate legacy transaction systems to a cloud-native architecture, reducing operational latency by consolidating data pipelines and eliminating redundant middleware across all business units.</a:t>
            </a:r>
          </a:p>
        </p:txBody>
      </p:sp>
      <p:sp>
        <p:nvSpPr>
          <p:cNvPr id="11" name="hero-metric-label"/>
          <p:cNvSpPr txBox="1"/>
          <p:nvPr/>
        </p:nvSpPr>
        <p:spPr>
          <a:xfrm>
            <a:off x="685800" y="5505450"/>
            <a:ext cx="37338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PROJECTED EFFICIENCY GAIN</a:t>
            </a:r>
          </a:p>
        </p:txBody>
      </p:sp>
      <p:sp>
        <p:nvSpPr>
          <p:cNvPr id="12" name="hero-metric"/>
          <p:cNvSpPr txBox="1"/>
          <p:nvPr/>
        </p:nvSpPr>
        <p:spPr>
          <a:xfrm>
            <a:off x="685800" y="5695950"/>
            <a:ext cx="3733800" cy="533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3150" b="1" i="0">
                <a:solidFill>
                  <a:srgbClr val="A100FF"/>
                </a:solidFill>
                <a:latin typeface="Inter"/>
              </a:rPr>
              <a:t>↑ 43%</a:t>
            </a:r>
          </a:p>
        </p:txBody>
      </p:sp>
      <p:sp>
        <p:nvSpPr>
          <p:cNvPr id="13" name="bucket-2-card"/>
          <p:cNvSpPr/>
          <p:nvPr/>
        </p:nvSpPr>
        <p:spPr>
          <a:xfrm>
            <a:off x="4800600" y="1905000"/>
            <a:ext cx="2228850" cy="2200275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bucket-2-top"/>
          <p:cNvSpPr/>
          <p:nvPr/>
        </p:nvSpPr>
        <p:spPr>
          <a:xfrm>
            <a:off x="4800600" y="1905000"/>
            <a:ext cx="22288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bucket-2-num"/>
          <p:cNvSpPr txBox="1"/>
          <p:nvPr/>
        </p:nvSpPr>
        <p:spPr>
          <a:xfrm>
            <a:off x="4914900" y="2000250"/>
            <a:ext cx="381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02</a:t>
            </a:r>
          </a:p>
        </p:txBody>
      </p:sp>
      <p:sp>
        <p:nvSpPr>
          <p:cNvPr id="16" name="bucket-2-title"/>
          <p:cNvSpPr txBox="1"/>
          <p:nvPr/>
        </p:nvSpPr>
        <p:spPr>
          <a:xfrm>
            <a:off x="4914900" y="2171700"/>
            <a:ext cx="20002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Data Governance &amp; Quality</a:t>
            </a:r>
          </a:p>
        </p:txBody>
      </p:sp>
      <p:sp>
        <p:nvSpPr>
          <p:cNvPr id="17" name="bucket-2-bullet-1"/>
          <p:cNvSpPr txBox="1"/>
          <p:nvPr/>
        </p:nvSpPr>
        <p:spPr>
          <a:xfrm>
            <a:off x="4914900" y="2419350"/>
            <a:ext cx="20002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– Establish single source of truth across domains</a:t>
            </a:r>
          </a:p>
        </p:txBody>
      </p:sp>
      <p:sp>
        <p:nvSpPr>
          <p:cNvPr id="18" name="bucket-2-bullet-2"/>
          <p:cNvSpPr txBox="1"/>
          <p:nvPr/>
        </p:nvSpPr>
        <p:spPr>
          <a:xfrm>
            <a:off x="4914900" y="2628900"/>
            <a:ext cx="20002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– Automate data lineage and classification tagging</a:t>
            </a:r>
          </a:p>
        </p:txBody>
      </p:sp>
      <p:sp>
        <p:nvSpPr>
          <p:cNvPr id="19" name="bucket-3-card"/>
          <p:cNvSpPr/>
          <p:nvPr/>
        </p:nvSpPr>
        <p:spPr>
          <a:xfrm>
            <a:off x="7143750" y="1905000"/>
            <a:ext cx="2228850" cy="2200275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" name="bucket-3-top"/>
          <p:cNvSpPr/>
          <p:nvPr/>
        </p:nvSpPr>
        <p:spPr>
          <a:xfrm>
            <a:off x="7143750" y="1905000"/>
            <a:ext cx="22288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bucket-3-num"/>
          <p:cNvSpPr txBox="1"/>
          <p:nvPr/>
        </p:nvSpPr>
        <p:spPr>
          <a:xfrm>
            <a:off x="7258050" y="2000250"/>
            <a:ext cx="381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03</a:t>
            </a:r>
          </a:p>
        </p:txBody>
      </p:sp>
      <p:sp>
        <p:nvSpPr>
          <p:cNvPr id="22" name="bucket-3-title"/>
          <p:cNvSpPr txBox="1"/>
          <p:nvPr/>
        </p:nvSpPr>
        <p:spPr>
          <a:xfrm>
            <a:off x="7258050" y="2171700"/>
            <a:ext cx="20002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Workforce Enablement</a:t>
            </a:r>
          </a:p>
        </p:txBody>
      </p:sp>
      <p:sp>
        <p:nvSpPr>
          <p:cNvPr id="23" name="bucket-3-bullet-1"/>
          <p:cNvSpPr txBox="1"/>
          <p:nvPr/>
        </p:nvSpPr>
        <p:spPr>
          <a:xfrm>
            <a:off x="7258050" y="2419350"/>
            <a:ext cx="20002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– Deploy role-based learning paths at scale</a:t>
            </a:r>
          </a:p>
        </p:txBody>
      </p:sp>
      <p:sp>
        <p:nvSpPr>
          <p:cNvPr id="24" name="bucket-3-bullet-2"/>
          <p:cNvSpPr txBox="1"/>
          <p:nvPr/>
        </p:nvSpPr>
        <p:spPr>
          <a:xfrm>
            <a:off x="7258050" y="2628900"/>
            <a:ext cx="20002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– Reduce onboarding time by 30% via tooling</a:t>
            </a:r>
          </a:p>
        </p:txBody>
      </p:sp>
      <p:sp>
        <p:nvSpPr>
          <p:cNvPr id="25" name="bucket-4-card"/>
          <p:cNvSpPr/>
          <p:nvPr/>
        </p:nvSpPr>
        <p:spPr>
          <a:xfrm>
            <a:off x="9486900" y="1905000"/>
            <a:ext cx="2228850" cy="2200275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" name="bucket-4-top"/>
          <p:cNvSpPr/>
          <p:nvPr/>
        </p:nvSpPr>
        <p:spPr>
          <a:xfrm>
            <a:off x="9486900" y="1905000"/>
            <a:ext cx="22288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" name="bucket-4-num"/>
          <p:cNvSpPr txBox="1"/>
          <p:nvPr/>
        </p:nvSpPr>
        <p:spPr>
          <a:xfrm>
            <a:off x="9601200" y="2000250"/>
            <a:ext cx="381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04</a:t>
            </a:r>
          </a:p>
        </p:txBody>
      </p:sp>
      <p:sp>
        <p:nvSpPr>
          <p:cNvPr id="28" name="bucket-4-title"/>
          <p:cNvSpPr txBox="1"/>
          <p:nvPr/>
        </p:nvSpPr>
        <p:spPr>
          <a:xfrm>
            <a:off x="9601200" y="2171700"/>
            <a:ext cx="20002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Cybersecurity Posture</a:t>
            </a:r>
          </a:p>
        </p:txBody>
      </p:sp>
      <p:sp>
        <p:nvSpPr>
          <p:cNvPr id="29" name="bucket-4-bullet-1"/>
          <p:cNvSpPr txBox="1"/>
          <p:nvPr/>
        </p:nvSpPr>
        <p:spPr>
          <a:xfrm>
            <a:off x="9601200" y="2419350"/>
            <a:ext cx="20002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– Zero-trust architecture across all endpoints</a:t>
            </a:r>
          </a:p>
        </p:txBody>
      </p:sp>
      <p:sp>
        <p:nvSpPr>
          <p:cNvPr id="30" name="bucket-4-bullet-2"/>
          <p:cNvSpPr txBox="1"/>
          <p:nvPr/>
        </p:nvSpPr>
        <p:spPr>
          <a:xfrm>
            <a:off x="9601200" y="2628900"/>
            <a:ext cx="20002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– Continuous threat monitoring and response</a:t>
            </a:r>
          </a:p>
        </p:txBody>
      </p:sp>
      <p:sp>
        <p:nvSpPr>
          <p:cNvPr id="31" name="bucket-5-card"/>
          <p:cNvSpPr/>
          <p:nvPr/>
        </p:nvSpPr>
        <p:spPr>
          <a:xfrm>
            <a:off x="4800600" y="4219575"/>
            <a:ext cx="2228850" cy="2200275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2" name="bucket-5-top"/>
          <p:cNvSpPr/>
          <p:nvPr/>
        </p:nvSpPr>
        <p:spPr>
          <a:xfrm>
            <a:off x="4800600" y="4219575"/>
            <a:ext cx="22288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3" name="bucket-5-num"/>
          <p:cNvSpPr txBox="1"/>
          <p:nvPr/>
        </p:nvSpPr>
        <p:spPr>
          <a:xfrm>
            <a:off x="4914900" y="4314825"/>
            <a:ext cx="381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05</a:t>
            </a:r>
          </a:p>
        </p:txBody>
      </p:sp>
      <p:sp>
        <p:nvSpPr>
          <p:cNvPr id="34" name="bucket-5-title"/>
          <p:cNvSpPr txBox="1"/>
          <p:nvPr/>
        </p:nvSpPr>
        <p:spPr>
          <a:xfrm>
            <a:off x="4914900" y="4486275"/>
            <a:ext cx="20002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Customer Experience</a:t>
            </a:r>
          </a:p>
        </p:txBody>
      </p:sp>
      <p:sp>
        <p:nvSpPr>
          <p:cNvPr id="35" name="bucket-5-bullet-1"/>
          <p:cNvSpPr txBox="1"/>
          <p:nvPr/>
        </p:nvSpPr>
        <p:spPr>
          <a:xfrm>
            <a:off x="4914900" y="4733925"/>
            <a:ext cx="20002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– Unify digital channels into one journey layer</a:t>
            </a:r>
          </a:p>
        </p:txBody>
      </p:sp>
      <p:sp>
        <p:nvSpPr>
          <p:cNvPr id="36" name="bucket-5-bullet-2"/>
          <p:cNvSpPr txBox="1"/>
          <p:nvPr/>
        </p:nvSpPr>
        <p:spPr>
          <a:xfrm>
            <a:off x="4914900" y="4943475"/>
            <a:ext cx="20002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– Real-time personalisation at touchpoints</a:t>
            </a:r>
          </a:p>
        </p:txBody>
      </p:sp>
      <p:sp>
        <p:nvSpPr>
          <p:cNvPr id="37" name="bucket-6-card"/>
          <p:cNvSpPr/>
          <p:nvPr/>
        </p:nvSpPr>
        <p:spPr>
          <a:xfrm>
            <a:off x="7143750" y="4219575"/>
            <a:ext cx="2228850" cy="2200275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8" name="bucket-6-top"/>
          <p:cNvSpPr/>
          <p:nvPr/>
        </p:nvSpPr>
        <p:spPr>
          <a:xfrm>
            <a:off x="7143750" y="4219575"/>
            <a:ext cx="22288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9" name="bucket-6-num"/>
          <p:cNvSpPr txBox="1"/>
          <p:nvPr/>
        </p:nvSpPr>
        <p:spPr>
          <a:xfrm>
            <a:off x="7258050" y="4314825"/>
            <a:ext cx="381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06</a:t>
            </a:r>
          </a:p>
        </p:txBody>
      </p:sp>
      <p:sp>
        <p:nvSpPr>
          <p:cNvPr id="40" name="bucket-6-title"/>
          <p:cNvSpPr txBox="1"/>
          <p:nvPr/>
        </p:nvSpPr>
        <p:spPr>
          <a:xfrm>
            <a:off x="7258050" y="4486275"/>
            <a:ext cx="20002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Sustainability Metrics</a:t>
            </a:r>
          </a:p>
        </p:txBody>
      </p:sp>
      <p:sp>
        <p:nvSpPr>
          <p:cNvPr id="41" name="bucket-6-bullet-1"/>
          <p:cNvSpPr txBox="1"/>
          <p:nvPr/>
        </p:nvSpPr>
        <p:spPr>
          <a:xfrm>
            <a:off x="7258050" y="4733925"/>
            <a:ext cx="20002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– Carbon reporting integrated in financial close</a:t>
            </a:r>
          </a:p>
        </p:txBody>
      </p:sp>
      <p:sp>
        <p:nvSpPr>
          <p:cNvPr id="42" name="bucket-6-bullet-2"/>
          <p:cNvSpPr txBox="1"/>
          <p:nvPr/>
        </p:nvSpPr>
        <p:spPr>
          <a:xfrm>
            <a:off x="7258050" y="4943475"/>
            <a:ext cx="20002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– Scope 3 supplier data ingestion pipeline</a:t>
            </a:r>
          </a:p>
        </p:txBody>
      </p:sp>
      <p:sp>
        <p:nvSpPr>
          <p:cNvPr id="43" name="bucket-7-card"/>
          <p:cNvSpPr/>
          <p:nvPr/>
        </p:nvSpPr>
        <p:spPr>
          <a:xfrm>
            <a:off x="9486900" y="4219575"/>
            <a:ext cx="2228850" cy="2200275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4" name="bucket-7-top"/>
          <p:cNvSpPr/>
          <p:nvPr/>
        </p:nvSpPr>
        <p:spPr>
          <a:xfrm>
            <a:off x="9486900" y="4219575"/>
            <a:ext cx="22288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5" name="bucket-7-num"/>
          <p:cNvSpPr txBox="1"/>
          <p:nvPr/>
        </p:nvSpPr>
        <p:spPr>
          <a:xfrm>
            <a:off x="9601200" y="4314825"/>
            <a:ext cx="381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07</a:t>
            </a:r>
          </a:p>
        </p:txBody>
      </p:sp>
      <p:sp>
        <p:nvSpPr>
          <p:cNvPr id="46" name="bucket-7-title"/>
          <p:cNvSpPr txBox="1"/>
          <p:nvPr/>
        </p:nvSpPr>
        <p:spPr>
          <a:xfrm>
            <a:off x="9601200" y="4486275"/>
            <a:ext cx="20002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Innovation Velocity</a:t>
            </a:r>
          </a:p>
        </p:txBody>
      </p:sp>
      <p:sp>
        <p:nvSpPr>
          <p:cNvPr id="47" name="bucket-7-bullet-1"/>
          <p:cNvSpPr txBox="1"/>
          <p:nvPr/>
        </p:nvSpPr>
        <p:spPr>
          <a:xfrm>
            <a:off x="9601200" y="4733925"/>
            <a:ext cx="20002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– Accelerate idea-to-pilot cycle to under 6 weeks</a:t>
            </a:r>
          </a:p>
        </p:txBody>
      </p:sp>
      <p:sp>
        <p:nvSpPr>
          <p:cNvPr id="48" name="bucket-7-bullet-2"/>
          <p:cNvSpPr txBox="1"/>
          <p:nvPr/>
        </p:nvSpPr>
        <p:spPr>
          <a:xfrm>
            <a:off x="9601200" y="4943475"/>
            <a:ext cx="20002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– Dedicated sandbox with production data proxies</a:t>
            </a:r>
          </a:p>
        </p:txBody>
      </p:sp>
      <p:sp>
        <p:nvSpPr>
          <p:cNvPr id="49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50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51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332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