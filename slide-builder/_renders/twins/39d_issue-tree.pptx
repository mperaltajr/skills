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Why are decks slow — three levels of MECE decomposition.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Branching by mutually exclusive categories surfaces where time actually leaks — not where it feels slow.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ree-root"/>
          <p:cNvSpPr/>
          <p:nvPr/>
        </p:nvSpPr>
        <p:spPr>
          <a:xfrm>
            <a:off x="533400" y="3314700"/>
            <a:ext cx="2286000" cy="762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ree-root-tag"/>
          <p:cNvSpPr txBox="1"/>
          <p:nvPr/>
        </p:nvSpPr>
        <p:spPr>
          <a:xfrm>
            <a:off x="666750" y="3448050"/>
            <a:ext cx="2019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ROOT QUESTION</a:t>
            </a:r>
          </a:p>
        </p:txBody>
      </p:sp>
      <p:sp>
        <p:nvSpPr>
          <p:cNvPr id="7" name="tree-root-label"/>
          <p:cNvSpPr txBox="1"/>
          <p:nvPr/>
        </p:nvSpPr>
        <p:spPr>
          <a:xfrm>
            <a:off x="666750" y="36195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Why are decks slow to produce?</a:t>
            </a:r>
          </a:p>
        </p:txBody>
      </p:sp>
      <p:sp>
        <p:nvSpPr>
          <p:cNvPr id="8" name="tree-l1-1"/>
          <p:cNvSpPr/>
          <p:nvPr/>
        </p:nvSpPr>
        <p:spPr>
          <a:xfrm>
            <a:off x="4343400" y="1943100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ree-l1-1-tag"/>
          <p:cNvSpPr txBox="1"/>
          <p:nvPr/>
        </p:nvSpPr>
        <p:spPr>
          <a:xfrm>
            <a:off x="4476750" y="2038350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10" name="tree-l1-1-label"/>
          <p:cNvSpPr txBox="1"/>
          <p:nvPr/>
        </p:nvSpPr>
        <p:spPr>
          <a:xfrm>
            <a:off x="4476750" y="217170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Authoring is slow</a:t>
            </a:r>
          </a:p>
        </p:txBody>
      </p:sp>
      <p:sp>
        <p:nvSpPr>
          <p:cNvPr id="11" name="tree-l1-2"/>
          <p:cNvSpPr/>
          <p:nvPr/>
        </p:nvSpPr>
        <p:spPr>
          <a:xfrm>
            <a:off x="4343400" y="3400425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ree-l1-2-tag"/>
          <p:cNvSpPr txBox="1"/>
          <p:nvPr/>
        </p:nvSpPr>
        <p:spPr>
          <a:xfrm>
            <a:off x="4476750" y="349567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</a:t>
            </a:r>
          </a:p>
        </p:txBody>
      </p:sp>
      <p:sp>
        <p:nvSpPr>
          <p:cNvPr id="13" name="tree-l1-2-label"/>
          <p:cNvSpPr txBox="1"/>
          <p:nvPr/>
        </p:nvSpPr>
        <p:spPr>
          <a:xfrm>
            <a:off x="4476750" y="3629025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Reviews multiply</a:t>
            </a:r>
          </a:p>
        </p:txBody>
      </p:sp>
      <p:sp>
        <p:nvSpPr>
          <p:cNvPr id="14" name="tree-l1-3"/>
          <p:cNvSpPr/>
          <p:nvPr/>
        </p:nvSpPr>
        <p:spPr>
          <a:xfrm>
            <a:off x="4343400" y="4857750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ree-l1-3-tag"/>
          <p:cNvSpPr txBox="1"/>
          <p:nvPr/>
        </p:nvSpPr>
        <p:spPr>
          <a:xfrm>
            <a:off x="4476750" y="4953000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</a:t>
            </a:r>
          </a:p>
        </p:txBody>
      </p:sp>
      <p:sp>
        <p:nvSpPr>
          <p:cNvPr id="16" name="tree-l1-3-label"/>
          <p:cNvSpPr txBox="1"/>
          <p:nvPr/>
        </p:nvSpPr>
        <p:spPr>
          <a:xfrm>
            <a:off x="4476750" y="508635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Rework after partner</a:t>
            </a:r>
          </a:p>
        </p:txBody>
      </p:sp>
      <p:sp>
        <p:nvSpPr>
          <p:cNvPr id="17" name="tree-l2-1-1"/>
          <p:cNvSpPr/>
          <p:nvPr/>
        </p:nvSpPr>
        <p:spPr>
          <a:xfrm>
            <a:off x="7772400" y="1714500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ree-l2-1-1-tag"/>
          <p:cNvSpPr txBox="1"/>
          <p:nvPr/>
        </p:nvSpPr>
        <p:spPr>
          <a:xfrm>
            <a:off x="7905750" y="17716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A1</a:t>
            </a:r>
          </a:p>
        </p:txBody>
      </p:sp>
      <p:sp>
        <p:nvSpPr>
          <p:cNvPr id="19" name="tree-l2-1-1-label"/>
          <p:cNvSpPr txBox="1"/>
          <p:nvPr/>
        </p:nvSpPr>
        <p:spPr>
          <a:xfrm>
            <a:off x="7905750" y="190500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No starting structure</a:t>
            </a:r>
          </a:p>
        </p:txBody>
      </p:sp>
      <p:sp>
        <p:nvSpPr>
          <p:cNvPr id="20" name="tree-l2-1-2"/>
          <p:cNvSpPr/>
          <p:nvPr/>
        </p:nvSpPr>
        <p:spPr>
          <a:xfrm>
            <a:off x="7772400" y="2324100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ree-l2-1-2-tag"/>
          <p:cNvSpPr txBox="1"/>
          <p:nvPr/>
        </p:nvSpPr>
        <p:spPr>
          <a:xfrm>
            <a:off x="7905750" y="23812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A2</a:t>
            </a:r>
          </a:p>
        </p:txBody>
      </p:sp>
      <p:sp>
        <p:nvSpPr>
          <p:cNvPr id="22" name="tree-l2-1-2-label"/>
          <p:cNvSpPr txBox="1"/>
          <p:nvPr/>
        </p:nvSpPr>
        <p:spPr>
          <a:xfrm>
            <a:off x="7905750" y="251460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Workstreams unsynthesized</a:t>
            </a:r>
          </a:p>
        </p:txBody>
      </p:sp>
      <p:sp>
        <p:nvSpPr>
          <p:cNvPr id="23" name="tree-l2-2-1"/>
          <p:cNvSpPr/>
          <p:nvPr/>
        </p:nvSpPr>
        <p:spPr>
          <a:xfrm>
            <a:off x="7772400" y="3171825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ree-l2-2-1-tag"/>
          <p:cNvSpPr txBox="1"/>
          <p:nvPr/>
        </p:nvSpPr>
        <p:spPr>
          <a:xfrm>
            <a:off x="7905750" y="3228975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B1</a:t>
            </a:r>
          </a:p>
        </p:txBody>
      </p:sp>
      <p:sp>
        <p:nvSpPr>
          <p:cNvPr id="25" name="tree-l2-2-1-label"/>
          <p:cNvSpPr txBox="1"/>
          <p:nvPr/>
        </p:nvSpPr>
        <p:spPr>
          <a:xfrm>
            <a:off x="7905750" y="3362325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Reviewers add ideas (no subtraction)</a:t>
            </a:r>
          </a:p>
        </p:txBody>
      </p:sp>
      <p:sp>
        <p:nvSpPr>
          <p:cNvPr id="26" name="tree-l2-2-2"/>
          <p:cNvSpPr/>
          <p:nvPr/>
        </p:nvSpPr>
        <p:spPr>
          <a:xfrm>
            <a:off x="7772400" y="3781425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ree-l2-2-2-tag"/>
          <p:cNvSpPr txBox="1"/>
          <p:nvPr/>
        </p:nvSpPr>
        <p:spPr>
          <a:xfrm>
            <a:off x="7905750" y="3838575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B2</a:t>
            </a:r>
          </a:p>
        </p:txBody>
      </p:sp>
      <p:sp>
        <p:nvSpPr>
          <p:cNvPr id="28" name="tree-l2-2-2-label"/>
          <p:cNvSpPr txBox="1"/>
          <p:nvPr/>
        </p:nvSpPr>
        <p:spPr>
          <a:xfrm>
            <a:off x="7905750" y="3971925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Multiple parallel reviewers</a:t>
            </a:r>
          </a:p>
        </p:txBody>
      </p:sp>
      <p:sp>
        <p:nvSpPr>
          <p:cNvPr id="29" name="tree-l2-3-1"/>
          <p:cNvSpPr/>
          <p:nvPr/>
        </p:nvSpPr>
        <p:spPr>
          <a:xfrm>
            <a:off x="7772400" y="4629150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ree-l2-3-1-tag"/>
          <p:cNvSpPr txBox="1"/>
          <p:nvPr/>
        </p:nvSpPr>
        <p:spPr>
          <a:xfrm>
            <a:off x="7905750" y="46863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C1</a:t>
            </a:r>
          </a:p>
        </p:txBody>
      </p:sp>
      <p:sp>
        <p:nvSpPr>
          <p:cNvPr id="31" name="tree-l2-3-1-label"/>
          <p:cNvSpPr txBox="1"/>
          <p:nvPr/>
        </p:nvSpPr>
        <p:spPr>
          <a:xfrm>
            <a:off x="7905750" y="481965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Late argument changes</a:t>
            </a:r>
          </a:p>
        </p:txBody>
      </p:sp>
      <p:sp>
        <p:nvSpPr>
          <p:cNvPr id="32" name="tree-l2-3-2"/>
          <p:cNvSpPr/>
          <p:nvPr/>
        </p:nvSpPr>
        <p:spPr>
          <a:xfrm>
            <a:off x="7772400" y="5238750"/>
            <a:ext cx="2667000" cy="514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ree-l2-3-2-tag"/>
          <p:cNvSpPr txBox="1"/>
          <p:nvPr/>
        </p:nvSpPr>
        <p:spPr>
          <a:xfrm>
            <a:off x="7905750" y="52959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C2</a:t>
            </a:r>
          </a:p>
        </p:txBody>
      </p:sp>
      <p:sp>
        <p:nvSpPr>
          <p:cNvPr id="34" name="tree-l2-3-2-label"/>
          <p:cNvSpPr txBox="1"/>
          <p:nvPr/>
        </p:nvSpPr>
        <p:spPr>
          <a:xfrm>
            <a:off x="7905750" y="542925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Visual treatment redone</a:t>
            </a:r>
          </a:p>
        </p:txBody>
      </p:sp>
      <p:sp>
        <p:nvSpPr>
          <p:cNvPr id="35" name="conn-root-stub"/>
          <p:cNvSpPr/>
          <p:nvPr/>
        </p:nvSpPr>
        <p:spPr>
          <a:xfrm>
            <a:off x="2819400" y="3695700"/>
            <a:ext cx="762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nn-root-v-1"/>
          <p:cNvSpPr/>
          <p:nvPr/>
        </p:nvSpPr>
        <p:spPr>
          <a:xfrm>
            <a:off x="3581400" y="2238375"/>
            <a:ext cx="9525" cy="14573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n-root-h-1"/>
          <p:cNvSpPr/>
          <p:nvPr/>
        </p:nvSpPr>
        <p:spPr>
          <a:xfrm>
            <a:off x="3581400" y="223837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nn-root-arrow-1-1"/>
          <p:cNvSpPr/>
          <p:nvPr/>
        </p:nvSpPr>
        <p:spPr>
          <a:xfrm>
            <a:off x="4295775" y="22193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nn-root-arrow-1-2"/>
          <p:cNvSpPr/>
          <p:nvPr/>
        </p:nvSpPr>
        <p:spPr>
          <a:xfrm>
            <a:off x="4295775" y="22288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nn-root-arrow-1-3"/>
          <p:cNvSpPr/>
          <p:nvPr/>
        </p:nvSpPr>
        <p:spPr>
          <a:xfrm>
            <a:off x="4295775" y="223837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nn-root-arrow-1-4"/>
          <p:cNvSpPr/>
          <p:nvPr/>
        </p:nvSpPr>
        <p:spPr>
          <a:xfrm>
            <a:off x="4295775" y="22479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nn-root-arrow-1-5"/>
          <p:cNvSpPr/>
          <p:nvPr/>
        </p:nvSpPr>
        <p:spPr>
          <a:xfrm>
            <a:off x="4295775" y="22574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n-root-h-2"/>
          <p:cNvSpPr/>
          <p:nvPr/>
        </p:nvSpPr>
        <p:spPr>
          <a:xfrm>
            <a:off x="3581400" y="3695700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nn-root-arrow-2-1"/>
          <p:cNvSpPr/>
          <p:nvPr/>
        </p:nvSpPr>
        <p:spPr>
          <a:xfrm>
            <a:off x="4295775" y="36766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onn-root-arrow-2-2"/>
          <p:cNvSpPr/>
          <p:nvPr/>
        </p:nvSpPr>
        <p:spPr>
          <a:xfrm>
            <a:off x="4295775" y="368617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n-root-arrow-2-3"/>
          <p:cNvSpPr/>
          <p:nvPr/>
        </p:nvSpPr>
        <p:spPr>
          <a:xfrm>
            <a:off x="4295775" y="3695700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nn-root-arrow-2-4"/>
          <p:cNvSpPr/>
          <p:nvPr/>
        </p:nvSpPr>
        <p:spPr>
          <a:xfrm>
            <a:off x="4295775" y="370522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nn-root-arrow-2-5"/>
          <p:cNvSpPr/>
          <p:nvPr/>
        </p:nvSpPr>
        <p:spPr>
          <a:xfrm>
            <a:off x="4295775" y="37147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nn-root-v-3"/>
          <p:cNvSpPr/>
          <p:nvPr/>
        </p:nvSpPr>
        <p:spPr>
          <a:xfrm>
            <a:off x="3581400" y="3695700"/>
            <a:ext cx="9525" cy="14573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nn-root-h-3"/>
          <p:cNvSpPr/>
          <p:nvPr/>
        </p:nvSpPr>
        <p:spPr>
          <a:xfrm>
            <a:off x="3581400" y="515302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onn-root-arrow-3-1"/>
          <p:cNvSpPr/>
          <p:nvPr/>
        </p:nvSpPr>
        <p:spPr>
          <a:xfrm>
            <a:off x="4295775" y="51339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nn-root-arrow-3-2"/>
          <p:cNvSpPr/>
          <p:nvPr/>
        </p:nvSpPr>
        <p:spPr>
          <a:xfrm>
            <a:off x="4295775" y="51435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onn-root-arrow-3-3"/>
          <p:cNvSpPr/>
          <p:nvPr/>
        </p:nvSpPr>
        <p:spPr>
          <a:xfrm>
            <a:off x="4295775" y="515302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nn-root-arrow-3-4"/>
          <p:cNvSpPr/>
          <p:nvPr/>
        </p:nvSpPr>
        <p:spPr>
          <a:xfrm>
            <a:off x="4295775" y="51625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n-root-arrow-3-5"/>
          <p:cNvSpPr/>
          <p:nvPr/>
        </p:nvSpPr>
        <p:spPr>
          <a:xfrm>
            <a:off x="4295775" y="51720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n-l1-1-stub"/>
          <p:cNvSpPr/>
          <p:nvPr/>
        </p:nvSpPr>
        <p:spPr>
          <a:xfrm>
            <a:off x="6248400" y="2238375"/>
            <a:ext cx="762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n-l1-1-v-1"/>
          <p:cNvSpPr/>
          <p:nvPr/>
        </p:nvSpPr>
        <p:spPr>
          <a:xfrm>
            <a:off x="7010400" y="1971675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n-l1-1-h-1"/>
          <p:cNvSpPr/>
          <p:nvPr/>
        </p:nvSpPr>
        <p:spPr>
          <a:xfrm>
            <a:off x="7010400" y="197167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onn-l1-1-arrow-1-1"/>
          <p:cNvSpPr/>
          <p:nvPr/>
        </p:nvSpPr>
        <p:spPr>
          <a:xfrm>
            <a:off x="7724775" y="19526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onn-l1-1-arrow-1-2"/>
          <p:cNvSpPr/>
          <p:nvPr/>
        </p:nvSpPr>
        <p:spPr>
          <a:xfrm>
            <a:off x="7724775" y="19621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onn-l1-1-arrow-1-3"/>
          <p:cNvSpPr/>
          <p:nvPr/>
        </p:nvSpPr>
        <p:spPr>
          <a:xfrm>
            <a:off x="7724775" y="197167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onn-l1-1-arrow-1-4"/>
          <p:cNvSpPr/>
          <p:nvPr/>
        </p:nvSpPr>
        <p:spPr>
          <a:xfrm>
            <a:off x="7724775" y="19812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onn-l1-1-arrow-1-5"/>
          <p:cNvSpPr/>
          <p:nvPr/>
        </p:nvSpPr>
        <p:spPr>
          <a:xfrm>
            <a:off x="7724775" y="19907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onn-l1-1-v-2"/>
          <p:cNvSpPr/>
          <p:nvPr/>
        </p:nvSpPr>
        <p:spPr>
          <a:xfrm>
            <a:off x="7010400" y="2238375"/>
            <a:ext cx="9525" cy="3429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onn-l1-1-h-2"/>
          <p:cNvSpPr/>
          <p:nvPr/>
        </p:nvSpPr>
        <p:spPr>
          <a:xfrm>
            <a:off x="7010400" y="258127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onn-l1-1-arrow-2-1"/>
          <p:cNvSpPr/>
          <p:nvPr/>
        </p:nvSpPr>
        <p:spPr>
          <a:xfrm>
            <a:off x="7724775" y="25622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onn-l1-1-arrow-2-2"/>
          <p:cNvSpPr/>
          <p:nvPr/>
        </p:nvSpPr>
        <p:spPr>
          <a:xfrm>
            <a:off x="7724775" y="25717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onn-l1-1-arrow-2-3"/>
          <p:cNvSpPr/>
          <p:nvPr/>
        </p:nvSpPr>
        <p:spPr>
          <a:xfrm>
            <a:off x="7724775" y="258127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onn-l1-1-arrow-2-4"/>
          <p:cNvSpPr/>
          <p:nvPr/>
        </p:nvSpPr>
        <p:spPr>
          <a:xfrm>
            <a:off x="7724775" y="25908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onn-l1-1-arrow-2-5"/>
          <p:cNvSpPr/>
          <p:nvPr/>
        </p:nvSpPr>
        <p:spPr>
          <a:xfrm>
            <a:off x="7724775" y="260032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onn-l1-2-stub"/>
          <p:cNvSpPr/>
          <p:nvPr/>
        </p:nvSpPr>
        <p:spPr>
          <a:xfrm>
            <a:off x="6248400" y="3695700"/>
            <a:ext cx="762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onn-l1-2-v-1"/>
          <p:cNvSpPr/>
          <p:nvPr/>
        </p:nvSpPr>
        <p:spPr>
          <a:xfrm>
            <a:off x="7010400" y="342900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onn-l1-2-h-1"/>
          <p:cNvSpPr/>
          <p:nvPr/>
        </p:nvSpPr>
        <p:spPr>
          <a:xfrm>
            <a:off x="7010400" y="3429000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nn-l1-2-arrow-1-1"/>
          <p:cNvSpPr/>
          <p:nvPr/>
        </p:nvSpPr>
        <p:spPr>
          <a:xfrm>
            <a:off x="7724775" y="34099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onn-l1-2-arrow-1-2"/>
          <p:cNvSpPr/>
          <p:nvPr/>
        </p:nvSpPr>
        <p:spPr>
          <a:xfrm>
            <a:off x="7724775" y="341947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onn-l1-2-arrow-1-3"/>
          <p:cNvSpPr/>
          <p:nvPr/>
        </p:nvSpPr>
        <p:spPr>
          <a:xfrm>
            <a:off x="7724775" y="3429000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onn-l1-2-arrow-1-4"/>
          <p:cNvSpPr/>
          <p:nvPr/>
        </p:nvSpPr>
        <p:spPr>
          <a:xfrm>
            <a:off x="7724775" y="343852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nn-l1-2-arrow-1-5"/>
          <p:cNvSpPr/>
          <p:nvPr/>
        </p:nvSpPr>
        <p:spPr>
          <a:xfrm>
            <a:off x="7724775" y="34480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conn-l1-2-v-2"/>
          <p:cNvSpPr/>
          <p:nvPr/>
        </p:nvSpPr>
        <p:spPr>
          <a:xfrm>
            <a:off x="7010400" y="3695700"/>
            <a:ext cx="9525" cy="3429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onn-l1-2-h-2"/>
          <p:cNvSpPr/>
          <p:nvPr/>
        </p:nvSpPr>
        <p:spPr>
          <a:xfrm>
            <a:off x="7010400" y="4038600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conn-l1-2-arrow-2-1"/>
          <p:cNvSpPr/>
          <p:nvPr/>
        </p:nvSpPr>
        <p:spPr>
          <a:xfrm>
            <a:off x="7724775" y="40195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onn-l1-2-arrow-2-2"/>
          <p:cNvSpPr/>
          <p:nvPr/>
        </p:nvSpPr>
        <p:spPr>
          <a:xfrm>
            <a:off x="7724775" y="402907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conn-l1-2-arrow-2-3"/>
          <p:cNvSpPr/>
          <p:nvPr/>
        </p:nvSpPr>
        <p:spPr>
          <a:xfrm>
            <a:off x="7724775" y="4038600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onn-l1-2-arrow-2-4"/>
          <p:cNvSpPr/>
          <p:nvPr/>
        </p:nvSpPr>
        <p:spPr>
          <a:xfrm>
            <a:off x="7724775" y="4048125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conn-l1-2-arrow-2-5"/>
          <p:cNvSpPr/>
          <p:nvPr/>
        </p:nvSpPr>
        <p:spPr>
          <a:xfrm>
            <a:off x="7724775" y="4057650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conn-l1-3-stub"/>
          <p:cNvSpPr/>
          <p:nvPr/>
        </p:nvSpPr>
        <p:spPr>
          <a:xfrm>
            <a:off x="6248400" y="5153025"/>
            <a:ext cx="762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conn-l1-3-v-1"/>
          <p:cNvSpPr/>
          <p:nvPr/>
        </p:nvSpPr>
        <p:spPr>
          <a:xfrm>
            <a:off x="7010400" y="4886325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conn-l1-3-h-1"/>
          <p:cNvSpPr/>
          <p:nvPr/>
        </p:nvSpPr>
        <p:spPr>
          <a:xfrm>
            <a:off x="7010400" y="488632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conn-l1-3-arrow-1-1"/>
          <p:cNvSpPr/>
          <p:nvPr/>
        </p:nvSpPr>
        <p:spPr>
          <a:xfrm>
            <a:off x="7724775" y="48672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conn-l1-3-arrow-1-2"/>
          <p:cNvSpPr/>
          <p:nvPr/>
        </p:nvSpPr>
        <p:spPr>
          <a:xfrm>
            <a:off x="7724775" y="48768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conn-l1-3-arrow-1-3"/>
          <p:cNvSpPr/>
          <p:nvPr/>
        </p:nvSpPr>
        <p:spPr>
          <a:xfrm>
            <a:off x="7724775" y="488632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conn-l1-3-arrow-1-4"/>
          <p:cNvSpPr/>
          <p:nvPr/>
        </p:nvSpPr>
        <p:spPr>
          <a:xfrm>
            <a:off x="7724775" y="48958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conn-l1-3-arrow-1-5"/>
          <p:cNvSpPr/>
          <p:nvPr/>
        </p:nvSpPr>
        <p:spPr>
          <a:xfrm>
            <a:off x="7724775" y="49053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conn-l1-3-v-2"/>
          <p:cNvSpPr/>
          <p:nvPr/>
        </p:nvSpPr>
        <p:spPr>
          <a:xfrm>
            <a:off x="7010400" y="5153025"/>
            <a:ext cx="9525" cy="3429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conn-l1-3-h-2"/>
          <p:cNvSpPr/>
          <p:nvPr/>
        </p:nvSpPr>
        <p:spPr>
          <a:xfrm>
            <a:off x="7010400" y="5495925"/>
            <a:ext cx="7143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conn-l1-3-arrow-2-1"/>
          <p:cNvSpPr/>
          <p:nvPr/>
        </p:nvSpPr>
        <p:spPr>
          <a:xfrm>
            <a:off x="7724775" y="54768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conn-l1-3-arrow-2-2"/>
          <p:cNvSpPr/>
          <p:nvPr/>
        </p:nvSpPr>
        <p:spPr>
          <a:xfrm>
            <a:off x="7724775" y="548640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conn-l1-3-arrow-2-3"/>
          <p:cNvSpPr/>
          <p:nvPr/>
        </p:nvSpPr>
        <p:spPr>
          <a:xfrm>
            <a:off x="7724775" y="5495925"/>
            <a:ext cx="476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conn-l1-3-arrow-2-4"/>
          <p:cNvSpPr/>
          <p:nvPr/>
        </p:nvSpPr>
        <p:spPr>
          <a:xfrm>
            <a:off x="7724775" y="5505450"/>
            <a:ext cx="3810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conn-l1-3-arrow-2-5"/>
          <p:cNvSpPr/>
          <p:nvPr/>
        </p:nvSpPr>
        <p:spPr>
          <a:xfrm>
            <a:off x="7724775" y="5514975"/>
            <a:ext cx="190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convergence"/>
          <p:cNvSpPr txBox="1"/>
          <p:nvPr/>
        </p:nvSpPr>
        <p:spPr>
          <a:xfrm>
            <a:off x="533400" y="615315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Three levels deep is enough. Beyond that, the tree branches faster than the answer matters.</a:t>
            </a:r>
          </a:p>
        </p:txBody>
      </p:sp>
      <p:sp>
        <p:nvSpPr>
          <p:cNvPr id="10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