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266700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Agenda — eight sections, four objectives.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83820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section advances one of the objectives.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umn-rule"/>
          <p:cNvSpPr/>
          <p:nvPr/>
        </p:nvSpPr>
        <p:spPr>
          <a:xfrm>
            <a:off x="6619875" y="2133600"/>
            <a:ext cx="9525" cy="392430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oc-1-num"/>
          <p:cNvSpPr txBox="1"/>
          <p:nvPr/>
        </p:nvSpPr>
        <p:spPr>
          <a:xfrm>
            <a:off x="533400" y="21526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01</a:t>
            </a:r>
          </a:p>
        </p:txBody>
      </p:sp>
      <p:sp>
        <p:nvSpPr>
          <p:cNvPr id="7" name="toc-1-title"/>
          <p:cNvSpPr txBox="1"/>
          <p:nvPr/>
        </p:nvSpPr>
        <p:spPr>
          <a:xfrm>
            <a:off x="1238250" y="21526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The problem</a:t>
            </a:r>
          </a:p>
        </p:txBody>
      </p:sp>
      <p:sp>
        <p:nvSpPr>
          <p:cNvPr id="8" name="toc-1-desc"/>
          <p:cNvSpPr txBox="1"/>
          <p:nvPr/>
        </p:nvSpPr>
        <p:spPr>
          <a:xfrm>
            <a:off x="1238250" y="23431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Consultants rarely lack ideas — they struggle to cut through them.</a:t>
            </a:r>
          </a:p>
        </p:txBody>
      </p:sp>
      <p:sp>
        <p:nvSpPr>
          <p:cNvPr id="9" name="toc-1-sep"/>
          <p:cNvSpPr/>
          <p:nvPr/>
        </p:nvSpPr>
        <p:spPr>
          <a:xfrm>
            <a:off x="533400" y="2581275"/>
            <a:ext cx="56292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toc-2-num"/>
          <p:cNvSpPr txBox="1"/>
          <p:nvPr/>
        </p:nvSpPr>
        <p:spPr>
          <a:xfrm>
            <a:off x="533400" y="26479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02</a:t>
            </a:r>
          </a:p>
        </p:txBody>
      </p:sp>
      <p:sp>
        <p:nvSpPr>
          <p:cNvPr id="11" name="toc-2-title"/>
          <p:cNvSpPr txBox="1"/>
          <p:nvPr/>
        </p:nvSpPr>
        <p:spPr>
          <a:xfrm>
            <a:off x="1238250" y="26479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Why existing tools don't fix it</a:t>
            </a:r>
          </a:p>
        </p:txBody>
      </p:sp>
      <p:sp>
        <p:nvSpPr>
          <p:cNvPr id="12" name="toc-2-desc"/>
          <p:cNvSpPr txBox="1"/>
          <p:nvPr/>
        </p:nvSpPr>
        <p:spPr>
          <a:xfrm>
            <a:off x="1238250" y="28384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Training gap and GenAI gap share the same root cause.</a:t>
            </a:r>
          </a:p>
        </p:txBody>
      </p:sp>
      <p:sp>
        <p:nvSpPr>
          <p:cNvPr id="13" name="toc-2-sep"/>
          <p:cNvSpPr/>
          <p:nvPr/>
        </p:nvSpPr>
        <p:spPr>
          <a:xfrm>
            <a:off x="533400" y="3076575"/>
            <a:ext cx="56292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toc-3-num"/>
          <p:cNvSpPr txBox="1"/>
          <p:nvPr/>
        </p:nvSpPr>
        <p:spPr>
          <a:xfrm>
            <a:off x="533400" y="31432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03</a:t>
            </a:r>
          </a:p>
        </p:txBody>
      </p:sp>
      <p:sp>
        <p:nvSpPr>
          <p:cNvPr id="15" name="toc-3-title"/>
          <p:cNvSpPr txBox="1"/>
          <p:nvPr/>
        </p:nvSpPr>
        <p:spPr>
          <a:xfrm>
            <a:off x="1238250" y="31432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What Slide Lab actually is</a:t>
            </a:r>
          </a:p>
        </p:txBody>
      </p:sp>
      <p:sp>
        <p:nvSpPr>
          <p:cNvPr id="16" name="toc-3-desc"/>
          <p:cNvSpPr txBox="1"/>
          <p:nvPr/>
        </p:nvSpPr>
        <p:spPr>
          <a:xfrm>
            <a:off x="1238250" y="33337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thought partner, not a slide machine.</a:t>
            </a:r>
          </a:p>
        </p:txBody>
      </p:sp>
      <p:sp>
        <p:nvSpPr>
          <p:cNvPr id="17" name="toc-3-sep"/>
          <p:cNvSpPr/>
          <p:nvPr/>
        </p:nvSpPr>
        <p:spPr>
          <a:xfrm>
            <a:off x="533400" y="3571875"/>
            <a:ext cx="56292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toc-4-num"/>
          <p:cNvSpPr txBox="1"/>
          <p:nvPr/>
        </p:nvSpPr>
        <p:spPr>
          <a:xfrm>
            <a:off x="533400" y="36385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04</a:t>
            </a:r>
          </a:p>
        </p:txBody>
      </p:sp>
      <p:sp>
        <p:nvSpPr>
          <p:cNvPr id="19" name="toc-4-title"/>
          <p:cNvSpPr txBox="1"/>
          <p:nvPr/>
        </p:nvSpPr>
        <p:spPr>
          <a:xfrm>
            <a:off x="1238250" y="36385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The ecosystem</a:t>
            </a:r>
          </a:p>
        </p:txBody>
      </p:sp>
      <p:sp>
        <p:nvSpPr>
          <p:cNvPr id="20" name="toc-4-desc"/>
          <p:cNvSpPr txBox="1"/>
          <p:nvPr/>
        </p:nvSpPr>
        <p:spPr>
          <a:xfrm>
            <a:off x="1238250" y="38290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Think, Argue, Build — connected, not stacked.</a:t>
            </a:r>
          </a:p>
        </p:txBody>
      </p:sp>
      <p:sp>
        <p:nvSpPr>
          <p:cNvPr id="21" name="toc-4-sep"/>
          <p:cNvSpPr/>
          <p:nvPr/>
        </p:nvSpPr>
        <p:spPr>
          <a:xfrm>
            <a:off x="533400" y="4067175"/>
            <a:ext cx="56292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toc-5-num"/>
          <p:cNvSpPr txBox="1"/>
          <p:nvPr/>
        </p:nvSpPr>
        <p:spPr>
          <a:xfrm>
            <a:off x="533400" y="41338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05</a:t>
            </a:r>
          </a:p>
        </p:txBody>
      </p:sp>
      <p:sp>
        <p:nvSpPr>
          <p:cNvPr id="23" name="toc-5-title"/>
          <p:cNvSpPr txBox="1"/>
          <p:nvPr/>
        </p:nvSpPr>
        <p:spPr>
          <a:xfrm>
            <a:off x="1238250" y="41338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The proof</a:t>
            </a:r>
          </a:p>
        </p:txBody>
      </p:sp>
      <p:sp>
        <p:nvSpPr>
          <p:cNvPr id="24" name="toc-5-desc"/>
          <p:cNvSpPr txBox="1"/>
          <p:nvPr/>
        </p:nvSpPr>
        <p:spPr>
          <a:xfrm>
            <a:off x="1238250" y="43243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Cycle time and partner-edit rates against the baseline.</a:t>
            </a:r>
          </a:p>
        </p:txBody>
      </p:sp>
      <p:sp>
        <p:nvSpPr>
          <p:cNvPr id="25" name="toc-5-sep"/>
          <p:cNvSpPr/>
          <p:nvPr/>
        </p:nvSpPr>
        <p:spPr>
          <a:xfrm>
            <a:off x="533400" y="4562475"/>
            <a:ext cx="56292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toc-6-num"/>
          <p:cNvSpPr txBox="1"/>
          <p:nvPr/>
        </p:nvSpPr>
        <p:spPr>
          <a:xfrm>
            <a:off x="533400" y="46291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06</a:t>
            </a:r>
          </a:p>
        </p:txBody>
      </p:sp>
      <p:sp>
        <p:nvSpPr>
          <p:cNvPr id="27" name="toc-6-title"/>
          <p:cNvSpPr txBox="1"/>
          <p:nvPr/>
        </p:nvSpPr>
        <p:spPr>
          <a:xfrm>
            <a:off x="1238250" y="46291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Demo: Think &amp; Argue</a:t>
            </a:r>
          </a:p>
        </p:txBody>
      </p:sp>
      <p:sp>
        <p:nvSpPr>
          <p:cNvPr id="28" name="toc-6-desc"/>
          <p:cNvSpPr txBox="1"/>
          <p:nvPr/>
        </p:nvSpPr>
        <p:spPr>
          <a:xfrm>
            <a:off x="1238250" y="48196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A 30-second sequence from a real session.</a:t>
            </a:r>
          </a:p>
        </p:txBody>
      </p:sp>
      <p:sp>
        <p:nvSpPr>
          <p:cNvPr id="29" name="toc-6-sep"/>
          <p:cNvSpPr/>
          <p:nvPr/>
        </p:nvSpPr>
        <p:spPr>
          <a:xfrm>
            <a:off x="533400" y="5057775"/>
            <a:ext cx="5629275" cy="9525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toc-7-num"/>
          <p:cNvSpPr txBox="1"/>
          <p:nvPr/>
        </p:nvSpPr>
        <p:spPr>
          <a:xfrm>
            <a:off x="533400" y="51244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07</a:t>
            </a:r>
          </a:p>
        </p:txBody>
      </p:sp>
      <p:sp>
        <p:nvSpPr>
          <p:cNvPr id="31" name="toc-7-title"/>
          <p:cNvSpPr txBox="1"/>
          <p:nvPr/>
        </p:nvSpPr>
        <p:spPr>
          <a:xfrm>
            <a:off x="1238250" y="51244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Demo: Build</a:t>
            </a:r>
          </a:p>
        </p:txBody>
      </p:sp>
      <p:sp>
        <p:nvSpPr>
          <p:cNvPr id="32" name="toc-7-desc"/>
          <p:cNvSpPr txBox="1"/>
          <p:nvPr/>
        </p:nvSpPr>
        <p:spPr>
          <a:xfrm>
            <a:off x="1238250" y="53149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From governing thought to a real PPTX.</a:t>
            </a:r>
          </a:p>
        </p:txBody>
      </p:sp>
      <p:sp>
        <p:nvSpPr>
          <p:cNvPr id="34" name="toc-8-num"/>
          <p:cNvSpPr txBox="1"/>
          <p:nvPr/>
        </p:nvSpPr>
        <p:spPr>
          <a:xfrm>
            <a:off x="533400" y="5619750"/>
            <a:ext cx="533400" cy="3429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A100FF"/>
                </a:solidFill>
                <a:latin typeface="Inter"/>
              </a:rPr>
              <a:t>08</a:t>
            </a:r>
          </a:p>
        </p:txBody>
      </p:sp>
      <p:sp>
        <p:nvSpPr>
          <p:cNvPr id="35" name="toc-8-title"/>
          <p:cNvSpPr txBox="1"/>
          <p:nvPr/>
        </p:nvSpPr>
        <p:spPr>
          <a:xfrm>
            <a:off x="1238250" y="5619750"/>
            <a:ext cx="515302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125" b="1" i="0">
                <a:solidFill>
                  <a:srgbClr val="2D0A4E"/>
                </a:solidFill>
                <a:latin typeface="Inter"/>
              </a:rPr>
              <a:t>Honest expectations and the ask</a:t>
            </a:r>
          </a:p>
        </p:txBody>
      </p:sp>
      <p:sp>
        <p:nvSpPr>
          <p:cNvPr id="36" name="toc-8-desc"/>
          <p:cNvSpPr txBox="1"/>
          <p:nvPr/>
        </p:nvSpPr>
        <p:spPr>
          <a:xfrm>
            <a:off x="1238250" y="5810250"/>
            <a:ext cx="5153025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What works today, what's still growing, what we want.</a:t>
            </a:r>
          </a:p>
        </p:txBody>
      </p:sp>
      <p:sp>
        <p:nvSpPr>
          <p:cNvPr id="37" name="objectives-label"/>
          <p:cNvSpPr txBox="1"/>
          <p:nvPr/>
        </p:nvSpPr>
        <p:spPr>
          <a:xfrm>
            <a:off x="6848475" y="2095500"/>
            <a:ext cx="48101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94A3B8"/>
                </a:solidFill>
                <a:latin typeface="Inter"/>
              </a:rPr>
              <a:t>SESSION OBJECTIVES</a:t>
            </a:r>
          </a:p>
        </p:txBody>
      </p:sp>
      <p:sp>
        <p:nvSpPr>
          <p:cNvPr id="38" name="objectives-heading"/>
          <p:cNvSpPr txBox="1"/>
          <p:nvPr/>
        </p:nvSpPr>
        <p:spPr>
          <a:xfrm>
            <a:off x="6848475" y="2305050"/>
            <a:ext cx="48101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350" b="1" i="0">
                <a:solidFill>
                  <a:srgbClr val="2D0A4E"/>
                </a:solidFill>
                <a:latin typeface="Inter"/>
              </a:rPr>
              <a:t>By the end of 30 minutes, you should be able to —</a:t>
            </a:r>
          </a:p>
        </p:txBody>
      </p:sp>
      <p:sp>
        <p:nvSpPr>
          <p:cNvPr id="39" name="objective-1-marker"/>
          <p:cNvSpPr/>
          <p:nvPr/>
        </p:nvSpPr>
        <p:spPr>
          <a:xfrm>
            <a:off x="6848475" y="289560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objective-1-text"/>
          <p:cNvSpPr txBox="1"/>
          <p:nvPr/>
        </p:nvSpPr>
        <p:spPr>
          <a:xfrm>
            <a:off x="7058025" y="283845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Understand why decks degrade — and why that's a structural problem, not a skill problem.</a:t>
            </a:r>
          </a:p>
        </p:txBody>
      </p:sp>
      <p:sp>
        <p:nvSpPr>
          <p:cNvPr id="41" name="objective-2-marker"/>
          <p:cNvSpPr/>
          <p:nvPr/>
        </p:nvSpPr>
        <p:spPr>
          <a:xfrm>
            <a:off x="6848475" y="337185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objective-2-text"/>
          <p:cNvSpPr txBox="1"/>
          <p:nvPr/>
        </p:nvSpPr>
        <p:spPr>
          <a:xfrm>
            <a:off x="7058025" y="331470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See how Slide Lab fixes it differently from training or generic AI.</a:t>
            </a:r>
          </a:p>
        </p:txBody>
      </p:sp>
      <p:sp>
        <p:nvSpPr>
          <p:cNvPr id="43" name="objective-3-marker"/>
          <p:cNvSpPr/>
          <p:nvPr/>
        </p:nvSpPr>
        <p:spPr>
          <a:xfrm>
            <a:off x="6848475" y="384810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objective-3-text"/>
          <p:cNvSpPr txBox="1"/>
          <p:nvPr/>
        </p:nvSpPr>
        <p:spPr>
          <a:xfrm>
            <a:off x="7058025" y="379095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Decide whether to sponsor a four-week pilot with one practice.</a:t>
            </a:r>
          </a:p>
        </p:txBody>
      </p:sp>
      <p:sp>
        <p:nvSpPr>
          <p:cNvPr id="45" name="objective-4-marker"/>
          <p:cNvSpPr/>
          <p:nvPr/>
        </p:nvSpPr>
        <p:spPr>
          <a:xfrm>
            <a:off x="6848475" y="4324350"/>
            <a:ext cx="95250" cy="95250"/>
          </a:xfrm>
          <a:prstGeom prst="ellipse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objective-4-text"/>
          <p:cNvSpPr txBox="1"/>
          <p:nvPr/>
        </p:nvSpPr>
        <p:spPr>
          <a:xfrm>
            <a:off x="7058025" y="4267200"/>
            <a:ext cx="460057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Align on what good looks like for the rollout — and what would kill it.</a:t>
            </a:r>
          </a:p>
        </p:txBody>
      </p:sp>
      <p:sp>
        <p:nvSpPr>
          <p:cNvPr id="47" name="objectives-rule"/>
          <p:cNvSpPr/>
          <p:nvPr/>
        </p:nvSpPr>
        <p:spPr>
          <a:xfrm>
            <a:off x="6848475" y="4914900"/>
            <a:ext cx="304800" cy="19050"/>
          </a:xfrm>
          <a:prstGeom prst="rect">
            <a:avLst/>
          </a:prstGeom>
          <a:solidFill>
            <a:srgbClr val="ECE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objectives-note"/>
          <p:cNvSpPr txBox="1"/>
          <p:nvPr/>
        </p:nvSpPr>
        <p:spPr>
          <a:xfrm>
            <a:off x="6848475" y="5029200"/>
            <a:ext cx="4810125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Each section maps to one of the four. Stop me anywhere an objective isn't being served.</a:t>
            </a:r>
          </a:p>
        </p:txBody>
      </p:sp>
      <p:sp>
        <p:nvSpPr>
          <p:cNvPr id="49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50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51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