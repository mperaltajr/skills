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266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1A1A2E"/>
                </a:solidFill>
                <a:latin typeface="Inter"/>
              </a:rPr>
              <a:t>Every week of delay costs </a:t>
            </a:r>
            <a:r>
              <a:rPr sz="1950" b="1" i="0">
                <a:solidFill>
                  <a:srgbClr val="2D0A4E"/>
                </a:solidFill>
                <a:latin typeface="Inter"/>
              </a:rPr>
              <a:t>$1.2M</a:t>
            </a:r>
            <a:r>
              <a:rPr sz="1950" b="1" i="0">
                <a:solidFill>
                  <a:srgbClr val="1A1A2E"/>
                </a:solidFill>
                <a:latin typeface="Inter"/>
              </a:rPr>
              <a:t> — the cost compounds linearly.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10287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Sensitivity of foregone savings to exit-window slip. Read the scale; pick a tolerance.</a:t>
            </a:r>
          </a:p>
        </p:txBody>
      </p:sp>
      <p:sp>
        <p:nvSpPr>
          <p:cNvPr id="4" name="brand-rule"/>
          <p:cNvSpPr/>
          <p:nvPr/>
        </p:nvSpPr>
        <p:spPr>
          <a:xfrm>
            <a:off x="5334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hero-burn-bg"/>
          <p:cNvSpPr/>
          <p:nvPr/>
        </p:nvSpPr>
        <p:spPr>
          <a:xfrm>
            <a:off x="533400" y="1866900"/>
            <a:ext cx="5143500" cy="422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hero-burn-accent"/>
          <p:cNvSpPr/>
          <p:nvPr/>
        </p:nvSpPr>
        <p:spPr>
          <a:xfrm>
            <a:off x="533400" y="1866900"/>
            <a:ext cx="47625" cy="4229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hero-eyebrow"/>
          <p:cNvSpPr txBox="1"/>
          <p:nvPr/>
        </p:nvSpPr>
        <p:spPr>
          <a:xfrm>
            <a:off x="838200" y="2133600"/>
            <a:ext cx="45339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BURN RATE — PER WEEK OF DELAY</a:t>
            </a:r>
          </a:p>
        </p:txBody>
      </p:sp>
      <p:sp>
        <p:nvSpPr>
          <p:cNvPr id="8" name="hero-value"/>
          <p:cNvSpPr txBox="1"/>
          <p:nvPr/>
        </p:nvSpPr>
        <p:spPr>
          <a:xfrm>
            <a:off x="838200" y="2400300"/>
            <a:ext cx="4533900" cy="952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5400" b="1" i="0">
                <a:solidFill>
                  <a:srgbClr val="FFFFFF"/>
                </a:solidFill>
                <a:latin typeface="Inter"/>
              </a:rPr>
              <a:t>$1.2M</a:t>
            </a:r>
          </a:p>
        </p:txBody>
      </p:sp>
      <p:sp>
        <p:nvSpPr>
          <p:cNvPr id="9" name="hero-unit"/>
          <p:cNvSpPr txBox="1"/>
          <p:nvPr/>
        </p:nvSpPr>
        <p:spPr>
          <a:xfrm>
            <a:off x="838200" y="3371850"/>
            <a:ext cx="4533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per week of slipped exit</a:t>
            </a:r>
          </a:p>
        </p:txBody>
      </p:sp>
      <p:sp>
        <p:nvSpPr>
          <p:cNvPr id="10" name="hero-divider-1"/>
          <p:cNvSpPr/>
          <p:nvPr/>
        </p:nvSpPr>
        <p:spPr>
          <a:xfrm>
            <a:off x="838200" y="3771900"/>
            <a:ext cx="4533900" cy="9525"/>
          </a:xfrm>
          <a:prstGeom prst="rect">
            <a:avLst/>
          </a:prstGeom>
          <a:solidFill>
            <a:srgbClr val="CBC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hero-claim"/>
          <p:cNvSpPr txBox="1"/>
          <p:nvPr/>
        </p:nvSpPr>
        <p:spPr>
          <a:xfrm>
            <a:off x="838200" y="3905250"/>
            <a:ext cx="45339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Foregone savings accrue </a:t>
            </a:r>
            <a:r>
              <a:rPr sz="1050" b="1" i="0">
                <a:solidFill>
                  <a:srgbClr val="FFFFFF"/>
                </a:solidFill>
                <a:latin typeface="Inter"/>
              </a:rPr>
              <a:t>linearly</a:t>
            </a:r>
            <a:r>
              <a:rPr sz="1050" b="0" i="0">
                <a:solidFill>
                  <a:srgbClr val="FFFFFF"/>
                </a:solidFill>
                <a:latin typeface="Inter"/>
              </a:rPr>
              <a:t> from the planned exit date. There is no “free” week — every Friday past the baseline burns the same $1.2M.</a:t>
            </a:r>
          </a:p>
        </p:txBody>
      </p:sp>
      <p:sp>
        <p:nvSpPr>
          <p:cNvPr id="12" name="hero-divider-2"/>
          <p:cNvSpPr/>
          <p:nvPr/>
        </p:nvSpPr>
        <p:spPr>
          <a:xfrm>
            <a:off x="838200" y="5181600"/>
            <a:ext cx="4533900" cy="9525"/>
          </a:xfrm>
          <a:prstGeom prst="rect">
            <a:avLst/>
          </a:prstGeom>
          <a:solidFill>
            <a:srgbClr val="CBC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deriv-1-label"/>
          <p:cNvSpPr txBox="1"/>
          <p:nvPr/>
        </p:nvSpPr>
        <p:spPr>
          <a:xfrm>
            <a:off x="838200" y="5314950"/>
            <a:ext cx="13906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HEADCOUNT</a:t>
            </a:r>
          </a:p>
        </p:txBody>
      </p:sp>
      <p:sp>
        <p:nvSpPr>
          <p:cNvPr id="14" name="deriv-1-value"/>
          <p:cNvSpPr txBox="1"/>
          <p:nvPr/>
        </p:nvSpPr>
        <p:spPr>
          <a:xfrm>
            <a:off x="838200" y="5467350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~530 FTE</a:t>
            </a:r>
          </a:p>
        </p:txBody>
      </p:sp>
      <p:sp>
        <p:nvSpPr>
          <p:cNvPr id="15" name="deriv-1-note"/>
          <p:cNvSpPr txBox="1"/>
          <p:nvPr/>
        </p:nvSpPr>
        <p:spPr>
          <a:xfrm>
            <a:off x="838200" y="5676900"/>
            <a:ext cx="1390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BC1D9"/>
                </a:solidFill>
                <a:latin typeface="Inter"/>
              </a:rPr>
              <a:t>across all exits</a:t>
            </a:r>
          </a:p>
        </p:txBody>
      </p:sp>
      <p:sp>
        <p:nvSpPr>
          <p:cNvPr id="16" name="deriv-2-label"/>
          <p:cNvSpPr txBox="1"/>
          <p:nvPr/>
        </p:nvSpPr>
        <p:spPr>
          <a:xfrm>
            <a:off x="2343150" y="5314950"/>
            <a:ext cx="13906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FULLY-LOADED</a:t>
            </a:r>
          </a:p>
        </p:txBody>
      </p:sp>
      <p:sp>
        <p:nvSpPr>
          <p:cNvPr id="17" name="deriv-2-value"/>
          <p:cNvSpPr txBox="1"/>
          <p:nvPr/>
        </p:nvSpPr>
        <p:spPr>
          <a:xfrm>
            <a:off x="2343150" y="5467350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~$118K/FTE/yr</a:t>
            </a:r>
          </a:p>
        </p:txBody>
      </p:sp>
      <p:sp>
        <p:nvSpPr>
          <p:cNvPr id="18" name="deriv-2-note"/>
          <p:cNvSpPr txBox="1"/>
          <p:nvPr/>
        </p:nvSpPr>
        <p:spPr>
          <a:xfrm>
            <a:off x="2343150" y="5676900"/>
            <a:ext cx="1390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BC1D9"/>
                </a:solidFill>
                <a:latin typeface="Inter"/>
              </a:rPr>
              <a:t>blended rate</a:t>
            </a:r>
          </a:p>
        </p:txBody>
      </p:sp>
      <p:sp>
        <p:nvSpPr>
          <p:cNvPr id="19" name="deriv-3-label"/>
          <p:cNvSpPr txBox="1"/>
          <p:nvPr/>
        </p:nvSpPr>
        <p:spPr>
          <a:xfrm>
            <a:off x="3848100" y="5314950"/>
            <a:ext cx="13906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IMPLIED</a:t>
            </a:r>
          </a:p>
        </p:txBody>
      </p:sp>
      <p:sp>
        <p:nvSpPr>
          <p:cNvPr id="20" name="deriv-3-value"/>
          <p:cNvSpPr txBox="1"/>
          <p:nvPr/>
        </p:nvSpPr>
        <p:spPr>
          <a:xfrm>
            <a:off x="3848100" y="5467350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$1.2M / wk</a:t>
            </a:r>
          </a:p>
        </p:txBody>
      </p:sp>
      <p:sp>
        <p:nvSpPr>
          <p:cNvPr id="21" name="deriv-3-note"/>
          <p:cNvSpPr txBox="1"/>
          <p:nvPr/>
        </p:nvSpPr>
        <p:spPr>
          <a:xfrm>
            <a:off x="3848100" y="5676900"/>
            <a:ext cx="1390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BC1D9"/>
                </a:solidFill>
                <a:latin typeface="Inter"/>
              </a:rPr>
              <a:t>linear at this scale</a:t>
            </a:r>
          </a:p>
        </p:txBody>
      </p:sp>
      <p:sp>
        <p:nvSpPr>
          <p:cNvPr id="22" name="panel-title"/>
          <p:cNvSpPr txBox="1"/>
          <p:nvPr/>
        </p:nvSpPr>
        <p:spPr>
          <a:xfrm>
            <a:off x="5905500" y="1866900"/>
            <a:ext cx="5753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CUMULATIVE COST BY WEEKS OF DELAY</a:t>
            </a:r>
          </a:p>
        </p:txBody>
      </p:sp>
      <p:sp>
        <p:nvSpPr>
          <p:cNvPr id="23" name="panel-sub"/>
          <p:cNvSpPr txBox="1"/>
          <p:nvPr/>
        </p:nvSpPr>
        <p:spPr>
          <a:xfrm>
            <a:off x="5905500" y="2057400"/>
            <a:ext cx="57531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row adds one week past the planned exit. Bar length and color scale with the dollar impact.</a:t>
            </a:r>
          </a:p>
        </p:txBody>
      </p:sp>
      <p:sp>
        <p:nvSpPr>
          <p:cNvPr id="24" name="burn-scale-frame"/>
          <p:cNvSpPr/>
          <p:nvPr/>
        </p:nvSpPr>
        <p:spPr>
          <a:xfrm>
            <a:off x="5905500" y="2438400"/>
            <a:ext cx="5753100" cy="28956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burn-row-1-lbl-bg"/>
          <p:cNvSpPr/>
          <p:nvPr/>
        </p:nvSpPr>
        <p:spPr>
          <a:xfrm>
            <a:off x="5905500" y="2438400"/>
            <a:ext cx="609600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burn-row-1-lbl-rule"/>
          <p:cNvSpPr/>
          <p:nvPr/>
        </p:nvSpPr>
        <p:spPr>
          <a:xfrm>
            <a:off x="6515100" y="24384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burn-row-1-lbl"/>
          <p:cNvSpPr txBox="1"/>
          <p:nvPr/>
        </p:nvSpPr>
        <p:spPr>
          <a:xfrm>
            <a:off x="5962650" y="2438400"/>
            <a:ext cx="4953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+1 wk</a:t>
            </a:r>
          </a:p>
        </p:txBody>
      </p:sp>
      <p:sp>
        <p:nvSpPr>
          <p:cNvPr id="28" name="burn-row-1-bar"/>
          <p:cNvSpPr/>
          <p:nvPr/>
        </p:nvSpPr>
        <p:spPr>
          <a:xfrm>
            <a:off x="6591300" y="2562225"/>
            <a:ext cx="514350" cy="114300"/>
          </a:xfrm>
          <a:prstGeom prst="rect">
            <a:avLst/>
          </a:prstGeom>
          <a:solidFill>
            <a:srgbClr val="FEE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burn-row-1-val"/>
          <p:cNvSpPr txBox="1"/>
          <p:nvPr/>
        </p:nvSpPr>
        <p:spPr>
          <a:xfrm>
            <a:off x="7181850" y="2438400"/>
            <a:ext cx="7620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$1.2M</a:t>
            </a:r>
          </a:p>
        </p:txBody>
      </p:sp>
      <p:sp>
        <p:nvSpPr>
          <p:cNvPr id="30" name="burn-row-2-rule"/>
          <p:cNvSpPr/>
          <p:nvPr/>
        </p:nvSpPr>
        <p:spPr>
          <a:xfrm>
            <a:off x="5905500" y="2800350"/>
            <a:ext cx="57531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burn-row-2-lbl-bg"/>
          <p:cNvSpPr/>
          <p:nvPr/>
        </p:nvSpPr>
        <p:spPr>
          <a:xfrm>
            <a:off x="5905500" y="2800350"/>
            <a:ext cx="609600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burn-row-2-lbl-rule"/>
          <p:cNvSpPr/>
          <p:nvPr/>
        </p:nvSpPr>
        <p:spPr>
          <a:xfrm>
            <a:off x="6515100" y="28003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burn-row-2-lbl"/>
          <p:cNvSpPr txBox="1"/>
          <p:nvPr/>
        </p:nvSpPr>
        <p:spPr>
          <a:xfrm>
            <a:off x="5962650" y="2800350"/>
            <a:ext cx="4953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+2 wk</a:t>
            </a:r>
          </a:p>
        </p:txBody>
      </p:sp>
      <p:sp>
        <p:nvSpPr>
          <p:cNvPr id="34" name="burn-row-2-bar"/>
          <p:cNvSpPr/>
          <p:nvPr/>
        </p:nvSpPr>
        <p:spPr>
          <a:xfrm>
            <a:off x="6591300" y="2924175"/>
            <a:ext cx="1038225" cy="114300"/>
          </a:xfrm>
          <a:prstGeom prst="rect">
            <a:avLst/>
          </a:prstGeom>
          <a:solidFill>
            <a:srgbClr val="FEE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burn-row-2-val"/>
          <p:cNvSpPr txBox="1"/>
          <p:nvPr/>
        </p:nvSpPr>
        <p:spPr>
          <a:xfrm>
            <a:off x="7705725" y="2800350"/>
            <a:ext cx="7620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$2.4M</a:t>
            </a:r>
          </a:p>
        </p:txBody>
      </p:sp>
      <p:sp>
        <p:nvSpPr>
          <p:cNvPr id="36" name="burn-row-3-rule"/>
          <p:cNvSpPr/>
          <p:nvPr/>
        </p:nvSpPr>
        <p:spPr>
          <a:xfrm>
            <a:off x="5905500" y="3162300"/>
            <a:ext cx="57531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burn-row-3-lbl-bg"/>
          <p:cNvSpPr/>
          <p:nvPr/>
        </p:nvSpPr>
        <p:spPr>
          <a:xfrm>
            <a:off x="5905500" y="3162300"/>
            <a:ext cx="609600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burn-row-3-lbl-rule"/>
          <p:cNvSpPr/>
          <p:nvPr/>
        </p:nvSpPr>
        <p:spPr>
          <a:xfrm>
            <a:off x="6515100" y="31623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burn-row-3-lbl"/>
          <p:cNvSpPr txBox="1"/>
          <p:nvPr/>
        </p:nvSpPr>
        <p:spPr>
          <a:xfrm>
            <a:off x="5962650" y="3162300"/>
            <a:ext cx="4953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+3 wk</a:t>
            </a:r>
          </a:p>
        </p:txBody>
      </p:sp>
      <p:sp>
        <p:nvSpPr>
          <p:cNvPr id="40" name="burn-row-3-bar"/>
          <p:cNvSpPr/>
          <p:nvPr/>
        </p:nvSpPr>
        <p:spPr>
          <a:xfrm>
            <a:off x="6591300" y="3286125"/>
            <a:ext cx="1562100" cy="114300"/>
          </a:xfrm>
          <a:prstGeom prst="rect">
            <a:avLst/>
          </a:prstGeom>
          <a:solidFill>
            <a:srgbClr val="FDA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burn-row-3-val"/>
          <p:cNvSpPr txBox="1"/>
          <p:nvPr/>
        </p:nvSpPr>
        <p:spPr>
          <a:xfrm>
            <a:off x="8229600" y="3162300"/>
            <a:ext cx="7620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$3.6M</a:t>
            </a:r>
          </a:p>
        </p:txBody>
      </p:sp>
      <p:sp>
        <p:nvSpPr>
          <p:cNvPr id="42" name="burn-row-4-rule"/>
          <p:cNvSpPr/>
          <p:nvPr/>
        </p:nvSpPr>
        <p:spPr>
          <a:xfrm>
            <a:off x="5905500" y="3524250"/>
            <a:ext cx="57531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burn-row-4-lbl-bg"/>
          <p:cNvSpPr/>
          <p:nvPr/>
        </p:nvSpPr>
        <p:spPr>
          <a:xfrm>
            <a:off x="5905500" y="3524250"/>
            <a:ext cx="609600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burn-row-4-lbl-rule"/>
          <p:cNvSpPr/>
          <p:nvPr/>
        </p:nvSpPr>
        <p:spPr>
          <a:xfrm>
            <a:off x="6515100" y="35242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burn-row-4-lbl"/>
          <p:cNvSpPr txBox="1"/>
          <p:nvPr/>
        </p:nvSpPr>
        <p:spPr>
          <a:xfrm>
            <a:off x="5962650" y="3524250"/>
            <a:ext cx="4953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+4 wk</a:t>
            </a:r>
          </a:p>
        </p:txBody>
      </p:sp>
      <p:sp>
        <p:nvSpPr>
          <p:cNvPr id="46" name="burn-row-4-bar"/>
          <p:cNvSpPr/>
          <p:nvPr/>
        </p:nvSpPr>
        <p:spPr>
          <a:xfrm>
            <a:off x="6591300" y="3648075"/>
            <a:ext cx="2076450" cy="114300"/>
          </a:xfrm>
          <a:prstGeom prst="rect">
            <a:avLst/>
          </a:prstGeom>
          <a:solidFill>
            <a:srgbClr val="FDA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burn-row-4-val"/>
          <p:cNvSpPr txBox="1"/>
          <p:nvPr/>
        </p:nvSpPr>
        <p:spPr>
          <a:xfrm>
            <a:off x="8743950" y="3524250"/>
            <a:ext cx="7620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$4.8M</a:t>
            </a:r>
          </a:p>
        </p:txBody>
      </p:sp>
      <p:sp>
        <p:nvSpPr>
          <p:cNvPr id="48" name="burn-row-5-rule"/>
          <p:cNvSpPr/>
          <p:nvPr/>
        </p:nvSpPr>
        <p:spPr>
          <a:xfrm>
            <a:off x="5905500" y="3886200"/>
            <a:ext cx="57531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burn-row-5-lbl-bg"/>
          <p:cNvSpPr/>
          <p:nvPr/>
        </p:nvSpPr>
        <p:spPr>
          <a:xfrm>
            <a:off x="5905500" y="3886200"/>
            <a:ext cx="609600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burn-row-5-lbl-rule"/>
          <p:cNvSpPr/>
          <p:nvPr/>
        </p:nvSpPr>
        <p:spPr>
          <a:xfrm>
            <a:off x="6515100" y="38862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burn-row-5-lbl"/>
          <p:cNvSpPr txBox="1"/>
          <p:nvPr/>
        </p:nvSpPr>
        <p:spPr>
          <a:xfrm>
            <a:off x="5962650" y="3886200"/>
            <a:ext cx="4953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+5 wk</a:t>
            </a:r>
          </a:p>
        </p:txBody>
      </p:sp>
      <p:sp>
        <p:nvSpPr>
          <p:cNvPr id="52" name="burn-row-5-bar"/>
          <p:cNvSpPr/>
          <p:nvPr/>
        </p:nvSpPr>
        <p:spPr>
          <a:xfrm>
            <a:off x="6591300" y="4010025"/>
            <a:ext cx="2600325" cy="114300"/>
          </a:xfrm>
          <a:prstGeom prst="rect">
            <a:avLst/>
          </a:prstGeom>
          <a:solidFill>
            <a:srgbClr val="F0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burn-row-5-val"/>
          <p:cNvSpPr txBox="1"/>
          <p:nvPr/>
        </p:nvSpPr>
        <p:spPr>
          <a:xfrm>
            <a:off x="9267825" y="3886200"/>
            <a:ext cx="7620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$6.0M</a:t>
            </a:r>
          </a:p>
        </p:txBody>
      </p:sp>
      <p:sp>
        <p:nvSpPr>
          <p:cNvPr id="54" name="burn-row-6-rule"/>
          <p:cNvSpPr/>
          <p:nvPr/>
        </p:nvSpPr>
        <p:spPr>
          <a:xfrm>
            <a:off x="5905500" y="4248150"/>
            <a:ext cx="57531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burn-row-6-lbl-bg"/>
          <p:cNvSpPr/>
          <p:nvPr/>
        </p:nvSpPr>
        <p:spPr>
          <a:xfrm>
            <a:off x="5905500" y="4248150"/>
            <a:ext cx="609600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burn-row-6-lbl-rule"/>
          <p:cNvSpPr/>
          <p:nvPr/>
        </p:nvSpPr>
        <p:spPr>
          <a:xfrm>
            <a:off x="6515100" y="42481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burn-row-6-lbl"/>
          <p:cNvSpPr txBox="1"/>
          <p:nvPr/>
        </p:nvSpPr>
        <p:spPr>
          <a:xfrm>
            <a:off x="5962650" y="4248150"/>
            <a:ext cx="4953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+6 wk</a:t>
            </a:r>
          </a:p>
        </p:txBody>
      </p:sp>
      <p:sp>
        <p:nvSpPr>
          <p:cNvPr id="58" name="burn-row-6-bar"/>
          <p:cNvSpPr/>
          <p:nvPr/>
        </p:nvSpPr>
        <p:spPr>
          <a:xfrm>
            <a:off x="6591300" y="4371975"/>
            <a:ext cx="3124200" cy="114300"/>
          </a:xfrm>
          <a:prstGeom prst="rect">
            <a:avLst/>
          </a:prstGeom>
          <a:solidFill>
            <a:srgbClr val="F0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burn-row-6-val"/>
          <p:cNvSpPr txBox="1"/>
          <p:nvPr/>
        </p:nvSpPr>
        <p:spPr>
          <a:xfrm>
            <a:off x="9791700" y="4248150"/>
            <a:ext cx="7620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$7.2M</a:t>
            </a:r>
          </a:p>
        </p:txBody>
      </p:sp>
      <p:sp>
        <p:nvSpPr>
          <p:cNvPr id="60" name="burn-row-7-rule"/>
          <p:cNvSpPr/>
          <p:nvPr/>
        </p:nvSpPr>
        <p:spPr>
          <a:xfrm>
            <a:off x="5905500" y="4610100"/>
            <a:ext cx="57531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burn-row-7-lbl-bg"/>
          <p:cNvSpPr/>
          <p:nvPr/>
        </p:nvSpPr>
        <p:spPr>
          <a:xfrm>
            <a:off x="5905500" y="4610100"/>
            <a:ext cx="609600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burn-row-7-lbl-rule"/>
          <p:cNvSpPr/>
          <p:nvPr/>
        </p:nvSpPr>
        <p:spPr>
          <a:xfrm>
            <a:off x="6515100" y="461010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burn-row-7-lbl"/>
          <p:cNvSpPr txBox="1"/>
          <p:nvPr/>
        </p:nvSpPr>
        <p:spPr>
          <a:xfrm>
            <a:off x="5962650" y="4610100"/>
            <a:ext cx="4953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+7 wk</a:t>
            </a:r>
          </a:p>
        </p:txBody>
      </p:sp>
      <p:sp>
        <p:nvSpPr>
          <p:cNvPr id="64" name="burn-row-7-bar"/>
          <p:cNvSpPr/>
          <p:nvPr/>
        </p:nvSpPr>
        <p:spPr>
          <a:xfrm>
            <a:off x="6591300" y="4733925"/>
            <a:ext cx="3638550" cy="1143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burn-row-7-val"/>
          <p:cNvSpPr txBox="1"/>
          <p:nvPr/>
        </p:nvSpPr>
        <p:spPr>
          <a:xfrm>
            <a:off x="10306050" y="4610100"/>
            <a:ext cx="7620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$8.4M</a:t>
            </a:r>
          </a:p>
        </p:txBody>
      </p:sp>
      <p:sp>
        <p:nvSpPr>
          <p:cNvPr id="66" name="burn-row-8-rule"/>
          <p:cNvSpPr/>
          <p:nvPr/>
        </p:nvSpPr>
        <p:spPr>
          <a:xfrm>
            <a:off x="5905500" y="4972050"/>
            <a:ext cx="57531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burn-row-8-lbl-bg"/>
          <p:cNvSpPr/>
          <p:nvPr/>
        </p:nvSpPr>
        <p:spPr>
          <a:xfrm>
            <a:off x="5905500" y="4972050"/>
            <a:ext cx="609600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burn-row-8-lbl-rule"/>
          <p:cNvSpPr/>
          <p:nvPr/>
        </p:nvSpPr>
        <p:spPr>
          <a:xfrm>
            <a:off x="6515100" y="4972050"/>
            <a:ext cx="9525" cy="3619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burn-row-8-lbl"/>
          <p:cNvSpPr txBox="1"/>
          <p:nvPr/>
        </p:nvSpPr>
        <p:spPr>
          <a:xfrm>
            <a:off x="5962650" y="4972050"/>
            <a:ext cx="4953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+8 wk</a:t>
            </a:r>
          </a:p>
        </p:txBody>
      </p:sp>
      <p:sp>
        <p:nvSpPr>
          <p:cNvPr id="70" name="burn-row-8-bar"/>
          <p:cNvSpPr/>
          <p:nvPr/>
        </p:nvSpPr>
        <p:spPr>
          <a:xfrm>
            <a:off x="6591300" y="5095875"/>
            <a:ext cx="4162425" cy="114300"/>
          </a:xfrm>
          <a:prstGeom prst="rect">
            <a:avLst/>
          </a:prstGeom>
          <a:solidFill>
            <a:srgbClr val="7A2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burn-row-8-val"/>
          <p:cNvSpPr txBox="1"/>
          <p:nvPr/>
        </p:nvSpPr>
        <p:spPr>
          <a:xfrm>
            <a:off x="10829925" y="4972050"/>
            <a:ext cx="7620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$9.6M</a:t>
            </a:r>
          </a:p>
        </p:txBody>
      </p:sp>
      <p:sp>
        <p:nvSpPr>
          <p:cNvPr id="72" name="axis-1"/>
          <p:cNvSpPr txBox="1"/>
          <p:nvPr/>
        </p:nvSpPr>
        <p:spPr>
          <a:xfrm>
            <a:off x="6343650" y="537210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$0</a:t>
            </a:r>
          </a:p>
        </p:txBody>
      </p:sp>
      <p:sp>
        <p:nvSpPr>
          <p:cNvPr id="73" name="axis-2"/>
          <p:cNvSpPr txBox="1"/>
          <p:nvPr/>
        </p:nvSpPr>
        <p:spPr>
          <a:xfrm>
            <a:off x="7620000" y="537210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$2.5M</a:t>
            </a:r>
          </a:p>
        </p:txBody>
      </p:sp>
      <p:sp>
        <p:nvSpPr>
          <p:cNvPr id="74" name="axis-3"/>
          <p:cNvSpPr txBox="1"/>
          <p:nvPr/>
        </p:nvSpPr>
        <p:spPr>
          <a:xfrm>
            <a:off x="8896350" y="537210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$5.0M</a:t>
            </a:r>
          </a:p>
        </p:txBody>
      </p:sp>
      <p:sp>
        <p:nvSpPr>
          <p:cNvPr id="75" name="axis-4"/>
          <p:cNvSpPr txBox="1"/>
          <p:nvPr/>
        </p:nvSpPr>
        <p:spPr>
          <a:xfrm>
            <a:off x="10172700" y="537210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$7.5M</a:t>
            </a:r>
          </a:p>
        </p:txBody>
      </p:sp>
      <p:sp>
        <p:nvSpPr>
          <p:cNvPr id="76" name="axis-5"/>
          <p:cNvSpPr txBox="1"/>
          <p:nvPr/>
        </p:nvSpPr>
        <p:spPr>
          <a:xfrm>
            <a:off x="11449050" y="537210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$10M</a:t>
            </a:r>
          </a:p>
        </p:txBody>
      </p:sp>
      <p:sp>
        <p:nvSpPr>
          <p:cNvPr id="77" name="threshold-bg"/>
          <p:cNvSpPr/>
          <p:nvPr/>
        </p:nvSpPr>
        <p:spPr>
          <a:xfrm>
            <a:off x="5905500" y="5791200"/>
            <a:ext cx="5753100" cy="285750"/>
          </a:xfrm>
          <a:prstGeom prst="rect">
            <a:avLst/>
          </a:prstGeom>
          <a:solidFill>
            <a:srgbClr val="FE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threshold-accent"/>
          <p:cNvSpPr/>
          <p:nvPr/>
        </p:nvSpPr>
        <p:spPr>
          <a:xfrm>
            <a:off x="5905500" y="5791200"/>
            <a:ext cx="28575" cy="28575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threshold-text"/>
          <p:cNvSpPr txBox="1"/>
          <p:nvPr/>
        </p:nvSpPr>
        <p:spPr>
          <a:xfrm>
            <a:off x="6038850" y="5791200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42318"/>
                </a:solidFill>
                <a:latin typeface="Inter"/>
              </a:rPr>
              <a:t>Tolerance threshold:</a:t>
            </a:r>
            <a:r>
              <a:rPr sz="1050" b="0" i="0">
                <a:solidFill>
                  <a:srgbClr val="B42318"/>
                </a:solidFill>
                <a:latin typeface="Inter"/>
              </a:rPr>
              <a:t> past +4 weeks ($4.8M), foregone savings exceed annual program budget.</a:t>
            </a:r>
          </a:p>
        </p:txBody>
      </p:sp>
      <p:sp>
        <p:nvSpPr>
          <p:cNvPr id="8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