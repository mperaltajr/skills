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Logic model supports program investment case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— assumptions validated by year-1 pilot data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723900"/>
            <a:ext cx="933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Digital Skills Training Initiative — inputs, activities, and outputs mapped to outcomes and long-term workforce impact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93345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ssumptions-bg"/>
          <p:cNvSpPr/>
          <p:nvPr/>
        </p:nvSpPr>
        <p:spPr>
          <a:xfrm>
            <a:off x="457200" y="1333500"/>
            <a:ext cx="11277600" cy="38100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ssumptions-label"/>
          <p:cNvSpPr txBox="1"/>
          <p:nvPr/>
        </p:nvSpPr>
        <p:spPr>
          <a:xfrm>
            <a:off x="590550" y="14478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D4A00"/>
                </a:solidFill>
                <a:latin typeface="Inter"/>
              </a:rPr>
              <a:t>ASSUMPTIONS</a:t>
            </a:r>
          </a:p>
        </p:txBody>
      </p:sp>
      <p:sp>
        <p:nvSpPr>
          <p:cNvPr id="7" name="assumptions-text"/>
          <p:cNvSpPr txBox="1"/>
          <p:nvPr/>
        </p:nvSpPr>
        <p:spPr>
          <a:xfrm>
            <a:off x="1638300" y="1447800"/>
            <a:ext cx="9963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5D4A00"/>
                </a:solidFill>
                <a:latin typeface="Inter"/>
              </a:rPr>
              <a:t>Participants have internet access; employers value digital skills; training completion leads to employment</a:t>
            </a:r>
          </a:p>
        </p:txBody>
      </p:sp>
      <p:sp>
        <p:nvSpPr>
          <p:cNvPr id="8" name="outcomes-group-label"/>
          <p:cNvSpPr txBox="1"/>
          <p:nvPr/>
        </p:nvSpPr>
        <p:spPr>
          <a:xfrm>
            <a:off x="7343775" y="1752600"/>
            <a:ext cx="4391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OUTCOMES</a:t>
            </a:r>
          </a:p>
        </p:txBody>
      </p:sp>
      <p:sp>
        <p:nvSpPr>
          <p:cNvPr id="9" name="col-input-head"/>
          <p:cNvSpPr/>
          <p:nvPr/>
        </p:nvSpPr>
        <p:spPr>
          <a:xfrm>
            <a:off x="457200" y="1924050"/>
            <a:ext cx="2162175" cy="2857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ol-input-eyebrow"/>
          <p:cNvSpPr txBox="1"/>
          <p:nvPr/>
        </p:nvSpPr>
        <p:spPr>
          <a:xfrm>
            <a:off x="552450" y="19621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11" name="col-input-name"/>
          <p:cNvSpPr txBox="1"/>
          <p:nvPr/>
        </p:nvSpPr>
        <p:spPr>
          <a:xfrm>
            <a:off x="552450" y="20574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INPUTS</a:t>
            </a:r>
          </a:p>
        </p:txBody>
      </p:sp>
      <p:sp>
        <p:nvSpPr>
          <p:cNvPr id="12" name="col-input-body"/>
          <p:cNvSpPr/>
          <p:nvPr/>
        </p:nvSpPr>
        <p:spPr>
          <a:xfrm>
            <a:off x="457200" y="2209800"/>
            <a:ext cx="2162175" cy="33909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input-body-text"/>
          <p:cNvSpPr txBox="1"/>
          <p:nvPr/>
        </p:nvSpPr>
        <p:spPr>
          <a:xfrm>
            <a:off x="552450" y="2286000"/>
            <a:ext cx="1971675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Budget $2.4M
· 12 trainers
· Curriculum
· Partner employers</a:t>
            </a:r>
          </a:p>
        </p:txBody>
      </p:sp>
      <p:sp>
        <p:nvSpPr>
          <p:cNvPr id="14" name="col-arrow-1"/>
          <p:cNvSpPr txBox="1"/>
          <p:nvPr/>
        </p:nvSpPr>
        <p:spPr>
          <a:xfrm>
            <a:off x="2638425" y="368617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15" name="col-activity-head"/>
          <p:cNvSpPr/>
          <p:nvPr/>
        </p:nvSpPr>
        <p:spPr>
          <a:xfrm>
            <a:off x="2733675" y="1924050"/>
            <a:ext cx="2162175" cy="285750"/>
          </a:xfrm>
          <a:prstGeom prst="rect">
            <a:avLst/>
          </a:prstGeom>
          <a:solidFill>
            <a:srgbClr val="7C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l-activity-eyebrow"/>
          <p:cNvSpPr txBox="1"/>
          <p:nvPr/>
        </p:nvSpPr>
        <p:spPr>
          <a:xfrm>
            <a:off x="2828925" y="19621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17" name="col-activity-name"/>
          <p:cNvSpPr txBox="1"/>
          <p:nvPr/>
        </p:nvSpPr>
        <p:spPr>
          <a:xfrm>
            <a:off x="2828925" y="20574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8" name="col-activity-body"/>
          <p:cNvSpPr/>
          <p:nvPr/>
        </p:nvSpPr>
        <p:spPr>
          <a:xfrm>
            <a:off x="2733675" y="2209800"/>
            <a:ext cx="2162175" cy="3390900"/>
          </a:xfrm>
          <a:prstGeom prst="rect">
            <a:avLst/>
          </a:prstGeom>
          <a:solidFill>
            <a:srgbClr val="F2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l-activity-body-text"/>
          <p:cNvSpPr txBox="1"/>
          <p:nvPr/>
        </p:nvSpPr>
        <p:spPr>
          <a:xfrm>
            <a:off x="2828925" y="2286000"/>
            <a:ext cx="1971675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8-week bootcamp
· Mentorship
· Job placement support
· Employer partnerships</a:t>
            </a:r>
          </a:p>
        </p:txBody>
      </p:sp>
      <p:sp>
        <p:nvSpPr>
          <p:cNvPr id="20" name="col-arrow-2"/>
          <p:cNvSpPr txBox="1"/>
          <p:nvPr/>
        </p:nvSpPr>
        <p:spPr>
          <a:xfrm>
            <a:off x="4914900" y="368617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1" name="col-output-head"/>
          <p:cNvSpPr/>
          <p:nvPr/>
        </p:nvSpPr>
        <p:spPr>
          <a:xfrm>
            <a:off x="5010150" y="1924050"/>
            <a:ext cx="2162175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l-output-eyebrow"/>
          <p:cNvSpPr txBox="1"/>
          <p:nvPr/>
        </p:nvSpPr>
        <p:spPr>
          <a:xfrm>
            <a:off x="5105400" y="19621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23" name="col-output-name"/>
          <p:cNvSpPr txBox="1"/>
          <p:nvPr/>
        </p:nvSpPr>
        <p:spPr>
          <a:xfrm>
            <a:off x="5105400" y="20574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OUTPUTS</a:t>
            </a:r>
          </a:p>
        </p:txBody>
      </p:sp>
      <p:sp>
        <p:nvSpPr>
          <p:cNvPr id="24" name="col-output-body"/>
          <p:cNvSpPr/>
          <p:nvPr/>
        </p:nvSpPr>
        <p:spPr>
          <a:xfrm>
            <a:off x="5010150" y="2209800"/>
            <a:ext cx="2162175" cy="3390900"/>
          </a:xfrm>
          <a:prstGeom prst="rect">
            <a:avLst/>
          </a:prstGeom>
          <a:solidFill>
            <a:srgbClr val="EAD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l-output-body-text"/>
          <p:cNvSpPr txBox="1"/>
          <p:nvPr/>
        </p:nvSpPr>
        <p:spPr>
          <a:xfrm>
            <a:off x="5105400" y="2286000"/>
            <a:ext cx="1971675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240 graduates/yr
· 95% completion rate
· 18 employer partners
· Certifications issued</a:t>
            </a:r>
          </a:p>
        </p:txBody>
      </p:sp>
      <p:sp>
        <p:nvSpPr>
          <p:cNvPr id="26" name="col-arrow-3"/>
          <p:cNvSpPr txBox="1"/>
          <p:nvPr/>
        </p:nvSpPr>
        <p:spPr>
          <a:xfrm>
            <a:off x="7191375" y="368617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7" name="col-shortterm-head"/>
          <p:cNvSpPr/>
          <p:nvPr/>
        </p:nvSpPr>
        <p:spPr>
          <a:xfrm>
            <a:off x="7286625" y="1924050"/>
            <a:ext cx="2162175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l-shortterm-eyebrow"/>
          <p:cNvSpPr txBox="1"/>
          <p:nvPr/>
        </p:nvSpPr>
        <p:spPr>
          <a:xfrm>
            <a:off x="7381875" y="19621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SHORT-TERM</a:t>
            </a:r>
          </a:p>
        </p:txBody>
      </p:sp>
      <p:sp>
        <p:nvSpPr>
          <p:cNvPr id="29" name="col-shortterm-name"/>
          <p:cNvSpPr txBox="1"/>
          <p:nvPr/>
        </p:nvSpPr>
        <p:spPr>
          <a:xfrm>
            <a:off x="7381875" y="20574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OUTCOMES</a:t>
            </a:r>
          </a:p>
        </p:txBody>
      </p:sp>
      <p:sp>
        <p:nvSpPr>
          <p:cNvPr id="30" name="col-shortterm-body"/>
          <p:cNvSpPr/>
          <p:nvPr/>
        </p:nvSpPr>
        <p:spPr>
          <a:xfrm>
            <a:off x="7286625" y="2209800"/>
            <a:ext cx="2162175" cy="3390900"/>
          </a:xfrm>
          <a:prstGeom prst="rect">
            <a:avLst/>
          </a:prstGeom>
          <a:solidFill>
            <a:srgbClr val="E3D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l-shortterm-body-text"/>
          <p:cNvSpPr txBox="1"/>
          <p:nvPr/>
        </p:nvSpPr>
        <p:spPr>
          <a:xfrm>
            <a:off x="7381875" y="2286000"/>
            <a:ext cx="1971675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· Digital employment skills
· Job-ready graduates
· Employer relationships built</a:t>
            </a:r>
          </a:p>
        </p:txBody>
      </p:sp>
      <p:sp>
        <p:nvSpPr>
          <p:cNvPr id="32" name="col-arrow-4"/>
          <p:cNvSpPr txBox="1"/>
          <p:nvPr/>
        </p:nvSpPr>
        <p:spPr>
          <a:xfrm>
            <a:off x="9467850" y="368617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33" name="col-longterm-head"/>
          <p:cNvSpPr/>
          <p:nvPr/>
        </p:nvSpPr>
        <p:spPr>
          <a:xfrm>
            <a:off x="9563100" y="1924050"/>
            <a:ext cx="2162175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l-longterm-eyebrow"/>
          <p:cNvSpPr txBox="1"/>
          <p:nvPr/>
        </p:nvSpPr>
        <p:spPr>
          <a:xfrm>
            <a:off x="9658350" y="19621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LONG-TERM</a:t>
            </a:r>
          </a:p>
        </p:txBody>
      </p:sp>
      <p:sp>
        <p:nvSpPr>
          <p:cNvPr id="35" name="col-longterm-name"/>
          <p:cNvSpPr txBox="1"/>
          <p:nvPr/>
        </p:nvSpPr>
        <p:spPr>
          <a:xfrm>
            <a:off x="9658350" y="20574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36" name="col-longterm-body"/>
          <p:cNvSpPr/>
          <p:nvPr/>
        </p:nvSpPr>
        <p:spPr>
          <a:xfrm>
            <a:off x="9563100" y="2209800"/>
            <a:ext cx="2162175" cy="3390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l-longterm-body-text"/>
          <p:cNvSpPr txBox="1"/>
          <p:nvPr/>
        </p:nvSpPr>
        <p:spPr>
          <a:xfrm>
            <a:off x="9658350" y="2286000"/>
            <a:ext cx="1971675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Economic mobility
· Workforce gap closed
· Industry competitiveness</a:t>
            </a:r>
          </a:p>
        </p:txBody>
      </p:sp>
      <p:sp>
        <p:nvSpPr>
          <p:cNvPr id="38" name="external-bg"/>
          <p:cNvSpPr/>
          <p:nvPr/>
        </p:nvSpPr>
        <p:spPr>
          <a:xfrm>
            <a:off x="457200" y="5657850"/>
            <a:ext cx="11277600" cy="3238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external-label"/>
          <p:cNvSpPr txBox="1"/>
          <p:nvPr/>
        </p:nvSpPr>
        <p:spPr>
          <a:xfrm>
            <a:off x="590550" y="5743575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563EB"/>
                </a:solidFill>
                <a:latin typeface="Inter"/>
              </a:rPr>
              <a:t>EXTERNAL FACTORS</a:t>
            </a:r>
          </a:p>
        </p:txBody>
      </p:sp>
      <p:sp>
        <p:nvSpPr>
          <p:cNvPr id="40" name="external-text"/>
          <p:cNvSpPr txBox="1"/>
          <p:nvPr/>
        </p:nvSpPr>
        <p:spPr>
          <a:xfrm>
            <a:off x="1885950" y="5743575"/>
            <a:ext cx="971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E3A8A"/>
                </a:solidFill>
                <a:latin typeface="Inter"/>
              </a:rPr>
              <a:t>Economic conditions, employer hiring freezes, policy changes</a:t>
            </a:r>
          </a:p>
        </p:txBody>
      </p:sp>
      <p:sp>
        <p:nvSpPr>
          <p:cNvPr id="41" name="convergence-bg"/>
          <p:cNvSpPr/>
          <p:nvPr/>
        </p:nvSpPr>
        <p:spPr>
          <a:xfrm>
            <a:off x="457200" y="6038850"/>
            <a:ext cx="112776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nvergence-mark"/>
          <p:cNvSpPr txBox="1"/>
          <p:nvPr/>
        </p:nvSpPr>
        <p:spPr>
          <a:xfrm>
            <a:off x="590550" y="6162675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PROGRAM THEORY</a:t>
            </a:r>
          </a:p>
        </p:txBody>
      </p:sp>
      <p:sp>
        <p:nvSpPr>
          <p:cNvPr id="43" name="convergence"/>
          <p:cNvSpPr txBox="1"/>
          <p:nvPr/>
        </p:nvSpPr>
        <p:spPr>
          <a:xfrm>
            <a:off x="1771650" y="6038850"/>
            <a:ext cx="9829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When funded inputs enable structured bootcamp activities, certified graduates and employer partnerships drive workforce mobility — closing the digital skills gap and sustaining industry competitiveness over time.</a:t>
            </a:r>
          </a:p>
        </p:txBody>
      </p:sp>
      <p:sp>
        <p:nvSpPr>
          <p:cNvPr id="4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