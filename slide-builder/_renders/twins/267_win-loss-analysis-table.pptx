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Win/Loss Analysis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What Drives Our Results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FY26 competitive pursuit review · 53 deals scored · source: CRM + debrief interviews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ft-panel"/>
          <p:cNvSpPr/>
          <p:nvPr/>
        </p:nvSpPr>
        <p:spPr>
          <a:xfrm>
            <a:off x="457200" y="2190750"/>
            <a:ext cx="3152775" cy="38290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ft-accent"/>
          <p:cNvSpPr/>
          <p:nvPr/>
        </p:nvSpPr>
        <p:spPr>
          <a:xfrm>
            <a:off x="457200" y="2190750"/>
            <a:ext cx="28575" cy="382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win-rate-label"/>
          <p:cNvSpPr txBox="1"/>
          <p:nvPr/>
        </p:nvSpPr>
        <p:spPr>
          <a:xfrm>
            <a:off x="628650" y="2362200"/>
            <a:ext cx="2809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WIN RATE</a:t>
            </a:r>
          </a:p>
        </p:txBody>
      </p:sp>
      <p:sp>
        <p:nvSpPr>
          <p:cNvPr id="8" name="win-rate-number"/>
          <p:cNvSpPr txBox="1"/>
          <p:nvPr/>
        </p:nvSpPr>
        <p:spPr>
          <a:xfrm>
            <a:off x="628650" y="2533650"/>
            <a:ext cx="2809875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4200" b="1" i="0">
                <a:solidFill>
                  <a:srgbClr val="A100FF"/>
                </a:solidFill>
                <a:latin typeface="Inter"/>
              </a:rPr>
              <a:t>64%</a:t>
            </a:r>
          </a:p>
        </p:txBody>
      </p:sp>
      <p:sp>
        <p:nvSpPr>
          <p:cNvPr id="9" name="donut-outer"/>
          <p:cNvSpPr/>
          <p:nvPr/>
        </p:nvSpPr>
        <p:spPr>
          <a:xfrm>
            <a:off x="1457325" y="3257550"/>
            <a:ext cx="1143000" cy="1143000"/>
          </a:xfrm>
          <a:prstGeom prst="ellipse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donut-arc"/>
          <p:cNvSpPr/>
          <p:nvPr/>
        </p:nvSpPr>
        <p:spPr>
          <a:xfrm>
            <a:off x="1457325" y="3257550"/>
            <a:ext cx="1143000" cy="1143000"/>
          </a:xfrm>
          <a:prstGeom prst="pi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donut-hole"/>
          <p:cNvSpPr/>
          <p:nvPr/>
        </p:nvSpPr>
        <p:spPr>
          <a:xfrm>
            <a:off x="1647825" y="3448050"/>
            <a:ext cx="762000" cy="762000"/>
          </a:xfrm>
          <a:prstGeom prst="ellipse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donut-center"/>
          <p:cNvSpPr txBox="1"/>
          <p:nvPr/>
        </p:nvSpPr>
        <p:spPr>
          <a:xfrm>
            <a:off x="1457325" y="367665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64%</a:t>
            </a:r>
          </a:p>
        </p:txBody>
      </p:sp>
      <p:sp>
        <p:nvSpPr>
          <p:cNvPr id="13" name="donut-sub"/>
          <p:cNvSpPr txBox="1"/>
          <p:nvPr/>
        </p:nvSpPr>
        <p:spPr>
          <a:xfrm>
            <a:off x="1457325" y="3867150"/>
            <a:ext cx="1143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WIN</a:t>
            </a:r>
          </a:p>
        </p:txBody>
      </p:sp>
      <p:sp>
        <p:nvSpPr>
          <p:cNvPr id="14" name="pursuits-line"/>
          <p:cNvSpPr txBox="1"/>
          <p:nvPr/>
        </p:nvSpPr>
        <p:spPr>
          <a:xfrm>
            <a:off x="628650" y="4514850"/>
            <a:ext cx="28098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34 wins / 53 pursuits · FY26</a:t>
            </a:r>
          </a:p>
        </p:txBody>
      </p:sp>
      <p:sp>
        <p:nvSpPr>
          <p:cNvPr id="15" name="stats-divider"/>
          <p:cNvSpPr/>
          <p:nvPr/>
        </p:nvSpPr>
        <p:spPr>
          <a:xfrm>
            <a:off x="723900" y="4743450"/>
            <a:ext cx="26193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stat-1-label"/>
          <p:cNvSpPr txBox="1"/>
          <p:nvPr/>
        </p:nvSpPr>
        <p:spPr>
          <a:xfrm>
            <a:off x="628650" y="4857750"/>
            <a:ext cx="2809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AVG DEAL SIZE</a:t>
            </a:r>
          </a:p>
        </p:txBody>
      </p:sp>
      <p:sp>
        <p:nvSpPr>
          <p:cNvPr id="17" name="stat-1-value"/>
          <p:cNvSpPr txBox="1"/>
          <p:nvPr/>
        </p:nvSpPr>
        <p:spPr>
          <a:xfrm>
            <a:off x="628650" y="5010150"/>
            <a:ext cx="2809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$2.4M per pursuit</a:t>
            </a:r>
          </a:p>
        </p:txBody>
      </p:sp>
      <p:sp>
        <p:nvSpPr>
          <p:cNvPr id="18" name="stat-2-label"/>
          <p:cNvSpPr txBox="1"/>
          <p:nvPr/>
        </p:nvSpPr>
        <p:spPr>
          <a:xfrm>
            <a:off x="628650" y="5334000"/>
            <a:ext cx="2809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4748B"/>
                </a:solidFill>
                <a:latin typeface="Inter"/>
              </a:rPr>
              <a:t>AVG CYCLE LENGTH</a:t>
            </a:r>
          </a:p>
        </p:txBody>
      </p:sp>
      <p:sp>
        <p:nvSpPr>
          <p:cNvPr id="19" name="stat-2-value"/>
          <p:cNvSpPr txBox="1"/>
          <p:nvPr/>
        </p:nvSpPr>
        <p:spPr>
          <a:xfrm>
            <a:off x="628650" y="5486400"/>
            <a:ext cx="280987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94 days</a:t>
            </a:r>
          </a:p>
        </p:txBody>
      </p:sp>
      <p:sp>
        <p:nvSpPr>
          <p:cNvPr id="20" name="table-header-bg"/>
          <p:cNvSpPr/>
          <p:nvPr/>
        </p:nvSpPr>
        <p:spPr>
          <a:xfrm>
            <a:off x="3781425" y="2190750"/>
            <a:ext cx="7953375" cy="2857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h-title"/>
          <p:cNvSpPr txBox="1"/>
          <p:nvPr/>
        </p:nvSpPr>
        <p:spPr>
          <a:xfrm>
            <a:off x="3914775" y="2190750"/>
            <a:ext cx="12001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WHY WE WIN / LOSE</a:t>
            </a:r>
          </a:p>
        </p:txBody>
      </p:sp>
      <p:sp>
        <p:nvSpPr>
          <p:cNvPr id="22" name="th-win"/>
          <p:cNvSpPr txBox="1"/>
          <p:nvPr/>
        </p:nvSpPr>
        <p:spPr>
          <a:xfrm>
            <a:off x="5210175" y="2190750"/>
            <a:ext cx="21621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8E6C9"/>
                </a:solidFill>
                <a:latin typeface="Inter"/>
              </a:rPr>
              <a:t>WIN CONTRIBUTION</a:t>
            </a:r>
          </a:p>
        </p:txBody>
      </p:sp>
      <p:sp>
        <p:nvSpPr>
          <p:cNvPr id="23" name="th-loss"/>
          <p:cNvSpPr txBox="1"/>
          <p:nvPr/>
        </p:nvSpPr>
        <p:spPr>
          <a:xfrm>
            <a:off x="7372350" y="2190750"/>
            <a:ext cx="2162175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CDD2"/>
                </a:solidFill>
                <a:latin typeface="Inter"/>
              </a:rPr>
              <a:t>LOSS REASON</a:t>
            </a:r>
          </a:p>
        </p:txBody>
      </p:sp>
      <p:sp>
        <p:nvSpPr>
          <p:cNvPr id="24" name="th-insight"/>
          <p:cNvSpPr txBox="1"/>
          <p:nvPr/>
        </p:nvSpPr>
        <p:spPr>
          <a:xfrm>
            <a:off x="9629775" y="2190750"/>
            <a:ext cx="20002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KEY INSIGHT</a:t>
            </a:r>
          </a:p>
        </p:txBody>
      </p:sp>
      <p:sp>
        <p:nvSpPr>
          <p:cNvPr id="25" name="row-1-rule"/>
          <p:cNvSpPr/>
          <p:nvPr/>
        </p:nvSpPr>
        <p:spPr>
          <a:xfrm>
            <a:off x="3781425" y="2476500"/>
            <a:ext cx="79533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row-1-name"/>
          <p:cNvSpPr txBox="1"/>
          <p:nvPr/>
        </p:nvSpPr>
        <p:spPr>
          <a:xfrm>
            <a:off x="3914775" y="2476500"/>
            <a:ext cx="1200150" cy="504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Solution Fit</a:t>
            </a:r>
          </a:p>
        </p:txBody>
      </p:sp>
      <p:sp>
        <p:nvSpPr>
          <p:cNvPr id="27" name="row-1-win-track"/>
          <p:cNvSpPr/>
          <p:nvPr/>
        </p:nvSpPr>
        <p:spPr>
          <a:xfrm>
            <a:off x="5353050" y="2619375"/>
            <a:ext cx="1876425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row-1-win-fill"/>
          <p:cNvSpPr/>
          <p:nvPr/>
        </p:nvSpPr>
        <p:spPr>
          <a:xfrm>
            <a:off x="5353050" y="2619375"/>
            <a:ext cx="1457325" cy="1143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row-1-win-pct"/>
          <p:cNvSpPr txBox="1"/>
          <p:nvPr/>
        </p:nvSpPr>
        <p:spPr>
          <a:xfrm>
            <a:off x="5353050" y="2752725"/>
            <a:ext cx="1876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78%</a:t>
            </a:r>
          </a:p>
        </p:txBody>
      </p:sp>
      <p:sp>
        <p:nvSpPr>
          <p:cNvPr id="30" name="row-1-loss-track"/>
          <p:cNvSpPr/>
          <p:nvPr/>
        </p:nvSpPr>
        <p:spPr>
          <a:xfrm>
            <a:off x="7515225" y="2619375"/>
            <a:ext cx="1876425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row-1-loss-fill"/>
          <p:cNvSpPr/>
          <p:nvPr/>
        </p:nvSpPr>
        <p:spPr>
          <a:xfrm>
            <a:off x="7515225" y="2619375"/>
            <a:ext cx="409575" cy="1143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row-1-loss-pct"/>
          <p:cNvSpPr txBox="1"/>
          <p:nvPr/>
        </p:nvSpPr>
        <p:spPr>
          <a:xfrm>
            <a:off x="7515225" y="2752725"/>
            <a:ext cx="1876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22%</a:t>
            </a:r>
          </a:p>
        </p:txBody>
      </p:sp>
      <p:sp>
        <p:nvSpPr>
          <p:cNvPr id="33" name="row-1-insight"/>
          <p:cNvSpPr txBox="1"/>
          <p:nvPr/>
        </p:nvSpPr>
        <p:spPr>
          <a:xfrm>
            <a:off x="9629775" y="2476500"/>
            <a:ext cx="2000250" cy="504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Core differentiator in 8/10 wins</a:t>
            </a:r>
          </a:p>
        </p:txBody>
      </p:sp>
      <p:sp>
        <p:nvSpPr>
          <p:cNvPr id="34" name="row-2-bg"/>
          <p:cNvSpPr/>
          <p:nvPr/>
        </p:nvSpPr>
        <p:spPr>
          <a:xfrm>
            <a:off x="3781425" y="2981325"/>
            <a:ext cx="7953375" cy="50482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row-2-rule"/>
          <p:cNvSpPr/>
          <p:nvPr/>
        </p:nvSpPr>
        <p:spPr>
          <a:xfrm>
            <a:off x="3781425" y="2981325"/>
            <a:ext cx="79533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row-2-name"/>
          <p:cNvSpPr txBox="1"/>
          <p:nvPr/>
        </p:nvSpPr>
        <p:spPr>
          <a:xfrm>
            <a:off x="3914775" y="2981325"/>
            <a:ext cx="1200150" cy="504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Relationships</a:t>
            </a:r>
          </a:p>
        </p:txBody>
      </p:sp>
      <p:sp>
        <p:nvSpPr>
          <p:cNvPr id="37" name="row-2-win-track"/>
          <p:cNvSpPr/>
          <p:nvPr/>
        </p:nvSpPr>
        <p:spPr>
          <a:xfrm>
            <a:off x="5353050" y="3124200"/>
            <a:ext cx="1876425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row-2-win-fill"/>
          <p:cNvSpPr/>
          <p:nvPr/>
        </p:nvSpPr>
        <p:spPr>
          <a:xfrm>
            <a:off x="5353050" y="3124200"/>
            <a:ext cx="1323975" cy="1143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row-2-win-pct"/>
          <p:cNvSpPr txBox="1"/>
          <p:nvPr/>
        </p:nvSpPr>
        <p:spPr>
          <a:xfrm>
            <a:off x="5353050" y="3257550"/>
            <a:ext cx="1876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71%</a:t>
            </a:r>
          </a:p>
        </p:txBody>
      </p:sp>
      <p:sp>
        <p:nvSpPr>
          <p:cNvPr id="40" name="row-2-loss-track"/>
          <p:cNvSpPr/>
          <p:nvPr/>
        </p:nvSpPr>
        <p:spPr>
          <a:xfrm>
            <a:off x="7515225" y="3124200"/>
            <a:ext cx="1876425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row-2-loss-fill"/>
          <p:cNvSpPr/>
          <p:nvPr/>
        </p:nvSpPr>
        <p:spPr>
          <a:xfrm>
            <a:off x="7515225" y="3124200"/>
            <a:ext cx="542925" cy="1143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row-2-loss-pct"/>
          <p:cNvSpPr txBox="1"/>
          <p:nvPr/>
        </p:nvSpPr>
        <p:spPr>
          <a:xfrm>
            <a:off x="7515225" y="3257550"/>
            <a:ext cx="1876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29%</a:t>
            </a:r>
          </a:p>
        </p:txBody>
      </p:sp>
      <p:sp>
        <p:nvSpPr>
          <p:cNvPr id="43" name="row-2-insight"/>
          <p:cNvSpPr txBox="1"/>
          <p:nvPr/>
        </p:nvSpPr>
        <p:spPr>
          <a:xfrm>
            <a:off x="9629775" y="2981325"/>
            <a:ext cx="2000250" cy="504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C-suite access critical</a:t>
            </a:r>
          </a:p>
        </p:txBody>
      </p:sp>
      <p:sp>
        <p:nvSpPr>
          <p:cNvPr id="44" name="row-3-rule"/>
          <p:cNvSpPr/>
          <p:nvPr/>
        </p:nvSpPr>
        <p:spPr>
          <a:xfrm>
            <a:off x="3781425" y="3486150"/>
            <a:ext cx="79533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row-3-name"/>
          <p:cNvSpPr txBox="1"/>
          <p:nvPr/>
        </p:nvSpPr>
        <p:spPr>
          <a:xfrm>
            <a:off x="3914775" y="3486150"/>
            <a:ext cx="1200150" cy="504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Price</a:t>
            </a:r>
          </a:p>
        </p:txBody>
      </p:sp>
      <p:sp>
        <p:nvSpPr>
          <p:cNvPr id="46" name="row-3-win-track"/>
          <p:cNvSpPr/>
          <p:nvPr/>
        </p:nvSpPr>
        <p:spPr>
          <a:xfrm>
            <a:off x="5353050" y="3629025"/>
            <a:ext cx="1876425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row-3-win-fill"/>
          <p:cNvSpPr/>
          <p:nvPr/>
        </p:nvSpPr>
        <p:spPr>
          <a:xfrm>
            <a:off x="5353050" y="3629025"/>
            <a:ext cx="819150" cy="1143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row-3-win-pct"/>
          <p:cNvSpPr txBox="1"/>
          <p:nvPr/>
        </p:nvSpPr>
        <p:spPr>
          <a:xfrm>
            <a:off x="5353050" y="3762375"/>
            <a:ext cx="1876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44%</a:t>
            </a:r>
          </a:p>
        </p:txBody>
      </p:sp>
      <p:sp>
        <p:nvSpPr>
          <p:cNvPr id="49" name="row-3-loss-track"/>
          <p:cNvSpPr/>
          <p:nvPr/>
        </p:nvSpPr>
        <p:spPr>
          <a:xfrm>
            <a:off x="7515225" y="3629025"/>
            <a:ext cx="1876425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row-3-loss-fill"/>
          <p:cNvSpPr/>
          <p:nvPr/>
        </p:nvSpPr>
        <p:spPr>
          <a:xfrm>
            <a:off x="7515225" y="3629025"/>
            <a:ext cx="1047750" cy="1143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row-3-loss-pct"/>
          <p:cNvSpPr txBox="1"/>
          <p:nvPr/>
        </p:nvSpPr>
        <p:spPr>
          <a:xfrm>
            <a:off x="7515225" y="3762375"/>
            <a:ext cx="1876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56%</a:t>
            </a:r>
          </a:p>
        </p:txBody>
      </p:sp>
      <p:sp>
        <p:nvSpPr>
          <p:cNvPr id="52" name="row-3-insight"/>
          <p:cNvSpPr txBox="1"/>
          <p:nvPr/>
        </p:nvSpPr>
        <p:spPr>
          <a:xfrm>
            <a:off x="9629775" y="3486150"/>
            <a:ext cx="2000250" cy="504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Lost 18 deals on price alone</a:t>
            </a:r>
          </a:p>
        </p:txBody>
      </p:sp>
      <p:sp>
        <p:nvSpPr>
          <p:cNvPr id="53" name="row-4-bg"/>
          <p:cNvSpPr/>
          <p:nvPr/>
        </p:nvSpPr>
        <p:spPr>
          <a:xfrm>
            <a:off x="3781425" y="3990975"/>
            <a:ext cx="7953375" cy="50482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row-4-rule"/>
          <p:cNvSpPr/>
          <p:nvPr/>
        </p:nvSpPr>
        <p:spPr>
          <a:xfrm>
            <a:off x="3781425" y="3990975"/>
            <a:ext cx="79533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row-4-name"/>
          <p:cNvSpPr txBox="1"/>
          <p:nvPr/>
        </p:nvSpPr>
        <p:spPr>
          <a:xfrm>
            <a:off x="3914775" y="3990975"/>
            <a:ext cx="1200150" cy="504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Proposal Quality</a:t>
            </a:r>
          </a:p>
        </p:txBody>
      </p:sp>
      <p:sp>
        <p:nvSpPr>
          <p:cNvPr id="56" name="row-4-win-track"/>
          <p:cNvSpPr/>
          <p:nvPr/>
        </p:nvSpPr>
        <p:spPr>
          <a:xfrm>
            <a:off x="5353050" y="4133850"/>
            <a:ext cx="1876425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row-4-win-fill"/>
          <p:cNvSpPr/>
          <p:nvPr/>
        </p:nvSpPr>
        <p:spPr>
          <a:xfrm>
            <a:off x="5353050" y="4133850"/>
            <a:ext cx="1247775" cy="1143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row-4-win-pct"/>
          <p:cNvSpPr txBox="1"/>
          <p:nvPr/>
        </p:nvSpPr>
        <p:spPr>
          <a:xfrm>
            <a:off x="5353050" y="4267200"/>
            <a:ext cx="1876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67%</a:t>
            </a:r>
          </a:p>
        </p:txBody>
      </p:sp>
      <p:sp>
        <p:nvSpPr>
          <p:cNvPr id="59" name="row-4-loss-track"/>
          <p:cNvSpPr/>
          <p:nvPr/>
        </p:nvSpPr>
        <p:spPr>
          <a:xfrm>
            <a:off x="7515225" y="4133850"/>
            <a:ext cx="1876425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row-4-loss-fill"/>
          <p:cNvSpPr/>
          <p:nvPr/>
        </p:nvSpPr>
        <p:spPr>
          <a:xfrm>
            <a:off x="7515225" y="4133850"/>
            <a:ext cx="619125" cy="1143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row-4-loss-pct"/>
          <p:cNvSpPr txBox="1"/>
          <p:nvPr/>
        </p:nvSpPr>
        <p:spPr>
          <a:xfrm>
            <a:off x="7515225" y="4267200"/>
            <a:ext cx="1876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33%</a:t>
            </a:r>
          </a:p>
        </p:txBody>
      </p:sp>
      <p:sp>
        <p:nvSpPr>
          <p:cNvPr id="62" name="row-4-insight"/>
          <p:cNvSpPr txBox="1"/>
          <p:nvPr/>
        </p:nvSpPr>
        <p:spPr>
          <a:xfrm>
            <a:off x="9629775" y="3990975"/>
            <a:ext cx="2000250" cy="504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Late submissions cost 6 deals</a:t>
            </a:r>
          </a:p>
        </p:txBody>
      </p:sp>
      <p:sp>
        <p:nvSpPr>
          <p:cNvPr id="63" name="row-5-rule"/>
          <p:cNvSpPr/>
          <p:nvPr/>
        </p:nvSpPr>
        <p:spPr>
          <a:xfrm>
            <a:off x="3781425" y="4495800"/>
            <a:ext cx="79533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row-5-name"/>
          <p:cNvSpPr txBox="1"/>
          <p:nvPr/>
        </p:nvSpPr>
        <p:spPr>
          <a:xfrm>
            <a:off x="3914775" y="4495800"/>
            <a:ext cx="1200150" cy="504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Speed to Respond</a:t>
            </a:r>
          </a:p>
        </p:txBody>
      </p:sp>
      <p:sp>
        <p:nvSpPr>
          <p:cNvPr id="65" name="row-5-win-track"/>
          <p:cNvSpPr/>
          <p:nvPr/>
        </p:nvSpPr>
        <p:spPr>
          <a:xfrm>
            <a:off x="5353050" y="4638675"/>
            <a:ext cx="1876425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row-5-win-fill"/>
          <p:cNvSpPr/>
          <p:nvPr/>
        </p:nvSpPr>
        <p:spPr>
          <a:xfrm>
            <a:off x="5353050" y="4638675"/>
            <a:ext cx="1028700" cy="1143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row-5-win-pct"/>
          <p:cNvSpPr txBox="1"/>
          <p:nvPr/>
        </p:nvSpPr>
        <p:spPr>
          <a:xfrm>
            <a:off x="5353050" y="4772025"/>
            <a:ext cx="1876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55%</a:t>
            </a:r>
          </a:p>
        </p:txBody>
      </p:sp>
      <p:sp>
        <p:nvSpPr>
          <p:cNvPr id="68" name="row-5-loss-track"/>
          <p:cNvSpPr/>
          <p:nvPr/>
        </p:nvSpPr>
        <p:spPr>
          <a:xfrm>
            <a:off x="7515225" y="4638675"/>
            <a:ext cx="1876425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row-5-loss-fill"/>
          <p:cNvSpPr/>
          <p:nvPr/>
        </p:nvSpPr>
        <p:spPr>
          <a:xfrm>
            <a:off x="7515225" y="4638675"/>
            <a:ext cx="838200" cy="1143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row-5-loss-pct"/>
          <p:cNvSpPr txBox="1"/>
          <p:nvPr/>
        </p:nvSpPr>
        <p:spPr>
          <a:xfrm>
            <a:off x="7515225" y="4772025"/>
            <a:ext cx="1876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45%</a:t>
            </a:r>
          </a:p>
        </p:txBody>
      </p:sp>
      <p:sp>
        <p:nvSpPr>
          <p:cNvPr id="71" name="row-5-insight"/>
          <p:cNvSpPr txBox="1"/>
          <p:nvPr/>
        </p:nvSpPr>
        <p:spPr>
          <a:xfrm>
            <a:off x="9629775" y="4495800"/>
            <a:ext cx="2000250" cy="504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Average 4-day response time</a:t>
            </a:r>
          </a:p>
        </p:txBody>
      </p:sp>
      <p:sp>
        <p:nvSpPr>
          <p:cNvPr id="72" name="row-6-bg"/>
          <p:cNvSpPr/>
          <p:nvPr/>
        </p:nvSpPr>
        <p:spPr>
          <a:xfrm>
            <a:off x="3781425" y="5000625"/>
            <a:ext cx="7953375" cy="50482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row-6-rule"/>
          <p:cNvSpPr/>
          <p:nvPr/>
        </p:nvSpPr>
        <p:spPr>
          <a:xfrm>
            <a:off x="3781425" y="5000625"/>
            <a:ext cx="79533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row-6-name"/>
          <p:cNvSpPr txBox="1"/>
          <p:nvPr/>
        </p:nvSpPr>
        <p:spPr>
          <a:xfrm>
            <a:off x="3914775" y="5000625"/>
            <a:ext cx="1200150" cy="504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Technical Depth</a:t>
            </a:r>
          </a:p>
        </p:txBody>
      </p:sp>
      <p:sp>
        <p:nvSpPr>
          <p:cNvPr id="75" name="row-6-win-track"/>
          <p:cNvSpPr/>
          <p:nvPr/>
        </p:nvSpPr>
        <p:spPr>
          <a:xfrm>
            <a:off x="5353050" y="5143500"/>
            <a:ext cx="1876425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row-6-win-fill"/>
          <p:cNvSpPr/>
          <p:nvPr/>
        </p:nvSpPr>
        <p:spPr>
          <a:xfrm>
            <a:off x="5353050" y="5143500"/>
            <a:ext cx="1533525" cy="1143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row-6-win-pct"/>
          <p:cNvSpPr txBox="1"/>
          <p:nvPr/>
        </p:nvSpPr>
        <p:spPr>
          <a:xfrm>
            <a:off x="5353050" y="5276850"/>
            <a:ext cx="1876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82%</a:t>
            </a:r>
          </a:p>
        </p:txBody>
      </p:sp>
      <p:sp>
        <p:nvSpPr>
          <p:cNvPr id="78" name="row-6-loss-track"/>
          <p:cNvSpPr/>
          <p:nvPr/>
        </p:nvSpPr>
        <p:spPr>
          <a:xfrm>
            <a:off x="7515225" y="5143500"/>
            <a:ext cx="1876425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row-6-loss-fill"/>
          <p:cNvSpPr/>
          <p:nvPr/>
        </p:nvSpPr>
        <p:spPr>
          <a:xfrm>
            <a:off x="7515225" y="5143500"/>
            <a:ext cx="333375" cy="1143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0" name="row-6-loss-pct"/>
          <p:cNvSpPr txBox="1"/>
          <p:nvPr/>
        </p:nvSpPr>
        <p:spPr>
          <a:xfrm>
            <a:off x="7515225" y="5276850"/>
            <a:ext cx="1876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18%</a:t>
            </a:r>
          </a:p>
        </p:txBody>
      </p:sp>
      <p:sp>
        <p:nvSpPr>
          <p:cNvPr id="81" name="row-6-insight"/>
          <p:cNvSpPr txBox="1"/>
          <p:nvPr/>
        </p:nvSpPr>
        <p:spPr>
          <a:xfrm>
            <a:off x="9629775" y="5000625"/>
            <a:ext cx="2000250" cy="504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Our strongest attribute</a:t>
            </a:r>
          </a:p>
        </p:txBody>
      </p:sp>
      <p:sp>
        <p:nvSpPr>
          <p:cNvPr id="83" name="row-7-name"/>
          <p:cNvSpPr txBox="1"/>
          <p:nvPr/>
        </p:nvSpPr>
        <p:spPr>
          <a:xfrm>
            <a:off x="3914775" y="5505450"/>
            <a:ext cx="1200150" cy="504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References</a:t>
            </a:r>
          </a:p>
        </p:txBody>
      </p:sp>
      <p:sp>
        <p:nvSpPr>
          <p:cNvPr id="84" name="row-7-win-track"/>
          <p:cNvSpPr/>
          <p:nvPr/>
        </p:nvSpPr>
        <p:spPr>
          <a:xfrm>
            <a:off x="5353050" y="5648325"/>
            <a:ext cx="1876425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5" name="row-7-win-fill"/>
          <p:cNvSpPr/>
          <p:nvPr/>
        </p:nvSpPr>
        <p:spPr>
          <a:xfrm>
            <a:off x="5353050" y="5648325"/>
            <a:ext cx="1285875" cy="1143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row-7-win-pct"/>
          <p:cNvSpPr txBox="1"/>
          <p:nvPr/>
        </p:nvSpPr>
        <p:spPr>
          <a:xfrm>
            <a:off x="5353050" y="5781675"/>
            <a:ext cx="1876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69%</a:t>
            </a:r>
          </a:p>
        </p:txBody>
      </p:sp>
      <p:sp>
        <p:nvSpPr>
          <p:cNvPr id="87" name="row-7-loss-track"/>
          <p:cNvSpPr/>
          <p:nvPr/>
        </p:nvSpPr>
        <p:spPr>
          <a:xfrm>
            <a:off x="7515225" y="5648325"/>
            <a:ext cx="1876425" cy="114300"/>
          </a:xfrm>
          <a:prstGeom prst="rect">
            <a:avLst/>
          </a:prstGeom>
          <a:solidFill>
            <a:srgbClr val="EE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row-7-loss-fill"/>
          <p:cNvSpPr/>
          <p:nvPr/>
        </p:nvSpPr>
        <p:spPr>
          <a:xfrm>
            <a:off x="7515225" y="5648325"/>
            <a:ext cx="581025" cy="1143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9" name="row-7-loss-pct"/>
          <p:cNvSpPr txBox="1"/>
          <p:nvPr/>
        </p:nvSpPr>
        <p:spPr>
          <a:xfrm>
            <a:off x="7515225" y="5781675"/>
            <a:ext cx="187642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31%</a:t>
            </a:r>
          </a:p>
        </p:txBody>
      </p:sp>
      <p:sp>
        <p:nvSpPr>
          <p:cNvPr id="90" name="row-7-insight"/>
          <p:cNvSpPr txBox="1"/>
          <p:nvPr/>
        </p:nvSpPr>
        <p:spPr>
          <a:xfrm>
            <a:off x="9629775" y="5505450"/>
            <a:ext cx="2000250" cy="504825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3 relevant references needed</a:t>
            </a:r>
          </a:p>
        </p:txBody>
      </p:sp>
      <p:sp>
        <p:nvSpPr>
          <p:cNvPr id="9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9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9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