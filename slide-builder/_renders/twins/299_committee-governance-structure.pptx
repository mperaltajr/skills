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Committee &amp;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Governance Structure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134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Oversight framework and committee mandates as of FY2026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1-box"/>
          <p:cNvSpPr/>
          <p:nvPr/>
        </p:nvSpPr>
        <p:spPr>
          <a:xfrm>
            <a:off x="457200" y="1752600"/>
            <a:ext cx="8953500" cy="5524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1-title"/>
          <p:cNvSpPr txBox="1"/>
          <p:nvPr/>
        </p:nvSpPr>
        <p:spPr>
          <a:xfrm>
            <a:off x="457200" y="1752600"/>
            <a:ext cx="895350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125" b="1" i="0">
                <a:solidFill>
                  <a:srgbClr val="FFFFFF"/>
                </a:solidFill>
                <a:latin typeface="Inter"/>
              </a:rPr>
              <a:t>Board of Directors</a:t>
            </a:r>
          </a:p>
        </p:txBody>
      </p:sp>
      <p:sp>
        <p:nvSpPr>
          <p:cNvPr id="7" name="l2-1-box"/>
          <p:cNvSpPr/>
          <p:nvPr/>
        </p:nvSpPr>
        <p:spPr>
          <a:xfrm>
            <a:off x="457200" y="2990850"/>
            <a:ext cx="4362450" cy="7239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2-1-title"/>
          <p:cNvSpPr txBox="1"/>
          <p:nvPr/>
        </p:nvSpPr>
        <p:spPr>
          <a:xfrm>
            <a:off x="571500" y="3124200"/>
            <a:ext cx="41338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Executive Committee</a:t>
            </a:r>
          </a:p>
        </p:txBody>
      </p:sp>
      <p:sp>
        <p:nvSpPr>
          <p:cNvPr id="9" name="l2-1-meta"/>
          <p:cNvSpPr txBox="1"/>
          <p:nvPr/>
        </p:nvSpPr>
        <p:spPr>
          <a:xfrm>
            <a:off x="571500" y="3352800"/>
            <a:ext cx="41338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12 members · meets monthly</a:t>
            </a:r>
          </a:p>
        </p:txBody>
      </p:sp>
      <p:sp>
        <p:nvSpPr>
          <p:cNvPr id="10" name="l2-2-box"/>
          <p:cNvSpPr/>
          <p:nvPr/>
        </p:nvSpPr>
        <p:spPr>
          <a:xfrm>
            <a:off x="5048250" y="2990850"/>
            <a:ext cx="4362450" cy="7239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l2-2-title"/>
          <p:cNvSpPr txBox="1"/>
          <p:nvPr/>
        </p:nvSpPr>
        <p:spPr>
          <a:xfrm>
            <a:off x="5162550" y="3124200"/>
            <a:ext cx="41338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Audit &amp; Risk Committee</a:t>
            </a:r>
          </a:p>
        </p:txBody>
      </p:sp>
      <p:sp>
        <p:nvSpPr>
          <p:cNvPr id="12" name="l2-2-meta"/>
          <p:cNvSpPr txBox="1"/>
          <p:nvPr/>
        </p:nvSpPr>
        <p:spPr>
          <a:xfrm>
            <a:off x="5162550" y="3352800"/>
            <a:ext cx="41338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8 members · meets quarterly</a:t>
            </a:r>
          </a:p>
        </p:txBody>
      </p:sp>
      <p:sp>
        <p:nvSpPr>
          <p:cNvPr id="13" name="l3-1-box"/>
          <p:cNvSpPr/>
          <p:nvPr/>
        </p:nvSpPr>
        <p:spPr>
          <a:xfrm>
            <a:off x="457200" y="4400550"/>
            <a:ext cx="2124075" cy="7620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l3-1-title"/>
          <p:cNvSpPr txBox="1"/>
          <p:nvPr/>
        </p:nvSpPr>
        <p:spPr>
          <a:xfrm>
            <a:off x="552450" y="4533900"/>
            <a:ext cx="1933575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Finance &amp; Investment Sub-Committee</a:t>
            </a:r>
          </a:p>
        </p:txBody>
      </p:sp>
      <p:sp>
        <p:nvSpPr>
          <p:cNvPr id="15" name="l3-1-meta"/>
          <p:cNvSpPr txBox="1"/>
          <p:nvPr/>
        </p:nvSpPr>
        <p:spPr>
          <a:xfrm>
            <a:off x="552450" y="4933950"/>
            <a:ext cx="19335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6 members · meets quarterly</a:t>
            </a:r>
          </a:p>
        </p:txBody>
      </p:sp>
      <p:sp>
        <p:nvSpPr>
          <p:cNvPr id="16" name="l3-2-box"/>
          <p:cNvSpPr/>
          <p:nvPr/>
        </p:nvSpPr>
        <p:spPr>
          <a:xfrm>
            <a:off x="2733675" y="4400550"/>
            <a:ext cx="2124075" cy="7620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l3-2-title"/>
          <p:cNvSpPr txBox="1"/>
          <p:nvPr/>
        </p:nvSpPr>
        <p:spPr>
          <a:xfrm>
            <a:off x="2828925" y="4533900"/>
            <a:ext cx="1933575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People &amp; Culture Sub-Committee</a:t>
            </a:r>
          </a:p>
        </p:txBody>
      </p:sp>
      <p:sp>
        <p:nvSpPr>
          <p:cNvPr id="18" name="l3-2-meta"/>
          <p:cNvSpPr txBox="1"/>
          <p:nvPr/>
        </p:nvSpPr>
        <p:spPr>
          <a:xfrm>
            <a:off x="2828925" y="4933950"/>
            <a:ext cx="19335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5 members · meets quarterly</a:t>
            </a:r>
          </a:p>
        </p:txBody>
      </p:sp>
      <p:sp>
        <p:nvSpPr>
          <p:cNvPr id="19" name="l3-3-box"/>
          <p:cNvSpPr/>
          <p:nvPr/>
        </p:nvSpPr>
        <p:spPr>
          <a:xfrm>
            <a:off x="5010150" y="4400550"/>
            <a:ext cx="2124075" cy="7620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l3-3-title"/>
          <p:cNvSpPr txBox="1"/>
          <p:nvPr/>
        </p:nvSpPr>
        <p:spPr>
          <a:xfrm>
            <a:off x="5105400" y="4533900"/>
            <a:ext cx="1933575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Internal Audit Sub-Committee</a:t>
            </a:r>
          </a:p>
        </p:txBody>
      </p:sp>
      <p:sp>
        <p:nvSpPr>
          <p:cNvPr id="21" name="l3-3-meta"/>
          <p:cNvSpPr txBox="1"/>
          <p:nvPr/>
        </p:nvSpPr>
        <p:spPr>
          <a:xfrm>
            <a:off x="5105400" y="4933950"/>
            <a:ext cx="19335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4 members · meets quarterly</a:t>
            </a:r>
          </a:p>
        </p:txBody>
      </p:sp>
      <p:sp>
        <p:nvSpPr>
          <p:cNvPr id="22" name="l3-4-box"/>
          <p:cNvSpPr/>
          <p:nvPr/>
        </p:nvSpPr>
        <p:spPr>
          <a:xfrm>
            <a:off x="7286625" y="4400550"/>
            <a:ext cx="2124075" cy="7620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l3-4-title"/>
          <p:cNvSpPr txBox="1"/>
          <p:nvPr/>
        </p:nvSpPr>
        <p:spPr>
          <a:xfrm>
            <a:off x="7381875" y="4533900"/>
            <a:ext cx="1933575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Compliance &amp; Ethics Sub-Committee</a:t>
            </a:r>
          </a:p>
        </p:txBody>
      </p:sp>
      <p:sp>
        <p:nvSpPr>
          <p:cNvPr id="24" name="l3-4-meta"/>
          <p:cNvSpPr txBox="1"/>
          <p:nvPr/>
        </p:nvSpPr>
        <p:spPr>
          <a:xfrm>
            <a:off x="7381875" y="4933950"/>
            <a:ext cx="19335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5 members · meets quarterly</a:t>
            </a:r>
          </a:p>
        </p:txBody>
      </p:sp>
      <p:sp>
        <p:nvSpPr>
          <p:cNvPr id="25" name="conn-l1-down"/>
          <p:cNvSpPr/>
          <p:nvPr/>
        </p:nvSpPr>
        <p:spPr>
          <a:xfrm>
            <a:off x="4933950" y="2305050"/>
            <a:ext cx="9525" cy="3429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conn-l1-across"/>
          <p:cNvSpPr/>
          <p:nvPr/>
        </p:nvSpPr>
        <p:spPr>
          <a:xfrm>
            <a:off x="2695575" y="2647950"/>
            <a:ext cx="44767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conn-l1-l2a"/>
          <p:cNvSpPr/>
          <p:nvPr/>
        </p:nvSpPr>
        <p:spPr>
          <a:xfrm>
            <a:off x="2695575" y="2647950"/>
            <a:ext cx="9525" cy="3429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conn-l1-l2b"/>
          <p:cNvSpPr/>
          <p:nvPr/>
        </p:nvSpPr>
        <p:spPr>
          <a:xfrm>
            <a:off x="7172325" y="2647950"/>
            <a:ext cx="9525" cy="3429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conn-l2l-down"/>
          <p:cNvSpPr/>
          <p:nvPr/>
        </p:nvSpPr>
        <p:spPr>
          <a:xfrm>
            <a:off x="2638425" y="3714750"/>
            <a:ext cx="9525" cy="3429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onn-l2l-across"/>
          <p:cNvSpPr/>
          <p:nvPr/>
        </p:nvSpPr>
        <p:spPr>
          <a:xfrm>
            <a:off x="1514475" y="4057650"/>
            <a:ext cx="22764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conn-l2l-l3a"/>
          <p:cNvSpPr/>
          <p:nvPr/>
        </p:nvSpPr>
        <p:spPr>
          <a:xfrm>
            <a:off x="1514475" y="4057650"/>
            <a:ext cx="9525" cy="3429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conn-l2l-l3b"/>
          <p:cNvSpPr/>
          <p:nvPr/>
        </p:nvSpPr>
        <p:spPr>
          <a:xfrm>
            <a:off x="3790950" y="4057650"/>
            <a:ext cx="9525" cy="3429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conn-l2r-down"/>
          <p:cNvSpPr/>
          <p:nvPr/>
        </p:nvSpPr>
        <p:spPr>
          <a:xfrm>
            <a:off x="7229475" y="3714750"/>
            <a:ext cx="9525" cy="3429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conn-l2r-across"/>
          <p:cNvSpPr/>
          <p:nvPr/>
        </p:nvSpPr>
        <p:spPr>
          <a:xfrm>
            <a:off x="6067425" y="4057650"/>
            <a:ext cx="22764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conn-l2r-l3c"/>
          <p:cNvSpPr/>
          <p:nvPr/>
        </p:nvSpPr>
        <p:spPr>
          <a:xfrm>
            <a:off x="6067425" y="4057650"/>
            <a:ext cx="9525" cy="3429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conn-l2r-l3d"/>
          <p:cNvSpPr/>
          <p:nvPr/>
        </p:nvSpPr>
        <p:spPr>
          <a:xfrm>
            <a:off x="8343900" y="4057650"/>
            <a:ext cx="9525" cy="3429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sidebar-divider"/>
          <p:cNvSpPr/>
          <p:nvPr/>
        </p:nvSpPr>
        <p:spPr>
          <a:xfrm>
            <a:off x="9410700" y="1752600"/>
            <a:ext cx="9525" cy="43815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sidebar-heading"/>
          <p:cNvSpPr txBox="1"/>
          <p:nvPr/>
        </p:nvSpPr>
        <p:spPr>
          <a:xfrm>
            <a:off x="9563100" y="1866900"/>
            <a:ext cx="21717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KEY GOVERNANCE PRINCIPLES</a:t>
            </a:r>
          </a:p>
        </p:txBody>
      </p:sp>
      <p:sp>
        <p:nvSpPr>
          <p:cNvPr id="39" name="principle-1-dot"/>
          <p:cNvSpPr/>
          <p:nvPr/>
        </p:nvSpPr>
        <p:spPr>
          <a:xfrm>
            <a:off x="9563100" y="2228850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principle-1-text"/>
          <p:cNvSpPr txBox="1"/>
          <p:nvPr/>
        </p:nvSpPr>
        <p:spPr>
          <a:xfrm>
            <a:off x="9696450" y="2171700"/>
            <a:ext cx="2038350" cy="628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Clear accountability at every level of the committee hierarchy</a:t>
            </a:r>
          </a:p>
        </p:txBody>
      </p:sp>
      <p:sp>
        <p:nvSpPr>
          <p:cNvPr id="41" name="principle-2-dot"/>
          <p:cNvSpPr/>
          <p:nvPr/>
        </p:nvSpPr>
        <p:spPr>
          <a:xfrm>
            <a:off x="9563100" y="2990850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principle-2-text"/>
          <p:cNvSpPr txBox="1"/>
          <p:nvPr/>
        </p:nvSpPr>
        <p:spPr>
          <a:xfrm>
            <a:off x="9696450" y="2933700"/>
            <a:ext cx="2038350" cy="628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Independent oversight through non-executive representation</a:t>
            </a:r>
          </a:p>
        </p:txBody>
      </p:sp>
      <p:sp>
        <p:nvSpPr>
          <p:cNvPr id="43" name="principle-3-dot"/>
          <p:cNvSpPr/>
          <p:nvPr/>
        </p:nvSpPr>
        <p:spPr>
          <a:xfrm>
            <a:off x="9563100" y="3752850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principle-3-text"/>
          <p:cNvSpPr txBox="1"/>
          <p:nvPr/>
        </p:nvSpPr>
        <p:spPr>
          <a:xfrm>
            <a:off x="9696450" y="3695700"/>
            <a:ext cx="2038350" cy="628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Transparent reporting with published meeting minutes and decisions</a:t>
            </a:r>
          </a:p>
        </p:txBody>
      </p:sp>
      <p:sp>
        <p:nvSpPr>
          <p:cNvPr id="45" name="principle-4-dot"/>
          <p:cNvSpPr/>
          <p:nvPr/>
        </p:nvSpPr>
        <p:spPr>
          <a:xfrm>
            <a:off x="9563100" y="4514850"/>
            <a:ext cx="57150" cy="571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principle-4-text"/>
          <p:cNvSpPr txBox="1"/>
          <p:nvPr/>
        </p:nvSpPr>
        <p:spPr>
          <a:xfrm>
            <a:off x="9696450" y="4457700"/>
            <a:ext cx="2038350" cy="628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Annual mandate reviews to ensure fitness for purpose</a:t>
            </a:r>
          </a:p>
        </p:txBody>
      </p:sp>
      <p:sp>
        <p:nvSpPr>
          <p:cNvPr id="4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299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