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Margin Recovery: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Strategic Options Assessment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Executive overview — structured problem framing and recommended path forward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scqa-band-1"/>
          <p:cNvSpPr/>
          <p:nvPr/>
        </p:nvSpPr>
        <p:spPr>
          <a:xfrm>
            <a:off x="457200" y="2190750"/>
            <a:ext cx="11277600" cy="80962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scqa-band-1-label"/>
          <p:cNvSpPr/>
          <p:nvPr/>
        </p:nvSpPr>
        <p:spPr>
          <a:xfrm>
            <a:off x="457200" y="2190750"/>
            <a:ext cx="838200" cy="80962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scqa-band-1-letter"/>
          <p:cNvSpPr txBox="1"/>
          <p:nvPr/>
        </p:nvSpPr>
        <p:spPr>
          <a:xfrm>
            <a:off x="457200" y="226695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S</a:t>
            </a:r>
          </a:p>
        </p:txBody>
      </p:sp>
      <p:sp>
        <p:nvSpPr>
          <p:cNvPr id="8" name="scqa-band-1-word"/>
          <p:cNvSpPr txBox="1"/>
          <p:nvPr/>
        </p:nvSpPr>
        <p:spPr>
          <a:xfrm>
            <a:off x="457200" y="2790825"/>
            <a:ext cx="838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SITUATION</a:t>
            </a:r>
          </a:p>
        </p:txBody>
      </p:sp>
      <p:sp>
        <p:nvSpPr>
          <p:cNvPr id="9" name="scqa-band-1-text"/>
          <p:cNvSpPr txBox="1"/>
          <p:nvPr/>
        </p:nvSpPr>
        <p:spPr>
          <a:xfrm>
            <a:off x="1428750" y="2190750"/>
            <a:ext cx="10172700" cy="8096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The business has grown 40% YoY but operating costs have scaled disproportionately, compressing margins from 28% to 19%.</a:t>
            </a:r>
          </a:p>
        </p:txBody>
      </p:sp>
      <p:sp>
        <p:nvSpPr>
          <p:cNvPr id="10" name="scqa-band-2"/>
          <p:cNvSpPr/>
          <p:nvPr/>
        </p:nvSpPr>
        <p:spPr>
          <a:xfrm>
            <a:off x="457200" y="3057525"/>
            <a:ext cx="11277600" cy="80962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scqa-band-2-label"/>
          <p:cNvSpPr/>
          <p:nvPr/>
        </p:nvSpPr>
        <p:spPr>
          <a:xfrm>
            <a:off x="457200" y="3057525"/>
            <a:ext cx="838200" cy="80962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scqa-band-2-letter"/>
          <p:cNvSpPr txBox="1"/>
          <p:nvPr/>
        </p:nvSpPr>
        <p:spPr>
          <a:xfrm>
            <a:off x="457200" y="3133725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C</a:t>
            </a:r>
          </a:p>
        </p:txBody>
      </p:sp>
      <p:sp>
        <p:nvSpPr>
          <p:cNvPr id="13" name="scqa-band-2-word"/>
          <p:cNvSpPr txBox="1"/>
          <p:nvPr/>
        </p:nvSpPr>
        <p:spPr>
          <a:xfrm>
            <a:off x="457200" y="3657600"/>
            <a:ext cx="838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COMPLICATION</a:t>
            </a:r>
          </a:p>
        </p:txBody>
      </p:sp>
      <p:sp>
        <p:nvSpPr>
          <p:cNvPr id="14" name="scqa-band-2-text"/>
          <p:cNvSpPr txBox="1"/>
          <p:nvPr/>
        </p:nvSpPr>
        <p:spPr>
          <a:xfrm>
            <a:off x="1428750" y="3057525"/>
            <a:ext cx="10172700" cy="8096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Three structural inefficiencies in procurement, logistics, and workforce allocation are driving $14M in avoidable spend annually.</a:t>
            </a:r>
          </a:p>
        </p:txBody>
      </p:sp>
      <p:sp>
        <p:nvSpPr>
          <p:cNvPr id="15" name="scqa-band-3"/>
          <p:cNvSpPr/>
          <p:nvPr/>
        </p:nvSpPr>
        <p:spPr>
          <a:xfrm>
            <a:off x="457200" y="3924300"/>
            <a:ext cx="11277600" cy="80962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scqa-band-3-label"/>
          <p:cNvSpPr/>
          <p:nvPr/>
        </p:nvSpPr>
        <p:spPr>
          <a:xfrm>
            <a:off x="457200" y="3924300"/>
            <a:ext cx="838200" cy="8096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scqa-band-3-letter"/>
          <p:cNvSpPr txBox="1"/>
          <p:nvPr/>
        </p:nvSpPr>
        <p:spPr>
          <a:xfrm>
            <a:off x="457200" y="40005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Q</a:t>
            </a:r>
          </a:p>
        </p:txBody>
      </p:sp>
      <p:sp>
        <p:nvSpPr>
          <p:cNvPr id="18" name="scqa-band-3-word"/>
          <p:cNvSpPr txBox="1"/>
          <p:nvPr/>
        </p:nvSpPr>
        <p:spPr>
          <a:xfrm>
            <a:off x="457200" y="4524375"/>
            <a:ext cx="838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QUESTION</a:t>
            </a:r>
          </a:p>
        </p:txBody>
      </p:sp>
      <p:sp>
        <p:nvSpPr>
          <p:cNvPr id="19" name="scqa-band-3-text"/>
          <p:cNvSpPr txBox="1"/>
          <p:nvPr/>
        </p:nvSpPr>
        <p:spPr>
          <a:xfrm>
            <a:off x="1428750" y="3924300"/>
            <a:ext cx="10172700" cy="8096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How can the organization recover margin to 25%+ within 18 months without sacrificing growth momentum?</a:t>
            </a:r>
          </a:p>
        </p:txBody>
      </p:sp>
      <p:sp>
        <p:nvSpPr>
          <p:cNvPr id="20" name="scqa-band-4"/>
          <p:cNvSpPr/>
          <p:nvPr/>
        </p:nvSpPr>
        <p:spPr>
          <a:xfrm>
            <a:off x="457200" y="4791075"/>
            <a:ext cx="11277600" cy="80962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scqa-band-4-label"/>
          <p:cNvSpPr/>
          <p:nvPr/>
        </p:nvSpPr>
        <p:spPr>
          <a:xfrm>
            <a:off x="457200" y="4791075"/>
            <a:ext cx="838200" cy="80962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scqa-band-4-letter"/>
          <p:cNvSpPr txBox="1"/>
          <p:nvPr/>
        </p:nvSpPr>
        <p:spPr>
          <a:xfrm>
            <a:off x="457200" y="4867275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23" name="scqa-band-4-word"/>
          <p:cNvSpPr txBox="1"/>
          <p:nvPr/>
        </p:nvSpPr>
        <p:spPr>
          <a:xfrm>
            <a:off x="457200" y="5391150"/>
            <a:ext cx="838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ANSWER</a:t>
            </a:r>
          </a:p>
        </p:txBody>
      </p:sp>
      <p:sp>
        <p:nvSpPr>
          <p:cNvPr id="24" name="scqa-band-4-text"/>
          <p:cNvSpPr txBox="1"/>
          <p:nvPr/>
        </p:nvSpPr>
        <p:spPr>
          <a:xfrm>
            <a:off x="1428750" y="4791075"/>
            <a:ext cx="10172700" cy="8096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 targeted efficiency program across three workstreams can recover $11M and restore margins to 26% by Q4 2026.</a:t>
            </a:r>
          </a:p>
        </p:txBody>
      </p:sp>
      <p:sp>
        <p:nvSpPr>
          <p:cNvPr id="25" name="rec-strip"/>
          <p:cNvSpPr/>
          <p:nvPr/>
        </p:nvSpPr>
        <p:spPr>
          <a:xfrm>
            <a:off x="457200" y="5715000"/>
            <a:ext cx="11277600" cy="3238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rec-strip-text"/>
          <p:cNvSpPr txBox="1"/>
          <p:nvPr/>
        </p:nvSpPr>
        <p:spPr>
          <a:xfrm>
            <a:off x="609600" y="5715000"/>
            <a:ext cx="109728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RECOMMENDED ACTION:</a:t>
            </a:r>
            <a:r>
              <a:rPr sz="1050" b="0" i="0">
                <a:solidFill>
                  <a:srgbClr val="FFFFFF"/>
                </a:solidFill>
                <a:latin typeface="Inter"/>
              </a:rPr>
              <a:t> Approve Phase 1 mobilisation — 6-week diagnostic, $320K investment, ROI payback in 4 months.</a:t>
            </a:r>
          </a:p>
        </p:txBody>
      </p:sp>
      <p:sp>
        <p:nvSpPr>
          <p:cNvPr id="2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