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1A1A2E"/>
                </a:solidFill>
                <a:latin typeface="Inter"/>
              </a:rPr>
              <a:t>Practice capability heatmap — </a:t>
            </a:r>
            <a:r>
              <a:rPr sz="1500" b="1" i="0">
                <a:solidFill>
                  <a:srgbClr val="2D0A4E"/>
                </a:solidFill>
                <a:latin typeface="Inter"/>
              </a:rPr>
              <a:t>where Slide Lab adds the most lift.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144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Self-rated proficiency across six capabilities by seniority level. Storyline coaching and strategy framing show the steepest gap at Manager.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4097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low"/>
          <p:cNvSpPr txBox="1"/>
          <p:nvPr/>
        </p:nvSpPr>
        <p:spPr>
          <a:xfrm>
            <a:off x="9486900" y="22098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LOW</a:t>
            </a:r>
          </a:p>
        </p:txBody>
      </p:sp>
      <p:sp>
        <p:nvSpPr>
          <p:cNvPr id="6" name="legend-sw-1"/>
          <p:cNvSpPr/>
          <p:nvPr/>
        </p:nvSpPr>
        <p:spPr>
          <a:xfrm>
            <a:off x="9829800" y="2228850"/>
            <a:ext cx="209550" cy="133350"/>
          </a:xfrm>
          <a:prstGeom prst="rect">
            <a:avLst/>
          </a:prstGeom>
          <a:solidFill>
            <a:srgbClr val="F8F4FC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sw-2"/>
          <p:cNvSpPr/>
          <p:nvPr/>
        </p:nvSpPr>
        <p:spPr>
          <a:xfrm>
            <a:off x="10058400" y="2228850"/>
            <a:ext cx="209550" cy="133350"/>
          </a:xfrm>
          <a:prstGeom prst="rect">
            <a:avLst/>
          </a:prstGeom>
          <a:solidFill>
            <a:srgbClr val="E5D5F0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sw-3"/>
          <p:cNvSpPr/>
          <p:nvPr/>
        </p:nvSpPr>
        <p:spPr>
          <a:xfrm>
            <a:off x="10287000" y="2228850"/>
            <a:ext cx="209550" cy="133350"/>
          </a:xfrm>
          <a:prstGeom prst="rect">
            <a:avLst/>
          </a:prstGeom>
          <a:solidFill>
            <a:srgbClr val="C780FF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sw-4"/>
          <p:cNvSpPr/>
          <p:nvPr/>
        </p:nvSpPr>
        <p:spPr>
          <a:xfrm>
            <a:off x="10515600" y="2228850"/>
            <a:ext cx="209550" cy="133350"/>
          </a:xfrm>
          <a:prstGeom prst="rect">
            <a:avLst/>
          </a:prstGeom>
          <a:solidFill>
            <a:srgbClr val="A100FF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sw-5"/>
          <p:cNvSpPr/>
          <p:nvPr/>
        </p:nvSpPr>
        <p:spPr>
          <a:xfrm>
            <a:off x="10744200" y="2228850"/>
            <a:ext cx="209550" cy="133350"/>
          </a:xfrm>
          <a:prstGeom prst="rect">
            <a:avLst/>
          </a:prstGeom>
          <a:solidFill>
            <a:srgbClr val="5C2D87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high"/>
          <p:cNvSpPr txBox="1"/>
          <p:nvPr/>
        </p:nvSpPr>
        <p:spPr>
          <a:xfrm>
            <a:off x="11029950" y="22098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HIGH</a:t>
            </a:r>
          </a:p>
        </p:txBody>
      </p:sp>
      <p:sp>
        <p:nvSpPr>
          <p:cNvPr id="12" name="col-header-1"/>
          <p:cNvSpPr txBox="1"/>
          <p:nvPr/>
        </p:nvSpPr>
        <p:spPr>
          <a:xfrm>
            <a:off x="3333750" y="249555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MANAGER</a:t>
            </a:r>
          </a:p>
        </p:txBody>
      </p:sp>
      <p:sp>
        <p:nvSpPr>
          <p:cNvPr id="13" name="col-header-2"/>
          <p:cNvSpPr txBox="1"/>
          <p:nvPr/>
        </p:nvSpPr>
        <p:spPr>
          <a:xfrm>
            <a:off x="5200650" y="249555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SENIOR MANAGER</a:t>
            </a:r>
          </a:p>
        </p:txBody>
      </p:sp>
      <p:sp>
        <p:nvSpPr>
          <p:cNvPr id="14" name="col-header-3"/>
          <p:cNvSpPr txBox="1"/>
          <p:nvPr/>
        </p:nvSpPr>
        <p:spPr>
          <a:xfrm>
            <a:off x="7067550" y="249555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DIRECTOR</a:t>
            </a:r>
          </a:p>
        </p:txBody>
      </p:sp>
      <p:sp>
        <p:nvSpPr>
          <p:cNvPr id="15" name="col-header-4"/>
          <p:cNvSpPr txBox="1"/>
          <p:nvPr/>
        </p:nvSpPr>
        <p:spPr>
          <a:xfrm>
            <a:off x="8934450" y="249555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PARTNER</a:t>
            </a:r>
          </a:p>
        </p:txBody>
      </p:sp>
      <p:sp>
        <p:nvSpPr>
          <p:cNvPr id="16" name="col-header-rule"/>
          <p:cNvSpPr/>
          <p:nvPr/>
        </p:nvSpPr>
        <p:spPr>
          <a:xfrm>
            <a:off x="3333750" y="2800350"/>
            <a:ext cx="742950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ow-label-1"/>
          <p:cNvSpPr txBox="1"/>
          <p:nvPr/>
        </p:nvSpPr>
        <p:spPr>
          <a:xfrm>
            <a:off x="1428750" y="2857500"/>
            <a:ext cx="1790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STRATEGY FRAMING</a:t>
            </a:r>
          </a:p>
        </p:txBody>
      </p:sp>
      <p:sp>
        <p:nvSpPr>
          <p:cNvPr id="18" name="cell-1-1"/>
          <p:cNvSpPr/>
          <p:nvPr/>
        </p:nvSpPr>
        <p:spPr>
          <a:xfrm>
            <a:off x="3333750" y="2857500"/>
            <a:ext cx="1828800" cy="400050"/>
          </a:xfrm>
          <a:prstGeom prst="rect">
            <a:avLst/>
          </a:prstGeom>
          <a:solidFill>
            <a:srgbClr val="E5D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ell-1-1-text"/>
          <p:cNvSpPr txBox="1"/>
          <p:nvPr/>
        </p:nvSpPr>
        <p:spPr>
          <a:xfrm>
            <a:off x="3333750" y="28575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20" name="cell-1-2"/>
          <p:cNvSpPr/>
          <p:nvPr/>
        </p:nvSpPr>
        <p:spPr>
          <a:xfrm>
            <a:off x="5200650" y="285750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ell-1-2-text"/>
          <p:cNvSpPr txBox="1"/>
          <p:nvPr/>
        </p:nvSpPr>
        <p:spPr>
          <a:xfrm>
            <a:off x="5200650" y="28575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cell-1-3"/>
          <p:cNvSpPr/>
          <p:nvPr/>
        </p:nvSpPr>
        <p:spPr>
          <a:xfrm>
            <a:off x="7067550" y="2857500"/>
            <a:ext cx="1828800" cy="400050"/>
          </a:xfrm>
          <a:prstGeom prst="rect">
            <a:avLst/>
          </a:prstGeom>
          <a:solidFill>
            <a:srgbClr val="A10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ell-1-3-text"/>
          <p:cNvSpPr txBox="1"/>
          <p:nvPr/>
        </p:nvSpPr>
        <p:spPr>
          <a:xfrm>
            <a:off x="7067550" y="28575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cell-1-4"/>
          <p:cNvSpPr/>
          <p:nvPr/>
        </p:nvSpPr>
        <p:spPr>
          <a:xfrm>
            <a:off x="8934450" y="2857500"/>
            <a:ext cx="1828800" cy="400050"/>
          </a:xfrm>
          <a:prstGeom prst="rect">
            <a:avLst/>
          </a:prstGeom>
          <a:solidFill>
            <a:srgbClr val="5C2D8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ell-1-4-text"/>
          <p:cNvSpPr txBox="1"/>
          <p:nvPr/>
        </p:nvSpPr>
        <p:spPr>
          <a:xfrm>
            <a:off x="8934450" y="28575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6" name="row-label-2"/>
          <p:cNvSpPr txBox="1"/>
          <p:nvPr/>
        </p:nvSpPr>
        <p:spPr>
          <a:xfrm>
            <a:off x="1428750" y="3295650"/>
            <a:ext cx="1790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STORYLINE COACHING</a:t>
            </a:r>
          </a:p>
        </p:txBody>
      </p:sp>
      <p:sp>
        <p:nvSpPr>
          <p:cNvPr id="27" name="cell-2-1"/>
          <p:cNvSpPr/>
          <p:nvPr/>
        </p:nvSpPr>
        <p:spPr>
          <a:xfrm>
            <a:off x="3333750" y="3295650"/>
            <a:ext cx="1828800" cy="400050"/>
          </a:xfrm>
          <a:prstGeom prst="rect">
            <a:avLst/>
          </a:prstGeom>
          <a:solidFill>
            <a:srgbClr val="F8F4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ell-2-1-text"/>
          <p:cNvSpPr txBox="1"/>
          <p:nvPr/>
        </p:nvSpPr>
        <p:spPr>
          <a:xfrm>
            <a:off x="3333750" y="32956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5C2D87"/>
                </a:solidFill>
                <a:latin typeface="Inter"/>
              </a:rPr>
              <a:t>1</a:t>
            </a:r>
          </a:p>
        </p:txBody>
      </p:sp>
      <p:sp>
        <p:nvSpPr>
          <p:cNvPr id="29" name="cell-2-2"/>
          <p:cNvSpPr/>
          <p:nvPr/>
        </p:nvSpPr>
        <p:spPr>
          <a:xfrm>
            <a:off x="5200650" y="3295650"/>
            <a:ext cx="1828800" cy="400050"/>
          </a:xfrm>
          <a:prstGeom prst="rect">
            <a:avLst/>
          </a:prstGeom>
          <a:solidFill>
            <a:srgbClr val="E5D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ell-2-2-text"/>
          <p:cNvSpPr txBox="1"/>
          <p:nvPr/>
        </p:nvSpPr>
        <p:spPr>
          <a:xfrm>
            <a:off x="5200650" y="32956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31" name="cell-2-3"/>
          <p:cNvSpPr/>
          <p:nvPr/>
        </p:nvSpPr>
        <p:spPr>
          <a:xfrm>
            <a:off x="7067550" y="3295650"/>
            <a:ext cx="1828800" cy="400050"/>
          </a:xfrm>
          <a:prstGeom prst="rect">
            <a:avLst/>
          </a:prstGeom>
          <a:solidFill>
            <a:srgbClr val="A10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ell-2-3-text"/>
          <p:cNvSpPr txBox="1"/>
          <p:nvPr/>
        </p:nvSpPr>
        <p:spPr>
          <a:xfrm>
            <a:off x="7067550" y="32956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3" name="cell-2-4"/>
          <p:cNvSpPr/>
          <p:nvPr/>
        </p:nvSpPr>
        <p:spPr>
          <a:xfrm>
            <a:off x="8934450" y="3295650"/>
            <a:ext cx="1828800" cy="400050"/>
          </a:xfrm>
          <a:prstGeom prst="rect">
            <a:avLst/>
          </a:prstGeom>
          <a:solidFill>
            <a:srgbClr val="5C2D8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ell-2-4-text"/>
          <p:cNvSpPr txBox="1"/>
          <p:nvPr/>
        </p:nvSpPr>
        <p:spPr>
          <a:xfrm>
            <a:off x="8934450" y="32956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5" name="row-label-3"/>
          <p:cNvSpPr txBox="1"/>
          <p:nvPr/>
        </p:nvSpPr>
        <p:spPr>
          <a:xfrm>
            <a:off x="1428750" y="3733800"/>
            <a:ext cx="1790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VISUAL DESIGN</a:t>
            </a:r>
          </a:p>
        </p:txBody>
      </p:sp>
      <p:sp>
        <p:nvSpPr>
          <p:cNvPr id="36" name="cell-3-1"/>
          <p:cNvSpPr/>
          <p:nvPr/>
        </p:nvSpPr>
        <p:spPr>
          <a:xfrm>
            <a:off x="3333750" y="373380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ell-3-1-text"/>
          <p:cNvSpPr txBox="1"/>
          <p:nvPr/>
        </p:nvSpPr>
        <p:spPr>
          <a:xfrm>
            <a:off x="3333750" y="37338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8" name="cell-3-2"/>
          <p:cNvSpPr/>
          <p:nvPr/>
        </p:nvSpPr>
        <p:spPr>
          <a:xfrm>
            <a:off x="5200650" y="373380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ell-3-2-text"/>
          <p:cNvSpPr txBox="1"/>
          <p:nvPr/>
        </p:nvSpPr>
        <p:spPr>
          <a:xfrm>
            <a:off x="5200650" y="37338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0" name="cell-3-3"/>
          <p:cNvSpPr/>
          <p:nvPr/>
        </p:nvSpPr>
        <p:spPr>
          <a:xfrm>
            <a:off x="7067550" y="3733800"/>
            <a:ext cx="1828800" cy="400050"/>
          </a:xfrm>
          <a:prstGeom prst="rect">
            <a:avLst/>
          </a:prstGeom>
          <a:solidFill>
            <a:srgbClr val="E5D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ell-3-3-text"/>
          <p:cNvSpPr txBox="1"/>
          <p:nvPr/>
        </p:nvSpPr>
        <p:spPr>
          <a:xfrm>
            <a:off x="7067550" y="37338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42" name="cell-3-4"/>
          <p:cNvSpPr/>
          <p:nvPr/>
        </p:nvSpPr>
        <p:spPr>
          <a:xfrm>
            <a:off x="8934450" y="3733800"/>
            <a:ext cx="1828800" cy="400050"/>
          </a:xfrm>
          <a:prstGeom prst="rect">
            <a:avLst/>
          </a:prstGeom>
          <a:solidFill>
            <a:srgbClr val="E5D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ell-3-4-text"/>
          <p:cNvSpPr txBox="1"/>
          <p:nvPr/>
        </p:nvSpPr>
        <p:spPr>
          <a:xfrm>
            <a:off x="8934450" y="37338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44" name="row-label-4"/>
          <p:cNvSpPr txBox="1"/>
          <p:nvPr/>
        </p:nvSpPr>
        <p:spPr>
          <a:xfrm>
            <a:off x="1428750" y="4171950"/>
            <a:ext cx="1790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DATA ANALYSIS</a:t>
            </a:r>
          </a:p>
        </p:txBody>
      </p:sp>
      <p:sp>
        <p:nvSpPr>
          <p:cNvPr id="45" name="cell-4-1"/>
          <p:cNvSpPr/>
          <p:nvPr/>
        </p:nvSpPr>
        <p:spPr>
          <a:xfrm>
            <a:off x="3333750" y="4171950"/>
            <a:ext cx="1828800" cy="400050"/>
          </a:xfrm>
          <a:prstGeom prst="rect">
            <a:avLst/>
          </a:prstGeom>
          <a:solidFill>
            <a:srgbClr val="A10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ell-4-1-text"/>
          <p:cNvSpPr txBox="1"/>
          <p:nvPr/>
        </p:nvSpPr>
        <p:spPr>
          <a:xfrm>
            <a:off x="3333750" y="41719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47" name="cell-4-2"/>
          <p:cNvSpPr/>
          <p:nvPr/>
        </p:nvSpPr>
        <p:spPr>
          <a:xfrm>
            <a:off x="5200650" y="4171950"/>
            <a:ext cx="1828800" cy="400050"/>
          </a:xfrm>
          <a:prstGeom prst="rect">
            <a:avLst/>
          </a:prstGeom>
          <a:solidFill>
            <a:srgbClr val="A10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ell-4-2-text"/>
          <p:cNvSpPr txBox="1"/>
          <p:nvPr/>
        </p:nvSpPr>
        <p:spPr>
          <a:xfrm>
            <a:off x="5200650" y="41719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49" name="cell-4-3"/>
          <p:cNvSpPr/>
          <p:nvPr/>
        </p:nvSpPr>
        <p:spPr>
          <a:xfrm>
            <a:off x="7067550" y="417195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ell-4-3-text"/>
          <p:cNvSpPr txBox="1"/>
          <p:nvPr/>
        </p:nvSpPr>
        <p:spPr>
          <a:xfrm>
            <a:off x="7067550" y="41719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1" name="cell-4-4"/>
          <p:cNvSpPr/>
          <p:nvPr/>
        </p:nvSpPr>
        <p:spPr>
          <a:xfrm>
            <a:off x="8934450" y="4171950"/>
            <a:ext cx="1828800" cy="400050"/>
          </a:xfrm>
          <a:prstGeom prst="rect">
            <a:avLst/>
          </a:prstGeom>
          <a:solidFill>
            <a:srgbClr val="E5D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ell-4-4-text"/>
          <p:cNvSpPr txBox="1"/>
          <p:nvPr/>
        </p:nvSpPr>
        <p:spPr>
          <a:xfrm>
            <a:off x="8934450" y="41719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53" name="row-label-5"/>
          <p:cNvSpPr txBox="1"/>
          <p:nvPr/>
        </p:nvSpPr>
        <p:spPr>
          <a:xfrm>
            <a:off x="1428750" y="4610100"/>
            <a:ext cx="1790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BRAND APPLICATION</a:t>
            </a:r>
          </a:p>
        </p:txBody>
      </p:sp>
      <p:sp>
        <p:nvSpPr>
          <p:cNvPr id="54" name="cell-5-1"/>
          <p:cNvSpPr/>
          <p:nvPr/>
        </p:nvSpPr>
        <p:spPr>
          <a:xfrm>
            <a:off x="3333750" y="4610100"/>
            <a:ext cx="1828800" cy="400050"/>
          </a:xfrm>
          <a:prstGeom prst="rect">
            <a:avLst/>
          </a:prstGeom>
          <a:solidFill>
            <a:srgbClr val="A10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ell-5-1-text"/>
          <p:cNvSpPr txBox="1"/>
          <p:nvPr/>
        </p:nvSpPr>
        <p:spPr>
          <a:xfrm>
            <a:off x="3333750" y="46101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6" name="cell-5-2"/>
          <p:cNvSpPr/>
          <p:nvPr/>
        </p:nvSpPr>
        <p:spPr>
          <a:xfrm>
            <a:off x="5200650" y="461010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ell-5-2-text"/>
          <p:cNvSpPr txBox="1"/>
          <p:nvPr/>
        </p:nvSpPr>
        <p:spPr>
          <a:xfrm>
            <a:off x="5200650" y="46101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8" name="cell-5-3"/>
          <p:cNvSpPr/>
          <p:nvPr/>
        </p:nvSpPr>
        <p:spPr>
          <a:xfrm>
            <a:off x="7067550" y="461010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ell-5-3-text"/>
          <p:cNvSpPr txBox="1"/>
          <p:nvPr/>
        </p:nvSpPr>
        <p:spPr>
          <a:xfrm>
            <a:off x="7067550" y="46101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0" name="cell-5-4"/>
          <p:cNvSpPr/>
          <p:nvPr/>
        </p:nvSpPr>
        <p:spPr>
          <a:xfrm>
            <a:off x="8934450" y="461010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ell-5-4-text"/>
          <p:cNvSpPr txBox="1"/>
          <p:nvPr/>
        </p:nvSpPr>
        <p:spPr>
          <a:xfrm>
            <a:off x="8934450" y="46101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2" name="row-label-6"/>
          <p:cNvSpPr txBox="1"/>
          <p:nvPr/>
        </p:nvSpPr>
        <p:spPr>
          <a:xfrm>
            <a:off x="1428750" y="5048250"/>
            <a:ext cx="1790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CLIENT COMMUNICATION</a:t>
            </a:r>
          </a:p>
        </p:txBody>
      </p:sp>
      <p:sp>
        <p:nvSpPr>
          <p:cNvPr id="63" name="cell-6-1"/>
          <p:cNvSpPr/>
          <p:nvPr/>
        </p:nvSpPr>
        <p:spPr>
          <a:xfrm>
            <a:off x="3333750" y="5048250"/>
            <a:ext cx="1828800" cy="400050"/>
          </a:xfrm>
          <a:prstGeom prst="rect">
            <a:avLst/>
          </a:prstGeom>
          <a:solidFill>
            <a:srgbClr val="E5D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ell-6-1-text"/>
          <p:cNvSpPr txBox="1"/>
          <p:nvPr/>
        </p:nvSpPr>
        <p:spPr>
          <a:xfrm>
            <a:off x="3333750" y="50482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65" name="cell-6-2"/>
          <p:cNvSpPr/>
          <p:nvPr/>
        </p:nvSpPr>
        <p:spPr>
          <a:xfrm>
            <a:off x="5200650" y="5048250"/>
            <a:ext cx="1828800" cy="400050"/>
          </a:xfrm>
          <a:prstGeom prst="rect">
            <a:avLst/>
          </a:prstGeom>
          <a:solidFill>
            <a:srgbClr val="C78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ell-6-2-text"/>
          <p:cNvSpPr txBox="1"/>
          <p:nvPr/>
        </p:nvSpPr>
        <p:spPr>
          <a:xfrm>
            <a:off x="5200650" y="50482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7" name="cell-6-3"/>
          <p:cNvSpPr/>
          <p:nvPr/>
        </p:nvSpPr>
        <p:spPr>
          <a:xfrm>
            <a:off x="7067550" y="5048250"/>
            <a:ext cx="1828800" cy="400050"/>
          </a:xfrm>
          <a:prstGeom prst="rect">
            <a:avLst/>
          </a:prstGeom>
          <a:solidFill>
            <a:srgbClr val="A10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ell-6-3-text"/>
          <p:cNvSpPr txBox="1"/>
          <p:nvPr/>
        </p:nvSpPr>
        <p:spPr>
          <a:xfrm>
            <a:off x="7067550" y="50482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9" name="cell-6-4"/>
          <p:cNvSpPr/>
          <p:nvPr/>
        </p:nvSpPr>
        <p:spPr>
          <a:xfrm>
            <a:off x="8934450" y="5048250"/>
            <a:ext cx="1828800" cy="400050"/>
          </a:xfrm>
          <a:prstGeom prst="rect">
            <a:avLst/>
          </a:prstGeom>
          <a:solidFill>
            <a:srgbClr val="5C2D8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ell-6-4-text"/>
          <p:cNvSpPr txBox="1"/>
          <p:nvPr/>
        </p:nvSpPr>
        <p:spPr>
          <a:xfrm>
            <a:off x="8934450" y="504825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71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Biggest lift opportunity sits at Manager level — storyline coaching and strategy framing are the weakest cells across the practice.</a:t>
            </a:r>
          </a:p>
        </p:txBody>
      </p:sp>
      <p:sp>
        <p:nvSpPr>
          <p:cNvPr id="7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