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Three steps to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deliver with confidence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sequential process framework — from alignment to execution to impact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tep-1-box"/>
          <p:cNvSpPr/>
          <p:nvPr/>
        </p:nvSpPr>
        <p:spPr>
          <a:xfrm>
            <a:off x="457200" y="1905000"/>
            <a:ext cx="3562350" cy="4076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step-1-accent"/>
          <p:cNvSpPr/>
          <p:nvPr/>
        </p:nvSpPr>
        <p:spPr>
          <a:xfrm>
            <a:off x="457200" y="1905000"/>
            <a:ext cx="35623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step-1-circle-bg"/>
          <p:cNvSpPr/>
          <p:nvPr/>
        </p:nvSpPr>
        <p:spPr>
          <a:xfrm>
            <a:off x="2028825" y="2171700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step-1-circle-text"/>
          <p:cNvSpPr txBox="1"/>
          <p:nvPr/>
        </p:nvSpPr>
        <p:spPr>
          <a:xfrm>
            <a:off x="2028825" y="21717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step-1-name"/>
          <p:cNvSpPr txBox="1"/>
          <p:nvPr/>
        </p:nvSpPr>
        <p:spPr>
          <a:xfrm>
            <a:off x="609600" y="2743200"/>
            <a:ext cx="32575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Align &amp; Define</a:t>
            </a:r>
          </a:p>
        </p:txBody>
      </p:sp>
      <p:sp>
        <p:nvSpPr>
          <p:cNvPr id="10" name="step-1-desc"/>
          <p:cNvSpPr txBox="1"/>
          <p:nvPr/>
        </p:nvSpPr>
        <p:spPr>
          <a:xfrm>
            <a:off x="666750" y="3067050"/>
            <a:ext cx="314325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a shared understanding of scope, objectives, and success criteria across all stakeholders before any work begins. Resolve ambiguity early to reduce rework.</a:t>
            </a:r>
          </a:p>
        </p:txBody>
      </p:sp>
      <p:sp>
        <p:nvSpPr>
          <p:cNvPr id="11" name="step-1-pill"/>
          <p:cNvSpPr/>
          <p:nvPr/>
        </p:nvSpPr>
        <p:spPr>
          <a:xfrm>
            <a:off x="1476375" y="5600700"/>
            <a:ext cx="152400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step-1-pill-text"/>
          <p:cNvSpPr txBox="1"/>
          <p:nvPr/>
        </p:nvSpPr>
        <p:spPr>
          <a:xfrm>
            <a:off x="1476375" y="5600700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SCOPING COMPLETE</a:t>
            </a:r>
          </a:p>
        </p:txBody>
      </p:sp>
      <p:sp>
        <p:nvSpPr>
          <p:cNvPr id="13" name="step-2-box"/>
          <p:cNvSpPr/>
          <p:nvPr/>
        </p:nvSpPr>
        <p:spPr>
          <a:xfrm>
            <a:off x="4305300" y="1905000"/>
            <a:ext cx="3562350" cy="4076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step-2-accent"/>
          <p:cNvSpPr/>
          <p:nvPr/>
        </p:nvSpPr>
        <p:spPr>
          <a:xfrm>
            <a:off x="4305300" y="1905000"/>
            <a:ext cx="35623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tep-2-circle-bg"/>
          <p:cNvSpPr/>
          <p:nvPr/>
        </p:nvSpPr>
        <p:spPr>
          <a:xfrm>
            <a:off x="5876925" y="2171700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ep-2-circle-text"/>
          <p:cNvSpPr txBox="1"/>
          <p:nvPr/>
        </p:nvSpPr>
        <p:spPr>
          <a:xfrm>
            <a:off x="5876925" y="21717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step-2-name"/>
          <p:cNvSpPr txBox="1"/>
          <p:nvPr/>
        </p:nvSpPr>
        <p:spPr>
          <a:xfrm>
            <a:off x="4457700" y="2743200"/>
            <a:ext cx="32575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Build &amp; Validate</a:t>
            </a:r>
          </a:p>
        </p:txBody>
      </p:sp>
      <p:sp>
        <p:nvSpPr>
          <p:cNvPr id="18" name="step-2-desc"/>
          <p:cNvSpPr txBox="1"/>
          <p:nvPr/>
        </p:nvSpPr>
        <p:spPr>
          <a:xfrm>
            <a:off x="4514850" y="3067050"/>
            <a:ext cx="314325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Develop the solution in focused sprints, validating each increment against defined criteria. Surface risks early and iterate with client feedback loops in place.</a:t>
            </a:r>
          </a:p>
        </p:txBody>
      </p:sp>
      <p:sp>
        <p:nvSpPr>
          <p:cNvPr id="19" name="step-2-pill"/>
          <p:cNvSpPr/>
          <p:nvPr/>
        </p:nvSpPr>
        <p:spPr>
          <a:xfrm>
            <a:off x="5324475" y="5600700"/>
            <a:ext cx="152400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tep-2-pill-text"/>
          <p:cNvSpPr txBox="1"/>
          <p:nvPr/>
        </p:nvSpPr>
        <p:spPr>
          <a:xfrm>
            <a:off x="5324475" y="5600700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SOLUTION VALIDATED</a:t>
            </a:r>
          </a:p>
        </p:txBody>
      </p:sp>
      <p:sp>
        <p:nvSpPr>
          <p:cNvPr id="21" name="step-3-box"/>
          <p:cNvSpPr/>
          <p:nvPr/>
        </p:nvSpPr>
        <p:spPr>
          <a:xfrm>
            <a:off x="8153400" y="1905000"/>
            <a:ext cx="3562350" cy="40767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tep-3-accent"/>
          <p:cNvSpPr/>
          <p:nvPr/>
        </p:nvSpPr>
        <p:spPr>
          <a:xfrm>
            <a:off x="8153400" y="1905000"/>
            <a:ext cx="35623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step-3-circle-bg"/>
          <p:cNvSpPr/>
          <p:nvPr/>
        </p:nvSpPr>
        <p:spPr>
          <a:xfrm>
            <a:off x="9725025" y="2171700"/>
            <a:ext cx="419100" cy="41910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step-3-circle-text"/>
          <p:cNvSpPr txBox="1"/>
          <p:nvPr/>
        </p:nvSpPr>
        <p:spPr>
          <a:xfrm>
            <a:off x="9725025" y="21717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5" name="step-3-name"/>
          <p:cNvSpPr txBox="1"/>
          <p:nvPr/>
        </p:nvSpPr>
        <p:spPr>
          <a:xfrm>
            <a:off x="8305800" y="2743200"/>
            <a:ext cx="32575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Deploy &amp; Sustain</a:t>
            </a:r>
          </a:p>
        </p:txBody>
      </p:sp>
      <p:sp>
        <p:nvSpPr>
          <p:cNvPr id="26" name="step-3-desc"/>
          <p:cNvSpPr txBox="1"/>
          <p:nvPr/>
        </p:nvSpPr>
        <p:spPr>
          <a:xfrm>
            <a:off x="8362950" y="3067050"/>
            <a:ext cx="3143250" cy="1714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Release to production with a structured hypercare period. Embed knowledge, hand over runbooks, and establish KPIs to measure and sustain value over time.</a:t>
            </a:r>
          </a:p>
        </p:txBody>
      </p:sp>
      <p:sp>
        <p:nvSpPr>
          <p:cNvPr id="27" name="step-3-pill"/>
          <p:cNvSpPr/>
          <p:nvPr/>
        </p:nvSpPr>
        <p:spPr>
          <a:xfrm>
            <a:off x="9172575" y="5600700"/>
            <a:ext cx="152400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tep-3-pill-text"/>
          <p:cNvSpPr txBox="1"/>
          <p:nvPr/>
        </p:nvSpPr>
        <p:spPr>
          <a:xfrm>
            <a:off x="9172575" y="5600700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VALUE REALIZED</a:t>
            </a:r>
          </a:p>
        </p:txBody>
      </p:sp>
      <p:sp>
        <p:nvSpPr>
          <p:cNvPr id="29" name="arrow-1-shaft"/>
          <p:cNvSpPr/>
          <p:nvPr/>
        </p:nvSpPr>
        <p:spPr>
          <a:xfrm>
            <a:off x="4057650" y="3905250"/>
            <a:ext cx="171450" cy="285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arrow-1-head1"/>
          <p:cNvSpPr/>
          <p:nvPr/>
        </p:nvSpPr>
        <p:spPr>
          <a:xfrm>
            <a:off x="4191000" y="3867150"/>
            <a:ext cx="28575" cy="1047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arrow-1-head2"/>
          <p:cNvSpPr/>
          <p:nvPr/>
        </p:nvSpPr>
        <p:spPr>
          <a:xfrm>
            <a:off x="4229100" y="3886200"/>
            <a:ext cx="28575" cy="666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arrow-2-shaft"/>
          <p:cNvSpPr/>
          <p:nvPr/>
        </p:nvSpPr>
        <p:spPr>
          <a:xfrm>
            <a:off x="7905750" y="3905250"/>
            <a:ext cx="171450" cy="285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rrow-2-head1"/>
          <p:cNvSpPr/>
          <p:nvPr/>
        </p:nvSpPr>
        <p:spPr>
          <a:xfrm>
            <a:off x="8039100" y="3867150"/>
            <a:ext cx="28575" cy="1047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rrow-2-head2"/>
          <p:cNvSpPr/>
          <p:nvPr/>
        </p:nvSpPr>
        <p:spPr>
          <a:xfrm>
            <a:off x="8077200" y="3886200"/>
            <a:ext cx="28575" cy="666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outcome-strip"/>
          <p:cNvSpPr/>
          <p:nvPr/>
        </p:nvSpPr>
        <p:spPr>
          <a:xfrm>
            <a:off x="457200" y="6057900"/>
            <a:ext cx="112776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outcome-label"/>
          <p:cNvSpPr txBox="1"/>
          <p:nvPr/>
        </p:nvSpPr>
        <p:spPr>
          <a:xfrm>
            <a:off x="609600" y="60579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OUTCOME</a:t>
            </a:r>
          </a:p>
        </p:txBody>
      </p:sp>
      <p:sp>
        <p:nvSpPr>
          <p:cNvPr id="37" name="outcome-text"/>
          <p:cNvSpPr txBox="1"/>
          <p:nvPr/>
        </p:nvSpPr>
        <p:spPr>
          <a:xfrm>
            <a:off x="1409700" y="6057900"/>
            <a:ext cx="101727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End-to-end delivery rhythm that reduces time-to-value by 30%, with clear ownership at every gate and a measurable handover ensuring the client can operate independently post-engagement.</a:t>
            </a:r>
          </a:p>
        </p:txBody>
      </p:sp>
      <p:sp>
        <p:nvSpPr>
          <p:cNvPr id="3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