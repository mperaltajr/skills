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ure-tag"/>
          <p:cNvSpPr txBox="1"/>
          <p:nvPr/>
        </p:nvSpPr>
        <p:spPr>
          <a:xfrm>
            <a:off x="228600" y="2286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ACCENTURE INTERNAL</a:t>
            </a:r>
          </a:p>
        </p:txBody>
      </p:sp>
      <p:sp>
        <p:nvSpPr>
          <p:cNvPr id="3" name="draft-badge"/>
          <p:cNvSpPr txBox="1"/>
          <p:nvPr/>
        </p:nvSpPr>
        <p:spPr>
          <a:xfrm>
            <a:off x="5772150" y="190500"/>
            <a:ext cx="647700" cy="17145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71C1C"/>
                </a:solidFill>
                <a:latin typeface="Inter"/>
              </a:rPr>
              <a:t>DRAFT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Option B delivers a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superior return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across all key dimensions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609600" y="99060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Head-to-head comparison with explicit arithmetic delta — FY2026 business case review</a:t>
            </a:r>
          </a:p>
        </p:txBody>
      </p:sp>
      <p:sp>
        <p:nvSpPr>
          <p:cNvPr id="6" name="brand-rule"/>
          <p:cNvSpPr/>
          <p:nvPr/>
        </p:nvSpPr>
        <p:spPr>
          <a:xfrm>
            <a:off x="609600" y="14287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ompare-col-1-header"/>
          <p:cNvSpPr txBox="1"/>
          <p:nvPr/>
        </p:nvSpPr>
        <p:spPr>
          <a:xfrm>
            <a:off x="533400" y="1485900"/>
            <a:ext cx="47434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Option A — Legacy Upgrade</a:t>
            </a:r>
          </a:p>
        </p:txBody>
      </p:sp>
      <p:sp>
        <p:nvSpPr>
          <p:cNvPr id="8" name="compare-col-delta-header"/>
          <p:cNvSpPr txBox="1"/>
          <p:nvPr/>
        </p:nvSpPr>
        <p:spPr>
          <a:xfrm>
            <a:off x="5429250" y="1485900"/>
            <a:ext cx="1333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DELTA</a:t>
            </a:r>
          </a:p>
        </p:txBody>
      </p:sp>
      <p:sp>
        <p:nvSpPr>
          <p:cNvPr id="9" name="compare-col-2-header"/>
          <p:cNvSpPr txBox="1"/>
          <p:nvPr/>
        </p:nvSpPr>
        <p:spPr>
          <a:xfrm>
            <a:off x="6991350" y="1485900"/>
            <a:ext cx="3733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Option B — Cloud-Native</a:t>
            </a:r>
          </a:p>
        </p:txBody>
      </p:sp>
      <p:sp>
        <p:nvSpPr>
          <p:cNvPr id="10" name="compare-col-2-badge-bg"/>
          <p:cNvSpPr/>
          <p:nvPr/>
        </p:nvSpPr>
        <p:spPr>
          <a:xfrm>
            <a:off x="10801350" y="1562100"/>
            <a:ext cx="857250" cy="1714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ompare-col-2-badge"/>
          <p:cNvSpPr txBox="1"/>
          <p:nvPr/>
        </p:nvSpPr>
        <p:spPr>
          <a:xfrm>
            <a:off x="10801350" y="156210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RECOMMENDED</a:t>
            </a:r>
          </a:p>
        </p:txBody>
      </p:sp>
      <p:sp>
        <p:nvSpPr>
          <p:cNvPr id="12" name="col-header-rule"/>
          <p:cNvSpPr/>
          <p:nvPr/>
        </p:nvSpPr>
        <p:spPr>
          <a:xfrm>
            <a:off x="457200" y="1809750"/>
            <a:ext cx="11277600" cy="19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ol-a-rule"/>
          <p:cNvSpPr/>
          <p:nvPr/>
        </p:nvSpPr>
        <p:spPr>
          <a:xfrm>
            <a:off x="5419725" y="1485900"/>
            <a:ext cx="9525" cy="42291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ol-b-rule"/>
          <p:cNvSpPr/>
          <p:nvPr/>
        </p:nvSpPr>
        <p:spPr>
          <a:xfrm>
            <a:off x="6762750" y="1485900"/>
            <a:ext cx="9525" cy="42291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ompare-row-1-label"/>
          <p:cNvSpPr txBox="1"/>
          <p:nvPr/>
        </p:nvSpPr>
        <p:spPr>
          <a:xfrm>
            <a:off x="533400" y="2000250"/>
            <a:ext cx="4743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IMPLEMENTATION COST</a:t>
            </a:r>
          </a:p>
        </p:txBody>
      </p:sp>
      <p:sp>
        <p:nvSpPr>
          <p:cNvPr id="16" name="compare-row-1-col-1-cell"/>
          <p:cNvSpPr txBox="1"/>
          <p:nvPr/>
        </p:nvSpPr>
        <p:spPr>
          <a:xfrm>
            <a:off x="533400" y="2171700"/>
            <a:ext cx="47434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$18.4M</a:t>
            </a:r>
          </a:p>
        </p:txBody>
      </p:sp>
      <p:sp>
        <p:nvSpPr>
          <p:cNvPr id="17" name="compare-row-1-delta-bg"/>
          <p:cNvSpPr/>
          <p:nvPr/>
        </p:nvSpPr>
        <p:spPr>
          <a:xfrm>
            <a:off x="5715000" y="2219325"/>
            <a:ext cx="762000" cy="2286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ompare-row-1-delta"/>
          <p:cNvSpPr txBox="1"/>
          <p:nvPr/>
        </p:nvSpPr>
        <p:spPr>
          <a:xfrm>
            <a:off x="5715000" y="2219325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−$2.4M</a:t>
            </a:r>
          </a:p>
        </p:txBody>
      </p:sp>
      <p:sp>
        <p:nvSpPr>
          <p:cNvPr id="19" name="compare-row-1-col-2-label-spacer"/>
          <p:cNvSpPr txBox="1"/>
          <p:nvPr/>
        </p:nvSpPr>
        <p:spPr>
          <a:xfrm>
            <a:off x="6991350" y="2000250"/>
            <a:ext cx="466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/>
            </a:r>
          </a:p>
        </p:txBody>
      </p:sp>
      <p:sp>
        <p:nvSpPr>
          <p:cNvPr id="20" name="compare-row-1-col-2-cell"/>
          <p:cNvSpPr txBox="1"/>
          <p:nvPr/>
        </p:nvSpPr>
        <p:spPr>
          <a:xfrm>
            <a:off x="6991350" y="2171700"/>
            <a:ext cx="46672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$16.0M</a:t>
            </a:r>
          </a:p>
        </p:txBody>
      </p:sp>
      <p:sp>
        <p:nvSpPr>
          <p:cNvPr id="21" name="compare-row-1-rule-a"/>
          <p:cNvSpPr/>
          <p:nvPr/>
        </p:nvSpPr>
        <p:spPr>
          <a:xfrm>
            <a:off x="457200" y="2695575"/>
            <a:ext cx="4962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ompare-row-1-rule-b"/>
          <p:cNvSpPr/>
          <p:nvPr/>
        </p:nvSpPr>
        <p:spPr>
          <a:xfrm>
            <a:off x="6772275" y="2695575"/>
            <a:ext cx="4962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ompare-row-2-label"/>
          <p:cNvSpPr txBox="1"/>
          <p:nvPr/>
        </p:nvSpPr>
        <p:spPr>
          <a:xfrm>
            <a:off x="533400" y="2743200"/>
            <a:ext cx="4743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TIME TO VALUE</a:t>
            </a:r>
          </a:p>
        </p:txBody>
      </p:sp>
      <p:sp>
        <p:nvSpPr>
          <p:cNvPr id="24" name="compare-row-2-col-1-cell"/>
          <p:cNvSpPr txBox="1"/>
          <p:nvPr/>
        </p:nvSpPr>
        <p:spPr>
          <a:xfrm>
            <a:off x="533400" y="2914650"/>
            <a:ext cx="47434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18 months</a:t>
            </a:r>
          </a:p>
        </p:txBody>
      </p:sp>
      <p:sp>
        <p:nvSpPr>
          <p:cNvPr id="25" name="compare-row-2-delta-bg"/>
          <p:cNvSpPr/>
          <p:nvPr/>
        </p:nvSpPr>
        <p:spPr>
          <a:xfrm>
            <a:off x="5715000" y="2962275"/>
            <a:ext cx="762000" cy="2286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ompare-row-2-delta"/>
          <p:cNvSpPr txBox="1"/>
          <p:nvPr/>
        </p:nvSpPr>
        <p:spPr>
          <a:xfrm>
            <a:off x="5715000" y="2962275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−3 mo</a:t>
            </a:r>
          </a:p>
        </p:txBody>
      </p:sp>
      <p:sp>
        <p:nvSpPr>
          <p:cNvPr id="27" name="compare-row-2-col-2-label-spacer"/>
          <p:cNvSpPr txBox="1"/>
          <p:nvPr/>
        </p:nvSpPr>
        <p:spPr>
          <a:xfrm>
            <a:off x="6991350" y="2743200"/>
            <a:ext cx="466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/>
            </a:r>
          </a:p>
        </p:txBody>
      </p:sp>
      <p:sp>
        <p:nvSpPr>
          <p:cNvPr id="28" name="compare-row-2-col-2-cell"/>
          <p:cNvSpPr txBox="1"/>
          <p:nvPr/>
        </p:nvSpPr>
        <p:spPr>
          <a:xfrm>
            <a:off x="6991350" y="2914650"/>
            <a:ext cx="46672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15 months</a:t>
            </a:r>
          </a:p>
        </p:txBody>
      </p:sp>
      <p:sp>
        <p:nvSpPr>
          <p:cNvPr id="29" name="compare-row-2-rule-a"/>
          <p:cNvSpPr/>
          <p:nvPr/>
        </p:nvSpPr>
        <p:spPr>
          <a:xfrm>
            <a:off x="457200" y="3438525"/>
            <a:ext cx="4962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ompare-row-2-rule-b"/>
          <p:cNvSpPr/>
          <p:nvPr/>
        </p:nvSpPr>
        <p:spPr>
          <a:xfrm>
            <a:off x="6772275" y="3438525"/>
            <a:ext cx="4962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ompare-row-3-label"/>
          <p:cNvSpPr txBox="1"/>
          <p:nvPr/>
        </p:nvSpPr>
        <p:spPr>
          <a:xfrm>
            <a:off x="533400" y="3486150"/>
            <a:ext cx="4743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EFFICIENCY GAIN</a:t>
            </a:r>
          </a:p>
        </p:txBody>
      </p:sp>
      <p:sp>
        <p:nvSpPr>
          <p:cNvPr id="32" name="compare-row-3-col-1-cell"/>
          <p:cNvSpPr txBox="1"/>
          <p:nvPr/>
        </p:nvSpPr>
        <p:spPr>
          <a:xfrm>
            <a:off x="533400" y="3657600"/>
            <a:ext cx="47434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22%</a:t>
            </a:r>
          </a:p>
        </p:txBody>
      </p:sp>
      <p:sp>
        <p:nvSpPr>
          <p:cNvPr id="33" name="compare-row-3-delta-bg"/>
          <p:cNvSpPr/>
          <p:nvPr/>
        </p:nvSpPr>
        <p:spPr>
          <a:xfrm>
            <a:off x="5715000" y="3705225"/>
            <a:ext cx="762000" cy="2286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ompare-row-3-delta"/>
          <p:cNvSpPr txBox="1"/>
          <p:nvPr/>
        </p:nvSpPr>
        <p:spPr>
          <a:xfrm>
            <a:off x="5715000" y="3705225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+18 pp</a:t>
            </a:r>
          </a:p>
        </p:txBody>
      </p:sp>
      <p:sp>
        <p:nvSpPr>
          <p:cNvPr id="35" name="compare-row-3-col-2-label-spacer"/>
          <p:cNvSpPr txBox="1"/>
          <p:nvPr/>
        </p:nvSpPr>
        <p:spPr>
          <a:xfrm>
            <a:off x="6991350" y="3486150"/>
            <a:ext cx="466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/>
            </a:r>
          </a:p>
        </p:txBody>
      </p:sp>
      <p:sp>
        <p:nvSpPr>
          <p:cNvPr id="36" name="compare-row-3-col-2-cell"/>
          <p:cNvSpPr txBox="1"/>
          <p:nvPr/>
        </p:nvSpPr>
        <p:spPr>
          <a:xfrm>
            <a:off x="6991350" y="3657600"/>
            <a:ext cx="46672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40%</a:t>
            </a:r>
          </a:p>
        </p:txBody>
      </p:sp>
      <p:sp>
        <p:nvSpPr>
          <p:cNvPr id="37" name="compare-row-3-rule-a"/>
          <p:cNvSpPr/>
          <p:nvPr/>
        </p:nvSpPr>
        <p:spPr>
          <a:xfrm>
            <a:off x="457200" y="4181475"/>
            <a:ext cx="4962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ompare-row-3-rule-b"/>
          <p:cNvSpPr/>
          <p:nvPr/>
        </p:nvSpPr>
        <p:spPr>
          <a:xfrm>
            <a:off x="6772275" y="4181475"/>
            <a:ext cx="4962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compare-row-4-label"/>
          <p:cNvSpPr txBox="1"/>
          <p:nvPr/>
        </p:nvSpPr>
        <p:spPr>
          <a:xfrm>
            <a:off x="533400" y="4229100"/>
            <a:ext cx="4743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RISK SCORE</a:t>
            </a:r>
          </a:p>
        </p:txBody>
      </p:sp>
      <p:sp>
        <p:nvSpPr>
          <p:cNvPr id="40" name="compare-row-4-col-1-cell"/>
          <p:cNvSpPr txBox="1"/>
          <p:nvPr/>
        </p:nvSpPr>
        <p:spPr>
          <a:xfrm>
            <a:off x="533400" y="4400550"/>
            <a:ext cx="47434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High (7/10)</a:t>
            </a:r>
          </a:p>
        </p:txBody>
      </p:sp>
      <p:sp>
        <p:nvSpPr>
          <p:cNvPr id="41" name="compare-row-4-delta-bg"/>
          <p:cNvSpPr/>
          <p:nvPr/>
        </p:nvSpPr>
        <p:spPr>
          <a:xfrm>
            <a:off x="5715000" y="4448175"/>
            <a:ext cx="762000" cy="2286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ompare-row-4-delta"/>
          <p:cNvSpPr txBox="1"/>
          <p:nvPr/>
        </p:nvSpPr>
        <p:spPr>
          <a:xfrm>
            <a:off x="5715000" y="4448175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−4 pts</a:t>
            </a:r>
          </a:p>
        </p:txBody>
      </p:sp>
      <p:sp>
        <p:nvSpPr>
          <p:cNvPr id="43" name="compare-row-4-col-2-label-spacer"/>
          <p:cNvSpPr txBox="1"/>
          <p:nvPr/>
        </p:nvSpPr>
        <p:spPr>
          <a:xfrm>
            <a:off x="6991350" y="4229100"/>
            <a:ext cx="466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/>
            </a:r>
          </a:p>
        </p:txBody>
      </p:sp>
      <p:sp>
        <p:nvSpPr>
          <p:cNvPr id="44" name="compare-row-4-col-2-cell"/>
          <p:cNvSpPr txBox="1"/>
          <p:nvPr/>
        </p:nvSpPr>
        <p:spPr>
          <a:xfrm>
            <a:off x="6991350" y="4400550"/>
            <a:ext cx="46672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Medium (3/10)</a:t>
            </a:r>
          </a:p>
        </p:txBody>
      </p:sp>
      <p:sp>
        <p:nvSpPr>
          <p:cNvPr id="45" name="compare-row-4-rule-a"/>
          <p:cNvSpPr/>
          <p:nvPr/>
        </p:nvSpPr>
        <p:spPr>
          <a:xfrm>
            <a:off x="457200" y="4924425"/>
            <a:ext cx="4962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mpare-row-4-rule-b"/>
          <p:cNvSpPr/>
          <p:nvPr/>
        </p:nvSpPr>
        <p:spPr>
          <a:xfrm>
            <a:off x="6772275" y="4924425"/>
            <a:ext cx="4962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compare-row-5-highlight-a"/>
          <p:cNvSpPr/>
          <p:nvPr/>
        </p:nvSpPr>
        <p:spPr>
          <a:xfrm>
            <a:off x="457200" y="4933950"/>
            <a:ext cx="4962525" cy="742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ompare-row-5-highlight-b"/>
          <p:cNvSpPr/>
          <p:nvPr/>
        </p:nvSpPr>
        <p:spPr>
          <a:xfrm>
            <a:off x="6772275" y="4933950"/>
            <a:ext cx="4962525" cy="742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compare-row-5-label"/>
          <p:cNvSpPr txBox="1"/>
          <p:nvPr/>
        </p:nvSpPr>
        <p:spPr>
          <a:xfrm>
            <a:off x="533400" y="4972050"/>
            <a:ext cx="4743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TOTAL NPV (5YR)</a:t>
            </a:r>
          </a:p>
        </p:txBody>
      </p:sp>
      <p:sp>
        <p:nvSpPr>
          <p:cNvPr id="50" name="compare-row-5-col-1-cell"/>
          <p:cNvSpPr txBox="1"/>
          <p:nvPr/>
        </p:nvSpPr>
        <p:spPr>
          <a:xfrm>
            <a:off x="533400" y="5143500"/>
            <a:ext cx="47434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5C2D87"/>
                </a:solidFill>
                <a:latin typeface="Inter"/>
              </a:rPr>
              <a:t>$31.2M</a:t>
            </a:r>
          </a:p>
        </p:txBody>
      </p:sp>
      <p:sp>
        <p:nvSpPr>
          <p:cNvPr id="51" name="compare-row-5-delta-bg"/>
          <p:cNvSpPr/>
          <p:nvPr/>
        </p:nvSpPr>
        <p:spPr>
          <a:xfrm>
            <a:off x="5715000" y="5191125"/>
            <a:ext cx="762000" cy="2286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ompare-row-5-delta"/>
          <p:cNvSpPr txBox="1"/>
          <p:nvPr/>
        </p:nvSpPr>
        <p:spPr>
          <a:xfrm>
            <a:off x="5715000" y="5191125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+$14.1M</a:t>
            </a:r>
          </a:p>
        </p:txBody>
      </p:sp>
      <p:sp>
        <p:nvSpPr>
          <p:cNvPr id="53" name="compare-row-5-col-2-label-spacer"/>
          <p:cNvSpPr txBox="1"/>
          <p:nvPr/>
        </p:nvSpPr>
        <p:spPr>
          <a:xfrm>
            <a:off x="6991350" y="4972050"/>
            <a:ext cx="466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/>
            </a:r>
          </a:p>
        </p:txBody>
      </p:sp>
      <p:sp>
        <p:nvSpPr>
          <p:cNvPr id="54" name="compare-row-5-col-2-cell"/>
          <p:cNvSpPr txBox="1"/>
          <p:nvPr/>
        </p:nvSpPr>
        <p:spPr>
          <a:xfrm>
            <a:off x="6991350" y="5143500"/>
            <a:ext cx="46672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5C2D87"/>
                </a:solidFill>
                <a:latin typeface="Inter"/>
              </a:rPr>
              <a:t>$45.3M</a:t>
            </a:r>
          </a:p>
        </p:txBody>
      </p:sp>
      <p:sp>
        <p:nvSpPr>
          <p:cNvPr id="55" name="convergence-bg"/>
          <p:cNvSpPr/>
          <p:nvPr/>
        </p:nvSpPr>
        <p:spPr>
          <a:xfrm>
            <a:off x="457200" y="5867400"/>
            <a:ext cx="11277600" cy="381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convergence-accent"/>
          <p:cNvSpPr/>
          <p:nvPr/>
        </p:nvSpPr>
        <p:spPr>
          <a:xfrm>
            <a:off x="457200" y="5867400"/>
            <a:ext cx="28575" cy="381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convergence"/>
          <p:cNvSpPr txBox="1"/>
          <p:nvPr/>
        </p:nvSpPr>
        <p:spPr>
          <a:xfrm>
            <a:off x="628650" y="5867400"/>
            <a:ext cx="109347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FFFFFF"/>
                </a:solidFill>
                <a:latin typeface="Inter"/>
              </a:rPr>
              <a:t>Option B is the clear pick — $14.1M NPV upside, 3 months faster, half the risk.</a:t>
            </a:r>
          </a:p>
        </p:txBody>
      </p:sp>
      <p:sp>
        <p:nvSpPr>
          <p:cNvPr id="59" name="footer-left"/>
          <p:cNvSpPr txBox="1"/>
          <p:nvPr/>
        </p:nvSpPr>
        <p:spPr>
          <a:xfrm>
            <a:off x="228600" y="66103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Inter"/>
              </a:rPr>
              <a:t>CONFIDENTIAL — ACCENTURE INTERNAL</a:t>
            </a:r>
          </a:p>
        </p:txBody>
      </p:sp>
      <p:sp>
        <p:nvSpPr>
          <p:cNvPr id="60" name="footer-right"/>
          <p:cNvSpPr txBox="1"/>
          <p:nvPr/>
        </p:nvSpPr>
        <p:spPr>
          <a:xfrm>
            <a:off x="10058400" y="6600825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Slide Lab · 2026 · 182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