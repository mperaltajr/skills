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ure-tag"/>
          <p:cNvSpPr txBox="1"/>
          <p:nvPr/>
        </p:nvSpPr>
        <p:spPr>
          <a:xfrm>
            <a:off x="228600" y="2286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ACCENTURE INTERNAL</a:t>
            </a:r>
          </a:p>
        </p:txBody>
      </p:sp>
      <p:sp>
        <p:nvSpPr>
          <p:cNvPr id="3" name="draft-badge"/>
          <p:cNvSpPr txBox="1"/>
          <p:nvPr/>
        </p:nvSpPr>
        <p:spPr>
          <a:xfrm>
            <a:off x="5772150" y="190500"/>
            <a:ext cx="647700" cy="17145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DRAFT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266700"/>
            <a:ext cx="11239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Coach capability gaps — three reds to close before Wave 2.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1009650"/>
            <a:ext cx="1009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Required level = independent Wave-2 demonstration. Current level = average across seven pilot coaches. Three capabilities sit at +3 levels — develop those first.</a:t>
            </a:r>
          </a:p>
        </p:txBody>
      </p:sp>
      <p:sp>
        <p:nvSpPr>
          <p:cNvPr id="6" name="brand-rule"/>
          <p:cNvSpPr/>
          <p:nvPr/>
        </p:nvSpPr>
        <p:spPr>
          <a:xfrm>
            <a:off x="457200" y="14287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1-swatch"/>
          <p:cNvSpPr/>
          <p:nvPr/>
        </p:nvSpPr>
        <p:spPr>
          <a:xfrm>
            <a:off x="5200650" y="1666875"/>
            <a:ext cx="9525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5467350" y="16192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Current level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6534150" y="166687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6800850" y="16192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Required level</a:t>
            </a:r>
          </a:p>
        </p:txBody>
      </p:sp>
      <p:sp>
        <p:nvSpPr>
          <p:cNvPr id="11" name="legend-3-swatch"/>
          <p:cNvSpPr/>
          <p:nvPr/>
        </p:nvSpPr>
        <p:spPr>
          <a:xfrm>
            <a:off x="7867650" y="1685925"/>
            <a:ext cx="209550" cy="5715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3-label"/>
          <p:cNvSpPr txBox="1"/>
          <p:nvPr/>
        </p:nvSpPr>
        <p:spPr>
          <a:xfrm>
            <a:off x="8134350" y="1619250"/>
            <a:ext cx="971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Red gap (≥3)</a:t>
            </a:r>
          </a:p>
        </p:txBody>
      </p:sp>
      <p:sp>
        <p:nvSpPr>
          <p:cNvPr id="13" name="legend-4-swatch"/>
          <p:cNvSpPr/>
          <p:nvPr/>
        </p:nvSpPr>
        <p:spPr>
          <a:xfrm>
            <a:off x="9105900" y="1685925"/>
            <a:ext cx="209550" cy="571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legend-4-label"/>
          <p:cNvSpPr txBox="1"/>
          <p:nvPr/>
        </p:nvSpPr>
        <p:spPr>
          <a:xfrm>
            <a:off x="9372600" y="1619250"/>
            <a:ext cx="1162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Amber gap (1–2)</a:t>
            </a:r>
          </a:p>
        </p:txBody>
      </p:sp>
      <p:sp>
        <p:nvSpPr>
          <p:cNvPr id="15" name="legend-5-swatch"/>
          <p:cNvSpPr/>
          <p:nvPr/>
        </p:nvSpPr>
        <p:spPr>
          <a:xfrm>
            <a:off x="10534650" y="1685925"/>
            <a:ext cx="209550" cy="571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legend-5-label"/>
          <p:cNvSpPr txBox="1"/>
          <p:nvPr/>
        </p:nvSpPr>
        <p:spPr>
          <a:xfrm>
            <a:off x="10801350" y="1619250"/>
            <a:ext cx="781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At/above</a:t>
            </a:r>
          </a:p>
        </p:txBody>
      </p:sp>
      <p:sp>
        <p:nvSpPr>
          <p:cNvPr id="17" name="table-col-1-header"/>
          <p:cNvSpPr txBox="1"/>
          <p:nvPr/>
        </p:nvSpPr>
        <p:spPr>
          <a:xfrm>
            <a:off x="457200" y="1905000"/>
            <a:ext cx="2095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CAPABILITY</a:t>
            </a:r>
          </a:p>
        </p:txBody>
      </p:sp>
      <p:sp>
        <p:nvSpPr>
          <p:cNvPr id="18" name="table-col-2-header"/>
          <p:cNvSpPr txBox="1"/>
          <p:nvPr/>
        </p:nvSpPr>
        <p:spPr>
          <a:xfrm>
            <a:off x="2781300" y="1905000"/>
            <a:ext cx="605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LEVEL · 1 = AWARE · 5 = MASTERY</a:t>
            </a:r>
          </a:p>
        </p:txBody>
      </p:sp>
      <p:sp>
        <p:nvSpPr>
          <p:cNvPr id="19" name="scale-tick-1"/>
          <p:cNvSpPr txBox="1"/>
          <p:nvPr/>
        </p:nvSpPr>
        <p:spPr>
          <a:xfrm>
            <a:off x="3305175" y="2076450"/>
            <a:ext cx="152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1</a:t>
            </a:r>
          </a:p>
        </p:txBody>
      </p:sp>
      <p:sp>
        <p:nvSpPr>
          <p:cNvPr id="20" name="scale-tick-2"/>
          <p:cNvSpPr txBox="1"/>
          <p:nvPr/>
        </p:nvSpPr>
        <p:spPr>
          <a:xfrm>
            <a:off x="4514850" y="2076450"/>
            <a:ext cx="152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2</a:t>
            </a:r>
          </a:p>
        </p:txBody>
      </p:sp>
      <p:sp>
        <p:nvSpPr>
          <p:cNvPr id="21" name="scale-tick-3"/>
          <p:cNvSpPr txBox="1"/>
          <p:nvPr/>
        </p:nvSpPr>
        <p:spPr>
          <a:xfrm>
            <a:off x="5734050" y="2076450"/>
            <a:ext cx="152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3</a:t>
            </a:r>
          </a:p>
        </p:txBody>
      </p:sp>
      <p:sp>
        <p:nvSpPr>
          <p:cNvPr id="22" name="scale-tick-4"/>
          <p:cNvSpPr txBox="1"/>
          <p:nvPr/>
        </p:nvSpPr>
        <p:spPr>
          <a:xfrm>
            <a:off x="6943725" y="2076450"/>
            <a:ext cx="152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4</a:t>
            </a:r>
          </a:p>
        </p:txBody>
      </p:sp>
      <p:sp>
        <p:nvSpPr>
          <p:cNvPr id="23" name="scale-tick-5"/>
          <p:cNvSpPr txBox="1"/>
          <p:nvPr/>
        </p:nvSpPr>
        <p:spPr>
          <a:xfrm>
            <a:off x="8153400" y="2076450"/>
            <a:ext cx="152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5</a:t>
            </a:r>
          </a:p>
        </p:txBody>
      </p:sp>
      <p:sp>
        <p:nvSpPr>
          <p:cNvPr id="24" name="table-col-3-header"/>
          <p:cNvSpPr txBox="1"/>
          <p:nvPr/>
        </p:nvSpPr>
        <p:spPr>
          <a:xfrm>
            <a:off x="9067800" y="1905000"/>
            <a:ext cx="2667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GAP &amp; ACTION</a:t>
            </a:r>
          </a:p>
        </p:txBody>
      </p:sp>
      <p:sp>
        <p:nvSpPr>
          <p:cNvPr id="25" name="col-header-divider"/>
          <p:cNvSpPr/>
          <p:nvPr/>
        </p:nvSpPr>
        <p:spPr>
          <a:xfrm>
            <a:off x="457200" y="22479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1-cell-1"/>
          <p:cNvSpPr txBox="1"/>
          <p:nvPr/>
        </p:nvSpPr>
        <p:spPr>
          <a:xfrm>
            <a:off x="457200" y="23812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Storyline coaching</a:t>
            </a:r>
          </a:p>
        </p:txBody>
      </p:sp>
      <p:sp>
        <p:nvSpPr>
          <p:cNvPr id="27" name="table-row-1-sublabel"/>
          <p:cNvSpPr txBox="1"/>
          <p:nvPr/>
        </p:nvSpPr>
        <p:spPr>
          <a:xfrm>
            <a:off x="457200" y="257175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Governing thought, MECE, so-what</a:t>
            </a:r>
          </a:p>
        </p:txBody>
      </p:sp>
      <p:sp>
        <p:nvSpPr>
          <p:cNvPr id="28" name="table-row-1-scale-track"/>
          <p:cNvSpPr/>
          <p:nvPr/>
        </p:nvSpPr>
        <p:spPr>
          <a:xfrm>
            <a:off x="2781300" y="2533650"/>
            <a:ext cx="6057900" cy="19050"/>
          </a:xfrm>
          <a:prstGeom prst="rect">
            <a:avLst/>
          </a:prstGeom>
          <a:solidFill>
            <a:srgbClr val="E5D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1-gap-segment"/>
          <p:cNvSpPr/>
          <p:nvPr/>
        </p:nvSpPr>
        <p:spPr>
          <a:xfrm>
            <a:off x="5810250" y="2514600"/>
            <a:ext cx="2419350" cy="571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able-row-1-tick-1"/>
          <p:cNvSpPr/>
          <p:nvPr/>
        </p:nvSpPr>
        <p:spPr>
          <a:xfrm>
            <a:off x="3381375" y="24955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1-tick-2"/>
          <p:cNvSpPr/>
          <p:nvPr/>
        </p:nvSpPr>
        <p:spPr>
          <a:xfrm>
            <a:off x="4591050" y="24955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1-tick-3"/>
          <p:cNvSpPr/>
          <p:nvPr/>
        </p:nvSpPr>
        <p:spPr>
          <a:xfrm>
            <a:off x="5810250" y="24955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ble-row-1-tick-4"/>
          <p:cNvSpPr/>
          <p:nvPr/>
        </p:nvSpPr>
        <p:spPr>
          <a:xfrm>
            <a:off x="7019925" y="24955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table-row-1-tick-5"/>
          <p:cNvSpPr/>
          <p:nvPr/>
        </p:nvSpPr>
        <p:spPr>
          <a:xfrm>
            <a:off x="8229600" y="24955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able-row-1-marker-current"/>
          <p:cNvSpPr/>
          <p:nvPr/>
        </p:nvSpPr>
        <p:spPr>
          <a:xfrm>
            <a:off x="5743575" y="2476500"/>
            <a:ext cx="13335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able-row-1-marker-required"/>
          <p:cNvSpPr/>
          <p:nvPr/>
        </p:nvSpPr>
        <p:spPr>
          <a:xfrm>
            <a:off x="8162925" y="247650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1-status-pill"/>
          <p:cNvSpPr txBox="1"/>
          <p:nvPr/>
        </p:nvSpPr>
        <p:spPr>
          <a:xfrm>
            <a:off x="9067800" y="2438400"/>
            <a:ext cx="762000" cy="17145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8860B"/>
                </a:solidFill>
                <a:latin typeface="Inter"/>
              </a:rPr>
              <a:t>+2 LEVELS</a:t>
            </a:r>
          </a:p>
        </p:txBody>
      </p:sp>
      <p:sp>
        <p:nvSpPr>
          <p:cNvPr id="38" name="table-row-1-comment"/>
          <p:cNvSpPr txBox="1"/>
          <p:nvPr/>
        </p:nvSpPr>
        <p:spPr>
          <a:xfrm>
            <a:off x="9925050" y="245745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Pair with senior on three live storylines</a:t>
            </a:r>
          </a:p>
        </p:txBody>
      </p:sp>
      <p:sp>
        <p:nvSpPr>
          <p:cNvPr id="39" name="table-row-2-cell-1"/>
          <p:cNvSpPr txBox="1"/>
          <p:nvPr/>
        </p:nvSpPr>
        <p:spPr>
          <a:xfrm>
            <a:off x="457200" y="28575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Pattern application</a:t>
            </a:r>
          </a:p>
        </p:txBody>
      </p:sp>
      <p:sp>
        <p:nvSpPr>
          <p:cNvPr id="40" name="table-row-2-sublabel"/>
          <p:cNvSpPr txBox="1"/>
          <p:nvPr/>
        </p:nvSpPr>
        <p:spPr>
          <a:xfrm>
            <a:off x="457200" y="304800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Selecting and adapting from the library</a:t>
            </a:r>
          </a:p>
        </p:txBody>
      </p:sp>
      <p:sp>
        <p:nvSpPr>
          <p:cNvPr id="41" name="table-row-2-scale-track"/>
          <p:cNvSpPr/>
          <p:nvPr/>
        </p:nvSpPr>
        <p:spPr>
          <a:xfrm>
            <a:off x="2781300" y="3009900"/>
            <a:ext cx="6057900" cy="19050"/>
          </a:xfrm>
          <a:prstGeom prst="rect">
            <a:avLst/>
          </a:prstGeom>
          <a:solidFill>
            <a:srgbClr val="E5D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able-row-2-gap-segment"/>
          <p:cNvSpPr/>
          <p:nvPr/>
        </p:nvSpPr>
        <p:spPr>
          <a:xfrm>
            <a:off x="4591050" y="2990850"/>
            <a:ext cx="2419350" cy="571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able-row-2-tick-1"/>
          <p:cNvSpPr/>
          <p:nvPr/>
        </p:nvSpPr>
        <p:spPr>
          <a:xfrm>
            <a:off x="3381375" y="29718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2-tick-2"/>
          <p:cNvSpPr/>
          <p:nvPr/>
        </p:nvSpPr>
        <p:spPr>
          <a:xfrm>
            <a:off x="4591050" y="29718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able-row-2-tick-3"/>
          <p:cNvSpPr/>
          <p:nvPr/>
        </p:nvSpPr>
        <p:spPr>
          <a:xfrm>
            <a:off x="5810250" y="29718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2-tick-4"/>
          <p:cNvSpPr/>
          <p:nvPr/>
        </p:nvSpPr>
        <p:spPr>
          <a:xfrm>
            <a:off x="7019925" y="29718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able-row-2-tick-5"/>
          <p:cNvSpPr/>
          <p:nvPr/>
        </p:nvSpPr>
        <p:spPr>
          <a:xfrm>
            <a:off x="8229600" y="29718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2-marker-current"/>
          <p:cNvSpPr/>
          <p:nvPr/>
        </p:nvSpPr>
        <p:spPr>
          <a:xfrm>
            <a:off x="4524375" y="2952750"/>
            <a:ext cx="13335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2-marker-required"/>
          <p:cNvSpPr/>
          <p:nvPr/>
        </p:nvSpPr>
        <p:spPr>
          <a:xfrm>
            <a:off x="6953250" y="2952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2-status-pill"/>
          <p:cNvSpPr txBox="1"/>
          <p:nvPr/>
        </p:nvSpPr>
        <p:spPr>
          <a:xfrm>
            <a:off x="9067800" y="2914650"/>
            <a:ext cx="762000" cy="17145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8860B"/>
                </a:solidFill>
                <a:latin typeface="Inter"/>
              </a:rPr>
              <a:t>+2 LEVELS</a:t>
            </a:r>
          </a:p>
        </p:txBody>
      </p:sp>
      <p:sp>
        <p:nvSpPr>
          <p:cNvPr id="51" name="table-row-2-comment"/>
          <p:cNvSpPr txBox="1"/>
          <p:nvPr/>
        </p:nvSpPr>
        <p:spPr>
          <a:xfrm>
            <a:off x="9925050" y="29337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Workshop on top 20 patterns; reps</a:t>
            </a:r>
          </a:p>
        </p:txBody>
      </p:sp>
      <p:sp>
        <p:nvSpPr>
          <p:cNvPr id="52" name="table-row-3-cell-1"/>
          <p:cNvSpPr txBox="1"/>
          <p:nvPr/>
        </p:nvSpPr>
        <p:spPr>
          <a:xfrm>
            <a:off x="457200" y="33337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Brand customization</a:t>
            </a:r>
          </a:p>
        </p:txBody>
      </p:sp>
      <p:sp>
        <p:nvSpPr>
          <p:cNvPr id="53" name="table-row-3-sublabel"/>
          <p:cNvSpPr txBox="1"/>
          <p:nvPr/>
        </p:nvSpPr>
        <p:spPr>
          <a:xfrm>
            <a:off x="457200" y="352425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Token swaps, client templates</a:t>
            </a:r>
          </a:p>
        </p:txBody>
      </p:sp>
      <p:sp>
        <p:nvSpPr>
          <p:cNvPr id="54" name="table-row-3-scale-track"/>
          <p:cNvSpPr/>
          <p:nvPr/>
        </p:nvSpPr>
        <p:spPr>
          <a:xfrm>
            <a:off x="2781300" y="3486150"/>
            <a:ext cx="6057900" cy="19050"/>
          </a:xfrm>
          <a:prstGeom prst="rect">
            <a:avLst/>
          </a:prstGeom>
          <a:solidFill>
            <a:srgbClr val="E5D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ble-row-3-tick-1"/>
          <p:cNvSpPr/>
          <p:nvPr/>
        </p:nvSpPr>
        <p:spPr>
          <a:xfrm>
            <a:off x="3381375" y="34480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3-tick-2"/>
          <p:cNvSpPr/>
          <p:nvPr/>
        </p:nvSpPr>
        <p:spPr>
          <a:xfrm>
            <a:off x="4591050" y="34480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3-tick-3"/>
          <p:cNvSpPr/>
          <p:nvPr/>
        </p:nvSpPr>
        <p:spPr>
          <a:xfrm>
            <a:off x="5810250" y="34480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3-tick-4"/>
          <p:cNvSpPr/>
          <p:nvPr/>
        </p:nvSpPr>
        <p:spPr>
          <a:xfrm>
            <a:off x="7019925" y="34480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3-tick-5"/>
          <p:cNvSpPr/>
          <p:nvPr/>
        </p:nvSpPr>
        <p:spPr>
          <a:xfrm>
            <a:off x="8229600" y="34480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table-row-3-marker-current"/>
          <p:cNvSpPr/>
          <p:nvPr/>
        </p:nvSpPr>
        <p:spPr>
          <a:xfrm>
            <a:off x="6953250" y="3429000"/>
            <a:ext cx="13335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able-row-3-marker-required"/>
          <p:cNvSpPr/>
          <p:nvPr/>
        </p:nvSpPr>
        <p:spPr>
          <a:xfrm>
            <a:off x="6953250" y="342900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able-row-3-status-pill"/>
          <p:cNvSpPr txBox="1"/>
          <p:nvPr/>
        </p:nvSpPr>
        <p:spPr>
          <a:xfrm>
            <a:off x="9067800" y="3390900"/>
            <a:ext cx="762000" cy="17145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7D32"/>
                </a:solidFill>
                <a:latin typeface="Inter"/>
              </a:rPr>
              <a:t>AT LEVEL</a:t>
            </a:r>
          </a:p>
        </p:txBody>
      </p:sp>
      <p:sp>
        <p:nvSpPr>
          <p:cNvPr id="63" name="table-row-3-comment"/>
          <p:cNvSpPr txBox="1"/>
          <p:nvPr/>
        </p:nvSpPr>
        <p:spPr>
          <a:xfrm>
            <a:off x="9925050" y="340995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No action — sustain through reuse</a:t>
            </a:r>
          </a:p>
        </p:txBody>
      </p:sp>
      <p:sp>
        <p:nvSpPr>
          <p:cNvPr id="64" name="table-row-4-cell-1"/>
          <p:cNvSpPr txBox="1"/>
          <p:nvPr/>
        </p:nvSpPr>
        <p:spPr>
          <a:xfrm>
            <a:off x="457200" y="38100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Visual QC</a:t>
            </a:r>
          </a:p>
        </p:txBody>
      </p:sp>
      <p:sp>
        <p:nvSpPr>
          <p:cNvPr id="65" name="table-row-4-sublabel"/>
          <p:cNvSpPr txBox="1"/>
          <p:nvPr/>
        </p:nvSpPr>
        <p:spPr>
          <a:xfrm>
            <a:off x="457200" y="400050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Standing QC, zone-by-zone vision</a:t>
            </a:r>
          </a:p>
        </p:txBody>
      </p:sp>
      <p:sp>
        <p:nvSpPr>
          <p:cNvPr id="66" name="table-row-4-scale-track"/>
          <p:cNvSpPr/>
          <p:nvPr/>
        </p:nvSpPr>
        <p:spPr>
          <a:xfrm>
            <a:off x="2781300" y="3962400"/>
            <a:ext cx="6057900" cy="19050"/>
          </a:xfrm>
          <a:prstGeom prst="rect">
            <a:avLst/>
          </a:prstGeom>
          <a:solidFill>
            <a:srgbClr val="E5D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able-row-4-gap-segment"/>
          <p:cNvSpPr/>
          <p:nvPr/>
        </p:nvSpPr>
        <p:spPr>
          <a:xfrm>
            <a:off x="4591050" y="3943350"/>
            <a:ext cx="3629025" cy="5715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4-tick-1"/>
          <p:cNvSpPr/>
          <p:nvPr/>
        </p:nvSpPr>
        <p:spPr>
          <a:xfrm>
            <a:off x="3381375" y="39243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able-row-4-tick-2"/>
          <p:cNvSpPr/>
          <p:nvPr/>
        </p:nvSpPr>
        <p:spPr>
          <a:xfrm>
            <a:off x="4591050" y="39243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able-row-4-tick-3"/>
          <p:cNvSpPr/>
          <p:nvPr/>
        </p:nvSpPr>
        <p:spPr>
          <a:xfrm>
            <a:off x="5810250" y="39243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table-row-4-tick-4"/>
          <p:cNvSpPr/>
          <p:nvPr/>
        </p:nvSpPr>
        <p:spPr>
          <a:xfrm>
            <a:off x="7019925" y="39243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able-row-4-tick-5"/>
          <p:cNvSpPr/>
          <p:nvPr/>
        </p:nvSpPr>
        <p:spPr>
          <a:xfrm>
            <a:off x="8229600" y="39243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4-marker-current"/>
          <p:cNvSpPr/>
          <p:nvPr/>
        </p:nvSpPr>
        <p:spPr>
          <a:xfrm>
            <a:off x="4524375" y="3905250"/>
            <a:ext cx="13335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table-row-4-marker-required"/>
          <p:cNvSpPr/>
          <p:nvPr/>
        </p:nvSpPr>
        <p:spPr>
          <a:xfrm>
            <a:off x="8162925" y="39052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table-row-4-status-pill"/>
          <p:cNvSpPr txBox="1"/>
          <p:nvPr/>
        </p:nvSpPr>
        <p:spPr>
          <a:xfrm>
            <a:off x="9067800" y="3867150"/>
            <a:ext cx="762000" cy="17145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2185B"/>
                </a:solidFill>
                <a:latin typeface="Inter"/>
              </a:rPr>
              <a:t>+3 LEVELS</a:t>
            </a:r>
          </a:p>
        </p:txBody>
      </p:sp>
      <p:sp>
        <p:nvSpPr>
          <p:cNvPr id="76" name="table-row-4-comment"/>
          <p:cNvSpPr txBox="1"/>
          <p:nvPr/>
        </p:nvSpPr>
        <p:spPr>
          <a:xfrm>
            <a:off x="9925050" y="38862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QC bootcamp — week 1 priority</a:t>
            </a:r>
          </a:p>
        </p:txBody>
      </p:sp>
      <p:sp>
        <p:nvSpPr>
          <p:cNvPr id="77" name="table-row-5-cell-1"/>
          <p:cNvSpPr txBox="1"/>
          <p:nvPr/>
        </p:nvSpPr>
        <p:spPr>
          <a:xfrm>
            <a:off x="457200" y="42862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Senior coaching presence</a:t>
            </a:r>
          </a:p>
        </p:txBody>
      </p:sp>
      <p:sp>
        <p:nvSpPr>
          <p:cNvPr id="78" name="table-row-5-sublabel"/>
          <p:cNvSpPr txBox="1"/>
          <p:nvPr/>
        </p:nvSpPr>
        <p:spPr>
          <a:xfrm>
            <a:off x="457200" y="447675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Pushback, blunt feedback in room</a:t>
            </a:r>
          </a:p>
        </p:txBody>
      </p:sp>
      <p:sp>
        <p:nvSpPr>
          <p:cNvPr id="79" name="table-row-5-scale-track"/>
          <p:cNvSpPr/>
          <p:nvPr/>
        </p:nvSpPr>
        <p:spPr>
          <a:xfrm>
            <a:off x="2781300" y="4438650"/>
            <a:ext cx="6057900" cy="19050"/>
          </a:xfrm>
          <a:prstGeom prst="rect">
            <a:avLst/>
          </a:prstGeom>
          <a:solidFill>
            <a:srgbClr val="E5D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table-row-5-gap-segment"/>
          <p:cNvSpPr/>
          <p:nvPr/>
        </p:nvSpPr>
        <p:spPr>
          <a:xfrm>
            <a:off x="3381375" y="4419600"/>
            <a:ext cx="3629025" cy="5715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table-row-5-tick-1"/>
          <p:cNvSpPr/>
          <p:nvPr/>
        </p:nvSpPr>
        <p:spPr>
          <a:xfrm>
            <a:off x="3381375" y="44005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table-row-5-tick-2"/>
          <p:cNvSpPr/>
          <p:nvPr/>
        </p:nvSpPr>
        <p:spPr>
          <a:xfrm>
            <a:off x="4591050" y="44005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5-tick-3"/>
          <p:cNvSpPr/>
          <p:nvPr/>
        </p:nvSpPr>
        <p:spPr>
          <a:xfrm>
            <a:off x="5810250" y="44005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table-row-5-tick-4"/>
          <p:cNvSpPr/>
          <p:nvPr/>
        </p:nvSpPr>
        <p:spPr>
          <a:xfrm>
            <a:off x="7019925" y="44005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table-row-5-tick-5"/>
          <p:cNvSpPr/>
          <p:nvPr/>
        </p:nvSpPr>
        <p:spPr>
          <a:xfrm>
            <a:off x="8229600" y="44005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table-row-5-marker-current"/>
          <p:cNvSpPr/>
          <p:nvPr/>
        </p:nvSpPr>
        <p:spPr>
          <a:xfrm>
            <a:off x="3314700" y="4381500"/>
            <a:ext cx="13335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table-row-5-marker-required"/>
          <p:cNvSpPr/>
          <p:nvPr/>
        </p:nvSpPr>
        <p:spPr>
          <a:xfrm>
            <a:off x="6953250" y="438150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5-status-pill"/>
          <p:cNvSpPr txBox="1"/>
          <p:nvPr/>
        </p:nvSpPr>
        <p:spPr>
          <a:xfrm>
            <a:off x="9067800" y="4343400"/>
            <a:ext cx="762000" cy="17145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2185B"/>
                </a:solidFill>
                <a:latin typeface="Inter"/>
              </a:rPr>
              <a:t>+3 LEVELS</a:t>
            </a:r>
          </a:p>
        </p:txBody>
      </p:sp>
      <p:sp>
        <p:nvSpPr>
          <p:cNvPr id="89" name="table-row-5-comment"/>
          <p:cNvSpPr txBox="1"/>
          <p:nvPr/>
        </p:nvSpPr>
        <p:spPr>
          <a:xfrm>
            <a:off x="9925050" y="436245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Shadowing with MDs; role-play reps</a:t>
            </a:r>
          </a:p>
        </p:txBody>
      </p:sp>
      <p:sp>
        <p:nvSpPr>
          <p:cNvPr id="90" name="table-row-6-cell-1"/>
          <p:cNvSpPr txBox="1"/>
          <p:nvPr/>
        </p:nvSpPr>
        <p:spPr>
          <a:xfrm>
            <a:off x="457200" y="47625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Tool fluency</a:t>
            </a:r>
          </a:p>
        </p:txBody>
      </p:sp>
      <p:sp>
        <p:nvSpPr>
          <p:cNvPr id="91" name="table-row-6-sublabel"/>
          <p:cNvSpPr txBox="1"/>
          <p:nvPr/>
        </p:nvSpPr>
        <p:spPr>
          <a:xfrm>
            <a:off x="457200" y="495300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Claude Code, render pipeline</a:t>
            </a:r>
          </a:p>
        </p:txBody>
      </p:sp>
      <p:sp>
        <p:nvSpPr>
          <p:cNvPr id="92" name="table-row-6-scale-track"/>
          <p:cNvSpPr/>
          <p:nvPr/>
        </p:nvSpPr>
        <p:spPr>
          <a:xfrm>
            <a:off x="2781300" y="4914900"/>
            <a:ext cx="6057900" cy="19050"/>
          </a:xfrm>
          <a:prstGeom prst="rect">
            <a:avLst/>
          </a:prstGeom>
          <a:solidFill>
            <a:srgbClr val="E5D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table-row-6-tick-1"/>
          <p:cNvSpPr/>
          <p:nvPr/>
        </p:nvSpPr>
        <p:spPr>
          <a:xfrm>
            <a:off x="3381375" y="48768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table-row-6-tick-2"/>
          <p:cNvSpPr/>
          <p:nvPr/>
        </p:nvSpPr>
        <p:spPr>
          <a:xfrm>
            <a:off x="4591050" y="48768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table-row-6-tick-3"/>
          <p:cNvSpPr/>
          <p:nvPr/>
        </p:nvSpPr>
        <p:spPr>
          <a:xfrm>
            <a:off x="5810250" y="48768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table-row-6-tick-4"/>
          <p:cNvSpPr/>
          <p:nvPr/>
        </p:nvSpPr>
        <p:spPr>
          <a:xfrm>
            <a:off x="7019925" y="48768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table-row-6-tick-5"/>
          <p:cNvSpPr/>
          <p:nvPr/>
        </p:nvSpPr>
        <p:spPr>
          <a:xfrm>
            <a:off x="8229600" y="487680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table-row-6-marker-current"/>
          <p:cNvSpPr/>
          <p:nvPr/>
        </p:nvSpPr>
        <p:spPr>
          <a:xfrm>
            <a:off x="5743575" y="4857750"/>
            <a:ext cx="13335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table-row-6-marker-required"/>
          <p:cNvSpPr/>
          <p:nvPr/>
        </p:nvSpPr>
        <p:spPr>
          <a:xfrm>
            <a:off x="5743575" y="4857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table-row-6-status-pill"/>
          <p:cNvSpPr txBox="1"/>
          <p:nvPr/>
        </p:nvSpPr>
        <p:spPr>
          <a:xfrm>
            <a:off x="9067800" y="4819650"/>
            <a:ext cx="762000" cy="17145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7D32"/>
                </a:solidFill>
                <a:latin typeface="Inter"/>
              </a:rPr>
              <a:t>AT LEVEL</a:t>
            </a:r>
          </a:p>
        </p:txBody>
      </p:sp>
      <p:sp>
        <p:nvSpPr>
          <p:cNvPr id="101" name="table-row-6-comment"/>
          <p:cNvSpPr txBox="1"/>
          <p:nvPr/>
        </p:nvSpPr>
        <p:spPr>
          <a:xfrm>
            <a:off x="9925050" y="48387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No action — revisit at Wave 3</a:t>
            </a:r>
          </a:p>
        </p:txBody>
      </p:sp>
      <p:sp>
        <p:nvSpPr>
          <p:cNvPr id="102" name="table-row-7-cell-1"/>
          <p:cNvSpPr txBox="1"/>
          <p:nvPr/>
        </p:nvSpPr>
        <p:spPr>
          <a:xfrm>
            <a:off x="457200" y="52387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Stakeholder management</a:t>
            </a:r>
          </a:p>
        </p:txBody>
      </p:sp>
      <p:sp>
        <p:nvSpPr>
          <p:cNvPr id="103" name="table-row-7-sublabel"/>
          <p:cNvSpPr txBox="1"/>
          <p:nvPr/>
        </p:nvSpPr>
        <p:spPr>
          <a:xfrm>
            <a:off x="457200" y="542925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Partner-level expectations setting</a:t>
            </a:r>
          </a:p>
        </p:txBody>
      </p:sp>
      <p:sp>
        <p:nvSpPr>
          <p:cNvPr id="104" name="table-row-7-scale-track"/>
          <p:cNvSpPr/>
          <p:nvPr/>
        </p:nvSpPr>
        <p:spPr>
          <a:xfrm>
            <a:off x="2781300" y="5391150"/>
            <a:ext cx="6057900" cy="19050"/>
          </a:xfrm>
          <a:prstGeom prst="rect">
            <a:avLst/>
          </a:prstGeom>
          <a:solidFill>
            <a:srgbClr val="E5D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table-row-7-gap-segment"/>
          <p:cNvSpPr/>
          <p:nvPr/>
        </p:nvSpPr>
        <p:spPr>
          <a:xfrm>
            <a:off x="7019925" y="5372100"/>
            <a:ext cx="1209675" cy="571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table-row-7-tick-1"/>
          <p:cNvSpPr/>
          <p:nvPr/>
        </p:nvSpPr>
        <p:spPr>
          <a:xfrm>
            <a:off x="3381375" y="53530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table-row-7-tick-2"/>
          <p:cNvSpPr/>
          <p:nvPr/>
        </p:nvSpPr>
        <p:spPr>
          <a:xfrm>
            <a:off x="4591050" y="53530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table-row-7-tick-3"/>
          <p:cNvSpPr/>
          <p:nvPr/>
        </p:nvSpPr>
        <p:spPr>
          <a:xfrm>
            <a:off x="5810250" y="53530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table-row-7-tick-4"/>
          <p:cNvSpPr/>
          <p:nvPr/>
        </p:nvSpPr>
        <p:spPr>
          <a:xfrm>
            <a:off x="7019925" y="53530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table-row-7-tick-5"/>
          <p:cNvSpPr/>
          <p:nvPr/>
        </p:nvSpPr>
        <p:spPr>
          <a:xfrm>
            <a:off x="8229600" y="5353050"/>
            <a:ext cx="9525" cy="762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table-row-7-marker-current"/>
          <p:cNvSpPr/>
          <p:nvPr/>
        </p:nvSpPr>
        <p:spPr>
          <a:xfrm>
            <a:off x="6953250" y="5334000"/>
            <a:ext cx="13335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table-row-7-marker-required"/>
          <p:cNvSpPr/>
          <p:nvPr/>
        </p:nvSpPr>
        <p:spPr>
          <a:xfrm>
            <a:off x="8162925" y="533400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table-row-7-status-pill"/>
          <p:cNvSpPr txBox="1"/>
          <p:nvPr/>
        </p:nvSpPr>
        <p:spPr>
          <a:xfrm>
            <a:off x="9067800" y="5295900"/>
            <a:ext cx="762000" cy="17145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8860B"/>
                </a:solidFill>
                <a:latin typeface="Inter"/>
              </a:rPr>
              <a:t>+1 LEVEL</a:t>
            </a:r>
          </a:p>
        </p:txBody>
      </p:sp>
      <p:sp>
        <p:nvSpPr>
          <p:cNvPr id="114" name="table-row-7-comment"/>
          <p:cNvSpPr txBox="1"/>
          <p:nvPr/>
        </p:nvSpPr>
        <p:spPr>
          <a:xfrm>
            <a:off x="9925050" y="531495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Quarterly partner-facing readouts</a:t>
            </a:r>
          </a:p>
        </p:txBody>
      </p:sp>
      <p:sp>
        <p:nvSpPr>
          <p:cNvPr id="115" name="convergence-bg"/>
          <p:cNvSpPr/>
          <p:nvPr/>
        </p:nvSpPr>
        <p:spPr>
          <a:xfrm>
            <a:off x="457200" y="6057900"/>
            <a:ext cx="1127760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convergence"/>
          <p:cNvSpPr txBox="1"/>
          <p:nvPr/>
        </p:nvSpPr>
        <p:spPr>
          <a:xfrm>
            <a:off x="628650" y="6057900"/>
            <a:ext cx="109347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Three capabilities sit at high gap — visual QC, senior presence, and storyline coaching. Develop those first; the rest follow with reps.</a:t>
            </a:r>
          </a:p>
        </p:txBody>
      </p:sp>
      <p:sp>
        <p:nvSpPr>
          <p:cNvPr id="118" name="footer-left"/>
          <p:cNvSpPr txBox="1"/>
          <p:nvPr/>
        </p:nvSpPr>
        <p:spPr>
          <a:xfrm>
            <a:off x="2286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Inter"/>
              </a:rPr>
              <a:t>CONFIDENTIAL — ACCENTURE INTERNAL</a:t>
            </a:r>
          </a:p>
        </p:txBody>
      </p:sp>
      <p:sp>
        <p:nvSpPr>
          <p:cNvPr id="119" name="footer-right"/>
          <p:cNvSpPr txBox="1"/>
          <p:nvPr/>
        </p:nvSpPr>
        <p:spPr>
          <a:xfrm>
            <a:off x="10058400" y="6600825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Slide Lab · 2026 · 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