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600" y="609600"/>
            <a:ext cx="571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PILOT · WEEK 4 READOUT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266700"/>
            <a:ext cx="1000125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Four weeks in — every metric is moving in the right direction.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09600" y="1028700"/>
            <a:ext cx="100012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Baseline versus week-4 pilot, same teams and deck types. The pattern matters more than any single line.</a:t>
            </a:r>
          </a:p>
        </p:txBody>
      </p:sp>
      <p:sp>
        <p:nvSpPr>
          <p:cNvPr id="5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hart-title"/>
          <p:cNvSpPr txBox="1"/>
          <p:nvPr/>
        </p:nvSpPr>
        <p:spPr>
          <a:xfrm>
            <a:off x="609600" y="2190750"/>
            <a:ext cx="37719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Pilot vs baseline — week 4 vs week 0</a:t>
            </a:r>
          </a:p>
        </p:txBody>
      </p:sp>
      <p:sp>
        <p:nvSpPr>
          <p:cNvPr id="7" name="legend-1-swatch"/>
          <p:cNvSpPr/>
          <p:nvPr/>
        </p:nvSpPr>
        <p:spPr>
          <a:xfrm>
            <a:off x="4381500" y="2247900"/>
            <a:ext cx="104775" cy="104775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1-label"/>
          <p:cNvSpPr txBox="1"/>
          <p:nvPr/>
        </p:nvSpPr>
        <p:spPr>
          <a:xfrm>
            <a:off x="4552950" y="22288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BASELINE</a:t>
            </a:r>
          </a:p>
        </p:txBody>
      </p:sp>
      <p:sp>
        <p:nvSpPr>
          <p:cNvPr id="9" name="legend-2-swatch"/>
          <p:cNvSpPr/>
          <p:nvPr/>
        </p:nvSpPr>
        <p:spPr>
          <a:xfrm>
            <a:off x="5429250" y="2247900"/>
            <a:ext cx="104775" cy="1047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2-label"/>
          <p:cNvSpPr txBox="1"/>
          <p:nvPr/>
        </p:nvSpPr>
        <p:spPr>
          <a:xfrm>
            <a:off x="5600700" y="222885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PILOT · WK 4</a:t>
            </a:r>
          </a:p>
        </p:txBody>
      </p:sp>
      <p:sp>
        <p:nvSpPr>
          <p:cNvPr id="11" name="chart-subtitle"/>
          <p:cNvSpPr txBox="1"/>
          <p:nvPr/>
        </p:nvSpPr>
        <p:spPr>
          <a:xfrm>
            <a:off x="609600" y="2400300"/>
            <a:ext cx="605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12 decks, matched by type and partner reviewer.</a:t>
            </a:r>
          </a:p>
        </p:txBody>
      </p:sp>
      <p:sp>
        <p:nvSpPr>
          <p:cNvPr id="12" name="bar-1-label"/>
          <p:cNvSpPr txBox="1"/>
          <p:nvPr/>
        </p:nvSpPr>
        <p:spPr>
          <a:xfrm>
            <a:off x="609600" y="2705100"/>
            <a:ext cx="1219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CYCLE TIME</a:t>
            </a:r>
          </a:p>
        </p:txBody>
      </p:sp>
      <p:sp>
        <p:nvSpPr>
          <p:cNvPr id="13" name="bar-1-unit"/>
          <p:cNvSpPr txBox="1"/>
          <p:nvPr/>
        </p:nvSpPr>
        <p:spPr>
          <a:xfrm>
            <a:off x="609600" y="2857500"/>
            <a:ext cx="1219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days</a:t>
            </a:r>
          </a:p>
        </p:txBody>
      </p:sp>
      <p:sp>
        <p:nvSpPr>
          <p:cNvPr id="14" name="bar-1-baseline-bar"/>
          <p:cNvSpPr/>
          <p:nvPr/>
        </p:nvSpPr>
        <p:spPr>
          <a:xfrm>
            <a:off x="1981200" y="2714625"/>
            <a:ext cx="3886200" cy="13335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bar-1-baseline-val"/>
          <p:cNvSpPr txBox="1"/>
          <p:nvPr/>
        </p:nvSpPr>
        <p:spPr>
          <a:xfrm>
            <a:off x="1981200" y="2714625"/>
            <a:ext cx="3829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14</a:t>
            </a:r>
          </a:p>
        </p:txBody>
      </p:sp>
      <p:sp>
        <p:nvSpPr>
          <p:cNvPr id="16" name="bar-1-pilot-bar"/>
          <p:cNvSpPr/>
          <p:nvPr/>
        </p:nvSpPr>
        <p:spPr>
          <a:xfrm>
            <a:off x="1981200" y="2886075"/>
            <a:ext cx="1381125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bar-1-pilot-val"/>
          <p:cNvSpPr txBox="1"/>
          <p:nvPr/>
        </p:nvSpPr>
        <p:spPr>
          <a:xfrm>
            <a:off x="1981200" y="2886075"/>
            <a:ext cx="13239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18" name="bar-1-delta"/>
          <p:cNvSpPr txBox="1"/>
          <p:nvPr/>
        </p:nvSpPr>
        <p:spPr>
          <a:xfrm>
            <a:off x="6000750" y="27051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4AD480"/>
                </a:solidFill>
                <a:latin typeface="Inter"/>
              </a:rPr>
              <a:t>−64%</a:t>
            </a:r>
          </a:p>
        </p:txBody>
      </p:sp>
      <p:sp>
        <p:nvSpPr>
          <p:cNvPr id="19" name="bar-1-delta-cap"/>
          <p:cNvSpPr txBox="1"/>
          <p:nvPr/>
        </p:nvSpPr>
        <p:spPr>
          <a:xfrm>
            <a:off x="6000750" y="2876550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FASTER</a:t>
            </a:r>
          </a:p>
        </p:txBody>
      </p:sp>
      <p:sp>
        <p:nvSpPr>
          <p:cNvPr id="20" name="bar-2-label"/>
          <p:cNvSpPr txBox="1"/>
          <p:nvPr/>
        </p:nvSpPr>
        <p:spPr>
          <a:xfrm>
            <a:off x="609600" y="3228975"/>
            <a:ext cx="1219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PARTNER EDITS</a:t>
            </a:r>
          </a:p>
        </p:txBody>
      </p:sp>
      <p:sp>
        <p:nvSpPr>
          <p:cNvPr id="21" name="bar-2-unit"/>
          <p:cNvSpPr txBox="1"/>
          <p:nvPr/>
        </p:nvSpPr>
        <p:spPr>
          <a:xfrm>
            <a:off x="609600" y="3381375"/>
            <a:ext cx="1219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per deck</a:t>
            </a:r>
          </a:p>
        </p:txBody>
      </p:sp>
      <p:sp>
        <p:nvSpPr>
          <p:cNvPr id="22" name="bar-2-baseline-bar"/>
          <p:cNvSpPr/>
          <p:nvPr/>
        </p:nvSpPr>
        <p:spPr>
          <a:xfrm>
            <a:off x="1981200" y="3238500"/>
            <a:ext cx="2209800" cy="13335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bar-2-baseline-val"/>
          <p:cNvSpPr txBox="1"/>
          <p:nvPr/>
        </p:nvSpPr>
        <p:spPr>
          <a:xfrm>
            <a:off x="1981200" y="3238500"/>
            <a:ext cx="21526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24" name="bar-2-pilot-bar"/>
          <p:cNvSpPr/>
          <p:nvPr/>
        </p:nvSpPr>
        <p:spPr>
          <a:xfrm>
            <a:off x="1981200" y="3409950"/>
            <a:ext cx="828675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bar-2-pilot-val"/>
          <p:cNvSpPr txBox="1"/>
          <p:nvPr/>
        </p:nvSpPr>
        <p:spPr>
          <a:xfrm>
            <a:off x="1981200" y="3409950"/>
            <a:ext cx="7715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6" name="bar-2-delta"/>
          <p:cNvSpPr txBox="1"/>
          <p:nvPr/>
        </p:nvSpPr>
        <p:spPr>
          <a:xfrm>
            <a:off x="6000750" y="3228975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4AD480"/>
                </a:solidFill>
                <a:latin typeface="Inter"/>
              </a:rPr>
              <a:t>−63%</a:t>
            </a:r>
          </a:p>
        </p:txBody>
      </p:sp>
      <p:sp>
        <p:nvSpPr>
          <p:cNvPr id="27" name="bar-2-delta-cap"/>
          <p:cNvSpPr txBox="1"/>
          <p:nvPr/>
        </p:nvSpPr>
        <p:spPr>
          <a:xfrm>
            <a:off x="6000750" y="3400425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FEWER</a:t>
            </a:r>
          </a:p>
        </p:txBody>
      </p:sp>
      <p:sp>
        <p:nvSpPr>
          <p:cNvPr id="28" name="bar-3-label"/>
          <p:cNvSpPr txBox="1"/>
          <p:nvPr/>
        </p:nvSpPr>
        <p:spPr>
          <a:xfrm>
            <a:off x="609600" y="3752850"/>
            <a:ext cx="1219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SIGN-OFF RATE</a:t>
            </a:r>
          </a:p>
        </p:txBody>
      </p:sp>
      <p:sp>
        <p:nvSpPr>
          <p:cNvPr id="29" name="bar-3-unit"/>
          <p:cNvSpPr txBox="1"/>
          <p:nvPr/>
        </p:nvSpPr>
        <p:spPr>
          <a:xfrm>
            <a:off x="609600" y="3905250"/>
            <a:ext cx="1219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first-pass</a:t>
            </a:r>
          </a:p>
        </p:txBody>
      </p:sp>
      <p:sp>
        <p:nvSpPr>
          <p:cNvPr id="30" name="bar-3-baseline-bar"/>
          <p:cNvSpPr/>
          <p:nvPr/>
        </p:nvSpPr>
        <p:spPr>
          <a:xfrm>
            <a:off x="1981200" y="3762375"/>
            <a:ext cx="2324100" cy="13335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bar-3-baseline-val"/>
          <p:cNvSpPr txBox="1"/>
          <p:nvPr/>
        </p:nvSpPr>
        <p:spPr>
          <a:xfrm>
            <a:off x="1981200" y="3762375"/>
            <a:ext cx="2266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60%</a:t>
            </a:r>
          </a:p>
        </p:txBody>
      </p:sp>
      <p:sp>
        <p:nvSpPr>
          <p:cNvPr id="32" name="bar-3-pilot-bar"/>
          <p:cNvSpPr/>
          <p:nvPr/>
        </p:nvSpPr>
        <p:spPr>
          <a:xfrm>
            <a:off x="1981200" y="3933825"/>
            <a:ext cx="3648075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bar-3-pilot-val"/>
          <p:cNvSpPr txBox="1"/>
          <p:nvPr/>
        </p:nvSpPr>
        <p:spPr>
          <a:xfrm>
            <a:off x="1981200" y="3933825"/>
            <a:ext cx="35909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94%</a:t>
            </a:r>
          </a:p>
        </p:txBody>
      </p:sp>
      <p:sp>
        <p:nvSpPr>
          <p:cNvPr id="34" name="bar-3-delta"/>
          <p:cNvSpPr txBox="1"/>
          <p:nvPr/>
        </p:nvSpPr>
        <p:spPr>
          <a:xfrm>
            <a:off x="6000750" y="375285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4AD480"/>
                </a:solidFill>
                <a:latin typeface="Inter"/>
              </a:rPr>
              <a:t>+34 pts</a:t>
            </a:r>
          </a:p>
        </p:txBody>
      </p:sp>
      <p:sp>
        <p:nvSpPr>
          <p:cNvPr id="35" name="bar-3-delta-cap"/>
          <p:cNvSpPr txBox="1"/>
          <p:nvPr/>
        </p:nvSpPr>
        <p:spPr>
          <a:xfrm>
            <a:off x="6000750" y="3924300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HIGHER</a:t>
            </a:r>
          </a:p>
        </p:txBody>
      </p:sp>
      <p:sp>
        <p:nvSpPr>
          <p:cNvPr id="36" name="bar-4-label"/>
          <p:cNvSpPr txBox="1"/>
          <p:nvPr/>
        </p:nvSpPr>
        <p:spPr>
          <a:xfrm>
            <a:off x="609600" y="4276725"/>
            <a:ext cx="1219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BUILD ERRORS</a:t>
            </a:r>
          </a:p>
        </p:txBody>
      </p:sp>
      <p:sp>
        <p:nvSpPr>
          <p:cNvPr id="37" name="bar-4-unit"/>
          <p:cNvSpPr txBox="1"/>
          <p:nvPr/>
        </p:nvSpPr>
        <p:spPr>
          <a:xfrm>
            <a:off x="609600" y="4429125"/>
            <a:ext cx="1219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per deck</a:t>
            </a:r>
          </a:p>
        </p:txBody>
      </p:sp>
      <p:sp>
        <p:nvSpPr>
          <p:cNvPr id="38" name="bar-4-baseline-bar"/>
          <p:cNvSpPr/>
          <p:nvPr/>
        </p:nvSpPr>
        <p:spPr>
          <a:xfrm>
            <a:off x="1981200" y="4286250"/>
            <a:ext cx="1104900" cy="13335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bar-4-baseline-val"/>
          <p:cNvSpPr txBox="1"/>
          <p:nvPr/>
        </p:nvSpPr>
        <p:spPr>
          <a:xfrm>
            <a:off x="1981200" y="428625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40" name="bar-4-pilot-bar"/>
          <p:cNvSpPr/>
          <p:nvPr/>
        </p:nvSpPr>
        <p:spPr>
          <a:xfrm>
            <a:off x="1981200" y="4457700"/>
            <a:ext cx="45720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bar-4-pilot-val"/>
          <p:cNvSpPr txBox="1"/>
          <p:nvPr/>
        </p:nvSpPr>
        <p:spPr>
          <a:xfrm>
            <a:off x="1981200" y="4457700"/>
            <a:ext cx="400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</a:t>
            </a:r>
          </a:p>
        </p:txBody>
      </p:sp>
      <p:sp>
        <p:nvSpPr>
          <p:cNvPr id="42" name="bar-4-delta"/>
          <p:cNvSpPr txBox="1"/>
          <p:nvPr/>
        </p:nvSpPr>
        <p:spPr>
          <a:xfrm>
            <a:off x="6000750" y="4276725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4AD480"/>
                </a:solidFill>
                <a:latin typeface="Inter"/>
              </a:rPr>
              <a:t>−100%</a:t>
            </a:r>
          </a:p>
        </p:txBody>
      </p:sp>
      <p:sp>
        <p:nvSpPr>
          <p:cNvPr id="43" name="bar-4-delta-cap"/>
          <p:cNvSpPr txBox="1"/>
          <p:nvPr/>
        </p:nvSpPr>
        <p:spPr>
          <a:xfrm>
            <a:off x="6000750" y="4448175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CLEARED</a:t>
            </a:r>
          </a:p>
        </p:txBody>
      </p:sp>
      <p:sp>
        <p:nvSpPr>
          <p:cNvPr id="44" name="chart-source"/>
          <p:cNvSpPr txBox="1"/>
          <p:nvPr/>
        </p:nvSpPr>
        <p:spPr>
          <a:xfrm>
            <a:off x="609600" y="4895850"/>
            <a:ext cx="60579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Source: 12 decks measured Apr–May 2026; baseline = pre-Slide Lab same teams, matched by deck type and partner reviewer.</a:t>
            </a:r>
          </a:p>
        </p:txBody>
      </p:sp>
      <p:sp>
        <p:nvSpPr>
          <p:cNvPr id="45" name="annot-bg"/>
          <p:cNvSpPr/>
          <p:nvPr/>
        </p:nvSpPr>
        <p:spPr>
          <a:xfrm>
            <a:off x="7010400" y="2190750"/>
            <a:ext cx="4572000" cy="3429000"/>
          </a:xfrm>
          <a:prstGeom prst="rect">
            <a:avLst/>
          </a:prstGeom>
          <a:solidFill>
            <a:srgbClr val="140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annot-header"/>
          <p:cNvSpPr txBox="1"/>
          <p:nvPr/>
        </p:nvSpPr>
        <p:spPr>
          <a:xfrm>
            <a:off x="7239000" y="2400300"/>
            <a:ext cx="4114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WHAT THIS MEANS</a:t>
            </a:r>
          </a:p>
        </p:txBody>
      </p:sp>
      <p:sp>
        <p:nvSpPr>
          <p:cNvPr id="47" name="annot-sub"/>
          <p:cNvSpPr txBox="1"/>
          <p:nvPr/>
        </p:nvSpPr>
        <p:spPr>
          <a:xfrm>
            <a:off x="7239000" y="2590800"/>
            <a:ext cx="41148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80FF"/>
                </a:solidFill>
                <a:latin typeface="Inter"/>
              </a:rPr>
              <a:t>Three reads — partner time, compounding effect, rollout signal.</a:t>
            </a:r>
          </a:p>
        </p:txBody>
      </p:sp>
      <p:sp>
        <p:nvSpPr>
          <p:cNvPr id="48" name="annot-rule"/>
          <p:cNvSpPr/>
          <p:nvPr/>
        </p:nvSpPr>
        <p:spPr>
          <a:xfrm>
            <a:off x="7239000" y="2971800"/>
            <a:ext cx="342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annot-1-marker"/>
          <p:cNvSpPr txBox="1"/>
          <p:nvPr/>
        </p:nvSpPr>
        <p:spPr>
          <a:xfrm>
            <a:off x="7239000" y="314325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▸</a:t>
            </a:r>
          </a:p>
        </p:txBody>
      </p:sp>
      <p:sp>
        <p:nvSpPr>
          <p:cNvPr id="50" name="annot-1-label"/>
          <p:cNvSpPr txBox="1"/>
          <p:nvPr/>
        </p:nvSpPr>
        <p:spPr>
          <a:xfrm>
            <a:off x="7448550" y="3143250"/>
            <a:ext cx="390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Worth a partner-meeting</a:t>
            </a:r>
          </a:p>
        </p:txBody>
      </p:sp>
      <p:sp>
        <p:nvSpPr>
          <p:cNvPr id="51" name="annot-1-body"/>
          <p:cNvSpPr txBox="1"/>
          <p:nvPr/>
        </p:nvSpPr>
        <p:spPr>
          <a:xfrm>
            <a:off x="7448550" y="3352800"/>
            <a:ext cx="3905250" cy="561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Cycle-time gain alone recovers roughly 3 senior hours per deck — a meaningful line item at the practice level.</a:t>
            </a:r>
          </a:p>
        </p:txBody>
      </p:sp>
      <p:sp>
        <p:nvSpPr>
          <p:cNvPr id="52" name="annot-2-marker"/>
          <p:cNvSpPr txBox="1"/>
          <p:nvPr/>
        </p:nvSpPr>
        <p:spPr>
          <a:xfrm>
            <a:off x="7239000" y="3933825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▸</a:t>
            </a:r>
          </a:p>
        </p:txBody>
      </p:sp>
      <p:sp>
        <p:nvSpPr>
          <p:cNvPr id="53" name="annot-2-label"/>
          <p:cNvSpPr txBox="1"/>
          <p:nvPr/>
        </p:nvSpPr>
        <p:spPr>
          <a:xfrm>
            <a:off x="7448550" y="3933825"/>
            <a:ext cx="390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Compounds across the workstream</a:t>
            </a:r>
          </a:p>
        </p:txBody>
      </p:sp>
      <p:sp>
        <p:nvSpPr>
          <p:cNvPr id="54" name="annot-2-body"/>
          <p:cNvSpPr txBox="1"/>
          <p:nvPr/>
        </p:nvSpPr>
        <p:spPr>
          <a:xfrm>
            <a:off x="7448550" y="4143375"/>
            <a:ext cx="3905250" cy="561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Patterns lock in after week 2; fewer late-stage rewrites, faster analyst onboarding, cleaner builds downstream.</a:t>
            </a:r>
          </a:p>
        </p:txBody>
      </p:sp>
      <p:sp>
        <p:nvSpPr>
          <p:cNvPr id="55" name="annot-3-marker"/>
          <p:cNvSpPr txBox="1"/>
          <p:nvPr/>
        </p:nvSpPr>
        <p:spPr>
          <a:xfrm>
            <a:off x="7239000" y="472440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▸</a:t>
            </a:r>
          </a:p>
        </p:txBody>
      </p:sp>
      <p:sp>
        <p:nvSpPr>
          <p:cNvPr id="56" name="annot-3-label"/>
          <p:cNvSpPr txBox="1"/>
          <p:nvPr/>
        </p:nvSpPr>
        <p:spPr>
          <a:xfrm>
            <a:off x="7448550" y="4724400"/>
            <a:ext cx="390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Trigger for Q3 rollout</a:t>
            </a:r>
          </a:p>
        </p:txBody>
      </p:sp>
      <p:sp>
        <p:nvSpPr>
          <p:cNvPr id="57" name="annot-3-body"/>
          <p:cNvSpPr txBox="1"/>
          <p:nvPr/>
        </p:nvSpPr>
        <p:spPr>
          <a:xfrm>
            <a:off x="7448550" y="4933950"/>
            <a:ext cx="3905250" cy="561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Data supports expanding to 3 more practice areas — staged, with the same baseline-tracking discipline.</a:t>
            </a:r>
          </a:p>
        </p:txBody>
      </p:sp>
      <p:sp>
        <p:nvSpPr>
          <p:cNvPr id="58" name="convergence"/>
          <p:cNvSpPr txBox="1"/>
          <p:nvPr/>
        </p:nvSpPr>
        <p:spPr>
          <a:xfrm>
            <a:off x="609600" y="5886450"/>
            <a:ext cx="109728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Four independent measures, same direction — this is a pattern, not a single lucky data point.</a:t>
            </a:r>
          </a:p>
        </p:txBody>
      </p:sp>
      <p:sp>
        <p:nvSpPr>
          <p:cNvPr id="5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