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Velocity is strong but three risks need mitigation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— anchor items from sprint 4 must be resolved before Phase 2 launch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Sprint retrospective · Sailboat framework · what propelled, what slows, what blocks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quadrant-tl-bg"/>
          <p:cNvSpPr/>
          <p:nvPr/>
        </p:nvSpPr>
        <p:spPr>
          <a:xfrm>
            <a:off x="457200" y="2095500"/>
            <a:ext cx="5581650" cy="1657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quadrant-tl-head"/>
          <p:cNvSpPr/>
          <p:nvPr/>
        </p:nvSpPr>
        <p:spPr>
          <a:xfrm>
            <a:off x="457200" y="2095500"/>
            <a:ext cx="5581650" cy="285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quadrant-tl-icon"/>
          <p:cNvSpPr txBox="1"/>
          <p:nvPr/>
        </p:nvSpPr>
        <p:spPr>
          <a:xfrm>
            <a:off x="552450" y="2133600"/>
            <a:ext cx="228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💨</a:t>
            </a:r>
          </a:p>
        </p:txBody>
      </p:sp>
      <p:sp>
        <p:nvSpPr>
          <p:cNvPr id="8" name="quadrant-tl-name"/>
          <p:cNvSpPr txBox="1"/>
          <p:nvPr/>
        </p:nvSpPr>
        <p:spPr>
          <a:xfrm>
            <a:off x="819150" y="2152650"/>
            <a:ext cx="5124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SAIL &amp; WIND — WHAT PROPELLED US</a:t>
            </a:r>
          </a:p>
        </p:txBody>
      </p:sp>
      <p:sp>
        <p:nvSpPr>
          <p:cNvPr id="9" name="quadrant-tl-dot-1"/>
          <p:cNvSpPr/>
          <p:nvPr/>
        </p:nvSpPr>
        <p:spPr>
          <a:xfrm>
            <a:off x="590550" y="2552700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quadrant-tl-body-1"/>
          <p:cNvSpPr txBox="1"/>
          <p:nvPr/>
        </p:nvSpPr>
        <p:spPr>
          <a:xfrm>
            <a:off x="723900" y="2476500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Strong stakeholder alignment kept priorities stable across all sprints</a:t>
            </a:r>
          </a:p>
        </p:txBody>
      </p:sp>
      <p:sp>
        <p:nvSpPr>
          <p:cNvPr id="11" name="quadrant-tl-dot-2"/>
          <p:cNvSpPr/>
          <p:nvPr/>
        </p:nvSpPr>
        <p:spPr>
          <a:xfrm>
            <a:off x="590550" y="2943225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quadrant-tl-body-2"/>
          <p:cNvSpPr txBox="1"/>
          <p:nvPr/>
        </p:nvSpPr>
        <p:spPr>
          <a:xfrm>
            <a:off x="723900" y="2867025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Pre-built accelerators saved 3 weeks of custom development effort</a:t>
            </a:r>
          </a:p>
        </p:txBody>
      </p:sp>
      <p:sp>
        <p:nvSpPr>
          <p:cNvPr id="13" name="quadrant-tl-dot-3"/>
          <p:cNvSpPr/>
          <p:nvPr/>
        </p:nvSpPr>
        <p:spPr>
          <a:xfrm>
            <a:off x="590550" y="3333750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quadrant-tl-body-3"/>
          <p:cNvSpPr txBox="1"/>
          <p:nvPr/>
        </p:nvSpPr>
        <p:spPr>
          <a:xfrm>
            <a:off x="723900" y="3257550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Team velocity improved 40% from sprint 1 to sprint 4</a:t>
            </a:r>
          </a:p>
        </p:txBody>
      </p:sp>
      <p:sp>
        <p:nvSpPr>
          <p:cNvPr id="15" name="quadrant-tr-bg"/>
          <p:cNvSpPr/>
          <p:nvPr/>
        </p:nvSpPr>
        <p:spPr>
          <a:xfrm>
            <a:off x="6153150" y="2095500"/>
            <a:ext cx="5581650" cy="1657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quadrant-tr-head"/>
          <p:cNvSpPr/>
          <p:nvPr/>
        </p:nvSpPr>
        <p:spPr>
          <a:xfrm>
            <a:off x="6153150" y="2095500"/>
            <a:ext cx="5581650" cy="2857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quadrant-tr-icon"/>
          <p:cNvSpPr txBox="1"/>
          <p:nvPr/>
        </p:nvSpPr>
        <p:spPr>
          <a:xfrm>
            <a:off x="6248400" y="2133600"/>
            <a:ext cx="228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🏝</a:t>
            </a:r>
          </a:p>
        </p:txBody>
      </p:sp>
      <p:sp>
        <p:nvSpPr>
          <p:cNvPr id="18" name="quadrant-tr-name"/>
          <p:cNvSpPr txBox="1"/>
          <p:nvPr/>
        </p:nvSpPr>
        <p:spPr>
          <a:xfrm>
            <a:off x="6515100" y="2152650"/>
            <a:ext cx="5124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ISLAND — GOALS &amp; VISION</a:t>
            </a:r>
          </a:p>
        </p:txBody>
      </p:sp>
      <p:sp>
        <p:nvSpPr>
          <p:cNvPr id="19" name="quadrant-tr-dot-1"/>
          <p:cNvSpPr/>
          <p:nvPr/>
        </p:nvSpPr>
        <p:spPr>
          <a:xfrm>
            <a:off x="6286500" y="2552700"/>
            <a:ext cx="47625" cy="47625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quadrant-tr-body-1"/>
          <p:cNvSpPr txBox="1"/>
          <p:nvPr/>
        </p:nvSpPr>
        <p:spPr>
          <a:xfrm>
            <a:off x="6419850" y="2476500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Deliver Phase 2 on time by end of Q3</a:t>
            </a:r>
          </a:p>
        </p:txBody>
      </p:sp>
      <p:sp>
        <p:nvSpPr>
          <p:cNvPr id="21" name="quadrant-tr-dot-2"/>
          <p:cNvSpPr/>
          <p:nvPr/>
        </p:nvSpPr>
        <p:spPr>
          <a:xfrm>
            <a:off x="6286500" y="2943225"/>
            <a:ext cx="47625" cy="47625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quadrant-tr-body-2"/>
          <p:cNvSpPr txBox="1"/>
          <p:nvPr/>
        </p:nvSpPr>
        <p:spPr>
          <a:xfrm>
            <a:off x="6419850" y="2867025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100% user adoption across all business units</a:t>
            </a:r>
          </a:p>
        </p:txBody>
      </p:sp>
      <p:sp>
        <p:nvSpPr>
          <p:cNvPr id="23" name="quadrant-tr-dot-3"/>
          <p:cNvSpPr/>
          <p:nvPr/>
        </p:nvSpPr>
        <p:spPr>
          <a:xfrm>
            <a:off x="6286500" y="3333750"/>
            <a:ext cx="47625" cy="47625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quadrant-tr-body-3"/>
          <p:cNvSpPr txBox="1"/>
          <p:nvPr/>
        </p:nvSpPr>
        <p:spPr>
          <a:xfrm>
            <a:off x="6419850" y="3257550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Reduce defect rate to &lt;2% in production</a:t>
            </a:r>
          </a:p>
        </p:txBody>
      </p:sp>
      <p:sp>
        <p:nvSpPr>
          <p:cNvPr id="25" name="quadrant-bl-bg"/>
          <p:cNvSpPr/>
          <p:nvPr/>
        </p:nvSpPr>
        <p:spPr>
          <a:xfrm>
            <a:off x="457200" y="3867150"/>
            <a:ext cx="5581650" cy="1657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quadrant-bl-head"/>
          <p:cNvSpPr/>
          <p:nvPr/>
        </p:nvSpPr>
        <p:spPr>
          <a:xfrm>
            <a:off x="457200" y="3867150"/>
            <a:ext cx="558165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quadrant-bl-icon"/>
          <p:cNvSpPr txBox="1"/>
          <p:nvPr/>
        </p:nvSpPr>
        <p:spPr>
          <a:xfrm>
            <a:off x="552450" y="3905250"/>
            <a:ext cx="228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⚓</a:t>
            </a:r>
          </a:p>
        </p:txBody>
      </p:sp>
      <p:sp>
        <p:nvSpPr>
          <p:cNvPr id="28" name="quadrant-bl-name"/>
          <p:cNvSpPr txBox="1"/>
          <p:nvPr/>
        </p:nvSpPr>
        <p:spPr>
          <a:xfrm>
            <a:off x="819150" y="3924300"/>
            <a:ext cx="5124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ANCHOR — WHAT SLOWED US</a:t>
            </a:r>
          </a:p>
        </p:txBody>
      </p:sp>
      <p:sp>
        <p:nvSpPr>
          <p:cNvPr id="29" name="quadrant-bl-dot-1"/>
          <p:cNvSpPr/>
          <p:nvPr/>
        </p:nvSpPr>
        <p:spPr>
          <a:xfrm>
            <a:off x="590550" y="4324350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quadrant-bl-body-1"/>
          <p:cNvSpPr txBox="1"/>
          <p:nvPr/>
        </p:nvSpPr>
        <p:spPr>
          <a:xfrm>
            <a:off x="723900" y="4248150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Legacy system dependencies blocked three sprint deliverables</a:t>
            </a:r>
          </a:p>
        </p:txBody>
      </p:sp>
      <p:sp>
        <p:nvSpPr>
          <p:cNvPr id="31" name="quadrant-bl-dot-2"/>
          <p:cNvSpPr/>
          <p:nvPr/>
        </p:nvSpPr>
        <p:spPr>
          <a:xfrm>
            <a:off x="590550" y="47148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quadrant-bl-body-2"/>
          <p:cNvSpPr txBox="1"/>
          <p:nvPr/>
        </p:nvSpPr>
        <p:spPr>
          <a:xfrm>
            <a:off x="723900" y="4638675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Unclear requirements in sprint 4 caused two rework cycles</a:t>
            </a:r>
          </a:p>
        </p:txBody>
      </p:sp>
      <p:sp>
        <p:nvSpPr>
          <p:cNvPr id="33" name="quadrant-bl-dot-3"/>
          <p:cNvSpPr/>
          <p:nvPr/>
        </p:nvSpPr>
        <p:spPr>
          <a:xfrm>
            <a:off x="590550" y="5105400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quadrant-bl-body-3"/>
          <p:cNvSpPr txBox="1"/>
          <p:nvPr/>
        </p:nvSpPr>
        <p:spPr>
          <a:xfrm>
            <a:off x="723900" y="5029200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3 team members on leave reduced capacity by 25% in weeks 6-8</a:t>
            </a:r>
          </a:p>
        </p:txBody>
      </p:sp>
      <p:sp>
        <p:nvSpPr>
          <p:cNvPr id="35" name="quadrant-br-bg"/>
          <p:cNvSpPr/>
          <p:nvPr/>
        </p:nvSpPr>
        <p:spPr>
          <a:xfrm>
            <a:off x="6153150" y="3867150"/>
            <a:ext cx="5581650" cy="1657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quadrant-br-head"/>
          <p:cNvSpPr/>
          <p:nvPr/>
        </p:nvSpPr>
        <p:spPr>
          <a:xfrm>
            <a:off x="6153150" y="3867150"/>
            <a:ext cx="5581650" cy="2857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quadrant-br-icon"/>
          <p:cNvSpPr txBox="1"/>
          <p:nvPr/>
        </p:nvSpPr>
        <p:spPr>
          <a:xfrm>
            <a:off x="6248400" y="3905250"/>
            <a:ext cx="228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⚠</a:t>
            </a:r>
          </a:p>
        </p:txBody>
      </p:sp>
      <p:sp>
        <p:nvSpPr>
          <p:cNvPr id="38" name="quadrant-br-name"/>
          <p:cNvSpPr txBox="1"/>
          <p:nvPr/>
        </p:nvSpPr>
        <p:spPr>
          <a:xfrm>
            <a:off x="6515100" y="3924300"/>
            <a:ext cx="5124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ROCKS — RISKS AHEAD</a:t>
            </a:r>
          </a:p>
        </p:txBody>
      </p:sp>
      <p:sp>
        <p:nvSpPr>
          <p:cNvPr id="39" name="quadrant-br-dot-1"/>
          <p:cNvSpPr/>
          <p:nvPr/>
        </p:nvSpPr>
        <p:spPr>
          <a:xfrm>
            <a:off x="6286500" y="4324350"/>
            <a:ext cx="47625" cy="4762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quadrant-br-body-1"/>
          <p:cNvSpPr txBox="1"/>
          <p:nvPr/>
        </p:nvSpPr>
        <p:spPr>
          <a:xfrm>
            <a:off x="6419850" y="4248150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Integration testing window is tight — only 4 days before Phase 2 freeze</a:t>
            </a:r>
          </a:p>
        </p:txBody>
      </p:sp>
      <p:sp>
        <p:nvSpPr>
          <p:cNvPr id="41" name="quadrant-br-dot-2"/>
          <p:cNvSpPr/>
          <p:nvPr/>
        </p:nvSpPr>
        <p:spPr>
          <a:xfrm>
            <a:off x="6286500" y="4714875"/>
            <a:ext cx="47625" cy="4762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quadrant-br-body-2"/>
          <p:cNvSpPr txBox="1"/>
          <p:nvPr/>
        </p:nvSpPr>
        <p:spPr>
          <a:xfrm>
            <a:off x="6419850" y="4638675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Budget variance likely if scope creeps beyond current sprint plan</a:t>
            </a:r>
          </a:p>
        </p:txBody>
      </p:sp>
      <p:sp>
        <p:nvSpPr>
          <p:cNvPr id="43" name="quadrant-br-dot-3"/>
          <p:cNvSpPr/>
          <p:nvPr/>
        </p:nvSpPr>
        <p:spPr>
          <a:xfrm>
            <a:off x="6286500" y="5105400"/>
            <a:ext cx="47625" cy="4762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quadrant-br-body-3"/>
          <p:cNvSpPr txBox="1"/>
          <p:nvPr/>
        </p:nvSpPr>
        <p:spPr>
          <a:xfrm>
            <a:off x="6419850" y="5029200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Key stakeholder availability drops in July — decisions may stall</a:t>
            </a:r>
          </a:p>
        </p:txBody>
      </p:sp>
      <p:sp>
        <p:nvSpPr>
          <p:cNvPr id="45" name="convergence-bg"/>
          <p:cNvSpPr/>
          <p:nvPr/>
        </p:nvSpPr>
        <p:spPr>
          <a:xfrm>
            <a:off x="457200" y="5600700"/>
            <a:ext cx="11277600" cy="571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nvergence-mark"/>
          <p:cNvSpPr txBox="1"/>
          <p:nvPr/>
        </p:nvSpPr>
        <p:spPr>
          <a:xfrm>
            <a:off x="609600" y="5676900"/>
            <a:ext cx="685800" cy="1524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 WHAT</a:t>
            </a:r>
          </a:p>
        </p:txBody>
      </p:sp>
      <p:sp>
        <p:nvSpPr>
          <p:cNvPr id="47" name="convergence"/>
          <p:cNvSpPr txBox="1"/>
          <p:nvPr/>
        </p:nvSpPr>
        <p:spPr>
          <a:xfrm>
            <a:off x="1447800" y="5600700"/>
            <a:ext cx="1028700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Velocity is strong and the island is in sight — but three anchor items from sprint 4 and a tight integration window must be resolved before Phase 2 launch or the rocks will stop us.</a:t>
            </a:r>
          </a:p>
        </p:txBody>
      </p:sp>
      <p:sp>
        <p:nvSpPr>
          <p:cNvPr id="4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