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1000125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FFFFFF"/>
                </a:solidFill>
                <a:latin typeface="Inter"/>
              </a:rPr>
              <a:t>Three horizons — now, next, later.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10001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Today's bets fund tomorrow's options. Each horizon earns the next.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illar-1-frame"/>
          <p:cNvSpPr/>
          <p:nvPr/>
        </p:nvSpPr>
        <p:spPr>
          <a:xfrm>
            <a:off x="533400" y="2095500"/>
            <a:ext cx="3590925" cy="3429000"/>
          </a:xfrm>
          <a:prstGeom prst="rect">
            <a:avLst/>
          </a:prstGeom>
          <a:solidFill>
            <a:srgbClr val="3C1F5C"/>
          </a:solidFill>
          <a:ln w="9525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illar-1-header"/>
          <p:cNvSpPr/>
          <p:nvPr/>
        </p:nvSpPr>
        <p:spPr>
          <a:xfrm>
            <a:off x="533400" y="2095500"/>
            <a:ext cx="3590925" cy="571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illar-1-tag"/>
          <p:cNvSpPr txBox="1"/>
          <p:nvPr/>
        </p:nvSpPr>
        <p:spPr>
          <a:xfrm>
            <a:off x="685800" y="2171700"/>
            <a:ext cx="32861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HORIZON 1</a:t>
            </a:r>
          </a:p>
        </p:txBody>
      </p:sp>
      <p:sp>
        <p:nvSpPr>
          <p:cNvPr id="8" name="pillar-1-name"/>
          <p:cNvSpPr txBox="1"/>
          <p:nvPr/>
        </p:nvSpPr>
        <p:spPr>
          <a:xfrm>
            <a:off x="685800" y="2305050"/>
            <a:ext cx="328612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NOW</a:t>
            </a:r>
          </a:p>
        </p:txBody>
      </p:sp>
      <p:sp>
        <p:nvSpPr>
          <p:cNvPr id="9" name="pillar-1-timeframe"/>
          <p:cNvSpPr txBox="1"/>
          <p:nvPr/>
        </p:nvSpPr>
        <p:spPr>
          <a:xfrm>
            <a:off x="685800" y="2533650"/>
            <a:ext cx="32861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Next 3 months</a:t>
            </a:r>
          </a:p>
        </p:txBody>
      </p:sp>
      <p:sp>
        <p:nvSpPr>
          <p:cNvPr id="10" name="pillar-1-initiative-1"/>
          <p:cNvSpPr/>
          <p:nvPr/>
        </p:nvSpPr>
        <p:spPr>
          <a:xfrm>
            <a:off x="628650" y="2762250"/>
            <a:ext cx="3400425" cy="885825"/>
          </a:xfrm>
          <a:prstGeom prst="rect">
            <a:avLst/>
          </a:prstGeom>
          <a:solidFill>
            <a:srgbClr val="4A2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pillar-1-initiative-1-stripe"/>
          <p:cNvSpPr/>
          <p:nvPr/>
        </p:nvSpPr>
        <p:spPr>
          <a:xfrm>
            <a:off x="628650" y="2762250"/>
            <a:ext cx="28575" cy="8858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pillar-1-initiative-1-title"/>
          <p:cNvSpPr txBox="1"/>
          <p:nvPr/>
        </p:nvSpPr>
        <p:spPr>
          <a:xfrm>
            <a:off x="742950" y="2847975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Pilot Slide Lab in 1 workstream</a:t>
            </a:r>
          </a:p>
        </p:txBody>
      </p:sp>
      <p:sp>
        <p:nvSpPr>
          <p:cNvPr id="13" name="pillar-1-initiative-1-desc"/>
          <p:cNvSpPr txBox="1"/>
          <p:nvPr/>
        </p:nvSpPr>
        <p:spPr>
          <a:xfrm>
            <a:off x="742950" y="3048000"/>
            <a:ext cx="3190875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Prove the value loop end-to-end with a single team before scaling.</a:t>
            </a:r>
          </a:p>
        </p:txBody>
      </p:sp>
      <p:sp>
        <p:nvSpPr>
          <p:cNvPr id="14" name="pillar-1-initiative-1-meta"/>
          <p:cNvSpPr txBox="1"/>
          <p:nvPr/>
        </p:nvSpPr>
        <p:spPr>
          <a:xfrm>
            <a:off x="742950" y="3457575"/>
            <a:ext cx="3190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MARIO · Q2</a:t>
            </a:r>
          </a:p>
        </p:txBody>
      </p:sp>
      <p:sp>
        <p:nvSpPr>
          <p:cNvPr id="15" name="pillar-1-initiative-2"/>
          <p:cNvSpPr/>
          <p:nvPr/>
        </p:nvSpPr>
        <p:spPr>
          <a:xfrm>
            <a:off x="628650" y="3705225"/>
            <a:ext cx="3400425" cy="885825"/>
          </a:xfrm>
          <a:prstGeom prst="rect">
            <a:avLst/>
          </a:prstGeom>
          <a:solidFill>
            <a:srgbClr val="4A2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pillar-1-initiative-2-stripe"/>
          <p:cNvSpPr/>
          <p:nvPr/>
        </p:nvSpPr>
        <p:spPr>
          <a:xfrm>
            <a:off x="628650" y="3705225"/>
            <a:ext cx="28575" cy="8858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pillar-1-initiative-2-title"/>
          <p:cNvSpPr txBox="1"/>
          <p:nvPr/>
        </p:nvSpPr>
        <p:spPr>
          <a:xfrm>
            <a:off x="742950" y="3790950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Hire 1 designer-engineer</a:t>
            </a:r>
          </a:p>
        </p:txBody>
      </p:sp>
      <p:sp>
        <p:nvSpPr>
          <p:cNvPr id="18" name="pillar-1-initiative-2-desc"/>
          <p:cNvSpPr txBox="1"/>
          <p:nvPr/>
        </p:nvSpPr>
        <p:spPr>
          <a:xfrm>
            <a:off x="742950" y="3990975"/>
            <a:ext cx="3190875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Embed design judgment into the build, not bolted on after.</a:t>
            </a:r>
          </a:p>
        </p:txBody>
      </p:sp>
      <p:sp>
        <p:nvSpPr>
          <p:cNvPr id="19" name="pillar-1-initiative-2-meta"/>
          <p:cNvSpPr txBox="1"/>
          <p:nvPr/>
        </p:nvSpPr>
        <p:spPr>
          <a:xfrm>
            <a:off x="742950" y="4400550"/>
            <a:ext cx="3190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PMO · Q2</a:t>
            </a:r>
          </a:p>
        </p:txBody>
      </p:sp>
      <p:sp>
        <p:nvSpPr>
          <p:cNvPr id="20" name="pillar-1-initiative-3"/>
          <p:cNvSpPr/>
          <p:nvPr/>
        </p:nvSpPr>
        <p:spPr>
          <a:xfrm>
            <a:off x="628650" y="4648200"/>
            <a:ext cx="3400425" cy="885825"/>
          </a:xfrm>
          <a:prstGeom prst="rect">
            <a:avLst/>
          </a:prstGeom>
          <a:solidFill>
            <a:srgbClr val="4A2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pillar-1-initiative-3-stripe"/>
          <p:cNvSpPr/>
          <p:nvPr/>
        </p:nvSpPr>
        <p:spPr>
          <a:xfrm>
            <a:off x="628650" y="4648200"/>
            <a:ext cx="28575" cy="8858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pillar-1-initiative-3-title"/>
          <p:cNvSpPr txBox="1"/>
          <p:nvPr/>
        </p:nvSpPr>
        <p:spPr>
          <a:xfrm>
            <a:off x="742950" y="4733925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Build pattern library to 100</a:t>
            </a:r>
          </a:p>
        </p:txBody>
      </p:sp>
      <p:sp>
        <p:nvSpPr>
          <p:cNvPr id="23" name="pillar-1-initiative-3-desc"/>
          <p:cNvSpPr txBox="1"/>
          <p:nvPr/>
        </p:nvSpPr>
        <p:spPr>
          <a:xfrm>
            <a:off x="742950" y="4933950"/>
            <a:ext cx="3190875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Cover the long tail of consulting slide types — coverage = adoption.</a:t>
            </a:r>
          </a:p>
        </p:txBody>
      </p:sp>
      <p:sp>
        <p:nvSpPr>
          <p:cNvPr id="24" name="pillar-1-initiative-3-meta"/>
          <p:cNvSpPr txBox="1"/>
          <p:nvPr/>
        </p:nvSpPr>
        <p:spPr>
          <a:xfrm>
            <a:off x="742950" y="5343525"/>
            <a:ext cx="3190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MARIO · Q3</a:t>
            </a:r>
          </a:p>
        </p:txBody>
      </p:sp>
      <p:sp>
        <p:nvSpPr>
          <p:cNvPr id="25" name="pillar-2-frame"/>
          <p:cNvSpPr/>
          <p:nvPr/>
        </p:nvSpPr>
        <p:spPr>
          <a:xfrm>
            <a:off x="4295775" y="2095500"/>
            <a:ext cx="3590925" cy="3429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pillar-2-header"/>
          <p:cNvSpPr/>
          <p:nvPr/>
        </p:nvSpPr>
        <p:spPr>
          <a:xfrm>
            <a:off x="4295775" y="2095500"/>
            <a:ext cx="3590925" cy="5715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pillar-2-tag"/>
          <p:cNvSpPr txBox="1"/>
          <p:nvPr/>
        </p:nvSpPr>
        <p:spPr>
          <a:xfrm>
            <a:off x="4448175" y="2171700"/>
            <a:ext cx="32861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HORIZON 2</a:t>
            </a:r>
          </a:p>
        </p:txBody>
      </p:sp>
      <p:sp>
        <p:nvSpPr>
          <p:cNvPr id="28" name="pillar-2-name"/>
          <p:cNvSpPr txBox="1"/>
          <p:nvPr/>
        </p:nvSpPr>
        <p:spPr>
          <a:xfrm>
            <a:off x="4448175" y="2305050"/>
            <a:ext cx="328612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NEXT</a:t>
            </a:r>
          </a:p>
        </p:txBody>
      </p:sp>
      <p:sp>
        <p:nvSpPr>
          <p:cNvPr id="29" name="pillar-2-timeframe"/>
          <p:cNvSpPr txBox="1"/>
          <p:nvPr/>
        </p:nvSpPr>
        <p:spPr>
          <a:xfrm>
            <a:off x="4448175" y="2533650"/>
            <a:ext cx="32861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 to 9 months</a:t>
            </a:r>
          </a:p>
        </p:txBody>
      </p:sp>
      <p:sp>
        <p:nvSpPr>
          <p:cNvPr id="30" name="pillar-2-initiative-1"/>
          <p:cNvSpPr/>
          <p:nvPr/>
        </p:nvSpPr>
        <p:spPr>
          <a:xfrm>
            <a:off x="4391025" y="2762250"/>
            <a:ext cx="3400425" cy="88582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pillar-2-initiative-1-stripe"/>
          <p:cNvSpPr/>
          <p:nvPr/>
        </p:nvSpPr>
        <p:spPr>
          <a:xfrm>
            <a:off x="4391025" y="2762250"/>
            <a:ext cx="28575" cy="88582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pillar-2-initiative-1-title"/>
          <p:cNvSpPr txBox="1"/>
          <p:nvPr/>
        </p:nvSpPr>
        <p:spPr>
          <a:xfrm>
            <a:off x="4505325" y="2847975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Roll out to 3 practice areas</a:t>
            </a:r>
          </a:p>
        </p:txBody>
      </p:sp>
      <p:sp>
        <p:nvSpPr>
          <p:cNvPr id="33" name="pillar-2-initiative-1-desc"/>
          <p:cNvSpPr txBox="1"/>
          <p:nvPr/>
        </p:nvSpPr>
        <p:spPr>
          <a:xfrm>
            <a:off x="4505325" y="3048000"/>
            <a:ext cx="3190875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Take the proven loop horizontal — Strategy, Tech, Industry X.</a:t>
            </a:r>
          </a:p>
        </p:txBody>
      </p:sp>
      <p:sp>
        <p:nvSpPr>
          <p:cNvPr id="34" name="pillar-2-initiative-1-meta"/>
          <p:cNvSpPr txBox="1"/>
          <p:nvPr/>
        </p:nvSpPr>
        <p:spPr>
          <a:xfrm>
            <a:off x="4505325" y="3457575"/>
            <a:ext cx="3190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MARIA · Q3 TO Q4</a:t>
            </a:r>
          </a:p>
        </p:txBody>
      </p:sp>
      <p:sp>
        <p:nvSpPr>
          <p:cNvPr id="35" name="pillar-2-initiative-2"/>
          <p:cNvSpPr/>
          <p:nvPr/>
        </p:nvSpPr>
        <p:spPr>
          <a:xfrm>
            <a:off x="4391025" y="3705225"/>
            <a:ext cx="3400425" cy="88582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pillar-2-initiative-2-stripe"/>
          <p:cNvSpPr/>
          <p:nvPr/>
        </p:nvSpPr>
        <p:spPr>
          <a:xfrm>
            <a:off x="4391025" y="3705225"/>
            <a:ext cx="28575" cy="88582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pillar-2-initiative-2-title"/>
          <p:cNvSpPr txBox="1"/>
          <p:nvPr/>
        </p:nvSpPr>
        <p:spPr>
          <a:xfrm>
            <a:off x="4505325" y="3790950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Add brand-template variants</a:t>
            </a:r>
          </a:p>
        </p:txBody>
      </p:sp>
      <p:sp>
        <p:nvSpPr>
          <p:cNvPr id="38" name="pillar-2-initiative-2-desc"/>
          <p:cNvSpPr txBox="1"/>
          <p:nvPr/>
        </p:nvSpPr>
        <p:spPr>
          <a:xfrm>
            <a:off x="4505325" y="3990975"/>
            <a:ext cx="3190875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Client-specific themes so the output ships ready, not 'almost there'.</a:t>
            </a:r>
          </a:p>
        </p:txBody>
      </p:sp>
      <p:sp>
        <p:nvSpPr>
          <p:cNvPr id="39" name="pillar-2-initiative-2-meta"/>
          <p:cNvSpPr txBox="1"/>
          <p:nvPr/>
        </p:nvSpPr>
        <p:spPr>
          <a:xfrm>
            <a:off x="4505325" y="4400550"/>
            <a:ext cx="3190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DESIGNER · Q4</a:t>
            </a:r>
          </a:p>
        </p:txBody>
      </p:sp>
      <p:sp>
        <p:nvSpPr>
          <p:cNvPr id="40" name="pillar-2-initiative-3"/>
          <p:cNvSpPr/>
          <p:nvPr/>
        </p:nvSpPr>
        <p:spPr>
          <a:xfrm>
            <a:off x="4391025" y="4648200"/>
            <a:ext cx="3400425" cy="88582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pillar-2-initiative-3-stripe"/>
          <p:cNvSpPr/>
          <p:nvPr/>
        </p:nvSpPr>
        <p:spPr>
          <a:xfrm>
            <a:off x="4391025" y="4648200"/>
            <a:ext cx="28575" cy="88582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pillar-2-initiative-3-title"/>
          <p:cNvSpPr txBox="1"/>
          <p:nvPr/>
        </p:nvSpPr>
        <p:spPr>
          <a:xfrm>
            <a:off x="4505325" y="4733925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Train 12 senior coaches</a:t>
            </a:r>
          </a:p>
        </p:txBody>
      </p:sp>
      <p:sp>
        <p:nvSpPr>
          <p:cNvPr id="43" name="pillar-2-initiative-3-desc"/>
          <p:cNvSpPr txBox="1"/>
          <p:nvPr/>
        </p:nvSpPr>
        <p:spPr>
          <a:xfrm>
            <a:off x="4505325" y="4933950"/>
            <a:ext cx="3190875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Multiply by training the coaches who train the teams.</a:t>
            </a:r>
          </a:p>
        </p:txBody>
      </p:sp>
      <p:sp>
        <p:nvSpPr>
          <p:cNvPr id="44" name="pillar-2-initiative-3-meta"/>
          <p:cNvSpPr txBox="1"/>
          <p:nvPr/>
        </p:nvSpPr>
        <p:spPr>
          <a:xfrm>
            <a:off x="4505325" y="5343525"/>
            <a:ext cx="3190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PMO · Q4</a:t>
            </a:r>
          </a:p>
        </p:txBody>
      </p:sp>
      <p:sp>
        <p:nvSpPr>
          <p:cNvPr id="45" name="pillar-3-frame"/>
          <p:cNvSpPr/>
          <p:nvPr/>
        </p:nvSpPr>
        <p:spPr>
          <a:xfrm>
            <a:off x="8058150" y="2095500"/>
            <a:ext cx="3590925" cy="3429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pillar-3-header"/>
          <p:cNvSpPr/>
          <p:nvPr/>
        </p:nvSpPr>
        <p:spPr>
          <a:xfrm>
            <a:off x="8058150" y="2095500"/>
            <a:ext cx="3590925" cy="5715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pillar-3-tag"/>
          <p:cNvSpPr txBox="1"/>
          <p:nvPr/>
        </p:nvSpPr>
        <p:spPr>
          <a:xfrm>
            <a:off x="8210550" y="2171700"/>
            <a:ext cx="32861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HORIZON 3</a:t>
            </a:r>
          </a:p>
        </p:txBody>
      </p:sp>
      <p:sp>
        <p:nvSpPr>
          <p:cNvPr id="48" name="pillar-3-name"/>
          <p:cNvSpPr txBox="1"/>
          <p:nvPr/>
        </p:nvSpPr>
        <p:spPr>
          <a:xfrm>
            <a:off x="8210550" y="2305050"/>
            <a:ext cx="328612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LATER</a:t>
            </a:r>
          </a:p>
        </p:txBody>
      </p:sp>
      <p:sp>
        <p:nvSpPr>
          <p:cNvPr id="49" name="pillar-3-timeframe"/>
          <p:cNvSpPr txBox="1"/>
          <p:nvPr/>
        </p:nvSpPr>
        <p:spPr>
          <a:xfrm>
            <a:off x="8210550" y="2533650"/>
            <a:ext cx="32861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9 to 18 months</a:t>
            </a:r>
          </a:p>
        </p:txBody>
      </p:sp>
      <p:sp>
        <p:nvSpPr>
          <p:cNvPr id="50" name="pillar-3-initiative-1"/>
          <p:cNvSpPr/>
          <p:nvPr/>
        </p:nvSpPr>
        <p:spPr>
          <a:xfrm>
            <a:off x="8153400" y="2762250"/>
            <a:ext cx="3400425" cy="885825"/>
          </a:xfrm>
          <a:prstGeom prst="rect">
            <a:avLst/>
          </a:prstGeom>
          <a:solidFill>
            <a:srgbClr val="2A1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pillar-3-initiative-1-stripe"/>
          <p:cNvSpPr/>
          <p:nvPr/>
        </p:nvSpPr>
        <p:spPr>
          <a:xfrm>
            <a:off x="8153400" y="2762250"/>
            <a:ext cx="28575" cy="885825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pillar-3-initiative-1-title"/>
          <p:cNvSpPr txBox="1"/>
          <p:nvPr/>
        </p:nvSpPr>
        <p:spPr>
          <a:xfrm>
            <a:off x="8267700" y="2847975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License to peer firms</a:t>
            </a:r>
          </a:p>
        </p:txBody>
      </p:sp>
      <p:sp>
        <p:nvSpPr>
          <p:cNvPr id="53" name="pillar-3-initiative-1-desc"/>
          <p:cNvSpPr txBox="1"/>
          <p:nvPr/>
        </p:nvSpPr>
        <p:spPr>
          <a:xfrm>
            <a:off x="8267700" y="3048000"/>
            <a:ext cx="3190875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Turn internal capability into external revenue once the IP is stable.</a:t>
            </a:r>
          </a:p>
        </p:txBody>
      </p:sp>
      <p:sp>
        <p:nvSpPr>
          <p:cNvPr id="54" name="pillar-3-initiative-1-meta"/>
          <p:cNvSpPr txBox="1"/>
          <p:nvPr/>
        </p:nvSpPr>
        <p:spPr>
          <a:xfrm>
            <a:off x="8267700" y="3457575"/>
            <a:ext cx="3190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PARTNER · 2027</a:t>
            </a:r>
          </a:p>
        </p:txBody>
      </p:sp>
      <p:sp>
        <p:nvSpPr>
          <p:cNvPr id="55" name="pillar-3-initiative-2"/>
          <p:cNvSpPr/>
          <p:nvPr/>
        </p:nvSpPr>
        <p:spPr>
          <a:xfrm>
            <a:off x="8153400" y="3705225"/>
            <a:ext cx="3400425" cy="885825"/>
          </a:xfrm>
          <a:prstGeom prst="rect">
            <a:avLst/>
          </a:prstGeom>
          <a:solidFill>
            <a:srgbClr val="2A1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pillar-3-initiative-2-stripe"/>
          <p:cNvSpPr/>
          <p:nvPr/>
        </p:nvSpPr>
        <p:spPr>
          <a:xfrm>
            <a:off x="8153400" y="3705225"/>
            <a:ext cx="28575" cy="885825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pillar-3-initiative-2-title"/>
          <p:cNvSpPr txBox="1"/>
          <p:nvPr/>
        </p:nvSpPr>
        <p:spPr>
          <a:xfrm>
            <a:off x="8267700" y="3790950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Publish IP as method</a:t>
            </a:r>
          </a:p>
        </p:txBody>
      </p:sp>
      <p:sp>
        <p:nvSpPr>
          <p:cNvPr id="58" name="pillar-3-initiative-2-desc"/>
          <p:cNvSpPr txBox="1"/>
          <p:nvPr/>
        </p:nvSpPr>
        <p:spPr>
          <a:xfrm>
            <a:off x="8267700" y="3990975"/>
            <a:ext cx="3190875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Codify the playbook publicly to set the category standard.</a:t>
            </a:r>
          </a:p>
        </p:txBody>
      </p:sp>
      <p:sp>
        <p:nvSpPr>
          <p:cNvPr id="59" name="pillar-3-initiative-2-meta"/>
          <p:cNvSpPr txBox="1"/>
          <p:nvPr/>
        </p:nvSpPr>
        <p:spPr>
          <a:xfrm>
            <a:off x="8267700" y="4400550"/>
            <a:ext cx="3190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R&amp;D · 2027</a:t>
            </a:r>
          </a:p>
        </p:txBody>
      </p:sp>
      <p:sp>
        <p:nvSpPr>
          <p:cNvPr id="60" name="pillar-3-initiative-3"/>
          <p:cNvSpPr/>
          <p:nvPr/>
        </p:nvSpPr>
        <p:spPr>
          <a:xfrm>
            <a:off x="8153400" y="4648200"/>
            <a:ext cx="3400425" cy="885825"/>
          </a:xfrm>
          <a:prstGeom prst="rect">
            <a:avLst/>
          </a:prstGeom>
          <a:solidFill>
            <a:srgbClr val="2A1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pillar-3-initiative-3-stripe"/>
          <p:cNvSpPr/>
          <p:nvPr/>
        </p:nvSpPr>
        <p:spPr>
          <a:xfrm>
            <a:off x="8153400" y="4648200"/>
            <a:ext cx="28575" cy="885825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pillar-3-initiative-3-title"/>
          <p:cNvSpPr txBox="1"/>
          <p:nvPr/>
        </p:nvSpPr>
        <p:spPr>
          <a:xfrm>
            <a:off x="8267700" y="4733925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Build standalone product</a:t>
            </a:r>
          </a:p>
        </p:txBody>
      </p:sp>
      <p:sp>
        <p:nvSpPr>
          <p:cNvPr id="63" name="pillar-3-initiative-3-desc"/>
          <p:cNvSpPr txBox="1"/>
          <p:nvPr/>
        </p:nvSpPr>
        <p:spPr>
          <a:xfrm>
            <a:off x="8267700" y="4933950"/>
            <a:ext cx="3190875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Spin out a productized version once the market is validated.</a:t>
            </a:r>
          </a:p>
        </p:txBody>
      </p:sp>
      <p:sp>
        <p:nvSpPr>
          <p:cNvPr id="64" name="pillar-3-initiative-3-meta"/>
          <p:cNvSpPr txBox="1"/>
          <p:nvPr/>
        </p:nvSpPr>
        <p:spPr>
          <a:xfrm>
            <a:off x="8267700" y="5343525"/>
            <a:ext cx="3190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TBD · 2028</a:t>
            </a:r>
          </a:p>
        </p:txBody>
      </p:sp>
      <p:sp>
        <p:nvSpPr>
          <p:cNvPr id="65" name="convergence-bg"/>
          <p:cNvSpPr/>
          <p:nvPr/>
        </p:nvSpPr>
        <p:spPr>
          <a:xfrm>
            <a:off x="533400" y="5600700"/>
            <a:ext cx="11125200" cy="419100"/>
          </a:xfrm>
          <a:prstGeom prst="rect">
            <a:avLst/>
          </a:prstGeom>
          <a:solidFill>
            <a:srgbClr val="1A0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convergence"/>
          <p:cNvSpPr txBox="1"/>
          <p:nvPr/>
        </p:nvSpPr>
        <p:spPr>
          <a:xfrm>
            <a:off x="742950" y="5600700"/>
            <a:ext cx="10706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Today's bets are tomorrow's foundations.</a:t>
            </a:r>
          </a:p>
        </p:txBody>
      </p:sp>
      <p:sp>
        <p:nvSpPr>
          <p:cNvPr id="6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