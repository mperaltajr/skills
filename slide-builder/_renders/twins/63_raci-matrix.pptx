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57200"/>
            <a:ext cx="571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ROLES &amp; RESPONSIBILITIES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Pilot RACI — who decides, who does, who's in the loop.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668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Five activities across the pilot lifecycle, mapped to five roles. One accountable per row keeps decisions unambiguous.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6629400" y="1524000"/>
            <a:ext cx="4953000" cy="342900"/>
          </a:xfrm>
          <a:prstGeom prst="rect">
            <a:avLst/>
          </a:prstGeom>
          <a:solidFill>
            <a:srgbClr val="FBFAFD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6724650" y="1524000"/>
            <a:ext cx="6667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RACI KEY</a:t>
            </a:r>
          </a:p>
        </p:txBody>
      </p:sp>
      <p:sp>
        <p:nvSpPr>
          <p:cNvPr id="8" name="legend-1-swatch"/>
          <p:cNvSpPr txBox="1"/>
          <p:nvPr/>
        </p:nvSpPr>
        <p:spPr>
          <a:xfrm>
            <a:off x="7486650" y="1609725"/>
            <a:ext cx="1714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9" name="legend-1-label"/>
          <p:cNvSpPr txBox="1"/>
          <p:nvPr/>
        </p:nvSpPr>
        <p:spPr>
          <a:xfrm>
            <a:off x="7696200" y="1628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Responsible</a:t>
            </a:r>
          </a:p>
        </p:txBody>
      </p:sp>
      <p:sp>
        <p:nvSpPr>
          <p:cNvPr id="10" name="legend-2-swatch"/>
          <p:cNvSpPr txBox="1"/>
          <p:nvPr/>
        </p:nvSpPr>
        <p:spPr>
          <a:xfrm>
            <a:off x="8486775" y="1609725"/>
            <a:ext cx="171450" cy="171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1" name="legend-2-label"/>
          <p:cNvSpPr txBox="1"/>
          <p:nvPr/>
        </p:nvSpPr>
        <p:spPr>
          <a:xfrm>
            <a:off x="8696325" y="1628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Accountable</a:t>
            </a:r>
          </a:p>
        </p:txBody>
      </p:sp>
      <p:sp>
        <p:nvSpPr>
          <p:cNvPr id="12" name="legend-3-swatch"/>
          <p:cNvSpPr txBox="1"/>
          <p:nvPr/>
        </p:nvSpPr>
        <p:spPr>
          <a:xfrm>
            <a:off x="9486900" y="1609725"/>
            <a:ext cx="1714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3" name="legend-3-label"/>
          <p:cNvSpPr txBox="1"/>
          <p:nvPr/>
        </p:nvSpPr>
        <p:spPr>
          <a:xfrm>
            <a:off x="9696450" y="1628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Consulted</a:t>
            </a:r>
          </a:p>
        </p:txBody>
      </p:sp>
      <p:sp>
        <p:nvSpPr>
          <p:cNvPr id="14" name="legend-4-swatch"/>
          <p:cNvSpPr txBox="1"/>
          <p:nvPr/>
        </p:nvSpPr>
        <p:spPr>
          <a:xfrm>
            <a:off x="10487025" y="1609725"/>
            <a:ext cx="171450" cy="1714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15" name="legend-4-label"/>
          <p:cNvSpPr txBox="1"/>
          <p:nvPr/>
        </p:nvSpPr>
        <p:spPr>
          <a:xfrm>
            <a:off x="10696575" y="1628775"/>
            <a:ext cx="742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Informed</a:t>
            </a:r>
          </a:p>
        </p:txBody>
      </p:sp>
      <p:sp>
        <p:nvSpPr>
          <p:cNvPr id="16" name="table-head-bg"/>
          <p:cNvSpPr/>
          <p:nvPr/>
        </p:nvSpPr>
        <p:spPr>
          <a:xfrm>
            <a:off x="457200" y="2190750"/>
            <a:ext cx="112776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able-col-1-header"/>
          <p:cNvSpPr txBox="1"/>
          <p:nvPr/>
        </p:nvSpPr>
        <p:spPr>
          <a:xfrm>
            <a:off x="590550" y="2190750"/>
            <a:ext cx="3467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ACTIVITY</a:t>
            </a:r>
          </a:p>
        </p:txBody>
      </p:sp>
      <p:sp>
        <p:nvSpPr>
          <p:cNvPr id="18" name="table-col-2-header"/>
          <p:cNvSpPr txBox="1"/>
          <p:nvPr/>
        </p:nvSpPr>
        <p:spPr>
          <a:xfrm>
            <a:off x="4057650" y="22479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MD</a:t>
            </a:r>
          </a:p>
        </p:txBody>
      </p:sp>
      <p:sp>
        <p:nvSpPr>
          <p:cNvPr id="19" name="table-col-2-sub"/>
          <p:cNvSpPr txBox="1"/>
          <p:nvPr/>
        </p:nvSpPr>
        <p:spPr>
          <a:xfrm>
            <a:off x="4057650" y="24193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SPONSOR</a:t>
            </a:r>
          </a:p>
        </p:txBody>
      </p:sp>
      <p:sp>
        <p:nvSpPr>
          <p:cNvPr id="20" name="table-col-3-header"/>
          <p:cNvSpPr txBox="1"/>
          <p:nvPr/>
        </p:nvSpPr>
        <p:spPr>
          <a:xfrm>
            <a:off x="5591175" y="22479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 LEAD</a:t>
            </a:r>
          </a:p>
        </p:txBody>
      </p:sp>
      <p:sp>
        <p:nvSpPr>
          <p:cNvPr id="21" name="table-col-3-sub"/>
          <p:cNvSpPr txBox="1"/>
          <p:nvPr/>
        </p:nvSpPr>
        <p:spPr>
          <a:xfrm>
            <a:off x="5591175" y="24193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DELIVERY</a:t>
            </a:r>
          </a:p>
        </p:txBody>
      </p:sp>
      <p:sp>
        <p:nvSpPr>
          <p:cNvPr id="22" name="table-col-4-header"/>
          <p:cNvSpPr txBox="1"/>
          <p:nvPr/>
        </p:nvSpPr>
        <p:spPr>
          <a:xfrm>
            <a:off x="7124700" y="22479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SLIDE LAB COACH</a:t>
            </a:r>
          </a:p>
        </p:txBody>
      </p:sp>
      <p:sp>
        <p:nvSpPr>
          <p:cNvPr id="23" name="table-col-4-sub"/>
          <p:cNvSpPr txBox="1"/>
          <p:nvPr/>
        </p:nvSpPr>
        <p:spPr>
          <a:xfrm>
            <a:off x="7124700" y="24193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METHOD</a:t>
            </a:r>
          </a:p>
        </p:txBody>
      </p:sp>
      <p:sp>
        <p:nvSpPr>
          <p:cNvPr id="24" name="table-col-5-header"/>
          <p:cNvSpPr txBox="1"/>
          <p:nvPr/>
        </p:nvSpPr>
        <p:spPr>
          <a:xfrm>
            <a:off x="8658225" y="22479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ANALYST</a:t>
            </a:r>
          </a:p>
        </p:txBody>
      </p:sp>
      <p:sp>
        <p:nvSpPr>
          <p:cNvPr id="25" name="table-col-5-sub"/>
          <p:cNvSpPr txBox="1"/>
          <p:nvPr/>
        </p:nvSpPr>
        <p:spPr>
          <a:xfrm>
            <a:off x="8658225" y="24193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BUILD</a:t>
            </a:r>
          </a:p>
        </p:txBody>
      </p:sp>
      <p:sp>
        <p:nvSpPr>
          <p:cNvPr id="26" name="table-col-6-header"/>
          <p:cNvSpPr txBox="1"/>
          <p:nvPr/>
        </p:nvSpPr>
        <p:spPr>
          <a:xfrm>
            <a:off x="10191750" y="2247900"/>
            <a:ext cx="15335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PRACTICE PM</a:t>
            </a:r>
          </a:p>
        </p:txBody>
      </p:sp>
      <p:sp>
        <p:nvSpPr>
          <p:cNvPr id="27" name="table-col-6-sub"/>
          <p:cNvSpPr txBox="1"/>
          <p:nvPr/>
        </p:nvSpPr>
        <p:spPr>
          <a:xfrm>
            <a:off x="10191750" y="2419350"/>
            <a:ext cx="1533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OPS</a:t>
            </a:r>
          </a:p>
        </p:txBody>
      </p:sp>
      <p:sp>
        <p:nvSpPr>
          <p:cNvPr id="28" name="row-1-act-bg"/>
          <p:cNvSpPr/>
          <p:nvPr/>
        </p:nvSpPr>
        <p:spPr>
          <a:xfrm>
            <a:off x="457200" y="2609850"/>
            <a:ext cx="3600450" cy="6477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num"/>
          <p:cNvSpPr txBox="1"/>
          <p:nvPr/>
        </p:nvSpPr>
        <p:spPr>
          <a:xfrm>
            <a:off x="590550" y="27241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ACTIVITY 1</a:t>
            </a:r>
          </a:p>
        </p:txBody>
      </p:sp>
      <p:sp>
        <p:nvSpPr>
          <p:cNvPr id="30" name="table-row-1-label"/>
          <p:cNvSpPr txBox="1"/>
          <p:nvPr/>
        </p:nvSpPr>
        <p:spPr>
          <a:xfrm>
            <a:off x="590550" y="28765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Approve pilot scope</a:t>
            </a:r>
          </a:p>
        </p:txBody>
      </p:sp>
      <p:sp>
        <p:nvSpPr>
          <p:cNvPr id="31" name="table-row-1-cell-2"/>
          <p:cNvSpPr txBox="1"/>
          <p:nvPr/>
        </p:nvSpPr>
        <p:spPr>
          <a:xfrm>
            <a:off x="4676775" y="2790825"/>
            <a:ext cx="2857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32" name="table-row-1-cell-3"/>
          <p:cNvSpPr txBox="1"/>
          <p:nvPr/>
        </p:nvSpPr>
        <p:spPr>
          <a:xfrm>
            <a:off x="6210300" y="27908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33" name="table-row-1-cell-4"/>
          <p:cNvSpPr txBox="1"/>
          <p:nvPr/>
        </p:nvSpPr>
        <p:spPr>
          <a:xfrm>
            <a:off x="7743825" y="27908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34" name="table-row-1-cell-5"/>
          <p:cNvSpPr txBox="1"/>
          <p:nvPr/>
        </p:nvSpPr>
        <p:spPr>
          <a:xfrm>
            <a:off x="9277350" y="27908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35" name="table-row-1-cell-6"/>
          <p:cNvSpPr txBox="1"/>
          <p:nvPr/>
        </p:nvSpPr>
        <p:spPr>
          <a:xfrm>
            <a:off x="10810875" y="279082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36" name="row-2-act-bg"/>
          <p:cNvSpPr/>
          <p:nvPr/>
        </p:nvSpPr>
        <p:spPr>
          <a:xfrm>
            <a:off x="457200" y="3257550"/>
            <a:ext cx="3600450" cy="6477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2-num"/>
          <p:cNvSpPr txBox="1"/>
          <p:nvPr/>
        </p:nvSpPr>
        <p:spPr>
          <a:xfrm>
            <a:off x="590550" y="33718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ACTIVITY 2</a:t>
            </a:r>
          </a:p>
        </p:txBody>
      </p:sp>
      <p:sp>
        <p:nvSpPr>
          <p:cNvPr id="38" name="table-row-2-label"/>
          <p:cNvSpPr txBox="1"/>
          <p:nvPr/>
        </p:nvSpPr>
        <p:spPr>
          <a:xfrm>
            <a:off x="590550" y="35242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Run storyline sessions</a:t>
            </a:r>
          </a:p>
        </p:txBody>
      </p:sp>
      <p:sp>
        <p:nvSpPr>
          <p:cNvPr id="39" name="row-2-rule-0"/>
          <p:cNvSpPr/>
          <p:nvPr/>
        </p:nvSpPr>
        <p:spPr>
          <a:xfrm>
            <a:off x="4057650" y="32575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2-cell-2"/>
          <p:cNvSpPr txBox="1"/>
          <p:nvPr/>
        </p:nvSpPr>
        <p:spPr>
          <a:xfrm>
            <a:off x="4676775" y="34385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41" name="row-2-rule-1"/>
          <p:cNvSpPr/>
          <p:nvPr/>
        </p:nvSpPr>
        <p:spPr>
          <a:xfrm>
            <a:off x="5591175" y="32575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able-row-2-cell-3"/>
          <p:cNvSpPr txBox="1"/>
          <p:nvPr/>
        </p:nvSpPr>
        <p:spPr>
          <a:xfrm>
            <a:off x="6210300" y="34385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43" name="row-2-rule-2"/>
          <p:cNvSpPr/>
          <p:nvPr/>
        </p:nvSpPr>
        <p:spPr>
          <a:xfrm>
            <a:off x="7124700" y="32575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2-cell-4"/>
          <p:cNvSpPr txBox="1"/>
          <p:nvPr/>
        </p:nvSpPr>
        <p:spPr>
          <a:xfrm>
            <a:off x="7581900" y="3438525"/>
            <a:ext cx="2857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45" name="table-row-2-cell-4-extra-1"/>
          <p:cNvSpPr txBox="1"/>
          <p:nvPr/>
        </p:nvSpPr>
        <p:spPr>
          <a:xfrm>
            <a:off x="7915275" y="343852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46" name="row-2-rule-3"/>
          <p:cNvSpPr/>
          <p:nvPr/>
        </p:nvSpPr>
        <p:spPr>
          <a:xfrm>
            <a:off x="8658225" y="32575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ble-row-2-cell-5"/>
          <p:cNvSpPr txBox="1"/>
          <p:nvPr/>
        </p:nvSpPr>
        <p:spPr>
          <a:xfrm>
            <a:off x="9277350" y="34385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48" name="row-2-rule-4"/>
          <p:cNvSpPr/>
          <p:nvPr/>
        </p:nvSpPr>
        <p:spPr>
          <a:xfrm>
            <a:off x="10191750" y="32575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2-cell-6"/>
          <p:cNvSpPr txBox="1"/>
          <p:nvPr/>
        </p:nvSpPr>
        <p:spPr>
          <a:xfrm>
            <a:off x="10810875" y="34385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50" name="row-3-act-bg"/>
          <p:cNvSpPr/>
          <p:nvPr/>
        </p:nvSpPr>
        <p:spPr>
          <a:xfrm>
            <a:off x="457200" y="3905250"/>
            <a:ext cx="3600450" cy="6477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3-num"/>
          <p:cNvSpPr txBox="1"/>
          <p:nvPr/>
        </p:nvSpPr>
        <p:spPr>
          <a:xfrm>
            <a:off x="590550" y="40195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ACTIVITY 3</a:t>
            </a:r>
          </a:p>
        </p:txBody>
      </p:sp>
      <p:sp>
        <p:nvSpPr>
          <p:cNvPr id="52" name="table-row-3-label"/>
          <p:cNvSpPr txBox="1"/>
          <p:nvPr/>
        </p:nvSpPr>
        <p:spPr>
          <a:xfrm>
            <a:off x="590550" y="41719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 decks</a:t>
            </a:r>
          </a:p>
        </p:txBody>
      </p:sp>
      <p:sp>
        <p:nvSpPr>
          <p:cNvPr id="53" name="row-3-rule-0"/>
          <p:cNvSpPr/>
          <p:nvPr/>
        </p:nvSpPr>
        <p:spPr>
          <a:xfrm>
            <a:off x="4057650" y="39052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3-cell-2"/>
          <p:cNvSpPr txBox="1"/>
          <p:nvPr/>
        </p:nvSpPr>
        <p:spPr>
          <a:xfrm>
            <a:off x="4676775" y="40862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55" name="row-3-rule-1"/>
          <p:cNvSpPr/>
          <p:nvPr/>
        </p:nvSpPr>
        <p:spPr>
          <a:xfrm>
            <a:off x="5591175" y="39052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3-cell-3"/>
          <p:cNvSpPr txBox="1"/>
          <p:nvPr/>
        </p:nvSpPr>
        <p:spPr>
          <a:xfrm>
            <a:off x="6210300" y="4086225"/>
            <a:ext cx="2857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57" name="row-3-rule-2"/>
          <p:cNvSpPr/>
          <p:nvPr/>
        </p:nvSpPr>
        <p:spPr>
          <a:xfrm>
            <a:off x="7124700" y="39052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3-cell-4"/>
          <p:cNvSpPr txBox="1"/>
          <p:nvPr/>
        </p:nvSpPr>
        <p:spPr>
          <a:xfrm>
            <a:off x="7743825" y="40862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59" name="row-3-rule-3"/>
          <p:cNvSpPr/>
          <p:nvPr/>
        </p:nvSpPr>
        <p:spPr>
          <a:xfrm>
            <a:off x="8658225" y="39052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table-row-3-cell-5"/>
          <p:cNvSpPr txBox="1"/>
          <p:nvPr/>
        </p:nvSpPr>
        <p:spPr>
          <a:xfrm>
            <a:off x="9277350" y="408622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61" name="row-3-rule-4"/>
          <p:cNvSpPr/>
          <p:nvPr/>
        </p:nvSpPr>
        <p:spPr>
          <a:xfrm>
            <a:off x="10191750" y="39052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table-row-3-cell-6"/>
          <p:cNvSpPr txBox="1"/>
          <p:nvPr/>
        </p:nvSpPr>
        <p:spPr>
          <a:xfrm>
            <a:off x="10810875" y="40862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63" name="row-4-act-bg"/>
          <p:cNvSpPr/>
          <p:nvPr/>
        </p:nvSpPr>
        <p:spPr>
          <a:xfrm>
            <a:off x="457200" y="4552950"/>
            <a:ext cx="3600450" cy="6477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4-num"/>
          <p:cNvSpPr txBox="1"/>
          <p:nvPr/>
        </p:nvSpPr>
        <p:spPr>
          <a:xfrm>
            <a:off x="590550" y="46672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ACTIVITY 4</a:t>
            </a:r>
          </a:p>
        </p:txBody>
      </p:sp>
      <p:sp>
        <p:nvSpPr>
          <p:cNvPr id="65" name="table-row-4-label"/>
          <p:cNvSpPr txBox="1"/>
          <p:nvPr/>
        </p:nvSpPr>
        <p:spPr>
          <a:xfrm>
            <a:off x="590550" y="48196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Weekly review</a:t>
            </a:r>
          </a:p>
        </p:txBody>
      </p:sp>
      <p:sp>
        <p:nvSpPr>
          <p:cNvPr id="66" name="row-4-rule-0"/>
          <p:cNvSpPr/>
          <p:nvPr/>
        </p:nvSpPr>
        <p:spPr>
          <a:xfrm>
            <a:off x="4057650" y="45529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4-cell-2"/>
          <p:cNvSpPr txBox="1"/>
          <p:nvPr/>
        </p:nvSpPr>
        <p:spPr>
          <a:xfrm>
            <a:off x="4676775" y="4733925"/>
            <a:ext cx="2857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68" name="row-4-rule-1"/>
          <p:cNvSpPr/>
          <p:nvPr/>
        </p:nvSpPr>
        <p:spPr>
          <a:xfrm>
            <a:off x="5591175" y="45529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4-cell-3"/>
          <p:cNvSpPr txBox="1"/>
          <p:nvPr/>
        </p:nvSpPr>
        <p:spPr>
          <a:xfrm>
            <a:off x="6210300" y="4733925"/>
            <a:ext cx="285750" cy="2857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70" name="row-4-rule-2"/>
          <p:cNvSpPr/>
          <p:nvPr/>
        </p:nvSpPr>
        <p:spPr>
          <a:xfrm>
            <a:off x="7124700" y="45529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able-row-4-cell-4"/>
          <p:cNvSpPr txBox="1"/>
          <p:nvPr/>
        </p:nvSpPr>
        <p:spPr>
          <a:xfrm>
            <a:off x="7743825" y="47339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72" name="row-4-rule-3"/>
          <p:cNvSpPr/>
          <p:nvPr/>
        </p:nvSpPr>
        <p:spPr>
          <a:xfrm>
            <a:off x="8658225" y="45529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4-cell-5"/>
          <p:cNvSpPr txBox="1"/>
          <p:nvPr/>
        </p:nvSpPr>
        <p:spPr>
          <a:xfrm>
            <a:off x="9277350" y="47339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74" name="row-4-rule-4"/>
          <p:cNvSpPr/>
          <p:nvPr/>
        </p:nvSpPr>
        <p:spPr>
          <a:xfrm>
            <a:off x="10191750" y="45529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4-cell-6"/>
          <p:cNvSpPr txBox="1"/>
          <p:nvPr/>
        </p:nvSpPr>
        <p:spPr>
          <a:xfrm>
            <a:off x="10810875" y="47339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76" name="row-5-act-bg"/>
          <p:cNvSpPr/>
          <p:nvPr/>
        </p:nvSpPr>
        <p:spPr>
          <a:xfrm>
            <a:off x="457200" y="5200650"/>
            <a:ext cx="3600450" cy="6477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5-num"/>
          <p:cNvSpPr txBox="1"/>
          <p:nvPr/>
        </p:nvSpPr>
        <p:spPr>
          <a:xfrm>
            <a:off x="590550" y="5314950"/>
            <a:ext cx="3333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ACTIVITY 5</a:t>
            </a:r>
          </a:p>
        </p:txBody>
      </p:sp>
      <p:sp>
        <p:nvSpPr>
          <p:cNvPr id="78" name="table-row-5-label"/>
          <p:cNvSpPr txBox="1"/>
          <p:nvPr/>
        </p:nvSpPr>
        <p:spPr>
          <a:xfrm>
            <a:off x="590550" y="5467350"/>
            <a:ext cx="33337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Decide on rollout</a:t>
            </a:r>
          </a:p>
        </p:txBody>
      </p:sp>
      <p:sp>
        <p:nvSpPr>
          <p:cNvPr id="79" name="row-5-rule-0"/>
          <p:cNvSpPr/>
          <p:nvPr/>
        </p:nvSpPr>
        <p:spPr>
          <a:xfrm>
            <a:off x="4057650" y="52006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5-cell-2"/>
          <p:cNvSpPr txBox="1"/>
          <p:nvPr/>
        </p:nvSpPr>
        <p:spPr>
          <a:xfrm>
            <a:off x="4676775" y="5381625"/>
            <a:ext cx="28575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81" name="row-5-rule-1"/>
          <p:cNvSpPr/>
          <p:nvPr/>
        </p:nvSpPr>
        <p:spPr>
          <a:xfrm>
            <a:off x="5591175" y="52006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5-cell-3"/>
          <p:cNvSpPr txBox="1"/>
          <p:nvPr/>
        </p:nvSpPr>
        <p:spPr>
          <a:xfrm>
            <a:off x="6210300" y="53816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83" name="row-5-rule-2"/>
          <p:cNvSpPr/>
          <p:nvPr/>
        </p:nvSpPr>
        <p:spPr>
          <a:xfrm>
            <a:off x="7124700" y="52006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5-cell-4"/>
          <p:cNvSpPr txBox="1"/>
          <p:nvPr/>
        </p:nvSpPr>
        <p:spPr>
          <a:xfrm>
            <a:off x="7743825" y="53816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85" name="row-5-rule-3"/>
          <p:cNvSpPr/>
          <p:nvPr/>
        </p:nvSpPr>
        <p:spPr>
          <a:xfrm>
            <a:off x="8658225" y="52006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5-cell-5"/>
          <p:cNvSpPr txBox="1"/>
          <p:nvPr/>
        </p:nvSpPr>
        <p:spPr>
          <a:xfrm>
            <a:off x="9277350" y="5381625"/>
            <a:ext cx="285750" cy="2857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</a:t>
            </a:r>
          </a:p>
        </p:txBody>
      </p:sp>
      <p:sp>
        <p:nvSpPr>
          <p:cNvPr id="87" name="row-5-rule-4"/>
          <p:cNvSpPr/>
          <p:nvPr/>
        </p:nvSpPr>
        <p:spPr>
          <a:xfrm>
            <a:off x="10191750" y="5200650"/>
            <a:ext cx="153352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5-cell-6"/>
          <p:cNvSpPr txBox="1"/>
          <p:nvPr/>
        </p:nvSpPr>
        <p:spPr>
          <a:xfrm>
            <a:off x="10810875" y="5381625"/>
            <a:ext cx="285750" cy="285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89" name="convergence-bg"/>
          <p:cNvSpPr/>
          <p:nvPr/>
        </p:nvSpPr>
        <p:spPr>
          <a:xfrm>
            <a:off x="457200" y="601980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convergence-mark"/>
          <p:cNvSpPr txBox="1"/>
          <p:nvPr/>
        </p:nvSpPr>
        <p:spPr>
          <a:xfrm>
            <a:off x="628650" y="61531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 WHAT</a:t>
            </a:r>
          </a:p>
        </p:txBody>
      </p:sp>
      <p:sp>
        <p:nvSpPr>
          <p:cNvPr id="91" name="convergence-tag-frame"/>
          <p:cNvSpPr/>
          <p:nvPr/>
        </p:nvSpPr>
        <p:spPr>
          <a:xfrm>
            <a:off x="571500" y="6134100"/>
            <a:ext cx="762000" cy="228600"/>
          </a:xfrm>
          <a:prstGeom prst="rect">
            <a:avLst/>
          </a:prstGeom>
          <a:solidFill>
            <a:srgbClr val="2D0A4E"/>
          </a:solidFill>
          <a:ln w="9525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convergence"/>
          <p:cNvSpPr txBox="1"/>
          <p:nvPr/>
        </p:nvSpPr>
        <p:spPr>
          <a:xfrm>
            <a:off x="1524000" y="6019800"/>
            <a:ext cx="1013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Two A's on any row means no one's accountable. Watch the A column — exactly one per activity, no exceptions.</a:t>
            </a:r>
          </a:p>
        </p:txBody>
      </p:sp>
      <p:sp>
        <p:nvSpPr>
          <p:cNvPr id="9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