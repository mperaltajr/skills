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Five dimensions that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define delivery excellence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sequential framework for building high-performance program operations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21717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step"/>
          <p:cNvSpPr txBox="1"/>
          <p:nvPr/>
        </p:nvSpPr>
        <p:spPr>
          <a:xfrm>
            <a:off x="590550" y="203835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bucket-1-title"/>
          <p:cNvSpPr txBox="1"/>
          <p:nvPr/>
        </p:nvSpPr>
        <p:spPr>
          <a:xfrm>
            <a:off x="590550" y="2590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Mobilise &amp; Align</a:t>
            </a:r>
          </a:p>
        </p:txBody>
      </p:sp>
      <p:sp>
        <p:nvSpPr>
          <p:cNvPr id="8" name="bucket-1-rule"/>
          <p:cNvSpPr/>
          <p:nvPr/>
        </p:nvSpPr>
        <p:spPr>
          <a:xfrm>
            <a:off x="590550" y="3009900"/>
            <a:ext cx="1905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bucket-1-bullet-1-dot"/>
          <p:cNvSpPr txBox="1"/>
          <p:nvPr/>
        </p:nvSpPr>
        <p:spPr>
          <a:xfrm>
            <a:off x="590550" y="3105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0" name="bucket-1-bullet-1-text"/>
          <p:cNvSpPr txBox="1"/>
          <p:nvPr/>
        </p:nvSpPr>
        <p:spPr>
          <a:xfrm>
            <a:off x="704850" y="3143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governance charter and RACI</a:t>
            </a:r>
          </a:p>
        </p:txBody>
      </p:sp>
      <p:sp>
        <p:nvSpPr>
          <p:cNvPr id="11" name="bucket-1-bullet-2-dot"/>
          <p:cNvSpPr txBox="1"/>
          <p:nvPr/>
        </p:nvSpPr>
        <p:spPr>
          <a:xfrm>
            <a:off x="590550" y="3486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2" name="bucket-1-bullet-2-text"/>
          <p:cNvSpPr txBox="1"/>
          <p:nvPr/>
        </p:nvSpPr>
        <p:spPr>
          <a:xfrm>
            <a:off x="704850" y="3524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Confirm programme scope and boundaries</a:t>
            </a:r>
          </a:p>
        </p:txBody>
      </p:sp>
      <p:sp>
        <p:nvSpPr>
          <p:cNvPr id="13" name="bucket-1-bullet-3-dot"/>
          <p:cNvSpPr txBox="1"/>
          <p:nvPr/>
        </p:nvSpPr>
        <p:spPr>
          <a:xfrm>
            <a:off x="590550" y="3867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4" name="bucket-1-bullet-3-text"/>
          <p:cNvSpPr txBox="1"/>
          <p:nvPr/>
        </p:nvSpPr>
        <p:spPr>
          <a:xfrm>
            <a:off x="704850" y="3905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Onboard key stakeholders and sponsors</a:t>
            </a:r>
          </a:p>
        </p:txBody>
      </p:sp>
      <p:sp>
        <p:nvSpPr>
          <p:cNvPr id="15" name="bucket-1-metric-rule"/>
          <p:cNvSpPr/>
          <p:nvPr/>
        </p:nvSpPr>
        <p:spPr>
          <a:xfrm>
            <a:off x="590550" y="5848350"/>
            <a:ext cx="1905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1-metric"/>
          <p:cNvSpPr txBox="1"/>
          <p:nvPr/>
        </p:nvSpPr>
        <p:spPr>
          <a:xfrm>
            <a:off x="590550" y="592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Week 1–2</a:t>
            </a:r>
          </a:p>
        </p:txBody>
      </p:sp>
      <p:sp>
        <p:nvSpPr>
          <p:cNvPr id="17" name="bucket-1-metric-label"/>
          <p:cNvSpPr txBox="1"/>
          <p:nvPr/>
        </p:nvSpPr>
        <p:spPr>
          <a:xfrm>
            <a:off x="590550" y="61722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 WINDOW</a:t>
            </a:r>
          </a:p>
        </p:txBody>
      </p:sp>
      <p:sp>
        <p:nvSpPr>
          <p:cNvPr id="18" name="bucket-2-card"/>
          <p:cNvSpPr/>
          <p:nvPr/>
        </p:nvSpPr>
        <p:spPr>
          <a:xfrm>
            <a:off x="2724150" y="1905000"/>
            <a:ext cx="21717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ucket-2-step"/>
          <p:cNvSpPr txBox="1"/>
          <p:nvPr/>
        </p:nvSpPr>
        <p:spPr>
          <a:xfrm>
            <a:off x="2857500" y="203835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CC8CFF"/>
                </a:solidFill>
                <a:latin typeface="Inter"/>
              </a:rPr>
              <a:t>02</a:t>
            </a:r>
          </a:p>
        </p:txBody>
      </p:sp>
      <p:sp>
        <p:nvSpPr>
          <p:cNvPr id="20" name="bucket-2-title"/>
          <p:cNvSpPr txBox="1"/>
          <p:nvPr/>
        </p:nvSpPr>
        <p:spPr>
          <a:xfrm>
            <a:off x="2857500" y="2590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Plan &amp; Sequence</a:t>
            </a:r>
          </a:p>
        </p:txBody>
      </p:sp>
      <p:sp>
        <p:nvSpPr>
          <p:cNvPr id="21" name="bucket-2-rule"/>
          <p:cNvSpPr/>
          <p:nvPr/>
        </p:nvSpPr>
        <p:spPr>
          <a:xfrm>
            <a:off x="2857500" y="3009900"/>
            <a:ext cx="1905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2-bullet-1-dot"/>
          <p:cNvSpPr txBox="1"/>
          <p:nvPr/>
        </p:nvSpPr>
        <p:spPr>
          <a:xfrm>
            <a:off x="2857500" y="3105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3" name="bucket-2-bullet-1-text"/>
          <p:cNvSpPr txBox="1"/>
          <p:nvPr/>
        </p:nvSpPr>
        <p:spPr>
          <a:xfrm>
            <a:off x="2971800" y="3143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Decompose milestones into workstreams</a:t>
            </a:r>
          </a:p>
        </p:txBody>
      </p:sp>
      <p:sp>
        <p:nvSpPr>
          <p:cNvPr id="24" name="bucket-2-bullet-2-dot"/>
          <p:cNvSpPr txBox="1"/>
          <p:nvPr/>
        </p:nvSpPr>
        <p:spPr>
          <a:xfrm>
            <a:off x="2857500" y="3486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5" name="bucket-2-bullet-2-text"/>
          <p:cNvSpPr txBox="1"/>
          <p:nvPr/>
        </p:nvSpPr>
        <p:spPr>
          <a:xfrm>
            <a:off x="2971800" y="3524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Identify critical path and float buffers</a:t>
            </a:r>
          </a:p>
        </p:txBody>
      </p:sp>
      <p:sp>
        <p:nvSpPr>
          <p:cNvPr id="26" name="bucket-2-bullet-3-dot"/>
          <p:cNvSpPr txBox="1"/>
          <p:nvPr/>
        </p:nvSpPr>
        <p:spPr>
          <a:xfrm>
            <a:off x="2857500" y="3867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7" name="bucket-2-bullet-3-text"/>
          <p:cNvSpPr txBox="1"/>
          <p:nvPr/>
        </p:nvSpPr>
        <p:spPr>
          <a:xfrm>
            <a:off x="2971800" y="3905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Lock resource assignments per sprint</a:t>
            </a:r>
          </a:p>
        </p:txBody>
      </p:sp>
      <p:sp>
        <p:nvSpPr>
          <p:cNvPr id="28" name="bucket-2-metric-rule"/>
          <p:cNvSpPr/>
          <p:nvPr/>
        </p:nvSpPr>
        <p:spPr>
          <a:xfrm>
            <a:off x="2857500" y="5848350"/>
            <a:ext cx="1905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ucket-2-metric"/>
          <p:cNvSpPr txBox="1"/>
          <p:nvPr/>
        </p:nvSpPr>
        <p:spPr>
          <a:xfrm>
            <a:off x="2857500" y="592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94%</a:t>
            </a:r>
          </a:p>
        </p:txBody>
      </p:sp>
      <p:sp>
        <p:nvSpPr>
          <p:cNvPr id="30" name="bucket-2-metric-label"/>
          <p:cNvSpPr txBox="1"/>
          <p:nvPr/>
        </p:nvSpPr>
        <p:spPr>
          <a:xfrm>
            <a:off x="2857500" y="61722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PLAN ACCURACY TARGET</a:t>
            </a:r>
          </a:p>
        </p:txBody>
      </p:sp>
      <p:sp>
        <p:nvSpPr>
          <p:cNvPr id="31" name="bucket-3-card"/>
          <p:cNvSpPr/>
          <p:nvPr/>
        </p:nvSpPr>
        <p:spPr>
          <a:xfrm>
            <a:off x="4991100" y="1905000"/>
            <a:ext cx="21717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3-step"/>
          <p:cNvSpPr txBox="1"/>
          <p:nvPr/>
        </p:nvSpPr>
        <p:spPr>
          <a:xfrm>
            <a:off x="5124450" y="203835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D299FF"/>
                </a:solidFill>
                <a:latin typeface="Inter"/>
              </a:rPr>
              <a:t>03</a:t>
            </a:r>
          </a:p>
        </p:txBody>
      </p:sp>
      <p:sp>
        <p:nvSpPr>
          <p:cNvPr id="33" name="bucket-3-title"/>
          <p:cNvSpPr txBox="1"/>
          <p:nvPr/>
        </p:nvSpPr>
        <p:spPr>
          <a:xfrm>
            <a:off x="5124450" y="2590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Execute &amp; Track</a:t>
            </a:r>
          </a:p>
        </p:txBody>
      </p:sp>
      <p:sp>
        <p:nvSpPr>
          <p:cNvPr id="34" name="bucket-3-rule"/>
          <p:cNvSpPr/>
          <p:nvPr/>
        </p:nvSpPr>
        <p:spPr>
          <a:xfrm>
            <a:off x="5124450" y="3009900"/>
            <a:ext cx="1905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ucket-3-bullet-1-dot"/>
          <p:cNvSpPr txBox="1"/>
          <p:nvPr/>
        </p:nvSpPr>
        <p:spPr>
          <a:xfrm>
            <a:off x="5124450" y="3105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6" name="bucket-3-bullet-1-text"/>
          <p:cNvSpPr txBox="1"/>
          <p:nvPr/>
        </p:nvSpPr>
        <p:spPr>
          <a:xfrm>
            <a:off x="5238750" y="3143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Run bi-weekly delivery checkpoints</a:t>
            </a:r>
          </a:p>
        </p:txBody>
      </p:sp>
      <p:sp>
        <p:nvSpPr>
          <p:cNvPr id="37" name="bucket-3-bullet-2-dot"/>
          <p:cNvSpPr txBox="1"/>
          <p:nvPr/>
        </p:nvSpPr>
        <p:spPr>
          <a:xfrm>
            <a:off x="5124450" y="3486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8" name="bucket-3-bullet-2-text"/>
          <p:cNvSpPr txBox="1"/>
          <p:nvPr/>
        </p:nvSpPr>
        <p:spPr>
          <a:xfrm>
            <a:off x="5238750" y="3524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Surface blockers within 24-hour SLA</a:t>
            </a:r>
          </a:p>
        </p:txBody>
      </p:sp>
      <p:sp>
        <p:nvSpPr>
          <p:cNvPr id="39" name="bucket-3-bullet-3-dot"/>
          <p:cNvSpPr txBox="1"/>
          <p:nvPr/>
        </p:nvSpPr>
        <p:spPr>
          <a:xfrm>
            <a:off x="5124450" y="3867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0" name="bucket-3-bullet-3-text"/>
          <p:cNvSpPr txBox="1"/>
          <p:nvPr/>
        </p:nvSpPr>
        <p:spPr>
          <a:xfrm>
            <a:off x="5238750" y="3905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Maintain live RAG status dashboard</a:t>
            </a:r>
          </a:p>
        </p:txBody>
      </p:sp>
      <p:sp>
        <p:nvSpPr>
          <p:cNvPr id="41" name="bucket-3-metric-rule"/>
          <p:cNvSpPr/>
          <p:nvPr/>
        </p:nvSpPr>
        <p:spPr>
          <a:xfrm>
            <a:off x="5124450" y="5848350"/>
            <a:ext cx="1905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cket-3-metric"/>
          <p:cNvSpPr txBox="1"/>
          <p:nvPr/>
        </p:nvSpPr>
        <p:spPr>
          <a:xfrm>
            <a:off x="5124450" y="592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≤48 hrs</a:t>
            </a:r>
          </a:p>
        </p:txBody>
      </p:sp>
      <p:sp>
        <p:nvSpPr>
          <p:cNvPr id="43" name="bucket-3-metric-label"/>
          <p:cNvSpPr txBox="1"/>
          <p:nvPr/>
        </p:nvSpPr>
        <p:spPr>
          <a:xfrm>
            <a:off x="5124450" y="61722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ISSUE RESOLUTION SLA</a:t>
            </a:r>
          </a:p>
        </p:txBody>
      </p:sp>
      <p:sp>
        <p:nvSpPr>
          <p:cNvPr id="44" name="bucket-4-card"/>
          <p:cNvSpPr/>
          <p:nvPr/>
        </p:nvSpPr>
        <p:spPr>
          <a:xfrm>
            <a:off x="7258050" y="1905000"/>
            <a:ext cx="21717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4-step"/>
          <p:cNvSpPr txBox="1"/>
          <p:nvPr/>
        </p:nvSpPr>
        <p:spPr>
          <a:xfrm>
            <a:off x="7391400" y="203835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D7A6FF"/>
                </a:solidFill>
                <a:latin typeface="Inter"/>
              </a:rPr>
              <a:t>04</a:t>
            </a:r>
          </a:p>
        </p:txBody>
      </p:sp>
      <p:sp>
        <p:nvSpPr>
          <p:cNvPr id="46" name="bucket-4-title"/>
          <p:cNvSpPr txBox="1"/>
          <p:nvPr/>
        </p:nvSpPr>
        <p:spPr>
          <a:xfrm>
            <a:off x="7391400" y="2590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Measure &amp; Learn</a:t>
            </a:r>
          </a:p>
        </p:txBody>
      </p:sp>
      <p:sp>
        <p:nvSpPr>
          <p:cNvPr id="47" name="bucket-4-rule"/>
          <p:cNvSpPr/>
          <p:nvPr/>
        </p:nvSpPr>
        <p:spPr>
          <a:xfrm>
            <a:off x="7391400" y="3009900"/>
            <a:ext cx="1905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ucket-4-bullet-1-dot"/>
          <p:cNvSpPr txBox="1"/>
          <p:nvPr/>
        </p:nvSpPr>
        <p:spPr>
          <a:xfrm>
            <a:off x="7391400" y="3105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9" name="bucket-4-bullet-1-text"/>
          <p:cNvSpPr txBox="1"/>
          <p:nvPr/>
        </p:nvSpPr>
        <p:spPr>
          <a:xfrm>
            <a:off x="7505700" y="3143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Capture velocity and cycle time data</a:t>
            </a:r>
          </a:p>
        </p:txBody>
      </p:sp>
      <p:sp>
        <p:nvSpPr>
          <p:cNvPr id="50" name="bucket-4-bullet-2-dot"/>
          <p:cNvSpPr txBox="1"/>
          <p:nvPr/>
        </p:nvSpPr>
        <p:spPr>
          <a:xfrm>
            <a:off x="7391400" y="3486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1" name="bucket-4-bullet-2-text"/>
          <p:cNvSpPr txBox="1"/>
          <p:nvPr/>
        </p:nvSpPr>
        <p:spPr>
          <a:xfrm>
            <a:off x="7505700" y="3524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Run retrospectives every two sprints</a:t>
            </a:r>
          </a:p>
        </p:txBody>
      </p:sp>
      <p:sp>
        <p:nvSpPr>
          <p:cNvPr id="52" name="bucket-4-bullet-3-dot"/>
          <p:cNvSpPr txBox="1"/>
          <p:nvPr/>
        </p:nvSpPr>
        <p:spPr>
          <a:xfrm>
            <a:off x="7391400" y="3867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3" name="bucket-4-bullet-3-text"/>
          <p:cNvSpPr txBox="1"/>
          <p:nvPr/>
        </p:nvSpPr>
        <p:spPr>
          <a:xfrm>
            <a:off x="7505700" y="3905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Integrate learnings into next iteration</a:t>
            </a:r>
          </a:p>
        </p:txBody>
      </p:sp>
      <p:sp>
        <p:nvSpPr>
          <p:cNvPr id="54" name="bucket-4-metric-rule"/>
          <p:cNvSpPr/>
          <p:nvPr/>
        </p:nvSpPr>
        <p:spPr>
          <a:xfrm>
            <a:off x="7391400" y="5848350"/>
            <a:ext cx="1905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bucket-4-metric"/>
          <p:cNvSpPr txBox="1"/>
          <p:nvPr/>
        </p:nvSpPr>
        <p:spPr>
          <a:xfrm>
            <a:off x="7391400" y="592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+18%</a:t>
            </a:r>
          </a:p>
        </p:txBody>
      </p:sp>
      <p:sp>
        <p:nvSpPr>
          <p:cNvPr id="56" name="bucket-4-metric-label"/>
          <p:cNvSpPr txBox="1"/>
          <p:nvPr/>
        </p:nvSpPr>
        <p:spPr>
          <a:xfrm>
            <a:off x="7391400" y="61722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VELOCITY IMPROVEMENT</a:t>
            </a:r>
          </a:p>
        </p:txBody>
      </p:sp>
      <p:sp>
        <p:nvSpPr>
          <p:cNvPr id="57" name="bucket-5-card"/>
          <p:cNvSpPr/>
          <p:nvPr/>
        </p:nvSpPr>
        <p:spPr>
          <a:xfrm>
            <a:off x="9525000" y="1905000"/>
            <a:ext cx="2171700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bucket-5-step"/>
          <p:cNvSpPr txBox="1"/>
          <p:nvPr/>
        </p:nvSpPr>
        <p:spPr>
          <a:xfrm>
            <a:off x="9658350" y="203835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DDB2FF"/>
                </a:solidFill>
                <a:latin typeface="Inter"/>
              </a:rPr>
              <a:t>05</a:t>
            </a:r>
          </a:p>
        </p:txBody>
      </p:sp>
      <p:sp>
        <p:nvSpPr>
          <p:cNvPr id="59" name="bucket-5-title"/>
          <p:cNvSpPr txBox="1"/>
          <p:nvPr/>
        </p:nvSpPr>
        <p:spPr>
          <a:xfrm>
            <a:off x="9658350" y="2590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Scale &amp; Sustain</a:t>
            </a:r>
          </a:p>
        </p:txBody>
      </p:sp>
      <p:sp>
        <p:nvSpPr>
          <p:cNvPr id="60" name="bucket-5-rule"/>
          <p:cNvSpPr/>
          <p:nvPr/>
        </p:nvSpPr>
        <p:spPr>
          <a:xfrm>
            <a:off x="9658350" y="3009900"/>
            <a:ext cx="1905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cket-5-bullet-1-dot"/>
          <p:cNvSpPr txBox="1"/>
          <p:nvPr/>
        </p:nvSpPr>
        <p:spPr>
          <a:xfrm>
            <a:off x="9658350" y="3105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2" name="bucket-5-bullet-1-text"/>
          <p:cNvSpPr txBox="1"/>
          <p:nvPr/>
        </p:nvSpPr>
        <p:spPr>
          <a:xfrm>
            <a:off x="9772650" y="3143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operating model in BAU teams</a:t>
            </a:r>
          </a:p>
        </p:txBody>
      </p:sp>
      <p:sp>
        <p:nvSpPr>
          <p:cNvPr id="63" name="bucket-5-bullet-2-dot"/>
          <p:cNvSpPr txBox="1"/>
          <p:nvPr/>
        </p:nvSpPr>
        <p:spPr>
          <a:xfrm>
            <a:off x="9658350" y="3486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4" name="bucket-5-bullet-2-text"/>
          <p:cNvSpPr txBox="1"/>
          <p:nvPr/>
        </p:nvSpPr>
        <p:spPr>
          <a:xfrm>
            <a:off x="9772650" y="3524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Transition tooling ownership to client</a:t>
            </a:r>
          </a:p>
        </p:txBody>
      </p:sp>
      <p:sp>
        <p:nvSpPr>
          <p:cNvPr id="65" name="bucket-5-bullet-3-dot"/>
          <p:cNvSpPr txBox="1"/>
          <p:nvPr/>
        </p:nvSpPr>
        <p:spPr>
          <a:xfrm>
            <a:off x="9658350" y="38671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6" name="bucket-5-bullet-3-text"/>
          <p:cNvSpPr txBox="1"/>
          <p:nvPr/>
        </p:nvSpPr>
        <p:spPr>
          <a:xfrm>
            <a:off x="9772650" y="390525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success criteria for steady state</a:t>
            </a:r>
          </a:p>
        </p:txBody>
      </p:sp>
      <p:sp>
        <p:nvSpPr>
          <p:cNvPr id="67" name="bucket-5-metric-rule"/>
          <p:cNvSpPr/>
          <p:nvPr/>
        </p:nvSpPr>
        <p:spPr>
          <a:xfrm>
            <a:off x="9658350" y="5848350"/>
            <a:ext cx="1905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bucket-5-metric"/>
          <p:cNvSpPr txBox="1"/>
          <p:nvPr/>
        </p:nvSpPr>
        <p:spPr>
          <a:xfrm>
            <a:off x="9658350" y="59245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Q3 2026</a:t>
            </a:r>
          </a:p>
        </p:txBody>
      </p:sp>
      <p:sp>
        <p:nvSpPr>
          <p:cNvPr id="69" name="bucket-5-metric-label"/>
          <p:cNvSpPr txBox="1"/>
          <p:nvPr/>
        </p:nvSpPr>
        <p:spPr>
          <a:xfrm>
            <a:off x="9658350" y="61722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STEADY-STATE TARGET</a:t>
            </a:r>
          </a:p>
        </p:txBody>
      </p:sp>
      <p:sp>
        <p:nvSpPr>
          <p:cNvPr id="7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