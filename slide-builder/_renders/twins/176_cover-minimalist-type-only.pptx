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rule-top"/>
          <p:cNvSpPr/>
          <p:nvPr/>
        </p:nvSpPr>
        <p:spPr>
          <a:xfrm>
            <a:off x="5524500" y="1905000"/>
            <a:ext cx="1143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cover-deck-title"/>
          <p:cNvSpPr txBox="1"/>
          <p:nvPr/>
        </p:nvSpPr>
        <p:spPr>
          <a:xfrm>
            <a:off x="2286000" y="238125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150" b="1" i="0">
                <a:solidFill>
                  <a:srgbClr val="2D0A4E"/>
                </a:solidFill>
                <a:latin typeface="Inter"/>
              </a:rPr>
              <a:t>A </a:t>
            </a:r>
            <a:r>
              <a:rPr sz="3150" b="1" i="0">
                <a:solidFill>
                  <a:srgbClr val="A100FF"/>
                </a:solidFill>
                <a:latin typeface="Inter"/>
              </a:rPr>
              <a:t>Focused</a:t>
            </a:r>
            <a:r>
              <a:rPr sz="3150" b="1" i="0">
                <a:solidFill>
                  <a:srgbClr val="2D0A4E"/>
                </a:solidFill>
                <a:latin typeface="Inter"/>
              </a:rPr>
              <a:t> Approach to Transforming Enterprise Performance</a:t>
            </a:r>
          </a:p>
        </p:txBody>
      </p:sp>
      <p:sp>
        <p:nvSpPr>
          <p:cNvPr id="4" name="cover-rule-bottom"/>
          <p:cNvSpPr/>
          <p:nvPr/>
        </p:nvSpPr>
        <p:spPr>
          <a:xfrm>
            <a:off x="5715000" y="4095750"/>
            <a:ext cx="7620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ver-tagline"/>
          <p:cNvSpPr txBox="1"/>
          <p:nvPr/>
        </p:nvSpPr>
        <p:spPr>
          <a:xfrm>
            <a:off x="2762250" y="4286250"/>
            <a:ext cx="6667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0" i="1">
                <a:solidFill>
                  <a:srgbClr val="64748B"/>
                </a:solidFill>
                <a:latin typeface="Inter"/>
              </a:rPr>
              <a:t>Strategic Priorities and Path to Value Creation</a:t>
            </a:r>
          </a:p>
        </p:txBody>
      </p:sp>
      <p:sp>
        <p:nvSpPr>
          <p:cNvPr id="6" name="cover-client-name"/>
          <p:cNvSpPr txBox="1"/>
          <p:nvPr/>
        </p:nvSpPr>
        <p:spPr>
          <a:xfrm>
            <a:off x="5048250" y="46672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Client Name</a:t>
            </a:r>
          </a:p>
        </p:txBody>
      </p:sp>
      <p:sp>
        <p:nvSpPr>
          <p:cNvPr id="7" name="cover-meta-sep"/>
          <p:cNvSpPr/>
          <p:nvPr/>
        </p:nvSpPr>
        <p:spPr>
          <a:xfrm>
            <a:off x="6076950" y="4724400"/>
            <a:ext cx="38100" cy="381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ver-date"/>
          <p:cNvSpPr txBox="1"/>
          <p:nvPr/>
        </p:nvSpPr>
        <p:spPr>
          <a:xfrm>
            <a:off x="6210300" y="46672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May 2026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