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104775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FFFFFF"/>
                </a:solidFill>
                <a:latin typeface="Inter"/>
              </a:rPr>
              <a:t>Slide Lab architecture — five layers, two cross-cutting concerns.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Layered reference architecture, top to bottom. Brand theming and QC engine apply at every layer.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ier-1-shape"/>
          <p:cNvSpPr/>
          <p:nvPr/>
        </p:nvSpPr>
        <p:spPr>
          <a:xfrm>
            <a:off x="609600" y="2095500"/>
            <a:ext cx="8743950" cy="7143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ier-1-header"/>
          <p:cNvSpPr/>
          <p:nvPr/>
        </p:nvSpPr>
        <p:spPr>
          <a:xfrm>
            <a:off x="609600" y="2095500"/>
            <a:ext cx="1333500" cy="71437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ier-1-label"/>
          <p:cNvSpPr txBox="1"/>
          <p:nvPr/>
        </p:nvSpPr>
        <p:spPr>
          <a:xfrm>
            <a:off x="723900" y="2209800"/>
            <a:ext cx="1104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LAYER 1</a:t>
            </a:r>
          </a:p>
        </p:txBody>
      </p:sp>
      <p:sp>
        <p:nvSpPr>
          <p:cNvPr id="8" name="tier-1-name"/>
          <p:cNvSpPr txBox="1"/>
          <p:nvPr/>
        </p:nvSpPr>
        <p:spPr>
          <a:xfrm>
            <a:off x="723900" y="2362200"/>
            <a:ext cx="11049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PRESENTATION</a:t>
            </a:r>
          </a:p>
        </p:txBody>
      </p:sp>
      <p:sp>
        <p:nvSpPr>
          <p:cNvPr id="9" name="tier-1-component-1"/>
          <p:cNvSpPr/>
          <p:nvPr/>
        </p:nvSpPr>
        <p:spPr>
          <a:xfrm>
            <a:off x="2076450" y="2190750"/>
            <a:ext cx="2324100" cy="523875"/>
          </a:xfrm>
          <a:prstGeom prst="rect">
            <a:avLst/>
          </a:prstGeom>
          <a:solidFill>
            <a:srgbClr val="422266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ier-1-component-1-name"/>
          <p:cNvSpPr txBox="1"/>
          <p:nvPr/>
        </p:nvSpPr>
        <p:spPr>
          <a:xfrm>
            <a:off x="2114550" y="226695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Claude Code UI</a:t>
            </a:r>
          </a:p>
        </p:txBody>
      </p:sp>
      <p:sp>
        <p:nvSpPr>
          <p:cNvPr id="11" name="tier-1-component-1-meta"/>
          <p:cNvSpPr txBox="1"/>
          <p:nvPr/>
        </p:nvSpPr>
        <p:spPr>
          <a:xfrm>
            <a:off x="2114550" y="245745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PRIMARY SURFACE</a:t>
            </a:r>
          </a:p>
        </p:txBody>
      </p:sp>
      <p:sp>
        <p:nvSpPr>
          <p:cNvPr id="12" name="tier-1-component-2"/>
          <p:cNvSpPr/>
          <p:nvPr/>
        </p:nvSpPr>
        <p:spPr>
          <a:xfrm>
            <a:off x="4476750" y="2190750"/>
            <a:ext cx="2324100" cy="523875"/>
          </a:xfrm>
          <a:prstGeom prst="rect">
            <a:avLst/>
          </a:prstGeom>
          <a:solidFill>
            <a:srgbClr val="422266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ier-1-component-2-name"/>
          <p:cNvSpPr txBox="1"/>
          <p:nvPr/>
        </p:nvSpPr>
        <p:spPr>
          <a:xfrm>
            <a:off x="4514850" y="226695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VS Code</a:t>
            </a:r>
          </a:p>
        </p:txBody>
      </p:sp>
      <p:sp>
        <p:nvSpPr>
          <p:cNvPr id="14" name="tier-1-component-2-meta"/>
          <p:cNvSpPr txBox="1"/>
          <p:nvPr/>
        </p:nvSpPr>
        <p:spPr>
          <a:xfrm>
            <a:off x="4514850" y="245745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AUTHOR IDE</a:t>
            </a:r>
          </a:p>
        </p:txBody>
      </p:sp>
      <p:sp>
        <p:nvSpPr>
          <p:cNvPr id="15" name="tier-1-component-3"/>
          <p:cNvSpPr/>
          <p:nvPr/>
        </p:nvSpPr>
        <p:spPr>
          <a:xfrm>
            <a:off x="6877050" y="2190750"/>
            <a:ext cx="2324100" cy="523875"/>
          </a:xfrm>
          <a:prstGeom prst="rect">
            <a:avLst/>
          </a:prstGeom>
          <a:solidFill>
            <a:srgbClr val="422266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ier-1-component-3-name"/>
          <p:cNvSpPr txBox="1"/>
          <p:nvPr/>
        </p:nvSpPr>
        <p:spPr>
          <a:xfrm>
            <a:off x="6915150" y="226695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Web preview</a:t>
            </a:r>
          </a:p>
        </p:txBody>
      </p:sp>
      <p:sp>
        <p:nvSpPr>
          <p:cNvPr id="17" name="tier-1-component-3-meta"/>
          <p:cNvSpPr txBox="1"/>
          <p:nvPr/>
        </p:nvSpPr>
        <p:spPr>
          <a:xfrm>
            <a:off x="6915150" y="245745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HTML RENDER</a:t>
            </a:r>
          </a:p>
        </p:txBody>
      </p:sp>
      <p:sp>
        <p:nvSpPr>
          <p:cNvPr id="18" name="tier-2-shape"/>
          <p:cNvSpPr/>
          <p:nvPr/>
        </p:nvSpPr>
        <p:spPr>
          <a:xfrm>
            <a:off x="609600" y="2886075"/>
            <a:ext cx="8743950" cy="7143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tier-2-header"/>
          <p:cNvSpPr/>
          <p:nvPr/>
        </p:nvSpPr>
        <p:spPr>
          <a:xfrm>
            <a:off x="609600" y="2886075"/>
            <a:ext cx="1333500" cy="714375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tier-2-label"/>
          <p:cNvSpPr txBox="1"/>
          <p:nvPr/>
        </p:nvSpPr>
        <p:spPr>
          <a:xfrm>
            <a:off x="723900" y="3000375"/>
            <a:ext cx="1104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LAYER 2</a:t>
            </a:r>
          </a:p>
        </p:txBody>
      </p:sp>
      <p:sp>
        <p:nvSpPr>
          <p:cNvPr id="21" name="tier-2-name"/>
          <p:cNvSpPr txBox="1"/>
          <p:nvPr/>
        </p:nvSpPr>
        <p:spPr>
          <a:xfrm>
            <a:off x="723900" y="3152775"/>
            <a:ext cx="11049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SKILLS</a:t>
            </a:r>
          </a:p>
        </p:txBody>
      </p:sp>
      <p:sp>
        <p:nvSpPr>
          <p:cNvPr id="22" name="tier-2-component-1"/>
          <p:cNvSpPr/>
          <p:nvPr/>
        </p:nvSpPr>
        <p:spPr>
          <a:xfrm>
            <a:off x="2076450" y="2981325"/>
            <a:ext cx="1724025" cy="523875"/>
          </a:xfrm>
          <a:prstGeom prst="rect">
            <a:avLst/>
          </a:prstGeom>
          <a:solidFill>
            <a:srgbClr val="422266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tier-2-component-1-name"/>
          <p:cNvSpPr txBox="1"/>
          <p:nvPr/>
        </p:nvSpPr>
        <p:spPr>
          <a:xfrm>
            <a:off x="2114550" y="3057525"/>
            <a:ext cx="16478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storyline-helper</a:t>
            </a:r>
          </a:p>
        </p:txBody>
      </p:sp>
      <p:sp>
        <p:nvSpPr>
          <p:cNvPr id="24" name="tier-2-component-1-meta"/>
          <p:cNvSpPr txBox="1"/>
          <p:nvPr/>
        </p:nvSpPr>
        <p:spPr>
          <a:xfrm>
            <a:off x="2114550" y="3248025"/>
            <a:ext cx="16478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NARRATIVE</a:t>
            </a:r>
          </a:p>
        </p:txBody>
      </p:sp>
      <p:sp>
        <p:nvSpPr>
          <p:cNvPr id="25" name="tier-2-component-2"/>
          <p:cNvSpPr/>
          <p:nvPr/>
        </p:nvSpPr>
        <p:spPr>
          <a:xfrm>
            <a:off x="3876675" y="2981325"/>
            <a:ext cx="1724025" cy="523875"/>
          </a:xfrm>
          <a:prstGeom prst="rect">
            <a:avLst/>
          </a:prstGeom>
          <a:solidFill>
            <a:srgbClr val="422266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tier-2-component-2-name"/>
          <p:cNvSpPr txBox="1"/>
          <p:nvPr/>
        </p:nvSpPr>
        <p:spPr>
          <a:xfrm>
            <a:off x="3914775" y="3057525"/>
            <a:ext cx="16478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slide-builder</a:t>
            </a:r>
          </a:p>
        </p:txBody>
      </p:sp>
      <p:sp>
        <p:nvSpPr>
          <p:cNvPr id="27" name="tier-2-component-2-meta"/>
          <p:cNvSpPr txBox="1"/>
          <p:nvPr/>
        </p:nvSpPr>
        <p:spPr>
          <a:xfrm>
            <a:off x="3914775" y="3248025"/>
            <a:ext cx="16478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BUILD</a:t>
            </a:r>
          </a:p>
        </p:txBody>
      </p:sp>
      <p:sp>
        <p:nvSpPr>
          <p:cNvPr id="28" name="tier-2-component-3"/>
          <p:cNvSpPr/>
          <p:nvPr/>
        </p:nvSpPr>
        <p:spPr>
          <a:xfrm>
            <a:off x="5676900" y="2981325"/>
            <a:ext cx="1724025" cy="523875"/>
          </a:xfrm>
          <a:prstGeom prst="rect">
            <a:avLst/>
          </a:prstGeom>
          <a:solidFill>
            <a:srgbClr val="422266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tier-2-component-3-name"/>
          <p:cNvSpPr txBox="1"/>
          <p:nvPr/>
        </p:nvSpPr>
        <p:spPr>
          <a:xfrm>
            <a:off x="5715000" y="3057525"/>
            <a:ext cx="16478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slide-helper</a:t>
            </a:r>
          </a:p>
        </p:txBody>
      </p:sp>
      <p:sp>
        <p:nvSpPr>
          <p:cNvPr id="30" name="tier-2-component-3-meta"/>
          <p:cNvSpPr txBox="1"/>
          <p:nvPr/>
        </p:nvSpPr>
        <p:spPr>
          <a:xfrm>
            <a:off x="5715000" y="3248025"/>
            <a:ext cx="16478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ASSIST</a:t>
            </a:r>
          </a:p>
        </p:txBody>
      </p:sp>
      <p:sp>
        <p:nvSpPr>
          <p:cNvPr id="31" name="tier-2-component-4"/>
          <p:cNvSpPr/>
          <p:nvPr/>
        </p:nvSpPr>
        <p:spPr>
          <a:xfrm>
            <a:off x="7477125" y="2981325"/>
            <a:ext cx="1724025" cy="523875"/>
          </a:xfrm>
          <a:prstGeom prst="rect">
            <a:avLst/>
          </a:prstGeom>
          <a:solidFill>
            <a:srgbClr val="422266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tier-2-component-4-name"/>
          <p:cNvSpPr txBox="1"/>
          <p:nvPr/>
        </p:nvSpPr>
        <p:spPr>
          <a:xfrm>
            <a:off x="7515225" y="3057525"/>
            <a:ext cx="16478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slide-qc</a:t>
            </a:r>
          </a:p>
        </p:txBody>
      </p:sp>
      <p:sp>
        <p:nvSpPr>
          <p:cNvPr id="33" name="tier-2-component-4-meta"/>
          <p:cNvSpPr txBox="1"/>
          <p:nvPr/>
        </p:nvSpPr>
        <p:spPr>
          <a:xfrm>
            <a:off x="7515225" y="3248025"/>
            <a:ext cx="16478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REVIEW</a:t>
            </a:r>
          </a:p>
        </p:txBody>
      </p:sp>
      <p:sp>
        <p:nvSpPr>
          <p:cNvPr id="34" name="tier-3-shape"/>
          <p:cNvSpPr/>
          <p:nvPr/>
        </p:nvSpPr>
        <p:spPr>
          <a:xfrm>
            <a:off x="609600" y="3676650"/>
            <a:ext cx="8743950" cy="7143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tier-3-header"/>
          <p:cNvSpPr/>
          <p:nvPr/>
        </p:nvSpPr>
        <p:spPr>
          <a:xfrm>
            <a:off x="609600" y="3676650"/>
            <a:ext cx="1333500" cy="714375"/>
          </a:xfrm>
          <a:prstGeom prst="rect">
            <a:avLst/>
          </a:prstGeom>
          <a:solidFill>
            <a:srgbClr val="7E3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tier-3-label"/>
          <p:cNvSpPr txBox="1"/>
          <p:nvPr/>
        </p:nvSpPr>
        <p:spPr>
          <a:xfrm>
            <a:off x="723900" y="3790950"/>
            <a:ext cx="1104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LAYER 3</a:t>
            </a:r>
          </a:p>
        </p:txBody>
      </p:sp>
      <p:sp>
        <p:nvSpPr>
          <p:cNvPr id="37" name="tier-3-name"/>
          <p:cNvSpPr txBox="1"/>
          <p:nvPr/>
        </p:nvSpPr>
        <p:spPr>
          <a:xfrm>
            <a:off x="723900" y="3943350"/>
            <a:ext cx="11049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PATTERN LIBRARY</a:t>
            </a:r>
          </a:p>
        </p:txBody>
      </p:sp>
      <p:sp>
        <p:nvSpPr>
          <p:cNvPr id="38" name="tier-3-component-1"/>
          <p:cNvSpPr/>
          <p:nvPr/>
        </p:nvSpPr>
        <p:spPr>
          <a:xfrm>
            <a:off x="2076450" y="3771900"/>
            <a:ext cx="2324100" cy="523875"/>
          </a:xfrm>
          <a:prstGeom prst="rect">
            <a:avLst/>
          </a:prstGeom>
          <a:solidFill>
            <a:srgbClr val="422266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tier-3-component-1-name"/>
          <p:cNvSpPr txBox="1"/>
          <p:nvPr/>
        </p:nvSpPr>
        <p:spPr>
          <a:xfrm>
            <a:off x="2114550" y="384810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100+ HTML patterns</a:t>
            </a:r>
          </a:p>
        </p:txBody>
      </p:sp>
      <p:sp>
        <p:nvSpPr>
          <p:cNvPr id="40" name="tier-3-component-1-meta"/>
          <p:cNvSpPr txBox="1"/>
          <p:nvPr/>
        </p:nvSpPr>
        <p:spPr>
          <a:xfrm>
            <a:off x="2114550" y="403860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MOCKUPS</a:t>
            </a:r>
          </a:p>
        </p:txBody>
      </p:sp>
      <p:sp>
        <p:nvSpPr>
          <p:cNvPr id="41" name="tier-3-component-2"/>
          <p:cNvSpPr/>
          <p:nvPr/>
        </p:nvSpPr>
        <p:spPr>
          <a:xfrm>
            <a:off x="4476750" y="3771900"/>
            <a:ext cx="2324100" cy="523875"/>
          </a:xfrm>
          <a:prstGeom prst="rect">
            <a:avLst/>
          </a:prstGeom>
          <a:solidFill>
            <a:srgbClr val="422266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tier-3-component-2-name"/>
          <p:cNvSpPr txBox="1"/>
          <p:nvPr/>
        </p:nvSpPr>
        <p:spPr>
          <a:xfrm>
            <a:off x="4514850" y="384810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Theme variables</a:t>
            </a:r>
          </a:p>
        </p:txBody>
      </p:sp>
      <p:sp>
        <p:nvSpPr>
          <p:cNvPr id="43" name="tier-3-component-2-meta"/>
          <p:cNvSpPr txBox="1"/>
          <p:nvPr/>
        </p:nvSpPr>
        <p:spPr>
          <a:xfrm>
            <a:off x="4514850" y="403860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CSS TOKENS</a:t>
            </a:r>
          </a:p>
        </p:txBody>
      </p:sp>
      <p:sp>
        <p:nvSpPr>
          <p:cNvPr id="44" name="tier-3-component-3"/>
          <p:cNvSpPr/>
          <p:nvPr/>
        </p:nvSpPr>
        <p:spPr>
          <a:xfrm>
            <a:off x="6877050" y="3771900"/>
            <a:ext cx="2324100" cy="523875"/>
          </a:xfrm>
          <a:prstGeom prst="rect">
            <a:avLst/>
          </a:prstGeom>
          <a:solidFill>
            <a:srgbClr val="422266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tier-3-component-3-name"/>
          <p:cNvSpPr txBox="1"/>
          <p:nvPr/>
        </p:nvSpPr>
        <p:spPr>
          <a:xfrm>
            <a:off x="6915150" y="384810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QC rules</a:t>
            </a:r>
          </a:p>
        </p:txBody>
      </p:sp>
      <p:sp>
        <p:nvSpPr>
          <p:cNvPr id="46" name="tier-3-component-3-meta"/>
          <p:cNvSpPr txBox="1"/>
          <p:nvPr/>
        </p:nvSpPr>
        <p:spPr>
          <a:xfrm>
            <a:off x="6915150" y="403860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STANDARDS</a:t>
            </a:r>
          </a:p>
        </p:txBody>
      </p:sp>
      <p:sp>
        <p:nvSpPr>
          <p:cNvPr id="47" name="tier-4-shape"/>
          <p:cNvSpPr/>
          <p:nvPr/>
        </p:nvSpPr>
        <p:spPr>
          <a:xfrm>
            <a:off x="609600" y="4467225"/>
            <a:ext cx="8743950" cy="7143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tier-4-header"/>
          <p:cNvSpPr/>
          <p:nvPr/>
        </p:nvSpPr>
        <p:spPr>
          <a:xfrm>
            <a:off x="609600" y="4467225"/>
            <a:ext cx="1333500" cy="7143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tier-4-label"/>
          <p:cNvSpPr txBox="1"/>
          <p:nvPr/>
        </p:nvSpPr>
        <p:spPr>
          <a:xfrm>
            <a:off x="723900" y="4581525"/>
            <a:ext cx="1104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LAYER 4</a:t>
            </a:r>
          </a:p>
        </p:txBody>
      </p:sp>
      <p:sp>
        <p:nvSpPr>
          <p:cNvPr id="50" name="tier-4-name"/>
          <p:cNvSpPr txBox="1"/>
          <p:nvPr/>
        </p:nvSpPr>
        <p:spPr>
          <a:xfrm>
            <a:off x="723900" y="4733925"/>
            <a:ext cx="11049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BUILD ENGINE</a:t>
            </a:r>
          </a:p>
        </p:txBody>
      </p:sp>
      <p:sp>
        <p:nvSpPr>
          <p:cNvPr id="51" name="tier-4-component-1"/>
          <p:cNvSpPr/>
          <p:nvPr/>
        </p:nvSpPr>
        <p:spPr>
          <a:xfrm>
            <a:off x="2076450" y="4562475"/>
            <a:ext cx="2324100" cy="523875"/>
          </a:xfrm>
          <a:prstGeom prst="rect">
            <a:avLst/>
          </a:prstGeom>
          <a:solidFill>
            <a:srgbClr val="422266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tier-4-component-1-name"/>
          <p:cNvSpPr txBox="1"/>
          <p:nvPr/>
        </p:nvSpPr>
        <p:spPr>
          <a:xfrm>
            <a:off x="2114550" y="4638675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HTML to PPTX</a:t>
            </a:r>
          </a:p>
        </p:txBody>
      </p:sp>
      <p:sp>
        <p:nvSpPr>
          <p:cNvPr id="53" name="tier-4-component-1-meta"/>
          <p:cNvSpPr txBox="1"/>
          <p:nvPr/>
        </p:nvSpPr>
        <p:spPr>
          <a:xfrm>
            <a:off x="2114550" y="4829175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TRANSLATOR</a:t>
            </a:r>
          </a:p>
        </p:txBody>
      </p:sp>
      <p:sp>
        <p:nvSpPr>
          <p:cNvPr id="54" name="tier-4-component-2"/>
          <p:cNvSpPr/>
          <p:nvPr/>
        </p:nvSpPr>
        <p:spPr>
          <a:xfrm>
            <a:off x="4476750" y="4562475"/>
            <a:ext cx="2324100" cy="523875"/>
          </a:xfrm>
          <a:prstGeom prst="rect">
            <a:avLst/>
          </a:prstGeom>
          <a:solidFill>
            <a:srgbClr val="422266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tier-4-component-2-name"/>
          <p:cNvSpPr txBox="1"/>
          <p:nvPr/>
        </p:nvSpPr>
        <p:spPr>
          <a:xfrm>
            <a:off x="4514850" y="4638675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python-pptx</a:t>
            </a:r>
          </a:p>
        </p:txBody>
      </p:sp>
      <p:sp>
        <p:nvSpPr>
          <p:cNvPr id="56" name="tier-4-component-2-meta"/>
          <p:cNvSpPr txBox="1"/>
          <p:nvPr/>
        </p:nvSpPr>
        <p:spPr>
          <a:xfrm>
            <a:off x="4514850" y="4829175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CORE LIB</a:t>
            </a:r>
          </a:p>
        </p:txBody>
      </p:sp>
      <p:sp>
        <p:nvSpPr>
          <p:cNvPr id="57" name="tier-4-component-3"/>
          <p:cNvSpPr/>
          <p:nvPr/>
        </p:nvSpPr>
        <p:spPr>
          <a:xfrm>
            <a:off x="6877050" y="4562475"/>
            <a:ext cx="2324100" cy="523875"/>
          </a:xfrm>
          <a:prstGeom prst="rect">
            <a:avLst/>
          </a:prstGeom>
          <a:solidFill>
            <a:srgbClr val="422266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tier-4-component-3-name"/>
          <p:cNvSpPr txBox="1"/>
          <p:nvPr/>
        </p:nvSpPr>
        <p:spPr>
          <a:xfrm>
            <a:off x="6915150" y="4638675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Template integration</a:t>
            </a:r>
          </a:p>
        </p:txBody>
      </p:sp>
      <p:sp>
        <p:nvSpPr>
          <p:cNvPr id="59" name="tier-4-component-3-meta"/>
          <p:cNvSpPr txBox="1"/>
          <p:nvPr/>
        </p:nvSpPr>
        <p:spPr>
          <a:xfrm>
            <a:off x="6915150" y="4829175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LAYOUTS</a:t>
            </a:r>
          </a:p>
        </p:txBody>
      </p:sp>
      <p:sp>
        <p:nvSpPr>
          <p:cNvPr id="60" name="tier-5-shape"/>
          <p:cNvSpPr/>
          <p:nvPr/>
        </p:nvSpPr>
        <p:spPr>
          <a:xfrm>
            <a:off x="609600" y="5257800"/>
            <a:ext cx="8743950" cy="7143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tier-5-header"/>
          <p:cNvSpPr/>
          <p:nvPr/>
        </p:nvSpPr>
        <p:spPr>
          <a:xfrm>
            <a:off x="609600" y="5257800"/>
            <a:ext cx="1333500" cy="7143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tier-5-label"/>
          <p:cNvSpPr txBox="1"/>
          <p:nvPr/>
        </p:nvSpPr>
        <p:spPr>
          <a:xfrm>
            <a:off x="723900" y="5372100"/>
            <a:ext cx="1104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LAYER 5</a:t>
            </a:r>
          </a:p>
        </p:txBody>
      </p:sp>
      <p:sp>
        <p:nvSpPr>
          <p:cNvPr id="63" name="tier-5-name"/>
          <p:cNvSpPr txBox="1"/>
          <p:nvPr/>
        </p:nvSpPr>
        <p:spPr>
          <a:xfrm>
            <a:off x="723900" y="5524500"/>
            <a:ext cx="11049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TEMPLATES</a:t>
            </a:r>
          </a:p>
        </p:txBody>
      </p:sp>
      <p:sp>
        <p:nvSpPr>
          <p:cNvPr id="64" name="tier-5-component-1"/>
          <p:cNvSpPr/>
          <p:nvPr/>
        </p:nvSpPr>
        <p:spPr>
          <a:xfrm>
            <a:off x="2076450" y="5353050"/>
            <a:ext cx="2324100" cy="523875"/>
          </a:xfrm>
          <a:prstGeom prst="rect">
            <a:avLst/>
          </a:prstGeom>
          <a:solidFill>
            <a:srgbClr val="422266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tier-5-component-1-name"/>
          <p:cNvSpPr txBox="1"/>
          <p:nvPr/>
        </p:nvSpPr>
        <p:spPr>
          <a:xfrm>
            <a:off x="2114550" y="542925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Accenture</a:t>
            </a:r>
          </a:p>
        </p:txBody>
      </p:sp>
      <p:sp>
        <p:nvSpPr>
          <p:cNvPr id="66" name="tier-5-component-1-meta"/>
          <p:cNvSpPr txBox="1"/>
          <p:nvPr/>
        </p:nvSpPr>
        <p:spPr>
          <a:xfrm>
            <a:off x="2114550" y="561975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BRAND DECK</a:t>
            </a:r>
          </a:p>
        </p:txBody>
      </p:sp>
      <p:sp>
        <p:nvSpPr>
          <p:cNvPr id="67" name="tier-5-component-2"/>
          <p:cNvSpPr/>
          <p:nvPr/>
        </p:nvSpPr>
        <p:spPr>
          <a:xfrm>
            <a:off x="4476750" y="5353050"/>
            <a:ext cx="2324100" cy="523875"/>
          </a:xfrm>
          <a:prstGeom prst="rect">
            <a:avLst/>
          </a:prstGeom>
          <a:solidFill>
            <a:srgbClr val="422266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tier-5-component-2-name"/>
          <p:cNvSpPr txBox="1"/>
          <p:nvPr/>
        </p:nvSpPr>
        <p:spPr>
          <a:xfrm>
            <a:off x="4514850" y="542925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FedEx</a:t>
            </a:r>
          </a:p>
        </p:txBody>
      </p:sp>
      <p:sp>
        <p:nvSpPr>
          <p:cNvPr id="69" name="tier-5-component-2-meta"/>
          <p:cNvSpPr txBox="1"/>
          <p:nvPr/>
        </p:nvSpPr>
        <p:spPr>
          <a:xfrm>
            <a:off x="4514850" y="561975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CLIENT DECK</a:t>
            </a:r>
          </a:p>
        </p:txBody>
      </p:sp>
      <p:sp>
        <p:nvSpPr>
          <p:cNvPr id="70" name="tier-5-component-3"/>
          <p:cNvSpPr/>
          <p:nvPr/>
        </p:nvSpPr>
        <p:spPr>
          <a:xfrm>
            <a:off x="6877050" y="5353050"/>
            <a:ext cx="2324100" cy="523875"/>
          </a:xfrm>
          <a:prstGeom prst="rect">
            <a:avLst/>
          </a:prstGeom>
          <a:solidFill>
            <a:srgbClr val="422266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tier-5-component-3-name"/>
          <p:cNvSpPr txBox="1"/>
          <p:nvPr/>
        </p:nvSpPr>
        <p:spPr>
          <a:xfrm>
            <a:off x="6915150" y="542925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Generic</a:t>
            </a:r>
          </a:p>
        </p:txBody>
      </p:sp>
      <p:sp>
        <p:nvSpPr>
          <p:cNvPr id="72" name="tier-5-component-3-meta"/>
          <p:cNvSpPr txBox="1"/>
          <p:nvPr/>
        </p:nvSpPr>
        <p:spPr>
          <a:xfrm>
            <a:off x="6915150" y="561975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FALLBACK</a:t>
            </a:r>
          </a:p>
        </p:txBody>
      </p:sp>
      <p:sp>
        <p:nvSpPr>
          <p:cNvPr id="73" name="cross-cutting-1-shape"/>
          <p:cNvSpPr/>
          <p:nvPr/>
        </p:nvSpPr>
        <p:spPr>
          <a:xfrm>
            <a:off x="9486900" y="2095500"/>
            <a:ext cx="1000125" cy="3886200"/>
          </a:xfrm>
          <a:prstGeom prst="rect">
            <a:avLst/>
          </a:prstGeom>
          <a:solidFill>
            <a:srgbClr val="1A0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cross-cutting-1-tag"/>
          <p:cNvSpPr txBox="1"/>
          <p:nvPr/>
        </p:nvSpPr>
        <p:spPr>
          <a:xfrm>
            <a:off x="9486900" y="2190750"/>
            <a:ext cx="10001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SPANS ALL LAYERS</a:t>
            </a:r>
          </a:p>
        </p:txBody>
      </p:sp>
      <p:sp>
        <p:nvSpPr>
          <p:cNvPr id="75" name="cross-cutting-1-label"/>
          <p:cNvSpPr txBox="1"/>
          <p:nvPr/>
        </p:nvSpPr>
        <p:spPr>
          <a:xfrm>
            <a:off x="9486900" y="3924300"/>
            <a:ext cx="100012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BRAND THEMING</a:t>
            </a:r>
          </a:p>
        </p:txBody>
      </p:sp>
      <p:sp>
        <p:nvSpPr>
          <p:cNvPr id="76" name="cross-cutting-2-shape"/>
          <p:cNvSpPr/>
          <p:nvPr/>
        </p:nvSpPr>
        <p:spPr>
          <a:xfrm>
            <a:off x="10582275" y="2095500"/>
            <a:ext cx="1000125" cy="388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cross-cutting-2-tag"/>
          <p:cNvSpPr txBox="1"/>
          <p:nvPr/>
        </p:nvSpPr>
        <p:spPr>
          <a:xfrm>
            <a:off x="10582275" y="2190750"/>
            <a:ext cx="10001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SPANS ALL LAYERS</a:t>
            </a:r>
          </a:p>
        </p:txBody>
      </p:sp>
      <p:sp>
        <p:nvSpPr>
          <p:cNvPr id="78" name="cross-cutting-2-label"/>
          <p:cNvSpPr txBox="1"/>
          <p:nvPr/>
        </p:nvSpPr>
        <p:spPr>
          <a:xfrm>
            <a:off x="10582275" y="3924300"/>
            <a:ext cx="100012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QC ENGINE</a:t>
            </a:r>
          </a:p>
        </p:txBody>
      </p:sp>
      <p:sp>
        <p:nvSpPr>
          <p:cNvPr id="79" name="convergence-bg"/>
          <p:cNvSpPr/>
          <p:nvPr/>
        </p:nvSpPr>
        <p:spPr>
          <a:xfrm>
            <a:off x="609600" y="6076950"/>
            <a:ext cx="10972800" cy="419100"/>
          </a:xfrm>
          <a:prstGeom prst="rect">
            <a:avLst/>
          </a:prstGeom>
          <a:solidFill>
            <a:srgbClr val="1A0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convergence"/>
          <p:cNvSpPr txBox="1"/>
          <p:nvPr/>
        </p:nvSpPr>
        <p:spPr>
          <a:xfrm>
            <a:off x="819150" y="6076950"/>
            <a:ext cx="105537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Five layers stacked top-to-bottom; brand theming and QC engine cut across every layer, end to end.</a:t>
            </a:r>
          </a:p>
        </p:txBody>
      </p:sp>
      <p:sp>
        <p:nvSpPr>
          <p:cNvPr id="8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8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8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71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