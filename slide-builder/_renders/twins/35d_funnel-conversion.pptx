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Where decks die — 1,000 initiated, 28 reach the client clean.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Annual deck-quality funnel across the practice. The leak isn't the pitch — it's the early structure.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funnel-stage-1-shape"/>
          <p:cNvSpPr/>
          <p:nvPr/>
        </p:nvSpPr>
        <p:spPr>
          <a:xfrm>
            <a:off x="1181100" y="1905000"/>
            <a:ext cx="5715000" cy="571500"/>
          </a:xfrm>
          <a:prstGeom prst="rect">
            <a:avLst/>
          </a:prstGeom>
          <a:solidFill>
            <a:srgbClr val="C780FF"/>
          </a:solidFill>
          <a:ln w="317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funnel-stage-1-name"/>
          <p:cNvSpPr txBox="1"/>
          <p:nvPr/>
        </p:nvSpPr>
        <p:spPr>
          <a:xfrm>
            <a:off x="1295400" y="201930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AWARENESS</a:t>
            </a:r>
          </a:p>
        </p:txBody>
      </p:sp>
      <p:sp>
        <p:nvSpPr>
          <p:cNvPr id="7" name="funnel-stage-1-count"/>
          <p:cNvSpPr txBox="1"/>
          <p:nvPr/>
        </p:nvSpPr>
        <p:spPr>
          <a:xfrm>
            <a:off x="1295400" y="2171700"/>
            <a:ext cx="5486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1,000</a:t>
            </a:r>
          </a:p>
        </p:txBody>
      </p:sp>
      <p:sp>
        <p:nvSpPr>
          <p:cNvPr id="8" name="funnel-stage-1-callout-bg"/>
          <p:cNvSpPr/>
          <p:nvPr/>
        </p:nvSpPr>
        <p:spPr>
          <a:xfrm>
            <a:off x="7848600" y="1905000"/>
            <a:ext cx="3238500" cy="571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funnel-stage-1-callout-border"/>
          <p:cNvSpPr/>
          <p:nvPr/>
        </p:nvSpPr>
        <p:spPr>
          <a:xfrm>
            <a:off x="7848600" y="1905000"/>
            <a:ext cx="28575" cy="571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funnel-stage-1-tag"/>
          <p:cNvSpPr txBox="1"/>
          <p:nvPr/>
        </p:nvSpPr>
        <p:spPr>
          <a:xfrm>
            <a:off x="7981950" y="1943100"/>
            <a:ext cx="3048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BIGGEST LEAK · SLIDE LAB PLAYS HERE</a:t>
            </a:r>
          </a:p>
        </p:txBody>
      </p:sp>
      <p:sp>
        <p:nvSpPr>
          <p:cNvPr id="11" name="funnel-stage-1-body"/>
          <p:cNvSpPr txBox="1"/>
          <p:nvPr/>
        </p:nvSpPr>
        <p:spPr>
          <a:xfrm>
            <a:off x="7981950" y="20764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Decks created in the practice over a year.</a:t>
            </a:r>
          </a:p>
        </p:txBody>
      </p:sp>
      <p:sp>
        <p:nvSpPr>
          <p:cNvPr id="12" name="funnel-stage-1-drop"/>
          <p:cNvSpPr txBox="1"/>
          <p:nvPr/>
        </p:nvSpPr>
        <p:spPr>
          <a:xfrm>
            <a:off x="7981950" y="22669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60% lost to blank-page paralysis &amp; workstream dumps.</a:t>
            </a:r>
          </a:p>
        </p:txBody>
      </p:sp>
      <p:sp>
        <p:nvSpPr>
          <p:cNvPr id="13" name="funnel-stage-2-shape"/>
          <p:cNvSpPr/>
          <p:nvPr/>
        </p:nvSpPr>
        <p:spPr>
          <a:xfrm>
            <a:off x="1800225" y="2533650"/>
            <a:ext cx="4476750" cy="571500"/>
          </a:xfrm>
          <a:prstGeom prst="rect">
            <a:avLst/>
          </a:prstGeom>
          <a:solidFill>
            <a:srgbClr val="A87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funnel-stage-2-name"/>
          <p:cNvSpPr txBox="1"/>
          <p:nvPr/>
        </p:nvSpPr>
        <p:spPr>
          <a:xfrm>
            <a:off x="1914525" y="2647950"/>
            <a:ext cx="4248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DRAFTS</a:t>
            </a:r>
          </a:p>
        </p:txBody>
      </p:sp>
      <p:sp>
        <p:nvSpPr>
          <p:cNvPr id="15" name="funnel-stage-2-count"/>
          <p:cNvSpPr txBox="1"/>
          <p:nvPr/>
        </p:nvSpPr>
        <p:spPr>
          <a:xfrm>
            <a:off x="1914525" y="280035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600</a:t>
            </a:r>
          </a:p>
        </p:txBody>
      </p:sp>
      <p:sp>
        <p:nvSpPr>
          <p:cNvPr id="16" name="funnel-stage-2-tag"/>
          <p:cNvSpPr txBox="1"/>
          <p:nvPr/>
        </p:nvSpPr>
        <p:spPr>
          <a:xfrm>
            <a:off x="7981950" y="2571750"/>
            <a:ext cx="3048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STAGE 2 · STRUCTURE FAILS</a:t>
            </a:r>
          </a:p>
        </p:txBody>
      </p:sp>
      <p:sp>
        <p:nvSpPr>
          <p:cNvPr id="17" name="funnel-stage-2-body"/>
          <p:cNvSpPr txBox="1"/>
          <p:nvPr/>
        </p:nvSpPr>
        <p:spPr>
          <a:xfrm>
            <a:off x="7981950" y="270510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Got past the workstream-findings dump into a storyline.</a:t>
            </a:r>
          </a:p>
        </p:txBody>
      </p:sp>
      <p:sp>
        <p:nvSpPr>
          <p:cNvPr id="18" name="funnel-stage-2-drop"/>
          <p:cNvSpPr txBox="1"/>
          <p:nvPr/>
        </p:nvSpPr>
        <p:spPr>
          <a:xfrm>
            <a:off x="7981950" y="289560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55% lost — story doesn't hold under partner review.</a:t>
            </a:r>
          </a:p>
        </p:txBody>
      </p:sp>
      <p:sp>
        <p:nvSpPr>
          <p:cNvPr id="19" name="funnel-stage-3-shape"/>
          <p:cNvSpPr/>
          <p:nvPr/>
        </p:nvSpPr>
        <p:spPr>
          <a:xfrm>
            <a:off x="2419350" y="3162300"/>
            <a:ext cx="3238500" cy="571500"/>
          </a:xfrm>
          <a:prstGeom prst="rect">
            <a:avLst/>
          </a:prstGeom>
          <a:solidFill>
            <a:srgbClr val="8B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funnel-stage-3-name"/>
          <p:cNvSpPr txBox="1"/>
          <p:nvPr/>
        </p:nvSpPr>
        <p:spPr>
          <a:xfrm>
            <a:off x="2533650" y="3276600"/>
            <a:ext cx="3009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REVIEWED</a:t>
            </a:r>
          </a:p>
        </p:txBody>
      </p:sp>
      <p:sp>
        <p:nvSpPr>
          <p:cNvPr id="21" name="funnel-stage-3-count"/>
          <p:cNvSpPr txBox="1"/>
          <p:nvPr/>
        </p:nvSpPr>
        <p:spPr>
          <a:xfrm>
            <a:off x="2533650" y="3429000"/>
            <a:ext cx="3009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270</a:t>
            </a:r>
          </a:p>
        </p:txBody>
      </p:sp>
      <p:sp>
        <p:nvSpPr>
          <p:cNvPr id="22" name="funnel-stage-3-tag"/>
          <p:cNvSpPr txBox="1"/>
          <p:nvPr/>
        </p:nvSpPr>
        <p:spPr>
          <a:xfrm>
            <a:off x="7981950" y="3200400"/>
            <a:ext cx="3048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STAGE 3 · REVIEW SLOG</a:t>
            </a:r>
          </a:p>
        </p:txBody>
      </p:sp>
      <p:sp>
        <p:nvSpPr>
          <p:cNvPr id="23" name="funnel-stage-3-body"/>
          <p:cNvSpPr txBox="1"/>
          <p:nvPr/>
        </p:nvSpPr>
        <p:spPr>
          <a:xfrm>
            <a:off x="7981950" y="33337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Made it to partner review without being fully mangled.</a:t>
            </a:r>
          </a:p>
        </p:txBody>
      </p:sp>
      <p:sp>
        <p:nvSpPr>
          <p:cNvPr id="24" name="funnel-stage-3-drop"/>
          <p:cNvSpPr txBox="1"/>
          <p:nvPr/>
        </p:nvSpPr>
        <p:spPr>
          <a:xfrm>
            <a:off x="7981950" y="35242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70% lost — heavy edits, redo cycles.</a:t>
            </a:r>
          </a:p>
        </p:txBody>
      </p:sp>
      <p:sp>
        <p:nvSpPr>
          <p:cNvPr id="25" name="funnel-stage-4-shape"/>
          <p:cNvSpPr/>
          <p:nvPr/>
        </p:nvSpPr>
        <p:spPr>
          <a:xfrm>
            <a:off x="2943225" y="3790950"/>
            <a:ext cx="2190750" cy="571500"/>
          </a:xfrm>
          <a:prstGeom prst="rect">
            <a:avLst/>
          </a:prstGeom>
          <a:solidFill>
            <a:srgbClr val="6F4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funnel-stage-4-name"/>
          <p:cNvSpPr txBox="1"/>
          <p:nvPr/>
        </p:nvSpPr>
        <p:spPr>
          <a:xfrm>
            <a:off x="3057525" y="3905250"/>
            <a:ext cx="1962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PARTNER-READY</a:t>
            </a:r>
          </a:p>
        </p:txBody>
      </p:sp>
      <p:sp>
        <p:nvSpPr>
          <p:cNvPr id="27" name="funnel-stage-4-count"/>
          <p:cNvSpPr txBox="1"/>
          <p:nvPr/>
        </p:nvSpPr>
        <p:spPr>
          <a:xfrm>
            <a:off x="3057525" y="4057650"/>
            <a:ext cx="19621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80</a:t>
            </a:r>
          </a:p>
        </p:txBody>
      </p:sp>
      <p:sp>
        <p:nvSpPr>
          <p:cNvPr id="28" name="funnel-stage-4-tag"/>
          <p:cNvSpPr txBox="1"/>
          <p:nvPr/>
        </p:nvSpPr>
        <p:spPr>
          <a:xfrm>
            <a:off x="7981950" y="3829050"/>
            <a:ext cx="3048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STAGE 4 · FINAL POLISH</a:t>
            </a:r>
          </a:p>
        </p:txBody>
      </p:sp>
      <p:sp>
        <p:nvSpPr>
          <p:cNvPr id="29" name="funnel-stage-4-body"/>
          <p:cNvSpPr txBox="1"/>
          <p:nvPr/>
        </p:nvSpPr>
        <p:spPr>
          <a:xfrm>
            <a:off x="7981950" y="396240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Partner signed off without major rework.</a:t>
            </a:r>
          </a:p>
        </p:txBody>
      </p:sp>
      <p:sp>
        <p:nvSpPr>
          <p:cNvPr id="30" name="funnel-stage-4-drop"/>
          <p:cNvSpPr txBox="1"/>
          <p:nvPr/>
        </p:nvSpPr>
        <p:spPr>
          <a:xfrm>
            <a:off x="7981950" y="415290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65% lost — late-stage edits before client send.</a:t>
            </a:r>
          </a:p>
        </p:txBody>
      </p:sp>
      <p:sp>
        <p:nvSpPr>
          <p:cNvPr id="31" name="funnel-stage-5-shape"/>
          <p:cNvSpPr/>
          <p:nvPr/>
        </p:nvSpPr>
        <p:spPr>
          <a:xfrm>
            <a:off x="3038475" y="4419600"/>
            <a:ext cx="2000250" cy="571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funnel-stage-5-name"/>
          <p:cNvSpPr txBox="1"/>
          <p:nvPr/>
        </p:nvSpPr>
        <p:spPr>
          <a:xfrm>
            <a:off x="3152775" y="4533900"/>
            <a:ext cx="17716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CLIENT-READY</a:t>
            </a:r>
          </a:p>
        </p:txBody>
      </p:sp>
      <p:sp>
        <p:nvSpPr>
          <p:cNvPr id="33" name="funnel-stage-5-count"/>
          <p:cNvSpPr txBox="1"/>
          <p:nvPr/>
        </p:nvSpPr>
        <p:spPr>
          <a:xfrm>
            <a:off x="3152775" y="4686300"/>
            <a:ext cx="1771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28</a:t>
            </a:r>
          </a:p>
        </p:txBody>
      </p:sp>
      <p:sp>
        <p:nvSpPr>
          <p:cNvPr id="34" name="funnel-stage-5-tag"/>
          <p:cNvSpPr txBox="1"/>
          <p:nvPr/>
        </p:nvSpPr>
        <p:spPr>
          <a:xfrm>
            <a:off x="7981950" y="4457700"/>
            <a:ext cx="3048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STAGE 5 · OUTCOME</a:t>
            </a:r>
          </a:p>
        </p:txBody>
      </p:sp>
      <p:sp>
        <p:nvSpPr>
          <p:cNvPr id="35" name="funnel-stage-5-body"/>
          <p:cNvSpPr txBox="1"/>
          <p:nvPr/>
        </p:nvSpPr>
        <p:spPr>
          <a:xfrm>
            <a:off x="7981950" y="45910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Survived the final review. Sent to client clean.</a:t>
            </a:r>
          </a:p>
        </p:txBody>
      </p:sp>
      <p:sp>
        <p:nvSpPr>
          <p:cNvPr id="36" name="funnel-stage-5-drop"/>
          <p:cNvSpPr txBox="1"/>
          <p:nvPr/>
        </p:nvSpPr>
        <p:spPr>
          <a:xfrm>
            <a:off x="7981950" y="47815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Just 2.8% end-to-end — 28 of 1,000.</a:t>
            </a:r>
          </a:p>
        </p:txBody>
      </p:sp>
      <p:sp>
        <p:nvSpPr>
          <p:cNvPr id="37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From 1,000 decks initiated to 28 client-ready — the leak isn't the pitch, it's the early structure.</a:t>
            </a:r>
          </a:p>
        </p:txBody>
      </p:sp>
      <p:sp>
        <p:nvSpPr>
          <p:cNvPr id="3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