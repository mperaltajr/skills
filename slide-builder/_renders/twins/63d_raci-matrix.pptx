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85725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1950" b="1" i="0">
                <a:solidFill>
                  <a:srgbClr val="FFFFFF"/>
                </a:solidFill>
                <a:latin typeface="Inter"/>
              </a:rPr>
              <a:t>Pilot RACI — who decides, who does, who's in the loop.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572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Five activities across the pilot lifecycle, mapped to five roles. One accountable per row keeps decisions unambiguous.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7300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legend-bg"/>
          <p:cNvSpPr/>
          <p:nvPr/>
        </p:nvSpPr>
        <p:spPr>
          <a:xfrm>
            <a:off x="6629400" y="2286000"/>
            <a:ext cx="4953000" cy="3429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legend-title"/>
          <p:cNvSpPr txBox="1"/>
          <p:nvPr/>
        </p:nvSpPr>
        <p:spPr>
          <a:xfrm>
            <a:off x="6724650" y="2286000"/>
            <a:ext cx="66675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RACI KEY</a:t>
            </a:r>
          </a:p>
        </p:txBody>
      </p:sp>
      <p:sp>
        <p:nvSpPr>
          <p:cNvPr id="7" name="legend-1-swatch"/>
          <p:cNvSpPr txBox="1"/>
          <p:nvPr/>
        </p:nvSpPr>
        <p:spPr>
          <a:xfrm>
            <a:off x="7486650" y="2371725"/>
            <a:ext cx="171450" cy="1714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</a:t>
            </a:r>
          </a:p>
        </p:txBody>
      </p:sp>
      <p:sp>
        <p:nvSpPr>
          <p:cNvPr id="8" name="legend-1-label"/>
          <p:cNvSpPr txBox="1"/>
          <p:nvPr/>
        </p:nvSpPr>
        <p:spPr>
          <a:xfrm>
            <a:off x="7696200" y="2390775"/>
            <a:ext cx="7429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Responsible</a:t>
            </a:r>
          </a:p>
        </p:txBody>
      </p:sp>
      <p:sp>
        <p:nvSpPr>
          <p:cNvPr id="9" name="legend-2-swatch"/>
          <p:cNvSpPr txBox="1"/>
          <p:nvPr/>
        </p:nvSpPr>
        <p:spPr>
          <a:xfrm>
            <a:off x="8486775" y="2371725"/>
            <a:ext cx="171450" cy="1714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A</a:t>
            </a:r>
          </a:p>
        </p:txBody>
      </p:sp>
      <p:sp>
        <p:nvSpPr>
          <p:cNvPr id="10" name="legend-2-label"/>
          <p:cNvSpPr txBox="1"/>
          <p:nvPr/>
        </p:nvSpPr>
        <p:spPr>
          <a:xfrm>
            <a:off x="8696325" y="2390775"/>
            <a:ext cx="7429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Accountable</a:t>
            </a:r>
          </a:p>
        </p:txBody>
      </p:sp>
      <p:sp>
        <p:nvSpPr>
          <p:cNvPr id="11" name="legend-3-swatch"/>
          <p:cNvSpPr txBox="1"/>
          <p:nvPr/>
        </p:nvSpPr>
        <p:spPr>
          <a:xfrm>
            <a:off x="9486900" y="2371725"/>
            <a:ext cx="171450" cy="1714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</a:t>
            </a:r>
          </a:p>
        </p:txBody>
      </p:sp>
      <p:sp>
        <p:nvSpPr>
          <p:cNvPr id="12" name="legend-3-label"/>
          <p:cNvSpPr txBox="1"/>
          <p:nvPr/>
        </p:nvSpPr>
        <p:spPr>
          <a:xfrm>
            <a:off x="9696450" y="2390775"/>
            <a:ext cx="7429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Consulted</a:t>
            </a:r>
          </a:p>
        </p:txBody>
      </p:sp>
      <p:sp>
        <p:nvSpPr>
          <p:cNvPr id="13" name="legend-4-swatch"/>
          <p:cNvSpPr txBox="1"/>
          <p:nvPr/>
        </p:nvSpPr>
        <p:spPr>
          <a:xfrm>
            <a:off x="10487025" y="2371725"/>
            <a:ext cx="171450" cy="17145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I</a:t>
            </a:r>
          </a:p>
        </p:txBody>
      </p:sp>
      <p:sp>
        <p:nvSpPr>
          <p:cNvPr id="14" name="legend-4-label"/>
          <p:cNvSpPr txBox="1"/>
          <p:nvPr/>
        </p:nvSpPr>
        <p:spPr>
          <a:xfrm>
            <a:off x="10696575" y="2390775"/>
            <a:ext cx="7429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Informed</a:t>
            </a:r>
          </a:p>
        </p:txBody>
      </p:sp>
      <p:sp>
        <p:nvSpPr>
          <p:cNvPr id="15" name="table-head-bg"/>
          <p:cNvSpPr/>
          <p:nvPr/>
        </p:nvSpPr>
        <p:spPr>
          <a:xfrm>
            <a:off x="457200" y="2762250"/>
            <a:ext cx="11277600" cy="419100"/>
          </a:xfrm>
          <a:prstGeom prst="rect">
            <a:avLst/>
          </a:prstGeom>
          <a:solidFill>
            <a:srgbClr val="1A0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able-col-1-header"/>
          <p:cNvSpPr txBox="1"/>
          <p:nvPr/>
        </p:nvSpPr>
        <p:spPr>
          <a:xfrm>
            <a:off x="590550" y="2762250"/>
            <a:ext cx="34671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ACTIVITY</a:t>
            </a:r>
          </a:p>
        </p:txBody>
      </p:sp>
      <p:sp>
        <p:nvSpPr>
          <p:cNvPr id="17" name="table-col-2-header"/>
          <p:cNvSpPr txBox="1"/>
          <p:nvPr/>
        </p:nvSpPr>
        <p:spPr>
          <a:xfrm>
            <a:off x="4057650" y="2819400"/>
            <a:ext cx="15335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PROGRAM MD</a:t>
            </a:r>
          </a:p>
        </p:txBody>
      </p:sp>
      <p:sp>
        <p:nvSpPr>
          <p:cNvPr id="18" name="table-col-2-sub"/>
          <p:cNvSpPr txBox="1"/>
          <p:nvPr/>
        </p:nvSpPr>
        <p:spPr>
          <a:xfrm>
            <a:off x="4057650" y="2990850"/>
            <a:ext cx="15335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80FF"/>
                </a:solidFill>
                <a:latin typeface="Inter"/>
              </a:rPr>
              <a:t>SPONSOR</a:t>
            </a:r>
          </a:p>
        </p:txBody>
      </p:sp>
      <p:sp>
        <p:nvSpPr>
          <p:cNvPr id="19" name="table-col-3-header"/>
          <p:cNvSpPr txBox="1"/>
          <p:nvPr/>
        </p:nvSpPr>
        <p:spPr>
          <a:xfrm>
            <a:off x="5591175" y="2819400"/>
            <a:ext cx="15335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WORKSTREAM LEAD</a:t>
            </a:r>
          </a:p>
        </p:txBody>
      </p:sp>
      <p:sp>
        <p:nvSpPr>
          <p:cNvPr id="20" name="table-col-3-sub"/>
          <p:cNvSpPr txBox="1"/>
          <p:nvPr/>
        </p:nvSpPr>
        <p:spPr>
          <a:xfrm>
            <a:off x="5591175" y="2990850"/>
            <a:ext cx="15335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80FF"/>
                </a:solidFill>
                <a:latin typeface="Inter"/>
              </a:rPr>
              <a:t>DELIVERY</a:t>
            </a:r>
          </a:p>
        </p:txBody>
      </p:sp>
      <p:sp>
        <p:nvSpPr>
          <p:cNvPr id="21" name="table-col-4-header"/>
          <p:cNvSpPr txBox="1"/>
          <p:nvPr/>
        </p:nvSpPr>
        <p:spPr>
          <a:xfrm>
            <a:off x="7124700" y="2819400"/>
            <a:ext cx="15335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SLIDE LAB COACH</a:t>
            </a:r>
          </a:p>
        </p:txBody>
      </p:sp>
      <p:sp>
        <p:nvSpPr>
          <p:cNvPr id="22" name="table-col-4-sub"/>
          <p:cNvSpPr txBox="1"/>
          <p:nvPr/>
        </p:nvSpPr>
        <p:spPr>
          <a:xfrm>
            <a:off x="7124700" y="2990850"/>
            <a:ext cx="15335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80FF"/>
                </a:solidFill>
                <a:latin typeface="Inter"/>
              </a:rPr>
              <a:t>METHOD</a:t>
            </a:r>
          </a:p>
        </p:txBody>
      </p:sp>
      <p:sp>
        <p:nvSpPr>
          <p:cNvPr id="23" name="table-col-5-header"/>
          <p:cNvSpPr txBox="1"/>
          <p:nvPr/>
        </p:nvSpPr>
        <p:spPr>
          <a:xfrm>
            <a:off x="8658225" y="2819400"/>
            <a:ext cx="15335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ANALYST</a:t>
            </a:r>
          </a:p>
        </p:txBody>
      </p:sp>
      <p:sp>
        <p:nvSpPr>
          <p:cNvPr id="24" name="table-col-5-sub"/>
          <p:cNvSpPr txBox="1"/>
          <p:nvPr/>
        </p:nvSpPr>
        <p:spPr>
          <a:xfrm>
            <a:off x="8658225" y="2990850"/>
            <a:ext cx="15335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80FF"/>
                </a:solidFill>
                <a:latin typeface="Inter"/>
              </a:rPr>
              <a:t>BUILD</a:t>
            </a:r>
          </a:p>
        </p:txBody>
      </p:sp>
      <p:sp>
        <p:nvSpPr>
          <p:cNvPr id="25" name="table-col-6-header"/>
          <p:cNvSpPr txBox="1"/>
          <p:nvPr/>
        </p:nvSpPr>
        <p:spPr>
          <a:xfrm>
            <a:off x="10191750" y="2819400"/>
            <a:ext cx="15335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PRACTICE PM</a:t>
            </a:r>
          </a:p>
        </p:txBody>
      </p:sp>
      <p:sp>
        <p:nvSpPr>
          <p:cNvPr id="26" name="table-col-6-sub"/>
          <p:cNvSpPr txBox="1"/>
          <p:nvPr/>
        </p:nvSpPr>
        <p:spPr>
          <a:xfrm>
            <a:off x="10191750" y="2990850"/>
            <a:ext cx="15335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80FF"/>
                </a:solidFill>
                <a:latin typeface="Inter"/>
              </a:rPr>
              <a:t>OPS</a:t>
            </a:r>
          </a:p>
        </p:txBody>
      </p:sp>
      <p:sp>
        <p:nvSpPr>
          <p:cNvPr id="27" name="row-1-act-bg"/>
          <p:cNvSpPr/>
          <p:nvPr/>
        </p:nvSpPr>
        <p:spPr>
          <a:xfrm>
            <a:off x="457200" y="3181350"/>
            <a:ext cx="3600450" cy="504825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table-row-1-num"/>
          <p:cNvSpPr txBox="1"/>
          <p:nvPr/>
        </p:nvSpPr>
        <p:spPr>
          <a:xfrm>
            <a:off x="590550" y="3295650"/>
            <a:ext cx="33337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ACTIVITY 1</a:t>
            </a:r>
          </a:p>
        </p:txBody>
      </p:sp>
      <p:sp>
        <p:nvSpPr>
          <p:cNvPr id="29" name="table-row-1-label"/>
          <p:cNvSpPr txBox="1"/>
          <p:nvPr/>
        </p:nvSpPr>
        <p:spPr>
          <a:xfrm>
            <a:off x="590550" y="3448050"/>
            <a:ext cx="3333750" cy="1619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Approve pilot scope</a:t>
            </a:r>
          </a:p>
        </p:txBody>
      </p:sp>
      <p:sp>
        <p:nvSpPr>
          <p:cNvPr id="30" name="table-row-1-cell-2"/>
          <p:cNvSpPr txBox="1"/>
          <p:nvPr/>
        </p:nvSpPr>
        <p:spPr>
          <a:xfrm>
            <a:off x="4676775" y="3286125"/>
            <a:ext cx="285750" cy="2857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A</a:t>
            </a:r>
          </a:p>
        </p:txBody>
      </p:sp>
      <p:sp>
        <p:nvSpPr>
          <p:cNvPr id="31" name="table-row-1-cell-3"/>
          <p:cNvSpPr txBox="1"/>
          <p:nvPr/>
        </p:nvSpPr>
        <p:spPr>
          <a:xfrm>
            <a:off x="6210300" y="3286125"/>
            <a:ext cx="285750" cy="2857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</a:t>
            </a:r>
          </a:p>
        </p:txBody>
      </p:sp>
      <p:sp>
        <p:nvSpPr>
          <p:cNvPr id="32" name="table-row-1-cell-4"/>
          <p:cNvSpPr txBox="1"/>
          <p:nvPr/>
        </p:nvSpPr>
        <p:spPr>
          <a:xfrm>
            <a:off x="7743825" y="3286125"/>
            <a:ext cx="285750" cy="28575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I</a:t>
            </a:r>
          </a:p>
        </p:txBody>
      </p:sp>
      <p:sp>
        <p:nvSpPr>
          <p:cNvPr id="33" name="table-row-1-cell-5"/>
          <p:cNvSpPr txBox="1"/>
          <p:nvPr/>
        </p:nvSpPr>
        <p:spPr>
          <a:xfrm>
            <a:off x="9277350" y="3286125"/>
            <a:ext cx="285750" cy="28575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I</a:t>
            </a:r>
          </a:p>
        </p:txBody>
      </p:sp>
      <p:sp>
        <p:nvSpPr>
          <p:cNvPr id="34" name="table-row-1-cell-6"/>
          <p:cNvSpPr txBox="1"/>
          <p:nvPr/>
        </p:nvSpPr>
        <p:spPr>
          <a:xfrm>
            <a:off x="10810875" y="3286125"/>
            <a:ext cx="285750" cy="2857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</a:t>
            </a:r>
          </a:p>
        </p:txBody>
      </p:sp>
      <p:sp>
        <p:nvSpPr>
          <p:cNvPr id="35" name="row-2-act-bg"/>
          <p:cNvSpPr/>
          <p:nvPr/>
        </p:nvSpPr>
        <p:spPr>
          <a:xfrm>
            <a:off x="457200" y="3686175"/>
            <a:ext cx="3600450" cy="504825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table-row-2-num"/>
          <p:cNvSpPr txBox="1"/>
          <p:nvPr/>
        </p:nvSpPr>
        <p:spPr>
          <a:xfrm>
            <a:off x="590550" y="3800475"/>
            <a:ext cx="33337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ACTIVITY 2</a:t>
            </a:r>
          </a:p>
        </p:txBody>
      </p:sp>
      <p:sp>
        <p:nvSpPr>
          <p:cNvPr id="37" name="table-row-2-label"/>
          <p:cNvSpPr txBox="1"/>
          <p:nvPr/>
        </p:nvSpPr>
        <p:spPr>
          <a:xfrm>
            <a:off x="590550" y="3952875"/>
            <a:ext cx="3333750" cy="1619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Run storyline sessions</a:t>
            </a:r>
          </a:p>
        </p:txBody>
      </p:sp>
      <p:sp>
        <p:nvSpPr>
          <p:cNvPr id="38" name="row-2-rule-0"/>
          <p:cNvSpPr/>
          <p:nvPr/>
        </p:nvSpPr>
        <p:spPr>
          <a:xfrm>
            <a:off x="4057650" y="3686175"/>
            <a:ext cx="1533525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" name="table-row-2-cell-2"/>
          <p:cNvSpPr txBox="1"/>
          <p:nvPr/>
        </p:nvSpPr>
        <p:spPr>
          <a:xfrm>
            <a:off x="4676775" y="3790950"/>
            <a:ext cx="285750" cy="28575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I</a:t>
            </a:r>
          </a:p>
        </p:txBody>
      </p:sp>
      <p:sp>
        <p:nvSpPr>
          <p:cNvPr id="40" name="row-2-rule-1"/>
          <p:cNvSpPr/>
          <p:nvPr/>
        </p:nvSpPr>
        <p:spPr>
          <a:xfrm>
            <a:off x="5591175" y="3686175"/>
            <a:ext cx="1533525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" name="table-row-2-cell-3"/>
          <p:cNvSpPr txBox="1"/>
          <p:nvPr/>
        </p:nvSpPr>
        <p:spPr>
          <a:xfrm>
            <a:off x="6210300" y="3790950"/>
            <a:ext cx="285750" cy="2857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</a:t>
            </a:r>
          </a:p>
        </p:txBody>
      </p:sp>
      <p:sp>
        <p:nvSpPr>
          <p:cNvPr id="42" name="row-2-rule-2"/>
          <p:cNvSpPr/>
          <p:nvPr/>
        </p:nvSpPr>
        <p:spPr>
          <a:xfrm>
            <a:off x="7124700" y="3686175"/>
            <a:ext cx="1533525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table-row-2-cell-4"/>
          <p:cNvSpPr txBox="1"/>
          <p:nvPr/>
        </p:nvSpPr>
        <p:spPr>
          <a:xfrm>
            <a:off x="7581900" y="3790950"/>
            <a:ext cx="285750" cy="2857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A</a:t>
            </a:r>
          </a:p>
        </p:txBody>
      </p:sp>
      <p:sp>
        <p:nvSpPr>
          <p:cNvPr id="44" name="table-row-2-cell-4-extra-1"/>
          <p:cNvSpPr txBox="1"/>
          <p:nvPr/>
        </p:nvSpPr>
        <p:spPr>
          <a:xfrm>
            <a:off x="7915275" y="3790950"/>
            <a:ext cx="285750" cy="2857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</a:t>
            </a:r>
          </a:p>
        </p:txBody>
      </p:sp>
      <p:sp>
        <p:nvSpPr>
          <p:cNvPr id="45" name="row-2-rule-3"/>
          <p:cNvSpPr/>
          <p:nvPr/>
        </p:nvSpPr>
        <p:spPr>
          <a:xfrm>
            <a:off x="8658225" y="3686175"/>
            <a:ext cx="1533525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table-row-2-cell-5"/>
          <p:cNvSpPr txBox="1"/>
          <p:nvPr/>
        </p:nvSpPr>
        <p:spPr>
          <a:xfrm>
            <a:off x="9277350" y="3790950"/>
            <a:ext cx="285750" cy="2857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</a:t>
            </a:r>
          </a:p>
        </p:txBody>
      </p:sp>
      <p:sp>
        <p:nvSpPr>
          <p:cNvPr id="47" name="row-2-rule-4"/>
          <p:cNvSpPr/>
          <p:nvPr/>
        </p:nvSpPr>
        <p:spPr>
          <a:xfrm>
            <a:off x="10191750" y="3686175"/>
            <a:ext cx="1533525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" name="table-row-2-cell-6"/>
          <p:cNvSpPr txBox="1"/>
          <p:nvPr/>
        </p:nvSpPr>
        <p:spPr>
          <a:xfrm>
            <a:off x="10810875" y="3790950"/>
            <a:ext cx="285750" cy="28575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I</a:t>
            </a:r>
          </a:p>
        </p:txBody>
      </p:sp>
      <p:sp>
        <p:nvSpPr>
          <p:cNvPr id="49" name="row-3-act-bg"/>
          <p:cNvSpPr/>
          <p:nvPr/>
        </p:nvSpPr>
        <p:spPr>
          <a:xfrm>
            <a:off x="457200" y="4191000"/>
            <a:ext cx="3600450" cy="504825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" name="table-row-3-num"/>
          <p:cNvSpPr txBox="1"/>
          <p:nvPr/>
        </p:nvSpPr>
        <p:spPr>
          <a:xfrm>
            <a:off x="590550" y="4305300"/>
            <a:ext cx="33337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ACTIVITY 3</a:t>
            </a:r>
          </a:p>
        </p:txBody>
      </p:sp>
      <p:sp>
        <p:nvSpPr>
          <p:cNvPr id="51" name="table-row-3-label"/>
          <p:cNvSpPr txBox="1"/>
          <p:nvPr/>
        </p:nvSpPr>
        <p:spPr>
          <a:xfrm>
            <a:off x="590550" y="4457700"/>
            <a:ext cx="3333750" cy="1619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Build decks</a:t>
            </a:r>
          </a:p>
        </p:txBody>
      </p:sp>
      <p:sp>
        <p:nvSpPr>
          <p:cNvPr id="52" name="row-3-rule-0"/>
          <p:cNvSpPr/>
          <p:nvPr/>
        </p:nvSpPr>
        <p:spPr>
          <a:xfrm>
            <a:off x="4057650" y="4191000"/>
            <a:ext cx="1533525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3" name="table-row-3-cell-2"/>
          <p:cNvSpPr txBox="1"/>
          <p:nvPr/>
        </p:nvSpPr>
        <p:spPr>
          <a:xfrm>
            <a:off x="4676775" y="4295775"/>
            <a:ext cx="285750" cy="28575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I</a:t>
            </a:r>
          </a:p>
        </p:txBody>
      </p:sp>
      <p:sp>
        <p:nvSpPr>
          <p:cNvPr id="54" name="row-3-rule-1"/>
          <p:cNvSpPr/>
          <p:nvPr/>
        </p:nvSpPr>
        <p:spPr>
          <a:xfrm>
            <a:off x="5591175" y="4191000"/>
            <a:ext cx="1533525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5" name="table-row-3-cell-3"/>
          <p:cNvSpPr txBox="1"/>
          <p:nvPr/>
        </p:nvSpPr>
        <p:spPr>
          <a:xfrm>
            <a:off x="6210300" y="4295775"/>
            <a:ext cx="285750" cy="2857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A</a:t>
            </a:r>
          </a:p>
        </p:txBody>
      </p:sp>
      <p:sp>
        <p:nvSpPr>
          <p:cNvPr id="56" name="row-3-rule-2"/>
          <p:cNvSpPr/>
          <p:nvPr/>
        </p:nvSpPr>
        <p:spPr>
          <a:xfrm>
            <a:off x="7124700" y="4191000"/>
            <a:ext cx="1533525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" name="table-row-3-cell-4"/>
          <p:cNvSpPr txBox="1"/>
          <p:nvPr/>
        </p:nvSpPr>
        <p:spPr>
          <a:xfrm>
            <a:off x="7743825" y="4295775"/>
            <a:ext cx="285750" cy="2857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</a:t>
            </a:r>
          </a:p>
        </p:txBody>
      </p:sp>
      <p:sp>
        <p:nvSpPr>
          <p:cNvPr id="58" name="row-3-rule-3"/>
          <p:cNvSpPr/>
          <p:nvPr/>
        </p:nvSpPr>
        <p:spPr>
          <a:xfrm>
            <a:off x="8658225" y="4191000"/>
            <a:ext cx="1533525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9" name="table-row-3-cell-5"/>
          <p:cNvSpPr txBox="1"/>
          <p:nvPr/>
        </p:nvSpPr>
        <p:spPr>
          <a:xfrm>
            <a:off x="9277350" y="4295775"/>
            <a:ext cx="285750" cy="2857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</a:t>
            </a:r>
          </a:p>
        </p:txBody>
      </p:sp>
      <p:sp>
        <p:nvSpPr>
          <p:cNvPr id="60" name="row-3-rule-4"/>
          <p:cNvSpPr/>
          <p:nvPr/>
        </p:nvSpPr>
        <p:spPr>
          <a:xfrm>
            <a:off x="10191750" y="4191000"/>
            <a:ext cx="1533525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1" name="table-row-3-cell-6"/>
          <p:cNvSpPr txBox="1"/>
          <p:nvPr/>
        </p:nvSpPr>
        <p:spPr>
          <a:xfrm>
            <a:off x="10810875" y="4295775"/>
            <a:ext cx="285750" cy="28575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I</a:t>
            </a:r>
          </a:p>
        </p:txBody>
      </p:sp>
      <p:sp>
        <p:nvSpPr>
          <p:cNvPr id="62" name="row-4-act-bg"/>
          <p:cNvSpPr/>
          <p:nvPr/>
        </p:nvSpPr>
        <p:spPr>
          <a:xfrm>
            <a:off x="457200" y="4695825"/>
            <a:ext cx="3600450" cy="504825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3" name="table-row-4-num"/>
          <p:cNvSpPr txBox="1"/>
          <p:nvPr/>
        </p:nvSpPr>
        <p:spPr>
          <a:xfrm>
            <a:off x="590550" y="4810125"/>
            <a:ext cx="33337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ACTIVITY 4</a:t>
            </a:r>
          </a:p>
        </p:txBody>
      </p:sp>
      <p:sp>
        <p:nvSpPr>
          <p:cNvPr id="64" name="table-row-4-label"/>
          <p:cNvSpPr txBox="1"/>
          <p:nvPr/>
        </p:nvSpPr>
        <p:spPr>
          <a:xfrm>
            <a:off x="590550" y="4962525"/>
            <a:ext cx="3333750" cy="1619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Weekly review</a:t>
            </a:r>
          </a:p>
        </p:txBody>
      </p:sp>
      <p:sp>
        <p:nvSpPr>
          <p:cNvPr id="65" name="row-4-rule-0"/>
          <p:cNvSpPr/>
          <p:nvPr/>
        </p:nvSpPr>
        <p:spPr>
          <a:xfrm>
            <a:off x="4057650" y="4695825"/>
            <a:ext cx="1533525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6" name="table-row-4-cell-2"/>
          <p:cNvSpPr txBox="1"/>
          <p:nvPr/>
        </p:nvSpPr>
        <p:spPr>
          <a:xfrm>
            <a:off x="4676775" y="4800600"/>
            <a:ext cx="285750" cy="2857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A</a:t>
            </a:r>
          </a:p>
        </p:txBody>
      </p:sp>
      <p:sp>
        <p:nvSpPr>
          <p:cNvPr id="67" name="row-4-rule-1"/>
          <p:cNvSpPr/>
          <p:nvPr/>
        </p:nvSpPr>
        <p:spPr>
          <a:xfrm>
            <a:off x="5591175" y="4695825"/>
            <a:ext cx="1533525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8" name="table-row-4-cell-3"/>
          <p:cNvSpPr txBox="1"/>
          <p:nvPr/>
        </p:nvSpPr>
        <p:spPr>
          <a:xfrm>
            <a:off x="6210300" y="4800600"/>
            <a:ext cx="285750" cy="2857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</a:t>
            </a:r>
          </a:p>
        </p:txBody>
      </p:sp>
      <p:sp>
        <p:nvSpPr>
          <p:cNvPr id="69" name="row-4-rule-2"/>
          <p:cNvSpPr/>
          <p:nvPr/>
        </p:nvSpPr>
        <p:spPr>
          <a:xfrm>
            <a:off x="7124700" y="4695825"/>
            <a:ext cx="1533525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0" name="table-row-4-cell-4"/>
          <p:cNvSpPr txBox="1"/>
          <p:nvPr/>
        </p:nvSpPr>
        <p:spPr>
          <a:xfrm>
            <a:off x="7743825" y="4800600"/>
            <a:ext cx="285750" cy="2857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</a:t>
            </a:r>
          </a:p>
        </p:txBody>
      </p:sp>
      <p:sp>
        <p:nvSpPr>
          <p:cNvPr id="71" name="row-4-rule-3"/>
          <p:cNvSpPr/>
          <p:nvPr/>
        </p:nvSpPr>
        <p:spPr>
          <a:xfrm>
            <a:off x="8658225" y="4695825"/>
            <a:ext cx="1533525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2" name="table-row-4-cell-5"/>
          <p:cNvSpPr txBox="1"/>
          <p:nvPr/>
        </p:nvSpPr>
        <p:spPr>
          <a:xfrm>
            <a:off x="9277350" y="4800600"/>
            <a:ext cx="285750" cy="28575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I</a:t>
            </a:r>
          </a:p>
        </p:txBody>
      </p:sp>
      <p:sp>
        <p:nvSpPr>
          <p:cNvPr id="73" name="row-4-rule-4"/>
          <p:cNvSpPr/>
          <p:nvPr/>
        </p:nvSpPr>
        <p:spPr>
          <a:xfrm>
            <a:off x="10191750" y="4695825"/>
            <a:ext cx="1533525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4" name="table-row-4-cell-6"/>
          <p:cNvSpPr txBox="1"/>
          <p:nvPr/>
        </p:nvSpPr>
        <p:spPr>
          <a:xfrm>
            <a:off x="10810875" y="4800600"/>
            <a:ext cx="285750" cy="28575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I</a:t>
            </a:r>
          </a:p>
        </p:txBody>
      </p:sp>
      <p:sp>
        <p:nvSpPr>
          <p:cNvPr id="75" name="row-5-act-bg"/>
          <p:cNvSpPr/>
          <p:nvPr/>
        </p:nvSpPr>
        <p:spPr>
          <a:xfrm>
            <a:off x="457200" y="5200650"/>
            <a:ext cx="3600450" cy="504825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6" name="table-row-5-num"/>
          <p:cNvSpPr txBox="1"/>
          <p:nvPr/>
        </p:nvSpPr>
        <p:spPr>
          <a:xfrm>
            <a:off x="590550" y="5314950"/>
            <a:ext cx="33337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ACTIVITY 5</a:t>
            </a:r>
          </a:p>
        </p:txBody>
      </p:sp>
      <p:sp>
        <p:nvSpPr>
          <p:cNvPr id="77" name="table-row-5-label"/>
          <p:cNvSpPr txBox="1"/>
          <p:nvPr/>
        </p:nvSpPr>
        <p:spPr>
          <a:xfrm>
            <a:off x="590550" y="5467350"/>
            <a:ext cx="3333750" cy="1619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Decide on rollout</a:t>
            </a:r>
          </a:p>
        </p:txBody>
      </p:sp>
      <p:sp>
        <p:nvSpPr>
          <p:cNvPr id="78" name="row-5-rule-0"/>
          <p:cNvSpPr/>
          <p:nvPr/>
        </p:nvSpPr>
        <p:spPr>
          <a:xfrm>
            <a:off x="4057650" y="5200650"/>
            <a:ext cx="1533525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9" name="table-row-5-cell-2"/>
          <p:cNvSpPr txBox="1"/>
          <p:nvPr/>
        </p:nvSpPr>
        <p:spPr>
          <a:xfrm>
            <a:off x="4676775" y="5305425"/>
            <a:ext cx="285750" cy="2857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A</a:t>
            </a:r>
          </a:p>
        </p:txBody>
      </p:sp>
      <p:sp>
        <p:nvSpPr>
          <p:cNvPr id="80" name="row-5-rule-1"/>
          <p:cNvSpPr/>
          <p:nvPr/>
        </p:nvSpPr>
        <p:spPr>
          <a:xfrm>
            <a:off x="5591175" y="5200650"/>
            <a:ext cx="1533525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1" name="table-row-5-cell-3"/>
          <p:cNvSpPr txBox="1"/>
          <p:nvPr/>
        </p:nvSpPr>
        <p:spPr>
          <a:xfrm>
            <a:off x="6210300" y="5305425"/>
            <a:ext cx="285750" cy="2857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</a:t>
            </a:r>
          </a:p>
        </p:txBody>
      </p:sp>
      <p:sp>
        <p:nvSpPr>
          <p:cNvPr id="82" name="row-5-rule-2"/>
          <p:cNvSpPr/>
          <p:nvPr/>
        </p:nvSpPr>
        <p:spPr>
          <a:xfrm>
            <a:off x="7124700" y="5200650"/>
            <a:ext cx="1533525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3" name="table-row-5-cell-4"/>
          <p:cNvSpPr txBox="1"/>
          <p:nvPr/>
        </p:nvSpPr>
        <p:spPr>
          <a:xfrm>
            <a:off x="7743825" y="5305425"/>
            <a:ext cx="285750" cy="28575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I</a:t>
            </a:r>
          </a:p>
        </p:txBody>
      </p:sp>
      <p:sp>
        <p:nvSpPr>
          <p:cNvPr id="84" name="row-5-rule-3"/>
          <p:cNvSpPr/>
          <p:nvPr/>
        </p:nvSpPr>
        <p:spPr>
          <a:xfrm>
            <a:off x="8658225" y="5200650"/>
            <a:ext cx="1533525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5" name="table-row-5-cell-5"/>
          <p:cNvSpPr txBox="1"/>
          <p:nvPr/>
        </p:nvSpPr>
        <p:spPr>
          <a:xfrm>
            <a:off x="9277350" y="5305425"/>
            <a:ext cx="285750" cy="28575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I</a:t>
            </a:r>
          </a:p>
        </p:txBody>
      </p:sp>
      <p:sp>
        <p:nvSpPr>
          <p:cNvPr id="86" name="row-5-rule-4"/>
          <p:cNvSpPr/>
          <p:nvPr/>
        </p:nvSpPr>
        <p:spPr>
          <a:xfrm>
            <a:off x="10191750" y="5200650"/>
            <a:ext cx="1533525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7" name="table-row-5-cell-6"/>
          <p:cNvSpPr txBox="1"/>
          <p:nvPr/>
        </p:nvSpPr>
        <p:spPr>
          <a:xfrm>
            <a:off x="10810875" y="5305425"/>
            <a:ext cx="285750" cy="2857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</a:t>
            </a:r>
          </a:p>
        </p:txBody>
      </p:sp>
      <p:sp>
        <p:nvSpPr>
          <p:cNvPr id="88" name="convergence-bg"/>
          <p:cNvSpPr/>
          <p:nvPr/>
        </p:nvSpPr>
        <p:spPr>
          <a:xfrm>
            <a:off x="457200" y="5829300"/>
            <a:ext cx="11277600" cy="476250"/>
          </a:xfrm>
          <a:prstGeom prst="rect">
            <a:avLst/>
          </a:prstGeom>
          <a:solidFill>
            <a:srgbClr val="1A0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9" name="convergence-mark"/>
          <p:cNvSpPr txBox="1"/>
          <p:nvPr/>
        </p:nvSpPr>
        <p:spPr>
          <a:xfrm>
            <a:off x="628650" y="5962650"/>
            <a:ext cx="6667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SO WHAT</a:t>
            </a:r>
          </a:p>
        </p:txBody>
      </p:sp>
      <p:sp>
        <p:nvSpPr>
          <p:cNvPr id="90" name="convergence-tag-frame"/>
          <p:cNvSpPr/>
          <p:nvPr/>
        </p:nvSpPr>
        <p:spPr>
          <a:xfrm>
            <a:off x="571500" y="5943600"/>
            <a:ext cx="762000" cy="228600"/>
          </a:xfrm>
          <a:prstGeom prst="rect">
            <a:avLst/>
          </a:prstGeom>
          <a:solidFill>
            <a:srgbClr val="1A0530"/>
          </a:solidFill>
          <a:ln w="9525">
            <a:solidFill>
              <a:srgbClr val="C7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1" name="convergence"/>
          <p:cNvSpPr txBox="1"/>
          <p:nvPr/>
        </p:nvSpPr>
        <p:spPr>
          <a:xfrm>
            <a:off x="1524000" y="5829300"/>
            <a:ext cx="1013460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Two A's on any row means no one's accountable. Watch the A column — exactly one per activity, no exceptions.</a:t>
            </a:r>
          </a:p>
        </p:txBody>
      </p:sp>
      <p:sp>
        <p:nvSpPr>
          <p:cNvPr id="92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93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94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63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