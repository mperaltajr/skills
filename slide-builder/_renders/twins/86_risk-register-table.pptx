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RISK REGISTER · PILOT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1A1A2E"/>
                </a:solidFill>
                <a:latin typeface="Inter"/>
              </a:rPr>
              <a:t>Risk register — six tracked, two reds with mitigation owners.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47750"/>
            <a:ext cx="7810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Detail backing the heat map: each risk has impact/likelihood, current RAG, owned mitigation, and a single accountable name. Ordered by RAG, reds on top.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763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ag-legend"/>
          <p:cNvSpPr/>
          <p:nvPr/>
        </p:nvSpPr>
        <p:spPr>
          <a:xfrm>
            <a:off x="7962900" y="1524000"/>
            <a:ext cx="3619500" cy="381000"/>
          </a:xfrm>
          <a:prstGeom prst="rect">
            <a:avLst/>
          </a:prstGeom>
          <a:solidFill>
            <a:srgbClr val="FBFAFD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8058150" y="1647825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RAG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8439150" y="1676400"/>
            <a:ext cx="95250" cy="952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label"/>
          <p:cNvSpPr txBox="1"/>
          <p:nvPr/>
        </p:nvSpPr>
        <p:spPr>
          <a:xfrm>
            <a:off x="8591550" y="16478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GREEN</a:t>
            </a:r>
          </a:p>
        </p:txBody>
      </p:sp>
      <p:sp>
        <p:nvSpPr>
          <p:cNvPr id="10" name="legend-2-swatch"/>
          <p:cNvSpPr/>
          <p:nvPr/>
        </p:nvSpPr>
        <p:spPr>
          <a:xfrm>
            <a:off x="9486900" y="1676400"/>
            <a:ext cx="95250" cy="952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2-label"/>
          <p:cNvSpPr txBox="1"/>
          <p:nvPr/>
        </p:nvSpPr>
        <p:spPr>
          <a:xfrm>
            <a:off x="9639300" y="16478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AMBER</a:t>
            </a:r>
          </a:p>
        </p:txBody>
      </p:sp>
      <p:sp>
        <p:nvSpPr>
          <p:cNvPr id="12" name="legend-3-swatch"/>
          <p:cNvSpPr/>
          <p:nvPr/>
        </p:nvSpPr>
        <p:spPr>
          <a:xfrm>
            <a:off x="10534650" y="1676400"/>
            <a:ext cx="9525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3-label"/>
          <p:cNvSpPr txBox="1"/>
          <p:nvPr/>
        </p:nvSpPr>
        <p:spPr>
          <a:xfrm>
            <a:off x="10687050" y="16478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RED</a:t>
            </a:r>
          </a:p>
        </p:txBody>
      </p:sp>
      <p:sp>
        <p:nvSpPr>
          <p:cNvPr id="14" name="table-head-bg"/>
          <p:cNvSpPr/>
          <p:nvPr/>
        </p:nvSpPr>
        <p:spPr>
          <a:xfrm>
            <a:off x="457200" y="2076450"/>
            <a:ext cx="112776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col-1-header"/>
          <p:cNvSpPr txBox="1"/>
          <p:nvPr/>
        </p:nvSpPr>
        <p:spPr>
          <a:xfrm>
            <a:off x="533400" y="2152650"/>
            <a:ext cx="295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16" name="table-col-2-header"/>
          <p:cNvSpPr txBox="1"/>
          <p:nvPr/>
        </p:nvSpPr>
        <p:spPr>
          <a:xfrm>
            <a:off x="981075" y="2152650"/>
            <a:ext cx="2771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 DESCRIPTION</a:t>
            </a:r>
          </a:p>
        </p:txBody>
      </p:sp>
      <p:sp>
        <p:nvSpPr>
          <p:cNvPr id="17" name="table-col-3-header"/>
          <p:cNvSpPr txBox="1"/>
          <p:nvPr/>
        </p:nvSpPr>
        <p:spPr>
          <a:xfrm>
            <a:off x="3905250" y="215265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18" name="table-col-4-header"/>
          <p:cNvSpPr txBox="1"/>
          <p:nvPr/>
        </p:nvSpPr>
        <p:spPr>
          <a:xfrm>
            <a:off x="4686300" y="215265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LIKELIHOOD</a:t>
            </a:r>
          </a:p>
        </p:txBody>
      </p:sp>
      <p:sp>
        <p:nvSpPr>
          <p:cNvPr id="19" name="table-col-5-header"/>
          <p:cNvSpPr txBox="1"/>
          <p:nvPr/>
        </p:nvSpPr>
        <p:spPr>
          <a:xfrm>
            <a:off x="5695950" y="2152650"/>
            <a:ext cx="1085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RAG</a:t>
            </a:r>
          </a:p>
        </p:txBody>
      </p:sp>
      <p:sp>
        <p:nvSpPr>
          <p:cNvPr id="20" name="table-col-6-header"/>
          <p:cNvSpPr txBox="1"/>
          <p:nvPr/>
        </p:nvSpPr>
        <p:spPr>
          <a:xfrm>
            <a:off x="6934200" y="2152650"/>
            <a:ext cx="30003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MITIGATION</a:t>
            </a:r>
          </a:p>
        </p:txBody>
      </p:sp>
      <p:sp>
        <p:nvSpPr>
          <p:cNvPr id="21" name="table-col-7-header"/>
          <p:cNvSpPr txBox="1"/>
          <p:nvPr/>
        </p:nvSpPr>
        <p:spPr>
          <a:xfrm>
            <a:off x="10086975" y="2152650"/>
            <a:ext cx="15716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22" name="table-row-1-bg"/>
          <p:cNvSpPr/>
          <p:nvPr/>
        </p:nvSpPr>
        <p:spPr>
          <a:xfrm>
            <a:off x="457200" y="2381250"/>
            <a:ext cx="11277600" cy="4191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flag"/>
          <p:cNvSpPr/>
          <p:nvPr/>
        </p:nvSpPr>
        <p:spPr>
          <a:xfrm>
            <a:off x="457200" y="2381250"/>
            <a:ext cx="28575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divider"/>
          <p:cNvSpPr/>
          <p:nvPr/>
        </p:nvSpPr>
        <p:spPr>
          <a:xfrm>
            <a:off x="457200" y="23812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1-num"/>
          <p:cNvSpPr txBox="1"/>
          <p:nvPr/>
        </p:nvSpPr>
        <p:spPr>
          <a:xfrm>
            <a:off x="457200" y="24765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R1</a:t>
            </a:r>
          </a:p>
        </p:txBody>
      </p:sp>
      <p:sp>
        <p:nvSpPr>
          <p:cNvPr id="26" name="table-row-1-cell-2"/>
          <p:cNvSpPr txBox="1"/>
          <p:nvPr/>
        </p:nvSpPr>
        <p:spPr>
          <a:xfrm>
            <a:off x="981075" y="24765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Stakeholder withdrawal mid-pilot</a:t>
            </a:r>
          </a:p>
        </p:txBody>
      </p:sp>
      <p:sp>
        <p:nvSpPr>
          <p:cNvPr id="27" name="table-row-1-cell-3"/>
          <p:cNvSpPr txBox="1"/>
          <p:nvPr/>
        </p:nvSpPr>
        <p:spPr>
          <a:xfrm>
            <a:off x="4067175" y="2495550"/>
            <a:ext cx="30480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28" name="table-row-1-cell-4"/>
          <p:cNvSpPr txBox="1"/>
          <p:nvPr/>
        </p:nvSpPr>
        <p:spPr>
          <a:xfrm>
            <a:off x="4962525" y="2495550"/>
            <a:ext cx="3048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M</a:t>
            </a:r>
          </a:p>
        </p:txBody>
      </p:sp>
      <p:sp>
        <p:nvSpPr>
          <p:cNvPr id="29" name="table-row-1-status-pill"/>
          <p:cNvSpPr txBox="1"/>
          <p:nvPr/>
        </p:nvSpPr>
        <p:spPr>
          <a:xfrm>
            <a:off x="5857875" y="2495550"/>
            <a:ext cx="76200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RED</a:t>
            </a:r>
          </a:p>
        </p:txBody>
      </p:sp>
      <p:sp>
        <p:nvSpPr>
          <p:cNvPr id="30" name="table-row-1-rag-dot"/>
          <p:cNvSpPr/>
          <p:nvPr/>
        </p:nvSpPr>
        <p:spPr>
          <a:xfrm>
            <a:off x="5915025" y="2533650"/>
            <a:ext cx="85725" cy="857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1-cell-6"/>
          <p:cNvSpPr txBox="1"/>
          <p:nvPr/>
        </p:nvSpPr>
        <p:spPr>
          <a:xfrm>
            <a:off x="6934200" y="24955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“MD weekly check-in”</a:t>
            </a:r>
          </a:p>
        </p:txBody>
      </p:sp>
      <p:sp>
        <p:nvSpPr>
          <p:cNvPr id="32" name="table-row-1-avatar"/>
          <p:cNvSpPr/>
          <p:nvPr/>
        </p:nvSpPr>
        <p:spPr>
          <a:xfrm>
            <a:off x="10086975" y="2495550"/>
            <a:ext cx="2095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1-avatar-text"/>
          <p:cNvSpPr txBox="1"/>
          <p:nvPr/>
        </p:nvSpPr>
        <p:spPr>
          <a:xfrm>
            <a:off x="10086975" y="2495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MP</a:t>
            </a:r>
          </a:p>
        </p:txBody>
      </p:sp>
      <p:sp>
        <p:nvSpPr>
          <p:cNvPr id="34" name="table-row-1-cell-7"/>
          <p:cNvSpPr txBox="1"/>
          <p:nvPr/>
        </p:nvSpPr>
        <p:spPr>
          <a:xfrm>
            <a:off x="10353675" y="25146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Mario</a:t>
            </a:r>
          </a:p>
        </p:txBody>
      </p:sp>
      <p:sp>
        <p:nvSpPr>
          <p:cNvPr id="35" name="table-row-2-bg"/>
          <p:cNvSpPr/>
          <p:nvPr/>
        </p:nvSpPr>
        <p:spPr>
          <a:xfrm>
            <a:off x="457200" y="2800350"/>
            <a:ext cx="11277600" cy="4191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2-flag"/>
          <p:cNvSpPr/>
          <p:nvPr/>
        </p:nvSpPr>
        <p:spPr>
          <a:xfrm>
            <a:off x="457200" y="2800350"/>
            <a:ext cx="28575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2-divider"/>
          <p:cNvSpPr/>
          <p:nvPr/>
        </p:nvSpPr>
        <p:spPr>
          <a:xfrm>
            <a:off x="457200" y="28003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2-num"/>
          <p:cNvSpPr txBox="1"/>
          <p:nvPr/>
        </p:nvSpPr>
        <p:spPr>
          <a:xfrm>
            <a:off x="457200" y="28956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R2</a:t>
            </a:r>
          </a:p>
        </p:txBody>
      </p:sp>
      <p:sp>
        <p:nvSpPr>
          <p:cNvPr id="39" name="table-row-2-cell-2"/>
          <p:cNvSpPr txBox="1"/>
          <p:nvPr/>
        </p:nvSpPr>
        <p:spPr>
          <a:xfrm>
            <a:off x="981075" y="28956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Scope creep beyond pilot charter</a:t>
            </a:r>
          </a:p>
        </p:txBody>
      </p:sp>
      <p:sp>
        <p:nvSpPr>
          <p:cNvPr id="40" name="table-row-2-cell-3"/>
          <p:cNvSpPr txBox="1"/>
          <p:nvPr/>
        </p:nvSpPr>
        <p:spPr>
          <a:xfrm>
            <a:off x="4067175" y="2914650"/>
            <a:ext cx="30480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41" name="table-row-2-cell-4"/>
          <p:cNvSpPr txBox="1"/>
          <p:nvPr/>
        </p:nvSpPr>
        <p:spPr>
          <a:xfrm>
            <a:off x="4962525" y="2914650"/>
            <a:ext cx="30480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42" name="table-row-2-status-pill"/>
          <p:cNvSpPr txBox="1"/>
          <p:nvPr/>
        </p:nvSpPr>
        <p:spPr>
          <a:xfrm>
            <a:off x="5857875" y="2914650"/>
            <a:ext cx="76200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RED</a:t>
            </a:r>
          </a:p>
        </p:txBody>
      </p:sp>
      <p:sp>
        <p:nvSpPr>
          <p:cNvPr id="43" name="table-row-2-rag-dot"/>
          <p:cNvSpPr/>
          <p:nvPr/>
        </p:nvSpPr>
        <p:spPr>
          <a:xfrm>
            <a:off x="5915025" y="2952750"/>
            <a:ext cx="85725" cy="857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2-cell-6"/>
          <p:cNvSpPr txBox="1"/>
          <p:nvPr/>
        </p:nvSpPr>
        <p:spPr>
          <a:xfrm>
            <a:off x="6934200" y="29146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“Charter signed at kickoff”</a:t>
            </a:r>
          </a:p>
        </p:txBody>
      </p:sp>
      <p:sp>
        <p:nvSpPr>
          <p:cNvPr id="45" name="table-row-2-avatar"/>
          <p:cNvSpPr/>
          <p:nvPr/>
        </p:nvSpPr>
        <p:spPr>
          <a:xfrm>
            <a:off x="10086975" y="2914650"/>
            <a:ext cx="2095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2-avatar-text"/>
          <p:cNvSpPr txBox="1"/>
          <p:nvPr/>
        </p:nvSpPr>
        <p:spPr>
          <a:xfrm>
            <a:off x="10086975" y="2914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MR</a:t>
            </a:r>
          </a:p>
        </p:txBody>
      </p:sp>
      <p:sp>
        <p:nvSpPr>
          <p:cNvPr id="47" name="table-row-2-cell-7"/>
          <p:cNvSpPr txBox="1"/>
          <p:nvPr/>
        </p:nvSpPr>
        <p:spPr>
          <a:xfrm>
            <a:off x="10353675" y="29337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Maria</a:t>
            </a:r>
          </a:p>
        </p:txBody>
      </p:sp>
      <p:sp>
        <p:nvSpPr>
          <p:cNvPr id="48" name="table-row-3-bg"/>
          <p:cNvSpPr/>
          <p:nvPr/>
        </p:nvSpPr>
        <p:spPr>
          <a:xfrm>
            <a:off x="457200" y="3219450"/>
            <a:ext cx="1127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3-divider"/>
          <p:cNvSpPr/>
          <p:nvPr/>
        </p:nvSpPr>
        <p:spPr>
          <a:xfrm>
            <a:off x="457200" y="32194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3-num"/>
          <p:cNvSpPr txBox="1"/>
          <p:nvPr/>
        </p:nvSpPr>
        <p:spPr>
          <a:xfrm>
            <a:off x="457200" y="33147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R3</a:t>
            </a:r>
          </a:p>
        </p:txBody>
      </p:sp>
      <p:sp>
        <p:nvSpPr>
          <p:cNvPr id="51" name="table-row-3-cell-2"/>
          <p:cNvSpPr txBox="1"/>
          <p:nvPr/>
        </p:nvSpPr>
        <p:spPr>
          <a:xfrm>
            <a:off x="981075" y="33147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Tooling provisioning delay</a:t>
            </a:r>
          </a:p>
        </p:txBody>
      </p:sp>
      <p:sp>
        <p:nvSpPr>
          <p:cNvPr id="52" name="table-row-3-cell-3"/>
          <p:cNvSpPr txBox="1"/>
          <p:nvPr/>
        </p:nvSpPr>
        <p:spPr>
          <a:xfrm>
            <a:off x="4067175" y="3333750"/>
            <a:ext cx="3048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M</a:t>
            </a:r>
          </a:p>
        </p:txBody>
      </p:sp>
      <p:sp>
        <p:nvSpPr>
          <p:cNvPr id="53" name="table-row-3-cell-4"/>
          <p:cNvSpPr txBox="1"/>
          <p:nvPr/>
        </p:nvSpPr>
        <p:spPr>
          <a:xfrm>
            <a:off x="4962525" y="3333750"/>
            <a:ext cx="30480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7A43"/>
                </a:solidFill>
                <a:latin typeface="Inter"/>
              </a:rPr>
              <a:t>L</a:t>
            </a:r>
          </a:p>
        </p:txBody>
      </p:sp>
      <p:sp>
        <p:nvSpPr>
          <p:cNvPr id="54" name="table-row-3-status-pill"/>
          <p:cNvSpPr txBox="1"/>
          <p:nvPr/>
        </p:nvSpPr>
        <p:spPr>
          <a:xfrm>
            <a:off x="5857875" y="3333750"/>
            <a:ext cx="7620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AMBER</a:t>
            </a:r>
          </a:p>
        </p:txBody>
      </p:sp>
      <p:sp>
        <p:nvSpPr>
          <p:cNvPr id="55" name="table-row-3-rag-dot"/>
          <p:cNvSpPr/>
          <p:nvPr/>
        </p:nvSpPr>
        <p:spPr>
          <a:xfrm>
            <a:off x="5915025" y="3371850"/>
            <a:ext cx="85725" cy="857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3-cell-6"/>
          <p:cNvSpPr txBox="1"/>
          <p:nvPr/>
        </p:nvSpPr>
        <p:spPr>
          <a:xfrm>
            <a:off x="6934200" y="33337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“Pre-arranged with IT”</a:t>
            </a:r>
          </a:p>
        </p:txBody>
      </p:sp>
      <p:sp>
        <p:nvSpPr>
          <p:cNvPr id="57" name="table-row-3-avatar"/>
          <p:cNvSpPr/>
          <p:nvPr/>
        </p:nvSpPr>
        <p:spPr>
          <a:xfrm>
            <a:off x="10086975" y="3333750"/>
            <a:ext cx="2095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3-avatar-text"/>
          <p:cNvSpPr txBox="1"/>
          <p:nvPr/>
        </p:nvSpPr>
        <p:spPr>
          <a:xfrm>
            <a:off x="10086975" y="3333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PM</a:t>
            </a:r>
          </a:p>
        </p:txBody>
      </p:sp>
      <p:sp>
        <p:nvSpPr>
          <p:cNvPr id="59" name="table-row-3-cell-7"/>
          <p:cNvSpPr txBox="1"/>
          <p:nvPr/>
        </p:nvSpPr>
        <p:spPr>
          <a:xfrm>
            <a:off x="10353675" y="33528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PMO</a:t>
            </a:r>
          </a:p>
        </p:txBody>
      </p:sp>
      <p:sp>
        <p:nvSpPr>
          <p:cNvPr id="60" name="table-row-4-bg"/>
          <p:cNvSpPr/>
          <p:nvPr/>
        </p:nvSpPr>
        <p:spPr>
          <a:xfrm>
            <a:off x="457200" y="3638550"/>
            <a:ext cx="1127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able-row-4-divider"/>
          <p:cNvSpPr/>
          <p:nvPr/>
        </p:nvSpPr>
        <p:spPr>
          <a:xfrm>
            <a:off x="457200" y="36385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4-num"/>
          <p:cNvSpPr txBox="1"/>
          <p:nvPr/>
        </p:nvSpPr>
        <p:spPr>
          <a:xfrm>
            <a:off x="457200" y="37338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R4</a:t>
            </a:r>
          </a:p>
        </p:txBody>
      </p:sp>
      <p:sp>
        <p:nvSpPr>
          <p:cNvPr id="63" name="table-row-4-cell-2"/>
          <p:cNvSpPr txBox="1"/>
          <p:nvPr/>
        </p:nvSpPr>
        <p:spPr>
          <a:xfrm>
            <a:off x="981075" y="37338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Vendor (Claude) outage</a:t>
            </a:r>
          </a:p>
        </p:txBody>
      </p:sp>
      <p:sp>
        <p:nvSpPr>
          <p:cNvPr id="64" name="table-row-4-cell-3"/>
          <p:cNvSpPr txBox="1"/>
          <p:nvPr/>
        </p:nvSpPr>
        <p:spPr>
          <a:xfrm>
            <a:off x="4067175" y="3752850"/>
            <a:ext cx="304800" cy="17145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65" name="table-row-4-cell-4"/>
          <p:cNvSpPr txBox="1"/>
          <p:nvPr/>
        </p:nvSpPr>
        <p:spPr>
          <a:xfrm>
            <a:off x="4962525" y="3752850"/>
            <a:ext cx="30480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7A43"/>
                </a:solidFill>
                <a:latin typeface="Inter"/>
              </a:rPr>
              <a:t>L</a:t>
            </a:r>
          </a:p>
        </p:txBody>
      </p:sp>
      <p:sp>
        <p:nvSpPr>
          <p:cNvPr id="66" name="table-row-4-status-pill"/>
          <p:cNvSpPr txBox="1"/>
          <p:nvPr/>
        </p:nvSpPr>
        <p:spPr>
          <a:xfrm>
            <a:off x="5857875" y="3752850"/>
            <a:ext cx="7620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AMBER</a:t>
            </a:r>
          </a:p>
        </p:txBody>
      </p:sp>
      <p:sp>
        <p:nvSpPr>
          <p:cNvPr id="67" name="table-row-4-rag-dot"/>
          <p:cNvSpPr/>
          <p:nvPr/>
        </p:nvSpPr>
        <p:spPr>
          <a:xfrm>
            <a:off x="5915025" y="3790950"/>
            <a:ext cx="85725" cy="857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4-cell-6"/>
          <p:cNvSpPr txBox="1"/>
          <p:nvPr/>
        </p:nvSpPr>
        <p:spPr>
          <a:xfrm>
            <a:off x="6934200" y="37528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“Offline mode for build”</a:t>
            </a:r>
          </a:p>
        </p:txBody>
      </p:sp>
      <p:sp>
        <p:nvSpPr>
          <p:cNvPr id="69" name="table-row-4-avatar"/>
          <p:cNvSpPr/>
          <p:nvPr/>
        </p:nvSpPr>
        <p:spPr>
          <a:xfrm>
            <a:off x="10086975" y="3752850"/>
            <a:ext cx="2095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4-avatar-text"/>
          <p:cNvSpPr txBox="1"/>
          <p:nvPr/>
        </p:nvSpPr>
        <p:spPr>
          <a:xfrm>
            <a:off x="10086975" y="37528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EN</a:t>
            </a:r>
          </a:p>
        </p:txBody>
      </p:sp>
      <p:sp>
        <p:nvSpPr>
          <p:cNvPr id="71" name="table-row-4-cell-7"/>
          <p:cNvSpPr txBox="1"/>
          <p:nvPr/>
        </p:nvSpPr>
        <p:spPr>
          <a:xfrm>
            <a:off x="10353675" y="37719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Engineering</a:t>
            </a:r>
          </a:p>
        </p:txBody>
      </p:sp>
      <p:sp>
        <p:nvSpPr>
          <p:cNvPr id="72" name="table-row-5-bg"/>
          <p:cNvSpPr/>
          <p:nvPr/>
        </p:nvSpPr>
        <p:spPr>
          <a:xfrm>
            <a:off x="457200" y="4057650"/>
            <a:ext cx="1127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5-divider"/>
          <p:cNvSpPr/>
          <p:nvPr/>
        </p:nvSpPr>
        <p:spPr>
          <a:xfrm>
            <a:off x="457200" y="40576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5-num"/>
          <p:cNvSpPr txBox="1"/>
          <p:nvPr/>
        </p:nvSpPr>
        <p:spPr>
          <a:xfrm>
            <a:off x="457200" y="41529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R5</a:t>
            </a:r>
          </a:p>
        </p:txBody>
      </p:sp>
      <p:sp>
        <p:nvSpPr>
          <p:cNvPr id="75" name="table-row-5-cell-2"/>
          <p:cNvSpPr txBox="1"/>
          <p:nvPr/>
        </p:nvSpPr>
        <p:spPr>
          <a:xfrm>
            <a:off x="981075" y="41529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Resistance from senior consultants</a:t>
            </a:r>
          </a:p>
        </p:txBody>
      </p:sp>
      <p:sp>
        <p:nvSpPr>
          <p:cNvPr id="76" name="table-row-5-cell-3"/>
          <p:cNvSpPr txBox="1"/>
          <p:nvPr/>
        </p:nvSpPr>
        <p:spPr>
          <a:xfrm>
            <a:off x="4067175" y="4171950"/>
            <a:ext cx="3048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M</a:t>
            </a:r>
          </a:p>
        </p:txBody>
      </p:sp>
      <p:sp>
        <p:nvSpPr>
          <p:cNvPr id="77" name="table-row-5-cell-4"/>
          <p:cNvSpPr txBox="1"/>
          <p:nvPr/>
        </p:nvSpPr>
        <p:spPr>
          <a:xfrm>
            <a:off x="4962525" y="4171950"/>
            <a:ext cx="3048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M</a:t>
            </a:r>
          </a:p>
        </p:txBody>
      </p:sp>
      <p:sp>
        <p:nvSpPr>
          <p:cNvPr id="78" name="table-row-5-status-pill"/>
          <p:cNvSpPr txBox="1"/>
          <p:nvPr/>
        </p:nvSpPr>
        <p:spPr>
          <a:xfrm>
            <a:off x="5857875" y="4171950"/>
            <a:ext cx="7620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AMBER</a:t>
            </a:r>
          </a:p>
        </p:txBody>
      </p:sp>
      <p:sp>
        <p:nvSpPr>
          <p:cNvPr id="79" name="table-row-5-rag-dot"/>
          <p:cNvSpPr/>
          <p:nvPr/>
        </p:nvSpPr>
        <p:spPr>
          <a:xfrm>
            <a:off x="5915025" y="4210050"/>
            <a:ext cx="85725" cy="857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5-cell-6"/>
          <p:cNvSpPr txBox="1"/>
          <p:nvPr/>
        </p:nvSpPr>
        <p:spPr>
          <a:xfrm>
            <a:off x="6934200" y="41719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“Coach pairing”</a:t>
            </a:r>
          </a:p>
        </p:txBody>
      </p:sp>
      <p:sp>
        <p:nvSpPr>
          <p:cNvPr id="81" name="table-row-5-avatar"/>
          <p:cNvSpPr/>
          <p:nvPr/>
        </p:nvSpPr>
        <p:spPr>
          <a:xfrm>
            <a:off x="10086975" y="4171950"/>
            <a:ext cx="2095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5-avatar-text"/>
          <p:cNvSpPr txBox="1"/>
          <p:nvPr/>
        </p:nvSpPr>
        <p:spPr>
          <a:xfrm>
            <a:off x="10086975" y="41719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MP</a:t>
            </a:r>
          </a:p>
        </p:txBody>
      </p:sp>
      <p:sp>
        <p:nvSpPr>
          <p:cNvPr id="83" name="table-row-5-cell-7"/>
          <p:cNvSpPr txBox="1"/>
          <p:nvPr/>
        </p:nvSpPr>
        <p:spPr>
          <a:xfrm>
            <a:off x="10353675" y="41910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Mario</a:t>
            </a:r>
          </a:p>
        </p:txBody>
      </p:sp>
      <p:sp>
        <p:nvSpPr>
          <p:cNvPr id="84" name="table-row-6-bg"/>
          <p:cNvSpPr/>
          <p:nvPr/>
        </p:nvSpPr>
        <p:spPr>
          <a:xfrm>
            <a:off x="457200" y="4476750"/>
            <a:ext cx="1127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6-divider"/>
          <p:cNvSpPr/>
          <p:nvPr/>
        </p:nvSpPr>
        <p:spPr>
          <a:xfrm>
            <a:off x="457200" y="44767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able-row-6-num"/>
          <p:cNvSpPr txBox="1"/>
          <p:nvPr/>
        </p:nvSpPr>
        <p:spPr>
          <a:xfrm>
            <a:off x="457200" y="45720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R6</a:t>
            </a:r>
          </a:p>
        </p:txBody>
      </p:sp>
      <p:sp>
        <p:nvSpPr>
          <p:cNvPr id="87" name="table-row-6-cell-2"/>
          <p:cNvSpPr txBox="1"/>
          <p:nvPr/>
        </p:nvSpPr>
        <p:spPr>
          <a:xfrm>
            <a:off x="981075" y="4572000"/>
            <a:ext cx="27717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Junior team can't ramp on toolchain</a:t>
            </a:r>
          </a:p>
        </p:txBody>
      </p:sp>
      <p:sp>
        <p:nvSpPr>
          <p:cNvPr id="88" name="table-row-6-cell-3"/>
          <p:cNvSpPr txBox="1"/>
          <p:nvPr/>
        </p:nvSpPr>
        <p:spPr>
          <a:xfrm>
            <a:off x="4067175" y="4591050"/>
            <a:ext cx="3048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M</a:t>
            </a:r>
          </a:p>
        </p:txBody>
      </p:sp>
      <p:sp>
        <p:nvSpPr>
          <p:cNvPr id="89" name="table-row-6-cell-4"/>
          <p:cNvSpPr txBox="1"/>
          <p:nvPr/>
        </p:nvSpPr>
        <p:spPr>
          <a:xfrm>
            <a:off x="4962525" y="4591050"/>
            <a:ext cx="304800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B"/>
                </a:solidFill>
                <a:latin typeface="Inter"/>
              </a:rPr>
              <a:t>M</a:t>
            </a:r>
          </a:p>
        </p:txBody>
      </p:sp>
      <p:sp>
        <p:nvSpPr>
          <p:cNvPr id="90" name="table-row-6-status-pill"/>
          <p:cNvSpPr txBox="1"/>
          <p:nvPr/>
        </p:nvSpPr>
        <p:spPr>
          <a:xfrm>
            <a:off x="5857875" y="4591050"/>
            <a:ext cx="76200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17145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7A43"/>
                </a:solidFill>
                <a:latin typeface="Inter"/>
              </a:rPr>
              <a:t>GREEN</a:t>
            </a:r>
          </a:p>
        </p:txBody>
      </p:sp>
      <p:sp>
        <p:nvSpPr>
          <p:cNvPr id="91" name="table-row-6-rag-dot"/>
          <p:cNvSpPr/>
          <p:nvPr/>
        </p:nvSpPr>
        <p:spPr>
          <a:xfrm>
            <a:off x="5915025" y="4629150"/>
            <a:ext cx="85725" cy="857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6-cell-6"/>
          <p:cNvSpPr txBox="1"/>
          <p:nvPr/>
        </p:nvSpPr>
        <p:spPr>
          <a:xfrm>
            <a:off x="6934200" y="4591050"/>
            <a:ext cx="30003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“Onboarding session run W1”</a:t>
            </a:r>
          </a:p>
        </p:txBody>
      </p:sp>
      <p:sp>
        <p:nvSpPr>
          <p:cNvPr id="93" name="table-row-6-avatar"/>
          <p:cNvSpPr/>
          <p:nvPr/>
        </p:nvSpPr>
        <p:spPr>
          <a:xfrm>
            <a:off x="10086975" y="4591050"/>
            <a:ext cx="2095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table-row-6-avatar-text"/>
          <p:cNvSpPr txBox="1"/>
          <p:nvPr/>
        </p:nvSpPr>
        <p:spPr>
          <a:xfrm>
            <a:off x="10086975" y="4591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</a:t>
            </a:r>
          </a:p>
        </p:txBody>
      </p:sp>
      <p:sp>
        <p:nvSpPr>
          <p:cNvPr id="95" name="table-row-6-cell-7"/>
          <p:cNvSpPr txBox="1"/>
          <p:nvPr/>
        </p:nvSpPr>
        <p:spPr>
          <a:xfrm>
            <a:off x="10353675" y="4610100"/>
            <a:ext cx="1304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Coach</a:t>
            </a:r>
          </a:p>
        </p:txBody>
      </p:sp>
      <p:sp>
        <p:nvSpPr>
          <p:cNvPr id="96" name="table-border-top"/>
          <p:cNvSpPr/>
          <p:nvPr/>
        </p:nvSpPr>
        <p:spPr>
          <a:xfrm>
            <a:off x="457200" y="20764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table-border-left"/>
          <p:cNvSpPr/>
          <p:nvPr/>
        </p:nvSpPr>
        <p:spPr>
          <a:xfrm>
            <a:off x="457200" y="2076450"/>
            <a:ext cx="9525" cy="2819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able-border-right"/>
          <p:cNvSpPr/>
          <p:nvPr/>
        </p:nvSpPr>
        <p:spPr>
          <a:xfrm>
            <a:off x="11725275" y="2076450"/>
            <a:ext cx="9525" cy="28194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table-border-bottom"/>
          <p:cNvSpPr/>
          <p:nvPr/>
        </p:nvSpPr>
        <p:spPr>
          <a:xfrm>
            <a:off x="457200" y="48958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convergence-bg"/>
          <p:cNvSpPr/>
          <p:nvPr/>
        </p:nvSpPr>
        <p:spPr>
          <a:xfrm>
            <a:off x="457200" y="579120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convergence-mark"/>
          <p:cNvSpPr txBox="1"/>
          <p:nvPr/>
        </p:nvSpPr>
        <p:spPr>
          <a:xfrm>
            <a:off x="590550" y="5924550"/>
            <a:ext cx="7620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102" name="convergence"/>
          <p:cNvSpPr txBox="1"/>
          <p:nvPr/>
        </p:nvSpPr>
        <p:spPr>
          <a:xfrm>
            <a:off x="1504950" y="5791200"/>
            <a:ext cx="10039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Two reds, both with mitigation owners assigned. Watch for week-3 status — if either stays red, escalate to steering.</a:t>
            </a:r>
          </a:p>
        </p:txBody>
      </p:sp>
      <p:sp>
        <p:nvSpPr>
          <p:cNvPr id="10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