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Choose the right path: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two options evaluated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side-by-side comparison across cost, speed, risk, and fit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option-1-card"/>
          <p:cNvSpPr/>
          <p:nvPr/>
        </p:nvSpPr>
        <p:spPr>
          <a:xfrm>
            <a:off x="457200" y="1905000"/>
            <a:ext cx="537210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option-1-header"/>
          <p:cNvSpPr/>
          <p:nvPr/>
        </p:nvSpPr>
        <p:spPr>
          <a:xfrm>
            <a:off x="457200" y="1905000"/>
            <a:ext cx="53721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option-1-header-label"/>
          <p:cNvSpPr txBox="1"/>
          <p:nvPr/>
        </p:nvSpPr>
        <p:spPr>
          <a:xfrm>
            <a:off x="609600" y="1905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A</a:t>
            </a:r>
          </a:p>
        </p:txBody>
      </p:sp>
      <p:sp>
        <p:nvSpPr>
          <p:cNvPr id="8" name="option-1-header-name"/>
          <p:cNvSpPr txBox="1"/>
          <p:nvPr/>
        </p:nvSpPr>
        <p:spPr>
          <a:xfrm>
            <a:off x="1504950" y="1905000"/>
            <a:ext cx="4133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In-House</a:t>
            </a:r>
          </a:p>
        </p:txBody>
      </p:sp>
      <p:sp>
        <p:nvSpPr>
          <p:cNvPr id="9" name="option-1-letter"/>
          <p:cNvSpPr txBox="1"/>
          <p:nvPr/>
        </p:nvSpPr>
        <p:spPr>
          <a:xfrm>
            <a:off x="457200" y="2362200"/>
            <a:ext cx="5372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70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10" name="option-1-option-name"/>
          <p:cNvSpPr txBox="1"/>
          <p:nvPr/>
        </p:nvSpPr>
        <p:spPr>
          <a:xfrm>
            <a:off x="609600" y="278130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Internal Development</a:t>
            </a:r>
          </a:p>
        </p:txBody>
      </p:sp>
      <p:sp>
        <p:nvSpPr>
          <p:cNvPr id="11" name="option-1-tagline"/>
          <p:cNvSpPr txBox="1"/>
          <p:nvPr/>
        </p:nvSpPr>
        <p:spPr>
          <a:xfrm>
            <a:off x="609600" y="2971800"/>
            <a:ext cx="5067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Full ownership, custom-built by our team</a:t>
            </a:r>
          </a:p>
        </p:txBody>
      </p:sp>
      <p:sp>
        <p:nvSpPr>
          <p:cNvPr id="12" name="option-1-row-1-bg"/>
          <p:cNvSpPr/>
          <p:nvPr/>
        </p:nvSpPr>
        <p:spPr>
          <a:xfrm>
            <a:off x="457200" y="3181350"/>
            <a:ext cx="5372100" cy="6381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option-1-row-1-label"/>
          <p:cNvSpPr txBox="1"/>
          <p:nvPr/>
        </p:nvSpPr>
        <p:spPr>
          <a:xfrm>
            <a:off x="590550" y="3181350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COST</a:t>
            </a:r>
          </a:p>
        </p:txBody>
      </p:sp>
      <p:sp>
        <p:nvSpPr>
          <p:cNvPr id="14" name="option-1-row-1-value"/>
          <p:cNvSpPr txBox="1"/>
          <p:nvPr/>
        </p:nvSpPr>
        <p:spPr>
          <a:xfrm>
            <a:off x="1409700" y="3181350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$1.2M – $1.8M initial investment</a:t>
            </a:r>
          </a:p>
        </p:txBody>
      </p:sp>
      <p:sp>
        <p:nvSpPr>
          <p:cNvPr id="15" name="option-1-row-1-dot"/>
          <p:cNvSpPr/>
          <p:nvPr/>
        </p:nvSpPr>
        <p:spPr>
          <a:xfrm>
            <a:off x="5619750" y="3457575"/>
            <a:ext cx="762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option-1-row-2-bg"/>
          <p:cNvSpPr/>
          <p:nvPr/>
        </p:nvSpPr>
        <p:spPr>
          <a:xfrm>
            <a:off x="457200" y="3819525"/>
            <a:ext cx="53721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option-1-row-2-label"/>
          <p:cNvSpPr txBox="1"/>
          <p:nvPr/>
        </p:nvSpPr>
        <p:spPr>
          <a:xfrm>
            <a:off x="590550" y="3819525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TIMELINE</a:t>
            </a:r>
          </a:p>
        </p:txBody>
      </p:sp>
      <p:sp>
        <p:nvSpPr>
          <p:cNvPr id="18" name="option-1-row-2-value"/>
          <p:cNvSpPr txBox="1"/>
          <p:nvPr/>
        </p:nvSpPr>
        <p:spPr>
          <a:xfrm>
            <a:off x="1409700" y="3819525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14 – 18 months to first release</a:t>
            </a:r>
          </a:p>
        </p:txBody>
      </p:sp>
      <p:sp>
        <p:nvSpPr>
          <p:cNvPr id="19" name="option-1-row-2-dot"/>
          <p:cNvSpPr/>
          <p:nvPr/>
        </p:nvSpPr>
        <p:spPr>
          <a:xfrm>
            <a:off x="5619750" y="40957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option-1-row-3-bg"/>
          <p:cNvSpPr/>
          <p:nvPr/>
        </p:nvSpPr>
        <p:spPr>
          <a:xfrm>
            <a:off x="457200" y="4457700"/>
            <a:ext cx="5372100" cy="6381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option-1-row-3-label"/>
          <p:cNvSpPr txBox="1"/>
          <p:nvPr/>
        </p:nvSpPr>
        <p:spPr>
          <a:xfrm>
            <a:off x="590550" y="4457700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RISK</a:t>
            </a:r>
          </a:p>
        </p:txBody>
      </p:sp>
      <p:sp>
        <p:nvSpPr>
          <p:cNvPr id="22" name="option-1-row-3-value"/>
          <p:cNvSpPr txBox="1"/>
          <p:nvPr/>
        </p:nvSpPr>
        <p:spPr>
          <a:xfrm>
            <a:off x="1409700" y="4457700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High — talent dependency, scope creep</a:t>
            </a:r>
          </a:p>
        </p:txBody>
      </p:sp>
      <p:sp>
        <p:nvSpPr>
          <p:cNvPr id="23" name="option-1-row-3-dot"/>
          <p:cNvSpPr/>
          <p:nvPr/>
        </p:nvSpPr>
        <p:spPr>
          <a:xfrm>
            <a:off x="5619750" y="4733925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option-1-row-4-bg"/>
          <p:cNvSpPr/>
          <p:nvPr/>
        </p:nvSpPr>
        <p:spPr>
          <a:xfrm>
            <a:off x="457200" y="5095875"/>
            <a:ext cx="53721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option-1-row-4-label"/>
          <p:cNvSpPr txBox="1"/>
          <p:nvPr/>
        </p:nvSpPr>
        <p:spPr>
          <a:xfrm>
            <a:off x="590550" y="5095875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FIT</a:t>
            </a:r>
          </a:p>
        </p:txBody>
      </p:sp>
      <p:sp>
        <p:nvSpPr>
          <p:cNvPr id="26" name="option-1-row-4-value"/>
          <p:cNvSpPr txBox="1"/>
          <p:nvPr/>
        </p:nvSpPr>
        <p:spPr>
          <a:xfrm>
            <a:off x="1409700" y="5095875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Fully tailored to our process &amp; data</a:t>
            </a:r>
          </a:p>
        </p:txBody>
      </p:sp>
      <p:sp>
        <p:nvSpPr>
          <p:cNvPr id="27" name="option-1-row-4-dot"/>
          <p:cNvSpPr/>
          <p:nvPr/>
        </p:nvSpPr>
        <p:spPr>
          <a:xfrm>
            <a:off x="5619750" y="5372100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option-1-footer-text"/>
          <p:cNvSpPr txBox="1"/>
          <p:nvPr/>
        </p:nvSpPr>
        <p:spPr>
          <a:xfrm>
            <a:off x="457200" y="57721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Not recommended for current cycle</a:t>
            </a:r>
          </a:p>
        </p:txBody>
      </p:sp>
      <p:sp>
        <p:nvSpPr>
          <p:cNvPr id="29" name="option-2-card"/>
          <p:cNvSpPr/>
          <p:nvPr/>
        </p:nvSpPr>
        <p:spPr>
          <a:xfrm>
            <a:off x="6362700" y="1905000"/>
            <a:ext cx="537210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option-2-header"/>
          <p:cNvSpPr/>
          <p:nvPr/>
        </p:nvSpPr>
        <p:spPr>
          <a:xfrm>
            <a:off x="6362700" y="1905000"/>
            <a:ext cx="5372100" cy="3810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option-2-header-label"/>
          <p:cNvSpPr txBox="1"/>
          <p:nvPr/>
        </p:nvSpPr>
        <p:spPr>
          <a:xfrm>
            <a:off x="6515100" y="1905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B</a:t>
            </a:r>
          </a:p>
        </p:txBody>
      </p:sp>
      <p:sp>
        <p:nvSpPr>
          <p:cNvPr id="32" name="option-2-header-name"/>
          <p:cNvSpPr txBox="1"/>
          <p:nvPr/>
        </p:nvSpPr>
        <p:spPr>
          <a:xfrm>
            <a:off x="7410450" y="1905000"/>
            <a:ext cx="4133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SaaS Platform</a:t>
            </a:r>
          </a:p>
        </p:txBody>
      </p:sp>
      <p:sp>
        <p:nvSpPr>
          <p:cNvPr id="33" name="option-2-letter"/>
          <p:cNvSpPr txBox="1"/>
          <p:nvPr/>
        </p:nvSpPr>
        <p:spPr>
          <a:xfrm>
            <a:off x="6362700" y="2362200"/>
            <a:ext cx="5372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700" b="1" i="0">
                <a:solidFill>
                  <a:srgbClr val="2D0A4E"/>
                </a:solidFill>
                <a:latin typeface="Inter"/>
              </a:rPr>
              <a:t>B</a:t>
            </a:r>
          </a:p>
        </p:txBody>
      </p:sp>
      <p:sp>
        <p:nvSpPr>
          <p:cNvPr id="34" name="option-2-option-name"/>
          <p:cNvSpPr txBox="1"/>
          <p:nvPr/>
        </p:nvSpPr>
        <p:spPr>
          <a:xfrm>
            <a:off x="6515100" y="278130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Off-the-Shelf SaaS</a:t>
            </a:r>
          </a:p>
        </p:txBody>
      </p:sp>
      <p:sp>
        <p:nvSpPr>
          <p:cNvPr id="35" name="option-2-tagline"/>
          <p:cNvSpPr txBox="1"/>
          <p:nvPr/>
        </p:nvSpPr>
        <p:spPr>
          <a:xfrm>
            <a:off x="6515100" y="2971800"/>
            <a:ext cx="5067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Configure &amp; launch with proven vendor platform</a:t>
            </a:r>
          </a:p>
        </p:txBody>
      </p:sp>
      <p:sp>
        <p:nvSpPr>
          <p:cNvPr id="36" name="option-2-row-1-bg"/>
          <p:cNvSpPr/>
          <p:nvPr/>
        </p:nvSpPr>
        <p:spPr>
          <a:xfrm>
            <a:off x="6362700" y="3181350"/>
            <a:ext cx="5372100" cy="6381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option-2-row-1-label"/>
          <p:cNvSpPr txBox="1"/>
          <p:nvPr/>
        </p:nvSpPr>
        <p:spPr>
          <a:xfrm>
            <a:off x="6496050" y="3181350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COST</a:t>
            </a:r>
          </a:p>
        </p:txBody>
      </p:sp>
      <p:sp>
        <p:nvSpPr>
          <p:cNvPr id="38" name="option-2-row-1-value"/>
          <p:cNvSpPr txBox="1"/>
          <p:nvPr/>
        </p:nvSpPr>
        <p:spPr>
          <a:xfrm>
            <a:off x="7315200" y="3181350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$280K/yr subscription + $120K setup</a:t>
            </a:r>
          </a:p>
        </p:txBody>
      </p:sp>
      <p:sp>
        <p:nvSpPr>
          <p:cNvPr id="39" name="option-2-row-1-dot"/>
          <p:cNvSpPr/>
          <p:nvPr/>
        </p:nvSpPr>
        <p:spPr>
          <a:xfrm>
            <a:off x="11525250" y="3457575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option-2-row-2-bg"/>
          <p:cNvSpPr/>
          <p:nvPr/>
        </p:nvSpPr>
        <p:spPr>
          <a:xfrm>
            <a:off x="6362700" y="3819525"/>
            <a:ext cx="53721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option-2-row-2-label"/>
          <p:cNvSpPr txBox="1"/>
          <p:nvPr/>
        </p:nvSpPr>
        <p:spPr>
          <a:xfrm>
            <a:off x="6496050" y="3819525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TIMELINE</a:t>
            </a:r>
          </a:p>
        </p:txBody>
      </p:sp>
      <p:sp>
        <p:nvSpPr>
          <p:cNvPr id="42" name="option-2-row-2-value"/>
          <p:cNvSpPr txBox="1"/>
          <p:nvPr/>
        </p:nvSpPr>
        <p:spPr>
          <a:xfrm>
            <a:off x="7315200" y="3819525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 – 4 months to production</a:t>
            </a:r>
          </a:p>
        </p:txBody>
      </p:sp>
      <p:sp>
        <p:nvSpPr>
          <p:cNvPr id="43" name="option-2-row-2-dot"/>
          <p:cNvSpPr/>
          <p:nvPr/>
        </p:nvSpPr>
        <p:spPr>
          <a:xfrm>
            <a:off x="11525250" y="4095750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ption-2-row-3-bg"/>
          <p:cNvSpPr/>
          <p:nvPr/>
        </p:nvSpPr>
        <p:spPr>
          <a:xfrm>
            <a:off x="6362700" y="4457700"/>
            <a:ext cx="5372100" cy="6381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option-2-row-3-label"/>
          <p:cNvSpPr txBox="1"/>
          <p:nvPr/>
        </p:nvSpPr>
        <p:spPr>
          <a:xfrm>
            <a:off x="6496050" y="4457700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RISK</a:t>
            </a:r>
          </a:p>
        </p:txBody>
      </p:sp>
      <p:sp>
        <p:nvSpPr>
          <p:cNvPr id="46" name="option-2-row-3-value"/>
          <p:cNvSpPr txBox="1"/>
          <p:nvPr/>
        </p:nvSpPr>
        <p:spPr>
          <a:xfrm>
            <a:off x="7315200" y="4457700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Low — proven stack, SLA-backed support</a:t>
            </a:r>
          </a:p>
        </p:txBody>
      </p:sp>
      <p:sp>
        <p:nvSpPr>
          <p:cNvPr id="47" name="option-2-row-3-dot"/>
          <p:cNvSpPr/>
          <p:nvPr/>
        </p:nvSpPr>
        <p:spPr>
          <a:xfrm>
            <a:off x="11525250" y="4733925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option-2-row-4-bg"/>
          <p:cNvSpPr/>
          <p:nvPr/>
        </p:nvSpPr>
        <p:spPr>
          <a:xfrm>
            <a:off x="6362700" y="5095875"/>
            <a:ext cx="53721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option-2-row-4-label"/>
          <p:cNvSpPr txBox="1"/>
          <p:nvPr/>
        </p:nvSpPr>
        <p:spPr>
          <a:xfrm>
            <a:off x="6496050" y="5095875"/>
            <a:ext cx="76200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FIT</a:t>
            </a:r>
          </a:p>
        </p:txBody>
      </p:sp>
      <p:sp>
        <p:nvSpPr>
          <p:cNvPr id="50" name="option-2-row-4-value"/>
          <p:cNvSpPr txBox="1"/>
          <p:nvPr/>
        </p:nvSpPr>
        <p:spPr>
          <a:xfrm>
            <a:off x="7315200" y="5095875"/>
            <a:ext cx="41338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80% fit; some workflow adaptation needed</a:t>
            </a:r>
          </a:p>
        </p:txBody>
      </p:sp>
      <p:sp>
        <p:nvSpPr>
          <p:cNvPr id="51" name="option-2-row-4-dot"/>
          <p:cNvSpPr/>
          <p:nvPr/>
        </p:nvSpPr>
        <p:spPr>
          <a:xfrm>
            <a:off x="11525250" y="5372100"/>
            <a:ext cx="762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option-2-footer-text"/>
          <p:cNvSpPr txBox="1"/>
          <p:nvPr/>
        </p:nvSpPr>
        <p:spPr>
          <a:xfrm>
            <a:off x="6362700" y="57721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RECOMMENDED — BEST VALUE &amp; SPEED</a:t>
            </a:r>
          </a:p>
        </p:txBody>
      </p:sp>
      <p:sp>
        <p:nvSpPr>
          <p:cNvPr id="53" name="vs-circle"/>
          <p:cNvSpPr/>
          <p:nvPr/>
        </p:nvSpPr>
        <p:spPr>
          <a:xfrm>
            <a:off x="5905500" y="2476500"/>
            <a:ext cx="381000" cy="381000"/>
          </a:xfrm>
          <a:prstGeom prst="ellipse">
            <a:avLst/>
          </a:prstGeom>
          <a:solidFill>
            <a:srgbClr val="ECE0F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vs-text"/>
          <p:cNvSpPr txBox="1"/>
          <p:nvPr/>
        </p:nvSpPr>
        <p:spPr>
          <a:xfrm>
            <a:off x="5905500" y="2476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VS</a:t>
            </a:r>
          </a:p>
        </p:txBody>
      </p:sp>
      <p:sp>
        <p:nvSpPr>
          <p:cNvPr id="55" name="decision-strip"/>
          <p:cNvSpPr/>
          <p:nvPr/>
        </p:nvSpPr>
        <p:spPr>
          <a:xfrm>
            <a:off x="457200" y="6153150"/>
            <a:ext cx="11277600" cy="304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decision-label"/>
          <p:cNvSpPr txBox="1"/>
          <p:nvPr/>
        </p:nvSpPr>
        <p:spPr>
          <a:xfrm>
            <a:off x="609600" y="6153150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RECOMMENDATION</a:t>
            </a:r>
          </a:p>
        </p:txBody>
      </p:sp>
      <p:sp>
        <p:nvSpPr>
          <p:cNvPr id="57" name="decision-divider"/>
          <p:cNvSpPr/>
          <p:nvPr/>
        </p:nvSpPr>
        <p:spPr>
          <a:xfrm>
            <a:off x="2000250" y="6229350"/>
            <a:ext cx="9525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decision-text"/>
          <p:cNvSpPr txBox="1"/>
          <p:nvPr/>
        </p:nvSpPr>
        <p:spPr>
          <a:xfrm>
            <a:off x="2133600" y="6153150"/>
            <a:ext cx="9448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Proceed with Option B (SaaS): lower risk, 4× faster to market, and frees internal capacity for higher-value differentiation work.</a:t>
            </a: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