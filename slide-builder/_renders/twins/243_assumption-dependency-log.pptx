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04800" y="190500"/>
            <a:ext cx="115824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Assumption &amp;amp;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Dependency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Log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04800" y="876300"/>
            <a:ext cx="10439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Tracks project assumptions and external dependencies — confidence, owners, and status</a:t>
            </a:r>
          </a:p>
        </p:txBody>
      </p:sp>
      <p:sp>
        <p:nvSpPr>
          <p:cNvPr id="4" name="brand-rule"/>
          <p:cNvSpPr/>
          <p:nvPr/>
        </p:nvSpPr>
        <p:spPr>
          <a:xfrm>
            <a:off x="304800" y="10858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ection-1-header-bg"/>
          <p:cNvSpPr/>
          <p:nvPr/>
        </p:nvSpPr>
        <p:spPr>
          <a:xfrm>
            <a:off x="304800" y="1333500"/>
            <a:ext cx="11582400" cy="2095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section-1-header"/>
          <p:cNvSpPr txBox="1"/>
          <p:nvPr/>
        </p:nvSpPr>
        <p:spPr>
          <a:xfrm>
            <a:off x="419100" y="13716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ASSUMPTIONS</a:t>
            </a:r>
          </a:p>
        </p:txBody>
      </p:sp>
      <p:sp>
        <p:nvSpPr>
          <p:cNvPr id="7" name="section-1-hdr-bg"/>
          <p:cNvSpPr/>
          <p:nvPr/>
        </p:nvSpPr>
        <p:spPr>
          <a:xfrm>
            <a:off x="304800" y="1543050"/>
            <a:ext cx="11582400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section-1-col-1-header"/>
          <p:cNvSpPr txBox="1"/>
          <p:nvPr/>
        </p:nvSpPr>
        <p:spPr>
          <a:xfrm>
            <a:off x="381000" y="158115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#</a:t>
            </a:r>
          </a:p>
        </p:txBody>
      </p:sp>
      <p:sp>
        <p:nvSpPr>
          <p:cNvPr id="9" name="section-1-col-2-header"/>
          <p:cNvSpPr txBox="1"/>
          <p:nvPr/>
        </p:nvSpPr>
        <p:spPr>
          <a:xfrm>
            <a:off x="762000" y="1581150"/>
            <a:ext cx="6172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STATEMENT</a:t>
            </a:r>
          </a:p>
        </p:txBody>
      </p:sp>
      <p:sp>
        <p:nvSpPr>
          <p:cNvPr id="10" name="section-1-col-3-header"/>
          <p:cNvSpPr txBox="1"/>
          <p:nvPr/>
        </p:nvSpPr>
        <p:spPr>
          <a:xfrm>
            <a:off x="7086600" y="1581150"/>
            <a:ext cx="895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CATEGORY</a:t>
            </a:r>
          </a:p>
        </p:txBody>
      </p:sp>
      <p:sp>
        <p:nvSpPr>
          <p:cNvPr id="11" name="section-1-col-4-header"/>
          <p:cNvSpPr txBox="1"/>
          <p:nvPr/>
        </p:nvSpPr>
        <p:spPr>
          <a:xfrm>
            <a:off x="8134350" y="1581150"/>
            <a:ext cx="1085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CONFIDENCE</a:t>
            </a:r>
          </a:p>
        </p:txBody>
      </p:sp>
      <p:sp>
        <p:nvSpPr>
          <p:cNvPr id="12" name="section-1-col-5-header"/>
          <p:cNvSpPr txBox="1"/>
          <p:nvPr/>
        </p:nvSpPr>
        <p:spPr>
          <a:xfrm>
            <a:off x="9372600" y="1581150"/>
            <a:ext cx="1085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OWNER</a:t>
            </a:r>
          </a:p>
        </p:txBody>
      </p:sp>
      <p:sp>
        <p:nvSpPr>
          <p:cNvPr id="13" name="section-1-col-6-header"/>
          <p:cNvSpPr txBox="1"/>
          <p:nvPr/>
        </p:nvSpPr>
        <p:spPr>
          <a:xfrm>
            <a:off x="10610850" y="1581150"/>
            <a:ext cx="1085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STATUS</a:t>
            </a:r>
          </a:p>
        </p:txBody>
      </p:sp>
      <p:sp>
        <p:nvSpPr>
          <p:cNvPr id="14" name="row-a1-bg"/>
          <p:cNvSpPr/>
          <p:nvPr/>
        </p:nvSpPr>
        <p:spPr>
          <a:xfrm>
            <a:off x="304800" y="1752600"/>
            <a:ext cx="11582400" cy="285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row-a1-num"/>
          <p:cNvSpPr txBox="1"/>
          <p:nvPr/>
        </p:nvSpPr>
        <p:spPr>
          <a:xfrm>
            <a:off x="304800" y="182880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A1</a:t>
            </a:r>
          </a:p>
        </p:txBody>
      </p:sp>
      <p:sp>
        <p:nvSpPr>
          <p:cNvPr id="16" name="row-a1-statement"/>
          <p:cNvSpPr txBox="1"/>
          <p:nvPr/>
        </p:nvSpPr>
        <p:spPr>
          <a:xfrm>
            <a:off x="762000" y="1809750"/>
            <a:ext cx="6172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Budget approval will be secured by end of Q2</a:t>
            </a:r>
          </a:p>
        </p:txBody>
      </p:sp>
      <p:sp>
        <p:nvSpPr>
          <p:cNvPr id="17" name="row-a1-category"/>
          <p:cNvSpPr txBox="1"/>
          <p:nvPr/>
        </p:nvSpPr>
        <p:spPr>
          <a:xfrm>
            <a:off x="7086600" y="1828800"/>
            <a:ext cx="895350" cy="1524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Financial</a:t>
            </a:r>
          </a:p>
        </p:txBody>
      </p:sp>
      <p:sp>
        <p:nvSpPr>
          <p:cNvPr id="18" name="row-a1-dot-1"/>
          <p:cNvSpPr/>
          <p:nvPr/>
        </p:nvSpPr>
        <p:spPr>
          <a:xfrm>
            <a:off x="8134350" y="1866900"/>
            <a:ext cx="66675" cy="66675"/>
          </a:xfrm>
          <a:prstGeom prst="rect">
            <a:avLst/>
          </a:prstGeom>
          <a:solidFill>
            <a:srgbClr val="22C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row-a1-dot-2"/>
          <p:cNvSpPr/>
          <p:nvPr/>
        </p:nvSpPr>
        <p:spPr>
          <a:xfrm>
            <a:off x="8229600" y="1866900"/>
            <a:ext cx="66675" cy="66675"/>
          </a:xfrm>
          <a:prstGeom prst="rect">
            <a:avLst/>
          </a:prstGeom>
          <a:solidFill>
            <a:srgbClr val="22C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row-a1-dot-3"/>
          <p:cNvSpPr/>
          <p:nvPr/>
        </p:nvSpPr>
        <p:spPr>
          <a:xfrm>
            <a:off x="8324850" y="1866900"/>
            <a:ext cx="66675" cy="66675"/>
          </a:xfrm>
          <a:prstGeom prst="rect">
            <a:avLst/>
          </a:prstGeom>
          <a:solidFill>
            <a:srgbClr val="22C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row-a1-confidence"/>
          <p:cNvSpPr txBox="1"/>
          <p:nvPr/>
        </p:nvSpPr>
        <p:spPr>
          <a:xfrm>
            <a:off x="8458200" y="18288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High</a:t>
            </a:r>
          </a:p>
        </p:txBody>
      </p:sp>
      <p:sp>
        <p:nvSpPr>
          <p:cNvPr id="22" name="row-a1-owner"/>
          <p:cNvSpPr txBox="1"/>
          <p:nvPr/>
        </p:nvSpPr>
        <p:spPr>
          <a:xfrm>
            <a:off x="9372600" y="1828800"/>
            <a:ext cx="1085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CFO Office</a:t>
            </a:r>
          </a:p>
        </p:txBody>
      </p:sp>
      <p:sp>
        <p:nvSpPr>
          <p:cNvPr id="23" name="row-a1-status-pill"/>
          <p:cNvSpPr txBox="1"/>
          <p:nvPr/>
        </p:nvSpPr>
        <p:spPr>
          <a:xfrm>
            <a:off x="10610850" y="1828800"/>
            <a:ext cx="1085850" cy="1524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CONFIRMED</a:t>
            </a:r>
          </a:p>
        </p:txBody>
      </p:sp>
      <p:sp>
        <p:nvSpPr>
          <p:cNvPr id="24" name="row-a1-divider"/>
          <p:cNvSpPr/>
          <p:nvPr/>
        </p:nvSpPr>
        <p:spPr>
          <a:xfrm>
            <a:off x="304800" y="2028825"/>
            <a:ext cx="115824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row-a2-bg"/>
          <p:cNvSpPr/>
          <p:nvPr/>
        </p:nvSpPr>
        <p:spPr>
          <a:xfrm>
            <a:off x="304800" y="2038350"/>
            <a:ext cx="11582400" cy="285750"/>
          </a:xfrm>
          <a:prstGeom prst="rect">
            <a:avLst/>
          </a:prstGeom>
          <a:solidFill>
            <a:srgbClr val="FD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row-a2-num"/>
          <p:cNvSpPr txBox="1"/>
          <p:nvPr/>
        </p:nvSpPr>
        <p:spPr>
          <a:xfrm>
            <a:off x="304800" y="211455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A2</a:t>
            </a:r>
          </a:p>
        </p:txBody>
      </p:sp>
      <p:sp>
        <p:nvSpPr>
          <p:cNvPr id="27" name="row-a2-statement"/>
          <p:cNvSpPr txBox="1"/>
          <p:nvPr/>
        </p:nvSpPr>
        <p:spPr>
          <a:xfrm>
            <a:off x="762000" y="2095500"/>
            <a:ext cx="6172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Legacy system can export in required format</a:t>
            </a:r>
          </a:p>
        </p:txBody>
      </p:sp>
      <p:sp>
        <p:nvSpPr>
          <p:cNvPr id="28" name="row-a2-category"/>
          <p:cNvSpPr txBox="1"/>
          <p:nvPr/>
        </p:nvSpPr>
        <p:spPr>
          <a:xfrm>
            <a:off x="7086600" y="2114550"/>
            <a:ext cx="895350" cy="1524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Technical</a:t>
            </a:r>
          </a:p>
        </p:txBody>
      </p:sp>
      <p:sp>
        <p:nvSpPr>
          <p:cNvPr id="29" name="row-a2-dot-1"/>
          <p:cNvSpPr/>
          <p:nvPr/>
        </p:nvSpPr>
        <p:spPr>
          <a:xfrm>
            <a:off x="8134350" y="2152650"/>
            <a:ext cx="66675" cy="666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row-a2-dot-2"/>
          <p:cNvSpPr/>
          <p:nvPr/>
        </p:nvSpPr>
        <p:spPr>
          <a:xfrm>
            <a:off x="8229600" y="2152650"/>
            <a:ext cx="66675" cy="666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row-a2-dot-3"/>
          <p:cNvSpPr/>
          <p:nvPr/>
        </p:nvSpPr>
        <p:spPr>
          <a:xfrm>
            <a:off x="8324850" y="2152650"/>
            <a:ext cx="66675" cy="6667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row-a2-confidence"/>
          <p:cNvSpPr txBox="1"/>
          <p:nvPr/>
        </p:nvSpPr>
        <p:spPr>
          <a:xfrm>
            <a:off x="8458200" y="21145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Medium</a:t>
            </a:r>
          </a:p>
        </p:txBody>
      </p:sp>
      <p:sp>
        <p:nvSpPr>
          <p:cNvPr id="33" name="row-a2-owner"/>
          <p:cNvSpPr txBox="1"/>
          <p:nvPr/>
        </p:nvSpPr>
        <p:spPr>
          <a:xfrm>
            <a:off x="9372600" y="2114550"/>
            <a:ext cx="1085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IT Arch</a:t>
            </a:r>
          </a:p>
        </p:txBody>
      </p:sp>
      <p:sp>
        <p:nvSpPr>
          <p:cNvPr id="34" name="row-a2-status-pill"/>
          <p:cNvSpPr txBox="1"/>
          <p:nvPr/>
        </p:nvSpPr>
        <p:spPr>
          <a:xfrm>
            <a:off x="10610850" y="2114550"/>
            <a:ext cx="1085850" cy="152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45309"/>
                </a:solidFill>
                <a:latin typeface="Inter"/>
              </a:rPr>
              <a:t>AT RISK</a:t>
            </a:r>
          </a:p>
        </p:txBody>
      </p:sp>
      <p:sp>
        <p:nvSpPr>
          <p:cNvPr id="35" name="row-a2-divider"/>
          <p:cNvSpPr/>
          <p:nvPr/>
        </p:nvSpPr>
        <p:spPr>
          <a:xfrm>
            <a:off x="304800" y="2314575"/>
            <a:ext cx="115824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row-a3-bg"/>
          <p:cNvSpPr/>
          <p:nvPr/>
        </p:nvSpPr>
        <p:spPr>
          <a:xfrm>
            <a:off x="304800" y="2324100"/>
            <a:ext cx="11582400" cy="285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row-a3-num"/>
          <p:cNvSpPr txBox="1"/>
          <p:nvPr/>
        </p:nvSpPr>
        <p:spPr>
          <a:xfrm>
            <a:off x="304800" y="240030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A3</a:t>
            </a:r>
          </a:p>
        </p:txBody>
      </p:sp>
      <p:sp>
        <p:nvSpPr>
          <p:cNvPr id="38" name="row-a3-statement"/>
          <p:cNvSpPr txBox="1"/>
          <p:nvPr/>
        </p:nvSpPr>
        <p:spPr>
          <a:xfrm>
            <a:off x="762000" y="2381250"/>
            <a:ext cx="6172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Regulatory sign-off timeline is 6 weeks</a:t>
            </a:r>
          </a:p>
        </p:txBody>
      </p:sp>
      <p:sp>
        <p:nvSpPr>
          <p:cNvPr id="39" name="row-a3-category"/>
          <p:cNvSpPr txBox="1"/>
          <p:nvPr/>
        </p:nvSpPr>
        <p:spPr>
          <a:xfrm>
            <a:off x="7086600" y="2400300"/>
            <a:ext cx="895350" cy="1524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Compliance</a:t>
            </a:r>
          </a:p>
        </p:txBody>
      </p:sp>
      <p:sp>
        <p:nvSpPr>
          <p:cNvPr id="40" name="row-a3-dot-1"/>
          <p:cNvSpPr/>
          <p:nvPr/>
        </p:nvSpPr>
        <p:spPr>
          <a:xfrm>
            <a:off x="8134350" y="2438400"/>
            <a:ext cx="66675" cy="6667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row-a3-dot-2"/>
          <p:cNvSpPr/>
          <p:nvPr/>
        </p:nvSpPr>
        <p:spPr>
          <a:xfrm>
            <a:off x="8229600" y="2438400"/>
            <a:ext cx="66675" cy="6667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row-a3-dot-3"/>
          <p:cNvSpPr/>
          <p:nvPr/>
        </p:nvSpPr>
        <p:spPr>
          <a:xfrm>
            <a:off x="8324850" y="2438400"/>
            <a:ext cx="66675" cy="6667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row-a3-confidence"/>
          <p:cNvSpPr txBox="1"/>
          <p:nvPr/>
        </p:nvSpPr>
        <p:spPr>
          <a:xfrm>
            <a:off x="8458200" y="24003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Low</a:t>
            </a:r>
          </a:p>
        </p:txBody>
      </p:sp>
      <p:sp>
        <p:nvSpPr>
          <p:cNvPr id="44" name="row-a3-owner"/>
          <p:cNvSpPr txBox="1"/>
          <p:nvPr/>
        </p:nvSpPr>
        <p:spPr>
          <a:xfrm>
            <a:off x="9372600" y="2400300"/>
            <a:ext cx="1085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Legal</a:t>
            </a:r>
          </a:p>
        </p:txBody>
      </p:sp>
      <p:sp>
        <p:nvSpPr>
          <p:cNvPr id="45" name="row-a3-status-pill"/>
          <p:cNvSpPr txBox="1"/>
          <p:nvPr/>
        </p:nvSpPr>
        <p:spPr>
          <a:xfrm>
            <a:off x="10610850" y="2400300"/>
            <a:ext cx="1085850" cy="152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UNVALIDATED</a:t>
            </a:r>
          </a:p>
        </p:txBody>
      </p:sp>
      <p:sp>
        <p:nvSpPr>
          <p:cNvPr id="46" name="row-a3-divider"/>
          <p:cNvSpPr/>
          <p:nvPr/>
        </p:nvSpPr>
        <p:spPr>
          <a:xfrm>
            <a:off x="304800" y="2600325"/>
            <a:ext cx="115824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row-a4-bg"/>
          <p:cNvSpPr/>
          <p:nvPr/>
        </p:nvSpPr>
        <p:spPr>
          <a:xfrm>
            <a:off x="304800" y="2609850"/>
            <a:ext cx="11582400" cy="285750"/>
          </a:xfrm>
          <a:prstGeom prst="rect">
            <a:avLst/>
          </a:prstGeom>
          <a:solidFill>
            <a:srgbClr val="FD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row-a4-num"/>
          <p:cNvSpPr txBox="1"/>
          <p:nvPr/>
        </p:nvSpPr>
        <p:spPr>
          <a:xfrm>
            <a:off x="304800" y="268605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A4</a:t>
            </a:r>
          </a:p>
        </p:txBody>
      </p:sp>
      <p:sp>
        <p:nvSpPr>
          <p:cNvPr id="49" name="row-a4-statement"/>
          <p:cNvSpPr txBox="1"/>
          <p:nvPr/>
        </p:nvSpPr>
        <p:spPr>
          <a:xfrm>
            <a:off x="762000" y="2667000"/>
            <a:ext cx="6172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Key personnel remain available for full project</a:t>
            </a:r>
          </a:p>
        </p:txBody>
      </p:sp>
      <p:sp>
        <p:nvSpPr>
          <p:cNvPr id="50" name="row-a4-category"/>
          <p:cNvSpPr txBox="1"/>
          <p:nvPr/>
        </p:nvSpPr>
        <p:spPr>
          <a:xfrm>
            <a:off x="7086600" y="2686050"/>
            <a:ext cx="895350" cy="1524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Resource</a:t>
            </a:r>
          </a:p>
        </p:txBody>
      </p:sp>
      <p:sp>
        <p:nvSpPr>
          <p:cNvPr id="51" name="row-a4-dot-1"/>
          <p:cNvSpPr/>
          <p:nvPr/>
        </p:nvSpPr>
        <p:spPr>
          <a:xfrm>
            <a:off x="8134350" y="2724150"/>
            <a:ext cx="66675" cy="66675"/>
          </a:xfrm>
          <a:prstGeom prst="rect">
            <a:avLst/>
          </a:prstGeom>
          <a:solidFill>
            <a:srgbClr val="22C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row-a4-dot-2"/>
          <p:cNvSpPr/>
          <p:nvPr/>
        </p:nvSpPr>
        <p:spPr>
          <a:xfrm>
            <a:off x="8229600" y="2724150"/>
            <a:ext cx="66675" cy="66675"/>
          </a:xfrm>
          <a:prstGeom prst="rect">
            <a:avLst/>
          </a:prstGeom>
          <a:solidFill>
            <a:srgbClr val="22C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row-a4-dot-3"/>
          <p:cNvSpPr/>
          <p:nvPr/>
        </p:nvSpPr>
        <p:spPr>
          <a:xfrm>
            <a:off x="8324850" y="2724150"/>
            <a:ext cx="66675" cy="66675"/>
          </a:xfrm>
          <a:prstGeom prst="rect">
            <a:avLst/>
          </a:prstGeom>
          <a:solidFill>
            <a:srgbClr val="22C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row-a4-confidence"/>
          <p:cNvSpPr txBox="1"/>
          <p:nvPr/>
        </p:nvSpPr>
        <p:spPr>
          <a:xfrm>
            <a:off x="8458200" y="26860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High</a:t>
            </a:r>
          </a:p>
        </p:txBody>
      </p:sp>
      <p:sp>
        <p:nvSpPr>
          <p:cNvPr id="55" name="row-a4-owner"/>
          <p:cNvSpPr txBox="1"/>
          <p:nvPr/>
        </p:nvSpPr>
        <p:spPr>
          <a:xfrm>
            <a:off x="9372600" y="2686050"/>
            <a:ext cx="1085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PMO</a:t>
            </a:r>
          </a:p>
        </p:txBody>
      </p:sp>
      <p:sp>
        <p:nvSpPr>
          <p:cNvPr id="56" name="row-a4-status-pill"/>
          <p:cNvSpPr txBox="1"/>
          <p:nvPr/>
        </p:nvSpPr>
        <p:spPr>
          <a:xfrm>
            <a:off x="10610850" y="2686050"/>
            <a:ext cx="1085850" cy="1524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CONFIRMED</a:t>
            </a:r>
          </a:p>
        </p:txBody>
      </p:sp>
      <p:sp>
        <p:nvSpPr>
          <p:cNvPr id="57" name="row-a4-divider"/>
          <p:cNvSpPr/>
          <p:nvPr/>
        </p:nvSpPr>
        <p:spPr>
          <a:xfrm>
            <a:off x="304800" y="2886075"/>
            <a:ext cx="115824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section-2-header-bg"/>
          <p:cNvSpPr/>
          <p:nvPr/>
        </p:nvSpPr>
        <p:spPr>
          <a:xfrm>
            <a:off x="304800" y="3009900"/>
            <a:ext cx="1158240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section-2-header"/>
          <p:cNvSpPr txBox="1"/>
          <p:nvPr/>
        </p:nvSpPr>
        <p:spPr>
          <a:xfrm>
            <a:off x="419100" y="30480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DEPENDENCIES</a:t>
            </a:r>
          </a:p>
        </p:txBody>
      </p:sp>
      <p:sp>
        <p:nvSpPr>
          <p:cNvPr id="60" name="section-2-hdr-bg"/>
          <p:cNvSpPr/>
          <p:nvPr/>
        </p:nvSpPr>
        <p:spPr>
          <a:xfrm>
            <a:off x="304800" y="3219450"/>
            <a:ext cx="11582400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section-2-col-1-header"/>
          <p:cNvSpPr txBox="1"/>
          <p:nvPr/>
        </p:nvSpPr>
        <p:spPr>
          <a:xfrm>
            <a:off x="381000" y="325755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#</a:t>
            </a:r>
          </a:p>
        </p:txBody>
      </p:sp>
      <p:sp>
        <p:nvSpPr>
          <p:cNvPr id="62" name="section-2-col-2-header"/>
          <p:cNvSpPr txBox="1"/>
          <p:nvPr/>
        </p:nvSpPr>
        <p:spPr>
          <a:xfrm>
            <a:off x="762000" y="3257550"/>
            <a:ext cx="6172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STATEMENT</a:t>
            </a:r>
          </a:p>
        </p:txBody>
      </p:sp>
      <p:sp>
        <p:nvSpPr>
          <p:cNvPr id="63" name="section-2-col-3-header"/>
          <p:cNvSpPr txBox="1"/>
          <p:nvPr/>
        </p:nvSpPr>
        <p:spPr>
          <a:xfrm>
            <a:off x="7086600" y="3257550"/>
            <a:ext cx="895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CATEGORY</a:t>
            </a:r>
          </a:p>
        </p:txBody>
      </p:sp>
      <p:sp>
        <p:nvSpPr>
          <p:cNvPr id="64" name="section-2-col-4-header"/>
          <p:cNvSpPr txBox="1"/>
          <p:nvPr/>
        </p:nvSpPr>
        <p:spPr>
          <a:xfrm>
            <a:off x="8134350" y="3257550"/>
            <a:ext cx="1085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CONFIDENCE</a:t>
            </a:r>
          </a:p>
        </p:txBody>
      </p:sp>
      <p:sp>
        <p:nvSpPr>
          <p:cNvPr id="65" name="section-2-col-5-header"/>
          <p:cNvSpPr txBox="1"/>
          <p:nvPr/>
        </p:nvSpPr>
        <p:spPr>
          <a:xfrm>
            <a:off x="9372600" y="3257550"/>
            <a:ext cx="1085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OWNER</a:t>
            </a:r>
          </a:p>
        </p:txBody>
      </p:sp>
      <p:sp>
        <p:nvSpPr>
          <p:cNvPr id="66" name="section-2-col-6-header"/>
          <p:cNvSpPr txBox="1"/>
          <p:nvPr/>
        </p:nvSpPr>
        <p:spPr>
          <a:xfrm>
            <a:off x="10610850" y="3257550"/>
            <a:ext cx="1085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STATUS</a:t>
            </a:r>
          </a:p>
        </p:txBody>
      </p:sp>
      <p:sp>
        <p:nvSpPr>
          <p:cNvPr id="67" name="row-d1-bg"/>
          <p:cNvSpPr/>
          <p:nvPr/>
        </p:nvSpPr>
        <p:spPr>
          <a:xfrm>
            <a:off x="304800" y="3429000"/>
            <a:ext cx="11582400" cy="285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row-d1-num"/>
          <p:cNvSpPr txBox="1"/>
          <p:nvPr/>
        </p:nvSpPr>
        <p:spPr>
          <a:xfrm>
            <a:off x="304800" y="350520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D1</a:t>
            </a:r>
          </a:p>
        </p:txBody>
      </p:sp>
      <p:sp>
        <p:nvSpPr>
          <p:cNvPr id="69" name="row-d1-statement"/>
          <p:cNvSpPr txBox="1"/>
          <p:nvPr/>
        </p:nvSpPr>
        <p:spPr>
          <a:xfrm>
            <a:off x="762000" y="3486150"/>
            <a:ext cx="6172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ERP upgrade project completes before Phase 2</a:t>
            </a:r>
          </a:p>
        </p:txBody>
      </p:sp>
      <p:sp>
        <p:nvSpPr>
          <p:cNvPr id="70" name="row-d1-category"/>
          <p:cNvSpPr txBox="1"/>
          <p:nvPr/>
        </p:nvSpPr>
        <p:spPr>
          <a:xfrm>
            <a:off x="7086600" y="3505200"/>
            <a:ext cx="895350" cy="1524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IT</a:t>
            </a:r>
          </a:p>
        </p:txBody>
      </p:sp>
      <p:sp>
        <p:nvSpPr>
          <p:cNvPr id="71" name="row-d1-confidence"/>
          <p:cNvSpPr txBox="1"/>
          <p:nvPr/>
        </p:nvSpPr>
        <p:spPr>
          <a:xfrm>
            <a:off x="8134350" y="3505200"/>
            <a:ext cx="1085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—</a:t>
            </a:r>
          </a:p>
        </p:txBody>
      </p:sp>
      <p:sp>
        <p:nvSpPr>
          <p:cNvPr id="72" name="row-d1-owner"/>
          <p:cNvSpPr txBox="1"/>
          <p:nvPr/>
        </p:nvSpPr>
        <p:spPr>
          <a:xfrm>
            <a:off x="9372600" y="3505200"/>
            <a:ext cx="1085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IT PMO</a:t>
            </a:r>
          </a:p>
        </p:txBody>
      </p:sp>
      <p:sp>
        <p:nvSpPr>
          <p:cNvPr id="73" name="row-d1-status-pill"/>
          <p:cNvSpPr txBox="1"/>
          <p:nvPr/>
        </p:nvSpPr>
        <p:spPr>
          <a:xfrm>
            <a:off x="10610850" y="3505200"/>
            <a:ext cx="1085850" cy="152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45309"/>
                </a:solidFill>
                <a:latin typeface="Inter"/>
              </a:rPr>
              <a:t>AT RISK</a:t>
            </a:r>
          </a:p>
        </p:txBody>
      </p:sp>
      <p:sp>
        <p:nvSpPr>
          <p:cNvPr id="74" name="row-d1-divider"/>
          <p:cNvSpPr/>
          <p:nvPr/>
        </p:nvSpPr>
        <p:spPr>
          <a:xfrm>
            <a:off x="304800" y="3705225"/>
            <a:ext cx="115824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row-d2-bg"/>
          <p:cNvSpPr/>
          <p:nvPr/>
        </p:nvSpPr>
        <p:spPr>
          <a:xfrm>
            <a:off x="304800" y="3714750"/>
            <a:ext cx="11582400" cy="285750"/>
          </a:xfrm>
          <a:prstGeom prst="rect">
            <a:avLst/>
          </a:prstGeom>
          <a:solidFill>
            <a:srgbClr val="FD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row-d2-num"/>
          <p:cNvSpPr txBox="1"/>
          <p:nvPr/>
        </p:nvSpPr>
        <p:spPr>
          <a:xfrm>
            <a:off x="304800" y="379095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D2</a:t>
            </a:r>
          </a:p>
        </p:txBody>
      </p:sp>
      <p:sp>
        <p:nvSpPr>
          <p:cNvPr id="77" name="row-d2-statement"/>
          <p:cNvSpPr txBox="1"/>
          <p:nvPr/>
        </p:nvSpPr>
        <p:spPr>
          <a:xfrm>
            <a:off x="762000" y="3771900"/>
            <a:ext cx="6172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Vendor API access granted</a:t>
            </a:r>
          </a:p>
        </p:txBody>
      </p:sp>
      <p:sp>
        <p:nvSpPr>
          <p:cNvPr id="78" name="row-d2-category"/>
          <p:cNvSpPr txBox="1"/>
          <p:nvPr/>
        </p:nvSpPr>
        <p:spPr>
          <a:xfrm>
            <a:off x="7086600" y="3790950"/>
            <a:ext cx="895350" cy="1524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External</a:t>
            </a:r>
          </a:p>
        </p:txBody>
      </p:sp>
      <p:sp>
        <p:nvSpPr>
          <p:cNvPr id="79" name="row-d2-confidence"/>
          <p:cNvSpPr txBox="1"/>
          <p:nvPr/>
        </p:nvSpPr>
        <p:spPr>
          <a:xfrm>
            <a:off x="8134350" y="3790950"/>
            <a:ext cx="1085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—</a:t>
            </a:r>
          </a:p>
        </p:txBody>
      </p:sp>
      <p:sp>
        <p:nvSpPr>
          <p:cNvPr id="80" name="row-d2-owner"/>
          <p:cNvSpPr txBox="1"/>
          <p:nvPr/>
        </p:nvSpPr>
        <p:spPr>
          <a:xfrm>
            <a:off x="9372600" y="3790950"/>
            <a:ext cx="1085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Procurement</a:t>
            </a:r>
          </a:p>
        </p:txBody>
      </p:sp>
      <p:sp>
        <p:nvSpPr>
          <p:cNvPr id="81" name="row-d2-status-pill"/>
          <p:cNvSpPr txBox="1"/>
          <p:nvPr/>
        </p:nvSpPr>
        <p:spPr>
          <a:xfrm>
            <a:off x="10610850" y="3790950"/>
            <a:ext cx="1085850" cy="1524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CONFIRMED</a:t>
            </a:r>
          </a:p>
        </p:txBody>
      </p:sp>
      <p:sp>
        <p:nvSpPr>
          <p:cNvPr id="82" name="row-d2-divider"/>
          <p:cNvSpPr/>
          <p:nvPr/>
        </p:nvSpPr>
        <p:spPr>
          <a:xfrm>
            <a:off x="304800" y="3990975"/>
            <a:ext cx="115824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row-d3-bg"/>
          <p:cNvSpPr/>
          <p:nvPr/>
        </p:nvSpPr>
        <p:spPr>
          <a:xfrm>
            <a:off x="304800" y="4000500"/>
            <a:ext cx="11582400" cy="285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row-d3-num"/>
          <p:cNvSpPr txBox="1"/>
          <p:nvPr/>
        </p:nvSpPr>
        <p:spPr>
          <a:xfrm>
            <a:off x="304800" y="407670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D3</a:t>
            </a:r>
          </a:p>
        </p:txBody>
      </p:sp>
      <p:sp>
        <p:nvSpPr>
          <p:cNvPr id="85" name="row-d3-statement"/>
          <p:cNvSpPr txBox="1"/>
          <p:nvPr/>
        </p:nvSpPr>
        <p:spPr>
          <a:xfrm>
            <a:off x="762000" y="4057650"/>
            <a:ext cx="6172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Board approval of business case</a:t>
            </a:r>
          </a:p>
        </p:txBody>
      </p:sp>
      <p:sp>
        <p:nvSpPr>
          <p:cNvPr id="86" name="row-d3-category"/>
          <p:cNvSpPr txBox="1"/>
          <p:nvPr/>
        </p:nvSpPr>
        <p:spPr>
          <a:xfrm>
            <a:off x="7086600" y="4076700"/>
            <a:ext cx="895350" cy="1524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Strategic</a:t>
            </a:r>
          </a:p>
        </p:txBody>
      </p:sp>
      <p:sp>
        <p:nvSpPr>
          <p:cNvPr id="87" name="row-d3-confidence"/>
          <p:cNvSpPr txBox="1"/>
          <p:nvPr/>
        </p:nvSpPr>
        <p:spPr>
          <a:xfrm>
            <a:off x="8134350" y="4076700"/>
            <a:ext cx="1085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—</a:t>
            </a:r>
          </a:p>
        </p:txBody>
      </p:sp>
      <p:sp>
        <p:nvSpPr>
          <p:cNvPr id="88" name="row-d3-owner"/>
          <p:cNvSpPr txBox="1"/>
          <p:nvPr/>
        </p:nvSpPr>
        <p:spPr>
          <a:xfrm>
            <a:off x="9372600" y="4076700"/>
            <a:ext cx="1085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Exec Sponsor</a:t>
            </a:r>
          </a:p>
        </p:txBody>
      </p:sp>
      <p:sp>
        <p:nvSpPr>
          <p:cNvPr id="89" name="row-d3-status-pill"/>
          <p:cNvSpPr txBox="1"/>
          <p:nvPr/>
        </p:nvSpPr>
        <p:spPr>
          <a:xfrm>
            <a:off x="10610850" y="4076700"/>
            <a:ext cx="1085850" cy="152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UNVALIDATED</a:t>
            </a:r>
          </a:p>
        </p:txBody>
      </p:sp>
      <p:sp>
        <p:nvSpPr>
          <p:cNvPr id="90" name="row-d3-divider"/>
          <p:cNvSpPr/>
          <p:nvPr/>
        </p:nvSpPr>
        <p:spPr>
          <a:xfrm>
            <a:off x="304800" y="4276725"/>
            <a:ext cx="115824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summary-bg"/>
          <p:cNvSpPr/>
          <p:nvPr/>
        </p:nvSpPr>
        <p:spPr>
          <a:xfrm>
            <a:off x="304800" y="4400550"/>
            <a:ext cx="11582400" cy="3048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summary-label"/>
          <p:cNvSpPr txBox="1"/>
          <p:nvPr/>
        </p:nvSpPr>
        <p:spPr>
          <a:xfrm>
            <a:off x="438150" y="44767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SUMMARY</a:t>
            </a:r>
          </a:p>
        </p:txBody>
      </p:sp>
      <p:sp>
        <p:nvSpPr>
          <p:cNvPr id="93" name="summary-1-count"/>
          <p:cNvSpPr txBox="1"/>
          <p:nvPr/>
        </p:nvSpPr>
        <p:spPr>
          <a:xfrm>
            <a:off x="1352550" y="443865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15803D"/>
                </a:solidFill>
                <a:latin typeface="Inter"/>
              </a:rPr>
              <a:t>3</a:t>
            </a:r>
          </a:p>
        </p:txBody>
      </p:sp>
      <p:sp>
        <p:nvSpPr>
          <p:cNvPr id="94" name="summary-1-label"/>
          <p:cNvSpPr txBox="1"/>
          <p:nvPr/>
        </p:nvSpPr>
        <p:spPr>
          <a:xfrm>
            <a:off x="1619250" y="4495800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Confirmed</a:t>
            </a:r>
          </a:p>
        </p:txBody>
      </p:sp>
      <p:sp>
        <p:nvSpPr>
          <p:cNvPr id="95" name="summary-divider-1"/>
          <p:cNvSpPr/>
          <p:nvPr/>
        </p:nvSpPr>
        <p:spPr>
          <a:xfrm>
            <a:off x="2762250" y="4476750"/>
            <a:ext cx="9525" cy="1524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summary-2-count"/>
          <p:cNvSpPr txBox="1"/>
          <p:nvPr/>
        </p:nvSpPr>
        <p:spPr>
          <a:xfrm>
            <a:off x="2876550" y="443865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B45309"/>
                </a:solidFill>
                <a:latin typeface="Inter"/>
              </a:rPr>
              <a:t>2</a:t>
            </a:r>
          </a:p>
        </p:txBody>
      </p:sp>
      <p:sp>
        <p:nvSpPr>
          <p:cNvPr id="97" name="summary-2-label"/>
          <p:cNvSpPr txBox="1"/>
          <p:nvPr/>
        </p:nvSpPr>
        <p:spPr>
          <a:xfrm>
            <a:off x="3143250" y="4495800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At Risk</a:t>
            </a:r>
          </a:p>
        </p:txBody>
      </p:sp>
      <p:sp>
        <p:nvSpPr>
          <p:cNvPr id="98" name="summary-divider-2"/>
          <p:cNvSpPr/>
          <p:nvPr/>
        </p:nvSpPr>
        <p:spPr>
          <a:xfrm>
            <a:off x="4286250" y="4476750"/>
            <a:ext cx="9525" cy="1524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9" name="summary-3-count"/>
          <p:cNvSpPr txBox="1"/>
          <p:nvPr/>
        </p:nvSpPr>
        <p:spPr>
          <a:xfrm>
            <a:off x="4400550" y="443865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94A3B8"/>
                </a:solidFill>
                <a:latin typeface="Inter"/>
              </a:rPr>
              <a:t>2</a:t>
            </a:r>
          </a:p>
        </p:txBody>
      </p:sp>
      <p:sp>
        <p:nvSpPr>
          <p:cNvPr id="100" name="summary-3-label"/>
          <p:cNvSpPr txBox="1"/>
          <p:nvPr/>
        </p:nvSpPr>
        <p:spPr>
          <a:xfrm>
            <a:off x="4667250" y="4495800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Unvalidated</a:t>
            </a:r>
          </a:p>
        </p:txBody>
      </p:sp>
      <p:sp>
        <p:nvSpPr>
          <p:cNvPr id="10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0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0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