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190500"/>
            <a:ext cx="109728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FFFFFF"/>
                </a:solidFill>
                <a:latin typeface="Inter"/>
              </a:rPr>
              <a:t>Key messages </a:t>
            </a:r>
            <a:r>
              <a:rPr sz="2400" b="1" i="0">
                <a:solidFill>
                  <a:srgbClr val="C780FF"/>
                </a:solidFill>
                <a:latin typeface="Inter"/>
              </a:rPr>
              <a:t>tailored by audience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028700"/>
            <a:ext cx="104775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Stakeholder communication framework — transformation programme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col-1-aud"/>
          <p:cNvSpPr txBox="1"/>
          <p:nvPr/>
        </p:nvSpPr>
        <p:spPr>
          <a:xfrm>
            <a:off x="647700" y="1524000"/>
            <a:ext cx="25812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Board</a:t>
            </a:r>
          </a:p>
        </p:txBody>
      </p:sp>
      <p:sp>
        <p:nvSpPr>
          <p:cNvPr id="6" name="col-1-desc"/>
          <p:cNvSpPr txBox="1"/>
          <p:nvPr/>
        </p:nvSpPr>
        <p:spPr>
          <a:xfrm>
            <a:off x="647700" y="1752600"/>
            <a:ext cx="25812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Non-executive directors &amp; trustees</a:t>
            </a:r>
          </a:p>
        </p:txBody>
      </p:sp>
      <p:sp>
        <p:nvSpPr>
          <p:cNvPr id="7" name="col-1-rule"/>
          <p:cNvSpPr/>
          <p:nvPr/>
        </p:nvSpPr>
        <p:spPr>
          <a:xfrm>
            <a:off x="647700" y="19431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col-1-msg-1-bg"/>
          <p:cNvSpPr/>
          <p:nvPr/>
        </p:nvSpPr>
        <p:spPr>
          <a:xfrm>
            <a:off x="609600" y="20574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col-1-msg-1-strip"/>
          <p:cNvSpPr/>
          <p:nvPr/>
        </p:nvSpPr>
        <p:spPr>
          <a:xfrm>
            <a:off x="609600" y="20574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col-1-msg-1-text"/>
          <p:cNvSpPr txBox="1"/>
          <p:nvPr/>
        </p:nvSpPr>
        <p:spPr>
          <a:xfrm>
            <a:off x="742950" y="21336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Strategic value unlocked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the programme delivers £42M in run-rate savings by FY27, ahead of peer benchmarks.</a:t>
            </a:r>
          </a:p>
        </p:txBody>
      </p:sp>
      <p:sp>
        <p:nvSpPr>
          <p:cNvPr id="11" name="col-1-msg-2-bg"/>
          <p:cNvSpPr/>
          <p:nvPr/>
        </p:nvSpPr>
        <p:spPr>
          <a:xfrm>
            <a:off x="609600" y="32385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col-1-msg-2-strip"/>
          <p:cNvSpPr/>
          <p:nvPr/>
        </p:nvSpPr>
        <p:spPr>
          <a:xfrm>
            <a:off x="609600" y="32385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col-1-msg-2-text"/>
          <p:cNvSpPr txBox="1"/>
          <p:nvPr/>
        </p:nvSpPr>
        <p:spPr>
          <a:xfrm>
            <a:off x="742950" y="33147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Risk exposure reduced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legacy tech debt eliminated across four critical systems, cutting regulatory exposure.</a:t>
            </a:r>
          </a:p>
        </p:txBody>
      </p:sp>
      <p:sp>
        <p:nvSpPr>
          <p:cNvPr id="14" name="col-1-msg-3-bg"/>
          <p:cNvSpPr/>
          <p:nvPr/>
        </p:nvSpPr>
        <p:spPr>
          <a:xfrm>
            <a:off x="609600" y="44196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col-1-msg-3-strip"/>
          <p:cNvSpPr/>
          <p:nvPr/>
        </p:nvSpPr>
        <p:spPr>
          <a:xfrm>
            <a:off x="609600" y="44196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col-1-msg-3-text"/>
          <p:cNvSpPr txBox="1"/>
          <p:nvPr/>
        </p:nvSpPr>
        <p:spPr>
          <a:xfrm>
            <a:off x="742950" y="44958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Governance milestones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on track — Stage Gate 2 passed with zero red risks; next review 14 Jun.</a:t>
            </a:r>
          </a:p>
        </p:txBody>
      </p:sp>
      <p:sp>
        <p:nvSpPr>
          <p:cNvPr id="17" name="col-1-chip-bg"/>
          <p:cNvSpPr/>
          <p:nvPr/>
        </p:nvSpPr>
        <p:spPr>
          <a:xfrm>
            <a:off x="609600" y="5638800"/>
            <a:ext cx="1257300" cy="228600"/>
          </a:xfrm>
          <a:prstGeom prst="rect">
            <a:avLst/>
          </a:prstGeom>
          <a:solidFill>
            <a:srgbClr val="3C1F5C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l-1-chip"/>
          <p:cNvSpPr txBox="1"/>
          <p:nvPr/>
        </p:nvSpPr>
        <p:spPr>
          <a:xfrm>
            <a:off x="609600" y="5638800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BOARD PACK</a:t>
            </a:r>
          </a:p>
        </p:txBody>
      </p:sp>
      <p:sp>
        <p:nvSpPr>
          <p:cNvPr id="19" name="col-2-aud"/>
          <p:cNvSpPr txBox="1"/>
          <p:nvPr/>
        </p:nvSpPr>
        <p:spPr>
          <a:xfrm>
            <a:off x="3419475" y="1524000"/>
            <a:ext cx="25812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C-Suite</a:t>
            </a:r>
          </a:p>
        </p:txBody>
      </p:sp>
      <p:sp>
        <p:nvSpPr>
          <p:cNvPr id="20" name="col-2-desc"/>
          <p:cNvSpPr txBox="1"/>
          <p:nvPr/>
        </p:nvSpPr>
        <p:spPr>
          <a:xfrm>
            <a:off x="3419475" y="1752600"/>
            <a:ext cx="25812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CEO, CFO, COO &amp; function leads</a:t>
            </a:r>
          </a:p>
        </p:txBody>
      </p:sp>
      <p:sp>
        <p:nvSpPr>
          <p:cNvPr id="21" name="col-2-rule"/>
          <p:cNvSpPr/>
          <p:nvPr/>
        </p:nvSpPr>
        <p:spPr>
          <a:xfrm>
            <a:off x="3419475" y="19431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l-2-msg-1-bg"/>
          <p:cNvSpPr/>
          <p:nvPr/>
        </p:nvSpPr>
        <p:spPr>
          <a:xfrm>
            <a:off x="3381375" y="20574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3" name="col-2-msg-1-strip"/>
          <p:cNvSpPr/>
          <p:nvPr/>
        </p:nvSpPr>
        <p:spPr>
          <a:xfrm>
            <a:off x="3381375" y="20574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col-2-msg-1-text"/>
          <p:cNvSpPr txBox="1"/>
          <p:nvPr/>
        </p:nvSpPr>
        <p:spPr>
          <a:xfrm>
            <a:off x="3514725" y="21336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Delivery confidence high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RAG status green across all workstreams; budget consumed at 94% planned rate.</a:t>
            </a:r>
          </a:p>
        </p:txBody>
      </p:sp>
      <p:sp>
        <p:nvSpPr>
          <p:cNvPr id="25" name="col-2-msg-2-bg"/>
          <p:cNvSpPr/>
          <p:nvPr/>
        </p:nvSpPr>
        <p:spPr>
          <a:xfrm>
            <a:off x="3381375" y="32385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l-2-msg-2-strip"/>
          <p:cNvSpPr/>
          <p:nvPr/>
        </p:nvSpPr>
        <p:spPr>
          <a:xfrm>
            <a:off x="3381375" y="32385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col-2-msg-2-text"/>
          <p:cNvSpPr txBox="1"/>
          <p:nvPr/>
        </p:nvSpPr>
        <p:spPr>
          <a:xfrm>
            <a:off x="3514725" y="33147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Capability investment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accelerating — 340 staff upskilled in Q1; talent gap closes by Q3 2026.</a:t>
            </a:r>
          </a:p>
        </p:txBody>
      </p:sp>
      <p:sp>
        <p:nvSpPr>
          <p:cNvPr id="28" name="col-2-msg-3-bg"/>
          <p:cNvSpPr/>
          <p:nvPr/>
        </p:nvSpPr>
        <p:spPr>
          <a:xfrm>
            <a:off x="3381375" y="44196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l-2-msg-3-strip"/>
          <p:cNvSpPr/>
          <p:nvPr/>
        </p:nvSpPr>
        <p:spPr>
          <a:xfrm>
            <a:off x="3381375" y="44196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l-2-msg-3-text"/>
          <p:cNvSpPr txBox="1"/>
          <p:nvPr/>
        </p:nvSpPr>
        <p:spPr>
          <a:xfrm>
            <a:off x="3514725" y="44958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Decision needed by 30 May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on vendor contract extension — options paper circulated for approval.</a:t>
            </a:r>
          </a:p>
        </p:txBody>
      </p:sp>
      <p:sp>
        <p:nvSpPr>
          <p:cNvPr id="31" name="col-2-chip-bg"/>
          <p:cNvSpPr/>
          <p:nvPr/>
        </p:nvSpPr>
        <p:spPr>
          <a:xfrm>
            <a:off x="3381375" y="5638800"/>
            <a:ext cx="1257300" cy="228600"/>
          </a:xfrm>
          <a:prstGeom prst="rect">
            <a:avLst/>
          </a:prstGeom>
          <a:solidFill>
            <a:srgbClr val="3C1F5C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2" name="col-2-chip"/>
          <p:cNvSpPr txBox="1"/>
          <p:nvPr/>
        </p:nvSpPr>
        <p:spPr>
          <a:xfrm>
            <a:off x="3381375" y="5638800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STEERCO DECK</a:t>
            </a:r>
          </a:p>
        </p:txBody>
      </p:sp>
      <p:sp>
        <p:nvSpPr>
          <p:cNvPr id="33" name="col-3-aud"/>
          <p:cNvSpPr txBox="1"/>
          <p:nvPr/>
        </p:nvSpPr>
        <p:spPr>
          <a:xfrm>
            <a:off x="6191250" y="1524000"/>
            <a:ext cx="25812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Operations</a:t>
            </a:r>
          </a:p>
        </p:txBody>
      </p:sp>
      <p:sp>
        <p:nvSpPr>
          <p:cNvPr id="34" name="col-3-desc"/>
          <p:cNvSpPr txBox="1"/>
          <p:nvPr/>
        </p:nvSpPr>
        <p:spPr>
          <a:xfrm>
            <a:off x="6191250" y="1752600"/>
            <a:ext cx="25812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Managers &amp; team leads</a:t>
            </a:r>
          </a:p>
        </p:txBody>
      </p:sp>
      <p:sp>
        <p:nvSpPr>
          <p:cNvPr id="35" name="col-3-rule"/>
          <p:cNvSpPr/>
          <p:nvPr/>
        </p:nvSpPr>
        <p:spPr>
          <a:xfrm>
            <a:off x="6191250" y="19431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col-3-msg-1-bg"/>
          <p:cNvSpPr/>
          <p:nvPr/>
        </p:nvSpPr>
        <p:spPr>
          <a:xfrm>
            <a:off x="6153150" y="20574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l-3-msg-1-strip"/>
          <p:cNvSpPr/>
          <p:nvPr/>
        </p:nvSpPr>
        <p:spPr>
          <a:xfrm>
            <a:off x="6153150" y="20574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l-3-msg-1-text"/>
          <p:cNvSpPr txBox="1"/>
          <p:nvPr/>
        </p:nvSpPr>
        <p:spPr>
          <a:xfrm>
            <a:off x="6286500" y="21336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New platform live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in Regions 1–3 from 2 Jun — runbooks and support contacts issued to all leads.</a:t>
            </a:r>
          </a:p>
        </p:txBody>
      </p:sp>
      <p:sp>
        <p:nvSpPr>
          <p:cNvPr id="39" name="col-3-msg-2-bg"/>
          <p:cNvSpPr/>
          <p:nvPr/>
        </p:nvSpPr>
        <p:spPr>
          <a:xfrm>
            <a:off x="6153150" y="32385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0" name="col-3-msg-2-strip"/>
          <p:cNvSpPr/>
          <p:nvPr/>
        </p:nvSpPr>
        <p:spPr>
          <a:xfrm>
            <a:off x="6153150" y="32385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ol-3-msg-2-text"/>
          <p:cNvSpPr txBox="1"/>
          <p:nvPr/>
        </p:nvSpPr>
        <p:spPr>
          <a:xfrm>
            <a:off x="6286500" y="33147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Process changes mapped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six workflows updated; change impact matrix available on SharePoint.</a:t>
            </a:r>
          </a:p>
        </p:txBody>
      </p:sp>
      <p:sp>
        <p:nvSpPr>
          <p:cNvPr id="42" name="col-3-msg-3-bg"/>
          <p:cNvSpPr/>
          <p:nvPr/>
        </p:nvSpPr>
        <p:spPr>
          <a:xfrm>
            <a:off x="6153150" y="44196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col-3-msg-3-strip"/>
          <p:cNvSpPr/>
          <p:nvPr/>
        </p:nvSpPr>
        <p:spPr>
          <a:xfrm>
            <a:off x="6153150" y="44196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4" name="col-3-msg-3-text"/>
          <p:cNvSpPr txBox="1"/>
          <p:nvPr/>
        </p:nvSpPr>
        <p:spPr>
          <a:xfrm>
            <a:off x="6286500" y="44958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Escalation path clear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issues raised via ServiceNow queue, SLA 4 hrs for Sev-1 during cutover.</a:t>
            </a:r>
          </a:p>
        </p:txBody>
      </p:sp>
      <p:sp>
        <p:nvSpPr>
          <p:cNvPr id="45" name="col-3-chip-bg"/>
          <p:cNvSpPr/>
          <p:nvPr/>
        </p:nvSpPr>
        <p:spPr>
          <a:xfrm>
            <a:off x="6153150" y="5638800"/>
            <a:ext cx="1257300" cy="228600"/>
          </a:xfrm>
          <a:prstGeom prst="rect">
            <a:avLst/>
          </a:prstGeom>
          <a:solidFill>
            <a:srgbClr val="3C1F5C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l-3-chip"/>
          <p:cNvSpPr txBox="1"/>
          <p:nvPr/>
        </p:nvSpPr>
        <p:spPr>
          <a:xfrm>
            <a:off x="6153150" y="5638800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TOWN HALL</a:t>
            </a:r>
          </a:p>
        </p:txBody>
      </p:sp>
      <p:sp>
        <p:nvSpPr>
          <p:cNvPr id="47" name="col-4-aud"/>
          <p:cNvSpPr txBox="1"/>
          <p:nvPr/>
        </p:nvSpPr>
        <p:spPr>
          <a:xfrm>
            <a:off x="8963025" y="1524000"/>
            <a:ext cx="2581275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Front-Line</a:t>
            </a:r>
          </a:p>
        </p:txBody>
      </p:sp>
      <p:sp>
        <p:nvSpPr>
          <p:cNvPr id="48" name="col-4-desc"/>
          <p:cNvSpPr txBox="1"/>
          <p:nvPr/>
        </p:nvSpPr>
        <p:spPr>
          <a:xfrm>
            <a:off x="8963025" y="1752600"/>
            <a:ext cx="2581275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C88B8"/>
                </a:solidFill>
                <a:latin typeface="Inter"/>
              </a:rPr>
              <a:t>Individual contributors &amp; agents</a:t>
            </a:r>
          </a:p>
        </p:txBody>
      </p:sp>
      <p:sp>
        <p:nvSpPr>
          <p:cNvPr id="49" name="col-4-rule"/>
          <p:cNvSpPr/>
          <p:nvPr/>
        </p:nvSpPr>
        <p:spPr>
          <a:xfrm>
            <a:off x="8963025" y="1943100"/>
            <a:ext cx="304800" cy="19050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l-4-msg-1-bg"/>
          <p:cNvSpPr/>
          <p:nvPr/>
        </p:nvSpPr>
        <p:spPr>
          <a:xfrm>
            <a:off x="8924925" y="20574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1" name="col-4-msg-1-strip"/>
          <p:cNvSpPr/>
          <p:nvPr/>
        </p:nvSpPr>
        <p:spPr>
          <a:xfrm>
            <a:off x="8924925" y="20574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col-4-msg-1-text"/>
          <p:cNvSpPr txBox="1"/>
          <p:nvPr/>
        </p:nvSpPr>
        <p:spPr>
          <a:xfrm>
            <a:off x="9058275" y="21336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Your role is changing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new tools replace two manual steps; training sessions run Tue &amp; Thu this week.</a:t>
            </a:r>
          </a:p>
        </p:txBody>
      </p:sp>
      <p:sp>
        <p:nvSpPr>
          <p:cNvPr id="53" name="col-4-msg-2-bg"/>
          <p:cNvSpPr/>
          <p:nvPr/>
        </p:nvSpPr>
        <p:spPr>
          <a:xfrm>
            <a:off x="8924925" y="32385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ol-4-msg-2-strip"/>
          <p:cNvSpPr/>
          <p:nvPr/>
        </p:nvSpPr>
        <p:spPr>
          <a:xfrm>
            <a:off x="8924925" y="32385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5" name="col-4-msg-2-text"/>
          <p:cNvSpPr txBox="1"/>
          <p:nvPr/>
        </p:nvSpPr>
        <p:spPr>
          <a:xfrm>
            <a:off x="9058275" y="33147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Support is available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floor walkers on site 6–10 Jun; Teams channel #transformation-help open 24/7.</a:t>
            </a:r>
          </a:p>
        </p:txBody>
      </p:sp>
      <p:sp>
        <p:nvSpPr>
          <p:cNvPr id="56" name="col-4-msg-3-bg"/>
          <p:cNvSpPr/>
          <p:nvPr/>
        </p:nvSpPr>
        <p:spPr>
          <a:xfrm>
            <a:off x="8924925" y="4419600"/>
            <a:ext cx="2657475" cy="11049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col-4-msg-3-strip"/>
          <p:cNvSpPr/>
          <p:nvPr/>
        </p:nvSpPr>
        <p:spPr>
          <a:xfrm>
            <a:off x="8924925" y="4419600"/>
            <a:ext cx="28575" cy="11049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col-4-msg-3-text"/>
          <p:cNvSpPr txBox="1"/>
          <p:nvPr/>
        </p:nvSpPr>
        <p:spPr>
          <a:xfrm>
            <a:off x="9058275" y="4495800"/>
            <a:ext cx="2447925" cy="952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Feedback matters</a:t>
            </a:r>
            <a:r>
              <a:rPr sz="1050" b="0" i="0">
                <a:solidFill>
                  <a:srgbClr val="C7B8DD"/>
                </a:solidFill>
                <a:latin typeface="Inter"/>
              </a:rPr>
              <a:t> — pulse survey open until 20 Jun; results shared back within two weeks.</a:t>
            </a:r>
          </a:p>
        </p:txBody>
      </p:sp>
      <p:sp>
        <p:nvSpPr>
          <p:cNvPr id="59" name="col-4-chip-bg"/>
          <p:cNvSpPr/>
          <p:nvPr/>
        </p:nvSpPr>
        <p:spPr>
          <a:xfrm>
            <a:off x="8924925" y="5638800"/>
            <a:ext cx="1257300" cy="228600"/>
          </a:xfrm>
          <a:prstGeom prst="rect">
            <a:avLst/>
          </a:prstGeom>
          <a:solidFill>
            <a:srgbClr val="3C1F5C"/>
          </a:solidFill>
          <a:ln w="6350">
            <a:solidFill>
              <a:srgbClr val="C78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col-4-chip"/>
          <p:cNvSpPr txBox="1"/>
          <p:nvPr/>
        </p:nvSpPr>
        <p:spPr>
          <a:xfrm>
            <a:off x="8924925" y="5638800"/>
            <a:ext cx="12573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EMAIL / TEAMS</a:t>
            </a: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