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12192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eyebrow"/>
          <p:cNvSpPr txBox="1"/>
          <p:nvPr/>
        </p:nvSpPr>
        <p:spPr>
          <a:xfrm>
            <a:off x="457200" y="476250"/>
            <a:ext cx="8572500" cy="133350"/>
          </a:xfrm>
          <a:prstGeom prst="rect">
            <a:avLst/>
          </a:prstGeom>
          <a:noFill/>
          <a:ln>
            <a:noFill/>
          </a:ln>
        </p:spPr>
        <p:txBody>
          <a:bodyPr wrap="square" tIns="0" rIns="0" bIns="0" lIns="0" anchor="t">
            <a:spAutoFit/>
          </a:bodyPr>
          <a:lstStyle/>
          <a:p>
            <a:pPr algn="l">
              <a:defRPr/>
            </a:pPr>
            <a:r>
              <a:rPr sz="1050" b="1" i="0">
                <a:solidFill>
                  <a:srgbClr val="A100FF"/>
                </a:solidFill>
                <a:latin typeface="Inter"/>
              </a:rPr>
              <a:t>PILOT SCORECARD · WEEK 4</a:t>
            </a:r>
          </a:p>
        </p:txBody>
      </p:sp>
      <p:sp>
        <p:nvSpPr>
          <p:cNvPr id="3" name="title"/>
          <p:cNvSpPr txBox="1"/>
          <p:nvPr/>
        </p:nvSpPr>
        <p:spPr>
          <a:xfrm>
            <a:off x="457200" y="628650"/>
            <a:ext cx="8572500" cy="419100"/>
          </a:xfrm>
          <a:prstGeom prst="rect">
            <a:avLst/>
          </a:prstGeom>
          <a:noFill/>
          <a:ln>
            <a:noFill/>
          </a:ln>
        </p:spPr>
        <p:txBody>
          <a:bodyPr wrap="square" tIns="0" rIns="0" bIns="0" lIns="0" anchor="t">
            <a:spAutoFit/>
          </a:bodyPr>
          <a:lstStyle/>
          <a:p>
            <a:pPr algn="l">
              <a:defRPr/>
            </a:pPr>
            <a:r>
              <a:rPr sz="1800" b="1" i="0">
                <a:solidFill>
                  <a:srgbClr val="1A1A2E"/>
                </a:solidFill>
                <a:latin typeface="Inter"/>
              </a:rPr>
              <a:t>Slide Lab scorecard — week 4, three pillars green, one to watch.</a:t>
            </a:r>
          </a:p>
        </p:txBody>
      </p:sp>
      <p:sp>
        <p:nvSpPr>
          <p:cNvPr id="4" name="subtitle"/>
          <p:cNvSpPr txBox="1"/>
          <p:nvPr/>
        </p:nvSpPr>
        <p:spPr>
          <a:xfrm>
            <a:off x="457200" y="1066800"/>
            <a:ext cx="8572500" cy="342900"/>
          </a:xfrm>
          <a:prstGeom prst="rect">
            <a:avLst/>
          </a:prstGeom>
          <a:noFill/>
          <a:ln>
            <a:noFill/>
          </a:ln>
        </p:spPr>
        <p:txBody>
          <a:bodyPr wrap="square" tIns="0" rIns="0" bIns="0" lIns="0" anchor="t">
            <a:spAutoFit/>
          </a:bodyPr>
          <a:lstStyle/>
          <a:p>
            <a:pPr algn="l">
              <a:defRPr/>
            </a:pPr>
            <a:r>
              <a:rPr sz="1050" b="0" i="0">
                <a:solidFill>
                  <a:srgbClr val="64748B"/>
                </a:solidFill>
                <a:latin typeface="Inter"/>
              </a:rPr>
              <a:t>Four strategic pillars, seven KPIs. Status and trend versus baseline; comments flag where steering attention is needed.</a:t>
            </a:r>
          </a:p>
        </p:txBody>
      </p:sp>
      <p:sp>
        <p:nvSpPr>
          <p:cNvPr id="5" name="brand-rule"/>
          <p:cNvSpPr/>
          <p:nvPr/>
        </p:nvSpPr>
        <p:spPr>
          <a:xfrm>
            <a:off x="457200" y="1409700"/>
            <a:ext cx="533400" cy="28575"/>
          </a:xfrm>
          <a:prstGeom prst="rect">
            <a:avLst/>
          </a:prstGeom>
          <a:solidFill>
            <a:srgbClr val="A100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</a:p>
        </p:txBody>
      </p:sp>
      <p:sp>
        <p:nvSpPr>
          <p:cNvPr id="6" name="legend-bg"/>
          <p:cNvSpPr/>
          <p:nvPr/>
        </p:nvSpPr>
        <p:spPr>
          <a:xfrm>
            <a:off x="9010650" y="1524000"/>
            <a:ext cx="2571750" cy="419100"/>
          </a:xfrm>
          <a:prstGeom prst="rect">
            <a:avLst/>
          </a:prstGeom>
          <a:solidFill>
            <a:srgbClr val="FBFAFD"/>
          </a:solidFill>
          <a:ln w="9525">
            <a:solidFill>
              <a:srgbClr val="ECE0F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</a:p>
        </p:txBody>
      </p:sp>
      <p:sp>
        <p:nvSpPr>
          <p:cNvPr id="7" name="legend-title"/>
          <p:cNvSpPr txBox="1"/>
          <p:nvPr/>
        </p:nvSpPr>
        <p:spPr>
          <a:xfrm>
            <a:off x="9105900" y="1666875"/>
            <a:ext cx="285750" cy="133350"/>
          </a:xfrm>
          <a:prstGeom prst="rect">
            <a:avLst/>
          </a:prstGeom>
          <a:noFill/>
          <a:ln>
            <a:noFill/>
          </a:ln>
        </p:spPr>
        <p:txBody>
          <a:bodyPr wrap="square" tIns="0" rIns="0" bIns="0" lIns="0" anchor="t">
            <a:spAutoFit/>
          </a:bodyPr>
          <a:lstStyle/>
          <a:p>
            <a:pPr algn="l">
              <a:defRPr/>
            </a:pPr>
            <a:r>
              <a:rPr sz="1050" b="1" i="0">
                <a:solidFill>
                  <a:srgbClr val="64748B"/>
                </a:solidFill>
                <a:latin typeface="Inter"/>
              </a:rPr>
              <a:t>RAG</a:t>
            </a:r>
          </a:p>
        </p:txBody>
      </p:sp>
      <p:sp>
        <p:nvSpPr>
          <p:cNvPr id="8" name="legend-1-swatch"/>
          <p:cNvSpPr/>
          <p:nvPr/>
        </p:nvSpPr>
        <p:spPr>
          <a:xfrm>
            <a:off x="9486900" y="1695450"/>
            <a:ext cx="76200" cy="76200"/>
          </a:xfrm>
          <a:prstGeom prst="rect">
            <a:avLst/>
          </a:prstGeom>
          <a:solidFill>
            <a:srgbClr val="2ECC7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</a:p>
        </p:txBody>
      </p:sp>
      <p:sp>
        <p:nvSpPr>
          <p:cNvPr id="9" name="legend-1-label"/>
          <p:cNvSpPr txBox="1"/>
          <p:nvPr/>
        </p:nvSpPr>
        <p:spPr>
          <a:xfrm>
            <a:off x="9601200" y="1657350"/>
            <a:ext cx="571500" cy="171450"/>
          </a:xfrm>
          <a:prstGeom prst="rect">
            <a:avLst/>
          </a:prstGeom>
          <a:noFill/>
          <a:ln>
            <a:noFill/>
          </a:ln>
        </p:spPr>
        <p:txBody>
          <a:bodyPr wrap="square" tIns="0" rIns="0" bIns="0" lIns="0" anchor="ctr">
            <a:spAutoFit/>
          </a:bodyPr>
          <a:lstStyle/>
          <a:p>
            <a:pPr algn="l">
              <a:defRPr/>
            </a:pPr>
            <a:r>
              <a:rPr sz="1050" b="1" i="0">
                <a:solidFill>
                  <a:srgbClr val="1A1A2E"/>
                </a:solidFill>
                <a:latin typeface="Inter"/>
              </a:rPr>
              <a:t>GREEN</a:t>
            </a:r>
          </a:p>
        </p:txBody>
      </p:sp>
      <p:sp>
        <p:nvSpPr>
          <p:cNvPr id="10" name="legend-2-swatch"/>
          <p:cNvSpPr/>
          <p:nvPr/>
        </p:nvSpPr>
        <p:spPr>
          <a:xfrm>
            <a:off x="10172700" y="1695450"/>
            <a:ext cx="76200" cy="76200"/>
          </a:xfrm>
          <a:prstGeom prst="rect">
            <a:avLst/>
          </a:prstGeom>
          <a:solidFill>
            <a:srgbClr val="F39C1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</a:p>
        </p:txBody>
      </p:sp>
      <p:sp>
        <p:nvSpPr>
          <p:cNvPr id="11" name="legend-2-label"/>
          <p:cNvSpPr txBox="1"/>
          <p:nvPr/>
        </p:nvSpPr>
        <p:spPr>
          <a:xfrm>
            <a:off x="10287000" y="1657350"/>
            <a:ext cx="571500" cy="171450"/>
          </a:xfrm>
          <a:prstGeom prst="rect">
            <a:avLst/>
          </a:prstGeom>
          <a:noFill/>
          <a:ln>
            <a:noFill/>
          </a:ln>
        </p:spPr>
        <p:txBody>
          <a:bodyPr wrap="square" tIns="0" rIns="0" bIns="0" lIns="0" anchor="ctr">
            <a:spAutoFit/>
          </a:bodyPr>
          <a:lstStyle/>
          <a:p>
            <a:pPr algn="l">
              <a:defRPr/>
            </a:pPr>
            <a:r>
              <a:rPr sz="1050" b="1" i="0">
                <a:solidFill>
                  <a:srgbClr val="1A1A2E"/>
                </a:solidFill>
                <a:latin typeface="Inter"/>
              </a:rPr>
              <a:t>AMBER</a:t>
            </a:r>
          </a:p>
        </p:txBody>
      </p:sp>
      <p:sp>
        <p:nvSpPr>
          <p:cNvPr id="12" name="legend-3-swatch"/>
          <p:cNvSpPr/>
          <p:nvPr/>
        </p:nvSpPr>
        <p:spPr>
          <a:xfrm>
            <a:off x="10858500" y="1695450"/>
            <a:ext cx="76200" cy="76200"/>
          </a:xfrm>
          <a:prstGeom prst="rect">
            <a:avLst/>
          </a:prstGeom>
          <a:solidFill>
            <a:srgbClr val="DC262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</a:p>
        </p:txBody>
      </p:sp>
      <p:sp>
        <p:nvSpPr>
          <p:cNvPr id="13" name="legend-3-label"/>
          <p:cNvSpPr txBox="1"/>
          <p:nvPr/>
        </p:nvSpPr>
        <p:spPr>
          <a:xfrm>
            <a:off x="10972800" y="1657350"/>
            <a:ext cx="571500" cy="171450"/>
          </a:xfrm>
          <a:prstGeom prst="rect">
            <a:avLst/>
          </a:prstGeom>
          <a:noFill/>
          <a:ln>
            <a:noFill/>
          </a:ln>
        </p:spPr>
        <p:txBody>
          <a:bodyPr wrap="square" tIns="0" rIns="0" bIns="0" lIns="0" anchor="ctr">
            <a:spAutoFit/>
          </a:bodyPr>
          <a:lstStyle/>
          <a:p>
            <a:pPr algn="l">
              <a:defRPr/>
            </a:pPr>
            <a:r>
              <a:rPr sz="1050" b="1" i="0">
                <a:solidFill>
                  <a:srgbClr val="1A1A2E"/>
                </a:solidFill>
                <a:latin typeface="Inter"/>
              </a:rPr>
              <a:t>RED</a:t>
            </a:r>
          </a:p>
        </p:txBody>
      </p:sp>
      <p:sp>
        <p:nvSpPr>
          <p:cNvPr id="14" name="table-header-bg"/>
          <p:cNvSpPr/>
          <p:nvPr/>
        </p:nvSpPr>
        <p:spPr>
          <a:xfrm>
            <a:off x="457200" y="2095500"/>
            <a:ext cx="11277600" cy="304800"/>
          </a:xfrm>
          <a:prstGeom prst="rect">
            <a:avLst/>
          </a:prstGeom>
          <a:solidFill>
            <a:srgbClr val="2D0A4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</a:p>
        </p:txBody>
      </p:sp>
      <p:sp>
        <p:nvSpPr>
          <p:cNvPr id="15" name="table-col-1-header"/>
          <p:cNvSpPr txBox="1"/>
          <p:nvPr/>
        </p:nvSpPr>
        <p:spPr>
          <a:xfrm>
            <a:off x="552450" y="2095500"/>
            <a:ext cx="1381125" cy="304800"/>
          </a:xfrm>
          <a:prstGeom prst="rect">
            <a:avLst/>
          </a:prstGeom>
          <a:noFill/>
          <a:ln>
            <a:noFill/>
          </a:ln>
        </p:spPr>
        <p:txBody>
          <a:bodyPr wrap="square" tIns="0" rIns="0" bIns="0" lIns="0" anchor="ctr">
            <a:spAutoFit/>
          </a:bodyPr>
          <a:lstStyle/>
          <a:p>
            <a:pPr algn="l">
              <a:defRPr/>
            </a:pPr>
            <a:r>
              <a:rPr sz="1050" b="1" i="0">
                <a:solidFill>
                  <a:srgbClr val="FFFFFF"/>
                </a:solidFill>
                <a:latin typeface="Inter"/>
              </a:rPr>
              <a:t>STRATEGY PILLAR</a:t>
            </a:r>
          </a:p>
        </p:txBody>
      </p:sp>
      <p:sp>
        <p:nvSpPr>
          <p:cNvPr id="16" name="table-col-2-header"/>
          <p:cNvSpPr txBox="1"/>
          <p:nvPr/>
        </p:nvSpPr>
        <p:spPr>
          <a:xfrm>
            <a:off x="2124075" y="2095500"/>
            <a:ext cx="2514600" cy="304800"/>
          </a:xfrm>
          <a:prstGeom prst="rect">
            <a:avLst/>
          </a:prstGeom>
          <a:noFill/>
          <a:ln>
            <a:noFill/>
          </a:ln>
        </p:spPr>
        <p:txBody>
          <a:bodyPr wrap="square" tIns="0" rIns="0" bIns="0" lIns="0" anchor="ctr">
            <a:spAutoFit/>
          </a:bodyPr>
          <a:lstStyle/>
          <a:p>
            <a:pPr algn="l">
              <a:defRPr/>
            </a:pPr>
            <a:r>
              <a:rPr sz="1050" b="1" i="0">
                <a:solidFill>
                  <a:srgbClr val="FFFFFF"/>
                </a:solidFill>
                <a:latin typeface="Inter"/>
              </a:rPr>
              <a:t>KPI</a:t>
            </a:r>
          </a:p>
        </p:txBody>
      </p:sp>
      <p:sp>
        <p:nvSpPr>
          <p:cNvPr id="17" name="table-col-3-header"/>
          <p:cNvSpPr txBox="1"/>
          <p:nvPr/>
        </p:nvSpPr>
        <p:spPr>
          <a:xfrm>
            <a:off x="4829175" y="2095500"/>
            <a:ext cx="819150" cy="304800"/>
          </a:xfrm>
          <a:prstGeom prst="rect">
            <a:avLst/>
          </a:prstGeom>
          <a:noFill/>
          <a:ln>
            <a:noFill/>
          </a:ln>
        </p:spPr>
        <p:txBody>
          <a:bodyPr wrap="square" tIns="0" rIns="0" bIns="0" lIns="0" anchor="ctr">
            <a:spAutoFit/>
          </a:bodyPr>
          <a:lstStyle/>
          <a:p>
            <a:pPr algn="ctr">
              <a:defRPr/>
            </a:pPr>
            <a:r>
              <a:rPr sz="1050" b="1" i="0">
                <a:solidFill>
                  <a:srgbClr val="FFFFFF"/>
                </a:solidFill>
                <a:latin typeface="Inter"/>
              </a:rPr>
              <a:t>ACTUAL</a:t>
            </a:r>
          </a:p>
        </p:txBody>
      </p:sp>
      <p:sp>
        <p:nvSpPr>
          <p:cNvPr id="18" name="table-col-4-header"/>
          <p:cNvSpPr txBox="1"/>
          <p:nvPr/>
        </p:nvSpPr>
        <p:spPr>
          <a:xfrm>
            <a:off x="5838825" y="2095500"/>
            <a:ext cx="819150" cy="304800"/>
          </a:xfrm>
          <a:prstGeom prst="rect">
            <a:avLst/>
          </a:prstGeom>
          <a:noFill/>
          <a:ln>
            <a:noFill/>
          </a:ln>
        </p:spPr>
        <p:txBody>
          <a:bodyPr wrap="square" tIns="0" rIns="0" bIns="0" lIns="0" anchor="ctr">
            <a:spAutoFit/>
          </a:bodyPr>
          <a:lstStyle/>
          <a:p>
            <a:pPr algn="ctr">
              <a:defRPr/>
            </a:pPr>
            <a:r>
              <a:rPr sz="1050" b="1" i="0">
                <a:solidFill>
                  <a:srgbClr val="FFFFFF"/>
                </a:solidFill>
                <a:latin typeface="Inter"/>
              </a:rPr>
              <a:t>TARGET</a:t>
            </a:r>
          </a:p>
        </p:txBody>
      </p:sp>
      <p:sp>
        <p:nvSpPr>
          <p:cNvPr id="19" name="table-col-5-header"/>
          <p:cNvSpPr txBox="1"/>
          <p:nvPr/>
        </p:nvSpPr>
        <p:spPr>
          <a:xfrm>
            <a:off x="6848475" y="2095500"/>
            <a:ext cx="933450" cy="304800"/>
          </a:xfrm>
          <a:prstGeom prst="rect">
            <a:avLst/>
          </a:prstGeom>
          <a:noFill/>
          <a:ln>
            <a:noFill/>
          </a:ln>
        </p:spPr>
        <p:txBody>
          <a:bodyPr wrap="square" tIns="0" rIns="0" bIns="0" lIns="0" anchor="ctr">
            <a:spAutoFit/>
          </a:bodyPr>
          <a:lstStyle/>
          <a:p>
            <a:pPr algn="ctr">
              <a:defRPr/>
            </a:pPr>
            <a:r>
              <a:rPr sz="1050" b="1" i="0">
                <a:solidFill>
                  <a:srgbClr val="FFFFFF"/>
                </a:solidFill>
                <a:latin typeface="Inter"/>
              </a:rPr>
              <a:t>STATUS</a:t>
            </a:r>
          </a:p>
        </p:txBody>
      </p:sp>
      <p:sp>
        <p:nvSpPr>
          <p:cNvPr id="20" name="table-col-6-header"/>
          <p:cNvSpPr txBox="1"/>
          <p:nvPr/>
        </p:nvSpPr>
        <p:spPr>
          <a:xfrm>
            <a:off x="7972425" y="2095500"/>
            <a:ext cx="933450" cy="304800"/>
          </a:xfrm>
          <a:prstGeom prst="rect">
            <a:avLst/>
          </a:prstGeom>
          <a:noFill/>
          <a:ln>
            <a:noFill/>
          </a:ln>
        </p:spPr>
        <p:txBody>
          <a:bodyPr wrap="square" tIns="0" rIns="0" bIns="0" lIns="0" anchor="ctr">
            <a:spAutoFit/>
          </a:bodyPr>
          <a:lstStyle/>
          <a:p>
            <a:pPr algn="ctr">
              <a:defRPr/>
            </a:pPr>
            <a:r>
              <a:rPr sz="1050" b="1" i="0">
                <a:solidFill>
                  <a:srgbClr val="FFFFFF"/>
                </a:solidFill>
                <a:latin typeface="Inter"/>
              </a:rPr>
              <a:t>TREND</a:t>
            </a:r>
          </a:p>
        </p:txBody>
      </p:sp>
      <p:sp>
        <p:nvSpPr>
          <p:cNvPr id="21" name="table-col-7-header"/>
          <p:cNvSpPr txBox="1"/>
          <p:nvPr/>
        </p:nvSpPr>
        <p:spPr>
          <a:xfrm>
            <a:off x="9096375" y="2095500"/>
            <a:ext cx="2514600" cy="304800"/>
          </a:xfrm>
          <a:prstGeom prst="rect">
            <a:avLst/>
          </a:prstGeom>
          <a:noFill/>
          <a:ln>
            <a:noFill/>
          </a:ln>
        </p:spPr>
        <p:txBody>
          <a:bodyPr wrap="square" tIns="0" rIns="0" bIns="0" lIns="0" anchor="ctr">
            <a:spAutoFit/>
          </a:bodyPr>
          <a:lstStyle/>
          <a:p>
            <a:pPr algn="l">
              <a:defRPr/>
            </a:pPr>
            <a:r>
              <a:rPr sz="1050" b="1" i="0">
                <a:solidFill>
                  <a:srgbClr val="FFFFFF"/>
                </a:solidFill>
                <a:latin typeface="Inter"/>
              </a:rPr>
              <a:t>COMMENTS</a:t>
            </a:r>
          </a:p>
        </p:txBody>
      </p:sp>
      <p:sp>
        <p:nvSpPr>
          <p:cNvPr id="22" name="table-row-1-bg"/>
          <p:cNvSpPr/>
          <p:nvPr/>
        </p:nvSpPr>
        <p:spPr>
          <a:xfrm>
            <a:off x="457200" y="2400300"/>
            <a:ext cx="11277600" cy="47625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</a:p>
        </p:txBody>
      </p:sp>
      <p:sp>
        <p:nvSpPr>
          <p:cNvPr id="23" name="table-row-1-rule"/>
          <p:cNvSpPr/>
          <p:nvPr/>
        </p:nvSpPr>
        <p:spPr>
          <a:xfrm>
            <a:off x="457200" y="2400300"/>
            <a:ext cx="11277600" cy="9525"/>
          </a:xfrm>
          <a:prstGeom prst="rect">
            <a:avLst/>
          </a:prstGeom>
          <a:solidFill>
            <a:srgbClr val="ECE0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</a:p>
        </p:txBody>
      </p:sp>
      <p:sp>
        <p:nvSpPr>
          <p:cNvPr id="24" name="table-row-1-cell-2"/>
          <p:cNvSpPr txBox="1"/>
          <p:nvPr/>
        </p:nvSpPr>
        <p:spPr>
          <a:xfrm>
            <a:off x="2124075" y="2400300"/>
            <a:ext cx="2514600" cy="476250"/>
          </a:xfrm>
          <a:prstGeom prst="rect">
            <a:avLst/>
          </a:prstGeom>
          <a:noFill/>
          <a:ln>
            <a:noFill/>
          </a:ln>
        </p:spPr>
        <p:txBody>
          <a:bodyPr wrap="square" tIns="0" rIns="0" bIns="0" lIns="0" anchor="ctr">
            <a:spAutoFit/>
          </a:bodyPr>
          <a:lstStyle/>
          <a:p>
            <a:pPr algn="l">
              <a:defRPr/>
            </a:pPr>
            <a:r>
              <a:rPr sz="1050" b="1" i="0">
                <a:solidFill>
                  <a:srgbClr val="1A1A2E"/>
                </a:solidFill>
                <a:latin typeface="Inter"/>
              </a:rPr>
              <a:t>Days to partner-ready</a:t>
            </a:r>
          </a:p>
        </p:txBody>
      </p:sp>
      <p:sp>
        <p:nvSpPr>
          <p:cNvPr id="25" name="table-row-1-cell-3"/>
          <p:cNvSpPr txBox="1"/>
          <p:nvPr/>
        </p:nvSpPr>
        <p:spPr>
          <a:xfrm>
            <a:off x="4733925" y="2400300"/>
            <a:ext cx="1009650" cy="476250"/>
          </a:xfrm>
          <a:prstGeom prst="rect">
            <a:avLst/>
          </a:prstGeom>
          <a:noFill/>
          <a:ln>
            <a:noFill/>
          </a:ln>
        </p:spPr>
        <p:txBody>
          <a:bodyPr wrap="square" tIns="0" rIns="0" bIns="0" lIns="0" anchor="ctr">
            <a:spAutoFit/>
          </a:bodyPr>
          <a:lstStyle/>
          <a:p>
            <a:pPr algn="ctr">
              <a:defRPr/>
            </a:pPr>
            <a:r>
              <a:rPr sz="1050" b="1" i="0">
                <a:solidFill>
                  <a:srgbClr val="1A1A2E"/>
                </a:solidFill>
                <a:latin typeface="Inter"/>
              </a:rPr>
              <a:t>5d</a:t>
            </a:r>
          </a:p>
        </p:txBody>
      </p:sp>
      <p:sp>
        <p:nvSpPr>
          <p:cNvPr id="26" name="table-row-1-cell-4"/>
          <p:cNvSpPr txBox="1"/>
          <p:nvPr/>
        </p:nvSpPr>
        <p:spPr>
          <a:xfrm>
            <a:off x="5743575" y="2400300"/>
            <a:ext cx="1009650" cy="476250"/>
          </a:xfrm>
          <a:prstGeom prst="rect">
            <a:avLst/>
          </a:prstGeom>
          <a:noFill/>
          <a:ln>
            <a:noFill/>
          </a:ln>
        </p:spPr>
        <p:txBody>
          <a:bodyPr wrap="square" tIns="0" rIns="0" bIns="0" lIns="0" anchor="ctr">
            <a:spAutoFit/>
          </a:bodyPr>
          <a:lstStyle/>
          <a:p>
            <a:pPr algn="ctr">
              <a:defRPr/>
            </a:pPr>
            <a:r>
              <a:rPr sz="1050" b="0" i="0">
                <a:solidFill>
                  <a:srgbClr val="64748B"/>
                </a:solidFill>
                <a:latin typeface="Inter"/>
              </a:rPr>
              <a:t>&lt;7d</a:t>
            </a:r>
          </a:p>
        </p:txBody>
      </p:sp>
      <p:sp>
        <p:nvSpPr>
          <p:cNvPr id="27" name="table-row-1-status-pill"/>
          <p:cNvSpPr/>
          <p:nvPr/>
        </p:nvSpPr>
        <p:spPr>
          <a:xfrm>
            <a:off x="6981825" y="2552700"/>
            <a:ext cx="666750" cy="171450"/>
          </a:xfrm>
          <a:prstGeom prst="rect">
            <a:avLst/>
          </a:prstGeom>
          <a:solidFill>
            <a:srgbClr val="DCF4E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</a:p>
        </p:txBody>
      </p:sp>
      <p:sp>
        <p:nvSpPr>
          <p:cNvPr id="28" name="table-row-1-rag-dot"/>
          <p:cNvSpPr/>
          <p:nvPr/>
        </p:nvSpPr>
        <p:spPr>
          <a:xfrm>
            <a:off x="7038975" y="2609850"/>
            <a:ext cx="57150" cy="57150"/>
          </a:xfrm>
          <a:prstGeom prst="rect">
            <a:avLst/>
          </a:prstGeom>
          <a:solidFill>
            <a:srgbClr val="2ECC7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</a:p>
        </p:txBody>
      </p:sp>
      <p:sp>
        <p:nvSpPr>
          <p:cNvPr id="29" name="table-row-1-status-pill-text"/>
          <p:cNvSpPr txBox="1"/>
          <p:nvPr/>
        </p:nvSpPr>
        <p:spPr>
          <a:xfrm>
            <a:off x="7115175" y="2552700"/>
            <a:ext cx="533400" cy="171450"/>
          </a:xfrm>
          <a:prstGeom prst="rect">
            <a:avLst/>
          </a:prstGeom>
          <a:noFill/>
          <a:ln>
            <a:noFill/>
          </a:ln>
        </p:spPr>
        <p:txBody>
          <a:bodyPr wrap="square" tIns="0" rIns="0" bIns="0" lIns="0" anchor="ctr">
            <a:spAutoFit/>
          </a:bodyPr>
          <a:lstStyle/>
          <a:p>
            <a:pPr algn="ctr">
              <a:defRPr/>
            </a:pPr>
            <a:r>
              <a:rPr sz="1050" b="1" i="0">
                <a:solidFill>
                  <a:srgbClr val="2ECC71"/>
                </a:solidFill>
                <a:latin typeface="Inter"/>
              </a:rPr>
              <a:t>GREEN</a:t>
            </a:r>
          </a:p>
        </p:txBody>
      </p:sp>
      <p:sp>
        <p:nvSpPr>
          <p:cNvPr id="30" name="table-row-1-cell-6"/>
          <p:cNvSpPr txBox="1"/>
          <p:nvPr/>
        </p:nvSpPr>
        <p:spPr>
          <a:xfrm>
            <a:off x="7877175" y="2400300"/>
            <a:ext cx="1123950" cy="476250"/>
          </a:xfrm>
          <a:prstGeom prst="rect">
            <a:avLst/>
          </a:prstGeom>
          <a:noFill/>
          <a:ln>
            <a:noFill/>
          </a:ln>
        </p:spPr>
        <p:txBody>
          <a:bodyPr wrap="square" tIns="0" rIns="0" bIns="0" lIns="0" anchor="ctr">
            <a:spAutoFit/>
          </a:bodyPr>
          <a:lstStyle/>
          <a:p>
            <a:pPr algn="ctr">
              <a:defRPr/>
            </a:pPr>
            <a:r>
              <a:rPr sz="1050" b="1" i="0">
                <a:solidFill>
                  <a:srgbClr val="1A1A2E"/>
                </a:solidFill>
                <a:latin typeface="Inter"/>
              </a:rPr>
              <a:t>▼ -64%</a:t>
            </a:r>
          </a:p>
        </p:txBody>
      </p:sp>
      <p:sp>
        <p:nvSpPr>
          <p:cNvPr id="31" name="table-row-1-cell-7"/>
          <p:cNvSpPr txBox="1"/>
          <p:nvPr/>
        </p:nvSpPr>
        <p:spPr>
          <a:xfrm>
            <a:off x="9096375" y="2400300"/>
            <a:ext cx="2514600" cy="476250"/>
          </a:xfrm>
          <a:prstGeom prst="rect">
            <a:avLst/>
          </a:prstGeom>
          <a:noFill/>
          <a:ln>
            <a:noFill/>
          </a:ln>
        </p:spPr>
        <p:txBody>
          <a:bodyPr wrap="square" tIns="0" rIns="0" bIns="0" lIns="0" anchor="ctr">
            <a:spAutoFit/>
          </a:bodyPr>
          <a:lstStyle/>
          <a:p>
            <a:pPr algn="l">
              <a:defRPr/>
            </a:pPr>
            <a:r>
              <a:rPr sz="1050" b="0" i="0">
                <a:solidFill>
                  <a:srgbClr val="64748B"/>
                </a:solidFill>
                <a:latin typeface="Inter"/>
              </a:rPr>
              <a:t>Holding under baseline since W2</a:t>
            </a:r>
          </a:p>
        </p:txBody>
      </p:sp>
      <p:sp>
        <p:nvSpPr>
          <p:cNvPr id="32" name="table-row-2-bg"/>
          <p:cNvSpPr/>
          <p:nvPr/>
        </p:nvSpPr>
        <p:spPr>
          <a:xfrm>
            <a:off x="457200" y="2876550"/>
            <a:ext cx="11277600" cy="47625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</a:p>
        </p:txBody>
      </p:sp>
      <p:sp>
        <p:nvSpPr>
          <p:cNvPr id="33" name="table-row-2-rule"/>
          <p:cNvSpPr/>
          <p:nvPr/>
        </p:nvSpPr>
        <p:spPr>
          <a:xfrm>
            <a:off x="457200" y="2876550"/>
            <a:ext cx="11277600" cy="9525"/>
          </a:xfrm>
          <a:prstGeom prst="rect">
            <a:avLst/>
          </a:prstGeom>
          <a:solidFill>
            <a:srgbClr val="ECE0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</a:p>
        </p:txBody>
      </p:sp>
      <p:sp>
        <p:nvSpPr>
          <p:cNvPr id="34" name="table-row-2-cell-2"/>
          <p:cNvSpPr txBox="1"/>
          <p:nvPr/>
        </p:nvSpPr>
        <p:spPr>
          <a:xfrm>
            <a:off x="2124075" y="2876550"/>
            <a:ext cx="2514600" cy="476250"/>
          </a:xfrm>
          <a:prstGeom prst="rect">
            <a:avLst/>
          </a:prstGeom>
          <a:noFill/>
          <a:ln>
            <a:noFill/>
          </a:ln>
        </p:spPr>
        <p:txBody>
          <a:bodyPr wrap="square" tIns="0" rIns="0" bIns="0" lIns="0" anchor="ctr">
            <a:spAutoFit/>
          </a:bodyPr>
          <a:lstStyle/>
          <a:p>
            <a:pPr algn="l">
              <a:defRPr/>
            </a:pPr>
            <a:r>
              <a:rPr sz="1050" b="1" i="0">
                <a:solidFill>
                  <a:srgbClr val="1A1A2E"/>
                </a:solidFill>
                <a:latin typeface="Inter"/>
              </a:rPr>
              <a:t>First-review pass rate</a:t>
            </a:r>
          </a:p>
        </p:txBody>
      </p:sp>
      <p:sp>
        <p:nvSpPr>
          <p:cNvPr id="35" name="table-row-2-cell-3"/>
          <p:cNvSpPr txBox="1"/>
          <p:nvPr/>
        </p:nvSpPr>
        <p:spPr>
          <a:xfrm>
            <a:off x="4733925" y="2876550"/>
            <a:ext cx="1009650" cy="476250"/>
          </a:xfrm>
          <a:prstGeom prst="rect">
            <a:avLst/>
          </a:prstGeom>
          <a:noFill/>
          <a:ln>
            <a:noFill/>
          </a:ln>
        </p:spPr>
        <p:txBody>
          <a:bodyPr wrap="square" tIns="0" rIns="0" bIns="0" lIns="0" anchor="ctr">
            <a:spAutoFit/>
          </a:bodyPr>
          <a:lstStyle/>
          <a:p>
            <a:pPr algn="ctr">
              <a:defRPr/>
            </a:pPr>
            <a:r>
              <a:rPr sz="1050" b="1" i="0">
                <a:solidFill>
                  <a:srgbClr val="1A1A2E"/>
                </a:solidFill>
                <a:latin typeface="Inter"/>
              </a:rPr>
              <a:t>94%</a:t>
            </a:r>
          </a:p>
        </p:txBody>
      </p:sp>
      <p:sp>
        <p:nvSpPr>
          <p:cNvPr id="36" name="table-row-2-cell-4"/>
          <p:cNvSpPr txBox="1"/>
          <p:nvPr/>
        </p:nvSpPr>
        <p:spPr>
          <a:xfrm>
            <a:off x="5743575" y="2876550"/>
            <a:ext cx="1009650" cy="476250"/>
          </a:xfrm>
          <a:prstGeom prst="rect">
            <a:avLst/>
          </a:prstGeom>
          <a:noFill/>
          <a:ln>
            <a:noFill/>
          </a:ln>
        </p:spPr>
        <p:txBody>
          <a:bodyPr wrap="square" tIns="0" rIns="0" bIns="0" lIns="0" anchor="ctr">
            <a:spAutoFit/>
          </a:bodyPr>
          <a:lstStyle/>
          <a:p>
            <a:pPr algn="ctr">
              <a:defRPr/>
            </a:pPr>
            <a:r>
              <a:rPr sz="1050" b="0" i="0">
                <a:solidFill>
                  <a:srgbClr val="64748B"/>
                </a:solidFill>
                <a:latin typeface="Inter"/>
              </a:rPr>
              <a:t>&gt;85%</a:t>
            </a:r>
          </a:p>
        </p:txBody>
      </p:sp>
      <p:sp>
        <p:nvSpPr>
          <p:cNvPr id="37" name="table-row-2-status-pill"/>
          <p:cNvSpPr/>
          <p:nvPr/>
        </p:nvSpPr>
        <p:spPr>
          <a:xfrm>
            <a:off x="6981825" y="3028950"/>
            <a:ext cx="666750" cy="171450"/>
          </a:xfrm>
          <a:prstGeom prst="rect">
            <a:avLst/>
          </a:prstGeom>
          <a:solidFill>
            <a:srgbClr val="DCF4E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</a:p>
        </p:txBody>
      </p:sp>
      <p:sp>
        <p:nvSpPr>
          <p:cNvPr id="38" name="table-row-2-rag-dot"/>
          <p:cNvSpPr/>
          <p:nvPr/>
        </p:nvSpPr>
        <p:spPr>
          <a:xfrm>
            <a:off x="7038975" y="3086100"/>
            <a:ext cx="57150" cy="57150"/>
          </a:xfrm>
          <a:prstGeom prst="rect">
            <a:avLst/>
          </a:prstGeom>
          <a:solidFill>
            <a:srgbClr val="2ECC7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</a:p>
        </p:txBody>
      </p:sp>
      <p:sp>
        <p:nvSpPr>
          <p:cNvPr id="39" name="table-row-2-status-pill-text"/>
          <p:cNvSpPr txBox="1"/>
          <p:nvPr/>
        </p:nvSpPr>
        <p:spPr>
          <a:xfrm>
            <a:off x="7115175" y="3028950"/>
            <a:ext cx="533400" cy="171450"/>
          </a:xfrm>
          <a:prstGeom prst="rect">
            <a:avLst/>
          </a:prstGeom>
          <a:noFill/>
          <a:ln>
            <a:noFill/>
          </a:ln>
        </p:spPr>
        <p:txBody>
          <a:bodyPr wrap="square" tIns="0" rIns="0" bIns="0" lIns="0" anchor="ctr">
            <a:spAutoFit/>
          </a:bodyPr>
          <a:lstStyle/>
          <a:p>
            <a:pPr algn="ctr">
              <a:defRPr/>
            </a:pPr>
            <a:r>
              <a:rPr sz="1050" b="1" i="0">
                <a:solidFill>
                  <a:srgbClr val="2ECC71"/>
                </a:solidFill>
                <a:latin typeface="Inter"/>
              </a:rPr>
              <a:t>GREEN</a:t>
            </a:r>
          </a:p>
        </p:txBody>
      </p:sp>
      <p:sp>
        <p:nvSpPr>
          <p:cNvPr id="40" name="table-row-2-cell-6"/>
          <p:cNvSpPr txBox="1"/>
          <p:nvPr/>
        </p:nvSpPr>
        <p:spPr>
          <a:xfrm>
            <a:off x="7877175" y="2876550"/>
            <a:ext cx="1123950" cy="476250"/>
          </a:xfrm>
          <a:prstGeom prst="rect">
            <a:avLst/>
          </a:prstGeom>
          <a:noFill/>
          <a:ln>
            <a:noFill/>
          </a:ln>
        </p:spPr>
        <p:txBody>
          <a:bodyPr wrap="square" tIns="0" rIns="0" bIns="0" lIns="0" anchor="ctr">
            <a:spAutoFit/>
          </a:bodyPr>
          <a:lstStyle/>
          <a:p>
            <a:pPr algn="ctr">
              <a:defRPr/>
            </a:pPr>
            <a:r>
              <a:rPr sz="1050" b="1" i="0">
                <a:solidFill>
                  <a:srgbClr val="1A1A2E"/>
                </a:solidFill>
                <a:latin typeface="Inter"/>
              </a:rPr>
              <a:t>▲ +34pp</a:t>
            </a:r>
          </a:p>
        </p:txBody>
      </p:sp>
      <p:sp>
        <p:nvSpPr>
          <p:cNvPr id="41" name="table-row-2-cell-7"/>
          <p:cNvSpPr txBox="1"/>
          <p:nvPr/>
        </p:nvSpPr>
        <p:spPr>
          <a:xfrm>
            <a:off x="9096375" y="2876550"/>
            <a:ext cx="2514600" cy="476250"/>
          </a:xfrm>
          <a:prstGeom prst="rect">
            <a:avLst/>
          </a:prstGeom>
          <a:noFill/>
          <a:ln>
            <a:noFill/>
          </a:ln>
        </p:spPr>
        <p:txBody>
          <a:bodyPr wrap="square" tIns="0" rIns="0" bIns="0" lIns="0" anchor="ctr">
            <a:spAutoFit/>
          </a:bodyPr>
          <a:lstStyle/>
          <a:p>
            <a:pPr algn="l">
              <a:defRPr/>
            </a:pPr>
            <a:r>
              <a:rPr sz="1050" b="0" i="0">
                <a:solidFill>
                  <a:srgbClr val="64748B"/>
                </a:solidFill>
                <a:latin typeface="Inter"/>
              </a:rPr>
              <a:t>Driven by storyline coaching</a:t>
            </a:r>
          </a:p>
        </p:txBody>
      </p:sp>
      <p:sp>
        <p:nvSpPr>
          <p:cNvPr id="42" name="table-row-3-bg"/>
          <p:cNvSpPr/>
          <p:nvPr/>
        </p:nvSpPr>
        <p:spPr>
          <a:xfrm>
            <a:off x="457200" y="3352800"/>
            <a:ext cx="11277600" cy="47625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</a:p>
        </p:txBody>
      </p:sp>
      <p:sp>
        <p:nvSpPr>
          <p:cNvPr id="43" name="table-row-3-rule"/>
          <p:cNvSpPr/>
          <p:nvPr/>
        </p:nvSpPr>
        <p:spPr>
          <a:xfrm>
            <a:off x="457200" y="3352800"/>
            <a:ext cx="11277600" cy="9525"/>
          </a:xfrm>
          <a:prstGeom prst="rect">
            <a:avLst/>
          </a:prstGeom>
          <a:solidFill>
            <a:srgbClr val="ECE0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</a:p>
        </p:txBody>
      </p:sp>
      <p:sp>
        <p:nvSpPr>
          <p:cNvPr id="44" name="table-row-3-cell-2"/>
          <p:cNvSpPr txBox="1"/>
          <p:nvPr/>
        </p:nvSpPr>
        <p:spPr>
          <a:xfrm>
            <a:off x="2124075" y="3352800"/>
            <a:ext cx="2514600" cy="476250"/>
          </a:xfrm>
          <a:prstGeom prst="rect">
            <a:avLst/>
          </a:prstGeom>
          <a:noFill/>
          <a:ln>
            <a:noFill/>
          </a:ln>
        </p:spPr>
        <p:txBody>
          <a:bodyPr wrap="square" tIns="0" rIns="0" bIns="0" lIns="0" anchor="ctr">
            <a:spAutoFit/>
          </a:bodyPr>
          <a:lstStyle/>
          <a:p>
            <a:pPr algn="l">
              <a:defRPr/>
            </a:pPr>
            <a:r>
              <a:rPr sz="1050" b="1" i="0">
                <a:solidFill>
                  <a:srgbClr val="1A1A2E"/>
                </a:solidFill>
                <a:latin typeface="Inter"/>
              </a:rPr>
              <a:t>Partner edits per deck</a:t>
            </a:r>
          </a:p>
        </p:txBody>
      </p:sp>
      <p:sp>
        <p:nvSpPr>
          <p:cNvPr id="45" name="table-row-3-cell-3"/>
          <p:cNvSpPr txBox="1"/>
          <p:nvPr/>
        </p:nvSpPr>
        <p:spPr>
          <a:xfrm>
            <a:off x="4733925" y="3352800"/>
            <a:ext cx="1009650" cy="476250"/>
          </a:xfrm>
          <a:prstGeom prst="rect">
            <a:avLst/>
          </a:prstGeom>
          <a:noFill/>
          <a:ln>
            <a:noFill/>
          </a:ln>
        </p:spPr>
        <p:txBody>
          <a:bodyPr wrap="square" tIns="0" rIns="0" bIns="0" lIns="0" anchor="ctr">
            <a:spAutoFit/>
          </a:bodyPr>
          <a:lstStyle/>
          <a:p>
            <a:pPr algn="ctr">
              <a:defRPr/>
            </a:pPr>
            <a:r>
              <a:rPr sz="1050" b="1" i="0">
                <a:solidFill>
                  <a:srgbClr val="1A1A2E"/>
                </a:solidFill>
                <a:latin typeface="Inter"/>
              </a:rPr>
              <a:t>3</a:t>
            </a:r>
          </a:p>
        </p:txBody>
      </p:sp>
      <p:sp>
        <p:nvSpPr>
          <p:cNvPr id="46" name="table-row-3-cell-4"/>
          <p:cNvSpPr txBox="1"/>
          <p:nvPr/>
        </p:nvSpPr>
        <p:spPr>
          <a:xfrm>
            <a:off x="5743575" y="3352800"/>
            <a:ext cx="1009650" cy="476250"/>
          </a:xfrm>
          <a:prstGeom prst="rect">
            <a:avLst/>
          </a:prstGeom>
          <a:noFill/>
          <a:ln>
            <a:noFill/>
          </a:ln>
        </p:spPr>
        <p:txBody>
          <a:bodyPr wrap="square" tIns="0" rIns="0" bIns="0" lIns="0" anchor="ctr">
            <a:spAutoFit/>
          </a:bodyPr>
          <a:lstStyle/>
          <a:p>
            <a:pPr algn="ctr">
              <a:defRPr/>
            </a:pPr>
            <a:r>
              <a:rPr sz="1050" b="0" i="0">
                <a:solidFill>
                  <a:srgbClr val="64748B"/>
                </a:solidFill>
                <a:latin typeface="Inter"/>
              </a:rPr>
              <a:t>&lt;4</a:t>
            </a:r>
          </a:p>
        </p:txBody>
      </p:sp>
      <p:sp>
        <p:nvSpPr>
          <p:cNvPr id="47" name="table-row-3-status-pill"/>
          <p:cNvSpPr/>
          <p:nvPr/>
        </p:nvSpPr>
        <p:spPr>
          <a:xfrm>
            <a:off x="6981825" y="3505200"/>
            <a:ext cx="666750" cy="171450"/>
          </a:xfrm>
          <a:prstGeom prst="rect">
            <a:avLst/>
          </a:prstGeom>
          <a:solidFill>
            <a:srgbClr val="DCF4E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</a:p>
        </p:txBody>
      </p:sp>
      <p:sp>
        <p:nvSpPr>
          <p:cNvPr id="48" name="table-row-3-rag-dot"/>
          <p:cNvSpPr/>
          <p:nvPr/>
        </p:nvSpPr>
        <p:spPr>
          <a:xfrm>
            <a:off x="7038975" y="3562350"/>
            <a:ext cx="57150" cy="57150"/>
          </a:xfrm>
          <a:prstGeom prst="rect">
            <a:avLst/>
          </a:prstGeom>
          <a:solidFill>
            <a:srgbClr val="2ECC7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</a:p>
        </p:txBody>
      </p:sp>
      <p:sp>
        <p:nvSpPr>
          <p:cNvPr id="49" name="table-row-3-status-pill-text"/>
          <p:cNvSpPr txBox="1"/>
          <p:nvPr/>
        </p:nvSpPr>
        <p:spPr>
          <a:xfrm>
            <a:off x="7115175" y="3505200"/>
            <a:ext cx="533400" cy="171450"/>
          </a:xfrm>
          <a:prstGeom prst="rect">
            <a:avLst/>
          </a:prstGeom>
          <a:noFill/>
          <a:ln>
            <a:noFill/>
          </a:ln>
        </p:spPr>
        <p:txBody>
          <a:bodyPr wrap="square" tIns="0" rIns="0" bIns="0" lIns="0" anchor="ctr">
            <a:spAutoFit/>
          </a:bodyPr>
          <a:lstStyle/>
          <a:p>
            <a:pPr algn="ctr">
              <a:defRPr/>
            </a:pPr>
            <a:r>
              <a:rPr sz="1050" b="1" i="0">
                <a:solidFill>
                  <a:srgbClr val="2ECC71"/>
                </a:solidFill>
                <a:latin typeface="Inter"/>
              </a:rPr>
              <a:t>GREEN</a:t>
            </a:r>
          </a:p>
        </p:txBody>
      </p:sp>
      <p:sp>
        <p:nvSpPr>
          <p:cNvPr id="50" name="table-row-3-cell-6"/>
          <p:cNvSpPr txBox="1"/>
          <p:nvPr/>
        </p:nvSpPr>
        <p:spPr>
          <a:xfrm>
            <a:off x="7877175" y="3352800"/>
            <a:ext cx="1123950" cy="476250"/>
          </a:xfrm>
          <a:prstGeom prst="rect">
            <a:avLst/>
          </a:prstGeom>
          <a:noFill/>
          <a:ln>
            <a:noFill/>
          </a:ln>
        </p:spPr>
        <p:txBody>
          <a:bodyPr wrap="square" tIns="0" rIns="0" bIns="0" lIns="0" anchor="ctr">
            <a:spAutoFit/>
          </a:bodyPr>
          <a:lstStyle/>
          <a:p>
            <a:pPr algn="ctr">
              <a:defRPr/>
            </a:pPr>
            <a:r>
              <a:rPr sz="1050" b="1" i="0">
                <a:solidFill>
                  <a:srgbClr val="1A1A2E"/>
                </a:solidFill>
                <a:latin typeface="Inter"/>
              </a:rPr>
              <a:t>▼ -63%</a:t>
            </a:r>
          </a:p>
        </p:txBody>
      </p:sp>
      <p:sp>
        <p:nvSpPr>
          <p:cNvPr id="51" name="table-row-3-cell-7"/>
          <p:cNvSpPr txBox="1"/>
          <p:nvPr/>
        </p:nvSpPr>
        <p:spPr>
          <a:xfrm>
            <a:off x="9096375" y="3352800"/>
            <a:ext cx="2514600" cy="476250"/>
          </a:xfrm>
          <a:prstGeom prst="rect">
            <a:avLst/>
          </a:prstGeom>
          <a:noFill/>
          <a:ln>
            <a:noFill/>
          </a:ln>
        </p:spPr>
        <p:txBody>
          <a:bodyPr wrap="square" tIns="0" rIns="0" bIns="0" lIns="0" anchor="ctr">
            <a:spAutoFit/>
          </a:bodyPr>
          <a:lstStyle/>
          <a:p>
            <a:pPr algn="l">
              <a:defRPr/>
            </a:pPr>
            <a:r>
              <a:rPr sz="1050" b="0" i="0">
                <a:solidFill>
                  <a:srgbClr val="64748B"/>
                </a:solidFill>
                <a:latin typeface="Inter"/>
              </a:rPr>
              <a:t>Edits now sharpening, not redoing</a:t>
            </a:r>
          </a:p>
        </p:txBody>
      </p:sp>
      <p:sp>
        <p:nvSpPr>
          <p:cNvPr id="52" name="table-row-4-bg"/>
          <p:cNvSpPr/>
          <p:nvPr/>
        </p:nvSpPr>
        <p:spPr>
          <a:xfrm>
            <a:off x="457200" y="3829050"/>
            <a:ext cx="11277600" cy="47625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</a:p>
        </p:txBody>
      </p:sp>
      <p:sp>
        <p:nvSpPr>
          <p:cNvPr id="53" name="table-row-4-rule"/>
          <p:cNvSpPr/>
          <p:nvPr/>
        </p:nvSpPr>
        <p:spPr>
          <a:xfrm>
            <a:off x="457200" y="3829050"/>
            <a:ext cx="11277600" cy="9525"/>
          </a:xfrm>
          <a:prstGeom prst="rect">
            <a:avLst/>
          </a:prstGeom>
          <a:solidFill>
            <a:srgbClr val="ECE0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</a:p>
        </p:txBody>
      </p:sp>
      <p:sp>
        <p:nvSpPr>
          <p:cNvPr id="54" name="table-row-4-cell-2"/>
          <p:cNvSpPr txBox="1"/>
          <p:nvPr/>
        </p:nvSpPr>
        <p:spPr>
          <a:xfrm>
            <a:off x="2124075" y="3829050"/>
            <a:ext cx="2514600" cy="476250"/>
          </a:xfrm>
          <a:prstGeom prst="rect">
            <a:avLst/>
          </a:prstGeom>
          <a:noFill/>
          <a:ln>
            <a:noFill/>
          </a:ln>
        </p:spPr>
        <p:txBody>
          <a:bodyPr wrap="square" tIns="0" rIns="0" bIns="0" lIns="0" anchor="ctr">
            <a:spAutoFit/>
          </a:bodyPr>
          <a:lstStyle/>
          <a:p>
            <a:pPr algn="l">
              <a:defRPr/>
            </a:pPr>
            <a:r>
              <a:rPr sz="1050" b="1" i="0">
                <a:solidFill>
                  <a:srgbClr val="1A1A2E"/>
                </a:solidFill>
                <a:latin typeface="Inter"/>
              </a:rPr>
              <a:t>Stakeholder sign-off rate</a:t>
            </a:r>
          </a:p>
        </p:txBody>
      </p:sp>
      <p:sp>
        <p:nvSpPr>
          <p:cNvPr id="55" name="table-row-4-cell-3"/>
          <p:cNvSpPr txBox="1"/>
          <p:nvPr/>
        </p:nvSpPr>
        <p:spPr>
          <a:xfrm>
            <a:off x="4733925" y="3829050"/>
            <a:ext cx="1009650" cy="476250"/>
          </a:xfrm>
          <a:prstGeom prst="rect">
            <a:avLst/>
          </a:prstGeom>
          <a:noFill/>
          <a:ln>
            <a:noFill/>
          </a:ln>
        </p:spPr>
        <p:txBody>
          <a:bodyPr wrap="square" tIns="0" rIns="0" bIns="0" lIns="0" anchor="ctr">
            <a:spAutoFit/>
          </a:bodyPr>
          <a:lstStyle/>
          <a:p>
            <a:pPr algn="ctr">
              <a:defRPr/>
            </a:pPr>
            <a:r>
              <a:rPr sz="1050" b="1" i="0">
                <a:solidFill>
                  <a:srgbClr val="1A1A2E"/>
                </a:solidFill>
                <a:latin typeface="Inter"/>
              </a:rPr>
              <a:t>94%</a:t>
            </a:r>
          </a:p>
        </p:txBody>
      </p:sp>
      <p:sp>
        <p:nvSpPr>
          <p:cNvPr id="56" name="table-row-4-cell-4"/>
          <p:cNvSpPr txBox="1"/>
          <p:nvPr/>
        </p:nvSpPr>
        <p:spPr>
          <a:xfrm>
            <a:off x="5743575" y="3829050"/>
            <a:ext cx="1009650" cy="476250"/>
          </a:xfrm>
          <a:prstGeom prst="rect">
            <a:avLst/>
          </a:prstGeom>
          <a:noFill/>
          <a:ln>
            <a:noFill/>
          </a:ln>
        </p:spPr>
        <p:txBody>
          <a:bodyPr wrap="square" tIns="0" rIns="0" bIns="0" lIns="0" anchor="ctr">
            <a:spAutoFit/>
          </a:bodyPr>
          <a:lstStyle/>
          <a:p>
            <a:pPr algn="ctr">
              <a:defRPr/>
            </a:pPr>
            <a:r>
              <a:rPr sz="1050" b="0" i="0">
                <a:solidFill>
                  <a:srgbClr val="64748B"/>
                </a:solidFill>
                <a:latin typeface="Inter"/>
              </a:rPr>
              <a:t>&gt;80%</a:t>
            </a:r>
          </a:p>
        </p:txBody>
      </p:sp>
      <p:sp>
        <p:nvSpPr>
          <p:cNvPr id="57" name="table-row-4-status-pill"/>
          <p:cNvSpPr/>
          <p:nvPr/>
        </p:nvSpPr>
        <p:spPr>
          <a:xfrm>
            <a:off x="6981825" y="3981450"/>
            <a:ext cx="666750" cy="171450"/>
          </a:xfrm>
          <a:prstGeom prst="rect">
            <a:avLst/>
          </a:prstGeom>
          <a:solidFill>
            <a:srgbClr val="DCF4E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</a:p>
        </p:txBody>
      </p:sp>
      <p:sp>
        <p:nvSpPr>
          <p:cNvPr id="58" name="table-row-4-rag-dot"/>
          <p:cNvSpPr/>
          <p:nvPr/>
        </p:nvSpPr>
        <p:spPr>
          <a:xfrm>
            <a:off x="7038975" y="4038600"/>
            <a:ext cx="57150" cy="57150"/>
          </a:xfrm>
          <a:prstGeom prst="rect">
            <a:avLst/>
          </a:prstGeom>
          <a:solidFill>
            <a:srgbClr val="2ECC7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</a:p>
        </p:txBody>
      </p:sp>
      <p:sp>
        <p:nvSpPr>
          <p:cNvPr id="59" name="table-row-4-status-pill-text"/>
          <p:cNvSpPr txBox="1"/>
          <p:nvPr/>
        </p:nvSpPr>
        <p:spPr>
          <a:xfrm>
            <a:off x="7115175" y="3981450"/>
            <a:ext cx="533400" cy="171450"/>
          </a:xfrm>
          <a:prstGeom prst="rect">
            <a:avLst/>
          </a:prstGeom>
          <a:noFill/>
          <a:ln>
            <a:noFill/>
          </a:ln>
        </p:spPr>
        <p:txBody>
          <a:bodyPr wrap="square" tIns="0" rIns="0" bIns="0" lIns="0" anchor="ctr">
            <a:spAutoFit/>
          </a:bodyPr>
          <a:lstStyle/>
          <a:p>
            <a:pPr algn="ctr">
              <a:defRPr/>
            </a:pPr>
            <a:r>
              <a:rPr sz="1050" b="1" i="0">
                <a:solidFill>
                  <a:srgbClr val="2ECC71"/>
                </a:solidFill>
                <a:latin typeface="Inter"/>
              </a:rPr>
              <a:t>GREEN</a:t>
            </a:r>
          </a:p>
        </p:txBody>
      </p:sp>
      <p:sp>
        <p:nvSpPr>
          <p:cNvPr id="60" name="table-row-4-cell-6"/>
          <p:cNvSpPr txBox="1"/>
          <p:nvPr/>
        </p:nvSpPr>
        <p:spPr>
          <a:xfrm>
            <a:off x="7877175" y="3829050"/>
            <a:ext cx="1123950" cy="476250"/>
          </a:xfrm>
          <a:prstGeom prst="rect">
            <a:avLst/>
          </a:prstGeom>
          <a:noFill/>
          <a:ln>
            <a:noFill/>
          </a:ln>
        </p:spPr>
        <p:txBody>
          <a:bodyPr wrap="square" tIns="0" rIns="0" bIns="0" lIns="0" anchor="ctr">
            <a:spAutoFit/>
          </a:bodyPr>
          <a:lstStyle/>
          <a:p>
            <a:pPr algn="ctr">
              <a:defRPr/>
            </a:pPr>
            <a:r>
              <a:rPr sz="1050" b="1" i="0">
                <a:solidFill>
                  <a:srgbClr val="1A1A2E"/>
                </a:solidFill>
                <a:latin typeface="Inter"/>
              </a:rPr>
              <a:t>■ stable</a:t>
            </a:r>
          </a:p>
        </p:txBody>
      </p:sp>
      <p:sp>
        <p:nvSpPr>
          <p:cNvPr id="61" name="table-row-4-cell-7"/>
          <p:cNvSpPr txBox="1"/>
          <p:nvPr/>
        </p:nvSpPr>
        <p:spPr>
          <a:xfrm>
            <a:off x="9096375" y="3829050"/>
            <a:ext cx="2514600" cy="476250"/>
          </a:xfrm>
          <a:prstGeom prst="rect">
            <a:avLst/>
          </a:prstGeom>
          <a:noFill/>
          <a:ln>
            <a:noFill/>
          </a:ln>
        </p:spPr>
        <p:txBody>
          <a:bodyPr wrap="square" tIns="0" rIns="0" bIns="0" lIns="0" anchor="ctr">
            <a:spAutoFit/>
          </a:bodyPr>
          <a:lstStyle/>
          <a:p>
            <a:pPr algn="l">
              <a:defRPr/>
            </a:pPr>
            <a:r>
              <a:rPr sz="1050" b="0" i="0">
                <a:solidFill>
                  <a:srgbClr val="64748B"/>
                </a:solidFill>
                <a:latin typeface="Inter"/>
              </a:rPr>
              <a:t>Maintained through wave 1</a:t>
            </a:r>
          </a:p>
        </p:txBody>
      </p:sp>
      <p:sp>
        <p:nvSpPr>
          <p:cNvPr id="62" name="table-row-5-bg"/>
          <p:cNvSpPr/>
          <p:nvPr/>
        </p:nvSpPr>
        <p:spPr>
          <a:xfrm>
            <a:off x="457200" y="4305300"/>
            <a:ext cx="11277600" cy="47625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</a:p>
        </p:txBody>
      </p:sp>
      <p:sp>
        <p:nvSpPr>
          <p:cNvPr id="63" name="table-row-5-rule"/>
          <p:cNvSpPr/>
          <p:nvPr/>
        </p:nvSpPr>
        <p:spPr>
          <a:xfrm>
            <a:off x="457200" y="4305300"/>
            <a:ext cx="11277600" cy="9525"/>
          </a:xfrm>
          <a:prstGeom prst="rect">
            <a:avLst/>
          </a:prstGeom>
          <a:solidFill>
            <a:srgbClr val="ECE0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</a:p>
        </p:txBody>
      </p:sp>
      <p:sp>
        <p:nvSpPr>
          <p:cNvPr id="64" name="table-row-5-cell-2"/>
          <p:cNvSpPr txBox="1"/>
          <p:nvPr/>
        </p:nvSpPr>
        <p:spPr>
          <a:xfrm>
            <a:off x="2124075" y="4305300"/>
            <a:ext cx="2514600" cy="476250"/>
          </a:xfrm>
          <a:prstGeom prst="rect">
            <a:avLst/>
          </a:prstGeom>
          <a:noFill/>
          <a:ln>
            <a:noFill/>
          </a:ln>
        </p:spPr>
        <p:txBody>
          <a:bodyPr wrap="square" tIns="0" rIns="0" bIns="0" lIns="0" anchor="ctr">
            <a:spAutoFit/>
          </a:bodyPr>
          <a:lstStyle/>
          <a:p>
            <a:pPr algn="l">
              <a:defRPr/>
            </a:pPr>
            <a:r>
              <a:rPr sz="1050" b="1" i="0">
                <a:solidFill>
                  <a:srgbClr val="1A1A2E"/>
                </a:solidFill>
                <a:latin typeface="Inter"/>
              </a:rPr>
              <a:t>Active users vs target</a:t>
            </a:r>
          </a:p>
        </p:txBody>
      </p:sp>
      <p:sp>
        <p:nvSpPr>
          <p:cNvPr id="65" name="table-row-5-cell-3"/>
          <p:cNvSpPr txBox="1"/>
          <p:nvPr/>
        </p:nvSpPr>
        <p:spPr>
          <a:xfrm>
            <a:off x="4733925" y="4305300"/>
            <a:ext cx="1009650" cy="476250"/>
          </a:xfrm>
          <a:prstGeom prst="rect">
            <a:avLst/>
          </a:prstGeom>
          <a:noFill/>
          <a:ln>
            <a:noFill/>
          </a:ln>
        </p:spPr>
        <p:txBody>
          <a:bodyPr wrap="square" tIns="0" rIns="0" bIns="0" lIns="0" anchor="ctr">
            <a:spAutoFit/>
          </a:bodyPr>
          <a:lstStyle/>
          <a:p>
            <a:pPr algn="ctr">
              <a:defRPr/>
            </a:pPr>
            <a:r>
              <a:rPr sz="1050" b="1" i="0">
                <a:solidFill>
                  <a:srgbClr val="1A1A2E"/>
                </a:solidFill>
                <a:latin typeface="Inter"/>
              </a:rPr>
              <a:t>4/4</a:t>
            </a:r>
          </a:p>
        </p:txBody>
      </p:sp>
      <p:sp>
        <p:nvSpPr>
          <p:cNvPr id="66" name="table-row-5-cell-4"/>
          <p:cNvSpPr txBox="1"/>
          <p:nvPr/>
        </p:nvSpPr>
        <p:spPr>
          <a:xfrm>
            <a:off x="5743575" y="4305300"/>
            <a:ext cx="1009650" cy="476250"/>
          </a:xfrm>
          <a:prstGeom prst="rect">
            <a:avLst/>
          </a:prstGeom>
          <a:noFill/>
          <a:ln>
            <a:noFill/>
          </a:ln>
        </p:spPr>
        <p:txBody>
          <a:bodyPr wrap="square" tIns="0" rIns="0" bIns="0" lIns="0" anchor="ctr">
            <a:spAutoFit/>
          </a:bodyPr>
          <a:lstStyle/>
          <a:p>
            <a:pPr algn="ctr">
              <a:defRPr/>
            </a:pPr>
            <a:r>
              <a:rPr sz="1050" b="0" i="0">
                <a:solidFill>
                  <a:srgbClr val="64748B"/>
                </a:solidFill>
                <a:latin typeface="Inter"/>
              </a:rPr>
              <a:t>4/4</a:t>
            </a:r>
          </a:p>
        </p:txBody>
      </p:sp>
      <p:sp>
        <p:nvSpPr>
          <p:cNvPr id="67" name="table-row-5-status-pill"/>
          <p:cNvSpPr/>
          <p:nvPr/>
        </p:nvSpPr>
        <p:spPr>
          <a:xfrm>
            <a:off x="6981825" y="4457700"/>
            <a:ext cx="666750" cy="171450"/>
          </a:xfrm>
          <a:prstGeom prst="rect">
            <a:avLst/>
          </a:prstGeom>
          <a:solidFill>
            <a:srgbClr val="DCF4E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</a:p>
        </p:txBody>
      </p:sp>
      <p:sp>
        <p:nvSpPr>
          <p:cNvPr id="68" name="table-row-5-rag-dot"/>
          <p:cNvSpPr/>
          <p:nvPr/>
        </p:nvSpPr>
        <p:spPr>
          <a:xfrm>
            <a:off x="7038975" y="4514850"/>
            <a:ext cx="57150" cy="57150"/>
          </a:xfrm>
          <a:prstGeom prst="rect">
            <a:avLst/>
          </a:prstGeom>
          <a:solidFill>
            <a:srgbClr val="2ECC7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</a:p>
        </p:txBody>
      </p:sp>
      <p:sp>
        <p:nvSpPr>
          <p:cNvPr id="69" name="table-row-5-status-pill-text"/>
          <p:cNvSpPr txBox="1"/>
          <p:nvPr/>
        </p:nvSpPr>
        <p:spPr>
          <a:xfrm>
            <a:off x="7115175" y="4457700"/>
            <a:ext cx="533400" cy="171450"/>
          </a:xfrm>
          <a:prstGeom prst="rect">
            <a:avLst/>
          </a:prstGeom>
          <a:noFill/>
          <a:ln>
            <a:noFill/>
          </a:ln>
        </p:spPr>
        <p:txBody>
          <a:bodyPr wrap="square" tIns="0" rIns="0" bIns="0" lIns="0" anchor="ctr">
            <a:spAutoFit/>
          </a:bodyPr>
          <a:lstStyle/>
          <a:p>
            <a:pPr algn="ctr">
              <a:defRPr/>
            </a:pPr>
            <a:r>
              <a:rPr sz="1050" b="1" i="0">
                <a:solidFill>
                  <a:srgbClr val="2ECC71"/>
                </a:solidFill>
                <a:latin typeface="Inter"/>
              </a:rPr>
              <a:t>GREEN</a:t>
            </a:r>
          </a:p>
        </p:txBody>
      </p:sp>
      <p:sp>
        <p:nvSpPr>
          <p:cNvPr id="70" name="table-row-5-cell-6"/>
          <p:cNvSpPr txBox="1"/>
          <p:nvPr/>
        </p:nvSpPr>
        <p:spPr>
          <a:xfrm>
            <a:off x="7877175" y="4305300"/>
            <a:ext cx="1123950" cy="476250"/>
          </a:xfrm>
          <a:prstGeom prst="rect">
            <a:avLst/>
          </a:prstGeom>
          <a:noFill/>
          <a:ln>
            <a:noFill/>
          </a:ln>
        </p:spPr>
        <p:txBody>
          <a:bodyPr wrap="square" tIns="0" rIns="0" bIns="0" lIns="0" anchor="ctr">
            <a:spAutoFit/>
          </a:bodyPr>
          <a:lstStyle/>
          <a:p>
            <a:pPr algn="ctr">
              <a:defRPr/>
            </a:pPr>
            <a:r>
              <a:rPr sz="1050" b="1" i="0">
                <a:solidFill>
                  <a:srgbClr val="1A1A2E"/>
                </a:solidFill>
                <a:latin typeface="Inter"/>
              </a:rPr>
              <a:t>■ flat</a:t>
            </a:r>
          </a:p>
        </p:txBody>
      </p:sp>
      <p:sp>
        <p:nvSpPr>
          <p:cNvPr id="71" name="table-row-5-cell-7"/>
          <p:cNvSpPr txBox="1"/>
          <p:nvPr/>
        </p:nvSpPr>
        <p:spPr>
          <a:xfrm>
            <a:off x="9096375" y="4305300"/>
            <a:ext cx="2514600" cy="476250"/>
          </a:xfrm>
          <a:prstGeom prst="rect">
            <a:avLst/>
          </a:prstGeom>
          <a:noFill/>
          <a:ln>
            <a:noFill/>
          </a:ln>
        </p:spPr>
        <p:txBody>
          <a:bodyPr wrap="square" tIns="0" rIns="0" bIns="0" lIns="0" anchor="ctr">
            <a:spAutoFit/>
          </a:bodyPr>
          <a:lstStyle/>
          <a:p>
            <a:pPr algn="l">
              <a:defRPr/>
            </a:pPr>
            <a:r>
              <a:rPr sz="1050" b="0" i="0">
                <a:solidFill>
                  <a:srgbClr val="64748B"/>
                </a:solidFill>
                <a:latin typeface="Inter"/>
              </a:rPr>
              <a:t>Full pilot team engaged</a:t>
            </a:r>
          </a:p>
        </p:txBody>
      </p:sp>
      <p:sp>
        <p:nvSpPr>
          <p:cNvPr id="72" name="table-row-6-bg"/>
          <p:cNvSpPr/>
          <p:nvPr/>
        </p:nvSpPr>
        <p:spPr>
          <a:xfrm>
            <a:off x="457200" y="4781550"/>
            <a:ext cx="11277600" cy="476250"/>
          </a:xfrm>
          <a:prstGeom prst="rect">
            <a:avLst/>
          </a:prstGeom>
          <a:solidFill>
            <a:srgbClr val="FDF7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</a:p>
        </p:txBody>
      </p:sp>
      <p:sp>
        <p:nvSpPr>
          <p:cNvPr id="73" name="table-row-6-rule"/>
          <p:cNvSpPr/>
          <p:nvPr/>
        </p:nvSpPr>
        <p:spPr>
          <a:xfrm>
            <a:off x="457200" y="4781550"/>
            <a:ext cx="11277600" cy="9525"/>
          </a:xfrm>
          <a:prstGeom prst="rect">
            <a:avLst/>
          </a:prstGeom>
          <a:solidFill>
            <a:srgbClr val="ECE0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</a:p>
        </p:txBody>
      </p:sp>
      <p:sp>
        <p:nvSpPr>
          <p:cNvPr id="74" name="table-row-6-cell-2"/>
          <p:cNvSpPr txBox="1"/>
          <p:nvPr/>
        </p:nvSpPr>
        <p:spPr>
          <a:xfrm>
            <a:off x="2124075" y="4781550"/>
            <a:ext cx="2514600" cy="476250"/>
          </a:xfrm>
          <a:prstGeom prst="rect">
            <a:avLst/>
          </a:prstGeom>
          <a:noFill/>
          <a:ln>
            <a:noFill/>
          </a:ln>
        </p:spPr>
        <p:txBody>
          <a:bodyPr wrap="square" tIns="0" rIns="0" bIns="0" lIns="0" anchor="ctr">
            <a:spAutoFit/>
          </a:bodyPr>
          <a:lstStyle/>
          <a:p>
            <a:pPr algn="l">
              <a:defRPr/>
            </a:pPr>
            <a:r>
              <a:rPr sz="1050" b="1" i="0">
                <a:solidFill>
                  <a:srgbClr val="5C2D87"/>
                </a:solidFill>
                <a:latin typeface="Inter"/>
              </a:rPr>
              <a:t>Sessions per user / week</a:t>
            </a:r>
          </a:p>
        </p:txBody>
      </p:sp>
      <p:sp>
        <p:nvSpPr>
          <p:cNvPr id="75" name="table-row-6-cell-3"/>
          <p:cNvSpPr txBox="1"/>
          <p:nvPr/>
        </p:nvSpPr>
        <p:spPr>
          <a:xfrm>
            <a:off x="4733925" y="4781550"/>
            <a:ext cx="1009650" cy="476250"/>
          </a:xfrm>
          <a:prstGeom prst="rect">
            <a:avLst/>
          </a:prstGeom>
          <a:noFill/>
          <a:ln>
            <a:noFill/>
          </a:ln>
        </p:spPr>
        <p:txBody>
          <a:bodyPr wrap="square" tIns="0" rIns="0" bIns="0" lIns="0" anchor="ctr">
            <a:spAutoFit/>
          </a:bodyPr>
          <a:lstStyle/>
          <a:p>
            <a:pPr algn="ctr">
              <a:defRPr/>
            </a:pPr>
            <a:r>
              <a:rPr sz="1050" b="1" i="0">
                <a:solidFill>
                  <a:srgbClr val="1A1A2E"/>
                </a:solidFill>
                <a:latin typeface="Inter"/>
              </a:rPr>
              <a:t>1.8</a:t>
            </a:r>
          </a:p>
        </p:txBody>
      </p:sp>
      <p:sp>
        <p:nvSpPr>
          <p:cNvPr id="76" name="table-row-6-cell-4"/>
          <p:cNvSpPr txBox="1"/>
          <p:nvPr/>
        </p:nvSpPr>
        <p:spPr>
          <a:xfrm>
            <a:off x="5743575" y="4781550"/>
            <a:ext cx="1009650" cy="476250"/>
          </a:xfrm>
          <a:prstGeom prst="rect">
            <a:avLst/>
          </a:prstGeom>
          <a:noFill/>
          <a:ln>
            <a:noFill/>
          </a:ln>
        </p:spPr>
        <p:txBody>
          <a:bodyPr wrap="square" tIns="0" rIns="0" bIns="0" lIns="0" anchor="ctr">
            <a:spAutoFit/>
          </a:bodyPr>
          <a:lstStyle/>
          <a:p>
            <a:pPr algn="ctr">
              <a:defRPr/>
            </a:pPr>
            <a:r>
              <a:rPr sz="1050" b="0" i="0">
                <a:solidFill>
                  <a:srgbClr val="64748B"/>
                </a:solidFill>
                <a:latin typeface="Inter"/>
              </a:rPr>
              <a:t>&gt;2</a:t>
            </a:r>
          </a:p>
        </p:txBody>
      </p:sp>
      <p:sp>
        <p:nvSpPr>
          <p:cNvPr id="77" name="table-row-6-status-pill"/>
          <p:cNvSpPr/>
          <p:nvPr/>
        </p:nvSpPr>
        <p:spPr>
          <a:xfrm>
            <a:off x="6981825" y="4933950"/>
            <a:ext cx="666750" cy="171450"/>
          </a:xfrm>
          <a:prstGeom prst="rect">
            <a:avLst/>
          </a:prstGeom>
          <a:solidFill>
            <a:srgbClr val="FDF1D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</a:p>
        </p:txBody>
      </p:sp>
      <p:sp>
        <p:nvSpPr>
          <p:cNvPr id="78" name="table-row-6-rag-dot"/>
          <p:cNvSpPr/>
          <p:nvPr/>
        </p:nvSpPr>
        <p:spPr>
          <a:xfrm>
            <a:off x="7038975" y="4991100"/>
            <a:ext cx="57150" cy="57150"/>
          </a:xfrm>
          <a:prstGeom prst="rect">
            <a:avLst/>
          </a:prstGeom>
          <a:solidFill>
            <a:srgbClr val="F39C1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</a:p>
        </p:txBody>
      </p:sp>
      <p:sp>
        <p:nvSpPr>
          <p:cNvPr id="79" name="table-row-6-status-pill-text"/>
          <p:cNvSpPr txBox="1"/>
          <p:nvPr/>
        </p:nvSpPr>
        <p:spPr>
          <a:xfrm>
            <a:off x="7115175" y="4933950"/>
            <a:ext cx="533400" cy="171450"/>
          </a:xfrm>
          <a:prstGeom prst="rect">
            <a:avLst/>
          </a:prstGeom>
          <a:noFill/>
          <a:ln>
            <a:noFill/>
          </a:ln>
        </p:spPr>
        <p:txBody>
          <a:bodyPr wrap="square" tIns="0" rIns="0" bIns="0" lIns="0" anchor="ctr">
            <a:spAutoFit/>
          </a:bodyPr>
          <a:lstStyle/>
          <a:p>
            <a:pPr algn="ctr">
              <a:defRPr/>
            </a:pPr>
            <a:r>
              <a:rPr sz="1050" b="1" i="0">
                <a:solidFill>
                  <a:srgbClr val="F39C12"/>
                </a:solidFill>
                <a:latin typeface="Inter"/>
              </a:rPr>
              <a:t>AMBER</a:t>
            </a:r>
          </a:p>
        </p:txBody>
      </p:sp>
      <p:sp>
        <p:nvSpPr>
          <p:cNvPr id="80" name="table-row-6-cell-6"/>
          <p:cNvSpPr txBox="1"/>
          <p:nvPr/>
        </p:nvSpPr>
        <p:spPr>
          <a:xfrm>
            <a:off x="7877175" y="4781550"/>
            <a:ext cx="1123950" cy="476250"/>
          </a:xfrm>
          <a:prstGeom prst="rect">
            <a:avLst/>
          </a:prstGeom>
          <a:noFill/>
          <a:ln>
            <a:noFill/>
          </a:ln>
        </p:spPr>
        <p:txBody>
          <a:bodyPr wrap="square" tIns="0" rIns="0" bIns="0" lIns="0" anchor="ctr">
            <a:spAutoFit/>
          </a:bodyPr>
          <a:lstStyle/>
          <a:p>
            <a:pPr algn="ctr">
              <a:defRPr/>
            </a:pPr>
            <a:r>
              <a:rPr sz="1050" b="1" i="0">
                <a:solidFill>
                  <a:srgbClr val="1A1A2E"/>
                </a:solidFill>
                <a:latin typeface="Inter"/>
              </a:rPr>
              <a:t>▼ slightly</a:t>
            </a:r>
          </a:p>
        </p:txBody>
      </p:sp>
      <p:sp>
        <p:nvSpPr>
          <p:cNvPr id="81" name="table-row-6-cell-7"/>
          <p:cNvSpPr txBox="1"/>
          <p:nvPr/>
        </p:nvSpPr>
        <p:spPr>
          <a:xfrm>
            <a:off x="9096375" y="4781550"/>
            <a:ext cx="2514600" cy="476250"/>
          </a:xfrm>
          <a:prstGeom prst="rect">
            <a:avLst/>
          </a:prstGeom>
          <a:noFill/>
          <a:ln>
            <a:noFill/>
          </a:ln>
        </p:spPr>
        <p:txBody>
          <a:bodyPr wrap="square" tIns="0" rIns="0" bIns="0" lIns="0" anchor="ctr">
            <a:spAutoFit/>
          </a:bodyPr>
          <a:lstStyle/>
          <a:p>
            <a:pPr algn="l">
              <a:defRPr/>
            </a:pPr>
            <a:r>
              <a:rPr sz="1050" b="0" i="0">
                <a:solidFill>
                  <a:srgbClr val="64748B"/>
                </a:solidFill>
                <a:latin typeface="Inter"/>
              </a:rPr>
              <a:t>Senior users less consistent — coach by Wed</a:t>
            </a:r>
          </a:p>
        </p:txBody>
      </p:sp>
      <p:sp>
        <p:nvSpPr>
          <p:cNvPr id="82" name="table-row-7-bg"/>
          <p:cNvSpPr/>
          <p:nvPr/>
        </p:nvSpPr>
        <p:spPr>
          <a:xfrm>
            <a:off x="457200" y="5257800"/>
            <a:ext cx="11277600" cy="47625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</a:p>
        </p:txBody>
      </p:sp>
      <p:sp>
        <p:nvSpPr>
          <p:cNvPr id="83" name="table-row-7-rule"/>
          <p:cNvSpPr/>
          <p:nvPr/>
        </p:nvSpPr>
        <p:spPr>
          <a:xfrm>
            <a:off x="457200" y="5257800"/>
            <a:ext cx="11277600" cy="9525"/>
          </a:xfrm>
          <a:prstGeom prst="rect">
            <a:avLst/>
          </a:prstGeom>
          <a:solidFill>
            <a:srgbClr val="ECE0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</a:p>
        </p:txBody>
      </p:sp>
      <p:sp>
        <p:nvSpPr>
          <p:cNvPr id="84" name="table-row-7-cell-2"/>
          <p:cNvSpPr txBox="1"/>
          <p:nvPr/>
        </p:nvSpPr>
        <p:spPr>
          <a:xfrm>
            <a:off x="2124075" y="5257800"/>
            <a:ext cx="2514600" cy="476250"/>
          </a:xfrm>
          <a:prstGeom prst="rect">
            <a:avLst/>
          </a:prstGeom>
          <a:noFill/>
          <a:ln>
            <a:noFill/>
          </a:ln>
        </p:spPr>
        <p:txBody>
          <a:bodyPr wrap="square" tIns="0" rIns="0" bIns="0" lIns="0" anchor="ctr">
            <a:spAutoFit/>
          </a:bodyPr>
          <a:lstStyle/>
          <a:p>
            <a:pPr algn="l">
              <a:defRPr/>
            </a:pPr>
            <a:r>
              <a:rPr sz="1050" b="1" i="0">
                <a:solidFill>
                  <a:srgbClr val="1A1A2E"/>
                </a:solidFill>
                <a:latin typeface="Inter"/>
              </a:rPr>
              <a:t>Hours per deck saved</a:t>
            </a:r>
          </a:p>
        </p:txBody>
      </p:sp>
      <p:sp>
        <p:nvSpPr>
          <p:cNvPr id="85" name="table-row-7-cell-3"/>
          <p:cNvSpPr txBox="1"/>
          <p:nvPr/>
        </p:nvSpPr>
        <p:spPr>
          <a:xfrm>
            <a:off x="4733925" y="5257800"/>
            <a:ext cx="1009650" cy="476250"/>
          </a:xfrm>
          <a:prstGeom prst="rect">
            <a:avLst/>
          </a:prstGeom>
          <a:noFill/>
          <a:ln>
            <a:noFill/>
          </a:ln>
        </p:spPr>
        <p:txBody>
          <a:bodyPr wrap="square" tIns="0" rIns="0" bIns="0" lIns="0" anchor="ctr">
            <a:spAutoFit/>
          </a:bodyPr>
          <a:lstStyle/>
          <a:p>
            <a:pPr algn="ctr">
              <a:defRPr/>
            </a:pPr>
            <a:r>
              <a:rPr sz="1050" b="1" i="0">
                <a:solidFill>
                  <a:srgbClr val="1A1A2E"/>
                </a:solidFill>
                <a:latin typeface="Inter"/>
              </a:rPr>
              <a:t>18h</a:t>
            </a:r>
          </a:p>
        </p:txBody>
      </p:sp>
      <p:sp>
        <p:nvSpPr>
          <p:cNvPr id="86" name="table-row-7-cell-4"/>
          <p:cNvSpPr txBox="1"/>
          <p:nvPr/>
        </p:nvSpPr>
        <p:spPr>
          <a:xfrm>
            <a:off x="5743575" y="5257800"/>
            <a:ext cx="1009650" cy="476250"/>
          </a:xfrm>
          <a:prstGeom prst="rect">
            <a:avLst/>
          </a:prstGeom>
          <a:noFill/>
          <a:ln>
            <a:noFill/>
          </a:ln>
        </p:spPr>
        <p:txBody>
          <a:bodyPr wrap="square" tIns="0" rIns="0" bIns="0" lIns="0" anchor="ctr">
            <a:spAutoFit/>
          </a:bodyPr>
          <a:lstStyle/>
          <a:p>
            <a:pPr algn="ctr">
              <a:defRPr/>
            </a:pPr>
            <a:r>
              <a:rPr sz="1050" b="0" i="0">
                <a:solidFill>
                  <a:srgbClr val="64748B"/>
                </a:solidFill>
                <a:latin typeface="Inter"/>
              </a:rPr>
              <a:t>&gt;12h</a:t>
            </a:r>
          </a:p>
        </p:txBody>
      </p:sp>
      <p:sp>
        <p:nvSpPr>
          <p:cNvPr id="87" name="table-row-7-status-pill"/>
          <p:cNvSpPr/>
          <p:nvPr/>
        </p:nvSpPr>
        <p:spPr>
          <a:xfrm>
            <a:off x="6981825" y="5410200"/>
            <a:ext cx="666750" cy="171450"/>
          </a:xfrm>
          <a:prstGeom prst="rect">
            <a:avLst/>
          </a:prstGeom>
          <a:solidFill>
            <a:srgbClr val="DCF4E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</a:p>
        </p:txBody>
      </p:sp>
      <p:sp>
        <p:nvSpPr>
          <p:cNvPr id="88" name="table-row-7-rag-dot"/>
          <p:cNvSpPr/>
          <p:nvPr/>
        </p:nvSpPr>
        <p:spPr>
          <a:xfrm>
            <a:off x="7038975" y="5467350"/>
            <a:ext cx="57150" cy="57150"/>
          </a:xfrm>
          <a:prstGeom prst="rect">
            <a:avLst/>
          </a:prstGeom>
          <a:solidFill>
            <a:srgbClr val="2ECC7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</a:p>
        </p:txBody>
      </p:sp>
      <p:sp>
        <p:nvSpPr>
          <p:cNvPr id="89" name="table-row-7-status-pill-text"/>
          <p:cNvSpPr txBox="1"/>
          <p:nvPr/>
        </p:nvSpPr>
        <p:spPr>
          <a:xfrm>
            <a:off x="7115175" y="5410200"/>
            <a:ext cx="533400" cy="171450"/>
          </a:xfrm>
          <a:prstGeom prst="rect">
            <a:avLst/>
          </a:prstGeom>
          <a:noFill/>
          <a:ln>
            <a:noFill/>
          </a:ln>
        </p:spPr>
        <p:txBody>
          <a:bodyPr wrap="square" tIns="0" rIns="0" bIns="0" lIns="0" anchor="ctr">
            <a:spAutoFit/>
          </a:bodyPr>
          <a:lstStyle/>
          <a:p>
            <a:pPr algn="ctr">
              <a:defRPr/>
            </a:pPr>
            <a:r>
              <a:rPr sz="1050" b="1" i="0">
                <a:solidFill>
                  <a:srgbClr val="2ECC71"/>
                </a:solidFill>
                <a:latin typeface="Inter"/>
              </a:rPr>
              <a:t>GREEN</a:t>
            </a:r>
          </a:p>
        </p:txBody>
      </p:sp>
      <p:sp>
        <p:nvSpPr>
          <p:cNvPr id="90" name="table-row-7-cell-6"/>
          <p:cNvSpPr txBox="1"/>
          <p:nvPr/>
        </p:nvSpPr>
        <p:spPr>
          <a:xfrm>
            <a:off x="7877175" y="5257800"/>
            <a:ext cx="1123950" cy="476250"/>
          </a:xfrm>
          <a:prstGeom prst="rect">
            <a:avLst/>
          </a:prstGeom>
          <a:noFill/>
          <a:ln>
            <a:noFill/>
          </a:ln>
        </p:spPr>
        <p:txBody>
          <a:bodyPr wrap="square" tIns="0" rIns="0" bIns="0" lIns="0" anchor="ctr">
            <a:spAutoFit/>
          </a:bodyPr>
          <a:lstStyle/>
          <a:p>
            <a:pPr algn="ctr">
              <a:defRPr/>
            </a:pPr>
            <a:r>
              <a:rPr sz="1050" b="1" i="0">
                <a:solidFill>
                  <a:srgbClr val="1A1A2E"/>
                </a:solidFill>
                <a:latin typeface="Inter"/>
              </a:rPr>
              <a:t>▲ +6h</a:t>
            </a:r>
          </a:p>
        </p:txBody>
      </p:sp>
      <p:sp>
        <p:nvSpPr>
          <p:cNvPr id="91" name="table-row-7-cell-7"/>
          <p:cNvSpPr txBox="1"/>
          <p:nvPr/>
        </p:nvSpPr>
        <p:spPr>
          <a:xfrm>
            <a:off x="9096375" y="5257800"/>
            <a:ext cx="2514600" cy="476250"/>
          </a:xfrm>
          <a:prstGeom prst="rect">
            <a:avLst/>
          </a:prstGeom>
          <a:noFill/>
          <a:ln>
            <a:noFill/>
          </a:ln>
        </p:spPr>
        <p:txBody>
          <a:bodyPr wrap="square" tIns="0" rIns="0" bIns="0" lIns="0" anchor="ctr">
            <a:spAutoFit/>
          </a:bodyPr>
          <a:lstStyle/>
          <a:p>
            <a:pPr algn="l">
              <a:defRPr/>
            </a:pPr>
            <a:r>
              <a:rPr sz="1050" b="0" i="0">
                <a:solidFill>
                  <a:srgbClr val="64748B"/>
                </a:solidFill>
                <a:latin typeface="Inter"/>
              </a:rPr>
              <a:t>Net of onboarding</a:t>
            </a:r>
          </a:p>
        </p:txBody>
      </p:sp>
      <p:sp>
        <p:nvSpPr>
          <p:cNvPr id="92" name="table-pillar-1-cell"/>
          <p:cNvSpPr/>
          <p:nvPr/>
        </p:nvSpPr>
        <p:spPr>
          <a:xfrm>
            <a:off x="457200" y="2400300"/>
            <a:ext cx="1571625" cy="952500"/>
          </a:xfrm>
          <a:prstGeom prst="rect">
            <a:avLst/>
          </a:prstGeom>
          <a:solidFill>
            <a:srgbClr val="FBF8F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</a:p>
        </p:txBody>
      </p:sp>
      <p:sp>
        <p:nvSpPr>
          <p:cNvPr id="93" name="table-pillar-1-num"/>
          <p:cNvSpPr txBox="1"/>
          <p:nvPr/>
        </p:nvSpPr>
        <p:spPr>
          <a:xfrm>
            <a:off x="571500" y="2476500"/>
            <a:ext cx="1343025" cy="133350"/>
          </a:xfrm>
          <a:prstGeom prst="rect">
            <a:avLst/>
          </a:prstGeom>
          <a:noFill/>
          <a:ln>
            <a:noFill/>
          </a:ln>
        </p:spPr>
        <p:txBody>
          <a:bodyPr wrap="square" tIns="0" rIns="0" bIns="0" lIns="0" anchor="t">
            <a:spAutoFit/>
          </a:bodyPr>
          <a:lstStyle/>
          <a:p>
            <a:pPr algn="l">
              <a:defRPr/>
            </a:pPr>
            <a:r>
              <a:rPr sz="1050" b="1" i="0">
                <a:solidFill>
                  <a:srgbClr val="A100FF"/>
                </a:solidFill>
                <a:latin typeface="Inter"/>
              </a:rPr>
              <a:t>PILLAR 1</a:t>
            </a:r>
          </a:p>
        </p:txBody>
      </p:sp>
      <p:sp>
        <p:nvSpPr>
          <p:cNvPr id="94" name="table-pillar-1-name"/>
          <p:cNvSpPr txBox="1"/>
          <p:nvPr/>
        </p:nvSpPr>
        <p:spPr>
          <a:xfrm>
            <a:off x="571500" y="2628900"/>
            <a:ext cx="1343025" cy="666750"/>
          </a:xfrm>
          <a:prstGeom prst="rect">
            <a:avLst/>
          </a:prstGeom>
          <a:noFill/>
          <a:ln>
            <a:noFill/>
          </a:ln>
        </p:spPr>
        <p:txBody>
          <a:bodyPr wrap="square" tIns="0" rIns="0" bIns="0" lIns="0" anchor="t">
            <a:spAutoFit/>
          </a:bodyPr>
          <a:lstStyle/>
          <a:p>
            <a:pPr algn="l">
              <a:defRPr/>
            </a:pPr>
            <a:r>
              <a:rPr sz="1050" b="1" i="0">
                <a:solidFill>
                  <a:srgbClr val="2D0A4E"/>
                </a:solidFill>
                <a:latin typeface="Inter"/>
              </a:rPr>
              <a:t>CYCLE TIME</a:t>
            </a:r>
          </a:p>
        </p:txBody>
      </p:sp>
      <p:sp>
        <p:nvSpPr>
          <p:cNvPr id="95" name="table-pillar-2-cell"/>
          <p:cNvSpPr/>
          <p:nvPr/>
        </p:nvSpPr>
        <p:spPr>
          <a:xfrm>
            <a:off x="457200" y="3352800"/>
            <a:ext cx="1571625" cy="952500"/>
          </a:xfrm>
          <a:prstGeom prst="rect">
            <a:avLst/>
          </a:prstGeom>
          <a:solidFill>
            <a:srgbClr val="FBF8F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</a:p>
        </p:txBody>
      </p:sp>
      <p:sp>
        <p:nvSpPr>
          <p:cNvPr id="96" name="table-pillar-2-num"/>
          <p:cNvSpPr txBox="1"/>
          <p:nvPr/>
        </p:nvSpPr>
        <p:spPr>
          <a:xfrm>
            <a:off x="571500" y="3429000"/>
            <a:ext cx="1343025" cy="133350"/>
          </a:xfrm>
          <a:prstGeom prst="rect">
            <a:avLst/>
          </a:prstGeom>
          <a:noFill/>
          <a:ln>
            <a:noFill/>
          </a:ln>
        </p:spPr>
        <p:txBody>
          <a:bodyPr wrap="square" tIns="0" rIns="0" bIns="0" lIns="0" anchor="t">
            <a:spAutoFit/>
          </a:bodyPr>
          <a:lstStyle/>
          <a:p>
            <a:pPr algn="l">
              <a:defRPr/>
            </a:pPr>
            <a:r>
              <a:rPr sz="1050" b="1" i="0">
                <a:solidFill>
                  <a:srgbClr val="A100FF"/>
                </a:solidFill>
                <a:latin typeface="Inter"/>
              </a:rPr>
              <a:t>PILLAR 2</a:t>
            </a:r>
          </a:p>
        </p:txBody>
      </p:sp>
      <p:sp>
        <p:nvSpPr>
          <p:cNvPr id="97" name="table-pillar-2-name"/>
          <p:cNvSpPr txBox="1"/>
          <p:nvPr/>
        </p:nvSpPr>
        <p:spPr>
          <a:xfrm>
            <a:off x="571500" y="3581400"/>
            <a:ext cx="1343025" cy="666750"/>
          </a:xfrm>
          <a:prstGeom prst="rect">
            <a:avLst/>
          </a:prstGeom>
          <a:noFill/>
          <a:ln>
            <a:noFill/>
          </a:ln>
        </p:spPr>
        <p:txBody>
          <a:bodyPr wrap="square" tIns="0" rIns="0" bIns="0" lIns="0" anchor="t">
            <a:spAutoFit/>
          </a:bodyPr>
          <a:lstStyle/>
          <a:p>
            <a:pPr algn="l">
              <a:defRPr/>
            </a:pPr>
            <a:r>
              <a:rPr sz="1050" b="1" i="0">
                <a:solidFill>
                  <a:srgbClr val="2D0A4E"/>
                </a:solidFill>
                <a:latin typeface="Inter"/>
              </a:rPr>
              <a:t>QUALITY</a:t>
            </a:r>
          </a:p>
        </p:txBody>
      </p:sp>
      <p:sp>
        <p:nvSpPr>
          <p:cNvPr id="98" name="table-pillar-3-cell"/>
          <p:cNvSpPr/>
          <p:nvPr/>
        </p:nvSpPr>
        <p:spPr>
          <a:xfrm>
            <a:off x="457200" y="4305300"/>
            <a:ext cx="1571625" cy="952500"/>
          </a:xfrm>
          <a:prstGeom prst="rect">
            <a:avLst/>
          </a:prstGeom>
          <a:solidFill>
            <a:srgbClr val="FBF8F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</a:p>
        </p:txBody>
      </p:sp>
      <p:sp>
        <p:nvSpPr>
          <p:cNvPr id="99" name="table-pillar-3-num"/>
          <p:cNvSpPr txBox="1"/>
          <p:nvPr/>
        </p:nvSpPr>
        <p:spPr>
          <a:xfrm>
            <a:off x="571500" y="4381500"/>
            <a:ext cx="1343025" cy="133350"/>
          </a:xfrm>
          <a:prstGeom prst="rect">
            <a:avLst/>
          </a:prstGeom>
          <a:noFill/>
          <a:ln>
            <a:noFill/>
          </a:ln>
        </p:spPr>
        <p:txBody>
          <a:bodyPr wrap="square" tIns="0" rIns="0" bIns="0" lIns="0" anchor="t">
            <a:spAutoFit/>
          </a:bodyPr>
          <a:lstStyle/>
          <a:p>
            <a:pPr algn="l">
              <a:defRPr/>
            </a:pPr>
            <a:r>
              <a:rPr sz="1050" b="1" i="0">
                <a:solidFill>
                  <a:srgbClr val="A100FF"/>
                </a:solidFill>
                <a:latin typeface="Inter"/>
              </a:rPr>
              <a:t>PILLAR 3</a:t>
            </a:r>
          </a:p>
        </p:txBody>
      </p:sp>
      <p:sp>
        <p:nvSpPr>
          <p:cNvPr id="100" name="table-pillar-3-name"/>
          <p:cNvSpPr txBox="1"/>
          <p:nvPr/>
        </p:nvSpPr>
        <p:spPr>
          <a:xfrm>
            <a:off x="571500" y="4533900"/>
            <a:ext cx="1343025" cy="666750"/>
          </a:xfrm>
          <a:prstGeom prst="rect">
            <a:avLst/>
          </a:prstGeom>
          <a:noFill/>
          <a:ln>
            <a:noFill/>
          </a:ln>
        </p:spPr>
        <p:txBody>
          <a:bodyPr wrap="square" tIns="0" rIns="0" bIns="0" lIns="0" anchor="t">
            <a:spAutoFit/>
          </a:bodyPr>
          <a:lstStyle/>
          <a:p>
            <a:pPr algn="l">
              <a:defRPr/>
            </a:pPr>
            <a:r>
              <a:rPr sz="1050" b="1" i="0">
                <a:solidFill>
                  <a:srgbClr val="2D0A4E"/>
                </a:solidFill>
                <a:latin typeface="Inter"/>
              </a:rPr>
              <a:t>ADOPTION</a:t>
            </a:r>
          </a:p>
        </p:txBody>
      </p:sp>
      <p:sp>
        <p:nvSpPr>
          <p:cNvPr id="101" name="table-pillar-4-cell"/>
          <p:cNvSpPr/>
          <p:nvPr/>
        </p:nvSpPr>
        <p:spPr>
          <a:xfrm>
            <a:off x="457200" y="5257800"/>
            <a:ext cx="1571625" cy="476250"/>
          </a:xfrm>
          <a:prstGeom prst="rect">
            <a:avLst/>
          </a:prstGeom>
          <a:solidFill>
            <a:srgbClr val="FBF8F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</a:p>
        </p:txBody>
      </p:sp>
      <p:sp>
        <p:nvSpPr>
          <p:cNvPr id="102" name="table-pillar-4-num"/>
          <p:cNvSpPr txBox="1"/>
          <p:nvPr/>
        </p:nvSpPr>
        <p:spPr>
          <a:xfrm>
            <a:off x="571500" y="5334000"/>
            <a:ext cx="1343025" cy="133350"/>
          </a:xfrm>
          <a:prstGeom prst="rect">
            <a:avLst/>
          </a:prstGeom>
          <a:noFill/>
          <a:ln>
            <a:noFill/>
          </a:ln>
        </p:spPr>
        <p:txBody>
          <a:bodyPr wrap="square" tIns="0" rIns="0" bIns="0" lIns="0" anchor="t">
            <a:spAutoFit/>
          </a:bodyPr>
          <a:lstStyle/>
          <a:p>
            <a:pPr algn="l">
              <a:defRPr/>
            </a:pPr>
            <a:r>
              <a:rPr sz="1050" b="1" i="0">
                <a:solidFill>
                  <a:srgbClr val="A100FF"/>
                </a:solidFill>
                <a:latin typeface="Inter"/>
              </a:rPr>
              <a:t>PILLAR 4</a:t>
            </a:r>
          </a:p>
        </p:txBody>
      </p:sp>
      <p:sp>
        <p:nvSpPr>
          <p:cNvPr id="103" name="table-pillar-4-name"/>
          <p:cNvSpPr txBox="1"/>
          <p:nvPr/>
        </p:nvSpPr>
        <p:spPr>
          <a:xfrm>
            <a:off x="571500" y="5486400"/>
            <a:ext cx="1343025" cy="190500"/>
          </a:xfrm>
          <a:prstGeom prst="rect">
            <a:avLst/>
          </a:prstGeom>
          <a:noFill/>
          <a:ln>
            <a:noFill/>
          </a:ln>
        </p:spPr>
        <p:txBody>
          <a:bodyPr wrap="square" tIns="0" rIns="0" bIns="0" lIns="0" anchor="t">
            <a:spAutoFit/>
          </a:bodyPr>
          <a:lstStyle/>
          <a:p>
            <a:pPr algn="l">
              <a:defRPr/>
            </a:pPr>
            <a:r>
              <a:rPr sz="1050" b="1" i="0">
                <a:solidFill>
                  <a:srgbClr val="2D0A4E"/>
                </a:solidFill>
                <a:latin typeface="Inter"/>
              </a:rPr>
              <a:t>COST</a:t>
            </a:r>
          </a:p>
        </p:txBody>
      </p:sp>
      <p:sp>
        <p:nvSpPr>
          <p:cNvPr id="104" name="convergence-bg"/>
          <p:cNvSpPr/>
          <p:nvPr/>
        </p:nvSpPr>
        <p:spPr>
          <a:xfrm>
            <a:off x="457200" y="6019800"/>
            <a:ext cx="11277600" cy="476250"/>
          </a:xfrm>
          <a:prstGeom prst="rect">
            <a:avLst/>
          </a:prstGeom>
          <a:solidFill>
            <a:srgbClr val="2D0A4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</a:p>
        </p:txBody>
      </p:sp>
      <p:sp>
        <p:nvSpPr>
          <p:cNvPr id="105" name="convergence-mark"/>
          <p:cNvSpPr/>
          <p:nvPr/>
        </p:nvSpPr>
        <p:spPr>
          <a:xfrm>
            <a:off x="609600" y="6153150"/>
            <a:ext cx="762000" cy="209550"/>
          </a:xfrm>
          <a:prstGeom prst="rect">
            <a:avLst/>
          </a:prstGeom>
          <a:solidFill>
            <a:srgbClr val="2D0A4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</a:p>
        </p:txBody>
      </p:sp>
      <p:sp>
        <p:nvSpPr>
          <p:cNvPr id="106" name="convergence-mark-text"/>
          <p:cNvSpPr txBox="1"/>
          <p:nvPr/>
        </p:nvSpPr>
        <p:spPr>
          <a:xfrm>
            <a:off x="609600" y="6153150"/>
            <a:ext cx="762000" cy="209550"/>
          </a:xfrm>
          <a:prstGeom prst="rect">
            <a:avLst/>
          </a:prstGeom>
          <a:noFill/>
          <a:ln>
            <a:noFill/>
          </a:ln>
        </p:spPr>
        <p:txBody>
          <a:bodyPr wrap="square" tIns="0" rIns="0" bIns="0" lIns="0" anchor="ctr">
            <a:spAutoFit/>
          </a:bodyPr>
          <a:lstStyle/>
          <a:p>
            <a:pPr algn="ctr">
              <a:defRPr/>
            </a:pPr>
            <a:r>
              <a:rPr sz="1050" b="1" i="0">
                <a:solidFill>
                  <a:srgbClr val="C780FF"/>
                </a:solidFill>
                <a:latin typeface="Inter"/>
              </a:rPr>
              <a:t>SO WHAT</a:t>
            </a:r>
          </a:p>
        </p:txBody>
      </p:sp>
      <p:sp>
        <p:nvSpPr>
          <p:cNvPr id="107" name="convergence"/>
          <p:cNvSpPr txBox="1"/>
          <p:nvPr/>
        </p:nvSpPr>
        <p:spPr>
          <a:xfrm>
            <a:off x="1524000" y="6019800"/>
            <a:ext cx="10210800" cy="476250"/>
          </a:xfrm>
          <a:prstGeom prst="rect">
            <a:avLst/>
          </a:prstGeom>
          <a:noFill/>
          <a:ln>
            <a:noFill/>
          </a:ln>
        </p:spPr>
        <p:txBody>
          <a:bodyPr wrap="square" tIns="0" rIns="0" bIns="0" lIns="0" anchor="ctr">
            <a:spAutoFit/>
          </a:bodyPr>
          <a:lstStyle/>
          <a:p>
            <a:pPr algn="l">
              <a:defRPr/>
            </a:pPr>
            <a:r>
              <a:rPr sz="1050" b="0" i="0">
                <a:solidFill>
                  <a:srgbClr val="FFFFFF"/>
                </a:solidFill>
                <a:latin typeface="Inter"/>
              </a:rPr>
              <a:t>Three pillars green, one amber. The amber one — senior-user session frequency — is where steering should focus this week.</a:t>
            </a:r>
          </a:p>
        </p:txBody>
      </p:sp>
      <p:sp>
        <p:nvSpPr>
          <p:cNvPr id="108" name="footnote-1"/>
          <p:cNvSpPr txBox="1"/>
          <p:nvPr/>
        </p:nvSpPr>
        <p:spPr>
          <a:xfrm>
            <a:off x="552450" y="6400800"/>
            <a:ext cx="11087100" cy="152400"/>
          </a:xfrm>
          <a:prstGeom prst="rect">
            <a:avLst/>
          </a:prstGeom>
          <a:noFill/>
          <a:ln>
            <a:noFill/>
          </a:ln>
        </p:spPr>
        <p:txBody>
          <a:bodyPr wrap="square" tIns="0" rIns="0" bIns="0" lIns="0" anchor="t">
            <a:spAutoFit/>
          </a:bodyPr>
          <a:lstStyle/>
          <a:p>
            <a:pPr algn="l">
              <a:defRPr/>
            </a:pPr>
            <a:r>
              <a:rPr sz="1050" b="0" i="0">
                <a:solidFill>
                  <a:srgbClr val="94A3B8"/>
                </a:solidFill>
                <a:latin typeface="Inter"/>
              </a:rPr>
              <a:t>1. [add footnote here or delete]</a:t>
            </a:r>
          </a:p>
        </p:txBody>
      </p:sp>
      <p:sp>
        <p:nvSpPr>
          <p:cNvPr id="109" name="source"/>
          <p:cNvSpPr txBox="1"/>
          <p:nvPr/>
        </p:nvSpPr>
        <p:spPr>
          <a:xfrm>
            <a:off x="552450" y="6553200"/>
            <a:ext cx="10477500" cy="152400"/>
          </a:xfrm>
          <a:prstGeom prst="rect">
            <a:avLst/>
          </a:prstGeom>
          <a:noFill/>
          <a:ln>
            <a:noFill/>
          </a:ln>
        </p:spPr>
        <p:txBody>
          <a:bodyPr wrap="square" tIns="0" rIns="0" bIns="0" lIns="0" anchor="t">
            <a:spAutoFit/>
          </a:bodyPr>
          <a:lstStyle/>
          <a:p>
            <a:pPr algn="l"/>
            <a:r>
              <a:rPr sz="750" b="0" i="1">
                <a:solidFill>
                  <a:srgbClr val="94A3B8"/>
                </a:solidFill>
                <a:latin typeface="Inter"/>
              </a:rPr>
              <a:t>Source: [add source here or delete]</a:t>
            </a:r>
          </a:p>
        </p:txBody>
      </p:sp>
      <p:sp>
        <p:nvSpPr>
          <p:cNvPr id="110" name="page-number"/>
          <p:cNvSpPr txBox="1"/>
          <p:nvPr/>
        </p:nvSpPr>
        <p:spPr>
          <a:xfrm>
            <a:off x="11144250" y="6553200"/>
            <a:ext cx="495300" cy="152400"/>
          </a:xfrm>
          <a:prstGeom prst="rect">
            <a:avLst/>
          </a:prstGeom>
          <a:noFill/>
          <a:ln>
            <a:noFill/>
          </a:ln>
        </p:spPr>
        <p:txBody>
          <a:bodyPr wrap="square" tIns="0" rIns="0" bIns="0" lIns="0" anchor="t">
            <a:spAutoFit/>
          </a:bodyPr>
          <a:lstStyle/>
          <a:p>
            <a:pPr algn="r"/>
            <a:r>
              <a:rPr sz="825" b="0" i="0">
                <a:solidFill>
                  <a:srgbClr val="94A3B8"/>
                </a:solidFill>
                <a:latin typeface="Inter"/>
              </a:rPr>
              <a:t>44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