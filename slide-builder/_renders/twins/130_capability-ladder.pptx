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2D0A4E"/>
                </a:solidFill>
                <a:latin typeface="Inter"/>
              </a:rPr>
              <a:t>Accelerated path to Senior requires ML proficiency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81915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70% of recent promotions met the ML competency threshold early — Data Analytics Career Ladder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0287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ier-6-bg"/>
          <p:cNvSpPr/>
          <p:nvPr/>
        </p:nvSpPr>
        <p:spPr>
          <a:xfrm>
            <a:off x="457200" y="1409700"/>
            <a:ext cx="4733925" cy="6858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ier-6-label"/>
          <p:cNvSpPr txBox="1"/>
          <p:nvPr/>
        </p:nvSpPr>
        <p:spPr>
          <a:xfrm>
            <a:off x="590550" y="1619250"/>
            <a:ext cx="457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L6</a:t>
            </a:r>
          </a:p>
        </p:txBody>
      </p:sp>
      <p:sp>
        <p:nvSpPr>
          <p:cNvPr id="7" name="tier-6-name"/>
          <p:cNvSpPr txBox="1"/>
          <p:nvPr/>
        </p:nvSpPr>
        <p:spPr>
          <a:xfrm>
            <a:off x="1200150" y="1581150"/>
            <a:ext cx="1409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Director, Analytics</a:t>
            </a:r>
          </a:p>
        </p:txBody>
      </p:sp>
      <p:sp>
        <p:nvSpPr>
          <p:cNvPr id="8" name="tier-6-desc"/>
          <p:cNvSpPr txBox="1"/>
          <p:nvPr/>
        </p:nvSpPr>
        <p:spPr>
          <a:xfrm>
            <a:off x="1200150" y="1771650"/>
            <a:ext cx="14097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12+ yrs</a:t>
            </a:r>
          </a:p>
        </p:txBody>
      </p:sp>
      <p:sp>
        <p:nvSpPr>
          <p:cNvPr id="9" name="tier-6-body"/>
          <p:cNvSpPr txBox="1"/>
          <p:nvPr/>
        </p:nvSpPr>
        <p:spPr>
          <a:xfrm>
            <a:off x="2743200" y="1543050"/>
            <a:ext cx="1304925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Enterprise analytics strategy &amp; P&amp;L ownership · C-suite stakeholder management &amp; executive storytelling · Cross-portfolio talent development &amp; org design</a:t>
            </a:r>
          </a:p>
        </p:txBody>
      </p:sp>
      <p:sp>
        <p:nvSpPr>
          <p:cNvPr id="10" name="tier-target-chip"/>
          <p:cNvSpPr txBox="1"/>
          <p:nvPr/>
        </p:nvSpPr>
        <p:spPr>
          <a:xfrm>
            <a:off x="4333875" y="1638300"/>
            <a:ext cx="6858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TARGET</a:t>
            </a:r>
          </a:p>
        </p:txBody>
      </p:sp>
      <p:sp>
        <p:nvSpPr>
          <p:cNvPr id="11" name="tier-5-bg"/>
          <p:cNvSpPr/>
          <p:nvPr/>
        </p:nvSpPr>
        <p:spPr>
          <a:xfrm>
            <a:off x="457200" y="2143125"/>
            <a:ext cx="5972175" cy="6858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tier-5-label"/>
          <p:cNvSpPr txBox="1"/>
          <p:nvPr/>
        </p:nvSpPr>
        <p:spPr>
          <a:xfrm>
            <a:off x="590550" y="2352675"/>
            <a:ext cx="457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L5</a:t>
            </a:r>
          </a:p>
        </p:txBody>
      </p:sp>
      <p:sp>
        <p:nvSpPr>
          <p:cNvPr id="13" name="tier-5-name"/>
          <p:cNvSpPr txBox="1"/>
          <p:nvPr/>
        </p:nvSpPr>
        <p:spPr>
          <a:xfrm>
            <a:off x="1200150" y="2314575"/>
            <a:ext cx="1409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Analytics Manager</a:t>
            </a:r>
          </a:p>
        </p:txBody>
      </p:sp>
      <p:sp>
        <p:nvSpPr>
          <p:cNvPr id="14" name="tier-5-desc"/>
          <p:cNvSpPr txBox="1"/>
          <p:nvPr/>
        </p:nvSpPr>
        <p:spPr>
          <a:xfrm>
            <a:off x="1200150" y="2505075"/>
            <a:ext cx="14097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8-12 yrs</a:t>
            </a:r>
          </a:p>
        </p:txBody>
      </p:sp>
      <p:sp>
        <p:nvSpPr>
          <p:cNvPr id="15" name="tier-5-body"/>
          <p:cNvSpPr txBox="1"/>
          <p:nvPr/>
        </p:nvSpPr>
        <p:spPr>
          <a:xfrm>
            <a:off x="2743200" y="2276475"/>
            <a:ext cx="2543175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Team leadership &amp; performance management (5-10 reports) · Program-level roadmap planning &amp; budget accountability · Advanced ML deployment &amp; production monitoring</a:t>
            </a:r>
          </a:p>
        </p:txBody>
      </p:sp>
      <p:sp>
        <p:nvSpPr>
          <p:cNvPr id="16" name="tier-4-bg"/>
          <p:cNvSpPr/>
          <p:nvPr/>
        </p:nvSpPr>
        <p:spPr>
          <a:xfrm>
            <a:off x="457200" y="2876550"/>
            <a:ext cx="7210425" cy="685800"/>
          </a:xfrm>
          <a:prstGeom prst="rect">
            <a:avLst/>
          </a:prstGeom>
          <a:solidFill>
            <a:srgbClr val="B68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tier-4-label"/>
          <p:cNvSpPr txBox="1"/>
          <p:nvPr/>
        </p:nvSpPr>
        <p:spPr>
          <a:xfrm>
            <a:off x="590550" y="3086100"/>
            <a:ext cx="457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L4</a:t>
            </a:r>
          </a:p>
        </p:txBody>
      </p:sp>
      <p:sp>
        <p:nvSpPr>
          <p:cNvPr id="18" name="tier-4-name"/>
          <p:cNvSpPr txBox="1"/>
          <p:nvPr/>
        </p:nvSpPr>
        <p:spPr>
          <a:xfrm>
            <a:off x="1200150" y="3048000"/>
            <a:ext cx="1409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Lead Analyst</a:t>
            </a:r>
          </a:p>
        </p:txBody>
      </p:sp>
      <p:sp>
        <p:nvSpPr>
          <p:cNvPr id="19" name="tier-4-desc"/>
          <p:cNvSpPr txBox="1"/>
          <p:nvPr/>
        </p:nvSpPr>
        <p:spPr>
          <a:xfrm>
            <a:off x="1200150" y="3238500"/>
            <a:ext cx="14097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5-8 yrs</a:t>
            </a:r>
          </a:p>
        </p:txBody>
      </p:sp>
      <p:sp>
        <p:nvSpPr>
          <p:cNvPr id="20" name="tier-4-body"/>
          <p:cNvSpPr txBox="1"/>
          <p:nvPr/>
        </p:nvSpPr>
        <p:spPr>
          <a:xfrm>
            <a:off x="2743200" y="3009900"/>
            <a:ext cx="3781425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Cross-functional project leadership &amp; deliverable ownership · ML model development, validation &amp; business interpretation · Mentoring junior analysts &amp; setting team data standards</a:t>
            </a:r>
          </a:p>
        </p:txBody>
      </p:sp>
      <p:sp>
        <p:nvSpPr>
          <p:cNvPr id="21" name="tier-3-bg"/>
          <p:cNvSpPr/>
          <p:nvPr/>
        </p:nvSpPr>
        <p:spPr>
          <a:xfrm>
            <a:off x="457200" y="3609975"/>
            <a:ext cx="8458200" cy="685800"/>
          </a:xfrm>
          <a:prstGeom prst="rect">
            <a:avLst/>
          </a:prstGeom>
          <a:solidFill>
            <a:srgbClr val="DFB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tier-current-arrow"/>
          <p:cNvSpPr/>
          <p:nvPr/>
        </p:nvSpPr>
        <p:spPr>
          <a:xfrm>
            <a:off x="457200" y="3609975"/>
            <a:ext cx="38100" cy="6858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tier-3-label"/>
          <p:cNvSpPr txBox="1"/>
          <p:nvPr/>
        </p:nvSpPr>
        <p:spPr>
          <a:xfrm>
            <a:off x="590550" y="3819525"/>
            <a:ext cx="457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L3</a:t>
            </a:r>
          </a:p>
        </p:txBody>
      </p:sp>
      <p:sp>
        <p:nvSpPr>
          <p:cNvPr id="24" name="tier-3-name"/>
          <p:cNvSpPr txBox="1"/>
          <p:nvPr/>
        </p:nvSpPr>
        <p:spPr>
          <a:xfrm>
            <a:off x="1200150" y="3781425"/>
            <a:ext cx="1409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Senior Analyst</a:t>
            </a:r>
          </a:p>
        </p:txBody>
      </p:sp>
      <p:sp>
        <p:nvSpPr>
          <p:cNvPr id="25" name="tier-3-desc"/>
          <p:cNvSpPr txBox="1"/>
          <p:nvPr/>
        </p:nvSpPr>
        <p:spPr>
          <a:xfrm>
            <a:off x="1200150" y="3971925"/>
            <a:ext cx="14097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3-5 yrs</a:t>
            </a:r>
          </a:p>
        </p:txBody>
      </p:sp>
      <p:sp>
        <p:nvSpPr>
          <p:cNvPr id="26" name="tier-3-body"/>
          <p:cNvSpPr txBox="1"/>
          <p:nvPr/>
        </p:nvSpPr>
        <p:spPr>
          <a:xfrm>
            <a:off x="2743200" y="3743325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End-to-end pipeline ownership in Python / SQL / Spark · ML proficiency (regression, classification, clustering) · Stakeholder-facing insight communication &amp; self-service BI</a:t>
            </a:r>
          </a:p>
        </p:txBody>
      </p:sp>
      <p:sp>
        <p:nvSpPr>
          <p:cNvPr id="27" name="tier-current-chip-bg"/>
          <p:cNvSpPr/>
          <p:nvPr/>
        </p:nvSpPr>
        <p:spPr>
          <a:xfrm>
            <a:off x="7867650" y="3819525"/>
            <a:ext cx="91440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tier-current-chip"/>
          <p:cNvSpPr txBox="1"/>
          <p:nvPr/>
        </p:nvSpPr>
        <p:spPr>
          <a:xfrm>
            <a:off x="7867650" y="3819525"/>
            <a:ext cx="9144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CURRENT LEVEL</a:t>
            </a:r>
          </a:p>
        </p:txBody>
      </p:sp>
      <p:sp>
        <p:nvSpPr>
          <p:cNvPr id="29" name="tier-2-bg"/>
          <p:cNvSpPr/>
          <p:nvPr/>
        </p:nvSpPr>
        <p:spPr>
          <a:xfrm>
            <a:off x="457200" y="4343400"/>
            <a:ext cx="9810750" cy="685800"/>
          </a:xfrm>
          <a:prstGeom prst="rect">
            <a:avLst/>
          </a:prstGeom>
          <a:solidFill>
            <a:srgbClr val="EDE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tier-2-label"/>
          <p:cNvSpPr txBox="1"/>
          <p:nvPr/>
        </p:nvSpPr>
        <p:spPr>
          <a:xfrm>
            <a:off x="590550" y="4552950"/>
            <a:ext cx="457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L2</a:t>
            </a:r>
          </a:p>
        </p:txBody>
      </p:sp>
      <p:sp>
        <p:nvSpPr>
          <p:cNvPr id="31" name="tier-2-name"/>
          <p:cNvSpPr txBox="1"/>
          <p:nvPr/>
        </p:nvSpPr>
        <p:spPr>
          <a:xfrm>
            <a:off x="1200150" y="4514850"/>
            <a:ext cx="1409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Analyst II</a:t>
            </a:r>
          </a:p>
        </p:txBody>
      </p:sp>
      <p:sp>
        <p:nvSpPr>
          <p:cNvPr id="32" name="tier-2-desc"/>
          <p:cNvSpPr txBox="1"/>
          <p:nvPr/>
        </p:nvSpPr>
        <p:spPr>
          <a:xfrm>
            <a:off x="1200150" y="4705350"/>
            <a:ext cx="14097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1-3 yrs</a:t>
            </a:r>
          </a:p>
        </p:txBody>
      </p:sp>
      <p:sp>
        <p:nvSpPr>
          <p:cNvPr id="33" name="tier-2-body"/>
          <p:cNvSpPr txBox="1"/>
          <p:nvPr/>
        </p:nvSpPr>
        <p:spPr>
          <a:xfrm>
            <a:off x="2743200" y="4476750"/>
            <a:ext cx="638175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Advanced SQL querying, ETL development &amp; data modelling · Dashboard &amp; report development (Tableau / Power BI) · Introduction to statistical analysis &amp; A/B testing</a:t>
            </a:r>
          </a:p>
        </p:txBody>
      </p:sp>
      <p:sp>
        <p:nvSpPr>
          <p:cNvPr id="34" name="tier-1-bg"/>
          <p:cNvSpPr/>
          <p:nvPr/>
        </p:nvSpPr>
        <p:spPr>
          <a:xfrm>
            <a:off x="457200" y="5076825"/>
            <a:ext cx="11277600" cy="6858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tier-1-label"/>
          <p:cNvSpPr txBox="1"/>
          <p:nvPr/>
        </p:nvSpPr>
        <p:spPr>
          <a:xfrm>
            <a:off x="590550" y="5286375"/>
            <a:ext cx="457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L1</a:t>
            </a:r>
          </a:p>
        </p:txBody>
      </p:sp>
      <p:sp>
        <p:nvSpPr>
          <p:cNvPr id="36" name="tier-1-name"/>
          <p:cNvSpPr txBox="1"/>
          <p:nvPr/>
        </p:nvSpPr>
        <p:spPr>
          <a:xfrm>
            <a:off x="1200150" y="5248275"/>
            <a:ext cx="1409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Analyst I</a:t>
            </a:r>
          </a:p>
        </p:txBody>
      </p:sp>
      <p:sp>
        <p:nvSpPr>
          <p:cNvPr id="37" name="tier-1-desc"/>
          <p:cNvSpPr txBox="1"/>
          <p:nvPr/>
        </p:nvSpPr>
        <p:spPr>
          <a:xfrm>
            <a:off x="1200150" y="5438775"/>
            <a:ext cx="14097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0-1 yr</a:t>
            </a:r>
          </a:p>
        </p:txBody>
      </p:sp>
      <p:sp>
        <p:nvSpPr>
          <p:cNvPr id="38" name="tier-1-body"/>
          <p:cNvSpPr txBox="1"/>
          <p:nvPr/>
        </p:nvSpPr>
        <p:spPr>
          <a:xfrm>
            <a:off x="2743200" y="5210175"/>
            <a:ext cx="78486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Foundational SQL &amp; data extraction from structured sources · Excel / Google Sheets proficiency &amp; basic data storytelling · Data quality checks, documentation &amp; process adherence</a:t>
            </a:r>
          </a:p>
        </p:txBody>
      </p:sp>
      <p:sp>
        <p:nvSpPr>
          <p:cNvPr id="39" name="progression-arrow"/>
          <p:cNvSpPr/>
          <p:nvPr/>
        </p:nvSpPr>
        <p:spPr>
          <a:xfrm>
            <a:off x="11449050" y="1600200"/>
            <a:ext cx="19050" cy="39243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progression-arrow-label"/>
          <p:cNvSpPr txBox="1"/>
          <p:nvPr/>
        </p:nvSpPr>
        <p:spPr>
          <a:xfrm>
            <a:off x="11163300" y="3581400"/>
            <a:ext cx="571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PROGRESSION</a:t>
            </a:r>
          </a:p>
        </p:txBody>
      </p:sp>
      <p:sp>
        <p:nvSpPr>
          <p:cNvPr id="41" name="convergence"/>
          <p:cNvSpPr txBox="1"/>
          <p:nvPr/>
        </p:nvSpPr>
        <p:spPr>
          <a:xfrm>
            <a:off x="609600" y="6286500"/>
            <a:ext cx="109728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2D0A4E"/>
                </a:solidFill>
                <a:latin typeface="Inter"/>
              </a:rPr>
              <a:t>70% of promotions to Senior Analyst met the ML proficiency threshold before the standard tenure — accelerated path is ML-gated.</a:t>
            </a:r>
          </a:p>
        </p:txBody>
      </p:sp>
      <p:sp>
        <p:nvSpPr>
          <p:cNvPr id="42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43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44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