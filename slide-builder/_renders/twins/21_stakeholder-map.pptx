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Stakeholder map — who needs what, when.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Mendelow's influence-by-interest grid, applied to the pilot's named stakeholders.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quadrant-y-axis-label"/>
          <p:cNvSpPr txBox="1"/>
          <p:nvPr/>
        </p:nvSpPr>
        <p:spPr>
          <a:xfrm>
            <a:off x="609600" y="3638550"/>
            <a:ext cx="381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INFLUENCE</a:t>
            </a:r>
          </a:p>
        </p:txBody>
      </p:sp>
      <p:sp>
        <p:nvSpPr>
          <p:cNvPr id="6" name="quadrant-y-high"/>
          <p:cNvSpPr txBox="1"/>
          <p:nvPr/>
        </p:nvSpPr>
        <p:spPr>
          <a:xfrm>
            <a:off x="609600" y="222885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HIGH</a:t>
            </a:r>
          </a:p>
        </p:txBody>
      </p:sp>
      <p:sp>
        <p:nvSpPr>
          <p:cNvPr id="7" name="quadrant-y-low"/>
          <p:cNvSpPr txBox="1"/>
          <p:nvPr/>
        </p:nvSpPr>
        <p:spPr>
          <a:xfrm>
            <a:off x="609600" y="5067300"/>
            <a:ext cx="381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LOW</a:t>
            </a:r>
          </a:p>
        </p:txBody>
      </p:sp>
      <p:sp>
        <p:nvSpPr>
          <p:cNvPr id="8" name="quadrant-tl-bg"/>
          <p:cNvSpPr/>
          <p:nvPr/>
        </p:nvSpPr>
        <p:spPr>
          <a:xfrm>
            <a:off x="990600" y="2190750"/>
            <a:ext cx="5267325" cy="1495425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quadrant-tl-label"/>
          <p:cNvSpPr txBox="1"/>
          <p:nvPr/>
        </p:nvSpPr>
        <p:spPr>
          <a:xfrm>
            <a:off x="1123950" y="2305050"/>
            <a:ext cx="50006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HIGH INFLUENCE · LOW INTEREST</a:t>
            </a:r>
          </a:p>
        </p:txBody>
      </p:sp>
      <p:sp>
        <p:nvSpPr>
          <p:cNvPr id="10" name="quadrant-tl-name"/>
          <p:cNvSpPr txBox="1"/>
          <p:nvPr/>
        </p:nvSpPr>
        <p:spPr>
          <a:xfrm>
            <a:off x="1123950" y="2457450"/>
            <a:ext cx="500062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FFFFFF"/>
                </a:solidFill>
                <a:latin typeface="Inter"/>
              </a:rPr>
              <a:t>KEEP SATISFIED</a:t>
            </a:r>
          </a:p>
        </p:txBody>
      </p:sp>
      <p:sp>
        <p:nvSpPr>
          <p:cNvPr id="11" name="quadrant-tl-chip-1-bg"/>
          <p:cNvSpPr/>
          <p:nvPr/>
        </p:nvSpPr>
        <p:spPr>
          <a:xfrm>
            <a:off x="1123950" y="2800350"/>
            <a:ext cx="1600200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quadrant-tl-chip-1"/>
          <p:cNvSpPr txBox="1"/>
          <p:nvPr/>
        </p:nvSpPr>
        <p:spPr>
          <a:xfrm>
            <a:off x="1123950" y="2800350"/>
            <a:ext cx="16002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Steering Committee</a:t>
            </a:r>
          </a:p>
        </p:txBody>
      </p:sp>
      <p:sp>
        <p:nvSpPr>
          <p:cNvPr id="13" name="quadrant-tl-chip-2-bg"/>
          <p:cNvSpPr/>
          <p:nvPr/>
        </p:nvSpPr>
        <p:spPr>
          <a:xfrm>
            <a:off x="2781300" y="2800350"/>
            <a:ext cx="1066800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quadrant-tl-chip-2"/>
          <p:cNvSpPr txBox="1"/>
          <p:nvPr/>
        </p:nvSpPr>
        <p:spPr>
          <a:xfrm>
            <a:off x="2781300" y="2800350"/>
            <a:ext cx="10668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IT Security</a:t>
            </a:r>
          </a:p>
        </p:txBody>
      </p:sp>
      <p:sp>
        <p:nvSpPr>
          <p:cNvPr id="15" name="quadrant-tl-chip-3-bg"/>
          <p:cNvSpPr/>
          <p:nvPr/>
        </p:nvSpPr>
        <p:spPr>
          <a:xfrm>
            <a:off x="3905250" y="2800350"/>
            <a:ext cx="609600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quadrant-tl-chip-3"/>
          <p:cNvSpPr txBox="1"/>
          <p:nvPr/>
        </p:nvSpPr>
        <p:spPr>
          <a:xfrm>
            <a:off x="3905250" y="2800350"/>
            <a:ext cx="609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Legal</a:t>
            </a:r>
          </a:p>
        </p:txBody>
      </p:sp>
      <p:sp>
        <p:nvSpPr>
          <p:cNvPr id="17" name="quadrant-tr-bg"/>
          <p:cNvSpPr/>
          <p:nvPr/>
        </p:nvSpPr>
        <p:spPr>
          <a:xfrm>
            <a:off x="6315075" y="2190750"/>
            <a:ext cx="5267325" cy="1495425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quadrant-tr-label"/>
          <p:cNvSpPr txBox="1"/>
          <p:nvPr/>
        </p:nvSpPr>
        <p:spPr>
          <a:xfrm>
            <a:off x="6448425" y="2305050"/>
            <a:ext cx="50006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HIGH INFLUENCE · HIGH INTEREST</a:t>
            </a:r>
          </a:p>
        </p:txBody>
      </p:sp>
      <p:sp>
        <p:nvSpPr>
          <p:cNvPr id="19" name="quadrant-tr-name"/>
          <p:cNvSpPr txBox="1"/>
          <p:nvPr/>
        </p:nvSpPr>
        <p:spPr>
          <a:xfrm>
            <a:off x="6448425" y="2457450"/>
            <a:ext cx="500062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FFFFFF"/>
                </a:solidFill>
                <a:latin typeface="Inter"/>
              </a:rPr>
              <a:t>MANAGE CLOSELY</a:t>
            </a:r>
          </a:p>
        </p:txBody>
      </p:sp>
      <p:sp>
        <p:nvSpPr>
          <p:cNvPr id="20" name="quadrant-tr-focus-bg"/>
          <p:cNvSpPr/>
          <p:nvPr/>
        </p:nvSpPr>
        <p:spPr>
          <a:xfrm>
            <a:off x="11010900" y="2286000"/>
            <a:ext cx="476250" cy="1714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quadrant-tr-focus"/>
          <p:cNvSpPr txBox="1"/>
          <p:nvPr/>
        </p:nvSpPr>
        <p:spPr>
          <a:xfrm>
            <a:off x="11010900" y="2286000"/>
            <a:ext cx="476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FOCUS</a:t>
            </a:r>
          </a:p>
        </p:txBody>
      </p:sp>
      <p:sp>
        <p:nvSpPr>
          <p:cNvPr id="22" name="quadrant-tr-chip-1-bg"/>
          <p:cNvSpPr/>
          <p:nvPr/>
        </p:nvSpPr>
        <p:spPr>
          <a:xfrm>
            <a:off x="6448425" y="2800350"/>
            <a:ext cx="99060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quadrant-tr-chip-1"/>
          <p:cNvSpPr txBox="1"/>
          <p:nvPr/>
        </p:nvSpPr>
        <p:spPr>
          <a:xfrm>
            <a:off x="6448425" y="2800350"/>
            <a:ext cx="990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Program MD</a:t>
            </a:r>
          </a:p>
        </p:txBody>
      </p:sp>
      <p:sp>
        <p:nvSpPr>
          <p:cNvPr id="24" name="quadrant-tr-chip-2-bg"/>
          <p:cNvSpPr/>
          <p:nvPr/>
        </p:nvSpPr>
        <p:spPr>
          <a:xfrm>
            <a:off x="7496175" y="2800350"/>
            <a:ext cx="121920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quadrant-tr-chip-2"/>
          <p:cNvSpPr txBox="1"/>
          <p:nvPr/>
        </p:nvSpPr>
        <p:spPr>
          <a:xfrm>
            <a:off x="7496175" y="2800350"/>
            <a:ext cx="12192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Practice Lead</a:t>
            </a:r>
          </a:p>
        </p:txBody>
      </p:sp>
      <p:sp>
        <p:nvSpPr>
          <p:cNvPr id="26" name="quadrant-tr-chip-3-bg"/>
          <p:cNvSpPr/>
          <p:nvPr/>
        </p:nvSpPr>
        <p:spPr>
          <a:xfrm>
            <a:off x="8772525" y="2800350"/>
            <a:ext cx="190500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quadrant-tr-chip-3"/>
          <p:cNvSpPr txBox="1"/>
          <p:nvPr/>
        </p:nvSpPr>
        <p:spPr>
          <a:xfrm>
            <a:off x="8772525" y="2800350"/>
            <a:ext cx="1905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Client Engagement Partner</a:t>
            </a:r>
          </a:p>
        </p:txBody>
      </p:sp>
      <p:sp>
        <p:nvSpPr>
          <p:cNvPr id="28" name="quadrant-tr-chip-4-bg"/>
          <p:cNvSpPr/>
          <p:nvPr/>
        </p:nvSpPr>
        <p:spPr>
          <a:xfrm>
            <a:off x="10734675" y="2800350"/>
            <a:ext cx="45720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quadrant-tr-chip-4"/>
          <p:cNvSpPr txBox="1"/>
          <p:nvPr/>
        </p:nvSpPr>
        <p:spPr>
          <a:xfrm>
            <a:off x="10734675" y="280035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CFO</a:t>
            </a:r>
          </a:p>
        </p:txBody>
      </p:sp>
      <p:sp>
        <p:nvSpPr>
          <p:cNvPr id="30" name="quadrant-bl-bg"/>
          <p:cNvSpPr/>
          <p:nvPr/>
        </p:nvSpPr>
        <p:spPr>
          <a:xfrm>
            <a:off x="990600" y="3743325"/>
            <a:ext cx="5267325" cy="149542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quadrant-bl-label"/>
          <p:cNvSpPr txBox="1"/>
          <p:nvPr/>
        </p:nvSpPr>
        <p:spPr>
          <a:xfrm>
            <a:off x="1123950" y="3857625"/>
            <a:ext cx="50006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LOW INFLUENCE · LOW INTEREST</a:t>
            </a:r>
          </a:p>
        </p:txBody>
      </p:sp>
      <p:sp>
        <p:nvSpPr>
          <p:cNvPr id="32" name="quadrant-bl-name"/>
          <p:cNvSpPr txBox="1"/>
          <p:nvPr/>
        </p:nvSpPr>
        <p:spPr>
          <a:xfrm>
            <a:off x="1123950" y="4010025"/>
            <a:ext cx="500062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64748B"/>
                </a:solidFill>
                <a:latin typeface="Inter"/>
              </a:rPr>
              <a:t>MONITOR</a:t>
            </a:r>
          </a:p>
        </p:txBody>
      </p:sp>
      <p:sp>
        <p:nvSpPr>
          <p:cNvPr id="33" name="quadrant-bl-chip-1-bg"/>
          <p:cNvSpPr/>
          <p:nvPr/>
        </p:nvSpPr>
        <p:spPr>
          <a:xfrm>
            <a:off x="1123950" y="4352925"/>
            <a:ext cx="990600" cy="209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quadrant-bl-chip-1"/>
          <p:cNvSpPr txBox="1"/>
          <p:nvPr/>
        </p:nvSpPr>
        <p:spPr>
          <a:xfrm>
            <a:off x="1123950" y="4352925"/>
            <a:ext cx="990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Vendor PMs</a:t>
            </a:r>
          </a:p>
        </p:txBody>
      </p:sp>
      <p:sp>
        <p:nvSpPr>
          <p:cNvPr id="35" name="quadrant-bl-chip-2-bg"/>
          <p:cNvSpPr/>
          <p:nvPr/>
        </p:nvSpPr>
        <p:spPr>
          <a:xfrm>
            <a:off x="2171700" y="4352925"/>
            <a:ext cx="1524000" cy="209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quadrant-bl-chip-2"/>
          <p:cNvSpPr txBox="1"/>
          <p:nvPr/>
        </p:nvSpPr>
        <p:spPr>
          <a:xfrm>
            <a:off x="2171700" y="4352925"/>
            <a:ext cx="1524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External advisors</a:t>
            </a:r>
          </a:p>
        </p:txBody>
      </p:sp>
      <p:sp>
        <p:nvSpPr>
          <p:cNvPr id="37" name="quadrant-br-bg"/>
          <p:cNvSpPr/>
          <p:nvPr/>
        </p:nvSpPr>
        <p:spPr>
          <a:xfrm>
            <a:off x="6315075" y="3743325"/>
            <a:ext cx="5267325" cy="14954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quadrant-br-label"/>
          <p:cNvSpPr txBox="1"/>
          <p:nvPr/>
        </p:nvSpPr>
        <p:spPr>
          <a:xfrm>
            <a:off x="6448425" y="3857625"/>
            <a:ext cx="50006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LOW INFLUENCE · HIGH INTEREST</a:t>
            </a:r>
          </a:p>
        </p:txBody>
      </p:sp>
      <p:sp>
        <p:nvSpPr>
          <p:cNvPr id="39" name="quadrant-br-name"/>
          <p:cNvSpPr txBox="1"/>
          <p:nvPr/>
        </p:nvSpPr>
        <p:spPr>
          <a:xfrm>
            <a:off x="6448425" y="4010025"/>
            <a:ext cx="500062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1A1A2E"/>
                </a:solidFill>
                <a:latin typeface="Inter"/>
              </a:rPr>
              <a:t>KEEP INFORMED</a:t>
            </a:r>
          </a:p>
        </p:txBody>
      </p:sp>
      <p:sp>
        <p:nvSpPr>
          <p:cNvPr id="40" name="quadrant-br-chip-1-bg"/>
          <p:cNvSpPr/>
          <p:nvPr/>
        </p:nvSpPr>
        <p:spPr>
          <a:xfrm>
            <a:off x="6448425" y="4352925"/>
            <a:ext cx="1676400" cy="209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quadrant-br-chip-1"/>
          <p:cNvSpPr txBox="1"/>
          <p:nvPr/>
        </p:nvSpPr>
        <p:spPr>
          <a:xfrm>
            <a:off x="6448425" y="4352925"/>
            <a:ext cx="16764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Workstream analysts</a:t>
            </a:r>
          </a:p>
        </p:txBody>
      </p:sp>
      <p:sp>
        <p:nvSpPr>
          <p:cNvPr id="42" name="quadrant-br-chip-2-bg"/>
          <p:cNvSpPr/>
          <p:nvPr/>
        </p:nvSpPr>
        <p:spPr>
          <a:xfrm>
            <a:off x="8181975" y="4352925"/>
            <a:ext cx="1905000" cy="209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quadrant-br-chip-2"/>
          <p:cNvSpPr txBox="1"/>
          <p:nvPr/>
        </p:nvSpPr>
        <p:spPr>
          <a:xfrm>
            <a:off x="8181975" y="4352925"/>
            <a:ext cx="1905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Adjacent project leads</a:t>
            </a:r>
          </a:p>
        </p:txBody>
      </p:sp>
      <p:sp>
        <p:nvSpPr>
          <p:cNvPr id="44" name="quadrant-br-chip-3-bg"/>
          <p:cNvSpPr/>
          <p:nvPr/>
        </p:nvSpPr>
        <p:spPr>
          <a:xfrm>
            <a:off x="10144125" y="4352925"/>
            <a:ext cx="381000" cy="209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quadrant-br-chip-3"/>
          <p:cNvSpPr txBox="1"/>
          <p:nvPr/>
        </p:nvSpPr>
        <p:spPr>
          <a:xfrm>
            <a:off x="10144125" y="4352925"/>
            <a:ext cx="381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HR</a:t>
            </a:r>
          </a:p>
        </p:txBody>
      </p:sp>
      <p:sp>
        <p:nvSpPr>
          <p:cNvPr id="46" name="quadrant-x-low"/>
          <p:cNvSpPr txBox="1"/>
          <p:nvPr/>
        </p:nvSpPr>
        <p:spPr>
          <a:xfrm>
            <a:off x="990600" y="529590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LOW</a:t>
            </a:r>
          </a:p>
        </p:txBody>
      </p:sp>
      <p:sp>
        <p:nvSpPr>
          <p:cNvPr id="47" name="quadrant-x-axis-label"/>
          <p:cNvSpPr txBox="1"/>
          <p:nvPr/>
        </p:nvSpPr>
        <p:spPr>
          <a:xfrm>
            <a:off x="990600" y="5295900"/>
            <a:ext cx="105918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INTEREST</a:t>
            </a:r>
          </a:p>
        </p:txBody>
      </p:sp>
      <p:sp>
        <p:nvSpPr>
          <p:cNvPr id="48" name="quadrant-x-high"/>
          <p:cNvSpPr txBox="1"/>
          <p:nvPr/>
        </p:nvSpPr>
        <p:spPr>
          <a:xfrm>
            <a:off x="10820400" y="529590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HIGH</a:t>
            </a:r>
          </a:p>
        </p:txBody>
      </p:sp>
      <p:sp>
        <p:nvSpPr>
          <p:cNvPr id="49" name="convergence-bg"/>
          <p:cNvSpPr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convergence"/>
          <p:cNvSpPr txBox="1"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The pilot stands or falls on the four "Manage Closely" stakeholders — own those relationships personally.</a:t>
            </a:r>
          </a:p>
        </p:txBody>
      </p:sp>
      <p:sp>
        <p:nvSpPr>
          <p:cNvPr id="51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52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53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