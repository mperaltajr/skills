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Meet the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Leadership Team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Senior leaders driving transformation across the programme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rofile-1-card"/>
          <p:cNvSpPr/>
          <p:nvPr/>
        </p:nvSpPr>
        <p:spPr>
          <a:xfrm>
            <a:off x="457200" y="1752600"/>
            <a:ext cx="2686050" cy="438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rofile-1-avatar-circle"/>
          <p:cNvSpPr/>
          <p:nvPr/>
        </p:nvSpPr>
        <p:spPr>
          <a:xfrm>
            <a:off x="1438275" y="1981200"/>
            <a:ext cx="723900" cy="723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rofile-1-avatar-initials"/>
          <p:cNvSpPr txBox="1"/>
          <p:nvPr/>
        </p:nvSpPr>
        <p:spPr>
          <a:xfrm>
            <a:off x="1438275" y="1981200"/>
            <a:ext cx="723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SR</a:t>
            </a:r>
          </a:p>
        </p:txBody>
      </p:sp>
      <p:sp>
        <p:nvSpPr>
          <p:cNvPr id="8" name="profile-1-name"/>
          <p:cNvSpPr txBox="1"/>
          <p:nvPr/>
        </p:nvSpPr>
        <p:spPr>
          <a:xfrm>
            <a:off x="647700" y="2838450"/>
            <a:ext cx="2305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Sarah Reynolds</a:t>
            </a:r>
          </a:p>
        </p:txBody>
      </p:sp>
      <p:sp>
        <p:nvSpPr>
          <p:cNvPr id="9" name="profile-1-role"/>
          <p:cNvSpPr txBox="1"/>
          <p:nvPr/>
        </p:nvSpPr>
        <p:spPr>
          <a:xfrm>
            <a:off x="647700" y="3067050"/>
            <a:ext cx="2305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Chief Transformation Officer</a:t>
            </a:r>
          </a:p>
        </p:txBody>
      </p:sp>
      <p:sp>
        <p:nvSpPr>
          <p:cNvPr id="10" name="profile-1-divider"/>
          <p:cNvSpPr/>
          <p:nvPr/>
        </p:nvSpPr>
        <p:spPr>
          <a:xfrm>
            <a:off x="647700" y="3467100"/>
            <a:ext cx="2305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rofile-1-bullet-1-dot"/>
          <p:cNvSpPr/>
          <p:nvPr/>
        </p:nvSpPr>
        <p:spPr>
          <a:xfrm>
            <a:off x="666750" y="36385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rofile-1-bullet-1"/>
          <p:cNvSpPr txBox="1"/>
          <p:nvPr/>
        </p:nvSpPr>
        <p:spPr>
          <a:xfrm>
            <a:off x="762000" y="35814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Owns end-to-end delivery roadmap and executive alignment</a:t>
            </a:r>
          </a:p>
        </p:txBody>
      </p:sp>
      <p:sp>
        <p:nvSpPr>
          <p:cNvPr id="13" name="profile-1-bullet-2-dot"/>
          <p:cNvSpPr/>
          <p:nvPr/>
        </p:nvSpPr>
        <p:spPr>
          <a:xfrm>
            <a:off x="666750" y="41719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rofile-1-bullet-2"/>
          <p:cNvSpPr txBox="1"/>
          <p:nvPr/>
        </p:nvSpPr>
        <p:spPr>
          <a:xfrm>
            <a:off x="762000" y="41148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Chairs weekly steering committee and risk reviews</a:t>
            </a:r>
          </a:p>
        </p:txBody>
      </p:sp>
      <p:sp>
        <p:nvSpPr>
          <p:cNvPr id="15" name="profile-1-tag"/>
          <p:cNvSpPr/>
          <p:nvPr/>
        </p:nvSpPr>
        <p:spPr>
          <a:xfrm>
            <a:off x="647700" y="5848350"/>
            <a:ext cx="14097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rofile-1-tag-text"/>
          <p:cNvSpPr txBox="1"/>
          <p:nvPr/>
        </p:nvSpPr>
        <p:spPr>
          <a:xfrm>
            <a:off x="647700" y="58483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MBA Harvard · 18yr exp</a:t>
            </a:r>
          </a:p>
        </p:txBody>
      </p:sp>
      <p:sp>
        <p:nvSpPr>
          <p:cNvPr id="17" name="profile-2-card"/>
          <p:cNvSpPr/>
          <p:nvPr/>
        </p:nvSpPr>
        <p:spPr>
          <a:xfrm>
            <a:off x="3314700" y="1752600"/>
            <a:ext cx="2686050" cy="438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rofile-2-avatar-circle"/>
          <p:cNvSpPr/>
          <p:nvPr/>
        </p:nvSpPr>
        <p:spPr>
          <a:xfrm>
            <a:off x="4295775" y="1981200"/>
            <a:ext cx="723900" cy="723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rofile-2-avatar-initials"/>
          <p:cNvSpPr txBox="1"/>
          <p:nvPr/>
        </p:nvSpPr>
        <p:spPr>
          <a:xfrm>
            <a:off x="4295775" y="1981200"/>
            <a:ext cx="723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MK</a:t>
            </a:r>
          </a:p>
        </p:txBody>
      </p:sp>
      <p:sp>
        <p:nvSpPr>
          <p:cNvPr id="20" name="profile-2-name"/>
          <p:cNvSpPr txBox="1"/>
          <p:nvPr/>
        </p:nvSpPr>
        <p:spPr>
          <a:xfrm>
            <a:off x="3505200" y="2838450"/>
            <a:ext cx="2305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Marcus Klein</a:t>
            </a:r>
          </a:p>
        </p:txBody>
      </p:sp>
      <p:sp>
        <p:nvSpPr>
          <p:cNvPr id="21" name="profile-2-role"/>
          <p:cNvSpPr txBox="1"/>
          <p:nvPr/>
        </p:nvSpPr>
        <p:spPr>
          <a:xfrm>
            <a:off x="3505200" y="3067050"/>
            <a:ext cx="2305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Programme Director, Technology</a:t>
            </a:r>
          </a:p>
        </p:txBody>
      </p:sp>
      <p:sp>
        <p:nvSpPr>
          <p:cNvPr id="22" name="profile-2-divider"/>
          <p:cNvSpPr/>
          <p:nvPr/>
        </p:nvSpPr>
        <p:spPr>
          <a:xfrm>
            <a:off x="3505200" y="3467100"/>
            <a:ext cx="2305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rofile-2-bullet-1-dot"/>
          <p:cNvSpPr/>
          <p:nvPr/>
        </p:nvSpPr>
        <p:spPr>
          <a:xfrm>
            <a:off x="3524250" y="36385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rofile-2-bullet-1"/>
          <p:cNvSpPr txBox="1"/>
          <p:nvPr/>
        </p:nvSpPr>
        <p:spPr>
          <a:xfrm>
            <a:off x="3619500" y="35814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Leads platform architecture and vendor governance</a:t>
            </a:r>
          </a:p>
        </p:txBody>
      </p:sp>
      <p:sp>
        <p:nvSpPr>
          <p:cNvPr id="25" name="profile-2-bullet-2-dot"/>
          <p:cNvSpPr/>
          <p:nvPr/>
        </p:nvSpPr>
        <p:spPr>
          <a:xfrm>
            <a:off x="3524250" y="41719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profile-2-bullet-2"/>
          <p:cNvSpPr txBox="1"/>
          <p:nvPr/>
        </p:nvSpPr>
        <p:spPr>
          <a:xfrm>
            <a:off x="3619500" y="41148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Manages cross-stream dependency resolution</a:t>
            </a:r>
          </a:p>
        </p:txBody>
      </p:sp>
      <p:sp>
        <p:nvSpPr>
          <p:cNvPr id="27" name="profile-2-tag"/>
          <p:cNvSpPr/>
          <p:nvPr/>
        </p:nvSpPr>
        <p:spPr>
          <a:xfrm>
            <a:off x="3505200" y="5848350"/>
            <a:ext cx="11811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rofile-2-tag-text"/>
          <p:cNvSpPr txBox="1"/>
          <p:nvPr/>
        </p:nvSpPr>
        <p:spPr>
          <a:xfrm>
            <a:off x="3505200" y="5848350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MSc MIT · 14yr exp</a:t>
            </a:r>
          </a:p>
        </p:txBody>
      </p:sp>
      <p:sp>
        <p:nvSpPr>
          <p:cNvPr id="29" name="profile-3-card"/>
          <p:cNvSpPr/>
          <p:nvPr/>
        </p:nvSpPr>
        <p:spPr>
          <a:xfrm>
            <a:off x="6172200" y="1752600"/>
            <a:ext cx="2686050" cy="438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rofile-3-avatar-circle"/>
          <p:cNvSpPr/>
          <p:nvPr/>
        </p:nvSpPr>
        <p:spPr>
          <a:xfrm>
            <a:off x="7153275" y="1981200"/>
            <a:ext cx="723900" cy="723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rofile-3-avatar-initials"/>
          <p:cNvSpPr txBox="1"/>
          <p:nvPr/>
        </p:nvSpPr>
        <p:spPr>
          <a:xfrm>
            <a:off x="7153275" y="1981200"/>
            <a:ext cx="723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LP</a:t>
            </a:r>
          </a:p>
        </p:txBody>
      </p:sp>
      <p:sp>
        <p:nvSpPr>
          <p:cNvPr id="32" name="profile-3-name"/>
          <p:cNvSpPr txBox="1"/>
          <p:nvPr/>
        </p:nvSpPr>
        <p:spPr>
          <a:xfrm>
            <a:off x="6362700" y="2838450"/>
            <a:ext cx="2305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Lena Park</a:t>
            </a:r>
          </a:p>
        </p:txBody>
      </p:sp>
      <p:sp>
        <p:nvSpPr>
          <p:cNvPr id="33" name="profile-3-role"/>
          <p:cNvSpPr txBox="1"/>
          <p:nvPr/>
        </p:nvSpPr>
        <p:spPr>
          <a:xfrm>
            <a:off x="6362700" y="3067050"/>
            <a:ext cx="2305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Head of Change &amp; Adoption</a:t>
            </a:r>
          </a:p>
        </p:txBody>
      </p:sp>
      <p:sp>
        <p:nvSpPr>
          <p:cNvPr id="34" name="profile-3-divider"/>
          <p:cNvSpPr/>
          <p:nvPr/>
        </p:nvSpPr>
        <p:spPr>
          <a:xfrm>
            <a:off x="6362700" y="3467100"/>
            <a:ext cx="2305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rofile-3-bullet-1-dot"/>
          <p:cNvSpPr/>
          <p:nvPr/>
        </p:nvSpPr>
        <p:spPr>
          <a:xfrm>
            <a:off x="6381750" y="36385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rofile-3-bullet-1"/>
          <p:cNvSpPr txBox="1"/>
          <p:nvPr/>
        </p:nvSpPr>
        <p:spPr>
          <a:xfrm>
            <a:off x="6477000" y="35814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Designs change impact assessments and comms strategy</a:t>
            </a:r>
          </a:p>
        </p:txBody>
      </p:sp>
      <p:sp>
        <p:nvSpPr>
          <p:cNvPr id="37" name="profile-3-bullet-2-dot"/>
          <p:cNvSpPr/>
          <p:nvPr/>
        </p:nvSpPr>
        <p:spPr>
          <a:xfrm>
            <a:off x="6381750" y="41719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rofile-3-bullet-2"/>
          <p:cNvSpPr txBox="1"/>
          <p:nvPr/>
        </p:nvSpPr>
        <p:spPr>
          <a:xfrm>
            <a:off x="6477000" y="41148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Drives stakeholder engagement and training rollout</a:t>
            </a:r>
          </a:p>
        </p:txBody>
      </p:sp>
      <p:sp>
        <p:nvSpPr>
          <p:cNvPr id="39" name="profile-3-tag"/>
          <p:cNvSpPr/>
          <p:nvPr/>
        </p:nvSpPr>
        <p:spPr>
          <a:xfrm>
            <a:off x="6362700" y="5848350"/>
            <a:ext cx="17526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rofile-3-tag-text"/>
          <p:cNvSpPr txBox="1"/>
          <p:nvPr/>
        </p:nvSpPr>
        <p:spPr>
          <a:xfrm>
            <a:off x="6362700" y="5848350"/>
            <a:ext cx="1752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 Org Psychology · 11yr exp</a:t>
            </a:r>
          </a:p>
        </p:txBody>
      </p:sp>
      <p:sp>
        <p:nvSpPr>
          <p:cNvPr id="41" name="profile-4-card"/>
          <p:cNvSpPr/>
          <p:nvPr/>
        </p:nvSpPr>
        <p:spPr>
          <a:xfrm>
            <a:off x="9029700" y="1752600"/>
            <a:ext cx="2686050" cy="4381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profile-4-avatar-circle"/>
          <p:cNvSpPr/>
          <p:nvPr/>
        </p:nvSpPr>
        <p:spPr>
          <a:xfrm>
            <a:off x="10010775" y="1981200"/>
            <a:ext cx="723900" cy="7239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profile-4-avatar-initials"/>
          <p:cNvSpPr txBox="1"/>
          <p:nvPr/>
        </p:nvSpPr>
        <p:spPr>
          <a:xfrm>
            <a:off x="10010775" y="1981200"/>
            <a:ext cx="723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JO</a:t>
            </a:r>
          </a:p>
        </p:txBody>
      </p:sp>
      <p:sp>
        <p:nvSpPr>
          <p:cNvPr id="44" name="profile-4-name"/>
          <p:cNvSpPr txBox="1"/>
          <p:nvPr/>
        </p:nvSpPr>
        <p:spPr>
          <a:xfrm>
            <a:off x="9220200" y="2838450"/>
            <a:ext cx="2305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James Okafor</a:t>
            </a:r>
          </a:p>
        </p:txBody>
      </p:sp>
      <p:sp>
        <p:nvSpPr>
          <p:cNvPr id="45" name="profile-4-role"/>
          <p:cNvSpPr txBox="1"/>
          <p:nvPr/>
        </p:nvSpPr>
        <p:spPr>
          <a:xfrm>
            <a:off x="9220200" y="3067050"/>
            <a:ext cx="23050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Finance &amp; Benefits Lead</a:t>
            </a:r>
          </a:p>
        </p:txBody>
      </p:sp>
      <p:sp>
        <p:nvSpPr>
          <p:cNvPr id="46" name="profile-4-divider"/>
          <p:cNvSpPr/>
          <p:nvPr/>
        </p:nvSpPr>
        <p:spPr>
          <a:xfrm>
            <a:off x="9220200" y="3467100"/>
            <a:ext cx="2305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rofile-4-bullet-1-dot"/>
          <p:cNvSpPr/>
          <p:nvPr/>
        </p:nvSpPr>
        <p:spPr>
          <a:xfrm>
            <a:off x="9239250" y="36385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profile-4-bullet-1"/>
          <p:cNvSpPr txBox="1"/>
          <p:nvPr/>
        </p:nvSpPr>
        <p:spPr>
          <a:xfrm>
            <a:off x="9334500" y="35814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Tracks business case and benefits realisation reporting</a:t>
            </a:r>
          </a:p>
        </p:txBody>
      </p:sp>
      <p:sp>
        <p:nvSpPr>
          <p:cNvPr id="49" name="profile-4-bullet-2-dot"/>
          <p:cNvSpPr/>
          <p:nvPr/>
        </p:nvSpPr>
        <p:spPr>
          <a:xfrm>
            <a:off x="9239250" y="4171950"/>
            <a:ext cx="285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profile-4-bullet-2"/>
          <p:cNvSpPr txBox="1"/>
          <p:nvPr/>
        </p:nvSpPr>
        <p:spPr>
          <a:xfrm>
            <a:off x="9334500" y="4114800"/>
            <a:ext cx="21907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Manages programme budget and cost governance</a:t>
            </a:r>
          </a:p>
        </p:txBody>
      </p:sp>
      <p:sp>
        <p:nvSpPr>
          <p:cNvPr id="51" name="profile-4-tag"/>
          <p:cNvSpPr/>
          <p:nvPr/>
        </p:nvSpPr>
        <p:spPr>
          <a:xfrm>
            <a:off x="9220200" y="5848350"/>
            <a:ext cx="17526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profile-4-tag-text"/>
          <p:cNvSpPr txBox="1"/>
          <p:nvPr/>
        </p:nvSpPr>
        <p:spPr>
          <a:xfrm>
            <a:off x="9220200" y="5848350"/>
            <a:ext cx="1752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76200" bIns="0" lIns="7620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CFA · MBA Wharton · 15yr exp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