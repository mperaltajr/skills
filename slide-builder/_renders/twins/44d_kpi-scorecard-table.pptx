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47625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PILOT SCORECARD · WEEK 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62865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Slide Lab scorecard — week 4, three pillars green, one to watch.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668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Four strategic pillars, seven KPIs. Status and trend versus baseline; comments flag where steering attention is needed.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409700"/>
            <a:ext cx="5334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bg"/>
          <p:cNvSpPr/>
          <p:nvPr/>
        </p:nvSpPr>
        <p:spPr>
          <a:xfrm>
            <a:off x="9010650" y="1524000"/>
            <a:ext cx="2571750" cy="4191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title"/>
          <p:cNvSpPr txBox="1"/>
          <p:nvPr/>
        </p:nvSpPr>
        <p:spPr>
          <a:xfrm>
            <a:off x="9105900" y="1666875"/>
            <a:ext cx="285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RAG</a:t>
            </a:r>
          </a:p>
        </p:txBody>
      </p:sp>
      <p:sp>
        <p:nvSpPr>
          <p:cNvPr id="8" name="legend-1-swatch"/>
          <p:cNvSpPr/>
          <p:nvPr/>
        </p:nvSpPr>
        <p:spPr>
          <a:xfrm>
            <a:off x="9486900" y="1695450"/>
            <a:ext cx="76200" cy="76200"/>
          </a:xfrm>
          <a:prstGeom prst="rect">
            <a:avLst/>
          </a:prstGeom>
          <a:solidFill>
            <a:srgbClr val="6EE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1-label"/>
          <p:cNvSpPr txBox="1"/>
          <p:nvPr/>
        </p:nvSpPr>
        <p:spPr>
          <a:xfrm>
            <a:off x="9601200" y="16573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GREEN</a:t>
            </a:r>
          </a:p>
        </p:txBody>
      </p:sp>
      <p:sp>
        <p:nvSpPr>
          <p:cNvPr id="10" name="legend-2-swatch"/>
          <p:cNvSpPr/>
          <p:nvPr/>
        </p:nvSpPr>
        <p:spPr>
          <a:xfrm>
            <a:off x="10172700" y="1695450"/>
            <a:ext cx="76200" cy="762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2-label"/>
          <p:cNvSpPr txBox="1"/>
          <p:nvPr/>
        </p:nvSpPr>
        <p:spPr>
          <a:xfrm>
            <a:off x="10287000" y="16573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AMBER</a:t>
            </a:r>
          </a:p>
        </p:txBody>
      </p:sp>
      <p:sp>
        <p:nvSpPr>
          <p:cNvPr id="12" name="legend-3-swatch"/>
          <p:cNvSpPr/>
          <p:nvPr/>
        </p:nvSpPr>
        <p:spPr>
          <a:xfrm>
            <a:off x="10858500" y="1695450"/>
            <a:ext cx="76200" cy="762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3-label"/>
          <p:cNvSpPr txBox="1"/>
          <p:nvPr/>
        </p:nvSpPr>
        <p:spPr>
          <a:xfrm>
            <a:off x="10972800" y="16573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RED</a:t>
            </a:r>
          </a:p>
        </p:txBody>
      </p:sp>
      <p:sp>
        <p:nvSpPr>
          <p:cNvPr id="14" name="table-header-bg"/>
          <p:cNvSpPr/>
          <p:nvPr/>
        </p:nvSpPr>
        <p:spPr>
          <a:xfrm>
            <a:off x="457200" y="2095500"/>
            <a:ext cx="11277600" cy="304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col-1-header"/>
          <p:cNvSpPr txBox="1"/>
          <p:nvPr/>
        </p:nvSpPr>
        <p:spPr>
          <a:xfrm>
            <a:off x="552450" y="2095500"/>
            <a:ext cx="13811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STRATEGY PILLAR</a:t>
            </a:r>
          </a:p>
        </p:txBody>
      </p:sp>
      <p:sp>
        <p:nvSpPr>
          <p:cNvPr id="16" name="table-col-2-header"/>
          <p:cNvSpPr txBox="1"/>
          <p:nvPr/>
        </p:nvSpPr>
        <p:spPr>
          <a:xfrm>
            <a:off x="2124075" y="209550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KPI</a:t>
            </a:r>
          </a:p>
        </p:txBody>
      </p:sp>
      <p:sp>
        <p:nvSpPr>
          <p:cNvPr id="17" name="table-col-3-header"/>
          <p:cNvSpPr txBox="1"/>
          <p:nvPr/>
        </p:nvSpPr>
        <p:spPr>
          <a:xfrm>
            <a:off x="4829175" y="209550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ACTUAL</a:t>
            </a:r>
          </a:p>
        </p:txBody>
      </p:sp>
      <p:sp>
        <p:nvSpPr>
          <p:cNvPr id="18" name="table-col-4-header"/>
          <p:cNvSpPr txBox="1"/>
          <p:nvPr/>
        </p:nvSpPr>
        <p:spPr>
          <a:xfrm>
            <a:off x="5838825" y="2095500"/>
            <a:ext cx="8191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19" name="table-col-5-header"/>
          <p:cNvSpPr txBox="1"/>
          <p:nvPr/>
        </p:nvSpPr>
        <p:spPr>
          <a:xfrm>
            <a:off x="6848475" y="2095500"/>
            <a:ext cx="9334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20" name="table-col-6-header"/>
          <p:cNvSpPr txBox="1"/>
          <p:nvPr/>
        </p:nvSpPr>
        <p:spPr>
          <a:xfrm>
            <a:off x="7972425" y="2095500"/>
            <a:ext cx="9334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TREND</a:t>
            </a:r>
          </a:p>
        </p:txBody>
      </p:sp>
      <p:sp>
        <p:nvSpPr>
          <p:cNvPr id="21" name="table-col-7-header"/>
          <p:cNvSpPr txBox="1"/>
          <p:nvPr/>
        </p:nvSpPr>
        <p:spPr>
          <a:xfrm>
            <a:off x="9096375" y="2095500"/>
            <a:ext cx="25146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COMMENTS</a:t>
            </a:r>
          </a:p>
        </p:txBody>
      </p:sp>
      <p:sp>
        <p:nvSpPr>
          <p:cNvPr id="22" name="table-row-1-bg"/>
          <p:cNvSpPr/>
          <p:nvPr/>
        </p:nvSpPr>
        <p:spPr>
          <a:xfrm>
            <a:off x="457200" y="2400300"/>
            <a:ext cx="11277600" cy="476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1-rule"/>
          <p:cNvSpPr/>
          <p:nvPr/>
        </p:nvSpPr>
        <p:spPr>
          <a:xfrm>
            <a:off x="457200" y="24003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cell-2"/>
          <p:cNvSpPr txBox="1"/>
          <p:nvPr/>
        </p:nvSpPr>
        <p:spPr>
          <a:xfrm>
            <a:off x="2124075" y="24003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Days to partner-ready</a:t>
            </a:r>
          </a:p>
        </p:txBody>
      </p:sp>
      <p:sp>
        <p:nvSpPr>
          <p:cNvPr id="25" name="table-row-1-cell-3"/>
          <p:cNvSpPr txBox="1"/>
          <p:nvPr/>
        </p:nvSpPr>
        <p:spPr>
          <a:xfrm>
            <a:off x="4733925" y="24003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5d</a:t>
            </a:r>
          </a:p>
        </p:txBody>
      </p:sp>
      <p:sp>
        <p:nvSpPr>
          <p:cNvPr id="26" name="table-row-1-cell-4"/>
          <p:cNvSpPr txBox="1"/>
          <p:nvPr/>
        </p:nvSpPr>
        <p:spPr>
          <a:xfrm>
            <a:off x="5743575" y="24003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&lt;7d</a:t>
            </a:r>
          </a:p>
        </p:txBody>
      </p:sp>
      <p:sp>
        <p:nvSpPr>
          <p:cNvPr id="27" name="table-row-1-status-pill"/>
          <p:cNvSpPr/>
          <p:nvPr/>
        </p:nvSpPr>
        <p:spPr>
          <a:xfrm>
            <a:off x="6981825" y="2552700"/>
            <a:ext cx="666750" cy="171450"/>
          </a:xfrm>
          <a:prstGeom prst="rect">
            <a:avLst/>
          </a:prstGeom>
          <a:solidFill>
            <a:srgbClr val="1E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1-rag-dot"/>
          <p:cNvSpPr/>
          <p:nvPr/>
        </p:nvSpPr>
        <p:spPr>
          <a:xfrm>
            <a:off x="7038975" y="2609850"/>
            <a:ext cx="57150" cy="57150"/>
          </a:xfrm>
          <a:prstGeom prst="rect">
            <a:avLst/>
          </a:prstGeom>
          <a:solidFill>
            <a:srgbClr val="6EE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1-status-pill-text"/>
          <p:cNvSpPr txBox="1"/>
          <p:nvPr/>
        </p:nvSpPr>
        <p:spPr>
          <a:xfrm>
            <a:off x="7115175" y="25527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GREEN</a:t>
            </a:r>
          </a:p>
        </p:txBody>
      </p:sp>
      <p:sp>
        <p:nvSpPr>
          <p:cNvPr id="30" name="table-row-1-cell-6"/>
          <p:cNvSpPr txBox="1"/>
          <p:nvPr/>
        </p:nvSpPr>
        <p:spPr>
          <a:xfrm>
            <a:off x="7877175" y="240030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▼ -64%</a:t>
            </a:r>
          </a:p>
        </p:txBody>
      </p:sp>
      <p:sp>
        <p:nvSpPr>
          <p:cNvPr id="31" name="table-row-1-cell-7"/>
          <p:cNvSpPr txBox="1"/>
          <p:nvPr/>
        </p:nvSpPr>
        <p:spPr>
          <a:xfrm>
            <a:off x="9096375" y="24003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Holding under baseline since W2</a:t>
            </a:r>
          </a:p>
        </p:txBody>
      </p:sp>
      <p:sp>
        <p:nvSpPr>
          <p:cNvPr id="32" name="table-row-2-bg"/>
          <p:cNvSpPr/>
          <p:nvPr/>
        </p:nvSpPr>
        <p:spPr>
          <a:xfrm>
            <a:off x="457200" y="2876550"/>
            <a:ext cx="112776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2-rule"/>
          <p:cNvSpPr/>
          <p:nvPr/>
        </p:nvSpPr>
        <p:spPr>
          <a:xfrm>
            <a:off x="457200" y="28765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table-row-2-cell-2"/>
          <p:cNvSpPr txBox="1"/>
          <p:nvPr/>
        </p:nvSpPr>
        <p:spPr>
          <a:xfrm>
            <a:off x="2124075" y="28765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First-review pass rate</a:t>
            </a:r>
          </a:p>
        </p:txBody>
      </p:sp>
      <p:sp>
        <p:nvSpPr>
          <p:cNvPr id="35" name="table-row-2-cell-3"/>
          <p:cNvSpPr txBox="1"/>
          <p:nvPr/>
        </p:nvSpPr>
        <p:spPr>
          <a:xfrm>
            <a:off x="4733925" y="28765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94%</a:t>
            </a:r>
          </a:p>
        </p:txBody>
      </p:sp>
      <p:sp>
        <p:nvSpPr>
          <p:cNvPr id="36" name="table-row-2-cell-4"/>
          <p:cNvSpPr txBox="1"/>
          <p:nvPr/>
        </p:nvSpPr>
        <p:spPr>
          <a:xfrm>
            <a:off x="5743575" y="28765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&gt;85%</a:t>
            </a:r>
          </a:p>
        </p:txBody>
      </p:sp>
      <p:sp>
        <p:nvSpPr>
          <p:cNvPr id="37" name="table-row-2-status-pill"/>
          <p:cNvSpPr/>
          <p:nvPr/>
        </p:nvSpPr>
        <p:spPr>
          <a:xfrm>
            <a:off x="6981825" y="3028950"/>
            <a:ext cx="666750" cy="171450"/>
          </a:xfrm>
          <a:prstGeom prst="rect">
            <a:avLst/>
          </a:prstGeom>
          <a:solidFill>
            <a:srgbClr val="1E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table-row-2-rag-dot"/>
          <p:cNvSpPr/>
          <p:nvPr/>
        </p:nvSpPr>
        <p:spPr>
          <a:xfrm>
            <a:off x="7038975" y="3086100"/>
            <a:ext cx="57150" cy="57150"/>
          </a:xfrm>
          <a:prstGeom prst="rect">
            <a:avLst/>
          </a:prstGeom>
          <a:solidFill>
            <a:srgbClr val="6EE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2-status-pill-text"/>
          <p:cNvSpPr txBox="1"/>
          <p:nvPr/>
        </p:nvSpPr>
        <p:spPr>
          <a:xfrm>
            <a:off x="7115175" y="302895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GREEN</a:t>
            </a:r>
          </a:p>
        </p:txBody>
      </p:sp>
      <p:sp>
        <p:nvSpPr>
          <p:cNvPr id="40" name="table-row-2-cell-6"/>
          <p:cNvSpPr txBox="1"/>
          <p:nvPr/>
        </p:nvSpPr>
        <p:spPr>
          <a:xfrm>
            <a:off x="7877175" y="287655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▲ +34pp</a:t>
            </a:r>
          </a:p>
        </p:txBody>
      </p:sp>
      <p:sp>
        <p:nvSpPr>
          <p:cNvPr id="41" name="table-row-2-cell-7"/>
          <p:cNvSpPr txBox="1"/>
          <p:nvPr/>
        </p:nvSpPr>
        <p:spPr>
          <a:xfrm>
            <a:off x="9096375" y="28765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Driven by storyline coaching</a:t>
            </a:r>
          </a:p>
        </p:txBody>
      </p:sp>
      <p:sp>
        <p:nvSpPr>
          <p:cNvPr id="42" name="table-row-3-bg"/>
          <p:cNvSpPr/>
          <p:nvPr/>
        </p:nvSpPr>
        <p:spPr>
          <a:xfrm>
            <a:off x="457200" y="3352800"/>
            <a:ext cx="11277600" cy="476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3-rule"/>
          <p:cNvSpPr/>
          <p:nvPr/>
        </p:nvSpPr>
        <p:spPr>
          <a:xfrm>
            <a:off x="457200" y="33528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3-cell-2"/>
          <p:cNvSpPr txBox="1"/>
          <p:nvPr/>
        </p:nvSpPr>
        <p:spPr>
          <a:xfrm>
            <a:off x="2124075" y="33528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Partner edits per deck</a:t>
            </a:r>
          </a:p>
        </p:txBody>
      </p:sp>
      <p:sp>
        <p:nvSpPr>
          <p:cNvPr id="45" name="table-row-3-cell-3"/>
          <p:cNvSpPr txBox="1"/>
          <p:nvPr/>
        </p:nvSpPr>
        <p:spPr>
          <a:xfrm>
            <a:off x="4733925" y="33528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3</a:t>
            </a:r>
          </a:p>
        </p:txBody>
      </p:sp>
      <p:sp>
        <p:nvSpPr>
          <p:cNvPr id="46" name="table-row-3-cell-4"/>
          <p:cNvSpPr txBox="1"/>
          <p:nvPr/>
        </p:nvSpPr>
        <p:spPr>
          <a:xfrm>
            <a:off x="5743575" y="33528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&lt;4</a:t>
            </a:r>
          </a:p>
        </p:txBody>
      </p:sp>
      <p:sp>
        <p:nvSpPr>
          <p:cNvPr id="47" name="table-row-3-status-pill"/>
          <p:cNvSpPr/>
          <p:nvPr/>
        </p:nvSpPr>
        <p:spPr>
          <a:xfrm>
            <a:off x="6981825" y="3505200"/>
            <a:ext cx="666750" cy="171450"/>
          </a:xfrm>
          <a:prstGeom prst="rect">
            <a:avLst/>
          </a:prstGeom>
          <a:solidFill>
            <a:srgbClr val="1E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3-rag-dot"/>
          <p:cNvSpPr/>
          <p:nvPr/>
        </p:nvSpPr>
        <p:spPr>
          <a:xfrm>
            <a:off x="7038975" y="3562350"/>
            <a:ext cx="57150" cy="57150"/>
          </a:xfrm>
          <a:prstGeom prst="rect">
            <a:avLst/>
          </a:prstGeom>
          <a:solidFill>
            <a:srgbClr val="6EE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3-status-pill-text"/>
          <p:cNvSpPr txBox="1"/>
          <p:nvPr/>
        </p:nvSpPr>
        <p:spPr>
          <a:xfrm>
            <a:off x="7115175" y="35052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GREEN</a:t>
            </a:r>
          </a:p>
        </p:txBody>
      </p:sp>
      <p:sp>
        <p:nvSpPr>
          <p:cNvPr id="50" name="table-row-3-cell-6"/>
          <p:cNvSpPr txBox="1"/>
          <p:nvPr/>
        </p:nvSpPr>
        <p:spPr>
          <a:xfrm>
            <a:off x="7877175" y="335280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▼ -63%</a:t>
            </a:r>
          </a:p>
        </p:txBody>
      </p:sp>
      <p:sp>
        <p:nvSpPr>
          <p:cNvPr id="51" name="table-row-3-cell-7"/>
          <p:cNvSpPr txBox="1"/>
          <p:nvPr/>
        </p:nvSpPr>
        <p:spPr>
          <a:xfrm>
            <a:off x="9096375" y="33528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Edits now sharpening, not redoing</a:t>
            </a:r>
          </a:p>
        </p:txBody>
      </p:sp>
      <p:sp>
        <p:nvSpPr>
          <p:cNvPr id="52" name="table-row-4-bg"/>
          <p:cNvSpPr/>
          <p:nvPr/>
        </p:nvSpPr>
        <p:spPr>
          <a:xfrm>
            <a:off x="457200" y="3829050"/>
            <a:ext cx="112776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ble-row-4-rule"/>
          <p:cNvSpPr/>
          <p:nvPr/>
        </p:nvSpPr>
        <p:spPr>
          <a:xfrm>
            <a:off x="457200" y="38290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4-cell-2"/>
          <p:cNvSpPr txBox="1"/>
          <p:nvPr/>
        </p:nvSpPr>
        <p:spPr>
          <a:xfrm>
            <a:off x="2124075" y="38290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Stakeholder sign-off rate</a:t>
            </a:r>
          </a:p>
        </p:txBody>
      </p:sp>
      <p:sp>
        <p:nvSpPr>
          <p:cNvPr id="55" name="table-row-4-cell-3"/>
          <p:cNvSpPr txBox="1"/>
          <p:nvPr/>
        </p:nvSpPr>
        <p:spPr>
          <a:xfrm>
            <a:off x="4733925" y="38290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94%</a:t>
            </a:r>
          </a:p>
        </p:txBody>
      </p:sp>
      <p:sp>
        <p:nvSpPr>
          <p:cNvPr id="56" name="table-row-4-cell-4"/>
          <p:cNvSpPr txBox="1"/>
          <p:nvPr/>
        </p:nvSpPr>
        <p:spPr>
          <a:xfrm>
            <a:off x="5743575" y="38290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&gt;80%</a:t>
            </a:r>
          </a:p>
        </p:txBody>
      </p:sp>
      <p:sp>
        <p:nvSpPr>
          <p:cNvPr id="57" name="table-row-4-status-pill"/>
          <p:cNvSpPr/>
          <p:nvPr/>
        </p:nvSpPr>
        <p:spPr>
          <a:xfrm>
            <a:off x="6981825" y="3981450"/>
            <a:ext cx="666750" cy="171450"/>
          </a:xfrm>
          <a:prstGeom prst="rect">
            <a:avLst/>
          </a:prstGeom>
          <a:solidFill>
            <a:srgbClr val="1E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4-rag-dot"/>
          <p:cNvSpPr/>
          <p:nvPr/>
        </p:nvSpPr>
        <p:spPr>
          <a:xfrm>
            <a:off x="7038975" y="4038600"/>
            <a:ext cx="57150" cy="57150"/>
          </a:xfrm>
          <a:prstGeom prst="rect">
            <a:avLst/>
          </a:prstGeom>
          <a:solidFill>
            <a:srgbClr val="6EE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4-status-pill-text"/>
          <p:cNvSpPr txBox="1"/>
          <p:nvPr/>
        </p:nvSpPr>
        <p:spPr>
          <a:xfrm>
            <a:off x="7115175" y="398145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GREEN</a:t>
            </a:r>
          </a:p>
        </p:txBody>
      </p:sp>
      <p:sp>
        <p:nvSpPr>
          <p:cNvPr id="60" name="table-row-4-cell-6"/>
          <p:cNvSpPr txBox="1"/>
          <p:nvPr/>
        </p:nvSpPr>
        <p:spPr>
          <a:xfrm>
            <a:off x="7877175" y="382905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■ stable</a:t>
            </a:r>
          </a:p>
        </p:txBody>
      </p:sp>
      <p:sp>
        <p:nvSpPr>
          <p:cNvPr id="61" name="table-row-4-cell-7"/>
          <p:cNvSpPr txBox="1"/>
          <p:nvPr/>
        </p:nvSpPr>
        <p:spPr>
          <a:xfrm>
            <a:off x="9096375" y="38290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Maintained through wave 1</a:t>
            </a:r>
          </a:p>
        </p:txBody>
      </p:sp>
      <p:sp>
        <p:nvSpPr>
          <p:cNvPr id="62" name="table-row-5-bg"/>
          <p:cNvSpPr/>
          <p:nvPr/>
        </p:nvSpPr>
        <p:spPr>
          <a:xfrm>
            <a:off x="457200" y="4305300"/>
            <a:ext cx="11277600" cy="476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able-row-5-rule"/>
          <p:cNvSpPr/>
          <p:nvPr/>
        </p:nvSpPr>
        <p:spPr>
          <a:xfrm>
            <a:off x="457200" y="43053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table-row-5-cell-2"/>
          <p:cNvSpPr txBox="1"/>
          <p:nvPr/>
        </p:nvSpPr>
        <p:spPr>
          <a:xfrm>
            <a:off x="2124075" y="43053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Active users vs target</a:t>
            </a:r>
          </a:p>
        </p:txBody>
      </p:sp>
      <p:sp>
        <p:nvSpPr>
          <p:cNvPr id="65" name="table-row-5-cell-3"/>
          <p:cNvSpPr txBox="1"/>
          <p:nvPr/>
        </p:nvSpPr>
        <p:spPr>
          <a:xfrm>
            <a:off x="4733925" y="43053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4/4</a:t>
            </a:r>
          </a:p>
        </p:txBody>
      </p:sp>
      <p:sp>
        <p:nvSpPr>
          <p:cNvPr id="66" name="table-row-5-cell-4"/>
          <p:cNvSpPr txBox="1"/>
          <p:nvPr/>
        </p:nvSpPr>
        <p:spPr>
          <a:xfrm>
            <a:off x="5743575" y="43053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4/4</a:t>
            </a:r>
          </a:p>
        </p:txBody>
      </p:sp>
      <p:sp>
        <p:nvSpPr>
          <p:cNvPr id="67" name="table-row-5-status-pill"/>
          <p:cNvSpPr/>
          <p:nvPr/>
        </p:nvSpPr>
        <p:spPr>
          <a:xfrm>
            <a:off x="6981825" y="4457700"/>
            <a:ext cx="666750" cy="171450"/>
          </a:xfrm>
          <a:prstGeom prst="rect">
            <a:avLst/>
          </a:prstGeom>
          <a:solidFill>
            <a:srgbClr val="1E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5-rag-dot"/>
          <p:cNvSpPr/>
          <p:nvPr/>
        </p:nvSpPr>
        <p:spPr>
          <a:xfrm>
            <a:off x="7038975" y="4514850"/>
            <a:ext cx="57150" cy="57150"/>
          </a:xfrm>
          <a:prstGeom prst="rect">
            <a:avLst/>
          </a:prstGeom>
          <a:solidFill>
            <a:srgbClr val="6EE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table-row-5-status-pill-text"/>
          <p:cNvSpPr txBox="1"/>
          <p:nvPr/>
        </p:nvSpPr>
        <p:spPr>
          <a:xfrm>
            <a:off x="7115175" y="44577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GREEN</a:t>
            </a:r>
          </a:p>
        </p:txBody>
      </p:sp>
      <p:sp>
        <p:nvSpPr>
          <p:cNvPr id="70" name="table-row-5-cell-6"/>
          <p:cNvSpPr txBox="1"/>
          <p:nvPr/>
        </p:nvSpPr>
        <p:spPr>
          <a:xfrm>
            <a:off x="7877175" y="430530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■ flat</a:t>
            </a:r>
          </a:p>
        </p:txBody>
      </p:sp>
      <p:sp>
        <p:nvSpPr>
          <p:cNvPr id="71" name="table-row-5-cell-7"/>
          <p:cNvSpPr txBox="1"/>
          <p:nvPr/>
        </p:nvSpPr>
        <p:spPr>
          <a:xfrm>
            <a:off x="9096375" y="43053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Full pilot team engaged</a:t>
            </a:r>
          </a:p>
        </p:txBody>
      </p:sp>
      <p:sp>
        <p:nvSpPr>
          <p:cNvPr id="72" name="table-row-6-bg"/>
          <p:cNvSpPr/>
          <p:nvPr/>
        </p:nvSpPr>
        <p:spPr>
          <a:xfrm>
            <a:off x="457200" y="4781550"/>
            <a:ext cx="11277600" cy="476250"/>
          </a:xfrm>
          <a:prstGeom prst="rect">
            <a:avLst/>
          </a:prstGeom>
          <a:solidFill>
            <a:srgbClr val="4A3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table-row-6-rule"/>
          <p:cNvSpPr/>
          <p:nvPr/>
        </p:nvSpPr>
        <p:spPr>
          <a:xfrm>
            <a:off x="457200" y="478155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table-row-6-cell-2"/>
          <p:cNvSpPr txBox="1"/>
          <p:nvPr/>
        </p:nvSpPr>
        <p:spPr>
          <a:xfrm>
            <a:off x="2124075" y="47815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Sessions per user / week</a:t>
            </a:r>
          </a:p>
        </p:txBody>
      </p:sp>
      <p:sp>
        <p:nvSpPr>
          <p:cNvPr id="75" name="table-row-6-cell-3"/>
          <p:cNvSpPr txBox="1"/>
          <p:nvPr/>
        </p:nvSpPr>
        <p:spPr>
          <a:xfrm>
            <a:off x="4733925" y="47815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1.8</a:t>
            </a:r>
          </a:p>
        </p:txBody>
      </p:sp>
      <p:sp>
        <p:nvSpPr>
          <p:cNvPr id="76" name="table-row-6-cell-4"/>
          <p:cNvSpPr txBox="1"/>
          <p:nvPr/>
        </p:nvSpPr>
        <p:spPr>
          <a:xfrm>
            <a:off x="5743575" y="478155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&gt;2</a:t>
            </a:r>
          </a:p>
        </p:txBody>
      </p:sp>
      <p:sp>
        <p:nvSpPr>
          <p:cNvPr id="77" name="table-row-6-status-pill"/>
          <p:cNvSpPr/>
          <p:nvPr/>
        </p:nvSpPr>
        <p:spPr>
          <a:xfrm>
            <a:off x="6981825" y="4933950"/>
            <a:ext cx="666750" cy="171450"/>
          </a:xfrm>
          <a:prstGeom prst="rect">
            <a:avLst/>
          </a:prstGeom>
          <a:solidFill>
            <a:srgbClr val="4A3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able-row-6-rag-dot"/>
          <p:cNvSpPr/>
          <p:nvPr/>
        </p:nvSpPr>
        <p:spPr>
          <a:xfrm>
            <a:off x="7038975" y="4991100"/>
            <a:ext cx="57150" cy="571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6-status-pill-text"/>
          <p:cNvSpPr txBox="1"/>
          <p:nvPr/>
        </p:nvSpPr>
        <p:spPr>
          <a:xfrm>
            <a:off x="7115175" y="493395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AMBER</a:t>
            </a:r>
          </a:p>
        </p:txBody>
      </p:sp>
      <p:sp>
        <p:nvSpPr>
          <p:cNvPr id="80" name="table-row-6-cell-6"/>
          <p:cNvSpPr txBox="1"/>
          <p:nvPr/>
        </p:nvSpPr>
        <p:spPr>
          <a:xfrm>
            <a:off x="7877175" y="478155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▼ slightly</a:t>
            </a:r>
          </a:p>
        </p:txBody>
      </p:sp>
      <p:sp>
        <p:nvSpPr>
          <p:cNvPr id="81" name="table-row-6-cell-7"/>
          <p:cNvSpPr txBox="1"/>
          <p:nvPr/>
        </p:nvSpPr>
        <p:spPr>
          <a:xfrm>
            <a:off x="9096375" y="478155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Senior users less consistent — coach by Wed</a:t>
            </a:r>
          </a:p>
        </p:txBody>
      </p:sp>
      <p:sp>
        <p:nvSpPr>
          <p:cNvPr id="82" name="table-row-7-bg"/>
          <p:cNvSpPr/>
          <p:nvPr/>
        </p:nvSpPr>
        <p:spPr>
          <a:xfrm>
            <a:off x="457200" y="5257800"/>
            <a:ext cx="11277600" cy="476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table-row-7-rule"/>
          <p:cNvSpPr/>
          <p:nvPr/>
        </p:nvSpPr>
        <p:spPr>
          <a:xfrm>
            <a:off x="457200" y="5257800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table-row-7-cell-2"/>
          <p:cNvSpPr txBox="1"/>
          <p:nvPr/>
        </p:nvSpPr>
        <p:spPr>
          <a:xfrm>
            <a:off x="2124075" y="52578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Hours per deck saved</a:t>
            </a:r>
          </a:p>
        </p:txBody>
      </p:sp>
      <p:sp>
        <p:nvSpPr>
          <p:cNvPr id="85" name="table-row-7-cell-3"/>
          <p:cNvSpPr txBox="1"/>
          <p:nvPr/>
        </p:nvSpPr>
        <p:spPr>
          <a:xfrm>
            <a:off x="4733925" y="52578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18h</a:t>
            </a:r>
          </a:p>
        </p:txBody>
      </p:sp>
      <p:sp>
        <p:nvSpPr>
          <p:cNvPr id="86" name="table-row-7-cell-4"/>
          <p:cNvSpPr txBox="1"/>
          <p:nvPr/>
        </p:nvSpPr>
        <p:spPr>
          <a:xfrm>
            <a:off x="5743575" y="5257800"/>
            <a:ext cx="10096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&gt;12h</a:t>
            </a:r>
          </a:p>
        </p:txBody>
      </p:sp>
      <p:sp>
        <p:nvSpPr>
          <p:cNvPr id="87" name="table-row-7-status-pill"/>
          <p:cNvSpPr/>
          <p:nvPr/>
        </p:nvSpPr>
        <p:spPr>
          <a:xfrm>
            <a:off x="6981825" y="5410200"/>
            <a:ext cx="666750" cy="171450"/>
          </a:xfrm>
          <a:prstGeom prst="rect">
            <a:avLst/>
          </a:prstGeom>
          <a:solidFill>
            <a:srgbClr val="1E4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7-rag-dot"/>
          <p:cNvSpPr/>
          <p:nvPr/>
        </p:nvSpPr>
        <p:spPr>
          <a:xfrm>
            <a:off x="7038975" y="5467350"/>
            <a:ext cx="57150" cy="57150"/>
          </a:xfrm>
          <a:prstGeom prst="rect">
            <a:avLst/>
          </a:prstGeom>
          <a:solidFill>
            <a:srgbClr val="6EE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table-row-7-status-pill-text"/>
          <p:cNvSpPr txBox="1"/>
          <p:nvPr/>
        </p:nvSpPr>
        <p:spPr>
          <a:xfrm>
            <a:off x="7115175" y="5410200"/>
            <a:ext cx="533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7A7"/>
                </a:solidFill>
                <a:latin typeface="Inter"/>
              </a:rPr>
              <a:t>GREEN</a:t>
            </a:r>
          </a:p>
        </p:txBody>
      </p:sp>
      <p:sp>
        <p:nvSpPr>
          <p:cNvPr id="90" name="table-row-7-cell-6"/>
          <p:cNvSpPr txBox="1"/>
          <p:nvPr/>
        </p:nvSpPr>
        <p:spPr>
          <a:xfrm>
            <a:off x="7877175" y="5257800"/>
            <a:ext cx="1123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▲ +6h</a:t>
            </a:r>
          </a:p>
        </p:txBody>
      </p:sp>
      <p:sp>
        <p:nvSpPr>
          <p:cNvPr id="91" name="table-row-7-cell-7"/>
          <p:cNvSpPr txBox="1"/>
          <p:nvPr/>
        </p:nvSpPr>
        <p:spPr>
          <a:xfrm>
            <a:off x="9096375" y="5257800"/>
            <a:ext cx="25146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Net of onboarding</a:t>
            </a:r>
          </a:p>
        </p:txBody>
      </p:sp>
      <p:sp>
        <p:nvSpPr>
          <p:cNvPr id="92" name="table-pillar-1-cell"/>
          <p:cNvSpPr/>
          <p:nvPr/>
        </p:nvSpPr>
        <p:spPr>
          <a:xfrm>
            <a:off x="457200" y="2400300"/>
            <a:ext cx="1571625" cy="952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pillar-1-num"/>
          <p:cNvSpPr txBox="1"/>
          <p:nvPr/>
        </p:nvSpPr>
        <p:spPr>
          <a:xfrm>
            <a:off x="571500" y="24765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1</a:t>
            </a:r>
          </a:p>
        </p:txBody>
      </p:sp>
      <p:sp>
        <p:nvSpPr>
          <p:cNvPr id="94" name="table-pillar-1-name"/>
          <p:cNvSpPr txBox="1"/>
          <p:nvPr/>
        </p:nvSpPr>
        <p:spPr>
          <a:xfrm>
            <a:off x="571500" y="2628900"/>
            <a:ext cx="13430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CYCLE TIME</a:t>
            </a:r>
          </a:p>
        </p:txBody>
      </p:sp>
      <p:sp>
        <p:nvSpPr>
          <p:cNvPr id="95" name="table-pillar-2-cell"/>
          <p:cNvSpPr/>
          <p:nvPr/>
        </p:nvSpPr>
        <p:spPr>
          <a:xfrm>
            <a:off x="457200" y="3352800"/>
            <a:ext cx="1571625" cy="952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table-pillar-2-num"/>
          <p:cNvSpPr txBox="1"/>
          <p:nvPr/>
        </p:nvSpPr>
        <p:spPr>
          <a:xfrm>
            <a:off x="571500" y="34290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2</a:t>
            </a:r>
          </a:p>
        </p:txBody>
      </p:sp>
      <p:sp>
        <p:nvSpPr>
          <p:cNvPr id="97" name="table-pillar-2-name"/>
          <p:cNvSpPr txBox="1"/>
          <p:nvPr/>
        </p:nvSpPr>
        <p:spPr>
          <a:xfrm>
            <a:off x="571500" y="3581400"/>
            <a:ext cx="13430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QUALITY</a:t>
            </a:r>
          </a:p>
        </p:txBody>
      </p:sp>
      <p:sp>
        <p:nvSpPr>
          <p:cNvPr id="98" name="table-pillar-3-cell"/>
          <p:cNvSpPr/>
          <p:nvPr/>
        </p:nvSpPr>
        <p:spPr>
          <a:xfrm>
            <a:off x="457200" y="4305300"/>
            <a:ext cx="1571625" cy="9525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9" name="table-pillar-3-num"/>
          <p:cNvSpPr txBox="1"/>
          <p:nvPr/>
        </p:nvSpPr>
        <p:spPr>
          <a:xfrm>
            <a:off x="571500" y="43815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3</a:t>
            </a:r>
          </a:p>
        </p:txBody>
      </p:sp>
      <p:sp>
        <p:nvSpPr>
          <p:cNvPr id="100" name="table-pillar-3-name"/>
          <p:cNvSpPr txBox="1"/>
          <p:nvPr/>
        </p:nvSpPr>
        <p:spPr>
          <a:xfrm>
            <a:off x="571500" y="4533900"/>
            <a:ext cx="134302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ADOPTION</a:t>
            </a:r>
          </a:p>
        </p:txBody>
      </p:sp>
      <p:sp>
        <p:nvSpPr>
          <p:cNvPr id="101" name="table-pillar-4-cell"/>
          <p:cNvSpPr/>
          <p:nvPr/>
        </p:nvSpPr>
        <p:spPr>
          <a:xfrm>
            <a:off x="457200" y="5257800"/>
            <a:ext cx="1571625" cy="4762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table-pillar-4-num"/>
          <p:cNvSpPr txBox="1"/>
          <p:nvPr/>
        </p:nvSpPr>
        <p:spPr>
          <a:xfrm>
            <a:off x="571500" y="5334000"/>
            <a:ext cx="13430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4</a:t>
            </a:r>
          </a:p>
        </p:txBody>
      </p:sp>
      <p:sp>
        <p:nvSpPr>
          <p:cNvPr id="103" name="table-pillar-4-name"/>
          <p:cNvSpPr txBox="1"/>
          <p:nvPr/>
        </p:nvSpPr>
        <p:spPr>
          <a:xfrm>
            <a:off x="571500" y="5486400"/>
            <a:ext cx="13430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COST</a:t>
            </a:r>
          </a:p>
        </p:txBody>
      </p:sp>
      <p:sp>
        <p:nvSpPr>
          <p:cNvPr id="104" name="convergence-bg"/>
          <p:cNvSpPr/>
          <p:nvPr/>
        </p:nvSpPr>
        <p:spPr>
          <a:xfrm>
            <a:off x="457200" y="6019800"/>
            <a:ext cx="11277600" cy="476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convergence-mark"/>
          <p:cNvSpPr/>
          <p:nvPr/>
        </p:nvSpPr>
        <p:spPr>
          <a:xfrm>
            <a:off x="609600" y="6153150"/>
            <a:ext cx="76200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convergence-mark-text"/>
          <p:cNvSpPr txBox="1"/>
          <p:nvPr/>
        </p:nvSpPr>
        <p:spPr>
          <a:xfrm>
            <a:off x="609600" y="615315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SO WHAT</a:t>
            </a:r>
          </a:p>
        </p:txBody>
      </p:sp>
      <p:sp>
        <p:nvSpPr>
          <p:cNvPr id="107" name="convergence"/>
          <p:cNvSpPr txBox="1"/>
          <p:nvPr/>
        </p:nvSpPr>
        <p:spPr>
          <a:xfrm>
            <a:off x="1524000" y="6019800"/>
            <a:ext cx="102108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Three pillars green, one amber. The amber one — senior-user session frequency — is where steering should focus this week.</a:t>
            </a:r>
          </a:p>
        </p:txBody>
      </p:sp>
      <p:sp>
        <p:nvSpPr>
          <p:cNvPr id="10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