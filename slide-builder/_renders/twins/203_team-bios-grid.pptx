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Meet the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Core Team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Six leaders driving the programme — backgrounds, roles, and areas of expertise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ersona-1-bg"/>
          <p:cNvSpPr/>
          <p:nvPr/>
        </p:nvSpPr>
        <p:spPr>
          <a:xfrm>
            <a:off x="609600" y="1600200"/>
            <a:ext cx="3581400" cy="2000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ersona-1-photo"/>
          <p:cNvSpPr/>
          <p:nvPr/>
        </p:nvSpPr>
        <p:spPr>
          <a:xfrm>
            <a:off x="742950" y="1733550"/>
            <a:ext cx="533400" cy="5334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ersona-1-photo-initials"/>
          <p:cNvSpPr txBox="1"/>
          <p:nvPr/>
        </p:nvSpPr>
        <p:spPr>
          <a:xfrm>
            <a:off x="742950" y="173355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SR</a:t>
            </a:r>
          </a:p>
        </p:txBody>
      </p:sp>
      <p:sp>
        <p:nvSpPr>
          <p:cNvPr id="8" name="persona-1-name"/>
          <p:cNvSpPr txBox="1"/>
          <p:nvPr/>
        </p:nvSpPr>
        <p:spPr>
          <a:xfrm>
            <a:off x="1371600" y="1771650"/>
            <a:ext cx="2686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Sarah Reynolds</a:t>
            </a:r>
          </a:p>
        </p:txBody>
      </p:sp>
      <p:sp>
        <p:nvSpPr>
          <p:cNvPr id="9" name="persona-1-role"/>
          <p:cNvSpPr txBox="1"/>
          <p:nvPr/>
        </p:nvSpPr>
        <p:spPr>
          <a:xfrm>
            <a:off x="1371600" y="1962150"/>
            <a:ext cx="2686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Programme Director</a:t>
            </a:r>
          </a:p>
        </p:txBody>
      </p:sp>
      <p:sp>
        <p:nvSpPr>
          <p:cNvPr id="10" name="persona-1-bio"/>
          <p:cNvSpPr txBox="1"/>
          <p:nvPr/>
        </p:nvSpPr>
        <p:spPr>
          <a:xfrm>
            <a:off x="742950" y="2362200"/>
            <a:ext cx="33147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20+ years leading large-scale digital transformations across FS and public sector. Accountable for overall delivery and stakeholder alignment.</a:t>
            </a:r>
          </a:p>
        </p:txBody>
      </p:sp>
      <p:sp>
        <p:nvSpPr>
          <p:cNvPr id="11" name="persona-1-tag-1"/>
          <p:cNvSpPr txBox="1"/>
          <p:nvPr/>
        </p:nvSpPr>
        <p:spPr>
          <a:xfrm>
            <a:off x="742950" y="3352800"/>
            <a:ext cx="1466850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Programme Governance</a:t>
            </a:r>
          </a:p>
        </p:txBody>
      </p:sp>
      <p:sp>
        <p:nvSpPr>
          <p:cNvPr id="12" name="persona-1-tag-2"/>
          <p:cNvSpPr txBox="1"/>
          <p:nvPr/>
        </p:nvSpPr>
        <p:spPr>
          <a:xfrm>
            <a:off x="2066925" y="3352800"/>
            <a:ext cx="1266825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Change Management</a:t>
            </a:r>
          </a:p>
        </p:txBody>
      </p:sp>
      <p:sp>
        <p:nvSpPr>
          <p:cNvPr id="13" name="persona-2-bg"/>
          <p:cNvSpPr/>
          <p:nvPr/>
        </p:nvSpPr>
        <p:spPr>
          <a:xfrm>
            <a:off x="4305300" y="1600200"/>
            <a:ext cx="3581400" cy="2000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ersona-2-photo"/>
          <p:cNvSpPr/>
          <p:nvPr/>
        </p:nvSpPr>
        <p:spPr>
          <a:xfrm>
            <a:off x="4438650" y="1733550"/>
            <a:ext cx="533400" cy="5334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persona-2-photo-initials"/>
          <p:cNvSpPr txBox="1"/>
          <p:nvPr/>
        </p:nvSpPr>
        <p:spPr>
          <a:xfrm>
            <a:off x="4438650" y="173355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JM</a:t>
            </a:r>
          </a:p>
        </p:txBody>
      </p:sp>
      <p:sp>
        <p:nvSpPr>
          <p:cNvPr id="16" name="persona-2-name"/>
          <p:cNvSpPr txBox="1"/>
          <p:nvPr/>
        </p:nvSpPr>
        <p:spPr>
          <a:xfrm>
            <a:off x="5067300" y="1771650"/>
            <a:ext cx="2686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James Morales</a:t>
            </a:r>
          </a:p>
        </p:txBody>
      </p:sp>
      <p:sp>
        <p:nvSpPr>
          <p:cNvPr id="17" name="persona-2-role"/>
          <p:cNvSpPr txBox="1"/>
          <p:nvPr/>
        </p:nvSpPr>
        <p:spPr>
          <a:xfrm>
            <a:off x="5067300" y="1962150"/>
            <a:ext cx="2686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Technology Lead</a:t>
            </a:r>
          </a:p>
        </p:txBody>
      </p:sp>
      <p:sp>
        <p:nvSpPr>
          <p:cNvPr id="18" name="persona-2-bio"/>
          <p:cNvSpPr txBox="1"/>
          <p:nvPr/>
        </p:nvSpPr>
        <p:spPr>
          <a:xfrm>
            <a:off x="4438650" y="2362200"/>
            <a:ext cx="33147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Cloud-native architect specialising in Azure and Kubernetes. Defines the technical blueprint and oversees engineering squads across two workstreams.</a:t>
            </a:r>
          </a:p>
        </p:txBody>
      </p:sp>
      <p:sp>
        <p:nvSpPr>
          <p:cNvPr id="19" name="persona-2-tag-1"/>
          <p:cNvSpPr txBox="1"/>
          <p:nvPr/>
        </p:nvSpPr>
        <p:spPr>
          <a:xfrm>
            <a:off x="4438650" y="3352800"/>
            <a:ext cx="1333500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Cloud Architecture</a:t>
            </a:r>
          </a:p>
        </p:txBody>
      </p:sp>
      <p:sp>
        <p:nvSpPr>
          <p:cNvPr id="20" name="persona-2-tag-2"/>
          <p:cNvSpPr txBox="1"/>
          <p:nvPr/>
        </p:nvSpPr>
        <p:spPr>
          <a:xfrm>
            <a:off x="5353050" y="3352800"/>
            <a:ext cx="857250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DevSecOps</a:t>
            </a:r>
          </a:p>
        </p:txBody>
      </p:sp>
      <p:sp>
        <p:nvSpPr>
          <p:cNvPr id="21" name="persona-3-bg"/>
          <p:cNvSpPr/>
          <p:nvPr/>
        </p:nvSpPr>
        <p:spPr>
          <a:xfrm>
            <a:off x="8001000" y="1600200"/>
            <a:ext cx="3581400" cy="2000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persona-3-photo"/>
          <p:cNvSpPr/>
          <p:nvPr/>
        </p:nvSpPr>
        <p:spPr>
          <a:xfrm>
            <a:off x="8134350" y="1733550"/>
            <a:ext cx="533400" cy="5334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persona-3-photo-initials"/>
          <p:cNvSpPr txBox="1"/>
          <p:nvPr/>
        </p:nvSpPr>
        <p:spPr>
          <a:xfrm>
            <a:off x="8134350" y="173355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LP</a:t>
            </a:r>
          </a:p>
        </p:txBody>
      </p:sp>
      <p:sp>
        <p:nvSpPr>
          <p:cNvPr id="24" name="persona-3-name"/>
          <p:cNvSpPr txBox="1"/>
          <p:nvPr/>
        </p:nvSpPr>
        <p:spPr>
          <a:xfrm>
            <a:off x="8763000" y="1771650"/>
            <a:ext cx="2686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Lena Park</a:t>
            </a:r>
          </a:p>
        </p:txBody>
      </p:sp>
      <p:sp>
        <p:nvSpPr>
          <p:cNvPr id="25" name="persona-3-role"/>
          <p:cNvSpPr txBox="1"/>
          <p:nvPr/>
        </p:nvSpPr>
        <p:spPr>
          <a:xfrm>
            <a:off x="8763000" y="1962150"/>
            <a:ext cx="2686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Data &amp; AI Strategist</a:t>
            </a:r>
          </a:p>
        </p:txBody>
      </p:sp>
      <p:sp>
        <p:nvSpPr>
          <p:cNvPr id="26" name="persona-3-bio"/>
          <p:cNvSpPr txBox="1"/>
          <p:nvPr/>
        </p:nvSpPr>
        <p:spPr>
          <a:xfrm>
            <a:off x="8134350" y="2362200"/>
            <a:ext cx="33147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Leads the analytics and ML platform build. Prior experience at a global consultancy driving gen-AI adoption in regulated industries.</a:t>
            </a:r>
          </a:p>
        </p:txBody>
      </p:sp>
      <p:sp>
        <p:nvSpPr>
          <p:cNvPr id="27" name="persona-3-tag-1"/>
          <p:cNvSpPr txBox="1"/>
          <p:nvPr/>
        </p:nvSpPr>
        <p:spPr>
          <a:xfrm>
            <a:off x="8134350" y="3352800"/>
            <a:ext cx="1000125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Generative AI</a:t>
            </a:r>
          </a:p>
        </p:txBody>
      </p:sp>
      <p:sp>
        <p:nvSpPr>
          <p:cNvPr id="28" name="persona-3-tag-2"/>
          <p:cNvSpPr txBox="1"/>
          <p:nvPr/>
        </p:nvSpPr>
        <p:spPr>
          <a:xfrm>
            <a:off x="9324975" y="3352800"/>
            <a:ext cx="1133475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Data Governance</a:t>
            </a:r>
          </a:p>
        </p:txBody>
      </p:sp>
      <p:sp>
        <p:nvSpPr>
          <p:cNvPr id="29" name="persona-4-bg"/>
          <p:cNvSpPr/>
          <p:nvPr/>
        </p:nvSpPr>
        <p:spPr>
          <a:xfrm>
            <a:off x="609600" y="3714750"/>
            <a:ext cx="3581400" cy="2000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persona-4-photo"/>
          <p:cNvSpPr/>
          <p:nvPr/>
        </p:nvSpPr>
        <p:spPr>
          <a:xfrm>
            <a:off x="742950" y="3848100"/>
            <a:ext cx="533400" cy="5334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persona-4-photo-initials"/>
          <p:cNvSpPr txBox="1"/>
          <p:nvPr/>
        </p:nvSpPr>
        <p:spPr>
          <a:xfrm>
            <a:off x="742950" y="38481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TN</a:t>
            </a:r>
          </a:p>
        </p:txBody>
      </p:sp>
      <p:sp>
        <p:nvSpPr>
          <p:cNvPr id="32" name="persona-4-name"/>
          <p:cNvSpPr txBox="1"/>
          <p:nvPr/>
        </p:nvSpPr>
        <p:spPr>
          <a:xfrm>
            <a:off x="1371600" y="3886200"/>
            <a:ext cx="2686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Tariq Nassar</a:t>
            </a:r>
          </a:p>
        </p:txBody>
      </p:sp>
      <p:sp>
        <p:nvSpPr>
          <p:cNvPr id="33" name="persona-4-role"/>
          <p:cNvSpPr txBox="1"/>
          <p:nvPr/>
        </p:nvSpPr>
        <p:spPr>
          <a:xfrm>
            <a:off x="1371600" y="4076700"/>
            <a:ext cx="2686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Change &amp; Comms Lead</a:t>
            </a:r>
          </a:p>
        </p:txBody>
      </p:sp>
      <p:sp>
        <p:nvSpPr>
          <p:cNvPr id="34" name="persona-4-bio"/>
          <p:cNvSpPr txBox="1"/>
          <p:nvPr/>
        </p:nvSpPr>
        <p:spPr>
          <a:xfrm>
            <a:off x="742950" y="4476750"/>
            <a:ext cx="33147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Behavioural change expert with a track record in enterprise ERP rollouts. Manages communications, training design, and adoption metrics.</a:t>
            </a:r>
          </a:p>
        </p:txBody>
      </p:sp>
      <p:sp>
        <p:nvSpPr>
          <p:cNvPr id="35" name="persona-4-tag-1"/>
          <p:cNvSpPr txBox="1"/>
          <p:nvPr/>
        </p:nvSpPr>
        <p:spPr>
          <a:xfrm>
            <a:off x="742950" y="5467350"/>
            <a:ext cx="857250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OCM</a:t>
            </a:r>
          </a:p>
        </p:txBody>
      </p:sp>
      <p:sp>
        <p:nvSpPr>
          <p:cNvPr id="36" name="persona-4-tag-2"/>
          <p:cNvSpPr txBox="1"/>
          <p:nvPr/>
        </p:nvSpPr>
        <p:spPr>
          <a:xfrm>
            <a:off x="1933575" y="5467350"/>
            <a:ext cx="1133475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Training Design</a:t>
            </a:r>
          </a:p>
        </p:txBody>
      </p:sp>
      <p:sp>
        <p:nvSpPr>
          <p:cNvPr id="37" name="persona-5-bg"/>
          <p:cNvSpPr/>
          <p:nvPr/>
        </p:nvSpPr>
        <p:spPr>
          <a:xfrm>
            <a:off x="4305300" y="3714750"/>
            <a:ext cx="3581400" cy="2000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persona-5-photo"/>
          <p:cNvSpPr/>
          <p:nvPr/>
        </p:nvSpPr>
        <p:spPr>
          <a:xfrm>
            <a:off x="4438650" y="3848100"/>
            <a:ext cx="533400" cy="5334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persona-5-photo-initials"/>
          <p:cNvSpPr txBox="1"/>
          <p:nvPr/>
        </p:nvSpPr>
        <p:spPr>
          <a:xfrm>
            <a:off x="4438650" y="38481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CW</a:t>
            </a:r>
          </a:p>
        </p:txBody>
      </p:sp>
      <p:sp>
        <p:nvSpPr>
          <p:cNvPr id="40" name="persona-5-name"/>
          <p:cNvSpPr txBox="1"/>
          <p:nvPr/>
        </p:nvSpPr>
        <p:spPr>
          <a:xfrm>
            <a:off x="5067300" y="3886200"/>
            <a:ext cx="2686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Claire Wong</a:t>
            </a:r>
          </a:p>
        </p:txBody>
      </p:sp>
      <p:sp>
        <p:nvSpPr>
          <p:cNvPr id="41" name="persona-5-role"/>
          <p:cNvSpPr txBox="1"/>
          <p:nvPr/>
        </p:nvSpPr>
        <p:spPr>
          <a:xfrm>
            <a:off x="5067300" y="4076700"/>
            <a:ext cx="2686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Commercial &amp; Risk Manager</a:t>
            </a:r>
          </a:p>
        </p:txBody>
      </p:sp>
      <p:sp>
        <p:nvSpPr>
          <p:cNvPr id="42" name="persona-5-bio"/>
          <p:cNvSpPr txBox="1"/>
          <p:nvPr/>
        </p:nvSpPr>
        <p:spPr>
          <a:xfrm>
            <a:off x="4438650" y="4476750"/>
            <a:ext cx="33147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Manages contract performance, financial controls, and risk registers. Brings 12 years in commercial management on multi-vendor engagements.</a:t>
            </a:r>
          </a:p>
        </p:txBody>
      </p:sp>
      <p:sp>
        <p:nvSpPr>
          <p:cNvPr id="43" name="persona-5-tag-1"/>
          <p:cNvSpPr txBox="1"/>
          <p:nvPr/>
        </p:nvSpPr>
        <p:spPr>
          <a:xfrm>
            <a:off x="4438650" y="5467350"/>
            <a:ext cx="1133475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Risk &amp; Controls</a:t>
            </a:r>
          </a:p>
        </p:txBody>
      </p:sp>
      <p:sp>
        <p:nvSpPr>
          <p:cNvPr id="44" name="persona-5-tag-2"/>
          <p:cNvSpPr txBox="1"/>
          <p:nvPr/>
        </p:nvSpPr>
        <p:spPr>
          <a:xfrm>
            <a:off x="5353050" y="5467350"/>
            <a:ext cx="857250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Commercial</a:t>
            </a:r>
          </a:p>
        </p:txBody>
      </p:sp>
      <p:sp>
        <p:nvSpPr>
          <p:cNvPr id="45" name="persona-6-bg"/>
          <p:cNvSpPr/>
          <p:nvPr/>
        </p:nvSpPr>
        <p:spPr>
          <a:xfrm>
            <a:off x="8001000" y="3714750"/>
            <a:ext cx="3581400" cy="2000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persona-6-photo"/>
          <p:cNvSpPr/>
          <p:nvPr/>
        </p:nvSpPr>
        <p:spPr>
          <a:xfrm>
            <a:off x="8134350" y="3848100"/>
            <a:ext cx="533400" cy="5334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persona-6-photo-initials"/>
          <p:cNvSpPr txBox="1"/>
          <p:nvPr/>
        </p:nvSpPr>
        <p:spPr>
          <a:xfrm>
            <a:off x="8134350" y="38481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BO</a:t>
            </a:r>
          </a:p>
        </p:txBody>
      </p:sp>
      <p:sp>
        <p:nvSpPr>
          <p:cNvPr id="48" name="persona-6-name"/>
          <p:cNvSpPr txBox="1"/>
          <p:nvPr/>
        </p:nvSpPr>
        <p:spPr>
          <a:xfrm>
            <a:off x="8763000" y="3886200"/>
            <a:ext cx="2686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Ben O'Sullivan</a:t>
            </a:r>
          </a:p>
        </p:txBody>
      </p:sp>
      <p:sp>
        <p:nvSpPr>
          <p:cNvPr id="49" name="persona-6-role"/>
          <p:cNvSpPr txBox="1"/>
          <p:nvPr/>
        </p:nvSpPr>
        <p:spPr>
          <a:xfrm>
            <a:off x="8763000" y="4076700"/>
            <a:ext cx="2686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Solution Architect</a:t>
            </a:r>
          </a:p>
        </p:txBody>
      </p:sp>
      <p:sp>
        <p:nvSpPr>
          <p:cNvPr id="50" name="persona-6-bio"/>
          <p:cNvSpPr txBox="1"/>
          <p:nvPr/>
        </p:nvSpPr>
        <p:spPr>
          <a:xfrm>
            <a:off x="8134350" y="4476750"/>
            <a:ext cx="33147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Owns integration design between legacy platforms and the new cloud core. Experienced in API-led connectivity and enterprise middleware patterns.</a:t>
            </a:r>
          </a:p>
        </p:txBody>
      </p:sp>
      <p:sp>
        <p:nvSpPr>
          <p:cNvPr id="51" name="persona-6-tag-1"/>
          <p:cNvSpPr txBox="1"/>
          <p:nvPr/>
        </p:nvSpPr>
        <p:spPr>
          <a:xfrm>
            <a:off x="8134350" y="5467350"/>
            <a:ext cx="866775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Integration</a:t>
            </a:r>
          </a:p>
        </p:txBody>
      </p:sp>
      <p:sp>
        <p:nvSpPr>
          <p:cNvPr id="52" name="persona-6-tag-2"/>
          <p:cNvSpPr txBox="1"/>
          <p:nvPr/>
        </p:nvSpPr>
        <p:spPr>
          <a:xfrm>
            <a:off x="9048750" y="5467350"/>
            <a:ext cx="857250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API Design</a:t>
            </a:r>
          </a:p>
        </p:txBody>
      </p:sp>
      <p:sp>
        <p:nvSpPr>
          <p:cNvPr id="5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