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Five Years of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Market-Shifting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Events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chronological view of the developments that redefined the competitive landscape, 2020-2025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meline-axis"/>
          <p:cNvSpPr/>
          <p:nvPr/>
        </p:nvSpPr>
        <p:spPr>
          <a:xfrm>
            <a:off x="457200" y="3914775"/>
            <a:ext cx="11277600" cy="19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event-1-dot"/>
          <p:cNvSpPr/>
          <p:nvPr/>
        </p:nvSpPr>
        <p:spPr>
          <a:xfrm>
            <a:off x="1524000" y="3867150"/>
            <a:ext cx="114300" cy="114300"/>
          </a:xfrm>
          <a:prstGeom prst="ellipse">
            <a:avLst/>
          </a:prstGeom>
          <a:solidFill>
            <a:srgbClr val="5C2D8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event-1-connector"/>
          <p:cNvSpPr/>
          <p:nvPr/>
        </p:nvSpPr>
        <p:spPr>
          <a:xfrm>
            <a:off x="1571625" y="3600450"/>
            <a:ext cx="190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event-1-card"/>
          <p:cNvSpPr/>
          <p:nvPr/>
        </p:nvSpPr>
        <p:spPr>
          <a:xfrm>
            <a:off x="695325" y="2724150"/>
            <a:ext cx="177165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event-1-date-chip-bg"/>
          <p:cNvSpPr/>
          <p:nvPr/>
        </p:nvSpPr>
        <p:spPr>
          <a:xfrm>
            <a:off x="790575" y="2800350"/>
            <a:ext cx="5715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event-1-date"/>
          <p:cNvSpPr txBox="1"/>
          <p:nvPr/>
        </p:nvSpPr>
        <p:spPr>
          <a:xfrm>
            <a:off x="790575" y="28003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 2020</a:t>
            </a:r>
          </a:p>
        </p:txBody>
      </p:sp>
      <p:sp>
        <p:nvSpPr>
          <p:cNvPr id="11" name="event-1-title"/>
          <p:cNvSpPr txBox="1"/>
          <p:nvPr/>
        </p:nvSpPr>
        <p:spPr>
          <a:xfrm>
            <a:off x="790575" y="2990850"/>
            <a:ext cx="1581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Global Lockdowns Accelerate Digital Adoption</a:t>
            </a:r>
          </a:p>
        </p:txBody>
      </p:sp>
      <p:sp>
        <p:nvSpPr>
          <p:cNvPr id="12" name="event-1-desc"/>
          <p:cNvSpPr txBox="1"/>
          <p:nvPr/>
        </p:nvSpPr>
        <p:spPr>
          <a:xfrm>
            <a:off x="790575" y="3409950"/>
            <a:ext cx="1581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McKinsey Global Institute · Mar 2020</a:t>
            </a:r>
          </a:p>
        </p:txBody>
      </p:sp>
      <p:sp>
        <p:nvSpPr>
          <p:cNvPr id="13" name="event-2-dot"/>
          <p:cNvSpPr/>
          <p:nvPr/>
        </p:nvSpPr>
        <p:spPr>
          <a:xfrm>
            <a:off x="3771900" y="3867150"/>
            <a:ext cx="114300" cy="114300"/>
          </a:xfrm>
          <a:prstGeom prst="ellipse">
            <a:avLst/>
          </a:prstGeom>
          <a:solidFill>
            <a:srgbClr val="5C2D8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event-2-connector"/>
          <p:cNvSpPr/>
          <p:nvPr/>
        </p:nvSpPr>
        <p:spPr>
          <a:xfrm>
            <a:off x="3819525" y="3981450"/>
            <a:ext cx="190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event-2-card"/>
          <p:cNvSpPr/>
          <p:nvPr/>
        </p:nvSpPr>
        <p:spPr>
          <a:xfrm>
            <a:off x="2943225" y="4286250"/>
            <a:ext cx="177165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event-2-date-chip-bg"/>
          <p:cNvSpPr/>
          <p:nvPr/>
        </p:nvSpPr>
        <p:spPr>
          <a:xfrm>
            <a:off x="3038475" y="4362450"/>
            <a:ext cx="5715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event-2-date"/>
          <p:cNvSpPr txBox="1"/>
          <p:nvPr/>
        </p:nvSpPr>
        <p:spPr>
          <a:xfrm>
            <a:off x="3038475" y="43624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JUN 2021</a:t>
            </a:r>
          </a:p>
        </p:txBody>
      </p:sp>
      <p:sp>
        <p:nvSpPr>
          <p:cNvPr id="18" name="event-2-title"/>
          <p:cNvSpPr txBox="1"/>
          <p:nvPr/>
        </p:nvSpPr>
        <p:spPr>
          <a:xfrm>
            <a:off x="3038475" y="4552950"/>
            <a:ext cx="1581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Supply Chain Disruptions Reshape Global Trade</a:t>
            </a:r>
          </a:p>
        </p:txBody>
      </p:sp>
      <p:sp>
        <p:nvSpPr>
          <p:cNvPr id="19" name="event-2-desc"/>
          <p:cNvSpPr txBox="1"/>
          <p:nvPr/>
        </p:nvSpPr>
        <p:spPr>
          <a:xfrm>
            <a:off x="3038475" y="4972050"/>
            <a:ext cx="1581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World Economic Forum · Jun 2021</a:t>
            </a:r>
          </a:p>
        </p:txBody>
      </p:sp>
      <p:sp>
        <p:nvSpPr>
          <p:cNvPr id="20" name="event-3-dot"/>
          <p:cNvSpPr/>
          <p:nvPr/>
        </p:nvSpPr>
        <p:spPr>
          <a:xfrm>
            <a:off x="6010275" y="3857625"/>
            <a:ext cx="142875" cy="142875"/>
          </a:xfrm>
          <a:prstGeom prst="ellipse">
            <a:avLst/>
          </a:prstGeom>
          <a:solidFill>
            <a:srgbClr val="A10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event-3-connector"/>
          <p:cNvSpPr/>
          <p:nvPr/>
        </p:nvSpPr>
        <p:spPr>
          <a:xfrm>
            <a:off x="6067425" y="3590925"/>
            <a:ext cx="190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event-3-card"/>
          <p:cNvSpPr/>
          <p:nvPr/>
        </p:nvSpPr>
        <p:spPr>
          <a:xfrm>
            <a:off x="5191125" y="2714625"/>
            <a:ext cx="177165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event-3-accent"/>
          <p:cNvSpPr/>
          <p:nvPr/>
        </p:nvSpPr>
        <p:spPr>
          <a:xfrm>
            <a:off x="5191125" y="2714625"/>
            <a:ext cx="28575" cy="838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event-3-date-chip-bg"/>
          <p:cNvSpPr/>
          <p:nvPr/>
        </p:nvSpPr>
        <p:spPr>
          <a:xfrm>
            <a:off x="5286375" y="2790825"/>
            <a:ext cx="5715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event-3-date"/>
          <p:cNvSpPr txBox="1"/>
          <p:nvPr/>
        </p:nvSpPr>
        <p:spPr>
          <a:xfrm>
            <a:off x="5286375" y="2790825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NOV 2022</a:t>
            </a:r>
          </a:p>
        </p:txBody>
      </p:sp>
      <p:sp>
        <p:nvSpPr>
          <p:cNvPr id="26" name="event-3-title"/>
          <p:cNvSpPr txBox="1"/>
          <p:nvPr/>
        </p:nvSpPr>
        <p:spPr>
          <a:xfrm>
            <a:off x="5286375" y="2981325"/>
            <a:ext cx="1581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Generative AI Goes Mainstream — ChatGPT Launches</a:t>
            </a:r>
          </a:p>
        </p:txBody>
      </p:sp>
      <p:sp>
        <p:nvSpPr>
          <p:cNvPr id="27" name="event-3-desc"/>
          <p:cNvSpPr txBox="1"/>
          <p:nvPr/>
        </p:nvSpPr>
        <p:spPr>
          <a:xfrm>
            <a:off x="5286375" y="3400425"/>
            <a:ext cx="1581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OpenAI · Nov 2022 — Key Moment</a:t>
            </a:r>
          </a:p>
        </p:txBody>
      </p:sp>
      <p:sp>
        <p:nvSpPr>
          <p:cNvPr id="28" name="event-4-dot"/>
          <p:cNvSpPr/>
          <p:nvPr/>
        </p:nvSpPr>
        <p:spPr>
          <a:xfrm>
            <a:off x="8267700" y="3867150"/>
            <a:ext cx="114300" cy="114300"/>
          </a:xfrm>
          <a:prstGeom prst="ellipse">
            <a:avLst/>
          </a:prstGeom>
          <a:solidFill>
            <a:srgbClr val="5C2D8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event-4-connector"/>
          <p:cNvSpPr/>
          <p:nvPr/>
        </p:nvSpPr>
        <p:spPr>
          <a:xfrm>
            <a:off x="8315325" y="3981450"/>
            <a:ext cx="190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event-4-card"/>
          <p:cNvSpPr/>
          <p:nvPr/>
        </p:nvSpPr>
        <p:spPr>
          <a:xfrm>
            <a:off x="7439025" y="4286250"/>
            <a:ext cx="177165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event-4-date-chip-bg"/>
          <p:cNvSpPr/>
          <p:nvPr/>
        </p:nvSpPr>
        <p:spPr>
          <a:xfrm>
            <a:off x="7534275" y="4362450"/>
            <a:ext cx="5715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event-4-date"/>
          <p:cNvSpPr txBox="1"/>
          <p:nvPr/>
        </p:nvSpPr>
        <p:spPr>
          <a:xfrm>
            <a:off x="7534275" y="43624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APR 2023</a:t>
            </a:r>
          </a:p>
        </p:txBody>
      </p:sp>
      <p:sp>
        <p:nvSpPr>
          <p:cNvPr id="33" name="event-4-title"/>
          <p:cNvSpPr txBox="1"/>
          <p:nvPr/>
        </p:nvSpPr>
        <p:spPr>
          <a:xfrm>
            <a:off x="7534275" y="4552950"/>
            <a:ext cx="1581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Regulators Move on AI — EU AI Act Advances</a:t>
            </a:r>
          </a:p>
        </p:txBody>
      </p:sp>
      <p:sp>
        <p:nvSpPr>
          <p:cNvPr id="34" name="event-4-desc"/>
          <p:cNvSpPr txBox="1"/>
          <p:nvPr/>
        </p:nvSpPr>
        <p:spPr>
          <a:xfrm>
            <a:off x="7534275" y="4972050"/>
            <a:ext cx="1581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European Parliament · Apr 2023</a:t>
            </a:r>
          </a:p>
        </p:txBody>
      </p:sp>
      <p:sp>
        <p:nvSpPr>
          <p:cNvPr id="35" name="event-5-dot"/>
          <p:cNvSpPr/>
          <p:nvPr/>
        </p:nvSpPr>
        <p:spPr>
          <a:xfrm>
            <a:off x="10515600" y="3867150"/>
            <a:ext cx="114300" cy="114300"/>
          </a:xfrm>
          <a:prstGeom prst="ellipse">
            <a:avLst/>
          </a:prstGeom>
          <a:solidFill>
            <a:srgbClr val="5C2D8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event-5-connector"/>
          <p:cNvSpPr/>
          <p:nvPr/>
        </p:nvSpPr>
        <p:spPr>
          <a:xfrm>
            <a:off x="10563225" y="3600450"/>
            <a:ext cx="190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event-5-card"/>
          <p:cNvSpPr/>
          <p:nvPr/>
        </p:nvSpPr>
        <p:spPr>
          <a:xfrm>
            <a:off x="9686925" y="2724150"/>
            <a:ext cx="177165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event-5-date-chip-bg"/>
          <p:cNvSpPr/>
          <p:nvPr/>
        </p:nvSpPr>
        <p:spPr>
          <a:xfrm>
            <a:off x="9782175" y="2800350"/>
            <a:ext cx="5715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event-5-date"/>
          <p:cNvSpPr txBox="1"/>
          <p:nvPr/>
        </p:nvSpPr>
        <p:spPr>
          <a:xfrm>
            <a:off x="9782175" y="28003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JAN 2025</a:t>
            </a:r>
          </a:p>
        </p:txBody>
      </p:sp>
      <p:sp>
        <p:nvSpPr>
          <p:cNvPr id="40" name="event-5-title"/>
          <p:cNvSpPr txBox="1"/>
          <p:nvPr/>
        </p:nvSpPr>
        <p:spPr>
          <a:xfrm>
            <a:off x="9782175" y="2990850"/>
            <a:ext cx="1581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Agentic AI Deployments Enter Enterprise at Scale</a:t>
            </a:r>
          </a:p>
        </p:txBody>
      </p:sp>
      <p:sp>
        <p:nvSpPr>
          <p:cNvPr id="41" name="event-5-desc"/>
          <p:cNvSpPr txBox="1"/>
          <p:nvPr/>
        </p:nvSpPr>
        <p:spPr>
          <a:xfrm>
            <a:off x="9782175" y="3409950"/>
            <a:ext cx="1581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Gartner Hype Cycle · Jan 2025</a:t>
            </a:r>
          </a:p>
        </p:txBody>
      </p:sp>
      <p:sp>
        <p:nvSpPr>
          <p:cNvPr id="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