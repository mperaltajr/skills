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609600"/>
            <a:ext cx="5715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PILOT · WEEK 4 READOUT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266700"/>
            <a:ext cx="1000125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Four weeks in — every metric is moving in the right direction.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09600" y="1028700"/>
            <a:ext cx="100012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Baseline versus week-4 pilot, same teams and deck types. The pattern matters more than any single line.</a:t>
            </a:r>
          </a:p>
        </p:txBody>
      </p:sp>
      <p:sp>
        <p:nvSpPr>
          <p:cNvPr id="5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hart-title"/>
          <p:cNvSpPr txBox="1"/>
          <p:nvPr/>
        </p:nvSpPr>
        <p:spPr>
          <a:xfrm>
            <a:off x="609600" y="2190750"/>
            <a:ext cx="41529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Pilot vs baseline — week 4 vs week 0</a:t>
            </a:r>
          </a:p>
        </p:txBody>
      </p:sp>
      <p:sp>
        <p:nvSpPr>
          <p:cNvPr id="7" name="legend-1-swatch"/>
          <p:cNvSpPr/>
          <p:nvPr/>
        </p:nvSpPr>
        <p:spPr>
          <a:xfrm>
            <a:off x="4572000" y="2247900"/>
            <a:ext cx="104775" cy="10477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end-1-label"/>
          <p:cNvSpPr txBox="1"/>
          <p:nvPr/>
        </p:nvSpPr>
        <p:spPr>
          <a:xfrm>
            <a:off x="4743450" y="222885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BASELINE</a:t>
            </a:r>
          </a:p>
        </p:txBody>
      </p:sp>
      <p:sp>
        <p:nvSpPr>
          <p:cNvPr id="9" name="legend-2-swatch"/>
          <p:cNvSpPr/>
          <p:nvPr/>
        </p:nvSpPr>
        <p:spPr>
          <a:xfrm>
            <a:off x="5619750" y="2247900"/>
            <a:ext cx="104775" cy="1047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end-2-label"/>
          <p:cNvSpPr txBox="1"/>
          <p:nvPr/>
        </p:nvSpPr>
        <p:spPr>
          <a:xfrm>
            <a:off x="5791200" y="2228850"/>
            <a:ext cx="95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PILOT · WK 4</a:t>
            </a:r>
          </a:p>
        </p:txBody>
      </p:sp>
      <p:sp>
        <p:nvSpPr>
          <p:cNvPr id="11" name="chart-subtitle"/>
          <p:cNvSpPr txBox="1"/>
          <p:nvPr/>
        </p:nvSpPr>
        <p:spPr>
          <a:xfrm>
            <a:off x="609600" y="2400300"/>
            <a:ext cx="6057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12 decks, matched by type and partner reviewer.</a:t>
            </a:r>
          </a:p>
        </p:txBody>
      </p:sp>
      <p:sp>
        <p:nvSpPr>
          <p:cNvPr id="12" name="bar-1-label"/>
          <p:cNvSpPr txBox="1"/>
          <p:nvPr/>
        </p:nvSpPr>
        <p:spPr>
          <a:xfrm>
            <a:off x="609600" y="270510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CYCLE TIME</a:t>
            </a:r>
          </a:p>
        </p:txBody>
      </p:sp>
      <p:sp>
        <p:nvSpPr>
          <p:cNvPr id="13" name="bar-1-unit"/>
          <p:cNvSpPr txBox="1"/>
          <p:nvPr/>
        </p:nvSpPr>
        <p:spPr>
          <a:xfrm>
            <a:off x="609600" y="285750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days</a:t>
            </a:r>
          </a:p>
        </p:txBody>
      </p:sp>
      <p:sp>
        <p:nvSpPr>
          <p:cNvPr id="14" name="bar-1-baseline-bar"/>
          <p:cNvSpPr/>
          <p:nvPr/>
        </p:nvSpPr>
        <p:spPr>
          <a:xfrm>
            <a:off x="1981200" y="2714625"/>
            <a:ext cx="388620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bar-1-baseline-val"/>
          <p:cNvSpPr txBox="1"/>
          <p:nvPr/>
        </p:nvSpPr>
        <p:spPr>
          <a:xfrm>
            <a:off x="1981200" y="2714625"/>
            <a:ext cx="3829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14</a:t>
            </a:r>
          </a:p>
        </p:txBody>
      </p:sp>
      <p:sp>
        <p:nvSpPr>
          <p:cNvPr id="16" name="bar-1-pilot-bar"/>
          <p:cNvSpPr/>
          <p:nvPr/>
        </p:nvSpPr>
        <p:spPr>
          <a:xfrm>
            <a:off x="1981200" y="2886075"/>
            <a:ext cx="138112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ar-1-pilot-val"/>
          <p:cNvSpPr txBox="1"/>
          <p:nvPr/>
        </p:nvSpPr>
        <p:spPr>
          <a:xfrm>
            <a:off x="1981200" y="2886075"/>
            <a:ext cx="1323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8" name="bar-1-delta"/>
          <p:cNvSpPr txBox="1"/>
          <p:nvPr/>
        </p:nvSpPr>
        <p:spPr>
          <a:xfrm>
            <a:off x="6000750" y="270510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−64%</a:t>
            </a:r>
          </a:p>
        </p:txBody>
      </p:sp>
      <p:sp>
        <p:nvSpPr>
          <p:cNvPr id="19" name="bar-1-delta-cap"/>
          <p:cNvSpPr txBox="1"/>
          <p:nvPr/>
        </p:nvSpPr>
        <p:spPr>
          <a:xfrm>
            <a:off x="6000750" y="287655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FASTER</a:t>
            </a:r>
          </a:p>
        </p:txBody>
      </p:sp>
      <p:sp>
        <p:nvSpPr>
          <p:cNvPr id="20" name="bar-2-label"/>
          <p:cNvSpPr txBox="1"/>
          <p:nvPr/>
        </p:nvSpPr>
        <p:spPr>
          <a:xfrm>
            <a:off x="609600" y="3228975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PARTNER EDITS</a:t>
            </a:r>
          </a:p>
        </p:txBody>
      </p:sp>
      <p:sp>
        <p:nvSpPr>
          <p:cNvPr id="21" name="bar-2-unit"/>
          <p:cNvSpPr txBox="1"/>
          <p:nvPr/>
        </p:nvSpPr>
        <p:spPr>
          <a:xfrm>
            <a:off x="609600" y="338137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per deck</a:t>
            </a:r>
          </a:p>
        </p:txBody>
      </p:sp>
      <p:sp>
        <p:nvSpPr>
          <p:cNvPr id="22" name="bar-2-baseline-bar"/>
          <p:cNvSpPr/>
          <p:nvPr/>
        </p:nvSpPr>
        <p:spPr>
          <a:xfrm>
            <a:off x="1981200" y="3238500"/>
            <a:ext cx="220980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2-baseline-val"/>
          <p:cNvSpPr txBox="1"/>
          <p:nvPr/>
        </p:nvSpPr>
        <p:spPr>
          <a:xfrm>
            <a:off x="1981200" y="3238500"/>
            <a:ext cx="21526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</a:t>
            </a:r>
          </a:p>
        </p:txBody>
      </p:sp>
      <p:sp>
        <p:nvSpPr>
          <p:cNvPr id="24" name="bar-2-pilot-bar"/>
          <p:cNvSpPr/>
          <p:nvPr/>
        </p:nvSpPr>
        <p:spPr>
          <a:xfrm>
            <a:off x="1981200" y="3409950"/>
            <a:ext cx="8286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ar-2-pilot-val"/>
          <p:cNvSpPr txBox="1"/>
          <p:nvPr/>
        </p:nvSpPr>
        <p:spPr>
          <a:xfrm>
            <a:off x="1981200" y="3409950"/>
            <a:ext cx="7715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bar-2-delta"/>
          <p:cNvSpPr txBox="1"/>
          <p:nvPr/>
        </p:nvSpPr>
        <p:spPr>
          <a:xfrm>
            <a:off x="6000750" y="322897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−63%</a:t>
            </a:r>
          </a:p>
        </p:txBody>
      </p:sp>
      <p:sp>
        <p:nvSpPr>
          <p:cNvPr id="27" name="bar-2-delta-cap"/>
          <p:cNvSpPr txBox="1"/>
          <p:nvPr/>
        </p:nvSpPr>
        <p:spPr>
          <a:xfrm>
            <a:off x="6000750" y="340042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FEWER</a:t>
            </a:r>
          </a:p>
        </p:txBody>
      </p:sp>
      <p:sp>
        <p:nvSpPr>
          <p:cNvPr id="28" name="bar-3-label"/>
          <p:cNvSpPr txBox="1"/>
          <p:nvPr/>
        </p:nvSpPr>
        <p:spPr>
          <a:xfrm>
            <a:off x="609600" y="3752850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SIGN-OFF RATE</a:t>
            </a:r>
          </a:p>
        </p:txBody>
      </p:sp>
      <p:sp>
        <p:nvSpPr>
          <p:cNvPr id="29" name="bar-3-unit"/>
          <p:cNvSpPr txBox="1"/>
          <p:nvPr/>
        </p:nvSpPr>
        <p:spPr>
          <a:xfrm>
            <a:off x="609600" y="3905250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first-pass</a:t>
            </a:r>
          </a:p>
        </p:txBody>
      </p:sp>
      <p:sp>
        <p:nvSpPr>
          <p:cNvPr id="30" name="bar-3-baseline-bar"/>
          <p:cNvSpPr/>
          <p:nvPr/>
        </p:nvSpPr>
        <p:spPr>
          <a:xfrm>
            <a:off x="1981200" y="3762375"/>
            <a:ext cx="232410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ar-3-baseline-val"/>
          <p:cNvSpPr txBox="1"/>
          <p:nvPr/>
        </p:nvSpPr>
        <p:spPr>
          <a:xfrm>
            <a:off x="1981200" y="3762375"/>
            <a:ext cx="22669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60%</a:t>
            </a:r>
          </a:p>
        </p:txBody>
      </p:sp>
      <p:sp>
        <p:nvSpPr>
          <p:cNvPr id="32" name="bar-3-pilot-bar"/>
          <p:cNvSpPr/>
          <p:nvPr/>
        </p:nvSpPr>
        <p:spPr>
          <a:xfrm>
            <a:off x="1981200" y="3933825"/>
            <a:ext cx="3648075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bar-3-pilot-val"/>
          <p:cNvSpPr txBox="1"/>
          <p:nvPr/>
        </p:nvSpPr>
        <p:spPr>
          <a:xfrm>
            <a:off x="1981200" y="3933825"/>
            <a:ext cx="35909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94%</a:t>
            </a:r>
          </a:p>
        </p:txBody>
      </p:sp>
      <p:sp>
        <p:nvSpPr>
          <p:cNvPr id="34" name="bar-3-delta"/>
          <p:cNvSpPr txBox="1"/>
          <p:nvPr/>
        </p:nvSpPr>
        <p:spPr>
          <a:xfrm>
            <a:off x="6000750" y="3752850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+34 pts</a:t>
            </a:r>
          </a:p>
        </p:txBody>
      </p:sp>
      <p:sp>
        <p:nvSpPr>
          <p:cNvPr id="35" name="bar-3-delta-cap"/>
          <p:cNvSpPr txBox="1"/>
          <p:nvPr/>
        </p:nvSpPr>
        <p:spPr>
          <a:xfrm>
            <a:off x="6000750" y="3924300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HIGHER</a:t>
            </a:r>
          </a:p>
        </p:txBody>
      </p:sp>
      <p:sp>
        <p:nvSpPr>
          <p:cNvPr id="36" name="bar-4-label"/>
          <p:cNvSpPr txBox="1"/>
          <p:nvPr/>
        </p:nvSpPr>
        <p:spPr>
          <a:xfrm>
            <a:off x="609600" y="4276725"/>
            <a:ext cx="1219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BUILD ERRORS</a:t>
            </a:r>
          </a:p>
        </p:txBody>
      </p:sp>
      <p:sp>
        <p:nvSpPr>
          <p:cNvPr id="37" name="bar-4-unit"/>
          <p:cNvSpPr txBox="1"/>
          <p:nvPr/>
        </p:nvSpPr>
        <p:spPr>
          <a:xfrm>
            <a:off x="609600" y="4429125"/>
            <a:ext cx="12192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per deck</a:t>
            </a:r>
          </a:p>
        </p:txBody>
      </p:sp>
      <p:sp>
        <p:nvSpPr>
          <p:cNvPr id="38" name="bar-4-baseline-bar"/>
          <p:cNvSpPr/>
          <p:nvPr/>
        </p:nvSpPr>
        <p:spPr>
          <a:xfrm>
            <a:off x="1981200" y="4286250"/>
            <a:ext cx="1104900" cy="1333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bar-4-baseline-val"/>
          <p:cNvSpPr txBox="1"/>
          <p:nvPr/>
        </p:nvSpPr>
        <p:spPr>
          <a:xfrm>
            <a:off x="1981200" y="42862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40" name="bar-4-pilot-bar"/>
          <p:cNvSpPr/>
          <p:nvPr/>
        </p:nvSpPr>
        <p:spPr>
          <a:xfrm>
            <a:off x="1981200" y="4457700"/>
            <a:ext cx="457200" cy="1333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bar-4-pilot-val"/>
          <p:cNvSpPr txBox="1"/>
          <p:nvPr/>
        </p:nvSpPr>
        <p:spPr>
          <a:xfrm>
            <a:off x="1981200" y="4457700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42" name="bar-4-delta"/>
          <p:cNvSpPr txBox="1"/>
          <p:nvPr/>
        </p:nvSpPr>
        <p:spPr>
          <a:xfrm>
            <a:off x="6000750" y="4276725"/>
            <a:ext cx="6667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−100%</a:t>
            </a:r>
          </a:p>
        </p:txBody>
      </p:sp>
      <p:sp>
        <p:nvSpPr>
          <p:cNvPr id="43" name="bar-4-delta-cap"/>
          <p:cNvSpPr txBox="1"/>
          <p:nvPr/>
        </p:nvSpPr>
        <p:spPr>
          <a:xfrm>
            <a:off x="6000750" y="4448175"/>
            <a:ext cx="666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CLEARED</a:t>
            </a:r>
          </a:p>
        </p:txBody>
      </p:sp>
      <p:sp>
        <p:nvSpPr>
          <p:cNvPr id="44" name="chart-source"/>
          <p:cNvSpPr txBox="1"/>
          <p:nvPr/>
        </p:nvSpPr>
        <p:spPr>
          <a:xfrm>
            <a:off x="609600" y="4895850"/>
            <a:ext cx="60579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Source: 12 decks measured Apr–May 2026; baseline = pre-Slide Lab same teams, matched by deck type and partner reviewer.</a:t>
            </a:r>
          </a:p>
        </p:txBody>
      </p:sp>
      <p:sp>
        <p:nvSpPr>
          <p:cNvPr id="45" name="annot-bg"/>
          <p:cNvSpPr/>
          <p:nvPr/>
        </p:nvSpPr>
        <p:spPr>
          <a:xfrm>
            <a:off x="7010400" y="2190750"/>
            <a:ext cx="4572000" cy="34290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annot-header"/>
          <p:cNvSpPr txBox="1"/>
          <p:nvPr/>
        </p:nvSpPr>
        <p:spPr>
          <a:xfrm>
            <a:off x="7239000" y="2400300"/>
            <a:ext cx="41148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WHAT THIS MEANS</a:t>
            </a:r>
          </a:p>
        </p:txBody>
      </p:sp>
      <p:sp>
        <p:nvSpPr>
          <p:cNvPr id="47" name="annot-sub"/>
          <p:cNvSpPr txBox="1"/>
          <p:nvPr/>
        </p:nvSpPr>
        <p:spPr>
          <a:xfrm>
            <a:off x="7239000" y="2590800"/>
            <a:ext cx="41148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80FF"/>
                </a:solidFill>
                <a:latin typeface="Inter"/>
              </a:rPr>
              <a:t>Three reads — partner time, compounding effect, rollout signal.</a:t>
            </a:r>
          </a:p>
        </p:txBody>
      </p:sp>
      <p:sp>
        <p:nvSpPr>
          <p:cNvPr id="48" name="annot-rule"/>
          <p:cNvSpPr/>
          <p:nvPr/>
        </p:nvSpPr>
        <p:spPr>
          <a:xfrm>
            <a:off x="7239000" y="2971800"/>
            <a:ext cx="3429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annot-1-marker"/>
          <p:cNvSpPr txBox="1"/>
          <p:nvPr/>
        </p:nvSpPr>
        <p:spPr>
          <a:xfrm>
            <a:off x="7239000" y="314325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0" name="annot-1-label"/>
          <p:cNvSpPr txBox="1"/>
          <p:nvPr/>
        </p:nvSpPr>
        <p:spPr>
          <a:xfrm>
            <a:off x="7448550" y="3143250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Worth a partner-meeting</a:t>
            </a:r>
          </a:p>
        </p:txBody>
      </p:sp>
      <p:sp>
        <p:nvSpPr>
          <p:cNvPr id="51" name="annot-1-body"/>
          <p:cNvSpPr txBox="1"/>
          <p:nvPr/>
        </p:nvSpPr>
        <p:spPr>
          <a:xfrm>
            <a:off x="7448550" y="3352800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Cycle-time gain alone recovers roughly 3 senior hours per deck — a meaningful line item at the practice level.</a:t>
            </a:r>
          </a:p>
        </p:txBody>
      </p:sp>
      <p:sp>
        <p:nvSpPr>
          <p:cNvPr id="52" name="annot-2-marker"/>
          <p:cNvSpPr txBox="1"/>
          <p:nvPr/>
        </p:nvSpPr>
        <p:spPr>
          <a:xfrm>
            <a:off x="7239000" y="3933825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3" name="annot-2-label"/>
          <p:cNvSpPr txBox="1"/>
          <p:nvPr/>
        </p:nvSpPr>
        <p:spPr>
          <a:xfrm>
            <a:off x="7448550" y="3933825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Compounds across the workstream</a:t>
            </a:r>
          </a:p>
        </p:txBody>
      </p:sp>
      <p:sp>
        <p:nvSpPr>
          <p:cNvPr id="54" name="annot-2-body"/>
          <p:cNvSpPr txBox="1"/>
          <p:nvPr/>
        </p:nvSpPr>
        <p:spPr>
          <a:xfrm>
            <a:off x="7448550" y="4143375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Patterns lock in after week 2; fewer late-stage rewrites, faster analyst onboarding, cleaner builds downstream.</a:t>
            </a:r>
          </a:p>
        </p:txBody>
      </p:sp>
      <p:sp>
        <p:nvSpPr>
          <p:cNvPr id="55" name="annot-3-marker"/>
          <p:cNvSpPr txBox="1"/>
          <p:nvPr/>
        </p:nvSpPr>
        <p:spPr>
          <a:xfrm>
            <a:off x="7239000" y="4724400"/>
            <a:ext cx="1714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▸</a:t>
            </a:r>
          </a:p>
        </p:txBody>
      </p:sp>
      <p:sp>
        <p:nvSpPr>
          <p:cNvPr id="56" name="annot-3-label"/>
          <p:cNvSpPr txBox="1"/>
          <p:nvPr/>
        </p:nvSpPr>
        <p:spPr>
          <a:xfrm>
            <a:off x="7448550" y="4724400"/>
            <a:ext cx="39052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Trigger for Q3 rollout</a:t>
            </a:r>
          </a:p>
        </p:txBody>
      </p:sp>
      <p:sp>
        <p:nvSpPr>
          <p:cNvPr id="57" name="annot-3-body"/>
          <p:cNvSpPr txBox="1"/>
          <p:nvPr/>
        </p:nvSpPr>
        <p:spPr>
          <a:xfrm>
            <a:off x="7448550" y="4933950"/>
            <a:ext cx="3905250" cy="56197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Data supports expanding to 3 more practice areas — staged, with the same baseline-tracking discipline.</a:t>
            </a:r>
          </a:p>
        </p:txBody>
      </p:sp>
      <p:sp>
        <p:nvSpPr>
          <p:cNvPr id="58" name="convergence"/>
          <p:cNvSpPr txBox="1"/>
          <p:nvPr/>
        </p:nvSpPr>
        <p:spPr>
          <a:xfrm>
            <a:off x="609600" y="5886450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Four independent measures, same direction — this is a pattern, not a single lucky data point.</a:t>
            </a:r>
          </a:p>
        </p:txBody>
      </p:sp>
      <p:sp>
        <p:nvSpPr>
          <p:cNvPr id="5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