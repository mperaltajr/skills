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-left-panel"/>
          <p:cNvSpPr/>
          <p:nvPr/>
        </p:nvSpPr>
        <p:spPr>
          <a:xfrm>
            <a:off x="0" y="0"/>
            <a:ext cx="5334000" cy="68580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wordmark"/>
          <p:cNvSpPr txBox="1"/>
          <p:nvPr/>
        </p:nvSpPr>
        <p:spPr>
          <a:xfrm>
            <a:off x="266700" y="36195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ACCENTURE</a:t>
            </a:r>
          </a:p>
        </p:txBody>
      </p:sp>
      <p:sp>
        <p:nvSpPr>
          <p:cNvPr id="4" name="divider-numeral"/>
          <p:cNvSpPr txBox="1"/>
          <p:nvPr/>
        </p:nvSpPr>
        <p:spPr>
          <a:xfrm>
            <a:off x="266700" y="1905000"/>
            <a:ext cx="4800600" cy="1238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7200" b="1" i="0">
                <a:solidFill>
                  <a:srgbClr val="C780FF"/>
                </a:solidFill>
                <a:latin typeface="Inter"/>
              </a:rPr>
              <a:t>03</a:t>
            </a:r>
          </a:p>
        </p:txBody>
      </p:sp>
      <p:sp>
        <p:nvSpPr>
          <p:cNvPr id="5" name="divider-rule"/>
          <p:cNvSpPr/>
          <p:nvPr/>
        </p:nvSpPr>
        <p:spPr>
          <a:xfrm>
            <a:off x="266700" y="3333750"/>
            <a:ext cx="4800600" cy="9525"/>
          </a:xfrm>
          <a:prstGeom prst="rect">
            <a:avLst/>
          </a:prstGeom>
          <a:solidFill>
            <a:srgbClr val="664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divider-title"/>
          <p:cNvSpPr txBox="1"/>
          <p:nvPr/>
        </p:nvSpPr>
        <p:spPr>
          <a:xfrm>
            <a:off x="266700" y="3562350"/>
            <a:ext cx="4800600" cy="857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Our Proposed
Solution</a:t>
            </a:r>
          </a:p>
        </p:txBody>
      </p:sp>
      <p:sp>
        <p:nvSpPr>
          <p:cNvPr id="7" name="diagonal-stripe"/>
          <p:cNvSpPr/>
          <p:nvPr/>
        </p:nvSpPr>
        <p:spPr>
          <a:xfrm>
            <a:off x="5314950" y="0"/>
            <a:ext cx="57150" cy="63246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oc-label"/>
          <p:cNvSpPr txBox="1"/>
          <p:nvPr/>
        </p:nvSpPr>
        <p:spPr>
          <a:xfrm>
            <a:off x="5867400" y="1219200"/>
            <a:ext cx="5715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IN THIS SECTION:</a:t>
            </a:r>
          </a:p>
        </p:txBody>
      </p:sp>
      <p:sp>
        <p:nvSpPr>
          <p:cNvPr id="9" name="toc-1-num"/>
          <p:cNvSpPr txBox="1"/>
          <p:nvPr/>
        </p:nvSpPr>
        <p:spPr>
          <a:xfrm>
            <a:off x="5867400" y="1704975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01</a:t>
            </a:r>
          </a:p>
        </p:txBody>
      </p:sp>
      <p:sp>
        <p:nvSpPr>
          <p:cNvPr id="10" name="toc-1-title"/>
          <p:cNvSpPr txBox="1"/>
          <p:nvPr/>
        </p:nvSpPr>
        <p:spPr>
          <a:xfrm>
            <a:off x="6191250" y="1695450"/>
            <a:ext cx="4953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Solution Architecture Overview</a:t>
            </a:r>
          </a:p>
        </p:txBody>
      </p:sp>
      <p:sp>
        <p:nvSpPr>
          <p:cNvPr id="11" name="toc-1-desc"/>
          <p:cNvSpPr txBox="1"/>
          <p:nvPr/>
        </p:nvSpPr>
        <p:spPr>
          <a:xfrm>
            <a:off x="6191250" y="1905000"/>
            <a:ext cx="4953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End-to-end platform design and integration model</a:t>
            </a:r>
          </a:p>
        </p:txBody>
      </p:sp>
      <p:sp>
        <p:nvSpPr>
          <p:cNvPr id="12" name="toc-2-num"/>
          <p:cNvSpPr txBox="1"/>
          <p:nvPr/>
        </p:nvSpPr>
        <p:spPr>
          <a:xfrm>
            <a:off x="5867400" y="2276475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02</a:t>
            </a:r>
          </a:p>
        </p:txBody>
      </p:sp>
      <p:sp>
        <p:nvSpPr>
          <p:cNvPr id="13" name="toc-2-title"/>
          <p:cNvSpPr txBox="1"/>
          <p:nvPr/>
        </p:nvSpPr>
        <p:spPr>
          <a:xfrm>
            <a:off x="6191250" y="2266950"/>
            <a:ext cx="4953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Implementation Approach &amp; Phases</a:t>
            </a:r>
          </a:p>
        </p:txBody>
      </p:sp>
      <p:sp>
        <p:nvSpPr>
          <p:cNvPr id="14" name="toc-2-desc"/>
          <p:cNvSpPr txBox="1"/>
          <p:nvPr/>
        </p:nvSpPr>
        <p:spPr>
          <a:xfrm>
            <a:off x="6191250" y="2476500"/>
            <a:ext cx="4953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Phased delivery plan with milestones and decision gates</a:t>
            </a:r>
          </a:p>
        </p:txBody>
      </p:sp>
      <p:sp>
        <p:nvSpPr>
          <p:cNvPr id="15" name="toc-3-num"/>
          <p:cNvSpPr txBox="1"/>
          <p:nvPr/>
        </p:nvSpPr>
        <p:spPr>
          <a:xfrm>
            <a:off x="5867400" y="2847975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03</a:t>
            </a:r>
          </a:p>
        </p:txBody>
      </p:sp>
      <p:sp>
        <p:nvSpPr>
          <p:cNvPr id="16" name="toc-3-title"/>
          <p:cNvSpPr txBox="1"/>
          <p:nvPr/>
        </p:nvSpPr>
        <p:spPr>
          <a:xfrm>
            <a:off x="6191250" y="2838450"/>
            <a:ext cx="4953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Team Structure &amp; Governance</a:t>
            </a:r>
          </a:p>
        </p:txBody>
      </p:sp>
      <p:sp>
        <p:nvSpPr>
          <p:cNvPr id="17" name="toc-3-desc"/>
          <p:cNvSpPr txBox="1"/>
          <p:nvPr/>
        </p:nvSpPr>
        <p:spPr>
          <a:xfrm>
            <a:off x="6191250" y="3048000"/>
            <a:ext cx="4953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Roles, responsibilities, and escalation pathways</a:t>
            </a:r>
          </a:p>
        </p:txBody>
      </p:sp>
      <p:sp>
        <p:nvSpPr>
          <p:cNvPr id="18" name="toc-4-num"/>
          <p:cNvSpPr txBox="1"/>
          <p:nvPr/>
        </p:nvSpPr>
        <p:spPr>
          <a:xfrm>
            <a:off x="5867400" y="3419475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04</a:t>
            </a:r>
          </a:p>
        </p:txBody>
      </p:sp>
      <p:sp>
        <p:nvSpPr>
          <p:cNvPr id="19" name="toc-4-title"/>
          <p:cNvSpPr txBox="1"/>
          <p:nvPr/>
        </p:nvSpPr>
        <p:spPr>
          <a:xfrm>
            <a:off x="6191250" y="3409950"/>
            <a:ext cx="4953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Risk Management Framework</a:t>
            </a:r>
          </a:p>
        </p:txBody>
      </p:sp>
      <p:sp>
        <p:nvSpPr>
          <p:cNvPr id="20" name="toc-4-desc"/>
          <p:cNvSpPr txBox="1"/>
          <p:nvPr/>
        </p:nvSpPr>
        <p:spPr>
          <a:xfrm>
            <a:off x="6191250" y="3619500"/>
            <a:ext cx="4953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Identified risks, mitigations, and contingency planning</a:t>
            </a:r>
          </a:p>
        </p:txBody>
      </p:sp>
      <p:sp>
        <p:nvSpPr>
          <p:cNvPr id="21" name="value-rule"/>
          <p:cNvSpPr/>
          <p:nvPr/>
        </p:nvSpPr>
        <p:spPr>
          <a:xfrm>
            <a:off x="5867400" y="4362450"/>
            <a:ext cx="40005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value-tagline"/>
          <p:cNvSpPr txBox="1"/>
          <p:nvPr/>
        </p:nvSpPr>
        <p:spPr>
          <a:xfrm>
            <a:off x="5867400" y="4514850"/>
            <a:ext cx="59055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5C2D87"/>
                </a:solidFill>
                <a:latin typeface="Inter"/>
              </a:rPr>
              <a:t>Delivering measurable outcomes through proven methodology, deep industry expertise, and a commitment to your long-term success.</a:t>
            </a:r>
          </a:p>
        </p:txBody>
      </p:sp>
      <p:sp>
        <p:nvSpPr>
          <p:cNvPr id="23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