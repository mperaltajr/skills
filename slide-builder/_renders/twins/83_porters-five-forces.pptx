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ure-tag"/>
          <p:cNvSpPr txBox="1"/>
          <p:nvPr/>
        </p:nvSpPr>
        <p:spPr>
          <a:xfrm>
            <a:off x="228600" y="2286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ACCENTURE INTERNAL</a:t>
            </a:r>
          </a:p>
        </p:txBody>
      </p:sp>
      <p:sp>
        <p:nvSpPr>
          <p:cNvPr id="3" name="draft-badge"/>
          <p:cNvSpPr txBox="1"/>
          <p:nvPr/>
        </p:nvSpPr>
        <p:spPr>
          <a:xfrm>
            <a:off x="5772150" y="190500"/>
            <a:ext cx="647700" cy="17145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71C1C"/>
                </a:solidFill>
                <a:latin typeface="Inter"/>
              </a:rPr>
              <a:t>DRAFT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33400" y="266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Five forces around Slide Lab — supplier power and substitutes are the watchouts.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33400" y="1162050"/>
            <a:ext cx="9982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Rivalry sits in the middle; the surrounding forces shape how much room we have to win.</a:t>
            </a:r>
          </a:p>
        </p:txBody>
      </p:sp>
      <p:sp>
        <p:nvSpPr>
          <p:cNvPr id="6" name="brand-rule"/>
          <p:cNvSpPr/>
          <p:nvPr/>
        </p:nvSpPr>
        <p:spPr>
          <a:xfrm>
            <a:off x="533400" y="16192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hart-canvas"/>
          <p:cNvSpPr/>
          <p:nvPr/>
        </p:nvSpPr>
        <p:spPr>
          <a:xfrm>
            <a:off x="533400" y="1695450"/>
            <a:ext cx="11125200" cy="40576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force-1-card"/>
          <p:cNvSpPr/>
          <p:nvPr/>
        </p:nvSpPr>
        <p:spPr>
          <a:xfrm>
            <a:off x="4857750" y="1695450"/>
            <a:ext cx="2476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force-1-accent"/>
          <p:cNvSpPr/>
          <p:nvPr/>
        </p:nvSpPr>
        <p:spPr>
          <a:xfrm>
            <a:off x="4857750" y="1695450"/>
            <a:ext cx="24765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force-1-name"/>
          <p:cNvSpPr txBox="1"/>
          <p:nvPr/>
        </p:nvSpPr>
        <p:spPr>
          <a:xfrm>
            <a:off x="4972050" y="17907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THREAT OF NEW ENTRANTS</a:t>
            </a:r>
          </a:p>
        </p:txBody>
      </p:sp>
      <p:sp>
        <p:nvSpPr>
          <p:cNvPr id="11" name="force-1-intensity"/>
          <p:cNvSpPr txBox="1"/>
          <p:nvPr/>
        </p:nvSpPr>
        <p:spPr>
          <a:xfrm>
            <a:off x="6477000" y="1790700"/>
            <a:ext cx="76200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97706"/>
                </a:solidFill>
                <a:latin typeface="Inter"/>
              </a:rPr>
              <a:t>MED-HIGH</a:t>
            </a:r>
          </a:p>
        </p:txBody>
      </p:sp>
      <p:sp>
        <p:nvSpPr>
          <p:cNvPr id="12" name="force-1-bullet-1-dot"/>
          <p:cNvSpPr/>
          <p:nvPr/>
        </p:nvSpPr>
        <p:spPr>
          <a:xfrm>
            <a:off x="4991100" y="20955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force-1-bullet-1"/>
          <p:cNvSpPr txBox="1"/>
          <p:nvPr/>
        </p:nvSpPr>
        <p:spPr>
          <a:xfrm>
            <a:off x="5067300" y="2038350"/>
            <a:ext cx="2190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Low barrier — anyone can build a Claude skill</a:t>
            </a:r>
          </a:p>
        </p:txBody>
      </p:sp>
      <p:sp>
        <p:nvSpPr>
          <p:cNvPr id="14" name="force-1-bullet-2-dot"/>
          <p:cNvSpPr/>
          <p:nvPr/>
        </p:nvSpPr>
        <p:spPr>
          <a:xfrm>
            <a:off x="4991100" y="23050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force-1-bullet-2"/>
          <p:cNvSpPr txBox="1"/>
          <p:nvPr/>
        </p:nvSpPr>
        <p:spPr>
          <a:xfrm>
            <a:off x="5067300" y="2247900"/>
            <a:ext cx="2190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Brand and proven outcomes are our moat</a:t>
            </a:r>
          </a:p>
        </p:txBody>
      </p:sp>
      <p:sp>
        <p:nvSpPr>
          <p:cNvPr id="16" name="force-2-card"/>
          <p:cNvSpPr/>
          <p:nvPr/>
        </p:nvSpPr>
        <p:spPr>
          <a:xfrm>
            <a:off x="9182100" y="3200400"/>
            <a:ext cx="2476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force-2-accent"/>
          <p:cNvSpPr/>
          <p:nvPr/>
        </p:nvSpPr>
        <p:spPr>
          <a:xfrm>
            <a:off x="9182100" y="3200400"/>
            <a:ext cx="24765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force-2-name"/>
          <p:cNvSpPr txBox="1"/>
          <p:nvPr/>
        </p:nvSpPr>
        <p:spPr>
          <a:xfrm>
            <a:off x="9296400" y="32956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POWER OF SUPPLIERS</a:t>
            </a:r>
          </a:p>
        </p:txBody>
      </p:sp>
      <p:sp>
        <p:nvSpPr>
          <p:cNvPr id="19" name="force-2-intensity"/>
          <p:cNvSpPr txBox="1"/>
          <p:nvPr/>
        </p:nvSpPr>
        <p:spPr>
          <a:xfrm>
            <a:off x="10801350" y="3295650"/>
            <a:ext cx="762000" cy="1714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HIGH</a:t>
            </a:r>
          </a:p>
        </p:txBody>
      </p:sp>
      <p:sp>
        <p:nvSpPr>
          <p:cNvPr id="20" name="force-2-bullet-1-dot"/>
          <p:cNvSpPr/>
          <p:nvPr/>
        </p:nvSpPr>
        <p:spPr>
          <a:xfrm>
            <a:off x="9315450" y="36004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force-2-bullet-1"/>
          <p:cNvSpPr txBox="1"/>
          <p:nvPr/>
        </p:nvSpPr>
        <p:spPr>
          <a:xfrm>
            <a:off x="9391650" y="3543300"/>
            <a:ext cx="2190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Claude API is the supplier — real switching cost</a:t>
            </a:r>
          </a:p>
        </p:txBody>
      </p:sp>
      <p:sp>
        <p:nvSpPr>
          <p:cNvPr id="22" name="force-2-bullet-2-dot"/>
          <p:cNvSpPr/>
          <p:nvPr/>
        </p:nvSpPr>
        <p:spPr>
          <a:xfrm>
            <a:off x="9315450" y="38100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force-2-bullet-2"/>
          <p:cNvSpPr txBox="1"/>
          <p:nvPr/>
        </p:nvSpPr>
        <p:spPr>
          <a:xfrm>
            <a:off x="9391650" y="3752850"/>
            <a:ext cx="2190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Pricing or rate-limit changes hit us directly</a:t>
            </a:r>
          </a:p>
        </p:txBody>
      </p:sp>
      <p:sp>
        <p:nvSpPr>
          <p:cNvPr id="24" name="force-2-bullet-3-dot"/>
          <p:cNvSpPr/>
          <p:nvPr/>
        </p:nvSpPr>
        <p:spPr>
          <a:xfrm>
            <a:off x="9315450" y="40195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force-2-bullet-3"/>
          <p:cNvSpPr txBox="1"/>
          <p:nvPr/>
        </p:nvSpPr>
        <p:spPr>
          <a:xfrm>
            <a:off x="9391650" y="3962400"/>
            <a:ext cx="2190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Model deprecation forces re-tuning</a:t>
            </a:r>
          </a:p>
        </p:txBody>
      </p:sp>
      <p:sp>
        <p:nvSpPr>
          <p:cNvPr id="26" name="force-3-card"/>
          <p:cNvSpPr/>
          <p:nvPr/>
        </p:nvSpPr>
        <p:spPr>
          <a:xfrm>
            <a:off x="4857750" y="4705350"/>
            <a:ext cx="2476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force-3-accent"/>
          <p:cNvSpPr/>
          <p:nvPr/>
        </p:nvSpPr>
        <p:spPr>
          <a:xfrm>
            <a:off x="4857750" y="4705350"/>
            <a:ext cx="24765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force-3-name"/>
          <p:cNvSpPr txBox="1"/>
          <p:nvPr/>
        </p:nvSpPr>
        <p:spPr>
          <a:xfrm>
            <a:off x="4972050" y="48006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THREAT OF SUBSTITUTES</a:t>
            </a:r>
          </a:p>
        </p:txBody>
      </p:sp>
      <p:sp>
        <p:nvSpPr>
          <p:cNvPr id="29" name="force-3-intensity"/>
          <p:cNvSpPr txBox="1"/>
          <p:nvPr/>
        </p:nvSpPr>
        <p:spPr>
          <a:xfrm>
            <a:off x="6477000" y="4800600"/>
            <a:ext cx="762000" cy="1714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HIGH</a:t>
            </a:r>
          </a:p>
        </p:txBody>
      </p:sp>
      <p:sp>
        <p:nvSpPr>
          <p:cNvPr id="30" name="force-3-bullet-1-dot"/>
          <p:cNvSpPr/>
          <p:nvPr/>
        </p:nvSpPr>
        <p:spPr>
          <a:xfrm>
            <a:off x="4991100" y="51054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force-3-bullet-1"/>
          <p:cNvSpPr txBox="1"/>
          <p:nvPr/>
        </p:nvSpPr>
        <p:spPr>
          <a:xfrm>
            <a:off x="5067300" y="5048250"/>
            <a:ext cx="2190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Generic GenAI tools good enough for many decks</a:t>
            </a:r>
          </a:p>
        </p:txBody>
      </p:sp>
      <p:sp>
        <p:nvSpPr>
          <p:cNvPr id="32" name="force-3-bullet-2-dot"/>
          <p:cNvSpPr/>
          <p:nvPr/>
        </p:nvSpPr>
        <p:spPr>
          <a:xfrm>
            <a:off x="4991100" y="53149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force-3-bullet-2"/>
          <p:cNvSpPr txBox="1"/>
          <p:nvPr/>
        </p:nvSpPr>
        <p:spPr>
          <a:xfrm>
            <a:off x="5067300" y="5257800"/>
            <a:ext cx="2190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In-house training and template libraries</a:t>
            </a:r>
          </a:p>
        </p:txBody>
      </p:sp>
      <p:sp>
        <p:nvSpPr>
          <p:cNvPr id="34" name="force-4-card"/>
          <p:cNvSpPr/>
          <p:nvPr/>
        </p:nvSpPr>
        <p:spPr>
          <a:xfrm>
            <a:off x="533400" y="3200400"/>
            <a:ext cx="2476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force-4-accent"/>
          <p:cNvSpPr/>
          <p:nvPr/>
        </p:nvSpPr>
        <p:spPr>
          <a:xfrm>
            <a:off x="533400" y="3200400"/>
            <a:ext cx="24765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force-4-name"/>
          <p:cNvSpPr txBox="1"/>
          <p:nvPr/>
        </p:nvSpPr>
        <p:spPr>
          <a:xfrm>
            <a:off x="647700" y="32956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POWER OF BUYERS</a:t>
            </a:r>
          </a:p>
        </p:txBody>
      </p:sp>
      <p:sp>
        <p:nvSpPr>
          <p:cNvPr id="37" name="force-4-intensity"/>
          <p:cNvSpPr txBox="1"/>
          <p:nvPr/>
        </p:nvSpPr>
        <p:spPr>
          <a:xfrm>
            <a:off x="2152650" y="3295650"/>
            <a:ext cx="76200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97706"/>
                </a:solidFill>
                <a:latin typeface="Inter"/>
              </a:rPr>
              <a:t>MED</a:t>
            </a:r>
          </a:p>
        </p:txBody>
      </p:sp>
      <p:sp>
        <p:nvSpPr>
          <p:cNvPr id="38" name="force-4-bullet-1-dot"/>
          <p:cNvSpPr/>
          <p:nvPr/>
        </p:nvSpPr>
        <p:spPr>
          <a:xfrm>
            <a:off x="666750" y="36004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force-4-bullet-1"/>
          <p:cNvSpPr txBox="1"/>
          <p:nvPr/>
        </p:nvSpPr>
        <p:spPr>
          <a:xfrm>
            <a:off x="742950" y="3543300"/>
            <a:ext cx="2190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Practice MDs hold the budget</a:t>
            </a:r>
          </a:p>
        </p:txBody>
      </p:sp>
      <p:sp>
        <p:nvSpPr>
          <p:cNvPr id="40" name="force-4-bullet-2-dot"/>
          <p:cNvSpPr/>
          <p:nvPr/>
        </p:nvSpPr>
        <p:spPr>
          <a:xfrm>
            <a:off x="666750" y="38100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force-4-bullet-2"/>
          <p:cNvSpPr txBox="1"/>
          <p:nvPr/>
        </p:nvSpPr>
        <p:spPr>
          <a:xfrm>
            <a:off x="742950" y="3752850"/>
            <a:ext cx="2190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Free internal alternatives lower willingness to pay</a:t>
            </a:r>
          </a:p>
        </p:txBody>
      </p:sp>
      <p:sp>
        <p:nvSpPr>
          <p:cNvPr id="42" name="force-4-bullet-3-dot"/>
          <p:cNvSpPr/>
          <p:nvPr/>
        </p:nvSpPr>
        <p:spPr>
          <a:xfrm>
            <a:off x="666750" y="40195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force-4-bullet-3"/>
          <p:cNvSpPr txBox="1"/>
          <p:nvPr/>
        </p:nvSpPr>
        <p:spPr>
          <a:xfrm>
            <a:off x="742950" y="3962400"/>
            <a:ext cx="2190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Adoption drops fast if value isn't visible</a:t>
            </a:r>
          </a:p>
        </p:txBody>
      </p:sp>
      <p:sp>
        <p:nvSpPr>
          <p:cNvPr id="44" name="force-5-card"/>
          <p:cNvSpPr/>
          <p:nvPr/>
        </p:nvSpPr>
        <p:spPr>
          <a:xfrm>
            <a:off x="4667250" y="3105150"/>
            <a:ext cx="2857500" cy="1238250"/>
          </a:xfrm>
          <a:prstGeom prst="rect">
            <a:avLst/>
          </a:prstGeom>
          <a:solidFill>
            <a:srgbClr val="2D0A4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force-5-accent"/>
          <p:cNvSpPr/>
          <p:nvPr/>
        </p:nvSpPr>
        <p:spPr>
          <a:xfrm>
            <a:off x="4667250" y="3105150"/>
            <a:ext cx="28575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force-5-name"/>
          <p:cNvSpPr txBox="1"/>
          <p:nvPr/>
        </p:nvSpPr>
        <p:spPr>
          <a:xfrm>
            <a:off x="4781550" y="3200400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INDUSTRY RIVALRY</a:t>
            </a:r>
          </a:p>
        </p:txBody>
      </p:sp>
      <p:sp>
        <p:nvSpPr>
          <p:cNvPr id="47" name="force-5-intensity"/>
          <p:cNvSpPr txBox="1"/>
          <p:nvPr/>
        </p:nvSpPr>
        <p:spPr>
          <a:xfrm>
            <a:off x="6667500" y="3200400"/>
            <a:ext cx="762000" cy="171450"/>
          </a:xfrm>
          <a:prstGeom prst="rect">
            <a:avLst/>
          </a:prstGeom>
          <a:solidFill>
            <a:srgbClr val="554010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D600"/>
                </a:solidFill>
                <a:latin typeface="Inter"/>
              </a:rPr>
              <a:t>MED</a:t>
            </a:r>
          </a:p>
        </p:txBody>
      </p:sp>
      <p:sp>
        <p:nvSpPr>
          <p:cNvPr id="48" name="force-5-bullet-1-dot"/>
          <p:cNvSpPr/>
          <p:nvPr/>
        </p:nvSpPr>
        <p:spPr>
          <a:xfrm>
            <a:off x="4800600" y="35052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force-5-bullet-1"/>
          <p:cNvSpPr txBox="1"/>
          <p:nvPr/>
        </p:nvSpPr>
        <p:spPr>
          <a:xfrm>
            <a:off x="4876800" y="3448050"/>
            <a:ext cx="2571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Training firms compete for the same deck-quality budget</a:t>
            </a:r>
          </a:p>
        </p:txBody>
      </p:sp>
      <p:sp>
        <p:nvSpPr>
          <p:cNvPr id="50" name="force-5-bullet-2-dot"/>
          <p:cNvSpPr/>
          <p:nvPr/>
        </p:nvSpPr>
        <p:spPr>
          <a:xfrm>
            <a:off x="4800600" y="37147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force-5-bullet-2"/>
          <p:cNvSpPr txBox="1"/>
          <p:nvPr/>
        </p:nvSpPr>
        <p:spPr>
          <a:xfrm>
            <a:off x="4876800" y="3657600"/>
            <a:ext cx="2571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Generic GenAI vendors expanding into consulting workflows</a:t>
            </a:r>
          </a:p>
        </p:txBody>
      </p:sp>
      <p:sp>
        <p:nvSpPr>
          <p:cNvPr id="52" name="force-5-bullet-3-dot"/>
          <p:cNvSpPr/>
          <p:nvPr/>
        </p:nvSpPr>
        <p:spPr>
          <a:xfrm>
            <a:off x="4800600" y="39243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force-5-bullet-3"/>
          <p:cNvSpPr txBox="1"/>
          <p:nvPr/>
        </p:nvSpPr>
        <p:spPr>
          <a:xfrm>
            <a:off x="4876800" y="3867150"/>
            <a:ext cx="2571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No clear incumbent yet — window is open but closing</a:t>
            </a:r>
          </a:p>
        </p:txBody>
      </p:sp>
      <p:sp>
        <p:nvSpPr>
          <p:cNvPr id="54" name="convergence-bg"/>
          <p:cNvSpPr/>
          <p:nvPr/>
        </p:nvSpPr>
        <p:spPr>
          <a:xfrm>
            <a:off x="609600" y="584835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onvergence"/>
          <p:cNvSpPr txBox="1"/>
          <p:nvPr/>
        </p:nvSpPr>
        <p:spPr>
          <a:xfrm>
            <a:off x="609600" y="584835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Two forces are high — substitutes and supplier power. Address them or lose share.</a:t>
            </a:r>
          </a:p>
        </p:txBody>
      </p:sp>
      <p:sp>
        <p:nvSpPr>
          <p:cNvPr id="57" name="footer-left"/>
          <p:cNvSpPr txBox="1"/>
          <p:nvPr/>
        </p:nvSpPr>
        <p:spPr>
          <a:xfrm>
            <a:off x="228600" y="66103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Inter"/>
              </a:rPr>
              <a:t>CONFIDENTIAL — ACCENTURE INTERNAL</a:t>
            </a:r>
          </a:p>
        </p:txBody>
      </p:sp>
      <p:sp>
        <p:nvSpPr>
          <p:cNvPr id="58" name="footer-right"/>
          <p:cNvSpPr txBox="1"/>
          <p:nvPr/>
        </p:nvSpPr>
        <p:spPr>
          <a:xfrm>
            <a:off x="10058400" y="6600825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Slide Lab · 2026 · 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