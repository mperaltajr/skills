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Four win themes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tied to evaluation criteria — each substantiated by verifiable proof points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Mapped to RFP evaluation criteria · Substantiated with verifiable client outcomes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2095500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heading"/>
          <p:cNvSpPr txBox="1"/>
          <p:nvPr/>
        </p:nvSpPr>
        <p:spPr>
          <a:xfrm>
            <a:off x="628650" y="2228850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Deep Industry Expertise</a:t>
            </a:r>
          </a:p>
        </p:txBody>
      </p:sp>
      <p:sp>
        <p:nvSpPr>
          <p:cNvPr id="8" name="card-1-eyebrow"/>
          <p:cNvSpPr txBox="1"/>
          <p:nvPr/>
        </p:nvSpPr>
        <p:spPr>
          <a:xfrm>
            <a:off x="628650" y="2438400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20+ years in financial services transformation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628650" y="2647950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Sector-specific accelerators pre-built for FS operating models
• Regulatory knowledge embedded across all workstreams
• Active reference client network in this segment</a:t>
            </a:r>
          </a:p>
        </p:txBody>
      </p:sp>
      <p:sp>
        <p:nvSpPr>
          <p:cNvPr id="10" name="card-1-footer-accent"/>
          <p:cNvSpPr/>
          <p:nvPr/>
        </p:nvSpPr>
        <p:spPr>
          <a:xfrm>
            <a:off x="628650" y="3781425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1-footer"/>
          <p:cNvSpPr txBox="1"/>
          <p:nvPr/>
        </p:nvSpPr>
        <p:spPr>
          <a:xfrm>
            <a:off x="742950" y="378142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Delivered 3 of the last 5 comparable programs in this sector</a:t>
            </a:r>
          </a:p>
        </p:txBody>
      </p:sp>
      <p:sp>
        <p:nvSpPr>
          <p:cNvPr id="12" name="card-2-bg"/>
          <p:cNvSpPr/>
          <p:nvPr/>
        </p:nvSpPr>
        <p:spPr>
          <a:xfrm>
            <a:off x="6162675" y="2095500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accent"/>
          <p:cNvSpPr/>
          <p:nvPr/>
        </p:nvSpPr>
        <p:spPr>
          <a:xfrm>
            <a:off x="6162675" y="2095500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heading"/>
          <p:cNvSpPr txBox="1"/>
          <p:nvPr/>
        </p:nvSpPr>
        <p:spPr>
          <a:xfrm>
            <a:off x="6334125" y="2228850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Proven AI-at-Scale</a:t>
            </a:r>
          </a:p>
        </p:txBody>
      </p:sp>
      <p:sp>
        <p:nvSpPr>
          <p:cNvPr id="15" name="card-2-eyebrow"/>
          <p:cNvSpPr txBox="1"/>
          <p:nvPr/>
        </p:nvSpPr>
        <p:spPr>
          <a:xfrm>
            <a:off x="6334125" y="2438400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From POC to production in &lt; 90 days</a:t>
            </a:r>
          </a:p>
        </p:txBody>
      </p:sp>
      <p:sp>
        <p:nvSpPr>
          <p:cNvPr id="16" name="card-2-body"/>
          <p:cNvSpPr txBox="1"/>
          <p:nvPr/>
        </p:nvSpPr>
        <p:spPr>
          <a:xfrm>
            <a:off x="6334125" y="2647950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Pre-built ML pipelines reduce integration time by design
• Dedicated MLOps practice with continuous monitoring
• 200+ models currently in production across clients</a:t>
            </a:r>
          </a:p>
        </p:txBody>
      </p:sp>
      <p:sp>
        <p:nvSpPr>
          <p:cNvPr id="17" name="card-2-footer-accent"/>
          <p:cNvSpPr/>
          <p:nvPr/>
        </p:nvSpPr>
        <p:spPr>
          <a:xfrm>
            <a:off x="6334125" y="3781425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2-footer"/>
          <p:cNvSpPr txBox="1"/>
          <p:nvPr/>
        </p:nvSpPr>
        <p:spPr>
          <a:xfrm>
            <a:off x="6448425" y="3781425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47% faster deployment than industry average</a:t>
            </a:r>
          </a:p>
        </p:txBody>
      </p:sp>
      <p:sp>
        <p:nvSpPr>
          <p:cNvPr id="19" name="card-3-bg"/>
          <p:cNvSpPr/>
          <p:nvPr/>
        </p:nvSpPr>
        <p:spPr>
          <a:xfrm>
            <a:off x="457200" y="4276725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accent"/>
          <p:cNvSpPr/>
          <p:nvPr/>
        </p:nvSpPr>
        <p:spPr>
          <a:xfrm>
            <a:off x="457200" y="4276725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3-heading"/>
          <p:cNvSpPr txBox="1"/>
          <p:nvPr/>
        </p:nvSpPr>
        <p:spPr>
          <a:xfrm>
            <a:off x="628650" y="4410075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People-First Change</a:t>
            </a:r>
          </a:p>
        </p:txBody>
      </p:sp>
      <p:sp>
        <p:nvSpPr>
          <p:cNvPr id="22" name="card-3-eyebrow"/>
          <p:cNvSpPr txBox="1"/>
          <p:nvPr/>
        </p:nvSpPr>
        <p:spPr>
          <a:xfrm>
            <a:off x="628650" y="4619625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Change management is core, not a workstream</a:t>
            </a:r>
          </a:p>
        </p:txBody>
      </p:sp>
      <p:sp>
        <p:nvSpPr>
          <p:cNvPr id="23" name="card-3-body"/>
          <p:cNvSpPr txBox="1"/>
          <p:nvPr/>
        </p:nvSpPr>
        <p:spPr>
          <a:xfrm>
            <a:off x="628650" y="4829175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PROSCI-certified practitioners on every engagement
• Embedded OCM from day one alongside technical delivery
• 95% end-user adoption rates measured at 90-day mark</a:t>
            </a:r>
          </a:p>
        </p:txBody>
      </p:sp>
      <p:sp>
        <p:nvSpPr>
          <p:cNvPr id="24" name="card-3-footer-accent"/>
          <p:cNvSpPr/>
          <p:nvPr/>
        </p:nvSpPr>
        <p:spPr>
          <a:xfrm>
            <a:off x="628650" y="59626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3-footer"/>
          <p:cNvSpPr txBox="1"/>
          <p:nvPr/>
        </p:nvSpPr>
        <p:spPr>
          <a:xfrm>
            <a:off x="742950" y="5962650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0 rollbacks in last 12 implementations</a:t>
            </a:r>
          </a:p>
        </p:txBody>
      </p:sp>
      <p:sp>
        <p:nvSpPr>
          <p:cNvPr id="26" name="card-4-bg"/>
          <p:cNvSpPr/>
          <p:nvPr/>
        </p:nvSpPr>
        <p:spPr>
          <a:xfrm>
            <a:off x="6162675" y="4276725"/>
            <a:ext cx="5572125" cy="20478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ard-4-accent"/>
          <p:cNvSpPr/>
          <p:nvPr/>
        </p:nvSpPr>
        <p:spPr>
          <a:xfrm>
            <a:off x="6162675" y="4276725"/>
            <a:ext cx="5572125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4-heading"/>
          <p:cNvSpPr txBox="1"/>
          <p:nvPr/>
        </p:nvSpPr>
        <p:spPr>
          <a:xfrm>
            <a:off x="6334125" y="4410075"/>
            <a:ext cx="5229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C780FF"/>
                </a:solidFill>
                <a:latin typeface="Inter"/>
              </a:rPr>
              <a:t>Commercial Flexibility</a:t>
            </a:r>
          </a:p>
        </p:txBody>
      </p:sp>
      <p:sp>
        <p:nvSpPr>
          <p:cNvPr id="29" name="card-4-eyebrow"/>
          <p:cNvSpPr txBox="1"/>
          <p:nvPr/>
        </p:nvSpPr>
        <p:spPr>
          <a:xfrm>
            <a:off x="6334125" y="4619625"/>
            <a:ext cx="52292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Risk-sharing model aligned to your outcomes</a:t>
            </a:r>
          </a:p>
        </p:txBody>
      </p:sp>
      <p:sp>
        <p:nvSpPr>
          <p:cNvPr id="30" name="card-4-body"/>
          <p:cNvSpPr txBox="1"/>
          <p:nvPr/>
        </p:nvSpPr>
        <p:spPr>
          <a:xfrm>
            <a:off x="6334125" y="4829175"/>
            <a:ext cx="5229225" cy="1000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Outcome-based fees tied to agreed success metrics
• Phased payment structure matching delivery milestones
• Gain-share provisions when targets are exceeded</a:t>
            </a:r>
          </a:p>
        </p:txBody>
      </p:sp>
      <p:sp>
        <p:nvSpPr>
          <p:cNvPr id="31" name="card-4-footer-accent"/>
          <p:cNvSpPr/>
          <p:nvPr/>
        </p:nvSpPr>
        <p:spPr>
          <a:xfrm>
            <a:off x="6334125" y="5962650"/>
            <a:ext cx="28575" cy="2667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4-footer"/>
          <p:cNvSpPr txBox="1"/>
          <p:nvPr/>
        </p:nvSpPr>
        <p:spPr>
          <a:xfrm>
            <a:off x="6448425" y="5962650"/>
            <a:ext cx="5095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Average client saves 18% vs. fixed-fee model</a:t>
            </a:r>
          </a:p>
        </p:txBody>
      </p:sp>
      <p:sp>
        <p:nvSpPr>
          <p:cNvPr id="3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