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left-panel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left-rule"/>
          <p:cNvSpPr/>
          <p:nvPr/>
        </p:nvSpPr>
        <p:spPr>
          <a:xfrm>
            <a:off x="457200" y="3429000"/>
            <a:ext cx="39624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over-tagline-label"/>
          <p:cNvSpPr txBox="1"/>
          <p:nvPr/>
        </p:nvSpPr>
        <p:spPr>
          <a:xfrm>
            <a:off x="457200" y="26670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STRATEGIC ADVISORY</a:t>
            </a:r>
          </a:p>
        </p:txBody>
      </p:sp>
      <p:sp>
        <p:nvSpPr>
          <p:cNvPr id="5" name="cover-tagline"/>
          <p:cNvSpPr txBox="1"/>
          <p:nvPr/>
        </p:nvSpPr>
        <p:spPr>
          <a:xfrm>
            <a:off x="457200" y="3048000"/>
            <a:ext cx="3962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FFFFFF"/>
                </a:solidFill>
                <a:latin typeface="Inter"/>
              </a:rPr>
              <a:t>Let there be change.</a:t>
            </a:r>
          </a:p>
        </p:txBody>
      </p:sp>
      <p:sp>
        <p:nvSpPr>
          <p:cNvPr id="6" name="cover-deck-title"/>
          <p:cNvSpPr txBox="1"/>
          <p:nvPr/>
        </p:nvSpPr>
        <p:spPr>
          <a:xfrm>
            <a:off x="5410200" y="2095500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Unlocking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Growth</a:t>
            </a:r>
            <a:r>
              <a:rPr sz="2400" b="1" i="0">
                <a:solidFill>
                  <a:srgbClr val="FFFFFF"/>
                </a:solidFill>
                <a:latin typeface="Inter"/>
              </a:rPr>
              <a:t>
Through Digital Reinvention</a:t>
            </a:r>
          </a:p>
        </p:txBody>
      </p:sp>
      <p:sp>
        <p:nvSpPr>
          <p:cNvPr id="7" name="cover-subtitle"/>
          <p:cNvSpPr txBox="1"/>
          <p:nvPr/>
        </p:nvSpPr>
        <p:spPr>
          <a:xfrm>
            <a:off x="5410200" y="3333750"/>
            <a:ext cx="4572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 strategic roadmap for accelerating value creation and building resilience in an AI-powered economy.</a:t>
            </a:r>
          </a:p>
        </p:txBody>
      </p:sp>
      <p:sp>
        <p:nvSpPr>
          <p:cNvPr id="8" name="cover-rule"/>
          <p:cNvSpPr/>
          <p:nvPr/>
        </p:nvSpPr>
        <p:spPr>
          <a:xfrm>
            <a:off x="5410200" y="38862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ver-meta-1"/>
          <p:cNvSpPr txBox="1"/>
          <p:nvPr/>
        </p:nvSpPr>
        <p:spPr>
          <a:xfrm>
            <a:off x="5410200" y="40957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Prepared for: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 [Client Name]</a:t>
            </a:r>
          </a:p>
        </p:txBody>
      </p:sp>
      <p:sp>
        <p:nvSpPr>
          <p:cNvPr id="10" name="cover-meta-2"/>
          <p:cNvSpPr txBox="1"/>
          <p:nvPr/>
        </p:nvSpPr>
        <p:spPr>
          <a:xfrm>
            <a:off x="5410200" y="43053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Date: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 May 2026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