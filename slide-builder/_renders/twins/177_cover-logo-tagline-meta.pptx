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-left-panel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cover-brand-name"/>
          <p:cNvSpPr txBox="1"/>
          <p:nvPr/>
        </p:nvSpPr>
        <p:spPr>
          <a:xfrm>
            <a:off x="457200" y="26670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FFFFFF"/>
                </a:solidFill>
                <a:latin typeface="Inter"/>
              </a:rPr>
              <a:t>ACCENTURE</a:t>
            </a:r>
          </a:p>
        </p:txBody>
      </p:sp>
      <p:sp>
        <p:nvSpPr>
          <p:cNvPr id="4" name="cover-tagline"/>
          <p:cNvSpPr txBox="1"/>
          <p:nvPr/>
        </p:nvSpPr>
        <p:spPr>
          <a:xfrm>
            <a:off x="457200" y="3048000"/>
            <a:ext cx="39624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0" i="1">
                <a:solidFill>
                  <a:srgbClr val="C780FF"/>
                </a:solidFill>
                <a:latin typeface="Inter"/>
              </a:rPr>
              <a:t>Let there be change.</a:t>
            </a:r>
          </a:p>
        </p:txBody>
      </p:sp>
      <p:sp>
        <p:nvSpPr>
          <p:cNvPr id="5" name="cover-left-rule"/>
          <p:cNvSpPr/>
          <p:nvPr/>
        </p:nvSpPr>
        <p:spPr>
          <a:xfrm>
            <a:off x="457200" y="3429000"/>
            <a:ext cx="3962400" cy="9525"/>
          </a:xfrm>
          <a:prstGeom prst="rect">
            <a:avLst/>
          </a:prstGeom>
          <a:solidFill>
            <a:srgbClr val="6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over-logo"/>
          <p:cNvSpPr/>
          <p:nvPr/>
        </p:nvSpPr>
        <p:spPr>
          <a:xfrm>
            <a:off x="10972800" y="304800"/>
            <a:ext cx="762000" cy="2857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over-logo-text"/>
          <p:cNvSpPr txBox="1"/>
          <p:nvPr/>
        </p:nvSpPr>
        <p:spPr>
          <a:xfrm>
            <a:off x="10972800" y="30480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B7280"/>
                </a:solidFill>
                <a:latin typeface="Inter"/>
              </a:rPr>
              <a:t>LOGO</a:t>
            </a:r>
          </a:p>
        </p:txBody>
      </p:sp>
      <p:sp>
        <p:nvSpPr>
          <p:cNvPr id="8" name="cover-deck-title"/>
          <p:cNvSpPr txBox="1"/>
          <p:nvPr/>
        </p:nvSpPr>
        <p:spPr>
          <a:xfrm>
            <a:off x="5410200" y="2095500"/>
            <a:ext cx="4572000" cy="1143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2D0A4E"/>
                </a:solidFill>
                <a:latin typeface="Inter"/>
              </a:rPr>
              <a:t>Unlocking </a:t>
            </a:r>
            <a:r>
              <a:rPr sz="2400" b="1" i="0">
                <a:solidFill>
                  <a:srgbClr val="A100FF"/>
                </a:solidFill>
                <a:latin typeface="Inter"/>
              </a:rPr>
              <a:t>Growth</a:t>
            </a:r>
            <a:r>
              <a:rPr sz="2400" b="1" i="0">
                <a:solidFill>
                  <a:srgbClr val="2D0A4E"/>
                </a:solidFill>
                <a:latin typeface="Inter"/>
              </a:rPr>
              <a:t>
Through Digital Reinvention</a:t>
            </a:r>
          </a:p>
        </p:txBody>
      </p:sp>
      <p:sp>
        <p:nvSpPr>
          <p:cNvPr id="9" name="cover-subtitle"/>
          <p:cNvSpPr txBox="1"/>
          <p:nvPr/>
        </p:nvSpPr>
        <p:spPr>
          <a:xfrm>
            <a:off x="5410200" y="3333750"/>
            <a:ext cx="45720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 strategic roadmap for accelerating value creation and building resilience in an AI-powered economy.</a:t>
            </a:r>
          </a:p>
        </p:txBody>
      </p:sp>
      <p:sp>
        <p:nvSpPr>
          <p:cNvPr id="10" name="cover-rule"/>
          <p:cNvSpPr/>
          <p:nvPr/>
        </p:nvSpPr>
        <p:spPr>
          <a:xfrm>
            <a:off x="5410200" y="38862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over-meta-1"/>
          <p:cNvSpPr txBox="1"/>
          <p:nvPr/>
        </p:nvSpPr>
        <p:spPr>
          <a:xfrm>
            <a:off x="5410200" y="4095750"/>
            <a:ext cx="457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Prepared for:</a:t>
            </a:r>
            <a:r>
              <a:rPr sz="1050" b="0" i="0">
                <a:solidFill>
                  <a:srgbClr val="64748B"/>
                </a:solidFill>
                <a:latin typeface="Inter"/>
              </a:rPr>
              <a:t>  [Client Name]</a:t>
            </a:r>
          </a:p>
        </p:txBody>
      </p:sp>
      <p:sp>
        <p:nvSpPr>
          <p:cNvPr id="12" name="cover-meta-2"/>
          <p:cNvSpPr txBox="1"/>
          <p:nvPr/>
        </p:nvSpPr>
        <p:spPr>
          <a:xfrm>
            <a:off x="5410200" y="4305300"/>
            <a:ext cx="457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Date:</a:t>
            </a:r>
            <a:r>
              <a:rPr sz="1050" b="0" i="0">
                <a:solidFill>
                  <a:srgbClr val="64748B"/>
                </a:solidFill>
                <a:latin typeface="Inter"/>
              </a:rPr>
              <a:t>  May 2026</a:t>
            </a:r>
          </a:p>
        </p:txBody>
      </p:sp>
      <p:sp>
        <p:nvSpPr>
          <p:cNvPr id="13" name="cover-meta-3"/>
          <p:cNvSpPr txBox="1"/>
          <p:nvPr/>
        </p:nvSpPr>
        <p:spPr>
          <a:xfrm>
            <a:off x="5410200" y="4514850"/>
            <a:ext cx="457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Classification:</a:t>
            </a:r>
            <a:r>
              <a:rPr sz="1050" b="0" i="0">
                <a:solidFill>
                  <a:srgbClr val="64748B"/>
                </a:solidFill>
                <a:latin typeface="Inter"/>
              </a:rPr>
              <a:t>  Confidential</a:t>
            </a:r>
          </a:p>
        </p:txBody>
      </p:sp>
      <p:sp>
        <p:nvSpPr>
          <p:cNvPr id="1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