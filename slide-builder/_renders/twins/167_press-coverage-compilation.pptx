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Media Coverage &amp;amp;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Press Highlights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Curated press mentions, analyst coverage, and earned media — reporting period [Month YYYY]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bg"/>
          <p:cNvSpPr/>
          <p:nvPr/>
        </p:nvSpPr>
        <p:spPr>
          <a:xfrm>
            <a:off x="457200" y="1485900"/>
            <a:ext cx="3657600" cy="2305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accent"/>
          <p:cNvSpPr/>
          <p:nvPr/>
        </p:nvSpPr>
        <p:spPr>
          <a:xfrm>
            <a:off x="457200" y="1485900"/>
            <a:ext cx="28575" cy="2305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outlet"/>
          <p:cNvSpPr txBox="1"/>
          <p:nvPr/>
        </p:nvSpPr>
        <p:spPr>
          <a:xfrm>
            <a:off x="590550" y="16192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PUBLICATION NAME</a:t>
            </a:r>
          </a:p>
        </p:txBody>
      </p:sp>
      <p:sp>
        <p:nvSpPr>
          <p:cNvPr id="8" name="card-1-logo"/>
          <p:cNvSpPr/>
          <p:nvPr/>
        </p:nvSpPr>
        <p:spPr>
          <a:xfrm>
            <a:off x="3524250" y="1600200"/>
            <a:ext cx="457200" cy="190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ard-1-heading"/>
          <p:cNvSpPr txBox="1"/>
          <p:nvPr/>
        </p:nvSpPr>
        <p:spPr>
          <a:xfrm>
            <a:off x="590550" y="1828800"/>
            <a:ext cx="3390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Article Headline Goes Here: Major Announcement Drives Sector Attention</a:t>
            </a:r>
          </a:p>
        </p:txBody>
      </p:sp>
      <p:sp>
        <p:nvSpPr>
          <p:cNvPr id="10" name="card-1-body"/>
          <p:cNvSpPr txBox="1"/>
          <p:nvPr/>
        </p:nvSpPr>
        <p:spPr>
          <a:xfrm>
            <a:off x="590550" y="2247900"/>
            <a:ext cx="3390900" cy="1257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"Pull quote from the article that captures the key message or analyst perspective in one or two lines."</a:t>
            </a:r>
          </a:p>
        </p:txBody>
      </p:sp>
      <p:sp>
        <p:nvSpPr>
          <p:cNvPr id="11" name="card-1-footer"/>
          <p:cNvSpPr txBox="1"/>
          <p:nvPr/>
        </p:nvSpPr>
        <p:spPr>
          <a:xfrm>
            <a:off x="590550" y="3581400"/>
            <a:ext cx="3390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DD MON YYYY</a:t>
            </a:r>
          </a:p>
        </p:txBody>
      </p:sp>
      <p:sp>
        <p:nvSpPr>
          <p:cNvPr id="12" name="card-2-bg"/>
          <p:cNvSpPr/>
          <p:nvPr/>
        </p:nvSpPr>
        <p:spPr>
          <a:xfrm>
            <a:off x="4267200" y="1485900"/>
            <a:ext cx="3657600" cy="2305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ard-2-accent"/>
          <p:cNvSpPr/>
          <p:nvPr/>
        </p:nvSpPr>
        <p:spPr>
          <a:xfrm>
            <a:off x="4267200" y="1485900"/>
            <a:ext cx="28575" cy="2305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2-outlet"/>
          <p:cNvSpPr txBox="1"/>
          <p:nvPr/>
        </p:nvSpPr>
        <p:spPr>
          <a:xfrm>
            <a:off x="4400550" y="16192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PUBLICATION NAME</a:t>
            </a:r>
          </a:p>
        </p:txBody>
      </p:sp>
      <p:sp>
        <p:nvSpPr>
          <p:cNvPr id="15" name="card-2-logo"/>
          <p:cNvSpPr/>
          <p:nvPr/>
        </p:nvSpPr>
        <p:spPr>
          <a:xfrm>
            <a:off x="7334250" y="1600200"/>
            <a:ext cx="457200" cy="190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ard-2-heading"/>
          <p:cNvSpPr txBox="1"/>
          <p:nvPr/>
        </p:nvSpPr>
        <p:spPr>
          <a:xfrm>
            <a:off x="4400550" y="1828800"/>
            <a:ext cx="3390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Second Coverage Piece: Industry Recognition and Strategic Partnership</a:t>
            </a:r>
          </a:p>
        </p:txBody>
      </p:sp>
      <p:sp>
        <p:nvSpPr>
          <p:cNvPr id="17" name="card-2-body"/>
          <p:cNvSpPr txBox="1"/>
          <p:nvPr/>
        </p:nvSpPr>
        <p:spPr>
          <a:xfrm>
            <a:off x="4400550" y="2247900"/>
            <a:ext cx="3390900" cy="1257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"Supporting quote demonstrating positive sentiment or endorsement from the outlet or cited expert."</a:t>
            </a:r>
          </a:p>
        </p:txBody>
      </p:sp>
      <p:sp>
        <p:nvSpPr>
          <p:cNvPr id="18" name="card-2-footer"/>
          <p:cNvSpPr txBox="1"/>
          <p:nvPr/>
        </p:nvSpPr>
        <p:spPr>
          <a:xfrm>
            <a:off x="4400550" y="3581400"/>
            <a:ext cx="3390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DD MON YYYY</a:t>
            </a:r>
          </a:p>
        </p:txBody>
      </p:sp>
      <p:sp>
        <p:nvSpPr>
          <p:cNvPr id="19" name="card-3-bg"/>
          <p:cNvSpPr/>
          <p:nvPr/>
        </p:nvSpPr>
        <p:spPr>
          <a:xfrm>
            <a:off x="8077200" y="1485900"/>
            <a:ext cx="3657600" cy="2305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ard-3-accent"/>
          <p:cNvSpPr/>
          <p:nvPr/>
        </p:nvSpPr>
        <p:spPr>
          <a:xfrm>
            <a:off x="8077200" y="1485900"/>
            <a:ext cx="28575" cy="2305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ard-3-outlet"/>
          <p:cNvSpPr txBox="1"/>
          <p:nvPr/>
        </p:nvSpPr>
        <p:spPr>
          <a:xfrm>
            <a:off x="8210550" y="16192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PUBLICATION NAME</a:t>
            </a:r>
          </a:p>
        </p:txBody>
      </p:sp>
      <p:sp>
        <p:nvSpPr>
          <p:cNvPr id="22" name="card-3-logo"/>
          <p:cNvSpPr/>
          <p:nvPr/>
        </p:nvSpPr>
        <p:spPr>
          <a:xfrm>
            <a:off x="11144250" y="1600200"/>
            <a:ext cx="457200" cy="190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ard-3-heading"/>
          <p:cNvSpPr txBox="1"/>
          <p:nvPr/>
        </p:nvSpPr>
        <p:spPr>
          <a:xfrm>
            <a:off x="8210550" y="1828800"/>
            <a:ext cx="3390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Third Headline: Thought Leadership Feature in Top-Tier Outlet</a:t>
            </a:r>
          </a:p>
        </p:txBody>
      </p:sp>
      <p:sp>
        <p:nvSpPr>
          <p:cNvPr id="24" name="card-3-body"/>
          <p:cNvSpPr txBox="1"/>
          <p:nvPr/>
        </p:nvSpPr>
        <p:spPr>
          <a:xfrm>
            <a:off x="8210550" y="2247900"/>
            <a:ext cx="3390900" cy="1257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"Representative excerpt that highlights the editorial framing or independent validation of the narrative."</a:t>
            </a:r>
          </a:p>
        </p:txBody>
      </p:sp>
      <p:sp>
        <p:nvSpPr>
          <p:cNvPr id="25" name="card-3-footer"/>
          <p:cNvSpPr txBox="1"/>
          <p:nvPr/>
        </p:nvSpPr>
        <p:spPr>
          <a:xfrm>
            <a:off x="8210550" y="3581400"/>
            <a:ext cx="3390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DD MON YYYY</a:t>
            </a:r>
          </a:p>
        </p:txBody>
      </p:sp>
      <p:sp>
        <p:nvSpPr>
          <p:cNvPr id="26" name="card-4-bg"/>
          <p:cNvSpPr/>
          <p:nvPr/>
        </p:nvSpPr>
        <p:spPr>
          <a:xfrm>
            <a:off x="457200" y="3943350"/>
            <a:ext cx="3657600" cy="2305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ard-4-accent"/>
          <p:cNvSpPr/>
          <p:nvPr/>
        </p:nvSpPr>
        <p:spPr>
          <a:xfrm>
            <a:off x="457200" y="3943350"/>
            <a:ext cx="28575" cy="2305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ard-4-outlet"/>
          <p:cNvSpPr txBox="1"/>
          <p:nvPr/>
        </p:nvSpPr>
        <p:spPr>
          <a:xfrm>
            <a:off x="590550" y="407670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PUBLICATION NAME</a:t>
            </a:r>
          </a:p>
        </p:txBody>
      </p:sp>
      <p:sp>
        <p:nvSpPr>
          <p:cNvPr id="29" name="card-4-logo"/>
          <p:cNvSpPr/>
          <p:nvPr/>
        </p:nvSpPr>
        <p:spPr>
          <a:xfrm>
            <a:off x="3524250" y="4057650"/>
            <a:ext cx="457200" cy="190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ard-4-heading"/>
          <p:cNvSpPr txBox="1"/>
          <p:nvPr/>
        </p:nvSpPr>
        <p:spPr>
          <a:xfrm>
            <a:off x="590550" y="4286250"/>
            <a:ext cx="3390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Fourth Story: Client Outcome and Market Impact Covered Broadly</a:t>
            </a:r>
          </a:p>
        </p:txBody>
      </p:sp>
      <p:sp>
        <p:nvSpPr>
          <p:cNvPr id="31" name="card-4-body"/>
          <p:cNvSpPr txBox="1"/>
          <p:nvPr/>
        </p:nvSpPr>
        <p:spPr>
          <a:xfrm>
            <a:off x="590550" y="4705350"/>
            <a:ext cx="3390900" cy="1257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"Quote reinforcing credibility or quantified impact as cited in the original coverage piece."</a:t>
            </a:r>
          </a:p>
        </p:txBody>
      </p:sp>
      <p:sp>
        <p:nvSpPr>
          <p:cNvPr id="32" name="card-4-footer"/>
          <p:cNvSpPr txBox="1"/>
          <p:nvPr/>
        </p:nvSpPr>
        <p:spPr>
          <a:xfrm>
            <a:off x="590550" y="6038850"/>
            <a:ext cx="3390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DD MON YYYY</a:t>
            </a:r>
          </a:p>
        </p:txBody>
      </p:sp>
      <p:sp>
        <p:nvSpPr>
          <p:cNvPr id="33" name="card-5-bg"/>
          <p:cNvSpPr/>
          <p:nvPr/>
        </p:nvSpPr>
        <p:spPr>
          <a:xfrm>
            <a:off x="4267200" y="3943350"/>
            <a:ext cx="3657600" cy="2305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ard-5-accent"/>
          <p:cNvSpPr/>
          <p:nvPr/>
        </p:nvSpPr>
        <p:spPr>
          <a:xfrm>
            <a:off x="4267200" y="3943350"/>
            <a:ext cx="28575" cy="2305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ard-5-outlet"/>
          <p:cNvSpPr txBox="1"/>
          <p:nvPr/>
        </p:nvSpPr>
        <p:spPr>
          <a:xfrm>
            <a:off x="4400550" y="407670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PUBLICATION NAME</a:t>
            </a:r>
          </a:p>
        </p:txBody>
      </p:sp>
      <p:sp>
        <p:nvSpPr>
          <p:cNvPr id="36" name="card-5-logo"/>
          <p:cNvSpPr/>
          <p:nvPr/>
        </p:nvSpPr>
        <p:spPr>
          <a:xfrm>
            <a:off x="7334250" y="4057650"/>
            <a:ext cx="457200" cy="190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ard-5-heading"/>
          <p:cNvSpPr txBox="1"/>
          <p:nvPr/>
        </p:nvSpPr>
        <p:spPr>
          <a:xfrm>
            <a:off x="4400550" y="4286250"/>
            <a:ext cx="3390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Fifth Article: Executive Perspective Shapes Industry Conversation</a:t>
            </a:r>
          </a:p>
        </p:txBody>
      </p:sp>
      <p:sp>
        <p:nvSpPr>
          <p:cNvPr id="38" name="card-5-body"/>
          <p:cNvSpPr txBox="1"/>
          <p:nvPr/>
        </p:nvSpPr>
        <p:spPr>
          <a:xfrm>
            <a:off x="4400550" y="4705350"/>
            <a:ext cx="3390900" cy="1257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"Notable pull quote reflecting executive positioning or contributed viewpoint referenced by the outlet."</a:t>
            </a:r>
          </a:p>
        </p:txBody>
      </p:sp>
      <p:sp>
        <p:nvSpPr>
          <p:cNvPr id="39" name="card-5-footer"/>
          <p:cNvSpPr txBox="1"/>
          <p:nvPr/>
        </p:nvSpPr>
        <p:spPr>
          <a:xfrm>
            <a:off x="4400550" y="6038850"/>
            <a:ext cx="3390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DD MON YYYY</a:t>
            </a:r>
          </a:p>
        </p:txBody>
      </p:sp>
      <p:sp>
        <p:nvSpPr>
          <p:cNvPr id="40" name="card-6-bg"/>
          <p:cNvSpPr/>
          <p:nvPr/>
        </p:nvSpPr>
        <p:spPr>
          <a:xfrm>
            <a:off x="8077200" y="3943350"/>
            <a:ext cx="3657600" cy="2305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card-6-accent"/>
          <p:cNvSpPr/>
          <p:nvPr/>
        </p:nvSpPr>
        <p:spPr>
          <a:xfrm>
            <a:off x="8077200" y="3943350"/>
            <a:ext cx="28575" cy="2305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ard-6-outlet"/>
          <p:cNvSpPr txBox="1"/>
          <p:nvPr/>
        </p:nvSpPr>
        <p:spPr>
          <a:xfrm>
            <a:off x="8210550" y="407670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PUBLICATION NAME</a:t>
            </a:r>
          </a:p>
        </p:txBody>
      </p:sp>
      <p:sp>
        <p:nvSpPr>
          <p:cNvPr id="43" name="card-6-logo"/>
          <p:cNvSpPr/>
          <p:nvPr/>
        </p:nvSpPr>
        <p:spPr>
          <a:xfrm>
            <a:off x="11144250" y="4057650"/>
            <a:ext cx="457200" cy="190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ard-6-heading"/>
          <p:cNvSpPr txBox="1"/>
          <p:nvPr/>
        </p:nvSpPr>
        <p:spPr>
          <a:xfrm>
            <a:off x="8210550" y="4286250"/>
            <a:ext cx="3390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Sixth Coverage Item: Innovation Story Earns Analyst Spotlight</a:t>
            </a:r>
          </a:p>
        </p:txBody>
      </p:sp>
      <p:sp>
        <p:nvSpPr>
          <p:cNvPr id="45" name="card-6-body"/>
          <p:cNvSpPr txBox="1"/>
          <p:nvPr/>
        </p:nvSpPr>
        <p:spPr>
          <a:xfrm>
            <a:off x="8210550" y="4705350"/>
            <a:ext cx="3390900" cy="1257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"Closing quote that underscores differentiated positioning or relevance to the target audience."</a:t>
            </a:r>
          </a:p>
        </p:txBody>
      </p:sp>
      <p:sp>
        <p:nvSpPr>
          <p:cNvPr id="46" name="card-6-footer"/>
          <p:cNvSpPr txBox="1"/>
          <p:nvPr/>
        </p:nvSpPr>
        <p:spPr>
          <a:xfrm>
            <a:off x="8210550" y="6038850"/>
            <a:ext cx="3390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DD MON YYYY</a:t>
            </a:r>
          </a:p>
        </p:txBody>
      </p:sp>
      <p:sp>
        <p:nvSpPr>
          <p:cNvPr id="4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