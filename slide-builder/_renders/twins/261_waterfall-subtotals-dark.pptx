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FY25→FY26 Revenue Bridge: </a:t>
            </a:r>
            <a:r>
              <a:rPr sz="1650" b="1" i="0">
                <a:solidFill>
                  <a:srgbClr val="C780FF"/>
                </a:solidFill>
                <a:latin typeface="Inter"/>
              </a:rPr>
              <a:t>$90M Net Growth</a:t>
            </a:r>
          </a:p>
        </p:txBody>
      </p:sp>
      <p:sp>
        <p:nvSpPr>
          <p:cNvPr id="3" name="subhead"/>
          <p:cNvSpPr txBox="1"/>
          <p:nvPr/>
        </p:nvSpPr>
        <p:spPr>
          <a:xfrm>
            <a:off x="457200" y="1028700"/>
            <a:ext cx="8572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Waterfall decomposition of drivers — volume &amp; price gains offset FX and churn headwinds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7620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1-swatch"/>
          <p:cNvSpPr/>
          <p:nvPr/>
        </p:nvSpPr>
        <p:spPr>
          <a:xfrm>
            <a:off x="7543800" y="2228850"/>
            <a:ext cx="95250" cy="952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1-label"/>
          <p:cNvSpPr txBox="1"/>
          <p:nvPr/>
        </p:nvSpPr>
        <p:spPr>
          <a:xfrm>
            <a:off x="7677150" y="2190750"/>
            <a:ext cx="914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Growth driver</a:t>
            </a:r>
          </a:p>
        </p:txBody>
      </p:sp>
      <p:sp>
        <p:nvSpPr>
          <p:cNvPr id="7" name="legend-2-swatch"/>
          <p:cNvSpPr/>
          <p:nvPr/>
        </p:nvSpPr>
        <p:spPr>
          <a:xfrm>
            <a:off x="8591550" y="2228850"/>
            <a:ext cx="95250" cy="9525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2-label"/>
          <p:cNvSpPr txBox="1"/>
          <p:nvPr/>
        </p:nvSpPr>
        <p:spPr>
          <a:xfrm>
            <a:off x="8724900" y="2190750"/>
            <a:ext cx="723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Headwind</a:t>
            </a:r>
          </a:p>
        </p:txBody>
      </p:sp>
      <p:sp>
        <p:nvSpPr>
          <p:cNvPr id="9" name="legend-3-swatch"/>
          <p:cNvSpPr/>
          <p:nvPr/>
        </p:nvSpPr>
        <p:spPr>
          <a:xfrm>
            <a:off x="9448800" y="2228850"/>
            <a:ext cx="95250" cy="95250"/>
          </a:xfrm>
          <a:prstGeom prst="rect">
            <a:avLst/>
          </a:prstGeom>
          <a:solidFill>
            <a:srgbClr val="C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3-label"/>
          <p:cNvSpPr txBox="1"/>
          <p:nvPr/>
        </p:nvSpPr>
        <p:spPr>
          <a:xfrm>
            <a:off x="9582150" y="2190750"/>
            <a:ext cx="723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Subtotal</a:t>
            </a:r>
          </a:p>
        </p:txBody>
      </p:sp>
      <p:sp>
        <p:nvSpPr>
          <p:cNvPr id="11" name="legend-4-swatch"/>
          <p:cNvSpPr/>
          <p:nvPr/>
        </p:nvSpPr>
        <p:spPr>
          <a:xfrm>
            <a:off x="10306050" y="2228850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legend-4-label"/>
          <p:cNvSpPr txBox="1"/>
          <p:nvPr/>
        </p:nvSpPr>
        <p:spPr>
          <a:xfrm>
            <a:off x="10439400" y="2190750"/>
            <a:ext cx="10096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Total / Actual</a:t>
            </a:r>
          </a:p>
        </p:txBody>
      </p:sp>
      <p:sp>
        <p:nvSpPr>
          <p:cNvPr id="14" name="bar-1"/>
          <p:cNvSpPr/>
          <p:nvPr/>
        </p:nvSpPr>
        <p:spPr>
          <a:xfrm>
            <a:off x="1219200" y="3724275"/>
            <a:ext cx="533400" cy="20955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bar-1-label"/>
          <p:cNvSpPr txBox="1"/>
          <p:nvPr/>
        </p:nvSpPr>
        <p:spPr>
          <a:xfrm>
            <a:off x="1028700" y="3543300"/>
            <a:ext cx="914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$480M</a:t>
            </a:r>
          </a:p>
        </p:txBody>
      </p:sp>
      <p:sp>
        <p:nvSpPr>
          <p:cNvPr id="16" name="bar-1-xlabel"/>
          <p:cNvSpPr txBox="1"/>
          <p:nvPr/>
        </p:nvSpPr>
        <p:spPr>
          <a:xfrm>
            <a:off x="1066800" y="5857875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FY25</a:t>
            </a:r>
          </a:p>
        </p:txBody>
      </p:sp>
      <p:sp>
        <p:nvSpPr>
          <p:cNvPr id="17" name="bar-2"/>
          <p:cNvSpPr/>
          <p:nvPr/>
        </p:nvSpPr>
        <p:spPr>
          <a:xfrm>
            <a:off x="1924050" y="3352800"/>
            <a:ext cx="533400" cy="3619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bar-2-label"/>
          <p:cNvSpPr txBox="1"/>
          <p:nvPr/>
        </p:nvSpPr>
        <p:spPr>
          <a:xfrm>
            <a:off x="1733550" y="3171825"/>
            <a:ext cx="914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8D391"/>
                </a:solidFill>
                <a:latin typeface="Inter"/>
              </a:rPr>
              <a:t>+$85M</a:t>
            </a:r>
          </a:p>
        </p:txBody>
      </p:sp>
      <p:sp>
        <p:nvSpPr>
          <p:cNvPr id="19" name="bar-2-xlabel"/>
          <p:cNvSpPr txBox="1"/>
          <p:nvPr/>
        </p:nvSpPr>
        <p:spPr>
          <a:xfrm>
            <a:off x="1771650" y="5857875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Volume</a:t>
            </a:r>
          </a:p>
        </p:txBody>
      </p:sp>
      <p:sp>
        <p:nvSpPr>
          <p:cNvPr id="20" name="bar-3"/>
          <p:cNvSpPr/>
          <p:nvPr/>
        </p:nvSpPr>
        <p:spPr>
          <a:xfrm>
            <a:off x="2628900" y="3171825"/>
            <a:ext cx="533400" cy="17145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bar-3-label"/>
          <p:cNvSpPr txBox="1"/>
          <p:nvPr/>
        </p:nvSpPr>
        <p:spPr>
          <a:xfrm>
            <a:off x="2438400" y="3000375"/>
            <a:ext cx="914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8D391"/>
                </a:solidFill>
                <a:latin typeface="Inter"/>
              </a:rPr>
              <a:t>+$42M</a:t>
            </a:r>
          </a:p>
        </p:txBody>
      </p:sp>
      <p:sp>
        <p:nvSpPr>
          <p:cNvPr id="22" name="bar-3-xlabel"/>
          <p:cNvSpPr txBox="1"/>
          <p:nvPr/>
        </p:nvSpPr>
        <p:spPr>
          <a:xfrm>
            <a:off x="2476500" y="5857875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Price</a:t>
            </a:r>
          </a:p>
        </p:txBody>
      </p:sp>
      <p:sp>
        <p:nvSpPr>
          <p:cNvPr id="23" name="bar-4"/>
          <p:cNvSpPr/>
          <p:nvPr/>
        </p:nvSpPr>
        <p:spPr>
          <a:xfrm>
            <a:off x="3333750" y="3048000"/>
            <a:ext cx="533400" cy="123825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bar-4-label"/>
          <p:cNvSpPr txBox="1"/>
          <p:nvPr/>
        </p:nvSpPr>
        <p:spPr>
          <a:xfrm>
            <a:off x="3143250" y="2867025"/>
            <a:ext cx="914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8D391"/>
                </a:solidFill>
                <a:latin typeface="Inter"/>
              </a:rPr>
              <a:t>+$28M</a:t>
            </a:r>
          </a:p>
        </p:txBody>
      </p:sp>
      <p:sp>
        <p:nvSpPr>
          <p:cNvPr id="25" name="bar-4-xlabel"/>
          <p:cNvSpPr txBox="1"/>
          <p:nvPr/>
        </p:nvSpPr>
        <p:spPr>
          <a:xfrm>
            <a:off x="3181350" y="5857875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New Mkt</a:t>
            </a:r>
          </a:p>
        </p:txBody>
      </p:sp>
      <p:sp>
        <p:nvSpPr>
          <p:cNvPr id="26" name="bar-5"/>
          <p:cNvSpPr/>
          <p:nvPr/>
        </p:nvSpPr>
        <p:spPr>
          <a:xfrm>
            <a:off x="4038600" y="3048000"/>
            <a:ext cx="533400" cy="2762250"/>
          </a:xfrm>
          <a:prstGeom prst="rect">
            <a:avLst/>
          </a:prstGeom>
          <a:solidFill>
            <a:srgbClr val="C0B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bar-5-label"/>
          <p:cNvSpPr txBox="1"/>
          <p:nvPr/>
        </p:nvSpPr>
        <p:spPr>
          <a:xfrm>
            <a:off x="3848100" y="2867025"/>
            <a:ext cx="914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$635M</a:t>
            </a:r>
          </a:p>
        </p:txBody>
      </p:sp>
      <p:sp>
        <p:nvSpPr>
          <p:cNvPr id="28" name="bar-5-xlabel"/>
          <p:cNvSpPr txBox="1"/>
          <p:nvPr/>
        </p:nvSpPr>
        <p:spPr>
          <a:xfrm>
            <a:off x="3886200" y="5857875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H1 Sub</a:t>
            </a:r>
          </a:p>
        </p:txBody>
      </p:sp>
      <p:sp>
        <p:nvSpPr>
          <p:cNvPr id="29" name="bar-6"/>
          <p:cNvSpPr/>
          <p:nvPr/>
        </p:nvSpPr>
        <p:spPr>
          <a:xfrm>
            <a:off x="4743450" y="3048000"/>
            <a:ext cx="533400" cy="142875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bar-6-label"/>
          <p:cNvSpPr txBox="1"/>
          <p:nvPr/>
        </p:nvSpPr>
        <p:spPr>
          <a:xfrm>
            <a:off x="4552950" y="3181350"/>
            <a:ext cx="914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8181"/>
                </a:solidFill>
                <a:latin typeface="Inter"/>
              </a:rPr>
              <a:t>-$34M</a:t>
            </a:r>
          </a:p>
        </p:txBody>
      </p:sp>
      <p:sp>
        <p:nvSpPr>
          <p:cNvPr id="31" name="bar-6-xlabel"/>
          <p:cNvSpPr txBox="1"/>
          <p:nvPr/>
        </p:nvSpPr>
        <p:spPr>
          <a:xfrm>
            <a:off x="4591050" y="5857875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FX</a:t>
            </a:r>
          </a:p>
        </p:txBody>
      </p:sp>
      <p:sp>
        <p:nvSpPr>
          <p:cNvPr id="32" name="bar-7"/>
          <p:cNvSpPr/>
          <p:nvPr/>
        </p:nvSpPr>
        <p:spPr>
          <a:xfrm>
            <a:off x="5448300" y="3190875"/>
            <a:ext cx="533400" cy="762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bar-7-label"/>
          <p:cNvSpPr txBox="1"/>
          <p:nvPr/>
        </p:nvSpPr>
        <p:spPr>
          <a:xfrm>
            <a:off x="5257800" y="3267075"/>
            <a:ext cx="914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8181"/>
                </a:solidFill>
                <a:latin typeface="Inter"/>
              </a:rPr>
              <a:t>-$19M</a:t>
            </a:r>
          </a:p>
        </p:txBody>
      </p:sp>
      <p:sp>
        <p:nvSpPr>
          <p:cNvPr id="34" name="bar-7-xlabel"/>
          <p:cNvSpPr txBox="1"/>
          <p:nvPr/>
        </p:nvSpPr>
        <p:spPr>
          <a:xfrm>
            <a:off x="5295900" y="5857875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Cost</a:t>
            </a:r>
          </a:p>
        </p:txBody>
      </p:sp>
      <p:sp>
        <p:nvSpPr>
          <p:cNvPr id="35" name="bar-8"/>
          <p:cNvSpPr/>
          <p:nvPr/>
        </p:nvSpPr>
        <p:spPr>
          <a:xfrm>
            <a:off x="6153150" y="3276600"/>
            <a:ext cx="533400" cy="47625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bar-8-label"/>
          <p:cNvSpPr txBox="1"/>
          <p:nvPr/>
        </p:nvSpPr>
        <p:spPr>
          <a:xfrm>
            <a:off x="5962650" y="3324225"/>
            <a:ext cx="914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8181"/>
                </a:solidFill>
                <a:latin typeface="Inter"/>
              </a:rPr>
              <a:t>-$12M</a:t>
            </a:r>
          </a:p>
        </p:txBody>
      </p:sp>
      <p:sp>
        <p:nvSpPr>
          <p:cNvPr id="37" name="bar-8-xlabel"/>
          <p:cNvSpPr txBox="1"/>
          <p:nvPr/>
        </p:nvSpPr>
        <p:spPr>
          <a:xfrm>
            <a:off x="6000750" y="5857875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Churn</a:t>
            </a:r>
          </a:p>
        </p:txBody>
      </p:sp>
      <p:sp>
        <p:nvSpPr>
          <p:cNvPr id="38" name="bar-9"/>
          <p:cNvSpPr/>
          <p:nvPr/>
        </p:nvSpPr>
        <p:spPr>
          <a:xfrm>
            <a:off x="6858000" y="3333750"/>
            <a:ext cx="533400" cy="24860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bar-9-label"/>
          <p:cNvSpPr txBox="1"/>
          <p:nvPr/>
        </p:nvSpPr>
        <p:spPr>
          <a:xfrm>
            <a:off x="6667500" y="3152775"/>
            <a:ext cx="914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$570M</a:t>
            </a:r>
          </a:p>
        </p:txBody>
      </p:sp>
      <p:sp>
        <p:nvSpPr>
          <p:cNvPr id="40" name="bar-9-xlabel"/>
          <p:cNvSpPr txBox="1"/>
          <p:nvPr/>
        </p:nvSpPr>
        <p:spPr>
          <a:xfrm>
            <a:off x="6705600" y="5857875"/>
            <a:ext cx="838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FY26</a:t>
            </a:r>
          </a:p>
        </p:txBody>
      </p:sp>
      <p:sp>
        <p:nvSpPr>
          <p:cNvPr id="41" name="chart-y-label"/>
          <p:cNvSpPr txBox="1"/>
          <p:nvPr/>
        </p:nvSpPr>
        <p:spPr>
          <a:xfrm>
            <a:off x="457200" y="2590800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Revenue ($M)</a:t>
            </a:r>
          </a:p>
        </p:txBody>
      </p:sp>
      <p:sp>
        <p:nvSpPr>
          <p:cNvPr id="42" name="net-callout-bg"/>
          <p:cNvSpPr/>
          <p:nvPr/>
        </p:nvSpPr>
        <p:spPr>
          <a:xfrm>
            <a:off x="7924800" y="2476500"/>
            <a:ext cx="3810000" cy="904875"/>
          </a:xfrm>
          <a:prstGeom prst="rect">
            <a:avLst/>
          </a:prstGeom>
          <a:solidFill>
            <a:srgbClr val="521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net-callout-label"/>
          <p:cNvSpPr txBox="1"/>
          <p:nvPr/>
        </p:nvSpPr>
        <p:spPr>
          <a:xfrm>
            <a:off x="8058150" y="2571750"/>
            <a:ext cx="3543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NET REVENUE CHANGE</a:t>
            </a:r>
          </a:p>
        </p:txBody>
      </p:sp>
      <p:sp>
        <p:nvSpPr>
          <p:cNvPr id="44" name="net-callout-value"/>
          <p:cNvSpPr txBox="1"/>
          <p:nvPr/>
        </p:nvSpPr>
        <p:spPr>
          <a:xfrm>
            <a:off x="8058150" y="2724150"/>
            <a:ext cx="35433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+$90M</a:t>
            </a:r>
          </a:p>
        </p:txBody>
      </p:sp>
      <p:sp>
        <p:nvSpPr>
          <p:cNvPr id="45" name="net-callout-desc"/>
          <p:cNvSpPr txBox="1"/>
          <p:nvPr/>
        </p:nvSpPr>
        <p:spPr>
          <a:xfrm>
            <a:off x="8058150" y="3028950"/>
            <a:ext cx="3543300" cy="2952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$155M tailwinds (volume, price, new markets) offset $65M headwinds (FX, cost, churn) = net +$90M.</a:t>
            </a:r>
          </a:p>
        </p:txBody>
      </p:sp>
      <p:sp>
        <p:nvSpPr>
          <p:cNvPr id="46" name="insight-1-bg"/>
          <p:cNvSpPr/>
          <p:nvPr/>
        </p:nvSpPr>
        <p:spPr>
          <a:xfrm>
            <a:off x="7924800" y="3476625"/>
            <a:ext cx="3810000" cy="904875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insight-1-label"/>
          <p:cNvSpPr txBox="1"/>
          <p:nvPr/>
        </p:nvSpPr>
        <p:spPr>
          <a:xfrm>
            <a:off x="8058150" y="3571875"/>
            <a:ext cx="3543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GROWTH DRIVERS</a:t>
            </a:r>
          </a:p>
        </p:txBody>
      </p:sp>
      <p:sp>
        <p:nvSpPr>
          <p:cNvPr id="48" name="insight-1-title"/>
          <p:cNvSpPr txBox="1"/>
          <p:nvPr/>
        </p:nvSpPr>
        <p:spPr>
          <a:xfrm>
            <a:off x="8058150" y="3743325"/>
            <a:ext cx="35433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Volume &amp; price = 82% of tailwinds</a:t>
            </a:r>
          </a:p>
        </p:txBody>
      </p:sp>
      <p:sp>
        <p:nvSpPr>
          <p:cNvPr id="49" name="insight-1-body"/>
          <p:cNvSpPr txBox="1"/>
          <p:nvPr/>
        </p:nvSpPr>
        <p:spPr>
          <a:xfrm>
            <a:off x="8058150" y="3952875"/>
            <a:ext cx="3543300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Volume ($85M) and price ($42M) are the primary levers. New Markets +$28M tracking ahead of plan.</a:t>
            </a:r>
          </a:p>
        </p:txBody>
      </p:sp>
      <p:sp>
        <p:nvSpPr>
          <p:cNvPr id="50" name="insight-2-bg"/>
          <p:cNvSpPr/>
          <p:nvPr/>
        </p:nvSpPr>
        <p:spPr>
          <a:xfrm>
            <a:off x="7924800" y="4476750"/>
            <a:ext cx="3810000" cy="904875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insight-2-label"/>
          <p:cNvSpPr txBox="1"/>
          <p:nvPr/>
        </p:nvSpPr>
        <p:spPr>
          <a:xfrm>
            <a:off x="8058150" y="4572000"/>
            <a:ext cx="3543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HEADWIND EXPOSURE</a:t>
            </a:r>
          </a:p>
        </p:txBody>
      </p:sp>
      <p:sp>
        <p:nvSpPr>
          <p:cNvPr id="52" name="insight-2-title"/>
          <p:cNvSpPr txBox="1"/>
          <p:nvPr/>
        </p:nvSpPr>
        <p:spPr>
          <a:xfrm>
            <a:off x="8058150" y="4743450"/>
            <a:ext cx="35433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FX = 52% of downside risk</a:t>
            </a:r>
          </a:p>
        </p:txBody>
      </p:sp>
      <p:sp>
        <p:nvSpPr>
          <p:cNvPr id="53" name="insight-2-body"/>
          <p:cNvSpPr txBox="1"/>
          <p:nvPr/>
        </p:nvSpPr>
        <p:spPr>
          <a:xfrm>
            <a:off x="8058150" y="4953000"/>
            <a:ext cx="3543300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$34M FX headwind is the largest drag. Cost pass-through ($19M) and churn ($12M) manageable.</a:t>
            </a:r>
          </a:p>
        </p:txBody>
      </p:sp>
      <p:sp>
        <p:nvSpPr>
          <p:cNvPr id="54" name="insight-3-bg"/>
          <p:cNvSpPr/>
          <p:nvPr/>
        </p:nvSpPr>
        <p:spPr>
          <a:xfrm>
            <a:off x="7924800" y="5476875"/>
            <a:ext cx="3810000" cy="904875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insight-3-label"/>
          <p:cNvSpPr txBox="1"/>
          <p:nvPr/>
        </p:nvSpPr>
        <p:spPr>
          <a:xfrm>
            <a:off x="8058150" y="5572125"/>
            <a:ext cx="3543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FY26 OUTLOOK</a:t>
            </a:r>
          </a:p>
        </p:txBody>
      </p:sp>
      <p:sp>
        <p:nvSpPr>
          <p:cNvPr id="56" name="insight-3-title"/>
          <p:cNvSpPr txBox="1"/>
          <p:nvPr/>
        </p:nvSpPr>
        <p:spPr>
          <a:xfrm>
            <a:off x="8058150" y="5743575"/>
            <a:ext cx="35433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$570M actual; momentum sustained</a:t>
            </a:r>
          </a:p>
        </p:txBody>
      </p:sp>
      <p:sp>
        <p:nvSpPr>
          <p:cNvPr id="57" name="insight-3-body"/>
          <p:cNvSpPr txBox="1"/>
          <p:nvPr/>
        </p:nvSpPr>
        <p:spPr>
          <a:xfrm>
            <a:off x="8058150" y="5953125"/>
            <a:ext cx="3543300" cy="371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H1 Subtotal $635M exceeded target ~3%. Upside scenario reaches $590-600M with FX normalisation.</a:t>
            </a:r>
          </a:p>
        </p:txBody>
      </p:sp>
      <p:sp>
        <p:nvSpPr>
          <p:cNvPr id="5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261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