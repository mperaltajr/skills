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Seven Pillars of </a:t>
            </a:r>
            <a:r>
              <a:rPr sz="2100" b="1" i="0">
                <a:solidFill>
                  <a:srgbClr val="C780FF"/>
                </a:solidFill>
                <a:latin typeface="Inter"/>
              </a:rPr>
              <a:t>Transformation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Strategic priorities mapped across the full programme lifecycle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hero-card"/>
          <p:cNvSpPr/>
          <p:nvPr/>
        </p:nvSpPr>
        <p:spPr>
          <a:xfrm>
            <a:off x="457200" y="1905000"/>
            <a:ext cx="4000500" cy="4514850"/>
          </a:xfrm>
          <a:prstGeom prst="rect">
            <a:avLst/>
          </a:prstGeom>
          <a:solidFill>
            <a:srgbClr val="3C1F5C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hero-top"/>
          <p:cNvSpPr/>
          <p:nvPr/>
        </p:nvSpPr>
        <p:spPr>
          <a:xfrm>
            <a:off x="457200" y="1905000"/>
            <a:ext cx="40005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hero-label"/>
          <p:cNvSpPr txBox="1"/>
          <p:nvPr/>
        </p:nvSpPr>
        <p:spPr>
          <a:xfrm>
            <a:off x="666750" y="2095500"/>
            <a:ext cx="3581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PRIMARY · 01</a:t>
            </a:r>
          </a:p>
        </p:txBody>
      </p:sp>
      <p:sp>
        <p:nvSpPr>
          <p:cNvPr id="8" name="hero-title"/>
          <p:cNvSpPr txBox="1"/>
          <p:nvPr/>
        </p:nvSpPr>
        <p:spPr>
          <a:xfrm>
            <a:off x="666750" y="2343150"/>
            <a:ext cx="35814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75" b="1" i="0">
                <a:solidFill>
                  <a:srgbClr val="FFFFFF"/>
                </a:solidFill>
                <a:latin typeface="Inter"/>
              </a:rPr>
              <a:t>Executive Alignment &amp; Sponsorship</a:t>
            </a:r>
          </a:p>
        </p:txBody>
      </p:sp>
      <p:sp>
        <p:nvSpPr>
          <p:cNvPr id="9" name="hero-rule"/>
          <p:cNvSpPr/>
          <p:nvPr/>
        </p:nvSpPr>
        <p:spPr>
          <a:xfrm>
            <a:off x="666750" y="312420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hero-desc"/>
          <p:cNvSpPr txBox="1"/>
          <p:nvPr/>
        </p:nvSpPr>
        <p:spPr>
          <a:xfrm>
            <a:off x="666750" y="3295650"/>
            <a:ext cx="358140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Sustained C-suite commitment is the single strongest predictor of programme success. Establish a governance cadence that surfaces blockers before they become escalations.</a:t>
            </a:r>
          </a:p>
        </p:txBody>
      </p:sp>
      <p:sp>
        <p:nvSpPr>
          <p:cNvPr id="11" name="hero-metric"/>
          <p:cNvSpPr txBox="1"/>
          <p:nvPr/>
        </p:nvSpPr>
        <p:spPr>
          <a:xfrm>
            <a:off x="666750" y="5181600"/>
            <a:ext cx="35814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900" b="1" i="0">
                <a:solidFill>
                  <a:srgbClr val="C780FF"/>
                </a:solidFill>
                <a:latin typeface="Inter"/>
              </a:rPr>
              <a:t>87%</a:t>
            </a:r>
          </a:p>
        </p:txBody>
      </p:sp>
      <p:sp>
        <p:nvSpPr>
          <p:cNvPr id="12" name="hero-metric-label"/>
          <p:cNvSpPr txBox="1"/>
          <p:nvPr/>
        </p:nvSpPr>
        <p:spPr>
          <a:xfrm>
            <a:off x="666750" y="5886450"/>
            <a:ext cx="3581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of stalled programmes cite misaligned sponsorship</a:t>
            </a:r>
          </a:p>
        </p:txBody>
      </p:sp>
      <p:sp>
        <p:nvSpPr>
          <p:cNvPr id="13" name="bucket-2-card"/>
          <p:cNvSpPr/>
          <p:nvPr/>
        </p:nvSpPr>
        <p:spPr>
          <a:xfrm>
            <a:off x="4610100" y="1905000"/>
            <a:ext cx="2295525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bucket-2-top"/>
          <p:cNvSpPr/>
          <p:nvPr/>
        </p:nvSpPr>
        <p:spPr>
          <a:xfrm>
            <a:off x="4610100" y="1905000"/>
            <a:ext cx="229552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bucket-2-num"/>
          <p:cNvSpPr txBox="1"/>
          <p:nvPr/>
        </p:nvSpPr>
        <p:spPr>
          <a:xfrm>
            <a:off x="4724400" y="20002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6" name="bucket-2-title"/>
          <p:cNvSpPr txBox="1"/>
          <p:nvPr/>
        </p:nvSpPr>
        <p:spPr>
          <a:xfrm>
            <a:off x="4724400" y="2171700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Operating Model Design</a:t>
            </a:r>
          </a:p>
        </p:txBody>
      </p:sp>
      <p:sp>
        <p:nvSpPr>
          <p:cNvPr id="17" name="bucket-2-bullet-1"/>
          <p:cNvSpPr txBox="1"/>
          <p:nvPr/>
        </p:nvSpPr>
        <p:spPr>
          <a:xfrm>
            <a:off x="4724400" y="2419350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Define target-state org structure and spans</a:t>
            </a:r>
          </a:p>
        </p:txBody>
      </p:sp>
      <p:sp>
        <p:nvSpPr>
          <p:cNvPr id="18" name="bucket-2-bullet-2"/>
          <p:cNvSpPr txBox="1"/>
          <p:nvPr/>
        </p:nvSpPr>
        <p:spPr>
          <a:xfrm>
            <a:off x="4724400" y="2628900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Align roles to value-stream accountabilities</a:t>
            </a:r>
          </a:p>
        </p:txBody>
      </p:sp>
      <p:sp>
        <p:nvSpPr>
          <p:cNvPr id="19" name="bucket-3-card"/>
          <p:cNvSpPr/>
          <p:nvPr/>
        </p:nvSpPr>
        <p:spPr>
          <a:xfrm>
            <a:off x="7019925" y="1905000"/>
            <a:ext cx="2295525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bucket-3-top"/>
          <p:cNvSpPr/>
          <p:nvPr/>
        </p:nvSpPr>
        <p:spPr>
          <a:xfrm>
            <a:off x="7019925" y="1905000"/>
            <a:ext cx="229552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bucket-3-num"/>
          <p:cNvSpPr txBox="1"/>
          <p:nvPr/>
        </p:nvSpPr>
        <p:spPr>
          <a:xfrm>
            <a:off x="7134225" y="20002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22" name="bucket-3-title"/>
          <p:cNvSpPr txBox="1"/>
          <p:nvPr/>
        </p:nvSpPr>
        <p:spPr>
          <a:xfrm>
            <a:off x="7134225" y="2171700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&amp; Analytics Foundation</a:t>
            </a:r>
          </a:p>
        </p:txBody>
      </p:sp>
      <p:sp>
        <p:nvSpPr>
          <p:cNvPr id="23" name="bucket-3-bullet-1"/>
          <p:cNvSpPr txBox="1"/>
          <p:nvPr/>
        </p:nvSpPr>
        <p:spPr>
          <a:xfrm>
            <a:off x="7134225" y="2419350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Establish single source of truth for KPIs</a:t>
            </a:r>
          </a:p>
        </p:txBody>
      </p:sp>
      <p:sp>
        <p:nvSpPr>
          <p:cNvPr id="24" name="bucket-3-bullet-2"/>
          <p:cNvSpPr txBox="1"/>
          <p:nvPr/>
        </p:nvSpPr>
        <p:spPr>
          <a:xfrm>
            <a:off x="7134225" y="2628900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Govern data quality at ingestion layer</a:t>
            </a:r>
          </a:p>
        </p:txBody>
      </p:sp>
      <p:sp>
        <p:nvSpPr>
          <p:cNvPr id="25" name="bucket-4-card"/>
          <p:cNvSpPr/>
          <p:nvPr/>
        </p:nvSpPr>
        <p:spPr>
          <a:xfrm>
            <a:off x="9429750" y="1905000"/>
            <a:ext cx="2295525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bucket-4-top"/>
          <p:cNvSpPr/>
          <p:nvPr/>
        </p:nvSpPr>
        <p:spPr>
          <a:xfrm>
            <a:off x="9429750" y="1905000"/>
            <a:ext cx="229552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bucket-4-num"/>
          <p:cNvSpPr txBox="1"/>
          <p:nvPr/>
        </p:nvSpPr>
        <p:spPr>
          <a:xfrm>
            <a:off x="9544050" y="20002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28" name="bucket-4-title"/>
          <p:cNvSpPr txBox="1"/>
          <p:nvPr/>
        </p:nvSpPr>
        <p:spPr>
          <a:xfrm>
            <a:off x="9544050" y="2171700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Technology Enablement</a:t>
            </a:r>
          </a:p>
        </p:txBody>
      </p:sp>
      <p:sp>
        <p:nvSpPr>
          <p:cNvPr id="29" name="bucket-4-bullet-1"/>
          <p:cNvSpPr txBox="1"/>
          <p:nvPr/>
        </p:nvSpPr>
        <p:spPr>
          <a:xfrm>
            <a:off x="9544050" y="2419350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Retire shadow systems blocking adoption</a:t>
            </a:r>
          </a:p>
        </p:txBody>
      </p:sp>
      <p:sp>
        <p:nvSpPr>
          <p:cNvPr id="30" name="bucket-4-bullet-2"/>
          <p:cNvSpPr txBox="1"/>
          <p:nvPr/>
        </p:nvSpPr>
        <p:spPr>
          <a:xfrm>
            <a:off x="9544050" y="2628900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Phase cloud migration to de-risk cutover</a:t>
            </a:r>
          </a:p>
        </p:txBody>
      </p:sp>
      <p:sp>
        <p:nvSpPr>
          <p:cNvPr id="31" name="bucket-5-card"/>
          <p:cNvSpPr/>
          <p:nvPr/>
        </p:nvSpPr>
        <p:spPr>
          <a:xfrm>
            <a:off x="4610100" y="4219575"/>
            <a:ext cx="2295525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bucket-5-top"/>
          <p:cNvSpPr/>
          <p:nvPr/>
        </p:nvSpPr>
        <p:spPr>
          <a:xfrm>
            <a:off x="4610100" y="4219575"/>
            <a:ext cx="229552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bucket-5-num"/>
          <p:cNvSpPr txBox="1"/>
          <p:nvPr/>
        </p:nvSpPr>
        <p:spPr>
          <a:xfrm>
            <a:off x="4724400" y="43148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05</a:t>
            </a:r>
          </a:p>
        </p:txBody>
      </p:sp>
      <p:sp>
        <p:nvSpPr>
          <p:cNvPr id="34" name="bucket-5-title"/>
          <p:cNvSpPr txBox="1"/>
          <p:nvPr/>
        </p:nvSpPr>
        <p:spPr>
          <a:xfrm>
            <a:off x="4724400" y="4486275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Change &amp; Capability Build</a:t>
            </a:r>
          </a:p>
        </p:txBody>
      </p:sp>
      <p:sp>
        <p:nvSpPr>
          <p:cNvPr id="35" name="bucket-5-bullet-1"/>
          <p:cNvSpPr txBox="1"/>
          <p:nvPr/>
        </p:nvSpPr>
        <p:spPr>
          <a:xfrm>
            <a:off x="4724400" y="4733925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Run impact assessments per stakeholder cohort</a:t>
            </a:r>
          </a:p>
        </p:txBody>
      </p:sp>
      <p:sp>
        <p:nvSpPr>
          <p:cNvPr id="36" name="bucket-5-bullet-2"/>
          <p:cNvSpPr txBox="1"/>
          <p:nvPr/>
        </p:nvSpPr>
        <p:spPr>
          <a:xfrm>
            <a:off x="4724400" y="4943475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Embed learning in the flow of work</a:t>
            </a:r>
          </a:p>
        </p:txBody>
      </p:sp>
      <p:sp>
        <p:nvSpPr>
          <p:cNvPr id="37" name="bucket-6-card"/>
          <p:cNvSpPr/>
          <p:nvPr/>
        </p:nvSpPr>
        <p:spPr>
          <a:xfrm>
            <a:off x="7019925" y="4219575"/>
            <a:ext cx="2295525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bucket-6-top"/>
          <p:cNvSpPr/>
          <p:nvPr/>
        </p:nvSpPr>
        <p:spPr>
          <a:xfrm>
            <a:off x="7019925" y="4219575"/>
            <a:ext cx="229552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bucket-6-num"/>
          <p:cNvSpPr txBox="1"/>
          <p:nvPr/>
        </p:nvSpPr>
        <p:spPr>
          <a:xfrm>
            <a:off x="7134225" y="43148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06</a:t>
            </a:r>
          </a:p>
        </p:txBody>
      </p:sp>
      <p:sp>
        <p:nvSpPr>
          <p:cNvPr id="40" name="bucket-6-title"/>
          <p:cNvSpPr txBox="1"/>
          <p:nvPr/>
        </p:nvSpPr>
        <p:spPr>
          <a:xfrm>
            <a:off x="7134225" y="4486275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Value Realisation Tracking</a:t>
            </a:r>
          </a:p>
        </p:txBody>
      </p:sp>
      <p:sp>
        <p:nvSpPr>
          <p:cNvPr id="41" name="bucket-6-bullet-1"/>
          <p:cNvSpPr txBox="1"/>
          <p:nvPr/>
        </p:nvSpPr>
        <p:spPr>
          <a:xfrm>
            <a:off x="7134225" y="4733925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Link milestones to measurable business outcomes</a:t>
            </a:r>
          </a:p>
        </p:txBody>
      </p:sp>
      <p:sp>
        <p:nvSpPr>
          <p:cNvPr id="42" name="bucket-6-bullet-2"/>
          <p:cNvSpPr txBox="1"/>
          <p:nvPr/>
        </p:nvSpPr>
        <p:spPr>
          <a:xfrm>
            <a:off x="7134225" y="4943475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Monthly benefit harvest reviews with CFO office</a:t>
            </a:r>
          </a:p>
        </p:txBody>
      </p:sp>
      <p:sp>
        <p:nvSpPr>
          <p:cNvPr id="43" name="bucket-7-card"/>
          <p:cNvSpPr/>
          <p:nvPr/>
        </p:nvSpPr>
        <p:spPr>
          <a:xfrm>
            <a:off x="9429750" y="4219575"/>
            <a:ext cx="2295525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bucket-7-top"/>
          <p:cNvSpPr/>
          <p:nvPr/>
        </p:nvSpPr>
        <p:spPr>
          <a:xfrm>
            <a:off x="9429750" y="4219575"/>
            <a:ext cx="2295525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bucket-7-num"/>
          <p:cNvSpPr txBox="1"/>
          <p:nvPr/>
        </p:nvSpPr>
        <p:spPr>
          <a:xfrm>
            <a:off x="9544050" y="4314825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07</a:t>
            </a:r>
          </a:p>
        </p:txBody>
      </p:sp>
      <p:sp>
        <p:nvSpPr>
          <p:cNvPr id="46" name="bucket-7-title"/>
          <p:cNvSpPr txBox="1"/>
          <p:nvPr/>
        </p:nvSpPr>
        <p:spPr>
          <a:xfrm>
            <a:off x="9544050" y="4486275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Continuous Improvement</a:t>
            </a:r>
          </a:p>
        </p:txBody>
      </p:sp>
      <p:sp>
        <p:nvSpPr>
          <p:cNvPr id="47" name="bucket-7-bullet-1"/>
          <p:cNvSpPr txBox="1"/>
          <p:nvPr/>
        </p:nvSpPr>
        <p:spPr>
          <a:xfrm>
            <a:off x="9544050" y="4733925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Formalise retrospective loop post each phase</a:t>
            </a:r>
          </a:p>
        </p:txBody>
      </p:sp>
      <p:sp>
        <p:nvSpPr>
          <p:cNvPr id="48" name="bucket-7-bullet-2"/>
          <p:cNvSpPr txBox="1"/>
          <p:nvPr/>
        </p:nvSpPr>
        <p:spPr>
          <a:xfrm>
            <a:off x="9544050" y="4943475"/>
            <a:ext cx="20669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Capture and broadcast what good looks like</a:t>
            </a:r>
          </a:p>
        </p:txBody>
      </p:sp>
      <p:sp>
        <p:nvSpPr>
          <p:cNvPr id="4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