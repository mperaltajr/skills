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Market share by segment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Enterprise and Government lead, SMB is the white space.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Share vs. competitor across four addressable segments · FY2026 actuals · bubble size = total market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ours-swatch"/>
          <p:cNvSpPr/>
          <p:nvPr/>
        </p:nvSpPr>
        <p:spPr>
          <a:xfrm>
            <a:off x="9525000" y="2257425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ours-label"/>
          <p:cNvSpPr txBox="1"/>
          <p:nvPr/>
        </p:nvSpPr>
        <p:spPr>
          <a:xfrm>
            <a:off x="9677400" y="220980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Ours</a:t>
            </a:r>
          </a:p>
        </p:txBody>
      </p:sp>
      <p:sp>
        <p:nvSpPr>
          <p:cNvPr id="7" name="legend-comp-swatch"/>
          <p:cNvSpPr/>
          <p:nvPr/>
        </p:nvSpPr>
        <p:spPr>
          <a:xfrm>
            <a:off x="10382250" y="2257425"/>
            <a:ext cx="95250" cy="952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comp-label"/>
          <p:cNvSpPr txBox="1"/>
          <p:nvPr/>
        </p:nvSpPr>
        <p:spPr>
          <a:xfrm>
            <a:off x="10534650" y="22098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Competitor</a:t>
            </a:r>
          </a:p>
        </p:txBody>
      </p:sp>
      <p:sp>
        <p:nvSpPr>
          <p:cNvPr id="9" name="donut-card-1"/>
          <p:cNvSpPr/>
          <p:nvPr/>
        </p:nvSpPr>
        <p:spPr>
          <a:xfrm>
            <a:off x="457200" y="2552700"/>
            <a:ext cx="27051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donut-track-1"/>
          <p:cNvSpPr/>
          <p:nvPr/>
        </p:nvSpPr>
        <p:spPr>
          <a:xfrm>
            <a:off x="1400175" y="2647950"/>
            <a:ext cx="819150" cy="819150"/>
          </a:xfrm>
          <a:prstGeom prst="ellipse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donut-our-1"/>
          <p:cNvSpPr/>
          <p:nvPr/>
        </p:nvSpPr>
        <p:spPr>
          <a:xfrm>
            <a:off x="1400175" y="2647950"/>
            <a:ext cx="819150" cy="819150"/>
          </a:xfrm>
          <a:prstGeom prst="pi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donut-hole-1"/>
          <p:cNvSpPr/>
          <p:nvPr/>
        </p:nvSpPr>
        <p:spPr>
          <a:xfrm>
            <a:off x="1543050" y="2790825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enter-pct-1"/>
          <p:cNvSpPr txBox="1"/>
          <p:nvPr/>
        </p:nvSpPr>
        <p:spPr>
          <a:xfrm>
            <a:off x="1400175" y="2924175"/>
            <a:ext cx="819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34%</a:t>
            </a:r>
          </a:p>
        </p:txBody>
      </p:sp>
      <p:sp>
        <p:nvSpPr>
          <p:cNvPr id="14" name="donut-segment-label-1"/>
          <p:cNvSpPr txBox="1"/>
          <p:nvPr/>
        </p:nvSpPr>
        <p:spPr>
          <a:xfrm>
            <a:off x="457200" y="3581400"/>
            <a:ext cx="2705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OUR SHARE</a:t>
            </a:r>
          </a:p>
        </p:txBody>
      </p:sp>
      <p:sp>
        <p:nvSpPr>
          <p:cNvPr id="15" name="seg-name-1"/>
          <p:cNvSpPr txBox="1"/>
          <p:nvPr/>
        </p:nvSpPr>
        <p:spPr>
          <a:xfrm>
            <a:off x="457200" y="3752850"/>
            <a:ext cx="2705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Enterprise ↑</a:t>
            </a:r>
          </a:p>
        </p:txBody>
      </p:sp>
      <p:sp>
        <p:nvSpPr>
          <p:cNvPr id="16" name="seg-size-1"/>
          <p:cNvSpPr txBox="1"/>
          <p:nvPr/>
        </p:nvSpPr>
        <p:spPr>
          <a:xfrm>
            <a:off x="457200" y="3981450"/>
            <a:ext cx="2705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$4.2B total market</a:t>
            </a:r>
          </a:p>
        </p:txBody>
      </p:sp>
      <p:sp>
        <p:nvSpPr>
          <p:cNvPr id="17" name="donut-card-2"/>
          <p:cNvSpPr/>
          <p:nvPr/>
        </p:nvSpPr>
        <p:spPr>
          <a:xfrm>
            <a:off x="3314700" y="2552700"/>
            <a:ext cx="27051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donut-track-2"/>
          <p:cNvSpPr/>
          <p:nvPr/>
        </p:nvSpPr>
        <p:spPr>
          <a:xfrm>
            <a:off x="4257675" y="2647950"/>
            <a:ext cx="819150" cy="819150"/>
          </a:xfrm>
          <a:prstGeom prst="ellipse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donut-our-2"/>
          <p:cNvSpPr/>
          <p:nvPr/>
        </p:nvSpPr>
        <p:spPr>
          <a:xfrm>
            <a:off x="4257675" y="2647950"/>
            <a:ext cx="819150" cy="819150"/>
          </a:xfrm>
          <a:prstGeom prst="pi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donut-hole-2"/>
          <p:cNvSpPr/>
          <p:nvPr/>
        </p:nvSpPr>
        <p:spPr>
          <a:xfrm>
            <a:off x="4400550" y="2790825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enter-pct-2"/>
          <p:cNvSpPr txBox="1"/>
          <p:nvPr/>
        </p:nvSpPr>
        <p:spPr>
          <a:xfrm>
            <a:off x="4257675" y="2924175"/>
            <a:ext cx="819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28%</a:t>
            </a:r>
          </a:p>
        </p:txBody>
      </p:sp>
      <p:sp>
        <p:nvSpPr>
          <p:cNvPr id="22" name="donut-segment-label-2"/>
          <p:cNvSpPr txBox="1"/>
          <p:nvPr/>
        </p:nvSpPr>
        <p:spPr>
          <a:xfrm>
            <a:off x="3314700" y="3581400"/>
            <a:ext cx="2705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OUR SHARE</a:t>
            </a:r>
          </a:p>
        </p:txBody>
      </p:sp>
      <p:sp>
        <p:nvSpPr>
          <p:cNvPr id="23" name="seg-name-2"/>
          <p:cNvSpPr txBox="1"/>
          <p:nvPr/>
        </p:nvSpPr>
        <p:spPr>
          <a:xfrm>
            <a:off x="3314700" y="3752850"/>
            <a:ext cx="2705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Mid-Market ↑</a:t>
            </a:r>
          </a:p>
        </p:txBody>
      </p:sp>
      <p:sp>
        <p:nvSpPr>
          <p:cNvPr id="24" name="seg-size-2"/>
          <p:cNvSpPr txBox="1"/>
          <p:nvPr/>
        </p:nvSpPr>
        <p:spPr>
          <a:xfrm>
            <a:off x="3314700" y="3981450"/>
            <a:ext cx="2705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$2.8B total market</a:t>
            </a:r>
          </a:p>
        </p:txBody>
      </p:sp>
      <p:sp>
        <p:nvSpPr>
          <p:cNvPr id="25" name="donut-card-3"/>
          <p:cNvSpPr/>
          <p:nvPr/>
        </p:nvSpPr>
        <p:spPr>
          <a:xfrm>
            <a:off x="6172200" y="2552700"/>
            <a:ext cx="27051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donut-track-3"/>
          <p:cNvSpPr/>
          <p:nvPr/>
        </p:nvSpPr>
        <p:spPr>
          <a:xfrm>
            <a:off x="7115175" y="2647950"/>
            <a:ext cx="819150" cy="819150"/>
          </a:xfrm>
          <a:prstGeom prst="ellipse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donut-our-3"/>
          <p:cNvSpPr/>
          <p:nvPr/>
        </p:nvSpPr>
        <p:spPr>
          <a:xfrm>
            <a:off x="7115175" y="2647950"/>
            <a:ext cx="819150" cy="819150"/>
          </a:xfrm>
          <a:prstGeom prst="pi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donut-hole-3"/>
          <p:cNvSpPr/>
          <p:nvPr/>
        </p:nvSpPr>
        <p:spPr>
          <a:xfrm>
            <a:off x="7258050" y="2790825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enter-pct-3"/>
          <p:cNvSpPr txBox="1"/>
          <p:nvPr/>
        </p:nvSpPr>
        <p:spPr>
          <a:xfrm>
            <a:off x="7115175" y="2924175"/>
            <a:ext cx="819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12%</a:t>
            </a:r>
          </a:p>
        </p:txBody>
      </p:sp>
      <p:sp>
        <p:nvSpPr>
          <p:cNvPr id="30" name="donut-segment-label-3"/>
          <p:cNvSpPr txBox="1"/>
          <p:nvPr/>
        </p:nvSpPr>
        <p:spPr>
          <a:xfrm>
            <a:off x="6172200" y="3581400"/>
            <a:ext cx="2705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OUR SHARE</a:t>
            </a:r>
          </a:p>
        </p:txBody>
      </p:sp>
      <p:sp>
        <p:nvSpPr>
          <p:cNvPr id="31" name="seg-name-3"/>
          <p:cNvSpPr txBox="1"/>
          <p:nvPr/>
        </p:nvSpPr>
        <p:spPr>
          <a:xfrm>
            <a:off x="6172200" y="3752850"/>
            <a:ext cx="2705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SMB →</a:t>
            </a:r>
          </a:p>
        </p:txBody>
      </p:sp>
      <p:sp>
        <p:nvSpPr>
          <p:cNvPr id="32" name="seg-size-3"/>
          <p:cNvSpPr txBox="1"/>
          <p:nvPr/>
        </p:nvSpPr>
        <p:spPr>
          <a:xfrm>
            <a:off x="6172200" y="3981450"/>
            <a:ext cx="2705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$8.4B total market</a:t>
            </a:r>
          </a:p>
        </p:txBody>
      </p:sp>
      <p:sp>
        <p:nvSpPr>
          <p:cNvPr id="33" name="donut-card-4"/>
          <p:cNvSpPr/>
          <p:nvPr/>
        </p:nvSpPr>
        <p:spPr>
          <a:xfrm>
            <a:off x="9029700" y="2552700"/>
            <a:ext cx="270510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donut-track-4"/>
          <p:cNvSpPr/>
          <p:nvPr/>
        </p:nvSpPr>
        <p:spPr>
          <a:xfrm>
            <a:off x="9972675" y="2647950"/>
            <a:ext cx="819150" cy="819150"/>
          </a:xfrm>
          <a:prstGeom prst="ellipse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donut-our-4"/>
          <p:cNvSpPr/>
          <p:nvPr/>
        </p:nvSpPr>
        <p:spPr>
          <a:xfrm>
            <a:off x="9972675" y="2647950"/>
            <a:ext cx="819150" cy="819150"/>
          </a:xfrm>
          <a:prstGeom prst="pi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donut-hole-4"/>
          <p:cNvSpPr/>
          <p:nvPr/>
        </p:nvSpPr>
        <p:spPr>
          <a:xfrm>
            <a:off x="10115550" y="2790825"/>
            <a:ext cx="533400" cy="533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enter-pct-4"/>
          <p:cNvSpPr txBox="1"/>
          <p:nvPr/>
        </p:nvSpPr>
        <p:spPr>
          <a:xfrm>
            <a:off x="9972675" y="2924175"/>
            <a:ext cx="819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41%</a:t>
            </a:r>
          </a:p>
        </p:txBody>
      </p:sp>
      <p:sp>
        <p:nvSpPr>
          <p:cNvPr id="38" name="donut-segment-label-4"/>
          <p:cNvSpPr txBox="1"/>
          <p:nvPr/>
        </p:nvSpPr>
        <p:spPr>
          <a:xfrm>
            <a:off x="9029700" y="3581400"/>
            <a:ext cx="2705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OUR SHARE</a:t>
            </a:r>
          </a:p>
        </p:txBody>
      </p:sp>
      <p:sp>
        <p:nvSpPr>
          <p:cNvPr id="39" name="seg-name-4"/>
          <p:cNvSpPr txBox="1"/>
          <p:nvPr/>
        </p:nvSpPr>
        <p:spPr>
          <a:xfrm>
            <a:off x="9029700" y="3752850"/>
            <a:ext cx="2705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Government ↓</a:t>
            </a:r>
          </a:p>
        </p:txBody>
      </p:sp>
      <p:sp>
        <p:nvSpPr>
          <p:cNvPr id="40" name="seg-size-4"/>
          <p:cNvSpPr txBox="1"/>
          <p:nvPr/>
        </p:nvSpPr>
        <p:spPr>
          <a:xfrm>
            <a:off x="9029700" y="3981450"/>
            <a:ext cx="2705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$1.6B total market</a:t>
            </a:r>
          </a:p>
        </p:txBody>
      </p:sp>
      <p:sp>
        <p:nvSpPr>
          <p:cNvPr id="41" name="tbl-header-bg"/>
          <p:cNvSpPr/>
          <p:nvPr/>
        </p:nvSpPr>
        <p:spPr>
          <a:xfrm>
            <a:off x="457200" y="4400550"/>
            <a:ext cx="11277600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th-1"/>
          <p:cNvSpPr txBox="1"/>
          <p:nvPr/>
        </p:nvSpPr>
        <p:spPr>
          <a:xfrm>
            <a:off x="590550" y="44005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SEGMENT</a:t>
            </a:r>
          </a:p>
        </p:txBody>
      </p:sp>
      <p:sp>
        <p:nvSpPr>
          <p:cNvPr id="43" name="th-2"/>
          <p:cNvSpPr txBox="1"/>
          <p:nvPr/>
        </p:nvSpPr>
        <p:spPr>
          <a:xfrm>
            <a:off x="3067050" y="4400550"/>
            <a:ext cx="18002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MARKET SIZE</a:t>
            </a:r>
          </a:p>
        </p:txBody>
      </p:sp>
      <p:sp>
        <p:nvSpPr>
          <p:cNvPr id="44" name="th-3"/>
          <p:cNvSpPr txBox="1"/>
          <p:nvPr/>
        </p:nvSpPr>
        <p:spPr>
          <a:xfrm>
            <a:off x="5095875" y="4400550"/>
            <a:ext cx="157162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OUR SHARE</a:t>
            </a:r>
          </a:p>
        </p:txBody>
      </p:sp>
      <p:sp>
        <p:nvSpPr>
          <p:cNvPr id="45" name="th-4"/>
          <p:cNvSpPr txBox="1"/>
          <p:nvPr/>
        </p:nvSpPr>
        <p:spPr>
          <a:xfrm>
            <a:off x="6896100" y="44005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YOY CHANGE</a:t>
            </a:r>
          </a:p>
        </p:txBody>
      </p:sp>
      <p:sp>
        <p:nvSpPr>
          <p:cNvPr id="46" name="th-5"/>
          <p:cNvSpPr txBox="1"/>
          <p:nvPr/>
        </p:nvSpPr>
        <p:spPr>
          <a:xfrm>
            <a:off x="9372600" y="44005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STRATEGIC PRIORITY</a:t>
            </a:r>
          </a:p>
        </p:txBody>
      </p:sp>
      <p:sp>
        <p:nvSpPr>
          <p:cNvPr id="47" name="tr-1-rule"/>
          <p:cNvSpPr/>
          <p:nvPr/>
        </p:nvSpPr>
        <p:spPr>
          <a:xfrm>
            <a:off x="457200" y="46863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d-seg-1"/>
          <p:cNvSpPr txBox="1"/>
          <p:nvPr/>
        </p:nvSpPr>
        <p:spPr>
          <a:xfrm>
            <a:off x="590550" y="4686300"/>
            <a:ext cx="2247900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Enterprise</a:t>
            </a:r>
          </a:p>
        </p:txBody>
      </p:sp>
      <p:sp>
        <p:nvSpPr>
          <p:cNvPr id="49" name="td-market-1"/>
          <p:cNvSpPr txBox="1"/>
          <p:nvPr/>
        </p:nvSpPr>
        <p:spPr>
          <a:xfrm>
            <a:off x="2933700" y="4686300"/>
            <a:ext cx="2028825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$4.2B</a:t>
            </a:r>
          </a:p>
        </p:txBody>
      </p:sp>
      <p:sp>
        <p:nvSpPr>
          <p:cNvPr id="50" name="td-share-1"/>
          <p:cNvSpPr txBox="1"/>
          <p:nvPr/>
        </p:nvSpPr>
        <p:spPr>
          <a:xfrm>
            <a:off x="4962525" y="4686300"/>
            <a:ext cx="1800225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A100FF"/>
                </a:solidFill>
                <a:latin typeface="Inter"/>
              </a:rPr>
              <a:t>34%</a:t>
            </a:r>
          </a:p>
        </p:txBody>
      </p:sp>
      <p:sp>
        <p:nvSpPr>
          <p:cNvPr id="51" name="td-yoy-1"/>
          <p:cNvSpPr txBox="1"/>
          <p:nvPr/>
        </p:nvSpPr>
        <p:spPr>
          <a:xfrm>
            <a:off x="6762750" y="4686300"/>
            <a:ext cx="2476500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↑ Growing</a:t>
            </a:r>
          </a:p>
        </p:txBody>
      </p:sp>
      <p:sp>
        <p:nvSpPr>
          <p:cNvPr id="52" name="td-pill-1"/>
          <p:cNvSpPr/>
          <p:nvPr/>
        </p:nvSpPr>
        <p:spPr>
          <a:xfrm>
            <a:off x="10048875" y="4743450"/>
            <a:ext cx="857250" cy="20955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d-pill-1-text"/>
          <p:cNvSpPr txBox="1"/>
          <p:nvPr/>
        </p:nvSpPr>
        <p:spPr>
          <a:xfrm>
            <a:off x="10048875" y="4743450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GROW</a:t>
            </a:r>
          </a:p>
        </p:txBody>
      </p:sp>
      <p:sp>
        <p:nvSpPr>
          <p:cNvPr id="54" name="tr-2-bg"/>
          <p:cNvSpPr/>
          <p:nvPr/>
        </p:nvSpPr>
        <p:spPr>
          <a:xfrm>
            <a:off x="457200" y="5019675"/>
            <a:ext cx="11277600" cy="3333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r-2-rule"/>
          <p:cNvSpPr/>
          <p:nvPr/>
        </p:nvSpPr>
        <p:spPr>
          <a:xfrm>
            <a:off x="457200" y="5019675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td-seg-2"/>
          <p:cNvSpPr txBox="1"/>
          <p:nvPr/>
        </p:nvSpPr>
        <p:spPr>
          <a:xfrm>
            <a:off x="590550" y="5019675"/>
            <a:ext cx="2247900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Mid-Market</a:t>
            </a:r>
          </a:p>
        </p:txBody>
      </p:sp>
      <p:sp>
        <p:nvSpPr>
          <p:cNvPr id="57" name="td-market-2"/>
          <p:cNvSpPr txBox="1"/>
          <p:nvPr/>
        </p:nvSpPr>
        <p:spPr>
          <a:xfrm>
            <a:off x="2933700" y="5019675"/>
            <a:ext cx="2028825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$2.8B</a:t>
            </a:r>
          </a:p>
        </p:txBody>
      </p:sp>
      <p:sp>
        <p:nvSpPr>
          <p:cNvPr id="58" name="td-share-2"/>
          <p:cNvSpPr txBox="1"/>
          <p:nvPr/>
        </p:nvSpPr>
        <p:spPr>
          <a:xfrm>
            <a:off x="4962525" y="5019675"/>
            <a:ext cx="1800225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A100FF"/>
                </a:solidFill>
                <a:latin typeface="Inter"/>
              </a:rPr>
              <a:t>28%</a:t>
            </a:r>
          </a:p>
        </p:txBody>
      </p:sp>
      <p:sp>
        <p:nvSpPr>
          <p:cNvPr id="59" name="td-yoy-2"/>
          <p:cNvSpPr txBox="1"/>
          <p:nvPr/>
        </p:nvSpPr>
        <p:spPr>
          <a:xfrm>
            <a:off x="6762750" y="5019675"/>
            <a:ext cx="2476500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↑ Growing</a:t>
            </a:r>
          </a:p>
        </p:txBody>
      </p:sp>
      <p:sp>
        <p:nvSpPr>
          <p:cNvPr id="60" name="td-pill-2"/>
          <p:cNvSpPr/>
          <p:nvPr/>
        </p:nvSpPr>
        <p:spPr>
          <a:xfrm>
            <a:off x="10048875" y="5076825"/>
            <a:ext cx="857250" cy="2095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td-pill-2-text"/>
          <p:cNvSpPr txBox="1"/>
          <p:nvPr/>
        </p:nvSpPr>
        <p:spPr>
          <a:xfrm>
            <a:off x="10048875" y="5076825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INVEST</a:t>
            </a:r>
          </a:p>
        </p:txBody>
      </p:sp>
      <p:sp>
        <p:nvSpPr>
          <p:cNvPr id="62" name="tr-3-rule"/>
          <p:cNvSpPr/>
          <p:nvPr/>
        </p:nvSpPr>
        <p:spPr>
          <a:xfrm>
            <a:off x="457200" y="535305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d-seg-3"/>
          <p:cNvSpPr txBox="1"/>
          <p:nvPr/>
        </p:nvSpPr>
        <p:spPr>
          <a:xfrm>
            <a:off x="590550" y="5353050"/>
            <a:ext cx="2247900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SMB</a:t>
            </a:r>
          </a:p>
        </p:txBody>
      </p:sp>
      <p:sp>
        <p:nvSpPr>
          <p:cNvPr id="64" name="td-market-3"/>
          <p:cNvSpPr txBox="1"/>
          <p:nvPr/>
        </p:nvSpPr>
        <p:spPr>
          <a:xfrm>
            <a:off x="2933700" y="5353050"/>
            <a:ext cx="2028825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$8.4B</a:t>
            </a:r>
          </a:p>
        </p:txBody>
      </p:sp>
      <p:sp>
        <p:nvSpPr>
          <p:cNvPr id="65" name="td-share-3"/>
          <p:cNvSpPr txBox="1"/>
          <p:nvPr/>
        </p:nvSpPr>
        <p:spPr>
          <a:xfrm>
            <a:off x="4962525" y="5353050"/>
            <a:ext cx="1800225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A100FF"/>
                </a:solidFill>
                <a:latin typeface="Inter"/>
              </a:rPr>
              <a:t>12%</a:t>
            </a:r>
          </a:p>
        </p:txBody>
      </p:sp>
      <p:sp>
        <p:nvSpPr>
          <p:cNvPr id="66" name="td-yoy-3"/>
          <p:cNvSpPr txBox="1"/>
          <p:nvPr/>
        </p:nvSpPr>
        <p:spPr>
          <a:xfrm>
            <a:off x="6762750" y="5353050"/>
            <a:ext cx="2476500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→ Flat</a:t>
            </a:r>
          </a:p>
        </p:txBody>
      </p:sp>
      <p:sp>
        <p:nvSpPr>
          <p:cNvPr id="67" name="td-pill-3"/>
          <p:cNvSpPr/>
          <p:nvPr/>
        </p:nvSpPr>
        <p:spPr>
          <a:xfrm>
            <a:off x="10048875" y="5410200"/>
            <a:ext cx="857250" cy="2095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d-pill-3-text"/>
          <p:cNvSpPr txBox="1"/>
          <p:nvPr/>
        </p:nvSpPr>
        <p:spPr>
          <a:xfrm>
            <a:off x="10048875" y="5410200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2400E"/>
                </a:solidFill>
                <a:latin typeface="Inter"/>
              </a:rPr>
              <a:t>HOLD</a:t>
            </a:r>
          </a:p>
        </p:txBody>
      </p:sp>
      <p:sp>
        <p:nvSpPr>
          <p:cNvPr id="69" name="tr-4-bg"/>
          <p:cNvSpPr/>
          <p:nvPr/>
        </p:nvSpPr>
        <p:spPr>
          <a:xfrm>
            <a:off x="457200" y="5686425"/>
            <a:ext cx="11277600" cy="33337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td-seg-4"/>
          <p:cNvSpPr txBox="1"/>
          <p:nvPr/>
        </p:nvSpPr>
        <p:spPr>
          <a:xfrm>
            <a:off x="590550" y="5686425"/>
            <a:ext cx="2247900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Government</a:t>
            </a:r>
          </a:p>
        </p:txBody>
      </p:sp>
      <p:sp>
        <p:nvSpPr>
          <p:cNvPr id="72" name="td-market-4"/>
          <p:cNvSpPr txBox="1"/>
          <p:nvPr/>
        </p:nvSpPr>
        <p:spPr>
          <a:xfrm>
            <a:off x="2933700" y="5686425"/>
            <a:ext cx="2028825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$1.6B</a:t>
            </a:r>
          </a:p>
        </p:txBody>
      </p:sp>
      <p:sp>
        <p:nvSpPr>
          <p:cNvPr id="73" name="td-share-4"/>
          <p:cNvSpPr txBox="1"/>
          <p:nvPr/>
        </p:nvSpPr>
        <p:spPr>
          <a:xfrm>
            <a:off x="4962525" y="5686425"/>
            <a:ext cx="1800225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A100FF"/>
                </a:solidFill>
                <a:latin typeface="Inter"/>
              </a:rPr>
              <a:t>41%</a:t>
            </a:r>
          </a:p>
        </p:txBody>
      </p:sp>
      <p:sp>
        <p:nvSpPr>
          <p:cNvPr id="74" name="td-yoy-4"/>
          <p:cNvSpPr txBox="1"/>
          <p:nvPr/>
        </p:nvSpPr>
        <p:spPr>
          <a:xfrm>
            <a:off x="6762750" y="5686425"/>
            <a:ext cx="2476500" cy="3333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↓ Declining</a:t>
            </a:r>
          </a:p>
        </p:txBody>
      </p:sp>
      <p:sp>
        <p:nvSpPr>
          <p:cNvPr id="75" name="td-pill-4"/>
          <p:cNvSpPr/>
          <p:nvPr/>
        </p:nvSpPr>
        <p:spPr>
          <a:xfrm>
            <a:off x="10048875" y="5743575"/>
            <a:ext cx="857250" cy="2095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d-pill-4-text"/>
          <p:cNvSpPr txBox="1"/>
          <p:nvPr/>
        </p:nvSpPr>
        <p:spPr>
          <a:xfrm>
            <a:off x="10048875" y="5743575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E40AF"/>
                </a:solidFill>
                <a:latin typeface="Inter"/>
              </a:rPr>
              <a:t>DEFEND</a:t>
            </a:r>
          </a:p>
        </p:txBody>
      </p:sp>
      <p:sp>
        <p:nvSpPr>
          <p:cNvPr id="7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