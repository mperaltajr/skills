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81000" y="190500"/>
            <a:ext cx="11430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Phoenix Programme · Week 12 of 24 · </a:t>
            </a:r>
            <a:r>
              <a:rPr sz="1650" b="1" i="0">
                <a:solidFill>
                  <a:srgbClr val="C780FF"/>
                </a:solidFill>
                <a:latin typeface="Inter"/>
              </a:rPr>
              <a:t>Steering Committee decision required.</a:t>
            </a:r>
          </a:p>
        </p:txBody>
      </p:sp>
      <p:sp>
        <p:nvSpPr>
          <p:cNvPr id="3" name="subhead"/>
          <p:cNvSpPr txBox="1"/>
          <p:nvPr/>
        </p:nvSpPr>
        <p:spPr>
          <a:xfrm>
            <a:off x="381000" y="1028700"/>
            <a:ext cx="11430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Four workstreams tracked. One is blocked. This slide asks for a go/no-go on the critical path replan.</a:t>
            </a:r>
          </a:p>
        </p:txBody>
      </p:sp>
      <p:sp>
        <p:nvSpPr>
          <p:cNvPr id="4" name="brand-rule"/>
          <p:cNvSpPr/>
          <p:nvPr/>
        </p:nvSpPr>
        <p:spPr>
          <a:xfrm>
            <a:off x="381000" y="1257300"/>
            <a:ext cx="7620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kpi-1-bg"/>
          <p:cNvSpPr/>
          <p:nvPr/>
        </p:nvSpPr>
        <p:spPr>
          <a:xfrm>
            <a:off x="381000" y="2095500"/>
            <a:ext cx="2752725" cy="5334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kpi-1-number"/>
          <p:cNvSpPr txBox="1"/>
          <p:nvPr/>
        </p:nvSpPr>
        <p:spPr>
          <a:xfrm>
            <a:off x="381000" y="2171700"/>
            <a:ext cx="275272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12 / 24</a:t>
            </a:r>
          </a:p>
        </p:txBody>
      </p:sp>
      <p:sp>
        <p:nvSpPr>
          <p:cNvPr id="7" name="kpi-1-label"/>
          <p:cNvSpPr txBox="1"/>
          <p:nvPr/>
        </p:nvSpPr>
        <p:spPr>
          <a:xfrm>
            <a:off x="381000" y="2419350"/>
            <a:ext cx="27527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WEEK</a:t>
            </a:r>
          </a:p>
        </p:txBody>
      </p:sp>
      <p:sp>
        <p:nvSpPr>
          <p:cNvPr id="8" name="kpi-2-bg"/>
          <p:cNvSpPr/>
          <p:nvPr/>
        </p:nvSpPr>
        <p:spPr>
          <a:xfrm>
            <a:off x="3267075" y="2095500"/>
            <a:ext cx="2752725" cy="5334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kpi-2-number"/>
          <p:cNvSpPr txBox="1"/>
          <p:nvPr/>
        </p:nvSpPr>
        <p:spPr>
          <a:xfrm>
            <a:off x="3267075" y="2171700"/>
            <a:ext cx="275272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F39C12"/>
                </a:solidFill>
                <a:latin typeface="Inter"/>
              </a:rPr>
              <a:t>94%</a:t>
            </a:r>
          </a:p>
        </p:txBody>
      </p:sp>
      <p:sp>
        <p:nvSpPr>
          <p:cNvPr id="10" name="kpi-2-label"/>
          <p:cNvSpPr txBox="1"/>
          <p:nvPr/>
        </p:nvSpPr>
        <p:spPr>
          <a:xfrm>
            <a:off x="3267075" y="2419350"/>
            <a:ext cx="27527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BUDGET UTILIZED</a:t>
            </a:r>
          </a:p>
        </p:txBody>
      </p:sp>
      <p:sp>
        <p:nvSpPr>
          <p:cNvPr id="11" name="kpi-3-bg"/>
          <p:cNvSpPr/>
          <p:nvPr/>
        </p:nvSpPr>
        <p:spPr>
          <a:xfrm>
            <a:off x="6153150" y="2095500"/>
            <a:ext cx="2752725" cy="5334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kpi-3-number"/>
          <p:cNvSpPr txBox="1"/>
          <p:nvPr/>
        </p:nvSpPr>
        <p:spPr>
          <a:xfrm>
            <a:off x="6153150" y="2171700"/>
            <a:ext cx="275272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F39C12"/>
                </a:solidFill>
                <a:latin typeface="Inter"/>
              </a:rPr>
              <a:t>3</a:t>
            </a:r>
          </a:p>
        </p:txBody>
      </p:sp>
      <p:sp>
        <p:nvSpPr>
          <p:cNvPr id="13" name="kpi-3-label"/>
          <p:cNvSpPr txBox="1"/>
          <p:nvPr/>
        </p:nvSpPr>
        <p:spPr>
          <a:xfrm>
            <a:off x="6153150" y="2419350"/>
            <a:ext cx="27527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ISSUES OPEN</a:t>
            </a:r>
          </a:p>
        </p:txBody>
      </p:sp>
      <p:sp>
        <p:nvSpPr>
          <p:cNvPr id="14" name="kpi-4-bg"/>
          <p:cNvSpPr/>
          <p:nvPr/>
        </p:nvSpPr>
        <p:spPr>
          <a:xfrm>
            <a:off x="9039225" y="2095500"/>
            <a:ext cx="2752725" cy="5334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kpi-4-number"/>
          <p:cNvSpPr txBox="1"/>
          <p:nvPr/>
        </p:nvSpPr>
        <p:spPr>
          <a:xfrm>
            <a:off x="9039225" y="2171700"/>
            <a:ext cx="275272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DC2626"/>
                </a:solidFill>
                <a:latin typeface="Inter"/>
              </a:rPr>
              <a:t>2</a:t>
            </a:r>
          </a:p>
        </p:txBody>
      </p:sp>
      <p:sp>
        <p:nvSpPr>
          <p:cNvPr id="16" name="kpi-4-label"/>
          <p:cNvSpPr txBox="1"/>
          <p:nvPr/>
        </p:nvSpPr>
        <p:spPr>
          <a:xfrm>
            <a:off x="9039225" y="2419350"/>
            <a:ext cx="27527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RISKS RED</a:t>
            </a:r>
          </a:p>
        </p:txBody>
      </p:sp>
      <p:sp>
        <p:nvSpPr>
          <p:cNvPr id="17" name="body-divider"/>
          <p:cNvSpPr/>
          <p:nvPr/>
        </p:nvSpPr>
        <p:spPr>
          <a:xfrm>
            <a:off x="7391400" y="2762250"/>
            <a:ext cx="9525" cy="35242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ws-section-label"/>
          <p:cNvSpPr txBox="1"/>
          <p:nvPr/>
        </p:nvSpPr>
        <p:spPr>
          <a:xfrm>
            <a:off x="381000" y="2762250"/>
            <a:ext cx="6858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WORKSTREAM STATUS</a:t>
            </a:r>
          </a:p>
        </p:txBody>
      </p:sp>
      <p:sp>
        <p:nvSpPr>
          <p:cNvPr id="19" name="ws-1-bg"/>
          <p:cNvSpPr/>
          <p:nvPr/>
        </p:nvSpPr>
        <p:spPr>
          <a:xfrm>
            <a:off x="381000" y="3009900"/>
            <a:ext cx="6858000" cy="7429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ws-1-dot"/>
          <p:cNvSpPr/>
          <p:nvPr/>
        </p:nvSpPr>
        <p:spPr>
          <a:xfrm>
            <a:off x="514350" y="3143250"/>
            <a:ext cx="114300" cy="1143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ws-1-name"/>
          <p:cNvSpPr txBox="1"/>
          <p:nvPr/>
        </p:nvSpPr>
        <p:spPr>
          <a:xfrm>
            <a:off x="723900" y="31051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Migration</a:t>
            </a:r>
          </a:p>
        </p:txBody>
      </p:sp>
      <p:sp>
        <p:nvSpPr>
          <p:cNvPr id="22" name="ws-1-tag-bg"/>
          <p:cNvSpPr/>
          <p:nvPr/>
        </p:nvSpPr>
        <p:spPr>
          <a:xfrm>
            <a:off x="2667000" y="3124200"/>
            <a:ext cx="7620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ws-1-tag"/>
          <p:cNvSpPr txBox="1"/>
          <p:nvPr/>
        </p:nvSpPr>
        <p:spPr>
          <a:xfrm>
            <a:off x="2667000" y="31242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ON TRACK</a:t>
            </a:r>
          </a:p>
        </p:txBody>
      </p:sp>
      <p:sp>
        <p:nvSpPr>
          <p:cNvPr id="24" name="ws-1-status"/>
          <p:cNvSpPr txBox="1"/>
          <p:nvPr/>
        </p:nvSpPr>
        <p:spPr>
          <a:xfrm>
            <a:off x="723900" y="3314700"/>
            <a:ext cx="63817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847K records migrated, target 1.2M — velocity on plan, delta-load testing complete</a:t>
            </a:r>
          </a:p>
        </p:txBody>
      </p:sp>
      <p:sp>
        <p:nvSpPr>
          <p:cNvPr id="25" name="ws-2-bg"/>
          <p:cNvSpPr/>
          <p:nvPr/>
        </p:nvSpPr>
        <p:spPr>
          <a:xfrm>
            <a:off x="381000" y="3829050"/>
            <a:ext cx="6858000" cy="7429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ws-2-dot"/>
          <p:cNvSpPr/>
          <p:nvPr/>
        </p:nvSpPr>
        <p:spPr>
          <a:xfrm>
            <a:off x="514350" y="3962400"/>
            <a:ext cx="114300" cy="1143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ws-2-name"/>
          <p:cNvSpPr txBox="1"/>
          <p:nvPr/>
        </p:nvSpPr>
        <p:spPr>
          <a:xfrm>
            <a:off x="723900" y="392430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Process Design</a:t>
            </a:r>
          </a:p>
        </p:txBody>
      </p:sp>
      <p:sp>
        <p:nvSpPr>
          <p:cNvPr id="28" name="ws-2-tag-bg"/>
          <p:cNvSpPr/>
          <p:nvPr/>
        </p:nvSpPr>
        <p:spPr>
          <a:xfrm>
            <a:off x="2667000" y="3943350"/>
            <a:ext cx="7620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ws-2-tag"/>
          <p:cNvSpPr txBox="1"/>
          <p:nvPr/>
        </p:nvSpPr>
        <p:spPr>
          <a:xfrm>
            <a:off x="2667000" y="39433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ON TRACK</a:t>
            </a:r>
          </a:p>
        </p:txBody>
      </p:sp>
      <p:sp>
        <p:nvSpPr>
          <p:cNvPr id="30" name="ws-2-status"/>
          <p:cNvSpPr txBox="1"/>
          <p:nvPr/>
        </p:nvSpPr>
        <p:spPr>
          <a:xfrm>
            <a:off x="723900" y="4133850"/>
            <a:ext cx="63817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14 of 18 future-state flows signed off — remaining 4 in business review this week</a:t>
            </a:r>
          </a:p>
        </p:txBody>
      </p:sp>
      <p:sp>
        <p:nvSpPr>
          <p:cNvPr id="31" name="ws-3-bg"/>
          <p:cNvSpPr/>
          <p:nvPr/>
        </p:nvSpPr>
        <p:spPr>
          <a:xfrm>
            <a:off x="381000" y="4648200"/>
            <a:ext cx="6858000" cy="7429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ws-3-dot"/>
          <p:cNvSpPr/>
          <p:nvPr/>
        </p:nvSpPr>
        <p:spPr>
          <a:xfrm>
            <a:off x="514350" y="4781550"/>
            <a:ext cx="114300" cy="1143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ws-3-name"/>
          <p:cNvSpPr txBox="1"/>
          <p:nvPr/>
        </p:nvSpPr>
        <p:spPr>
          <a:xfrm>
            <a:off x="723900" y="47434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Change &amp; Training</a:t>
            </a:r>
          </a:p>
        </p:txBody>
      </p:sp>
      <p:sp>
        <p:nvSpPr>
          <p:cNvPr id="34" name="ws-3-tag-bg"/>
          <p:cNvSpPr/>
          <p:nvPr/>
        </p:nvSpPr>
        <p:spPr>
          <a:xfrm>
            <a:off x="2667000" y="4762500"/>
            <a:ext cx="7620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ws-3-tag"/>
          <p:cNvSpPr txBox="1"/>
          <p:nvPr/>
        </p:nvSpPr>
        <p:spPr>
          <a:xfrm>
            <a:off x="2667000" y="47625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39C12"/>
                </a:solidFill>
                <a:latin typeface="Inter"/>
              </a:rPr>
              <a:t>AT RISK</a:t>
            </a:r>
          </a:p>
        </p:txBody>
      </p:sp>
      <p:sp>
        <p:nvSpPr>
          <p:cNvPr id="36" name="ws-3-status"/>
          <p:cNvSpPr txBox="1"/>
          <p:nvPr/>
        </p:nvSpPr>
        <p:spPr>
          <a:xfrm>
            <a:off x="723900" y="4953000"/>
            <a:ext cx="63817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LMS build delayed 2 weeks — vendor dependency; contingency plan in review, go-live buffer not yet consumed</a:t>
            </a:r>
          </a:p>
        </p:txBody>
      </p:sp>
      <p:sp>
        <p:nvSpPr>
          <p:cNvPr id="37" name="ws-4-bg"/>
          <p:cNvSpPr/>
          <p:nvPr/>
        </p:nvSpPr>
        <p:spPr>
          <a:xfrm>
            <a:off x="381000" y="5467350"/>
            <a:ext cx="6858000" cy="7429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ws-4-dot"/>
          <p:cNvSpPr/>
          <p:nvPr/>
        </p:nvSpPr>
        <p:spPr>
          <a:xfrm>
            <a:off x="514350" y="5600700"/>
            <a:ext cx="114300" cy="1143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ws-4-name"/>
          <p:cNvSpPr txBox="1"/>
          <p:nvPr/>
        </p:nvSpPr>
        <p:spPr>
          <a:xfrm>
            <a:off x="723900" y="556260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Integration &amp; Testing</a:t>
            </a:r>
          </a:p>
        </p:txBody>
      </p:sp>
      <p:sp>
        <p:nvSpPr>
          <p:cNvPr id="40" name="ws-4-tag-bg"/>
          <p:cNvSpPr/>
          <p:nvPr/>
        </p:nvSpPr>
        <p:spPr>
          <a:xfrm>
            <a:off x="2667000" y="5581650"/>
            <a:ext cx="762000" cy="152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ws-4-tag"/>
          <p:cNvSpPr txBox="1"/>
          <p:nvPr/>
        </p:nvSpPr>
        <p:spPr>
          <a:xfrm>
            <a:off x="2667000" y="55816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6B6B"/>
                </a:solidFill>
                <a:latin typeface="Inter"/>
              </a:rPr>
              <a:t>BLOCKED</a:t>
            </a:r>
          </a:p>
        </p:txBody>
      </p:sp>
      <p:sp>
        <p:nvSpPr>
          <p:cNvPr id="42" name="ws-4-status"/>
          <p:cNvSpPr txBox="1"/>
          <p:nvPr/>
        </p:nvSpPr>
        <p:spPr>
          <a:xfrm>
            <a:off x="723900" y="5772150"/>
            <a:ext cx="63817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UAT environment not provisioned — IT access request pending 18 days; blocks full regression cycle by Week 16</a:t>
            </a:r>
          </a:p>
        </p:txBody>
      </p:sp>
      <p:sp>
        <p:nvSpPr>
          <p:cNvPr id="43" name="decision-section-label"/>
          <p:cNvSpPr txBox="1"/>
          <p:nvPr/>
        </p:nvSpPr>
        <p:spPr>
          <a:xfrm>
            <a:off x="7620000" y="2762250"/>
            <a:ext cx="4191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DECISION REQUIRED</a:t>
            </a:r>
          </a:p>
        </p:txBody>
      </p:sp>
      <p:sp>
        <p:nvSpPr>
          <p:cNvPr id="44" name="decision-statement"/>
          <p:cNvSpPr txBox="1"/>
          <p:nvPr/>
        </p:nvSpPr>
        <p:spPr>
          <a:xfrm>
            <a:off x="7620000" y="3009900"/>
            <a:ext cx="4191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UAT environment is 18 days overdue. How should the programme proceed on the critical path?</a:t>
            </a:r>
          </a:p>
        </p:txBody>
      </p:sp>
      <p:sp>
        <p:nvSpPr>
          <p:cNvPr id="45" name="option-1-bg"/>
          <p:cNvSpPr/>
          <p:nvPr/>
        </p:nvSpPr>
        <p:spPr>
          <a:xfrm>
            <a:off x="7620000" y="3600450"/>
            <a:ext cx="4191000" cy="8382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option-1-bar"/>
          <p:cNvSpPr/>
          <p:nvPr/>
        </p:nvSpPr>
        <p:spPr>
          <a:xfrm>
            <a:off x="7620000" y="3600450"/>
            <a:ext cx="38100" cy="838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option-1-name"/>
          <p:cNvSpPr txBox="1"/>
          <p:nvPr/>
        </p:nvSpPr>
        <p:spPr>
          <a:xfrm>
            <a:off x="7772400" y="3714750"/>
            <a:ext cx="3962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ECC71"/>
                </a:solidFill>
                <a:latin typeface="Inter"/>
              </a:rPr>
              <a:t>APPROVE</a:t>
            </a:r>
          </a:p>
        </p:txBody>
      </p:sp>
      <p:sp>
        <p:nvSpPr>
          <p:cNvPr id="48" name="option-1-impl"/>
          <p:cNvSpPr txBox="1"/>
          <p:nvPr/>
        </p:nvSpPr>
        <p:spPr>
          <a:xfrm>
            <a:off x="7772400" y="3924300"/>
            <a:ext cx="39243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Escalate IT provisioning to CTO today — maintains Week 16 regression window, no schedule slip</a:t>
            </a:r>
          </a:p>
        </p:txBody>
      </p:sp>
      <p:sp>
        <p:nvSpPr>
          <p:cNvPr id="49" name="option-2-bg"/>
          <p:cNvSpPr/>
          <p:nvPr/>
        </p:nvSpPr>
        <p:spPr>
          <a:xfrm>
            <a:off x="7620000" y="4514850"/>
            <a:ext cx="4191000" cy="8382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option-2-bar"/>
          <p:cNvSpPr/>
          <p:nvPr/>
        </p:nvSpPr>
        <p:spPr>
          <a:xfrm>
            <a:off x="7620000" y="4514850"/>
            <a:ext cx="38100" cy="838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option-2-name"/>
          <p:cNvSpPr txBox="1"/>
          <p:nvPr/>
        </p:nvSpPr>
        <p:spPr>
          <a:xfrm>
            <a:off x="7772400" y="4629150"/>
            <a:ext cx="3962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39C12"/>
                </a:solidFill>
                <a:latin typeface="Inter"/>
              </a:rPr>
              <a:t>DEFER</a:t>
            </a:r>
          </a:p>
        </p:txBody>
      </p:sp>
      <p:sp>
        <p:nvSpPr>
          <p:cNvPr id="52" name="option-2-impl"/>
          <p:cNvSpPr txBox="1"/>
          <p:nvPr/>
        </p:nvSpPr>
        <p:spPr>
          <a:xfrm>
            <a:off x="7772400" y="4838700"/>
            <a:ext cx="39243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Accept 2-week regression compression — increases defect-escape risk, go-live moves to Week 26</a:t>
            </a:r>
          </a:p>
        </p:txBody>
      </p:sp>
      <p:sp>
        <p:nvSpPr>
          <p:cNvPr id="53" name="option-3-bg"/>
          <p:cNvSpPr/>
          <p:nvPr/>
        </p:nvSpPr>
        <p:spPr>
          <a:xfrm>
            <a:off x="7620000" y="5429250"/>
            <a:ext cx="4191000" cy="8382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option-3-bar"/>
          <p:cNvSpPr/>
          <p:nvPr/>
        </p:nvSpPr>
        <p:spPr>
          <a:xfrm>
            <a:off x="7620000" y="5429250"/>
            <a:ext cx="38100" cy="838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option-3-name"/>
          <p:cNvSpPr txBox="1"/>
          <p:nvPr/>
        </p:nvSpPr>
        <p:spPr>
          <a:xfrm>
            <a:off x="7772400" y="5543550"/>
            <a:ext cx="3962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6B6B"/>
                </a:solidFill>
                <a:latin typeface="Inter"/>
              </a:rPr>
              <a:t>ESCALATE</a:t>
            </a:r>
          </a:p>
        </p:txBody>
      </p:sp>
      <p:sp>
        <p:nvSpPr>
          <p:cNvPr id="56" name="option-3-impl"/>
          <p:cNvSpPr txBox="1"/>
          <p:nvPr/>
        </p:nvSpPr>
        <p:spPr>
          <a:xfrm>
            <a:off x="7772400" y="5753100"/>
            <a:ext cx="39243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Invoke programme governance board — triggers formal replanning and revised business case approval</a:t>
            </a:r>
          </a:p>
        </p:txBody>
      </p:sp>
      <p:sp>
        <p:nvSpPr>
          <p:cNvPr id="5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256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