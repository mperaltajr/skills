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Q2 OKR Progress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Tracking Dashboard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7429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Status as of May 19, 2026 · Three strategic objectives · Nine key results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bg"/>
          <p:cNvSpPr/>
          <p:nvPr/>
        </p:nvSpPr>
        <p:spPr>
          <a:xfrm>
            <a:off x="7886700" y="2209800"/>
            <a:ext cx="3848100" cy="3048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title"/>
          <p:cNvSpPr txBox="1"/>
          <p:nvPr/>
        </p:nvSpPr>
        <p:spPr>
          <a:xfrm>
            <a:off x="8001000" y="2209800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CONFIDENCE</a:t>
            </a:r>
          </a:p>
        </p:txBody>
      </p:sp>
      <p:sp>
        <p:nvSpPr>
          <p:cNvPr id="7" name="legend-1-dot"/>
          <p:cNvSpPr/>
          <p:nvPr/>
        </p:nvSpPr>
        <p:spPr>
          <a:xfrm>
            <a:off x="8953500" y="2314575"/>
            <a:ext cx="85725" cy="857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9105900" y="2209800"/>
            <a:ext cx="7239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On Track</a:t>
            </a:r>
          </a:p>
        </p:txBody>
      </p:sp>
      <p:sp>
        <p:nvSpPr>
          <p:cNvPr id="9" name="legend-2-dot"/>
          <p:cNvSpPr/>
          <p:nvPr/>
        </p:nvSpPr>
        <p:spPr>
          <a:xfrm>
            <a:off x="9867900" y="2314575"/>
            <a:ext cx="85725" cy="857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10020300" y="2209800"/>
            <a:ext cx="7239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At Risk</a:t>
            </a:r>
          </a:p>
        </p:txBody>
      </p:sp>
      <p:sp>
        <p:nvSpPr>
          <p:cNvPr id="11" name="legend-3-dot"/>
          <p:cNvSpPr/>
          <p:nvPr/>
        </p:nvSpPr>
        <p:spPr>
          <a:xfrm>
            <a:off x="10782300" y="2314575"/>
            <a:ext cx="85725" cy="857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end-3-label"/>
          <p:cNvSpPr txBox="1"/>
          <p:nvPr/>
        </p:nvSpPr>
        <p:spPr>
          <a:xfrm>
            <a:off x="10934700" y="2209800"/>
            <a:ext cx="7239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Off Track</a:t>
            </a:r>
          </a:p>
        </p:txBody>
      </p:sp>
      <p:sp>
        <p:nvSpPr>
          <p:cNvPr id="13" name="obj-1-card"/>
          <p:cNvSpPr/>
          <p:nvPr/>
        </p:nvSpPr>
        <p:spPr>
          <a:xfrm>
            <a:off x="457200" y="2667000"/>
            <a:ext cx="11277600" cy="11715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obj-1-title"/>
          <p:cNvSpPr txBox="1"/>
          <p:nvPr/>
        </p:nvSpPr>
        <p:spPr>
          <a:xfrm>
            <a:off x="609600" y="2724150"/>
            <a:ext cx="102298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O1 · Accelerate Enterprise AI Adoption Across Client Accounts</a:t>
            </a:r>
          </a:p>
        </p:txBody>
      </p:sp>
      <p:sp>
        <p:nvSpPr>
          <p:cNvPr id="15" name="obj-1-pct"/>
          <p:cNvSpPr txBox="1"/>
          <p:nvPr/>
        </p:nvSpPr>
        <p:spPr>
          <a:xfrm>
            <a:off x="10972800" y="2724150"/>
            <a:ext cx="609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72%</a:t>
            </a:r>
          </a:p>
        </p:txBody>
      </p:sp>
      <p:sp>
        <p:nvSpPr>
          <p:cNvPr id="16" name="obj-1-divider"/>
          <p:cNvSpPr/>
          <p:nvPr/>
        </p:nvSpPr>
        <p:spPr>
          <a:xfrm>
            <a:off x="609600" y="2990850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obj-1-kr-1-desc"/>
          <p:cNvSpPr txBox="1"/>
          <p:nvPr/>
        </p:nvSpPr>
        <p:spPr>
          <a:xfrm>
            <a:off x="609600" y="3067050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KR1 · Deploy AI pilots in 12 client accounts by Jun 30</a:t>
            </a:r>
          </a:p>
        </p:txBody>
      </p:sp>
      <p:sp>
        <p:nvSpPr>
          <p:cNvPr id="18" name="obj-1-kr-1-bar-bg"/>
          <p:cNvSpPr/>
          <p:nvPr/>
        </p:nvSpPr>
        <p:spPr>
          <a:xfrm>
            <a:off x="6076950" y="3143250"/>
            <a:ext cx="3429000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obj-1-kr-1-bar-fill"/>
          <p:cNvSpPr/>
          <p:nvPr/>
        </p:nvSpPr>
        <p:spPr>
          <a:xfrm>
            <a:off x="6076950" y="3143250"/>
            <a:ext cx="283845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obj-1-kr-1-pct"/>
          <p:cNvSpPr txBox="1"/>
          <p:nvPr/>
        </p:nvSpPr>
        <p:spPr>
          <a:xfrm>
            <a:off x="9582150" y="3067050"/>
            <a:ext cx="381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83%</a:t>
            </a:r>
          </a:p>
        </p:txBody>
      </p:sp>
      <p:sp>
        <p:nvSpPr>
          <p:cNvPr id="21" name="obj-1-kr-1-owner-circle"/>
          <p:cNvSpPr/>
          <p:nvPr/>
        </p:nvSpPr>
        <p:spPr>
          <a:xfrm>
            <a:off x="10039350" y="3076575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obj-1-kr-1-owner-text"/>
          <p:cNvSpPr txBox="1"/>
          <p:nvPr/>
        </p:nvSpPr>
        <p:spPr>
          <a:xfrm>
            <a:off x="10039350" y="30765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JR</a:t>
            </a:r>
          </a:p>
        </p:txBody>
      </p:sp>
      <p:sp>
        <p:nvSpPr>
          <p:cNvPr id="23" name="obj-1-kr-1-conf"/>
          <p:cNvSpPr/>
          <p:nvPr/>
        </p:nvSpPr>
        <p:spPr>
          <a:xfrm>
            <a:off x="10382250" y="3133725"/>
            <a:ext cx="95250" cy="95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obj-1-kr-2-desc"/>
          <p:cNvSpPr txBox="1"/>
          <p:nvPr/>
        </p:nvSpPr>
        <p:spPr>
          <a:xfrm>
            <a:off x="609600" y="330517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KR2 · Achieve 90% client satisfaction on AI engagements</a:t>
            </a:r>
          </a:p>
        </p:txBody>
      </p:sp>
      <p:sp>
        <p:nvSpPr>
          <p:cNvPr id="25" name="obj-1-kr-2-bar-bg"/>
          <p:cNvSpPr/>
          <p:nvPr/>
        </p:nvSpPr>
        <p:spPr>
          <a:xfrm>
            <a:off x="6076950" y="3381375"/>
            <a:ext cx="3429000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obj-1-kr-2-bar-fill"/>
          <p:cNvSpPr/>
          <p:nvPr/>
        </p:nvSpPr>
        <p:spPr>
          <a:xfrm>
            <a:off x="6076950" y="3381375"/>
            <a:ext cx="2295525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obj-1-kr-2-pct"/>
          <p:cNvSpPr txBox="1"/>
          <p:nvPr/>
        </p:nvSpPr>
        <p:spPr>
          <a:xfrm>
            <a:off x="9582150" y="3305175"/>
            <a:ext cx="381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67%</a:t>
            </a:r>
          </a:p>
        </p:txBody>
      </p:sp>
      <p:sp>
        <p:nvSpPr>
          <p:cNvPr id="28" name="obj-1-kr-2-owner-circle"/>
          <p:cNvSpPr/>
          <p:nvPr/>
        </p:nvSpPr>
        <p:spPr>
          <a:xfrm>
            <a:off x="10039350" y="3314700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obj-1-kr-2-owner-text"/>
          <p:cNvSpPr txBox="1"/>
          <p:nvPr/>
        </p:nvSpPr>
        <p:spPr>
          <a:xfrm>
            <a:off x="10039350" y="33147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SL</a:t>
            </a:r>
          </a:p>
        </p:txBody>
      </p:sp>
      <p:sp>
        <p:nvSpPr>
          <p:cNvPr id="30" name="obj-1-kr-2-conf"/>
          <p:cNvSpPr/>
          <p:nvPr/>
        </p:nvSpPr>
        <p:spPr>
          <a:xfrm>
            <a:off x="10382250" y="3371850"/>
            <a:ext cx="95250" cy="95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obj-1-kr-3-desc"/>
          <p:cNvSpPr txBox="1"/>
          <p:nvPr/>
        </p:nvSpPr>
        <p:spPr>
          <a:xfrm>
            <a:off x="609600" y="3543300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KR3 · Certify 40 practitioners in generative AI toolchain</a:t>
            </a:r>
          </a:p>
        </p:txBody>
      </p:sp>
      <p:sp>
        <p:nvSpPr>
          <p:cNvPr id="32" name="obj-1-kr-3-bar-bg"/>
          <p:cNvSpPr/>
          <p:nvPr/>
        </p:nvSpPr>
        <p:spPr>
          <a:xfrm>
            <a:off x="6076950" y="3619500"/>
            <a:ext cx="3429000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obj-1-kr-3-bar-fill"/>
          <p:cNvSpPr/>
          <p:nvPr/>
        </p:nvSpPr>
        <p:spPr>
          <a:xfrm>
            <a:off x="6076950" y="3619500"/>
            <a:ext cx="222885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obj-1-kr-3-pct"/>
          <p:cNvSpPr txBox="1"/>
          <p:nvPr/>
        </p:nvSpPr>
        <p:spPr>
          <a:xfrm>
            <a:off x="9582150" y="3543300"/>
            <a:ext cx="381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65%</a:t>
            </a:r>
          </a:p>
        </p:txBody>
      </p:sp>
      <p:sp>
        <p:nvSpPr>
          <p:cNvPr id="35" name="obj-1-kr-3-owner-circle"/>
          <p:cNvSpPr/>
          <p:nvPr/>
        </p:nvSpPr>
        <p:spPr>
          <a:xfrm>
            <a:off x="10039350" y="3552825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obj-1-kr-3-owner-text"/>
          <p:cNvSpPr txBox="1"/>
          <p:nvPr/>
        </p:nvSpPr>
        <p:spPr>
          <a:xfrm>
            <a:off x="10039350" y="35528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MP</a:t>
            </a:r>
          </a:p>
        </p:txBody>
      </p:sp>
      <p:sp>
        <p:nvSpPr>
          <p:cNvPr id="37" name="obj-1-kr-3-conf"/>
          <p:cNvSpPr/>
          <p:nvPr/>
        </p:nvSpPr>
        <p:spPr>
          <a:xfrm>
            <a:off x="10382250" y="3609975"/>
            <a:ext cx="95250" cy="95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obj-2-card"/>
          <p:cNvSpPr/>
          <p:nvPr/>
        </p:nvSpPr>
        <p:spPr>
          <a:xfrm>
            <a:off x="457200" y="3933825"/>
            <a:ext cx="11277600" cy="11715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obj-2-title"/>
          <p:cNvSpPr txBox="1"/>
          <p:nvPr/>
        </p:nvSpPr>
        <p:spPr>
          <a:xfrm>
            <a:off x="609600" y="3990975"/>
            <a:ext cx="102298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O2 · Scale Delivery Efficiency Through Platform Standardisation</a:t>
            </a:r>
          </a:p>
        </p:txBody>
      </p:sp>
      <p:sp>
        <p:nvSpPr>
          <p:cNvPr id="40" name="obj-2-pct"/>
          <p:cNvSpPr txBox="1"/>
          <p:nvPr/>
        </p:nvSpPr>
        <p:spPr>
          <a:xfrm>
            <a:off x="10972800" y="3990975"/>
            <a:ext cx="609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54%</a:t>
            </a:r>
          </a:p>
        </p:txBody>
      </p:sp>
      <p:sp>
        <p:nvSpPr>
          <p:cNvPr id="41" name="obj-2-divider"/>
          <p:cNvSpPr/>
          <p:nvPr/>
        </p:nvSpPr>
        <p:spPr>
          <a:xfrm>
            <a:off x="609600" y="4257675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obj-2-kr-1-desc"/>
          <p:cNvSpPr txBox="1"/>
          <p:nvPr/>
        </p:nvSpPr>
        <p:spPr>
          <a:xfrm>
            <a:off x="609600" y="433387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KR1 · Migrate 80% of active projects to unified DevOps platform</a:t>
            </a:r>
          </a:p>
        </p:txBody>
      </p:sp>
      <p:sp>
        <p:nvSpPr>
          <p:cNvPr id="43" name="obj-2-kr-1-bar-bg"/>
          <p:cNvSpPr/>
          <p:nvPr/>
        </p:nvSpPr>
        <p:spPr>
          <a:xfrm>
            <a:off x="6076950" y="4410075"/>
            <a:ext cx="3429000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obj-2-kr-1-bar-fill"/>
          <p:cNvSpPr/>
          <p:nvPr/>
        </p:nvSpPr>
        <p:spPr>
          <a:xfrm>
            <a:off x="6076950" y="4410075"/>
            <a:ext cx="20574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obj-2-kr-1-pct"/>
          <p:cNvSpPr txBox="1"/>
          <p:nvPr/>
        </p:nvSpPr>
        <p:spPr>
          <a:xfrm>
            <a:off x="9582150" y="4333875"/>
            <a:ext cx="381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60%</a:t>
            </a:r>
          </a:p>
        </p:txBody>
      </p:sp>
      <p:sp>
        <p:nvSpPr>
          <p:cNvPr id="46" name="obj-2-kr-1-owner-circle"/>
          <p:cNvSpPr/>
          <p:nvPr/>
        </p:nvSpPr>
        <p:spPr>
          <a:xfrm>
            <a:off x="10039350" y="4343400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obj-2-kr-1-owner-text"/>
          <p:cNvSpPr txBox="1"/>
          <p:nvPr/>
        </p:nvSpPr>
        <p:spPr>
          <a:xfrm>
            <a:off x="10039350" y="4343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AT</a:t>
            </a:r>
          </a:p>
        </p:txBody>
      </p:sp>
      <p:sp>
        <p:nvSpPr>
          <p:cNvPr id="48" name="obj-2-kr-1-conf"/>
          <p:cNvSpPr/>
          <p:nvPr/>
        </p:nvSpPr>
        <p:spPr>
          <a:xfrm>
            <a:off x="10382250" y="4400550"/>
            <a:ext cx="95250" cy="95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obj-2-kr-2-desc"/>
          <p:cNvSpPr txBox="1"/>
          <p:nvPr/>
        </p:nvSpPr>
        <p:spPr>
          <a:xfrm>
            <a:off x="609600" y="4572000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KR2 · Reduce average release cycle time from 3 weeks to 1 week</a:t>
            </a:r>
          </a:p>
        </p:txBody>
      </p:sp>
      <p:sp>
        <p:nvSpPr>
          <p:cNvPr id="50" name="obj-2-kr-2-bar-bg"/>
          <p:cNvSpPr/>
          <p:nvPr/>
        </p:nvSpPr>
        <p:spPr>
          <a:xfrm>
            <a:off x="6076950" y="4648200"/>
            <a:ext cx="3429000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obj-2-kr-2-bar-fill"/>
          <p:cNvSpPr/>
          <p:nvPr/>
        </p:nvSpPr>
        <p:spPr>
          <a:xfrm>
            <a:off x="6076950" y="4648200"/>
            <a:ext cx="1438275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obj-2-kr-2-pct"/>
          <p:cNvSpPr txBox="1"/>
          <p:nvPr/>
        </p:nvSpPr>
        <p:spPr>
          <a:xfrm>
            <a:off x="9582150" y="4572000"/>
            <a:ext cx="381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42%</a:t>
            </a:r>
          </a:p>
        </p:txBody>
      </p:sp>
      <p:sp>
        <p:nvSpPr>
          <p:cNvPr id="53" name="obj-2-kr-2-owner-circle"/>
          <p:cNvSpPr/>
          <p:nvPr/>
        </p:nvSpPr>
        <p:spPr>
          <a:xfrm>
            <a:off x="10039350" y="4581525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obj-2-kr-2-owner-text"/>
          <p:cNvSpPr txBox="1"/>
          <p:nvPr/>
        </p:nvSpPr>
        <p:spPr>
          <a:xfrm>
            <a:off x="10039350" y="45815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DN</a:t>
            </a:r>
          </a:p>
        </p:txBody>
      </p:sp>
      <p:sp>
        <p:nvSpPr>
          <p:cNvPr id="55" name="obj-2-kr-2-conf"/>
          <p:cNvSpPr/>
          <p:nvPr/>
        </p:nvSpPr>
        <p:spPr>
          <a:xfrm>
            <a:off x="10382250" y="4638675"/>
            <a:ext cx="95250" cy="952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obj-2-kr-3-desc"/>
          <p:cNvSpPr txBox="1"/>
          <p:nvPr/>
        </p:nvSpPr>
        <p:spPr>
          <a:xfrm>
            <a:off x="609600" y="481012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KR3 · Publish 5 reusable accelerator assets to internal marketplace</a:t>
            </a:r>
          </a:p>
        </p:txBody>
      </p:sp>
      <p:sp>
        <p:nvSpPr>
          <p:cNvPr id="57" name="obj-2-kr-3-bar-bg"/>
          <p:cNvSpPr/>
          <p:nvPr/>
        </p:nvSpPr>
        <p:spPr>
          <a:xfrm>
            <a:off x="6076950" y="4886325"/>
            <a:ext cx="3429000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obj-2-kr-3-bar-fill"/>
          <p:cNvSpPr/>
          <p:nvPr/>
        </p:nvSpPr>
        <p:spPr>
          <a:xfrm>
            <a:off x="6076950" y="4886325"/>
            <a:ext cx="20574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obj-2-kr-3-pct"/>
          <p:cNvSpPr txBox="1"/>
          <p:nvPr/>
        </p:nvSpPr>
        <p:spPr>
          <a:xfrm>
            <a:off x="9582150" y="4810125"/>
            <a:ext cx="381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60%</a:t>
            </a:r>
          </a:p>
        </p:txBody>
      </p:sp>
      <p:sp>
        <p:nvSpPr>
          <p:cNvPr id="60" name="obj-2-kr-3-owner-circle"/>
          <p:cNvSpPr/>
          <p:nvPr/>
        </p:nvSpPr>
        <p:spPr>
          <a:xfrm>
            <a:off x="10039350" y="4819650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obj-2-kr-3-owner-text"/>
          <p:cNvSpPr txBox="1"/>
          <p:nvPr/>
        </p:nvSpPr>
        <p:spPr>
          <a:xfrm>
            <a:off x="10039350" y="48196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</a:t>
            </a:r>
          </a:p>
        </p:txBody>
      </p:sp>
      <p:sp>
        <p:nvSpPr>
          <p:cNvPr id="62" name="obj-2-kr-3-conf"/>
          <p:cNvSpPr/>
          <p:nvPr/>
        </p:nvSpPr>
        <p:spPr>
          <a:xfrm>
            <a:off x="10382250" y="4876800"/>
            <a:ext cx="95250" cy="95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obj-3-card"/>
          <p:cNvSpPr/>
          <p:nvPr/>
        </p:nvSpPr>
        <p:spPr>
          <a:xfrm>
            <a:off x="457200" y="5200650"/>
            <a:ext cx="11277600" cy="11715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obj-3-title"/>
          <p:cNvSpPr txBox="1"/>
          <p:nvPr/>
        </p:nvSpPr>
        <p:spPr>
          <a:xfrm>
            <a:off x="609600" y="5257800"/>
            <a:ext cx="102298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O3 · Build a High-Performing, Inclusive Talent Pipeline</a:t>
            </a:r>
          </a:p>
        </p:txBody>
      </p:sp>
      <p:sp>
        <p:nvSpPr>
          <p:cNvPr id="65" name="obj-3-pct"/>
          <p:cNvSpPr txBox="1"/>
          <p:nvPr/>
        </p:nvSpPr>
        <p:spPr>
          <a:xfrm>
            <a:off x="10972800" y="5257800"/>
            <a:ext cx="609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38%</a:t>
            </a:r>
          </a:p>
        </p:txBody>
      </p:sp>
      <p:sp>
        <p:nvSpPr>
          <p:cNvPr id="67" name="obj-3-kr-1-desc"/>
          <p:cNvSpPr txBox="1"/>
          <p:nvPr/>
        </p:nvSpPr>
        <p:spPr>
          <a:xfrm>
            <a:off x="609600" y="5600700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KR1 · Hire 20 senior engineers with cloud-native specialisation</a:t>
            </a:r>
          </a:p>
        </p:txBody>
      </p:sp>
      <p:sp>
        <p:nvSpPr>
          <p:cNvPr id="68" name="obj-3-kr-1-bar-bg"/>
          <p:cNvSpPr/>
          <p:nvPr/>
        </p:nvSpPr>
        <p:spPr>
          <a:xfrm>
            <a:off x="6076950" y="5676900"/>
            <a:ext cx="3429000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obj-3-kr-1-bar-fill"/>
          <p:cNvSpPr/>
          <p:nvPr/>
        </p:nvSpPr>
        <p:spPr>
          <a:xfrm>
            <a:off x="6076950" y="5676900"/>
            <a:ext cx="17145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obj-3-kr-1-pct"/>
          <p:cNvSpPr txBox="1"/>
          <p:nvPr/>
        </p:nvSpPr>
        <p:spPr>
          <a:xfrm>
            <a:off x="9582150" y="5600700"/>
            <a:ext cx="381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50%</a:t>
            </a:r>
          </a:p>
        </p:txBody>
      </p:sp>
      <p:sp>
        <p:nvSpPr>
          <p:cNvPr id="71" name="obj-3-kr-1-owner-circle"/>
          <p:cNvSpPr/>
          <p:nvPr/>
        </p:nvSpPr>
        <p:spPr>
          <a:xfrm>
            <a:off x="10039350" y="5610225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obj-3-kr-1-owner-text"/>
          <p:cNvSpPr txBox="1"/>
          <p:nvPr/>
        </p:nvSpPr>
        <p:spPr>
          <a:xfrm>
            <a:off x="10039350" y="56102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RP</a:t>
            </a:r>
          </a:p>
        </p:txBody>
      </p:sp>
      <p:sp>
        <p:nvSpPr>
          <p:cNvPr id="73" name="obj-3-kr-1-conf"/>
          <p:cNvSpPr/>
          <p:nvPr/>
        </p:nvSpPr>
        <p:spPr>
          <a:xfrm>
            <a:off x="10382250" y="5667375"/>
            <a:ext cx="95250" cy="95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obj-3-kr-2-desc"/>
          <p:cNvSpPr txBox="1"/>
          <p:nvPr/>
        </p:nvSpPr>
        <p:spPr>
          <a:xfrm>
            <a:off x="609600" y="583882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KR2 · Achieve 40% underrepresented groups in new hires cohort</a:t>
            </a:r>
          </a:p>
        </p:txBody>
      </p:sp>
      <p:sp>
        <p:nvSpPr>
          <p:cNvPr id="75" name="obj-3-kr-2-bar-bg"/>
          <p:cNvSpPr/>
          <p:nvPr/>
        </p:nvSpPr>
        <p:spPr>
          <a:xfrm>
            <a:off x="6076950" y="5915025"/>
            <a:ext cx="3429000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obj-3-kr-2-bar-fill"/>
          <p:cNvSpPr/>
          <p:nvPr/>
        </p:nvSpPr>
        <p:spPr>
          <a:xfrm>
            <a:off x="6076950" y="5915025"/>
            <a:ext cx="10287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obj-3-kr-2-pct"/>
          <p:cNvSpPr txBox="1"/>
          <p:nvPr/>
        </p:nvSpPr>
        <p:spPr>
          <a:xfrm>
            <a:off x="9582150" y="5838825"/>
            <a:ext cx="381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30%</a:t>
            </a:r>
          </a:p>
        </p:txBody>
      </p:sp>
      <p:sp>
        <p:nvSpPr>
          <p:cNvPr id="78" name="obj-3-kr-2-owner-circle"/>
          <p:cNvSpPr/>
          <p:nvPr/>
        </p:nvSpPr>
        <p:spPr>
          <a:xfrm>
            <a:off x="10039350" y="5848350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obj-3-kr-2-owner-text"/>
          <p:cNvSpPr txBox="1"/>
          <p:nvPr/>
        </p:nvSpPr>
        <p:spPr>
          <a:xfrm>
            <a:off x="10039350" y="58483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FO</a:t>
            </a:r>
          </a:p>
        </p:txBody>
      </p:sp>
      <p:sp>
        <p:nvSpPr>
          <p:cNvPr id="80" name="obj-3-kr-2-conf"/>
          <p:cNvSpPr/>
          <p:nvPr/>
        </p:nvSpPr>
        <p:spPr>
          <a:xfrm>
            <a:off x="10382250" y="5905500"/>
            <a:ext cx="95250" cy="952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obj-3-kr-3-desc"/>
          <p:cNvSpPr txBox="1"/>
          <p:nvPr/>
        </p:nvSpPr>
        <p:spPr>
          <a:xfrm>
            <a:off x="609600" y="6076950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KR3 · Complete structured mentoring programme for 60 analysts</a:t>
            </a:r>
          </a:p>
        </p:txBody>
      </p:sp>
      <p:sp>
        <p:nvSpPr>
          <p:cNvPr id="82" name="obj-3-kr-3-bar-bg"/>
          <p:cNvSpPr/>
          <p:nvPr/>
        </p:nvSpPr>
        <p:spPr>
          <a:xfrm>
            <a:off x="6076950" y="6153150"/>
            <a:ext cx="3429000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obj-3-kr-3-bar-fill"/>
          <p:cNvSpPr/>
          <p:nvPr/>
        </p:nvSpPr>
        <p:spPr>
          <a:xfrm>
            <a:off x="6076950" y="6153150"/>
            <a:ext cx="112395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obj-3-kr-3-pct"/>
          <p:cNvSpPr txBox="1"/>
          <p:nvPr/>
        </p:nvSpPr>
        <p:spPr>
          <a:xfrm>
            <a:off x="9582150" y="6076950"/>
            <a:ext cx="38100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33%</a:t>
            </a:r>
          </a:p>
        </p:txBody>
      </p:sp>
      <p:sp>
        <p:nvSpPr>
          <p:cNvPr id="85" name="obj-3-kr-3-owner-circle"/>
          <p:cNvSpPr/>
          <p:nvPr/>
        </p:nvSpPr>
        <p:spPr>
          <a:xfrm>
            <a:off x="10039350" y="6086475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obj-3-kr-3-owner-text"/>
          <p:cNvSpPr txBox="1"/>
          <p:nvPr/>
        </p:nvSpPr>
        <p:spPr>
          <a:xfrm>
            <a:off x="10039350" y="60864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LK</a:t>
            </a:r>
          </a:p>
        </p:txBody>
      </p:sp>
      <p:sp>
        <p:nvSpPr>
          <p:cNvPr id="87" name="obj-3-kr-3-conf"/>
          <p:cNvSpPr/>
          <p:nvPr/>
        </p:nvSpPr>
        <p:spPr>
          <a:xfrm>
            <a:off x="10382250" y="6143625"/>
            <a:ext cx="95250" cy="95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