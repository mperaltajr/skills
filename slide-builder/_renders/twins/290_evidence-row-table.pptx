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Evidence supports a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phased activation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approach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Five claims stress-tested against primary, secondary, and internal sources — rated by evidential strength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head-bg"/>
          <p:cNvSpPr/>
          <p:nvPr/>
        </p:nvSpPr>
        <p:spPr>
          <a:xfrm>
            <a:off x="457200" y="2228850"/>
            <a:ext cx="1127760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head-1"/>
          <p:cNvSpPr txBox="1"/>
          <p:nvPr/>
        </p:nvSpPr>
        <p:spPr>
          <a:xfrm>
            <a:off x="590550" y="2228850"/>
            <a:ext cx="26860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CLAIM / ASSERTION</a:t>
            </a:r>
          </a:p>
        </p:txBody>
      </p:sp>
      <p:sp>
        <p:nvSpPr>
          <p:cNvPr id="7" name="thead-2"/>
          <p:cNvSpPr txBox="1"/>
          <p:nvPr/>
        </p:nvSpPr>
        <p:spPr>
          <a:xfrm>
            <a:off x="3409950" y="2228850"/>
            <a:ext cx="43719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EVIDENCE</a:t>
            </a:r>
          </a:p>
        </p:txBody>
      </p:sp>
      <p:sp>
        <p:nvSpPr>
          <p:cNvPr id="8" name="thead-3"/>
          <p:cNvSpPr txBox="1"/>
          <p:nvPr/>
        </p:nvSpPr>
        <p:spPr>
          <a:xfrm>
            <a:off x="7915275" y="2228850"/>
            <a:ext cx="15525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SOURCE</a:t>
            </a:r>
          </a:p>
        </p:txBody>
      </p:sp>
      <p:sp>
        <p:nvSpPr>
          <p:cNvPr id="9" name="thead-4"/>
          <p:cNvSpPr txBox="1"/>
          <p:nvPr/>
        </p:nvSpPr>
        <p:spPr>
          <a:xfrm>
            <a:off x="9601200" y="222885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STRENGTH</a:t>
            </a:r>
          </a:p>
        </p:txBody>
      </p:sp>
      <p:sp>
        <p:nvSpPr>
          <p:cNvPr id="10" name="row-1-bg"/>
          <p:cNvSpPr/>
          <p:nvPr/>
        </p:nvSpPr>
        <p:spPr>
          <a:xfrm>
            <a:off x="457200" y="2609850"/>
            <a:ext cx="11277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ow-1-strength-stripe"/>
          <p:cNvSpPr/>
          <p:nvPr/>
        </p:nvSpPr>
        <p:spPr>
          <a:xfrm>
            <a:off x="457200" y="2609850"/>
            <a:ext cx="28575" cy="762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ow-1-bottom"/>
          <p:cNvSpPr/>
          <p:nvPr/>
        </p:nvSpPr>
        <p:spPr>
          <a:xfrm>
            <a:off x="457200" y="33623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ow-1-claim"/>
          <p:cNvSpPr txBox="1"/>
          <p:nvPr/>
        </p:nvSpPr>
        <p:spPr>
          <a:xfrm>
            <a:off x="590550" y="2743200"/>
            <a:ext cx="25527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Market share is recoverable within 18 months</a:t>
            </a:r>
          </a:p>
        </p:txBody>
      </p:sp>
      <p:sp>
        <p:nvSpPr>
          <p:cNvPr id="14" name="row-1-evidence-1-dot"/>
          <p:cNvSpPr txBox="1"/>
          <p:nvPr/>
        </p:nvSpPr>
        <p:spPr>
          <a:xfrm>
            <a:off x="3409950" y="27432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15" name="row-1-evidence-1"/>
          <p:cNvSpPr txBox="1"/>
          <p:nvPr/>
        </p:nvSpPr>
        <p:spPr>
          <a:xfrm>
            <a:off x="3524250" y="274320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Category grew 22% YoY — headroom confirmed</a:t>
            </a:r>
          </a:p>
        </p:txBody>
      </p:sp>
      <p:sp>
        <p:nvSpPr>
          <p:cNvPr id="16" name="row-1-evidence-2-dot"/>
          <p:cNvSpPr txBox="1"/>
          <p:nvPr/>
        </p:nvSpPr>
        <p:spPr>
          <a:xfrm>
            <a:off x="3409950" y="295275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17" name="row-1-evidence-2"/>
          <p:cNvSpPr txBox="1"/>
          <p:nvPr/>
        </p:nvSpPr>
        <p:spPr>
          <a:xfrm>
            <a:off x="3524250" y="295275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3 of 5 competitors have longer lead times than client</a:t>
            </a:r>
          </a:p>
        </p:txBody>
      </p:sp>
      <p:sp>
        <p:nvSpPr>
          <p:cNvPr id="18" name="row-1-evidence-3-dot"/>
          <p:cNvSpPr txBox="1"/>
          <p:nvPr/>
        </p:nvSpPr>
        <p:spPr>
          <a:xfrm>
            <a:off x="3409950" y="31623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19" name="row-1-evidence-3"/>
          <p:cNvSpPr txBox="1"/>
          <p:nvPr/>
        </p:nvSpPr>
        <p:spPr>
          <a:xfrm>
            <a:off x="3524250" y="316230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NPS gap vs. category leader narrowed from −18 to −7</a:t>
            </a:r>
          </a:p>
        </p:txBody>
      </p:sp>
      <p:sp>
        <p:nvSpPr>
          <p:cNvPr id="20" name="row-1-source-pill-bg"/>
          <p:cNvSpPr/>
          <p:nvPr/>
        </p:nvSpPr>
        <p:spPr>
          <a:xfrm>
            <a:off x="8001000" y="2886075"/>
            <a:ext cx="1238250" cy="209550"/>
          </a:xfrm>
          <a:prstGeom prst="roundRect">
            <a:avLst>
              <a:gd name="adj" fmla="val 50000"/>
            </a:avLst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ow-1-source-pill"/>
          <p:cNvSpPr txBox="1"/>
          <p:nvPr/>
        </p:nvSpPr>
        <p:spPr>
          <a:xfrm>
            <a:off x="8001000" y="2886075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Primary Research</a:t>
            </a:r>
          </a:p>
        </p:txBody>
      </p:sp>
      <p:sp>
        <p:nvSpPr>
          <p:cNvPr id="22" name="row-1-seg-1"/>
          <p:cNvSpPr/>
          <p:nvPr/>
        </p:nvSpPr>
        <p:spPr>
          <a:xfrm>
            <a:off x="9601200" y="2943225"/>
            <a:ext cx="2857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row-1-seg-2"/>
          <p:cNvSpPr/>
          <p:nvPr/>
        </p:nvSpPr>
        <p:spPr>
          <a:xfrm>
            <a:off x="9925050" y="2943225"/>
            <a:ext cx="2857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row-1-seg-3"/>
          <p:cNvSpPr/>
          <p:nvPr/>
        </p:nvSpPr>
        <p:spPr>
          <a:xfrm>
            <a:off x="10248900" y="2943225"/>
            <a:ext cx="2857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row-1-strength-label"/>
          <p:cNvSpPr txBox="1"/>
          <p:nvPr/>
        </p:nvSpPr>
        <p:spPr>
          <a:xfrm>
            <a:off x="10610850" y="260985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Strong</a:t>
            </a:r>
          </a:p>
        </p:txBody>
      </p:sp>
      <p:sp>
        <p:nvSpPr>
          <p:cNvPr id="26" name="row-2-bg"/>
          <p:cNvSpPr/>
          <p:nvPr/>
        </p:nvSpPr>
        <p:spPr>
          <a:xfrm>
            <a:off x="457200" y="3371850"/>
            <a:ext cx="11277600" cy="7620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row-2-strength-stripe"/>
          <p:cNvSpPr/>
          <p:nvPr/>
        </p:nvSpPr>
        <p:spPr>
          <a:xfrm>
            <a:off x="457200" y="3371850"/>
            <a:ext cx="28575" cy="762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row-2-bottom"/>
          <p:cNvSpPr/>
          <p:nvPr/>
        </p:nvSpPr>
        <p:spPr>
          <a:xfrm>
            <a:off x="457200" y="41243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row-2-claim"/>
          <p:cNvSpPr txBox="1"/>
          <p:nvPr/>
        </p:nvSpPr>
        <p:spPr>
          <a:xfrm>
            <a:off x="590550" y="3505200"/>
            <a:ext cx="25527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Digital channels outperform field sales for SMB segment</a:t>
            </a:r>
          </a:p>
        </p:txBody>
      </p:sp>
      <p:sp>
        <p:nvSpPr>
          <p:cNvPr id="30" name="row-2-evidence-1-dot"/>
          <p:cNvSpPr txBox="1"/>
          <p:nvPr/>
        </p:nvSpPr>
        <p:spPr>
          <a:xfrm>
            <a:off x="3409950" y="35052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31" name="row-2-evidence-1"/>
          <p:cNvSpPr txBox="1"/>
          <p:nvPr/>
        </p:nvSpPr>
        <p:spPr>
          <a:xfrm>
            <a:off x="3524250" y="350520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Digital CAC 34% lower per internal benchmark</a:t>
            </a:r>
          </a:p>
        </p:txBody>
      </p:sp>
      <p:sp>
        <p:nvSpPr>
          <p:cNvPr id="32" name="row-2-evidence-2-dot"/>
          <p:cNvSpPr txBox="1"/>
          <p:nvPr/>
        </p:nvSpPr>
        <p:spPr>
          <a:xfrm>
            <a:off x="3409950" y="371475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33" name="row-2-evidence-2"/>
          <p:cNvSpPr txBox="1"/>
          <p:nvPr/>
        </p:nvSpPr>
        <p:spPr>
          <a:xfrm>
            <a:off x="3524250" y="371475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Conversion rates comparable across comparable verticals</a:t>
            </a:r>
          </a:p>
        </p:txBody>
      </p:sp>
      <p:sp>
        <p:nvSpPr>
          <p:cNvPr id="34" name="row-2-source-pill-bg"/>
          <p:cNvSpPr/>
          <p:nvPr/>
        </p:nvSpPr>
        <p:spPr>
          <a:xfrm>
            <a:off x="8001000" y="3648075"/>
            <a:ext cx="1238250" cy="20955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row-2-source-pill"/>
          <p:cNvSpPr txBox="1"/>
          <p:nvPr/>
        </p:nvSpPr>
        <p:spPr>
          <a:xfrm>
            <a:off x="8001000" y="3648075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7D32"/>
                </a:solidFill>
                <a:latin typeface="Inter"/>
              </a:rPr>
              <a:t>Internal Data</a:t>
            </a:r>
          </a:p>
        </p:txBody>
      </p:sp>
      <p:sp>
        <p:nvSpPr>
          <p:cNvPr id="36" name="row-2-seg-1"/>
          <p:cNvSpPr/>
          <p:nvPr/>
        </p:nvSpPr>
        <p:spPr>
          <a:xfrm>
            <a:off x="9601200" y="3705225"/>
            <a:ext cx="285750" cy="95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row-2-seg-2"/>
          <p:cNvSpPr/>
          <p:nvPr/>
        </p:nvSpPr>
        <p:spPr>
          <a:xfrm>
            <a:off x="9925050" y="3705225"/>
            <a:ext cx="285750" cy="95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row-2-seg-3"/>
          <p:cNvSpPr/>
          <p:nvPr/>
        </p:nvSpPr>
        <p:spPr>
          <a:xfrm>
            <a:off x="10248900" y="3705225"/>
            <a:ext cx="285750" cy="952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row-2-strength-label"/>
          <p:cNvSpPr txBox="1"/>
          <p:nvPr/>
        </p:nvSpPr>
        <p:spPr>
          <a:xfrm>
            <a:off x="10610850" y="337185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Medium</a:t>
            </a:r>
          </a:p>
        </p:txBody>
      </p:sp>
      <p:sp>
        <p:nvSpPr>
          <p:cNvPr id="40" name="row-3-bg"/>
          <p:cNvSpPr/>
          <p:nvPr/>
        </p:nvSpPr>
        <p:spPr>
          <a:xfrm>
            <a:off x="457200" y="4133850"/>
            <a:ext cx="11277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ow-3-strength-stripe"/>
          <p:cNvSpPr/>
          <p:nvPr/>
        </p:nvSpPr>
        <p:spPr>
          <a:xfrm>
            <a:off x="457200" y="4133850"/>
            <a:ext cx="28575" cy="762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ow-3-bottom"/>
          <p:cNvSpPr/>
          <p:nvPr/>
        </p:nvSpPr>
        <p:spPr>
          <a:xfrm>
            <a:off x="457200" y="48863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row-3-claim"/>
          <p:cNvSpPr txBox="1"/>
          <p:nvPr/>
        </p:nvSpPr>
        <p:spPr>
          <a:xfrm>
            <a:off x="590550" y="4267200"/>
            <a:ext cx="25527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Regulatory window closes Q3 2026, requiring early action</a:t>
            </a:r>
          </a:p>
        </p:txBody>
      </p:sp>
      <p:sp>
        <p:nvSpPr>
          <p:cNvPr id="44" name="row-3-evidence-1-dot"/>
          <p:cNvSpPr txBox="1"/>
          <p:nvPr/>
        </p:nvSpPr>
        <p:spPr>
          <a:xfrm>
            <a:off x="3409950" y="42672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45" name="row-3-evidence-1"/>
          <p:cNvSpPr txBox="1"/>
          <p:nvPr/>
        </p:nvSpPr>
        <p:spPr>
          <a:xfrm>
            <a:off x="3524250" y="426720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Draft legislation published Feb 2026, comment period ends Jun</a:t>
            </a:r>
          </a:p>
        </p:txBody>
      </p:sp>
      <p:sp>
        <p:nvSpPr>
          <p:cNvPr id="46" name="row-3-evidence-2-dot"/>
          <p:cNvSpPr txBox="1"/>
          <p:nvPr/>
        </p:nvSpPr>
        <p:spPr>
          <a:xfrm>
            <a:off x="3409950" y="447675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47" name="row-3-evidence-2"/>
          <p:cNvSpPr txBox="1"/>
          <p:nvPr/>
        </p:nvSpPr>
        <p:spPr>
          <a:xfrm>
            <a:off x="3524250" y="447675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Three analogous markets enacted rule within 6 months of draft</a:t>
            </a:r>
          </a:p>
        </p:txBody>
      </p:sp>
      <p:sp>
        <p:nvSpPr>
          <p:cNvPr id="48" name="row-3-evidence-3-dot"/>
          <p:cNvSpPr txBox="1"/>
          <p:nvPr/>
        </p:nvSpPr>
        <p:spPr>
          <a:xfrm>
            <a:off x="3409950" y="46863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49" name="row-3-evidence-3"/>
          <p:cNvSpPr txBox="1"/>
          <p:nvPr/>
        </p:nvSpPr>
        <p:spPr>
          <a:xfrm>
            <a:off x="3524250" y="468630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Legal counsel confirms no grandfather provisions expected</a:t>
            </a:r>
          </a:p>
        </p:txBody>
      </p:sp>
      <p:sp>
        <p:nvSpPr>
          <p:cNvPr id="50" name="row-3-source-pill-bg"/>
          <p:cNvSpPr/>
          <p:nvPr/>
        </p:nvSpPr>
        <p:spPr>
          <a:xfrm>
            <a:off x="8001000" y="4410075"/>
            <a:ext cx="1238250" cy="209550"/>
          </a:xfrm>
          <a:prstGeom prst="roundRect">
            <a:avLst>
              <a:gd name="adj" fmla="val 50000"/>
            </a:avLst>
          </a:prstGeom>
          <a:solidFill>
            <a:srgbClr val="E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row-3-source-pill"/>
          <p:cNvSpPr txBox="1"/>
          <p:nvPr/>
        </p:nvSpPr>
        <p:spPr>
          <a:xfrm>
            <a:off x="8001000" y="4410075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65A8"/>
                </a:solidFill>
                <a:latin typeface="Inter"/>
              </a:rPr>
              <a:t>Secondary</a:t>
            </a:r>
          </a:p>
        </p:txBody>
      </p:sp>
      <p:sp>
        <p:nvSpPr>
          <p:cNvPr id="52" name="row-3-seg-1"/>
          <p:cNvSpPr/>
          <p:nvPr/>
        </p:nvSpPr>
        <p:spPr>
          <a:xfrm>
            <a:off x="9601200" y="4467225"/>
            <a:ext cx="2857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row-3-seg-2"/>
          <p:cNvSpPr/>
          <p:nvPr/>
        </p:nvSpPr>
        <p:spPr>
          <a:xfrm>
            <a:off x="9925050" y="4467225"/>
            <a:ext cx="2857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ow-3-seg-3"/>
          <p:cNvSpPr/>
          <p:nvPr/>
        </p:nvSpPr>
        <p:spPr>
          <a:xfrm>
            <a:off x="10248900" y="4467225"/>
            <a:ext cx="2857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row-3-strength-label"/>
          <p:cNvSpPr txBox="1"/>
          <p:nvPr/>
        </p:nvSpPr>
        <p:spPr>
          <a:xfrm>
            <a:off x="10610850" y="413385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Strong</a:t>
            </a:r>
          </a:p>
        </p:txBody>
      </p:sp>
      <p:sp>
        <p:nvSpPr>
          <p:cNvPr id="56" name="row-4-bg"/>
          <p:cNvSpPr/>
          <p:nvPr/>
        </p:nvSpPr>
        <p:spPr>
          <a:xfrm>
            <a:off x="457200" y="4895850"/>
            <a:ext cx="11277600" cy="7620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row-4-strength-stripe"/>
          <p:cNvSpPr/>
          <p:nvPr/>
        </p:nvSpPr>
        <p:spPr>
          <a:xfrm>
            <a:off x="457200" y="4895850"/>
            <a:ext cx="28575" cy="762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row-4-claim"/>
          <p:cNvSpPr txBox="1"/>
          <p:nvPr/>
        </p:nvSpPr>
        <p:spPr>
          <a:xfrm>
            <a:off x="590550" y="5029200"/>
            <a:ext cx="25527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Talent availability constrains speed of transformation</a:t>
            </a:r>
          </a:p>
        </p:txBody>
      </p:sp>
      <p:sp>
        <p:nvSpPr>
          <p:cNvPr id="60" name="row-4-evidence-1-dot"/>
          <p:cNvSpPr txBox="1"/>
          <p:nvPr/>
        </p:nvSpPr>
        <p:spPr>
          <a:xfrm>
            <a:off x="3409950" y="50292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61" name="row-4-evidence-1"/>
          <p:cNvSpPr txBox="1"/>
          <p:nvPr/>
        </p:nvSpPr>
        <p:spPr>
          <a:xfrm>
            <a:off x="3524250" y="502920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Role requisitions open 90+ days in 4 of 6 target geographies</a:t>
            </a:r>
          </a:p>
        </p:txBody>
      </p:sp>
      <p:sp>
        <p:nvSpPr>
          <p:cNvPr id="62" name="row-4-evidence-2-dot"/>
          <p:cNvSpPr txBox="1"/>
          <p:nvPr/>
        </p:nvSpPr>
        <p:spPr>
          <a:xfrm>
            <a:off x="3409950" y="523875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63" name="row-4-evidence-2"/>
          <p:cNvSpPr txBox="1"/>
          <p:nvPr/>
        </p:nvSpPr>
        <p:spPr>
          <a:xfrm>
            <a:off x="3524250" y="523875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Industry attrition 18% vs. 12% historical average</a:t>
            </a:r>
          </a:p>
        </p:txBody>
      </p:sp>
      <p:sp>
        <p:nvSpPr>
          <p:cNvPr id="64" name="row-4-source-pill-bg"/>
          <p:cNvSpPr/>
          <p:nvPr/>
        </p:nvSpPr>
        <p:spPr>
          <a:xfrm>
            <a:off x="8001000" y="5172075"/>
            <a:ext cx="1238250" cy="209550"/>
          </a:xfrm>
          <a:prstGeom prst="roundRect">
            <a:avLst>
              <a:gd name="adj" fmla="val 50000"/>
            </a:avLst>
          </a:prstGeom>
          <a:solidFill>
            <a:srgbClr val="E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row-4-source-pill"/>
          <p:cNvSpPr txBox="1"/>
          <p:nvPr/>
        </p:nvSpPr>
        <p:spPr>
          <a:xfrm>
            <a:off x="8001000" y="5172075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65A8"/>
                </a:solidFill>
                <a:latin typeface="Inter"/>
              </a:rPr>
              <a:t>Secondary</a:t>
            </a:r>
          </a:p>
        </p:txBody>
      </p:sp>
      <p:sp>
        <p:nvSpPr>
          <p:cNvPr id="66" name="row-4-seg-1"/>
          <p:cNvSpPr/>
          <p:nvPr/>
        </p:nvSpPr>
        <p:spPr>
          <a:xfrm>
            <a:off x="9601200" y="5229225"/>
            <a:ext cx="285750" cy="95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row-4-seg-2"/>
          <p:cNvSpPr/>
          <p:nvPr/>
        </p:nvSpPr>
        <p:spPr>
          <a:xfrm>
            <a:off x="9925050" y="5229225"/>
            <a:ext cx="285750" cy="95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row-4-seg-3"/>
          <p:cNvSpPr/>
          <p:nvPr/>
        </p:nvSpPr>
        <p:spPr>
          <a:xfrm>
            <a:off x="10248900" y="5229225"/>
            <a:ext cx="285750" cy="952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row-4-strength-label"/>
          <p:cNvSpPr txBox="1"/>
          <p:nvPr/>
        </p:nvSpPr>
        <p:spPr>
          <a:xfrm>
            <a:off x="10610850" y="489585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Medium</a:t>
            </a:r>
          </a:p>
        </p:txBody>
      </p:sp>
      <p:sp>
        <p:nvSpPr>
          <p:cNvPr id="70" name="row-5-bg"/>
          <p:cNvSpPr/>
          <p:nvPr/>
        </p:nvSpPr>
        <p:spPr>
          <a:xfrm>
            <a:off x="457200" y="5657850"/>
            <a:ext cx="11277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row-5-strength-stripe"/>
          <p:cNvSpPr/>
          <p:nvPr/>
        </p:nvSpPr>
        <p:spPr>
          <a:xfrm>
            <a:off x="457200" y="5657850"/>
            <a:ext cx="28575" cy="7620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row-5-claim"/>
          <p:cNvSpPr txBox="1"/>
          <p:nvPr/>
        </p:nvSpPr>
        <p:spPr>
          <a:xfrm>
            <a:off x="590550" y="5791200"/>
            <a:ext cx="25527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Partnership model reduces capex exposure by ~30%</a:t>
            </a:r>
          </a:p>
        </p:txBody>
      </p:sp>
      <p:sp>
        <p:nvSpPr>
          <p:cNvPr id="74" name="row-5-evidence-1-dot"/>
          <p:cNvSpPr txBox="1"/>
          <p:nvPr/>
        </p:nvSpPr>
        <p:spPr>
          <a:xfrm>
            <a:off x="3409950" y="57912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75" name="row-5-evidence-1"/>
          <p:cNvSpPr txBox="1"/>
          <p:nvPr/>
        </p:nvSpPr>
        <p:spPr>
          <a:xfrm>
            <a:off x="3524250" y="579120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Single comparable deal (different vertical) cited in analyst note</a:t>
            </a:r>
          </a:p>
        </p:txBody>
      </p:sp>
      <p:sp>
        <p:nvSpPr>
          <p:cNvPr id="76" name="row-5-evidence-2-dot"/>
          <p:cNvSpPr txBox="1"/>
          <p:nvPr/>
        </p:nvSpPr>
        <p:spPr>
          <a:xfrm>
            <a:off x="3409950" y="600075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77" name="row-5-evidence-2"/>
          <p:cNvSpPr txBox="1"/>
          <p:nvPr/>
        </p:nvSpPr>
        <p:spPr>
          <a:xfrm>
            <a:off x="3524250" y="6000750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Client finance has not stress-tested assumption</a:t>
            </a:r>
          </a:p>
        </p:txBody>
      </p:sp>
      <p:sp>
        <p:nvSpPr>
          <p:cNvPr id="78" name="row-5-source-pill-bg"/>
          <p:cNvSpPr/>
          <p:nvPr/>
        </p:nvSpPr>
        <p:spPr>
          <a:xfrm>
            <a:off x="8001000" y="5934075"/>
            <a:ext cx="1238250" cy="209550"/>
          </a:xfrm>
          <a:prstGeom prst="roundRect">
            <a:avLst>
              <a:gd name="adj" fmla="val 50000"/>
            </a:avLst>
          </a:prstGeom>
          <a:solidFill>
            <a:srgbClr val="E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row-5-source-pill"/>
          <p:cNvSpPr txBox="1"/>
          <p:nvPr/>
        </p:nvSpPr>
        <p:spPr>
          <a:xfrm>
            <a:off x="8001000" y="5934075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65A8"/>
                </a:solidFill>
                <a:latin typeface="Inter"/>
              </a:rPr>
              <a:t>Secondary</a:t>
            </a:r>
          </a:p>
        </p:txBody>
      </p:sp>
      <p:sp>
        <p:nvSpPr>
          <p:cNvPr id="80" name="row-5-seg-1"/>
          <p:cNvSpPr/>
          <p:nvPr/>
        </p:nvSpPr>
        <p:spPr>
          <a:xfrm>
            <a:off x="9601200" y="5991225"/>
            <a:ext cx="285750" cy="95250"/>
          </a:xfrm>
          <a:prstGeom prst="rect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row-5-seg-2"/>
          <p:cNvSpPr/>
          <p:nvPr/>
        </p:nvSpPr>
        <p:spPr>
          <a:xfrm>
            <a:off x="9925050" y="5991225"/>
            <a:ext cx="285750" cy="952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row-5-seg-3"/>
          <p:cNvSpPr/>
          <p:nvPr/>
        </p:nvSpPr>
        <p:spPr>
          <a:xfrm>
            <a:off x="10248900" y="5991225"/>
            <a:ext cx="285750" cy="952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row-5-strength-label"/>
          <p:cNvSpPr txBox="1"/>
          <p:nvPr/>
        </p:nvSpPr>
        <p:spPr>
          <a:xfrm>
            <a:off x="10610850" y="565785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Weak</a:t>
            </a:r>
          </a:p>
        </p:txBody>
      </p:sp>
      <p:sp>
        <p:nvSpPr>
          <p:cNvPr id="8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