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Go-to-Market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Motion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Four-stage demand engine — from awareness to action, with channel orchestration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ody-bg"/>
          <p:cNvSpPr/>
          <p:nvPr/>
        </p:nvSpPr>
        <p:spPr>
          <a:xfrm>
            <a:off x="609600" y="1619250"/>
            <a:ext cx="2543175" cy="3714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header-bg"/>
          <p:cNvSpPr/>
          <p:nvPr/>
        </p:nvSpPr>
        <p:spPr>
          <a:xfrm>
            <a:off x="609600" y="1619250"/>
            <a:ext cx="2543175" cy="342900"/>
          </a:xfrm>
          <a:prstGeom prst="rect">
            <a:avLst/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"/>
          <p:cNvSpPr txBox="1"/>
          <p:nvPr/>
        </p:nvSpPr>
        <p:spPr>
          <a:xfrm>
            <a:off x="704850" y="16954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step-1-name"/>
          <p:cNvSpPr txBox="1"/>
          <p:nvPr/>
        </p:nvSpPr>
        <p:spPr>
          <a:xfrm>
            <a:off x="971550" y="169545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AWARENESS</a:t>
            </a:r>
          </a:p>
        </p:txBody>
      </p:sp>
      <p:sp>
        <p:nvSpPr>
          <p:cNvPr id="9" name="step-1-bullet-1-dot"/>
          <p:cNvSpPr/>
          <p:nvPr/>
        </p:nvSpPr>
        <p:spPr>
          <a:xfrm>
            <a:off x="742950" y="2152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body"/>
          <p:cNvSpPr txBox="1"/>
          <p:nvPr/>
        </p:nvSpPr>
        <p:spPr>
          <a:xfrm>
            <a:off x="838200" y="20955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Broad-reach brand campaigns across digital and offline</a:t>
            </a:r>
          </a:p>
        </p:txBody>
      </p:sp>
      <p:sp>
        <p:nvSpPr>
          <p:cNvPr id="11" name="step-1-bullet-2-dot"/>
          <p:cNvSpPr/>
          <p:nvPr/>
        </p:nvSpPr>
        <p:spPr>
          <a:xfrm>
            <a:off x="742950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1-body-2"/>
          <p:cNvSpPr txBox="1"/>
          <p:nvPr/>
        </p:nvSpPr>
        <p:spPr>
          <a:xfrm>
            <a:off x="838200" y="25717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Thought leadership content &amp; SEO-optimised publishing</a:t>
            </a:r>
          </a:p>
        </p:txBody>
      </p:sp>
      <p:sp>
        <p:nvSpPr>
          <p:cNvPr id="13" name="step-1-bullet-3-dot"/>
          <p:cNvSpPr/>
          <p:nvPr/>
        </p:nvSpPr>
        <p:spPr>
          <a:xfrm>
            <a:off x="742950" y="31051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1-body-3"/>
          <p:cNvSpPr txBox="1"/>
          <p:nvPr/>
        </p:nvSpPr>
        <p:spPr>
          <a:xfrm>
            <a:off x="838200" y="30480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Paid social targeting lookalike audiences</a:t>
            </a:r>
          </a:p>
        </p:txBody>
      </p:sp>
      <p:sp>
        <p:nvSpPr>
          <p:cNvPr id="15" name="step-1-bullet-4-dot"/>
          <p:cNvSpPr/>
          <p:nvPr/>
        </p:nvSpPr>
        <p:spPr>
          <a:xfrm>
            <a:off x="742950" y="35814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ep-1-body-4"/>
          <p:cNvSpPr txBox="1"/>
          <p:nvPr/>
        </p:nvSpPr>
        <p:spPr>
          <a:xfrm>
            <a:off x="838200" y="35242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Analyst relations &amp; industry conference presence</a:t>
            </a:r>
          </a:p>
        </p:txBody>
      </p:sp>
      <p:sp>
        <p:nvSpPr>
          <p:cNvPr id="17" name="step-1-metric-rule"/>
          <p:cNvSpPr/>
          <p:nvPr/>
        </p:nvSpPr>
        <p:spPr>
          <a:xfrm>
            <a:off x="723900" y="5048250"/>
            <a:ext cx="23145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1-meta-right"/>
          <p:cNvSpPr txBox="1"/>
          <p:nvPr/>
        </p:nvSpPr>
        <p:spPr>
          <a:xfrm>
            <a:off x="723900" y="51054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Target: 500K reach / qtr</a:t>
            </a:r>
          </a:p>
        </p:txBody>
      </p:sp>
      <p:sp>
        <p:nvSpPr>
          <p:cNvPr id="19" name="arrow-1-to-2"/>
          <p:cNvSpPr txBox="1"/>
          <p:nvPr/>
        </p:nvSpPr>
        <p:spPr>
          <a:xfrm>
            <a:off x="3190875" y="33813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20" name="step-2-body-bg"/>
          <p:cNvSpPr/>
          <p:nvPr/>
        </p:nvSpPr>
        <p:spPr>
          <a:xfrm>
            <a:off x="3419475" y="1619250"/>
            <a:ext cx="2543175" cy="3714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2-header-bg"/>
          <p:cNvSpPr/>
          <p:nvPr/>
        </p:nvSpPr>
        <p:spPr>
          <a:xfrm>
            <a:off x="3419475" y="1619250"/>
            <a:ext cx="2543175" cy="342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2-num"/>
          <p:cNvSpPr txBox="1"/>
          <p:nvPr/>
        </p:nvSpPr>
        <p:spPr>
          <a:xfrm>
            <a:off x="3514725" y="16954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3" name="step-2-name"/>
          <p:cNvSpPr txBox="1"/>
          <p:nvPr/>
        </p:nvSpPr>
        <p:spPr>
          <a:xfrm>
            <a:off x="3781425" y="169545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INTEREST</a:t>
            </a:r>
          </a:p>
        </p:txBody>
      </p:sp>
      <p:sp>
        <p:nvSpPr>
          <p:cNvPr id="24" name="step-2-bullet-1-dot"/>
          <p:cNvSpPr/>
          <p:nvPr/>
        </p:nvSpPr>
        <p:spPr>
          <a:xfrm>
            <a:off x="3552825" y="2152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2-body"/>
          <p:cNvSpPr txBox="1"/>
          <p:nvPr/>
        </p:nvSpPr>
        <p:spPr>
          <a:xfrm>
            <a:off x="3648075" y="20955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Gated content, webinars &amp; virtual events</a:t>
            </a:r>
          </a:p>
        </p:txBody>
      </p:sp>
      <p:sp>
        <p:nvSpPr>
          <p:cNvPr id="26" name="step-2-bullet-2-dot"/>
          <p:cNvSpPr/>
          <p:nvPr/>
        </p:nvSpPr>
        <p:spPr>
          <a:xfrm>
            <a:off x="3552825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tep-2-body-2"/>
          <p:cNvSpPr txBox="1"/>
          <p:nvPr/>
        </p:nvSpPr>
        <p:spPr>
          <a:xfrm>
            <a:off x="3648075" y="25717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Partner co-marketing and referral activation</a:t>
            </a:r>
          </a:p>
        </p:txBody>
      </p:sp>
      <p:sp>
        <p:nvSpPr>
          <p:cNvPr id="28" name="step-2-bullet-3-dot"/>
          <p:cNvSpPr/>
          <p:nvPr/>
        </p:nvSpPr>
        <p:spPr>
          <a:xfrm>
            <a:off x="3552825" y="31051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2-body-3"/>
          <p:cNvSpPr txBox="1"/>
          <p:nvPr/>
        </p:nvSpPr>
        <p:spPr>
          <a:xfrm>
            <a:off x="3648075" y="30480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Retargeting sequences for engaged visitors</a:t>
            </a:r>
          </a:p>
        </p:txBody>
      </p:sp>
      <p:sp>
        <p:nvSpPr>
          <p:cNvPr id="30" name="step-2-bullet-4-dot"/>
          <p:cNvSpPr/>
          <p:nvPr/>
        </p:nvSpPr>
        <p:spPr>
          <a:xfrm>
            <a:off x="3552825" y="35814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ep-2-body-4"/>
          <p:cNvSpPr txBox="1"/>
          <p:nvPr/>
        </p:nvSpPr>
        <p:spPr>
          <a:xfrm>
            <a:off x="3648075" y="35242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Account-based marketing for top 200 accounts</a:t>
            </a:r>
          </a:p>
        </p:txBody>
      </p:sp>
      <p:sp>
        <p:nvSpPr>
          <p:cNvPr id="32" name="step-2-metric-rule"/>
          <p:cNvSpPr/>
          <p:nvPr/>
        </p:nvSpPr>
        <p:spPr>
          <a:xfrm>
            <a:off x="3533775" y="5048250"/>
            <a:ext cx="23145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tep-2-meta-right"/>
          <p:cNvSpPr txBox="1"/>
          <p:nvPr/>
        </p:nvSpPr>
        <p:spPr>
          <a:xfrm>
            <a:off x="3533775" y="51054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Target: 12K MQLs / qtr</a:t>
            </a:r>
          </a:p>
        </p:txBody>
      </p:sp>
      <p:sp>
        <p:nvSpPr>
          <p:cNvPr id="34" name="arrow-2-to-3"/>
          <p:cNvSpPr txBox="1"/>
          <p:nvPr/>
        </p:nvSpPr>
        <p:spPr>
          <a:xfrm>
            <a:off x="6000750" y="33813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35" name="step-3-body-bg"/>
          <p:cNvSpPr/>
          <p:nvPr/>
        </p:nvSpPr>
        <p:spPr>
          <a:xfrm>
            <a:off x="6229350" y="1619250"/>
            <a:ext cx="2543175" cy="3714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tep-3-header-bg"/>
          <p:cNvSpPr/>
          <p:nvPr/>
        </p:nvSpPr>
        <p:spPr>
          <a:xfrm>
            <a:off x="6229350" y="1619250"/>
            <a:ext cx="2543175" cy="342900"/>
          </a:xfrm>
          <a:prstGeom prst="rect">
            <a:avLst/>
          </a:prstGeom>
          <a:solidFill>
            <a:srgbClr val="43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step-3-num"/>
          <p:cNvSpPr txBox="1"/>
          <p:nvPr/>
        </p:nvSpPr>
        <p:spPr>
          <a:xfrm>
            <a:off x="6324600" y="16954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8" name="step-3-name"/>
          <p:cNvSpPr txBox="1"/>
          <p:nvPr/>
        </p:nvSpPr>
        <p:spPr>
          <a:xfrm>
            <a:off x="6591300" y="169545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DECISION</a:t>
            </a:r>
          </a:p>
        </p:txBody>
      </p:sp>
      <p:sp>
        <p:nvSpPr>
          <p:cNvPr id="39" name="step-3-bullet-1-dot"/>
          <p:cNvSpPr/>
          <p:nvPr/>
        </p:nvSpPr>
        <p:spPr>
          <a:xfrm>
            <a:off x="6362700" y="2152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3-body"/>
          <p:cNvSpPr txBox="1"/>
          <p:nvPr/>
        </p:nvSpPr>
        <p:spPr>
          <a:xfrm>
            <a:off x="6457950" y="20955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SDR outreach, discovery calls &amp; product demos</a:t>
            </a:r>
          </a:p>
        </p:txBody>
      </p:sp>
      <p:sp>
        <p:nvSpPr>
          <p:cNvPr id="41" name="step-3-bullet-2-dot"/>
          <p:cNvSpPr/>
          <p:nvPr/>
        </p:nvSpPr>
        <p:spPr>
          <a:xfrm>
            <a:off x="6362700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3-body-2"/>
          <p:cNvSpPr txBox="1"/>
          <p:nvPr/>
        </p:nvSpPr>
        <p:spPr>
          <a:xfrm>
            <a:off x="6457950" y="25717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Free-trial or POC with success milestones</a:t>
            </a:r>
          </a:p>
        </p:txBody>
      </p:sp>
      <p:sp>
        <p:nvSpPr>
          <p:cNvPr id="43" name="step-3-bullet-3-dot"/>
          <p:cNvSpPr/>
          <p:nvPr/>
        </p:nvSpPr>
        <p:spPr>
          <a:xfrm>
            <a:off x="6362700" y="31051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3-body-3"/>
          <p:cNvSpPr txBox="1"/>
          <p:nvPr/>
        </p:nvSpPr>
        <p:spPr>
          <a:xfrm>
            <a:off x="6457950" y="30480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Competitive battle-cards &amp; ROI calculators</a:t>
            </a:r>
          </a:p>
        </p:txBody>
      </p:sp>
      <p:sp>
        <p:nvSpPr>
          <p:cNvPr id="45" name="step-3-bullet-4-dot"/>
          <p:cNvSpPr/>
          <p:nvPr/>
        </p:nvSpPr>
        <p:spPr>
          <a:xfrm>
            <a:off x="6362700" y="35814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tep-3-body-4"/>
          <p:cNvSpPr txBox="1"/>
          <p:nvPr/>
        </p:nvSpPr>
        <p:spPr>
          <a:xfrm>
            <a:off x="6457950" y="35242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Executive briefings &amp; reference customer calls</a:t>
            </a:r>
          </a:p>
        </p:txBody>
      </p:sp>
      <p:sp>
        <p:nvSpPr>
          <p:cNvPr id="47" name="step-3-metric-rule"/>
          <p:cNvSpPr/>
          <p:nvPr/>
        </p:nvSpPr>
        <p:spPr>
          <a:xfrm>
            <a:off x="6343650" y="5048250"/>
            <a:ext cx="23145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tep-3-meta-right"/>
          <p:cNvSpPr txBox="1"/>
          <p:nvPr/>
        </p:nvSpPr>
        <p:spPr>
          <a:xfrm>
            <a:off x="6343650" y="51054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Target: 2.4K SQLs / qtr</a:t>
            </a:r>
          </a:p>
        </p:txBody>
      </p:sp>
      <p:sp>
        <p:nvSpPr>
          <p:cNvPr id="49" name="arrow-3-to-4"/>
          <p:cNvSpPr txBox="1"/>
          <p:nvPr/>
        </p:nvSpPr>
        <p:spPr>
          <a:xfrm>
            <a:off x="8810625" y="338137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50" name="step-4-body-bg"/>
          <p:cNvSpPr/>
          <p:nvPr/>
        </p:nvSpPr>
        <p:spPr>
          <a:xfrm>
            <a:off x="9039225" y="1619250"/>
            <a:ext cx="2543175" cy="3714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ep-4-header-bg"/>
          <p:cNvSpPr/>
          <p:nvPr/>
        </p:nvSpPr>
        <p:spPr>
          <a:xfrm>
            <a:off x="9039225" y="1619250"/>
            <a:ext cx="2543175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tep-4-num"/>
          <p:cNvSpPr txBox="1"/>
          <p:nvPr/>
        </p:nvSpPr>
        <p:spPr>
          <a:xfrm>
            <a:off x="9134475" y="16954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3" name="step-4-name"/>
          <p:cNvSpPr txBox="1"/>
          <p:nvPr/>
        </p:nvSpPr>
        <p:spPr>
          <a:xfrm>
            <a:off x="9401175" y="169545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54" name="step-4-bullet-1-dot"/>
          <p:cNvSpPr/>
          <p:nvPr/>
        </p:nvSpPr>
        <p:spPr>
          <a:xfrm>
            <a:off x="9172575" y="2152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step-4-body"/>
          <p:cNvSpPr txBox="1"/>
          <p:nvPr/>
        </p:nvSpPr>
        <p:spPr>
          <a:xfrm>
            <a:off x="9267825" y="20955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Structured onboarding &amp; customer success handoff</a:t>
            </a:r>
          </a:p>
        </p:txBody>
      </p:sp>
      <p:sp>
        <p:nvSpPr>
          <p:cNvPr id="56" name="step-4-bullet-2-dot"/>
          <p:cNvSpPr/>
          <p:nvPr/>
        </p:nvSpPr>
        <p:spPr>
          <a:xfrm>
            <a:off x="9172575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tep-4-body-2"/>
          <p:cNvSpPr txBox="1"/>
          <p:nvPr/>
        </p:nvSpPr>
        <p:spPr>
          <a:xfrm>
            <a:off x="9267825" y="25717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Expansion plays: upsell, cross-sell, renewal</a:t>
            </a:r>
          </a:p>
        </p:txBody>
      </p:sp>
      <p:sp>
        <p:nvSpPr>
          <p:cNvPr id="58" name="step-4-bullet-3-dot"/>
          <p:cNvSpPr/>
          <p:nvPr/>
        </p:nvSpPr>
        <p:spPr>
          <a:xfrm>
            <a:off x="9172575" y="31051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tep-4-body-3"/>
          <p:cNvSpPr txBox="1"/>
          <p:nvPr/>
        </p:nvSpPr>
        <p:spPr>
          <a:xfrm>
            <a:off x="9267825" y="304800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NPS loop feeding advocacy &amp; referral programs</a:t>
            </a:r>
          </a:p>
        </p:txBody>
      </p:sp>
      <p:sp>
        <p:nvSpPr>
          <p:cNvPr id="60" name="step-4-bullet-4-dot"/>
          <p:cNvSpPr/>
          <p:nvPr/>
        </p:nvSpPr>
        <p:spPr>
          <a:xfrm>
            <a:off x="9172575" y="35814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ep-4-body-4"/>
          <p:cNvSpPr txBox="1"/>
          <p:nvPr/>
        </p:nvSpPr>
        <p:spPr>
          <a:xfrm>
            <a:off x="9267825" y="3524250"/>
            <a:ext cx="2238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Quarterly business reviews with named CSMs</a:t>
            </a:r>
          </a:p>
        </p:txBody>
      </p:sp>
      <p:sp>
        <p:nvSpPr>
          <p:cNvPr id="62" name="step-4-metric-rule"/>
          <p:cNvSpPr/>
          <p:nvPr/>
        </p:nvSpPr>
        <p:spPr>
          <a:xfrm>
            <a:off x="9153525" y="5048250"/>
            <a:ext cx="23145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tep-4-meta-right"/>
          <p:cNvSpPr txBox="1"/>
          <p:nvPr/>
        </p:nvSpPr>
        <p:spPr>
          <a:xfrm>
            <a:off x="9153525" y="51054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Target: 480 closed-won / qtr</a:t>
            </a:r>
          </a:p>
        </p:txBody>
      </p:sp>
      <p:sp>
        <p:nvSpPr>
          <p:cNvPr id="64" name="channels-label"/>
          <p:cNvSpPr txBox="1"/>
          <p:nvPr/>
        </p:nvSpPr>
        <p:spPr>
          <a:xfrm>
            <a:off x="609600" y="54673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CHANNELS</a:t>
            </a:r>
          </a:p>
        </p:txBody>
      </p:sp>
      <p:sp>
        <p:nvSpPr>
          <p:cNvPr id="65" name="step-1-channel-1"/>
          <p:cNvSpPr txBox="1"/>
          <p:nvPr/>
        </p:nvSpPr>
        <p:spPr>
          <a:xfrm>
            <a:off x="1695450" y="5467350"/>
            <a:ext cx="571500" cy="1714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Paid</a:t>
            </a:r>
          </a:p>
        </p:txBody>
      </p:sp>
      <p:sp>
        <p:nvSpPr>
          <p:cNvPr id="66" name="step-1-channel-2"/>
          <p:cNvSpPr txBox="1"/>
          <p:nvPr/>
        </p:nvSpPr>
        <p:spPr>
          <a:xfrm>
            <a:off x="2324100" y="5467350"/>
            <a:ext cx="571500" cy="1714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7D32"/>
                </a:solidFill>
                <a:latin typeface="Inter"/>
              </a:rPr>
              <a:t>Organic</a:t>
            </a:r>
          </a:p>
        </p:txBody>
      </p:sp>
      <p:sp>
        <p:nvSpPr>
          <p:cNvPr id="67" name="step-1-channel-3"/>
          <p:cNvSpPr txBox="1"/>
          <p:nvPr/>
        </p:nvSpPr>
        <p:spPr>
          <a:xfrm>
            <a:off x="2952750" y="5467350"/>
            <a:ext cx="571500" cy="1714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5100"/>
                </a:solidFill>
                <a:latin typeface="Inter"/>
              </a:rPr>
              <a:t>Social</a:t>
            </a:r>
          </a:p>
        </p:txBody>
      </p:sp>
      <p:sp>
        <p:nvSpPr>
          <p:cNvPr id="68" name="step-2-channel-1"/>
          <p:cNvSpPr txBox="1"/>
          <p:nvPr/>
        </p:nvSpPr>
        <p:spPr>
          <a:xfrm>
            <a:off x="4257675" y="5467350"/>
            <a:ext cx="571500" cy="1714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7D32"/>
                </a:solidFill>
                <a:latin typeface="Inter"/>
              </a:rPr>
              <a:t>Events</a:t>
            </a:r>
          </a:p>
        </p:txBody>
      </p:sp>
      <p:sp>
        <p:nvSpPr>
          <p:cNvPr id="69" name="step-2-channel-2"/>
          <p:cNvSpPr txBox="1"/>
          <p:nvPr/>
        </p:nvSpPr>
        <p:spPr>
          <a:xfrm>
            <a:off x="4886325" y="5467350"/>
            <a:ext cx="571500" cy="1714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5100"/>
                </a:solidFill>
                <a:latin typeface="Inter"/>
              </a:rPr>
              <a:t>Partner</a:t>
            </a:r>
          </a:p>
        </p:txBody>
      </p:sp>
      <p:sp>
        <p:nvSpPr>
          <p:cNvPr id="70" name="step-2-channel-3"/>
          <p:cNvSpPr txBox="1"/>
          <p:nvPr/>
        </p:nvSpPr>
        <p:spPr>
          <a:xfrm>
            <a:off x="5514975" y="5467350"/>
            <a:ext cx="571500" cy="1714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65C0"/>
                </a:solidFill>
                <a:latin typeface="Inter"/>
              </a:rPr>
              <a:t>Email</a:t>
            </a:r>
          </a:p>
        </p:txBody>
      </p:sp>
      <p:sp>
        <p:nvSpPr>
          <p:cNvPr id="71" name="step-3-channel-1"/>
          <p:cNvSpPr txBox="1"/>
          <p:nvPr/>
        </p:nvSpPr>
        <p:spPr>
          <a:xfrm>
            <a:off x="6819900" y="5467350"/>
            <a:ext cx="571500" cy="1714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65100"/>
                </a:solidFill>
                <a:latin typeface="Inter"/>
              </a:rPr>
              <a:t>SDR</a:t>
            </a:r>
          </a:p>
        </p:txBody>
      </p:sp>
      <p:sp>
        <p:nvSpPr>
          <p:cNvPr id="72" name="step-3-channel-2"/>
          <p:cNvSpPr txBox="1"/>
          <p:nvPr/>
        </p:nvSpPr>
        <p:spPr>
          <a:xfrm>
            <a:off x="7448550" y="5467350"/>
            <a:ext cx="571500" cy="1714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65C0"/>
                </a:solidFill>
                <a:latin typeface="Inter"/>
              </a:rPr>
              <a:t>Demo</a:t>
            </a:r>
          </a:p>
        </p:txBody>
      </p:sp>
      <p:sp>
        <p:nvSpPr>
          <p:cNvPr id="73" name="step-3-channel-3"/>
          <p:cNvSpPr txBox="1"/>
          <p:nvPr/>
        </p:nvSpPr>
        <p:spPr>
          <a:xfrm>
            <a:off x="8077200" y="5467350"/>
            <a:ext cx="571500" cy="1714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Trial</a:t>
            </a:r>
          </a:p>
        </p:txBody>
      </p:sp>
      <p:sp>
        <p:nvSpPr>
          <p:cNvPr id="74" name="step-4-channel-1"/>
          <p:cNvSpPr txBox="1"/>
          <p:nvPr/>
        </p:nvSpPr>
        <p:spPr>
          <a:xfrm>
            <a:off x="9382125" y="5467350"/>
            <a:ext cx="571500" cy="1714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65C0"/>
                </a:solidFill>
                <a:latin typeface="Inter"/>
              </a:rPr>
              <a:t>CS</a:t>
            </a:r>
          </a:p>
        </p:txBody>
      </p:sp>
      <p:sp>
        <p:nvSpPr>
          <p:cNvPr id="75" name="step-4-channel-2"/>
          <p:cNvSpPr txBox="1"/>
          <p:nvPr/>
        </p:nvSpPr>
        <p:spPr>
          <a:xfrm>
            <a:off x="10010775" y="5467350"/>
            <a:ext cx="571500" cy="1714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Onboard</a:t>
            </a:r>
          </a:p>
        </p:txBody>
      </p:sp>
      <p:sp>
        <p:nvSpPr>
          <p:cNvPr id="76" name="step-4-channel-3"/>
          <p:cNvSpPr txBox="1"/>
          <p:nvPr/>
        </p:nvSpPr>
        <p:spPr>
          <a:xfrm>
            <a:off x="10639425" y="5467350"/>
            <a:ext cx="571500" cy="1714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7D32"/>
                </a:solidFill>
                <a:latin typeface="Inter"/>
              </a:rPr>
              <a:t>Upsell</a:t>
            </a:r>
          </a:p>
        </p:txBody>
      </p:sp>
      <p:sp>
        <p:nvSpPr>
          <p:cNvPr id="7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