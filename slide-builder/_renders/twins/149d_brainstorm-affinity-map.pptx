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47 ideas generated, 4 themes emerged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technology and CX clusters have most cross-functional overlap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Ideation output · Affinity Map · Cross-functional ideation session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luster-1-bg"/>
          <p:cNvSpPr/>
          <p:nvPr/>
        </p:nvSpPr>
        <p:spPr>
          <a:xfrm>
            <a:off x="457200" y="20955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luster-1-accent"/>
          <p:cNvSpPr/>
          <p:nvPr/>
        </p:nvSpPr>
        <p:spPr>
          <a:xfrm>
            <a:off x="457200" y="2095500"/>
            <a:ext cx="558165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luster-1-heading"/>
          <p:cNvSpPr txBox="1"/>
          <p:nvPr/>
        </p:nvSpPr>
        <p:spPr>
          <a:xfrm>
            <a:off x="590550" y="22288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0A5FA"/>
                </a:solidFill>
                <a:latin typeface="Inter"/>
              </a:rPr>
              <a:t>CUSTOMER EXPERIENCE</a:t>
            </a:r>
          </a:p>
        </p:txBody>
      </p:sp>
      <p:sp>
        <p:nvSpPr>
          <p:cNvPr id="8" name="cluster-1-sticky-1-bg"/>
          <p:cNvSpPr/>
          <p:nvPr/>
        </p:nvSpPr>
        <p:spPr>
          <a:xfrm>
            <a:off x="5905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luster-1-sticky-1"/>
          <p:cNvSpPr txBox="1"/>
          <p:nvPr/>
        </p:nvSpPr>
        <p:spPr>
          <a:xfrm>
            <a:off x="6286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Faster checkout</a:t>
            </a:r>
          </a:p>
        </p:txBody>
      </p:sp>
      <p:sp>
        <p:nvSpPr>
          <p:cNvPr id="10" name="cluster-1-sticky-2-bg"/>
          <p:cNvSpPr/>
          <p:nvPr/>
        </p:nvSpPr>
        <p:spPr>
          <a:xfrm>
            <a:off x="23812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luster-1-sticky-2"/>
          <p:cNvSpPr txBox="1"/>
          <p:nvPr/>
        </p:nvSpPr>
        <p:spPr>
          <a:xfrm>
            <a:off x="24193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Loyalty rewards upgrade</a:t>
            </a:r>
          </a:p>
        </p:txBody>
      </p:sp>
      <p:sp>
        <p:nvSpPr>
          <p:cNvPr id="12" name="cluster-1-sticky-3-bg"/>
          <p:cNvSpPr/>
          <p:nvPr/>
        </p:nvSpPr>
        <p:spPr>
          <a:xfrm>
            <a:off x="41719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luster-1-sticky-3"/>
          <p:cNvSpPr txBox="1"/>
          <p:nvPr/>
        </p:nvSpPr>
        <p:spPr>
          <a:xfrm>
            <a:off x="42100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Personalized home page</a:t>
            </a:r>
          </a:p>
        </p:txBody>
      </p:sp>
      <p:sp>
        <p:nvSpPr>
          <p:cNvPr id="14" name="cluster-1-sticky-4-bg"/>
          <p:cNvSpPr/>
          <p:nvPr/>
        </p:nvSpPr>
        <p:spPr>
          <a:xfrm>
            <a:off x="5905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luster-1-sticky-4"/>
          <p:cNvSpPr txBox="1"/>
          <p:nvPr/>
        </p:nvSpPr>
        <p:spPr>
          <a:xfrm>
            <a:off x="6286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Return process simplified</a:t>
            </a:r>
          </a:p>
        </p:txBody>
      </p:sp>
      <p:sp>
        <p:nvSpPr>
          <p:cNvPr id="16" name="cluster-1-sticky-5-bg"/>
          <p:cNvSpPr/>
          <p:nvPr/>
        </p:nvSpPr>
        <p:spPr>
          <a:xfrm>
            <a:off x="23812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luster-1-sticky-5"/>
          <p:cNvSpPr txBox="1"/>
          <p:nvPr/>
        </p:nvSpPr>
        <p:spPr>
          <a:xfrm>
            <a:off x="24193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Chat-first support</a:t>
            </a:r>
          </a:p>
        </p:txBody>
      </p:sp>
      <p:sp>
        <p:nvSpPr>
          <p:cNvPr id="18" name="cluster-1-sticky-6-bg"/>
          <p:cNvSpPr/>
          <p:nvPr/>
        </p:nvSpPr>
        <p:spPr>
          <a:xfrm>
            <a:off x="41719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luster-1-sticky-6"/>
          <p:cNvSpPr txBox="1"/>
          <p:nvPr/>
        </p:nvSpPr>
        <p:spPr>
          <a:xfrm>
            <a:off x="42100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Self-serve account portal</a:t>
            </a:r>
          </a:p>
        </p:txBody>
      </p:sp>
      <p:sp>
        <p:nvSpPr>
          <p:cNvPr id="20" name="cluster-1-sticky-7-bg"/>
          <p:cNvSpPr/>
          <p:nvPr/>
        </p:nvSpPr>
        <p:spPr>
          <a:xfrm>
            <a:off x="5905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luster-1-sticky-7"/>
          <p:cNvSpPr txBox="1"/>
          <p:nvPr/>
        </p:nvSpPr>
        <p:spPr>
          <a:xfrm>
            <a:off x="6286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Proactive notifications</a:t>
            </a:r>
          </a:p>
        </p:txBody>
      </p:sp>
      <p:sp>
        <p:nvSpPr>
          <p:cNvPr id="22" name="cluster-1-sticky-8-bg"/>
          <p:cNvSpPr/>
          <p:nvPr/>
        </p:nvSpPr>
        <p:spPr>
          <a:xfrm>
            <a:off x="23812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luster-1-sticky-8"/>
          <p:cNvSpPr txBox="1"/>
          <p:nvPr/>
        </p:nvSpPr>
        <p:spPr>
          <a:xfrm>
            <a:off x="24193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Rating &amp; review system</a:t>
            </a:r>
          </a:p>
        </p:txBody>
      </p:sp>
      <p:sp>
        <p:nvSpPr>
          <p:cNvPr id="24" name="cluster-1-sticky-9-bg"/>
          <p:cNvSpPr/>
          <p:nvPr/>
        </p:nvSpPr>
        <p:spPr>
          <a:xfrm>
            <a:off x="41719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luster-1-sticky-9"/>
          <p:cNvSpPr txBox="1"/>
          <p:nvPr/>
        </p:nvSpPr>
        <p:spPr>
          <a:xfrm>
            <a:off x="42100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Omnichannel returns</a:t>
            </a:r>
          </a:p>
        </p:txBody>
      </p:sp>
      <p:sp>
        <p:nvSpPr>
          <p:cNvPr id="26" name="cluster-2-bg"/>
          <p:cNvSpPr/>
          <p:nvPr/>
        </p:nvSpPr>
        <p:spPr>
          <a:xfrm>
            <a:off x="6153150" y="20955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luster-2-accent"/>
          <p:cNvSpPr/>
          <p:nvPr/>
        </p:nvSpPr>
        <p:spPr>
          <a:xfrm>
            <a:off x="6153150" y="2095500"/>
            <a:ext cx="55816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luster-2-heading"/>
          <p:cNvSpPr txBox="1"/>
          <p:nvPr/>
        </p:nvSpPr>
        <p:spPr>
          <a:xfrm>
            <a:off x="6286500" y="22288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OPERATIONAL EFFICIENCY</a:t>
            </a:r>
          </a:p>
        </p:txBody>
      </p:sp>
      <p:sp>
        <p:nvSpPr>
          <p:cNvPr id="29" name="cluster-2-sticky-1-bg"/>
          <p:cNvSpPr/>
          <p:nvPr/>
        </p:nvSpPr>
        <p:spPr>
          <a:xfrm>
            <a:off x="62865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luster-2-sticky-1"/>
          <p:cNvSpPr txBox="1"/>
          <p:nvPr/>
        </p:nvSpPr>
        <p:spPr>
          <a:xfrm>
            <a:off x="63246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Automate invoice reconciliation</a:t>
            </a:r>
          </a:p>
        </p:txBody>
      </p:sp>
      <p:sp>
        <p:nvSpPr>
          <p:cNvPr id="31" name="cluster-2-sticky-2-bg"/>
          <p:cNvSpPr/>
          <p:nvPr/>
        </p:nvSpPr>
        <p:spPr>
          <a:xfrm>
            <a:off x="80772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luster-2-sticky-2"/>
          <p:cNvSpPr txBox="1"/>
          <p:nvPr/>
        </p:nvSpPr>
        <p:spPr>
          <a:xfrm>
            <a:off x="81153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Reduce approval chains</a:t>
            </a:r>
          </a:p>
        </p:txBody>
      </p:sp>
      <p:sp>
        <p:nvSpPr>
          <p:cNvPr id="33" name="cluster-2-sticky-3-bg"/>
          <p:cNvSpPr/>
          <p:nvPr/>
        </p:nvSpPr>
        <p:spPr>
          <a:xfrm>
            <a:off x="98679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luster-2-sticky-3"/>
          <p:cNvSpPr txBox="1"/>
          <p:nvPr/>
        </p:nvSpPr>
        <p:spPr>
          <a:xfrm>
            <a:off x="99060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Real-time inventory sync</a:t>
            </a:r>
          </a:p>
        </p:txBody>
      </p:sp>
      <p:sp>
        <p:nvSpPr>
          <p:cNvPr id="35" name="cluster-2-sticky-4-bg"/>
          <p:cNvSpPr/>
          <p:nvPr/>
        </p:nvSpPr>
        <p:spPr>
          <a:xfrm>
            <a:off x="62865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luster-2-sticky-4"/>
          <p:cNvSpPr txBox="1"/>
          <p:nvPr/>
        </p:nvSpPr>
        <p:spPr>
          <a:xfrm>
            <a:off x="63246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Vendor portal</a:t>
            </a:r>
          </a:p>
        </p:txBody>
      </p:sp>
      <p:sp>
        <p:nvSpPr>
          <p:cNvPr id="37" name="cluster-2-sticky-5-bg"/>
          <p:cNvSpPr/>
          <p:nvPr/>
        </p:nvSpPr>
        <p:spPr>
          <a:xfrm>
            <a:off x="80772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luster-2-sticky-5"/>
          <p:cNvSpPr txBox="1"/>
          <p:nvPr/>
        </p:nvSpPr>
        <p:spPr>
          <a:xfrm>
            <a:off x="81153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Batch → streaming ETL</a:t>
            </a:r>
          </a:p>
        </p:txBody>
      </p:sp>
      <p:sp>
        <p:nvSpPr>
          <p:cNvPr id="39" name="cluster-2-sticky-6-bg"/>
          <p:cNvSpPr/>
          <p:nvPr/>
        </p:nvSpPr>
        <p:spPr>
          <a:xfrm>
            <a:off x="98679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luster-2-sticky-6"/>
          <p:cNvSpPr txBox="1"/>
          <p:nvPr/>
        </p:nvSpPr>
        <p:spPr>
          <a:xfrm>
            <a:off x="99060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RPA for back-office</a:t>
            </a:r>
          </a:p>
        </p:txBody>
      </p:sp>
      <p:sp>
        <p:nvSpPr>
          <p:cNvPr id="41" name="cluster-2-sticky-7-bg"/>
          <p:cNvSpPr/>
          <p:nvPr/>
        </p:nvSpPr>
        <p:spPr>
          <a:xfrm>
            <a:off x="62865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luster-2-sticky-7"/>
          <p:cNvSpPr txBox="1"/>
          <p:nvPr/>
        </p:nvSpPr>
        <p:spPr>
          <a:xfrm>
            <a:off x="63246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Eliminate manual handoffs</a:t>
            </a:r>
          </a:p>
        </p:txBody>
      </p:sp>
      <p:sp>
        <p:nvSpPr>
          <p:cNvPr id="43" name="cluster-2-sticky-8-bg"/>
          <p:cNvSpPr/>
          <p:nvPr/>
        </p:nvSpPr>
        <p:spPr>
          <a:xfrm>
            <a:off x="80772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luster-2-sticky-8"/>
          <p:cNvSpPr txBox="1"/>
          <p:nvPr/>
        </p:nvSpPr>
        <p:spPr>
          <a:xfrm>
            <a:off x="81153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Shared service center</a:t>
            </a:r>
          </a:p>
        </p:txBody>
      </p:sp>
      <p:sp>
        <p:nvSpPr>
          <p:cNvPr id="45" name="cluster-2-sticky-9-bg"/>
          <p:cNvSpPr/>
          <p:nvPr/>
        </p:nvSpPr>
        <p:spPr>
          <a:xfrm>
            <a:off x="98679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luster-2-sticky-9"/>
          <p:cNvSpPr txBox="1"/>
          <p:nvPr/>
        </p:nvSpPr>
        <p:spPr>
          <a:xfrm>
            <a:off x="99060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Lean process mapping</a:t>
            </a:r>
          </a:p>
        </p:txBody>
      </p:sp>
      <p:sp>
        <p:nvSpPr>
          <p:cNvPr id="47" name="cluster-3-bg"/>
          <p:cNvSpPr/>
          <p:nvPr/>
        </p:nvSpPr>
        <p:spPr>
          <a:xfrm>
            <a:off x="457200" y="42672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luster-3-accent"/>
          <p:cNvSpPr/>
          <p:nvPr/>
        </p:nvSpPr>
        <p:spPr>
          <a:xfrm>
            <a:off x="457200" y="4267200"/>
            <a:ext cx="558165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luster-3-heading"/>
          <p:cNvSpPr txBox="1"/>
          <p:nvPr/>
        </p:nvSpPr>
        <p:spPr>
          <a:xfrm>
            <a:off x="590550" y="44005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PEOPLE &amp; CULTURE</a:t>
            </a:r>
          </a:p>
        </p:txBody>
      </p:sp>
      <p:sp>
        <p:nvSpPr>
          <p:cNvPr id="50" name="cluster-3-sticky-1-bg"/>
          <p:cNvSpPr/>
          <p:nvPr/>
        </p:nvSpPr>
        <p:spPr>
          <a:xfrm>
            <a:off x="5905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luster-3-sticky-1"/>
          <p:cNvSpPr txBox="1"/>
          <p:nvPr/>
        </p:nvSpPr>
        <p:spPr>
          <a:xfrm>
            <a:off x="6286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Remote work toolkit</a:t>
            </a:r>
          </a:p>
        </p:txBody>
      </p:sp>
      <p:sp>
        <p:nvSpPr>
          <p:cNvPr id="52" name="cluster-3-sticky-2-bg"/>
          <p:cNvSpPr/>
          <p:nvPr/>
        </p:nvSpPr>
        <p:spPr>
          <a:xfrm>
            <a:off x="23812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luster-3-sticky-2"/>
          <p:cNvSpPr txBox="1"/>
          <p:nvPr/>
        </p:nvSpPr>
        <p:spPr>
          <a:xfrm>
            <a:off x="24193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Peer recognition program</a:t>
            </a:r>
          </a:p>
        </p:txBody>
      </p:sp>
      <p:sp>
        <p:nvSpPr>
          <p:cNvPr id="54" name="cluster-3-sticky-3-bg"/>
          <p:cNvSpPr/>
          <p:nvPr/>
        </p:nvSpPr>
        <p:spPr>
          <a:xfrm>
            <a:off x="41719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luster-3-sticky-3"/>
          <p:cNvSpPr txBox="1"/>
          <p:nvPr/>
        </p:nvSpPr>
        <p:spPr>
          <a:xfrm>
            <a:off x="42100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Skills passport</a:t>
            </a:r>
          </a:p>
        </p:txBody>
      </p:sp>
      <p:sp>
        <p:nvSpPr>
          <p:cNvPr id="56" name="cluster-3-sticky-4-bg"/>
          <p:cNvSpPr/>
          <p:nvPr/>
        </p:nvSpPr>
        <p:spPr>
          <a:xfrm>
            <a:off x="5905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luster-3-sticky-4"/>
          <p:cNvSpPr txBox="1"/>
          <p:nvPr/>
        </p:nvSpPr>
        <p:spPr>
          <a:xfrm>
            <a:off x="6286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Manager coaching</a:t>
            </a:r>
          </a:p>
        </p:txBody>
      </p:sp>
      <p:sp>
        <p:nvSpPr>
          <p:cNvPr id="58" name="cluster-3-sticky-5-bg"/>
          <p:cNvSpPr/>
          <p:nvPr/>
        </p:nvSpPr>
        <p:spPr>
          <a:xfrm>
            <a:off x="23812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luster-3-sticky-5"/>
          <p:cNvSpPr txBox="1"/>
          <p:nvPr/>
        </p:nvSpPr>
        <p:spPr>
          <a:xfrm>
            <a:off x="24193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Mentorship circles</a:t>
            </a:r>
          </a:p>
        </p:txBody>
      </p:sp>
      <p:sp>
        <p:nvSpPr>
          <p:cNvPr id="60" name="cluster-3-sticky-6-bg"/>
          <p:cNvSpPr/>
          <p:nvPr/>
        </p:nvSpPr>
        <p:spPr>
          <a:xfrm>
            <a:off x="41719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luster-3-sticky-6"/>
          <p:cNvSpPr txBox="1"/>
          <p:nvPr/>
        </p:nvSpPr>
        <p:spPr>
          <a:xfrm>
            <a:off x="42100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Internal mobility hub</a:t>
            </a:r>
          </a:p>
        </p:txBody>
      </p:sp>
      <p:sp>
        <p:nvSpPr>
          <p:cNvPr id="62" name="cluster-3-sticky-7-bg"/>
          <p:cNvSpPr/>
          <p:nvPr/>
        </p:nvSpPr>
        <p:spPr>
          <a:xfrm>
            <a:off x="5905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luster-3-sticky-7"/>
          <p:cNvSpPr txBox="1"/>
          <p:nvPr/>
        </p:nvSpPr>
        <p:spPr>
          <a:xfrm>
            <a:off x="6286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Onboarding redesign</a:t>
            </a:r>
          </a:p>
        </p:txBody>
      </p:sp>
      <p:sp>
        <p:nvSpPr>
          <p:cNvPr id="64" name="cluster-3-sticky-8-bg"/>
          <p:cNvSpPr/>
          <p:nvPr/>
        </p:nvSpPr>
        <p:spPr>
          <a:xfrm>
            <a:off x="23812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luster-3-sticky-8"/>
          <p:cNvSpPr txBox="1"/>
          <p:nvPr/>
        </p:nvSpPr>
        <p:spPr>
          <a:xfrm>
            <a:off x="24193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Inclusion index</a:t>
            </a:r>
          </a:p>
        </p:txBody>
      </p:sp>
      <p:sp>
        <p:nvSpPr>
          <p:cNvPr id="66" name="cluster-3-sticky-9-bg"/>
          <p:cNvSpPr/>
          <p:nvPr/>
        </p:nvSpPr>
        <p:spPr>
          <a:xfrm>
            <a:off x="41719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luster-3-sticky-9"/>
          <p:cNvSpPr txBox="1"/>
          <p:nvPr/>
        </p:nvSpPr>
        <p:spPr>
          <a:xfrm>
            <a:off x="42100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Learning pathways</a:t>
            </a:r>
          </a:p>
        </p:txBody>
      </p:sp>
      <p:sp>
        <p:nvSpPr>
          <p:cNvPr id="68" name="cluster-4-bg"/>
          <p:cNvSpPr/>
          <p:nvPr/>
        </p:nvSpPr>
        <p:spPr>
          <a:xfrm>
            <a:off x="6153150" y="42672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luster-4-accent"/>
          <p:cNvSpPr/>
          <p:nvPr/>
        </p:nvSpPr>
        <p:spPr>
          <a:xfrm>
            <a:off x="6153150" y="4267200"/>
            <a:ext cx="558165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luster-4-heading"/>
          <p:cNvSpPr txBox="1"/>
          <p:nvPr/>
        </p:nvSpPr>
        <p:spPr>
          <a:xfrm>
            <a:off x="6286500" y="44005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TECHNOLOGY &amp; DATA</a:t>
            </a:r>
          </a:p>
        </p:txBody>
      </p:sp>
      <p:sp>
        <p:nvSpPr>
          <p:cNvPr id="71" name="cluster-4-sticky-1-bg"/>
          <p:cNvSpPr/>
          <p:nvPr/>
        </p:nvSpPr>
        <p:spPr>
          <a:xfrm>
            <a:off x="62865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luster-4-sticky-1"/>
          <p:cNvSpPr txBox="1"/>
          <p:nvPr/>
        </p:nvSpPr>
        <p:spPr>
          <a:xfrm>
            <a:off x="63246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Single data platform</a:t>
            </a:r>
          </a:p>
        </p:txBody>
      </p:sp>
      <p:sp>
        <p:nvSpPr>
          <p:cNvPr id="73" name="cluster-4-sticky-2-bg"/>
          <p:cNvSpPr/>
          <p:nvPr/>
        </p:nvSpPr>
        <p:spPr>
          <a:xfrm>
            <a:off x="80772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luster-4-sticky-2"/>
          <p:cNvSpPr txBox="1"/>
          <p:nvPr/>
        </p:nvSpPr>
        <p:spPr>
          <a:xfrm>
            <a:off x="81153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API governance</a:t>
            </a:r>
          </a:p>
        </p:txBody>
      </p:sp>
      <p:sp>
        <p:nvSpPr>
          <p:cNvPr id="75" name="cluster-4-sticky-3-bg"/>
          <p:cNvSpPr/>
          <p:nvPr/>
        </p:nvSpPr>
        <p:spPr>
          <a:xfrm>
            <a:off x="98679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luster-4-sticky-3"/>
          <p:cNvSpPr txBox="1"/>
          <p:nvPr/>
        </p:nvSpPr>
        <p:spPr>
          <a:xfrm>
            <a:off x="99060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AI/ML literacy training</a:t>
            </a:r>
          </a:p>
        </p:txBody>
      </p:sp>
      <p:sp>
        <p:nvSpPr>
          <p:cNvPr id="77" name="cluster-4-sticky-4-bg"/>
          <p:cNvSpPr/>
          <p:nvPr/>
        </p:nvSpPr>
        <p:spPr>
          <a:xfrm>
            <a:off x="62865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luster-4-sticky-4"/>
          <p:cNvSpPr txBox="1"/>
          <p:nvPr/>
        </p:nvSpPr>
        <p:spPr>
          <a:xfrm>
            <a:off x="63246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Cloud migration complete</a:t>
            </a:r>
          </a:p>
        </p:txBody>
      </p:sp>
      <p:sp>
        <p:nvSpPr>
          <p:cNvPr id="79" name="cluster-4-sticky-5-bg"/>
          <p:cNvSpPr/>
          <p:nvPr/>
        </p:nvSpPr>
        <p:spPr>
          <a:xfrm>
            <a:off x="80772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luster-4-sticky-5"/>
          <p:cNvSpPr txBox="1"/>
          <p:nvPr/>
        </p:nvSpPr>
        <p:spPr>
          <a:xfrm>
            <a:off x="81153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Zero-trust security</a:t>
            </a:r>
          </a:p>
        </p:txBody>
      </p:sp>
      <p:sp>
        <p:nvSpPr>
          <p:cNvPr id="81" name="cluster-4-sticky-6-bg"/>
          <p:cNvSpPr/>
          <p:nvPr/>
        </p:nvSpPr>
        <p:spPr>
          <a:xfrm>
            <a:off x="98679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luster-4-sticky-6"/>
          <p:cNvSpPr txBox="1"/>
          <p:nvPr/>
        </p:nvSpPr>
        <p:spPr>
          <a:xfrm>
            <a:off x="99060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Observability stack</a:t>
            </a:r>
          </a:p>
        </p:txBody>
      </p:sp>
      <p:sp>
        <p:nvSpPr>
          <p:cNvPr id="83" name="cluster-4-sticky-7-bg"/>
          <p:cNvSpPr/>
          <p:nvPr/>
        </p:nvSpPr>
        <p:spPr>
          <a:xfrm>
            <a:off x="62865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luster-4-sticky-7"/>
          <p:cNvSpPr txBox="1"/>
          <p:nvPr/>
        </p:nvSpPr>
        <p:spPr>
          <a:xfrm>
            <a:off x="63246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Data quality dashboards</a:t>
            </a:r>
          </a:p>
        </p:txBody>
      </p:sp>
      <p:sp>
        <p:nvSpPr>
          <p:cNvPr id="85" name="cluster-4-sticky-8-bg"/>
          <p:cNvSpPr/>
          <p:nvPr/>
        </p:nvSpPr>
        <p:spPr>
          <a:xfrm>
            <a:off x="80772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cluster-4-sticky-8"/>
          <p:cNvSpPr txBox="1"/>
          <p:nvPr/>
        </p:nvSpPr>
        <p:spPr>
          <a:xfrm>
            <a:off x="81153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Self-serve analytics</a:t>
            </a:r>
          </a:p>
        </p:txBody>
      </p:sp>
      <p:sp>
        <p:nvSpPr>
          <p:cNvPr id="87" name="cluster-4-sticky-9-bg"/>
          <p:cNvSpPr/>
          <p:nvPr/>
        </p:nvSpPr>
        <p:spPr>
          <a:xfrm>
            <a:off x="98679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cluster-4-sticky-9"/>
          <p:cNvSpPr txBox="1"/>
          <p:nvPr/>
        </p:nvSpPr>
        <p:spPr>
          <a:xfrm>
            <a:off x="99060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Event-driven architecture</a:t>
            </a:r>
          </a:p>
        </p:txBody>
      </p:sp>
      <p:sp>
        <p:nvSpPr>
          <p:cNvPr id="8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