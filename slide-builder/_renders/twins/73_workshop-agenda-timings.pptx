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33400" y="190500"/>
            <a:ext cx="111252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1950" b="1" i="0">
                <a:solidFill>
                  <a:srgbClr val="1A1A2E"/>
                </a:solidFill>
                <a:latin typeface="Inter"/>
              </a:rPr>
              <a:t>Workshop agenda — </a:t>
            </a:r>
            <a:r>
              <a:rPr sz="1950" b="1" i="0">
                <a:solidFill>
                  <a:srgbClr val="2D0A4E"/>
                </a:solidFill>
                <a:latin typeface="Inter"/>
              </a:rPr>
              <a:t>three hours, three decisions</a:t>
            </a:r>
            <a:r>
              <a:rPr sz="1950" b="1" i="0">
                <a:solidFill>
                  <a:srgbClr val="1A1A2E"/>
                </a:solidFill>
                <a:latin typeface="Inter"/>
              </a:rPr>
              <a:t>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33400" y="990600"/>
            <a:ext cx="7810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Pilot kickoff · run-of-show with owners and decision moments flagged.</a:t>
            </a:r>
          </a:p>
        </p:txBody>
      </p:sp>
      <p:sp>
        <p:nvSpPr>
          <p:cNvPr id="4" name="brand-rule"/>
          <p:cNvSpPr/>
          <p:nvPr/>
        </p:nvSpPr>
        <p:spPr>
          <a:xfrm>
            <a:off x="533400" y="125730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legend-bg"/>
          <p:cNvSpPr/>
          <p:nvPr/>
        </p:nvSpPr>
        <p:spPr>
          <a:xfrm>
            <a:off x="8382000" y="2190750"/>
            <a:ext cx="3429000" cy="2667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legend-sw-1"/>
          <p:cNvSpPr/>
          <p:nvPr/>
        </p:nvSpPr>
        <p:spPr>
          <a:xfrm>
            <a:off x="8496300" y="2276475"/>
            <a:ext cx="95250" cy="952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legend-lbl-1"/>
          <p:cNvSpPr txBox="1"/>
          <p:nvPr/>
        </p:nvSpPr>
        <p:spPr>
          <a:xfrm>
            <a:off x="8629650" y="2190750"/>
            <a:ext cx="6286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INTRO</a:t>
            </a:r>
          </a:p>
        </p:txBody>
      </p:sp>
      <p:sp>
        <p:nvSpPr>
          <p:cNvPr id="8" name="legend-sw-2"/>
          <p:cNvSpPr/>
          <p:nvPr/>
        </p:nvSpPr>
        <p:spPr>
          <a:xfrm>
            <a:off x="9296400" y="2276475"/>
            <a:ext cx="95250" cy="952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legend-lbl-2"/>
          <p:cNvSpPr txBox="1"/>
          <p:nvPr/>
        </p:nvSpPr>
        <p:spPr>
          <a:xfrm>
            <a:off x="9429750" y="2190750"/>
            <a:ext cx="6286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WORKING</a:t>
            </a:r>
          </a:p>
        </p:txBody>
      </p:sp>
      <p:sp>
        <p:nvSpPr>
          <p:cNvPr id="10" name="legend-sw-3"/>
          <p:cNvSpPr/>
          <p:nvPr/>
        </p:nvSpPr>
        <p:spPr>
          <a:xfrm>
            <a:off x="10096500" y="2276475"/>
            <a:ext cx="95250" cy="952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legend-lbl-3"/>
          <p:cNvSpPr txBox="1"/>
          <p:nvPr/>
        </p:nvSpPr>
        <p:spPr>
          <a:xfrm>
            <a:off x="10229850" y="2190750"/>
            <a:ext cx="6286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BREAK</a:t>
            </a:r>
          </a:p>
        </p:txBody>
      </p:sp>
      <p:sp>
        <p:nvSpPr>
          <p:cNvPr id="12" name="legend-sw-4"/>
          <p:cNvSpPr/>
          <p:nvPr/>
        </p:nvSpPr>
        <p:spPr>
          <a:xfrm>
            <a:off x="10896600" y="2276475"/>
            <a:ext cx="95250" cy="952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legend-lbl-4"/>
          <p:cNvSpPr txBox="1"/>
          <p:nvPr/>
        </p:nvSpPr>
        <p:spPr>
          <a:xfrm>
            <a:off x="11029950" y="2190750"/>
            <a:ext cx="6286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DECISION</a:t>
            </a:r>
          </a:p>
        </p:txBody>
      </p:sp>
      <p:sp>
        <p:nvSpPr>
          <p:cNvPr id="14" name="col-header-1"/>
          <p:cNvSpPr txBox="1"/>
          <p:nvPr/>
        </p:nvSpPr>
        <p:spPr>
          <a:xfrm>
            <a:off x="533400" y="2552700"/>
            <a:ext cx="10668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TIME</a:t>
            </a:r>
          </a:p>
        </p:txBody>
      </p:sp>
      <p:sp>
        <p:nvSpPr>
          <p:cNvPr id="15" name="col-header-2"/>
          <p:cNvSpPr txBox="1"/>
          <p:nvPr/>
        </p:nvSpPr>
        <p:spPr>
          <a:xfrm>
            <a:off x="2171700" y="2552700"/>
            <a:ext cx="77914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ITEM</a:t>
            </a:r>
          </a:p>
        </p:txBody>
      </p:sp>
      <p:sp>
        <p:nvSpPr>
          <p:cNvPr id="16" name="col-header-3"/>
          <p:cNvSpPr txBox="1"/>
          <p:nvPr/>
        </p:nvSpPr>
        <p:spPr>
          <a:xfrm>
            <a:off x="10134600" y="2552700"/>
            <a:ext cx="1524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OWNER</a:t>
            </a:r>
          </a:p>
        </p:txBody>
      </p:sp>
      <p:sp>
        <p:nvSpPr>
          <p:cNvPr id="17" name="col-header-rule"/>
          <p:cNvSpPr/>
          <p:nvPr/>
        </p:nvSpPr>
        <p:spPr>
          <a:xfrm>
            <a:off x="533400" y="2781300"/>
            <a:ext cx="11125200" cy="190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row-1-rule"/>
          <p:cNvSpPr/>
          <p:nvPr/>
        </p:nvSpPr>
        <p:spPr>
          <a:xfrm>
            <a:off x="533400" y="3219450"/>
            <a:ext cx="111252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row-1-time"/>
          <p:cNvSpPr txBox="1"/>
          <p:nvPr/>
        </p:nvSpPr>
        <p:spPr>
          <a:xfrm>
            <a:off x="533400" y="2819400"/>
            <a:ext cx="10668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Consolas"/>
              </a:rPr>
              <a:t>9:00 – 9:15</a:t>
            </a:r>
          </a:p>
        </p:txBody>
      </p:sp>
      <p:sp>
        <p:nvSpPr>
          <p:cNvPr id="20" name="row-1-tag"/>
          <p:cNvSpPr/>
          <p:nvPr/>
        </p:nvSpPr>
        <p:spPr>
          <a:xfrm>
            <a:off x="1771650" y="2971800"/>
            <a:ext cx="95250" cy="952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row-1-name"/>
          <p:cNvSpPr txBox="1"/>
          <p:nvPr/>
        </p:nvSpPr>
        <p:spPr>
          <a:xfrm>
            <a:off x="2171700" y="2857500"/>
            <a:ext cx="77914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Welcome + objectives</a:t>
            </a:r>
          </a:p>
        </p:txBody>
      </p:sp>
      <p:sp>
        <p:nvSpPr>
          <p:cNvPr id="22" name="row-1-desc"/>
          <p:cNvSpPr txBox="1"/>
          <p:nvPr/>
        </p:nvSpPr>
        <p:spPr>
          <a:xfrm>
            <a:off x="2171700" y="3028950"/>
            <a:ext cx="77914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Why we're here, what we'll decide, ground rules.</a:t>
            </a:r>
          </a:p>
        </p:txBody>
      </p:sp>
      <p:sp>
        <p:nvSpPr>
          <p:cNvPr id="23" name="row-1-owner"/>
          <p:cNvSpPr txBox="1"/>
          <p:nvPr/>
        </p:nvSpPr>
        <p:spPr>
          <a:xfrm>
            <a:off x="10134600" y="2857500"/>
            <a:ext cx="1524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Mario</a:t>
            </a:r>
          </a:p>
        </p:txBody>
      </p:sp>
      <p:sp>
        <p:nvSpPr>
          <p:cNvPr id="24" name="row-1-role"/>
          <p:cNvSpPr txBox="1"/>
          <p:nvPr/>
        </p:nvSpPr>
        <p:spPr>
          <a:xfrm>
            <a:off x="10134600" y="3028950"/>
            <a:ext cx="1524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FACILITATOR</a:t>
            </a:r>
          </a:p>
        </p:txBody>
      </p:sp>
      <p:sp>
        <p:nvSpPr>
          <p:cNvPr id="25" name="row-2-rule"/>
          <p:cNvSpPr/>
          <p:nvPr/>
        </p:nvSpPr>
        <p:spPr>
          <a:xfrm>
            <a:off x="533400" y="3619500"/>
            <a:ext cx="111252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row-2-time"/>
          <p:cNvSpPr txBox="1"/>
          <p:nvPr/>
        </p:nvSpPr>
        <p:spPr>
          <a:xfrm>
            <a:off x="533400" y="3219450"/>
            <a:ext cx="10668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Consolas"/>
              </a:rPr>
              <a:t>9:15 – 9:45</a:t>
            </a:r>
          </a:p>
        </p:txBody>
      </p:sp>
      <p:sp>
        <p:nvSpPr>
          <p:cNvPr id="27" name="row-2-tag"/>
          <p:cNvSpPr/>
          <p:nvPr/>
        </p:nvSpPr>
        <p:spPr>
          <a:xfrm>
            <a:off x="1771650" y="3371850"/>
            <a:ext cx="95250" cy="952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row-2-name"/>
          <p:cNvSpPr txBox="1"/>
          <p:nvPr/>
        </p:nvSpPr>
        <p:spPr>
          <a:xfrm>
            <a:off x="2171700" y="3257550"/>
            <a:ext cx="77914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Why we're here — context</a:t>
            </a:r>
          </a:p>
        </p:txBody>
      </p:sp>
      <p:sp>
        <p:nvSpPr>
          <p:cNvPr id="29" name="row-2-desc"/>
          <p:cNvSpPr txBox="1"/>
          <p:nvPr/>
        </p:nvSpPr>
        <p:spPr>
          <a:xfrm>
            <a:off x="2171700" y="3429000"/>
            <a:ext cx="77914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Walk through the pre-read; surface questions before demo.</a:t>
            </a:r>
          </a:p>
        </p:txBody>
      </p:sp>
      <p:sp>
        <p:nvSpPr>
          <p:cNvPr id="30" name="row-2-owner"/>
          <p:cNvSpPr txBox="1"/>
          <p:nvPr/>
        </p:nvSpPr>
        <p:spPr>
          <a:xfrm>
            <a:off x="10134600" y="3257550"/>
            <a:ext cx="1524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Sarah</a:t>
            </a:r>
          </a:p>
        </p:txBody>
      </p:sp>
      <p:sp>
        <p:nvSpPr>
          <p:cNvPr id="31" name="row-2-role"/>
          <p:cNvSpPr txBox="1"/>
          <p:nvPr/>
        </p:nvSpPr>
        <p:spPr>
          <a:xfrm>
            <a:off x="10134600" y="3429000"/>
            <a:ext cx="1524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PRE-READ REVIEW</a:t>
            </a:r>
          </a:p>
        </p:txBody>
      </p:sp>
      <p:sp>
        <p:nvSpPr>
          <p:cNvPr id="32" name="row-3-rule"/>
          <p:cNvSpPr/>
          <p:nvPr/>
        </p:nvSpPr>
        <p:spPr>
          <a:xfrm>
            <a:off x="533400" y="4019550"/>
            <a:ext cx="111252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row-3-time"/>
          <p:cNvSpPr txBox="1"/>
          <p:nvPr/>
        </p:nvSpPr>
        <p:spPr>
          <a:xfrm>
            <a:off x="533400" y="3619500"/>
            <a:ext cx="10668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Consolas"/>
              </a:rPr>
              <a:t>9:45 – 10:30</a:t>
            </a:r>
          </a:p>
        </p:txBody>
      </p:sp>
      <p:sp>
        <p:nvSpPr>
          <p:cNvPr id="34" name="row-3-tag"/>
          <p:cNvSpPr/>
          <p:nvPr/>
        </p:nvSpPr>
        <p:spPr>
          <a:xfrm>
            <a:off x="1771650" y="3771900"/>
            <a:ext cx="95250" cy="952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row-3-name"/>
          <p:cNvSpPr txBox="1"/>
          <p:nvPr/>
        </p:nvSpPr>
        <p:spPr>
          <a:xfrm>
            <a:off x="2171700" y="3657600"/>
            <a:ext cx="77914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Live demo</a:t>
            </a:r>
          </a:p>
        </p:txBody>
      </p:sp>
      <p:sp>
        <p:nvSpPr>
          <p:cNvPr id="36" name="row-3-desc"/>
          <p:cNvSpPr txBox="1"/>
          <p:nvPr/>
        </p:nvSpPr>
        <p:spPr>
          <a:xfrm>
            <a:off x="2171700" y="3829050"/>
            <a:ext cx="77914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Think → Argue → Build, end-to-end on a real brief.</a:t>
            </a:r>
          </a:p>
        </p:txBody>
      </p:sp>
      <p:sp>
        <p:nvSpPr>
          <p:cNvPr id="37" name="row-3-owner"/>
          <p:cNvSpPr txBox="1"/>
          <p:nvPr/>
        </p:nvSpPr>
        <p:spPr>
          <a:xfrm>
            <a:off x="10134600" y="3657600"/>
            <a:ext cx="1524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Mario</a:t>
            </a:r>
          </a:p>
        </p:txBody>
      </p:sp>
      <p:sp>
        <p:nvSpPr>
          <p:cNvPr id="38" name="row-3-role"/>
          <p:cNvSpPr txBox="1"/>
          <p:nvPr/>
        </p:nvSpPr>
        <p:spPr>
          <a:xfrm>
            <a:off x="10134600" y="3829050"/>
            <a:ext cx="1524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DRIVER</a:t>
            </a:r>
          </a:p>
        </p:txBody>
      </p:sp>
      <p:sp>
        <p:nvSpPr>
          <p:cNvPr id="39" name="row-4-bg"/>
          <p:cNvSpPr/>
          <p:nvPr/>
        </p:nvSpPr>
        <p:spPr>
          <a:xfrm>
            <a:off x="533400" y="4019550"/>
            <a:ext cx="11125200" cy="40005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" name="row-4-rule"/>
          <p:cNvSpPr/>
          <p:nvPr/>
        </p:nvSpPr>
        <p:spPr>
          <a:xfrm>
            <a:off x="533400" y="4419600"/>
            <a:ext cx="111252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" name="row-4-time"/>
          <p:cNvSpPr txBox="1"/>
          <p:nvPr/>
        </p:nvSpPr>
        <p:spPr>
          <a:xfrm>
            <a:off x="533400" y="4019550"/>
            <a:ext cx="10668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Consolas"/>
              </a:rPr>
              <a:t>10:30 – 10:45</a:t>
            </a:r>
          </a:p>
        </p:txBody>
      </p:sp>
      <p:sp>
        <p:nvSpPr>
          <p:cNvPr id="42" name="row-4-tag"/>
          <p:cNvSpPr/>
          <p:nvPr/>
        </p:nvSpPr>
        <p:spPr>
          <a:xfrm>
            <a:off x="1771650" y="4171950"/>
            <a:ext cx="95250" cy="952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row-4-name"/>
          <p:cNvSpPr txBox="1"/>
          <p:nvPr/>
        </p:nvSpPr>
        <p:spPr>
          <a:xfrm>
            <a:off x="2171700" y="4019550"/>
            <a:ext cx="779145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BREAK</a:t>
            </a:r>
          </a:p>
        </p:txBody>
      </p:sp>
      <p:sp>
        <p:nvSpPr>
          <p:cNvPr id="44" name="row-4-owner"/>
          <p:cNvSpPr txBox="1"/>
          <p:nvPr/>
        </p:nvSpPr>
        <p:spPr>
          <a:xfrm>
            <a:off x="10134600" y="4057650"/>
            <a:ext cx="1524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—</a:t>
            </a:r>
          </a:p>
        </p:txBody>
      </p:sp>
      <p:sp>
        <p:nvSpPr>
          <p:cNvPr id="45" name="row-5-rule"/>
          <p:cNvSpPr/>
          <p:nvPr/>
        </p:nvSpPr>
        <p:spPr>
          <a:xfrm>
            <a:off x="533400" y="4819650"/>
            <a:ext cx="111252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row-5-time"/>
          <p:cNvSpPr txBox="1"/>
          <p:nvPr/>
        </p:nvSpPr>
        <p:spPr>
          <a:xfrm>
            <a:off x="533400" y="4419600"/>
            <a:ext cx="10668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Consolas"/>
              </a:rPr>
              <a:t>10:45 – 11:15</a:t>
            </a:r>
          </a:p>
        </p:txBody>
      </p:sp>
      <p:sp>
        <p:nvSpPr>
          <p:cNvPr id="47" name="row-5-tag"/>
          <p:cNvSpPr/>
          <p:nvPr/>
        </p:nvSpPr>
        <p:spPr>
          <a:xfrm>
            <a:off x="1771650" y="4572000"/>
            <a:ext cx="95250" cy="952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" name="row-5-name"/>
          <p:cNvSpPr txBox="1"/>
          <p:nvPr/>
        </p:nvSpPr>
        <p:spPr>
          <a:xfrm>
            <a:off x="2171700" y="4457700"/>
            <a:ext cx="77914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Q&amp;A</a:t>
            </a:r>
          </a:p>
        </p:txBody>
      </p:sp>
      <p:sp>
        <p:nvSpPr>
          <p:cNvPr id="49" name="row-5-desc"/>
          <p:cNvSpPr txBox="1"/>
          <p:nvPr/>
        </p:nvSpPr>
        <p:spPr>
          <a:xfrm>
            <a:off x="2171700" y="4629150"/>
            <a:ext cx="77914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Open floor — concerns, edge cases, objections.</a:t>
            </a:r>
          </a:p>
        </p:txBody>
      </p:sp>
      <p:sp>
        <p:nvSpPr>
          <p:cNvPr id="50" name="row-5-owner"/>
          <p:cNvSpPr txBox="1"/>
          <p:nvPr/>
        </p:nvSpPr>
        <p:spPr>
          <a:xfrm>
            <a:off x="10134600" y="4457700"/>
            <a:ext cx="1524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All</a:t>
            </a:r>
          </a:p>
        </p:txBody>
      </p:sp>
      <p:sp>
        <p:nvSpPr>
          <p:cNvPr id="51" name="row-5-role"/>
          <p:cNvSpPr txBox="1"/>
          <p:nvPr/>
        </p:nvSpPr>
        <p:spPr>
          <a:xfrm>
            <a:off x="10134600" y="4629150"/>
            <a:ext cx="1524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GROUP</a:t>
            </a:r>
          </a:p>
        </p:txBody>
      </p:sp>
      <p:sp>
        <p:nvSpPr>
          <p:cNvPr id="52" name="row-6-rule"/>
          <p:cNvSpPr/>
          <p:nvPr/>
        </p:nvSpPr>
        <p:spPr>
          <a:xfrm>
            <a:off x="533400" y="5219700"/>
            <a:ext cx="111252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3" name="row-6-time"/>
          <p:cNvSpPr txBox="1"/>
          <p:nvPr/>
        </p:nvSpPr>
        <p:spPr>
          <a:xfrm>
            <a:off x="533400" y="4819650"/>
            <a:ext cx="10668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Consolas"/>
              </a:rPr>
              <a:t>11:15 – 11:45</a:t>
            </a:r>
          </a:p>
        </p:txBody>
      </p:sp>
      <p:sp>
        <p:nvSpPr>
          <p:cNvPr id="54" name="row-6-tag"/>
          <p:cNvSpPr/>
          <p:nvPr/>
        </p:nvSpPr>
        <p:spPr>
          <a:xfrm>
            <a:off x="1771650" y="4972050"/>
            <a:ext cx="95250" cy="952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5" name="row-6-name"/>
          <p:cNvSpPr txBox="1"/>
          <p:nvPr/>
        </p:nvSpPr>
        <p:spPr>
          <a:xfrm>
            <a:off x="2171700" y="4857750"/>
            <a:ext cx="77914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Pilot scoping working session</a:t>
            </a:r>
          </a:p>
        </p:txBody>
      </p:sp>
      <p:sp>
        <p:nvSpPr>
          <p:cNvPr id="56" name="row-6-desc"/>
          <p:cNvSpPr txBox="1"/>
          <p:nvPr/>
        </p:nvSpPr>
        <p:spPr>
          <a:xfrm>
            <a:off x="2171700" y="5029200"/>
            <a:ext cx="77914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Team, use cases, success metrics — draft on the wall.</a:t>
            </a:r>
          </a:p>
        </p:txBody>
      </p:sp>
      <p:sp>
        <p:nvSpPr>
          <p:cNvPr id="57" name="row-6-owner"/>
          <p:cNvSpPr txBox="1"/>
          <p:nvPr/>
        </p:nvSpPr>
        <p:spPr>
          <a:xfrm>
            <a:off x="10134600" y="4857750"/>
            <a:ext cx="1524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Maria</a:t>
            </a:r>
          </a:p>
        </p:txBody>
      </p:sp>
      <p:sp>
        <p:nvSpPr>
          <p:cNvPr id="58" name="row-6-role"/>
          <p:cNvSpPr txBox="1"/>
          <p:nvPr/>
        </p:nvSpPr>
        <p:spPr>
          <a:xfrm>
            <a:off x="10134600" y="5029200"/>
            <a:ext cx="1524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LEAD</a:t>
            </a:r>
          </a:p>
        </p:txBody>
      </p:sp>
      <p:sp>
        <p:nvSpPr>
          <p:cNvPr id="59" name="row-7-bg"/>
          <p:cNvSpPr/>
          <p:nvPr/>
        </p:nvSpPr>
        <p:spPr>
          <a:xfrm>
            <a:off x="533400" y="5219700"/>
            <a:ext cx="11125200" cy="400050"/>
          </a:xfrm>
          <a:prstGeom prst="rect">
            <a:avLst/>
          </a:prstGeom>
          <a:solidFill>
            <a:srgbClr val="F7E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1" name="row-7-time"/>
          <p:cNvSpPr txBox="1"/>
          <p:nvPr/>
        </p:nvSpPr>
        <p:spPr>
          <a:xfrm>
            <a:off x="533400" y="5219700"/>
            <a:ext cx="10668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Consolas"/>
              </a:rPr>
              <a:t>11:45 – 12:00</a:t>
            </a:r>
          </a:p>
        </p:txBody>
      </p:sp>
      <p:sp>
        <p:nvSpPr>
          <p:cNvPr id="62" name="row-7-tag"/>
          <p:cNvSpPr/>
          <p:nvPr/>
        </p:nvSpPr>
        <p:spPr>
          <a:xfrm>
            <a:off x="1771650" y="5372100"/>
            <a:ext cx="95250" cy="952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3" name="row-7-name"/>
          <p:cNvSpPr txBox="1"/>
          <p:nvPr/>
        </p:nvSpPr>
        <p:spPr>
          <a:xfrm>
            <a:off x="2171700" y="5257800"/>
            <a:ext cx="77914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Decision: scope + go/no-go</a:t>
            </a:r>
          </a:p>
        </p:txBody>
      </p:sp>
      <p:sp>
        <p:nvSpPr>
          <p:cNvPr id="64" name="row-7-decision-pill"/>
          <p:cNvSpPr/>
          <p:nvPr/>
        </p:nvSpPr>
        <p:spPr>
          <a:xfrm>
            <a:off x="4743450" y="5276850"/>
            <a:ext cx="666750" cy="133350"/>
          </a:xfrm>
          <a:prstGeom prst="rect">
            <a:avLst/>
          </a:prstGeom>
          <a:solidFill>
            <a:srgbClr val="F7E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5" name="row-7-decision-pill-text"/>
          <p:cNvSpPr txBox="1"/>
          <p:nvPr/>
        </p:nvSpPr>
        <p:spPr>
          <a:xfrm>
            <a:off x="4743450" y="5276850"/>
            <a:ext cx="6667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DECISION</a:t>
            </a:r>
          </a:p>
        </p:txBody>
      </p:sp>
      <p:sp>
        <p:nvSpPr>
          <p:cNvPr id="66" name="row-7-desc"/>
          <p:cNvSpPr txBox="1"/>
          <p:nvPr/>
        </p:nvSpPr>
        <p:spPr>
          <a:xfrm>
            <a:off x="2171700" y="5429250"/>
            <a:ext cx="77914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Lock the pilot scope, confirm sponsor, set kickoff date.</a:t>
            </a:r>
          </a:p>
        </p:txBody>
      </p:sp>
      <p:sp>
        <p:nvSpPr>
          <p:cNvPr id="67" name="row-7-owner"/>
          <p:cNvSpPr txBox="1"/>
          <p:nvPr/>
        </p:nvSpPr>
        <p:spPr>
          <a:xfrm>
            <a:off x="10134600" y="5257800"/>
            <a:ext cx="1524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MD</a:t>
            </a:r>
          </a:p>
        </p:txBody>
      </p:sp>
      <p:sp>
        <p:nvSpPr>
          <p:cNvPr id="68" name="row-7-role"/>
          <p:cNvSpPr txBox="1"/>
          <p:nvPr/>
        </p:nvSpPr>
        <p:spPr>
          <a:xfrm>
            <a:off x="10134600" y="5429250"/>
            <a:ext cx="1524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DECISION OWNER</a:t>
            </a:r>
          </a:p>
        </p:txBody>
      </p:sp>
      <p:sp>
        <p:nvSpPr>
          <p:cNvPr id="70" name="total-label"/>
          <p:cNvSpPr txBox="1"/>
          <p:nvPr/>
        </p:nvSpPr>
        <p:spPr>
          <a:xfrm>
            <a:off x="533400" y="5734050"/>
            <a:ext cx="103632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TOTAL DURATION</a:t>
            </a:r>
          </a:p>
        </p:txBody>
      </p:sp>
      <p:sp>
        <p:nvSpPr>
          <p:cNvPr id="71" name="total-value"/>
          <p:cNvSpPr txBox="1"/>
          <p:nvPr/>
        </p:nvSpPr>
        <p:spPr>
          <a:xfrm>
            <a:off x="10991850" y="5734050"/>
            <a:ext cx="666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3h 00m</a:t>
            </a:r>
          </a:p>
        </p:txBody>
      </p:sp>
      <p:sp>
        <p:nvSpPr>
          <p:cNvPr id="72" name="convergence-bg"/>
          <p:cNvSpPr/>
          <p:nvPr/>
        </p:nvSpPr>
        <p:spPr>
          <a:xfrm>
            <a:off x="533400" y="5981700"/>
            <a:ext cx="11125200" cy="2857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3" name="convergence-accent"/>
          <p:cNvSpPr/>
          <p:nvPr/>
        </p:nvSpPr>
        <p:spPr>
          <a:xfrm>
            <a:off x="533400" y="5981700"/>
            <a:ext cx="28575" cy="2857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4" name="convergence"/>
          <p:cNvSpPr txBox="1"/>
          <p:nvPr/>
        </p:nvSpPr>
        <p:spPr>
          <a:xfrm>
            <a:off x="666750" y="5981700"/>
            <a:ext cx="108966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Three decision moments — flagged.</a:t>
            </a:r>
            <a:r>
              <a:rPr sz="1050" b="0" i="0">
                <a:solidFill>
                  <a:srgbClr val="2D0A4E"/>
                </a:solidFill>
                <a:latin typeface="Inter"/>
              </a:rPr>
              <a:t> Everything else is groundwork.</a:t>
            </a:r>
          </a:p>
        </p:txBody>
      </p:sp>
      <p:sp>
        <p:nvSpPr>
          <p:cNvPr id="75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76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77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73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