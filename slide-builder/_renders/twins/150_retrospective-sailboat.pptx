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cean-bg-top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ocean-bg-bot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itle-fade"/>
          <p:cNvSpPr/>
          <p:nvPr/>
        </p:nvSpPr>
        <p:spPr>
          <a:xfrm>
            <a:off x="0" y="0"/>
            <a:ext cx="12192000" cy="1381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6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7" name="eyebrow"/>
          <p:cNvSpPr txBox="1"/>
          <p:nvPr/>
        </p:nvSpPr>
        <p:spPr>
          <a:xfrm>
            <a:off x="457200" y="55245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SPRINT RETROSPECTIVE · SAILBOAT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Velocity is strong but three risks need mitigation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— anchor items from sprint 4 must be resolved before Phase 2 launch</a:t>
            </a:r>
          </a:p>
        </p:txBody>
      </p:sp>
      <p:sp>
        <p:nvSpPr>
          <p:cNvPr id="9" name="brand-rule"/>
          <p:cNvSpPr/>
          <p:nvPr/>
        </p:nvSpPr>
        <p:spPr>
          <a:xfrm>
            <a:off x="457200" y="11811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quadrant-tl-bg"/>
          <p:cNvSpPr/>
          <p:nvPr/>
        </p:nvSpPr>
        <p:spPr>
          <a:xfrm>
            <a:off x="457200" y="1352550"/>
            <a:ext cx="5581650" cy="2219325"/>
          </a:xfrm>
          <a:prstGeom prst="rect">
            <a:avLst/>
          </a:prstGeom>
          <a:solidFill>
            <a:srgbClr val="F3E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rant-tl-header"/>
          <p:cNvSpPr/>
          <p:nvPr/>
        </p:nvSpPr>
        <p:spPr>
          <a:xfrm>
            <a:off x="457200" y="1352550"/>
            <a:ext cx="55816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quadrant-tl-icon"/>
          <p:cNvSpPr txBox="1"/>
          <p:nvPr/>
        </p:nvSpPr>
        <p:spPr>
          <a:xfrm>
            <a:off x="552450" y="139065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FFFFFF"/>
                </a:solidFill>
                <a:latin typeface="Inter"/>
              </a:rPr>
              <a:t>💨</a:t>
            </a:r>
          </a:p>
        </p:txBody>
      </p:sp>
      <p:sp>
        <p:nvSpPr>
          <p:cNvPr id="13" name="quadrant-tl-name"/>
          <p:cNvSpPr txBox="1"/>
          <p:nvPr/>
        </p:nvSpPr>
        <p:spPr>
          <a:xfrm>
            <a:off x="838200" y="1428750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SAIL &amp; WIND — WHAT PROPELLED US</a:t>
            </a:r>
          </a:p>
        </p:txBody>
      </p:sp>
      <p:sp>
        <p:nvSpPr>
          <p:cNvPr id="14" name="quadrant-tl-body"/>
          <p:cNvSpPr txBox="1"/>
          <p:nvPr/>
        </p:nvSpPr>
        <p:spPr>
          <a:xfrm>
            <a:off x="590550" y="1733550"/>
            <a:ext cx="5314950" cy="1762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Strong stakeholder alignment kept priorities stable across all sprints
· Pre-built accelerators saved 3 weeks of custom development effort
· Team velocity improved 40% from sprint 1 to sprint 4</a:t>
            </a:r>
          </a:p>
        </p:txBody>
      </p:sp>
      <p:sp>
        <p:nvSpPr>
          <p:cNvPr id="15" name="quadrant-tr-bg"/>
          <p:cNvSpPr/>
          <p:nvPr/>
        </p:nvSpPr>
        <p:spPr>
          <a:xfrm>
            <a:off x="6153150" y="1352550"/>
            <a:ext cx="5581650" cy="2219325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rant-tr-header"/>
          <p:cNvSpPr/>
          <p:nvPr/>
        </p:nvSpPr>
        <p:spPr>
          <a:xfrm>
            <a:off x="6153150" y="1352550"/>
            <a:ext cx="5581650" cy="2857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adrant-tr-icon"/>
          <p:cNvSpPr txBox="1"/>
          <p:nvPr/>
        </p:nvSpPr>
        <p:spPr>
          <a:xfrm>
            <a:off x="6248400" y="139065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FFFFFF"/>
                </a:solidFill>
                <a:latin typeface="Inter"/>
              </a:rPr>
              <a:t>🏝️</a:t>
            </a:r>
          </a:p>
        </p:txBody>
      </p:sp>
      <p:sp>
        <p:nvSpPr>
          <p:cNvPr id="18" name="quadrant-tr-name"/>
          <p:cNvSpPr txBox="1"/>
          <p:nvPr/>
        </p:nvSpPr>
        <p:spPr>
          <a:xfrm>
            <a:off x="6534150" y="1428750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ISLAND — GOALS &amp; VISION</a:t>
            </a:r>
          </a:p>
        </p:txBody>
      </p:sp>
      <p:sp>
        <p:nvSpPr>
          <p:cNvPr id="19" name="quadrant-tr-body"/>
          <p:cNvSpPr txBox="1"/>
          <p:nvPr/>
        </p:nvSpPr>
        <p:spPr>
          <a:xfrm>
            <a:off x="6286500" y="1733550"/>
            <a:ext cx="5314950" cy="1762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Deliver Phase 2 on time by end of Q3
· 100% user adoption across all business units
· Reduce defect rate to &lt;2% in production</a:t>
            </a:r>
          </a:p>
        </p:txBody>
      </p:sp>
      <p:sp>
        <p:nvSpPr>
          <p:cNvPr id="20" name="quadrant-bl-bg"/>
          <p:cNvSpPr/>
          <p:nvPr/>
        </p:nvSpPr>
        <p:spPr>
          <a:xfrm>
            <a:off x="457200" y="3686175"/>
            <a:ext cx="5581650" cy="2219325"/>
          </a:xfrm>
          <a:prstGeom prst="rect">
            <a:avLst/>
          </a:prstGeom>
          <a:solidFill>
            <a:srgbClr val="EE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rant-bl-header"/>
          <p:cNvSpPr/>
          <p:nvPr/>
        </p:nvSpPr>
        <p:spPr>
          <a:xfrm>
            <a:off x="457200" y="3686175"/>
            <a:ext cx="5581650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quadrant-bl-icon"/>
          <p:cNvSpPr txBox="1"/>
          <p:nvPr/>
        </p:nvSpPr>
        <p:spPr>
          <a:xfrm>
            <a:off x="552450" y="3724275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FFFFFF"/>
                </a:solidFill>
                <a:latin typeface="Inter"/>
              </a:rPr>
              <a:t>⚓</a:t>
            </a:r>
          </a:p>
        </p:txBody>
      </p:sp>
      <p:sp>
        <p:nvSpPr>
          <p:cNvPr id="23" name="quadrant-bl-name"/>
          <p:cNvSpPr txBox="1"/>
          <p:nvPr/>
        </p:nvSpPr>
        <p:spPr>
          <a:xfrm>
            <a:off x="838200" y="3762375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ANCHOR — WHAT SLOWED US</a:t>
            </a:r>
          </a:p>
        </p:txBody>
      </p:sp>
      <p:sp>
        <p:nvSpPr>
          <p:cNvPr id="24" name="quadrant-bl-body"/>
          <p:cNvSpPr txBox="1"/>
          <p:nvPr/>
        </p:nvSpPr>
        <p:spPr>
          <a:xfrm>
            <a:off x="590550" y="4067175"/>
            <a:ext cx="5314950" cy="1762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Legacy system dependencies blocked three sprint deliverables
· Unclear requirements in sprint 4 caused two rework cycles
· 3 team members on leave reduced capacity by 25% in weeks 6-8</a:t>
            </a:r>
          </a:p>
        </p:txBody>
      </p:sp>
      <p:sp>
        <p:nvSpPr>
          <p:cNvPr id="25" name="quadrant-br-bg"/>
          <p:cNvSpPr/>
          <p:nvPr/>
        </p:nvSpPr>
        <p:spPr>
          <a:xfrm>
            <a:off x="6153150" y="3686175"/>
            <a:ext cx="5581650" cy="2219325"/>
          </a:xfrm>
          <a:prstGeom prst="rect">
            <a:avLst/>
          </a:prstGeom>
          <a:solidFill>
            <a:srgbClr val="FDF8F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br-header"/>
          <p:cNvSpPr/>
          <p:nvPr/>
        </p:nvSpPr>
        <p:spPr>
          <a:xfrm>
            <a:off x="6153150" y="3686175"/>
            <a:ext cx="5581650" cy="285750"/>
          </a:xfrm>
          <a:prstGeom prst="rect">
            <a:avLst/>
          </a:prstGeom>
          <a:solidFill>
            <a:srgbClr val="F59E9E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quadrant-br-icon"/>
          <p:cNvSpPr txBox="1"/>
          <p:nvPr/>
        </p:nvSpPr>
        <p:spPr>
          <a:xfrm>
            <a:off x="6248400" y="3724275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FFFFFF"/>
                </a:solidFill>
                <a:latin typeface="Inter"/>
              </a:rPr>
              <a:t>🪨</a:t>
            </a:r>
          </a:p>
        </p:txBody>
      </p:sp>
      <p:sp>
        <p:nvSpPr>
          <p:cNvPr id="28" name="quadrant-br-name"/>
          <p:cNvSpPr txBox="1"/>
          <p:nvPr/>
        </p:nvSpPr>
        <p:spPr>
          <a:xfrm>
            <a:off x="6534150" y="3762375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ROCKS — RISKS AHEAD</a:t>
            </a:r>
          </a:p>
        </p:txBody>
      </p:sp>
      <p:sp>
        <p:nvSpPr>
          <p:cNvPr id="29" name="quadrant-br-body"/>
          <p:cNvSpPr txBox="1"/>
          <p:nvPr/>
        </p:nvSpPr>
        <p:spPr>
          <a:xfrm>
            <a:off x="6286500" y="4067175"/>
            <a:ext cx="5314950" cy="1762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Integration testing window is tight - only 4 days before Phase 2 freeze
· Budget variance likely if scope creeps beyond current sprint plan
· Key stakeholder availability drops in July - decisions may stall</a:t>
            </a:r>
          </a:p>
        </p:txBody>
      </p:sp>
      <p:sp>
        <p:nvSpPr>
          <p:cNvPr id="30" name="convergence-bg"/>
          <p:cNvSpPr/>
          <p:nvPr/>
        </p:nvSpPr>
        <p:spPr>
          <a:xfrm>
            <a:off x="457200" y="6286500"/>
            <a:ext cx="112776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nvergence-mark"/>
          <p:cNvSpPr txBox="1"/>
          <p:nvPr/>
        </p:nvSpPr>
        <p:spPr>
          <a:xfrm>
            <a:off x="571500" y="6353175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32" name="convergence"/>
          <p:cNvSpPr txBox="1"/>
          <p:nvPr/>
        </p:nvSpPr>
        <p:spPr>
          <a:xfrm>
            <a:off x="1447800" y="628650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Velocity is strong and the island is in sight — but three anchor items from sprint 4 and a tight integration window must be resolved before Phase 2 launch or the rocks will stop us.</a:t>
            </a:r>
          </a:p>
        </p:txBody>
      </p:sp>
      <p:sp>
        <p:nvSpPr>
          <p:cNvPr id="34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35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