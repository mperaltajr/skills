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Porter's Value Chain reveals where you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create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and where you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erode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margin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382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Map primary and support activities to identify competitive advantage and cost drivers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0477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619250"/>
            <a:ext cx="10972800" cy="40957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c-framework-label"/>
          <p:cNvSpPr txBox="1"/>
          <p:nvPr/>
        </p:nvSpPr>
        <p:spPr>
          <a:xfrm>
            <a:off x="685800" y="2381250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PORTER'S VALUE CHAIN</a:t>
            </a:r>
          </a:p>
        </p:txBody>
      </p:sp>
      <p:sp>
        <p:nvSpPr>
          <p:cNvPr id="7" name="vc-support-label"/>
          <p:cNvSpPr txBox="1"/>
          <p:nvPr/>
        </p:nvSpPr>
        <p:spPr>
          <a:xfrm>
            <a:off x="990600" y="1714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SUPPORT ACTIVITIES</a:t>
            </a:r>
          </a:p>
        </p:txBody>
      </p:sp>
      <p:sp>
        <p:nvSpPr>
          <p:cNvPr id="8" name="vc-support-1-bar"/>
          <p:cNvSpPr/>
          <p:nvPr/>
        </p:nvSpPr>
        <p:spPr>
          <a:xfrm>
            <a:off x="990600" y="1905000"/>
            <a:ext cx="9829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vc-support-1-name"/>
          <p:cNvSpPr txBox="1"/>
          <p:nvPr/>
        </p:nvSpPr>
        <p:spPr>
          <a:xfrm>
            <a:off x="1104900" y="198120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Firm Infrastructure</a:t>
            </a:r>
          </a:p>
        </p:txBody>
      </p:sp>
      <p:sp>
        <p:nvSpPr>
          <p:cNvPr id="10" name="vc-support-1-items"/>
          <p:cNvSpPr txBox="1"/>
          <p:nvPr/>
        </p:nvSpPr>
        <p:spPr>
          <a:xfrm>
            <a:off x="3086100" y="1981200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0E0"/>
                </a:solidFill>
                <a:latin typeface="Inter"/>
              </a:rPr>
              <a:t>Finance &amp; accounting · Legal, compliance &amp; governance</a:t>
            </a:r>
          </a:p>
        </p:txBody>
      </p:sp>
      <p:sp>
        <p:nvSpPr>
          <p:cNvPr id="11" name="vc-support-2-bar"/>
          <p:cNvSpPr/>
          <p:nvPr/>
        </p:nvSpPr>
        <p:spPr>
          <a:xfrm>
            <a:off x="990600" y="2295525"/>
            <a:ext cx="9829800" cy="361950"/>
          </a:xfrm>
          <a:prstGeom prst="rect">
            <a:avLst/>
          </a:prstGeom>
          <a:solidFill>
            <a:srgbClr val="3D1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vc-support-2-name"/>
          <p:cNvSpPr txBox="1"/>
          <p:nvPr/>
        </p:nvSpPr>
        <p:spPr>
          <a:xfrm>
            <a:off x="1104900" y="2371725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Human Resource Mgmt</a:t>
            </a:r>
          </a:p>
        </p:txBody>
      </p:sp>
      <p:sp>
        <p:nvSpPr>
          <p:cNvPr id="13" name="vc-support-2-items"/>
          <p:cNvSpPr txBox="1"/>
          <p:nvPr/>
        </p:nvSpPr>
        <p:spPr>
          <a:xfrm>
            <a:off x="3086100" y="2371725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0E0"/>
                </a:solidFill>
                <a:latin typeface="Inter"/>
              </a:rPr>
              <a:t>Talent acquisition &amp; retention · Training &amp; performance systems</a:t>
            </a:r>
          </a:p>
        </p:txBody>
      </p:sp>
      <p:sp>
        <p:nvSpPr>
          <p:cNvPr id="14" name="vc-support-3-bar"/>
          <p:cNvSpPr/>
          <p:nvPr/>
        </p:nvSpPr>
        <p:spPr>
          <a:xfrm>
            <a:off x="990600" y="2686050"/>
            <a:ext cx="9829800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vc-support-3-name"/>
          <p:cNvSpPr txBox="1"/>
          <p:nvPr/>
        </p:nvSpPr>
        <p:spPr>
          <a:xfrm>
            <a:off x="1104900" y="27622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Development</a:t>
            </a:r>
          </a:p>
        </p:txBody>
      </p:sp>
      <p:sp>
        <p:nvSpPr>
          <p:cNvPr id="16" name="vc-support-3-items"/>
          <p:cNvSpPr txBox="1"/>
          <p:nvPr/>
        </p:nvSpPr>
        <p:spPr>
          <a:xfrm>
            <a:off x="3086100" y="2762250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0E0"/>
                </a:solidFill>
                <a:latin typeface="Inter"/>
              </a:rPr>
              <a:t>R&amp;D and process automation · IT infrastructure &amp; data platforms</a:t>
            </a:r>
          </a:p>
        </p:txBody>
      </p:sp>
      <p:sp>
        <p:nvSpPr>
          <p:cNvPr id="17" name="vc-support-4-bar"/>
          <p:cNvSpPr/>
          <p:nvPr/>
        </p:nvSpPr>
        <p:spPr>
          <a:xfrm>
            <a:off x="990600" y="3076575"/>
            <a:ext cx="9829800" cy="361950"/>
          </a:xfrm>
          <a:prstGeom prst="rect">
            <a:avLst/>
          </a:prstGeom>
          <a:solidFill>
            <a:srgbClr val="7A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vc-support-4-name"/>
          <p:cNvSpPr txBox="1"/>
          <p:nvPr/>
        </p:nvSpPr>
        <p:spPr>
          <a:xfrm>
            <a:off x="1104900" y="3152775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Procurement</a:t>
            </a:r>
          </a:p>
        </p:txBody>
      </p:sp>
      <p:sp>
        <p:nvSpPr>
          <p:cNvPr id="19" name="vc-support-4-items"/>
          <p:cNvSpPr txBox="1"/>
          <p:nvPr/>
        </p:nvSpPr>
        <p:spPr>
          <a:xfrm>
            <a:off x="3086100" y="3152775"/>
            <a:ext cx="7543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8C0E0"/>
                </a:solidFill>
                <a:latin typeface="Inter"/>
              </a:rPr>
              <a:t>Supplier selection &amp; negotiation · Strategic vendor partnerships</a:t>
            </a:r>
          </a:p>
        </p:txBody>
      </p:sp>
      <p:sp>
        <p:nvSpPr>
          <p:cNvPr id="20" name="vc-divider"/>
          <p:cNvSpPr/>
          <p:nvPr/>
        </p:nvSpPr>
        <p:spPr>
          <a:xfrm>
            <a:off x="990600" y="3524250"/>
            <a:ext cx="9829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vc-primary-label"/>
          <p:cNvSpPr txBox="1"/>
          <p:nvPr/>
        </p:nvSpPr>
        <p:spPr>
          <a:xfrm>
            <a:off x="990600" y="360045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PRIMARY ACTIVITIES</a:t>
            </a:r>
          </a:p>
        </p:txBody>
      </p:sp>
      <p:sp>
        <p:nvSpPr>
          <p:cNvPr id="22" name="vc-primary-1-seg"/>
          <p:cNvSpPr/>
          <p:nvPr/>
        </p:nvSpPr>
        <p:spPr>
          <a:xfrm>
            <a:off x="990600" y="3790950"/>
            <a:ext cx="1943100" cy="18478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vc-primary-1-name"/>
          <p:cNvSpPr txBox="1"/>
          <p:nvPr/>
        </p:nvSpPr>
        <p:spPr>
          <a:xfrm>
            <a:off x="1123950" y="3905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Inbound Logistics</a:t>
            </a:r>
          </a:p>
        </p:txBody>
      </p:sp>
      <p:sp>
        <p:nvSpPr>
          <p:cNvPr id="24" name="vc-primary-1-bullets"/>
          <p:cNvSpPr txBox="1"/>
          <p:nvPr/>
        </p:nvSpPr>
        <p:spPr>
          <a:xfrm>
            <a:off x="1123950" y="4152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Receiving &amp; warehousing</a:t>
            </a:r>
          </a:p>
        </p:txBody>
      </p:sp>
      <p:sp>
        <p:nvSpPr>
          <p:cNvPr id="25" name="vc-primary-1-bullet-2"/>
          <p:cNvSpPr txBox="1"/>
          <p:nvPr/>
        </p:nvSpPr>
        <p:spPr>
          <a:xfrm>
            <a:off x="1123950" y="4305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Inventory control</a:t>
            </a:r>
          </a:p>
        </p:txBody>
      </p:sp>
      <p:sp>
        <p:nvSpPr>
          <p:cNvPr id="26" name="vc-primary-2-seg"/>
          <p:cNvSpPr/>
          <p:nvPr/>
        </p:nvSpPr>
        <p:spPr>
          <a:xfrm>
            <a:off x="2952750" y="3790950"/>
            <a:ext cx="1943100" cy="1847850"/>
          </a:xfrm>
          <a:prstGeom prst="rect">
            <a:avLst/>
          </a:prstGeom>
          <a:solidFill>
            <a:srgbClr val="3D1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vc-primary-2-name"/>
          <p:cNvSpPr txBox="1"/>
          <p:nvPr/>
        </p:nvSpPr>
        <p:spPr>
          <a:xfrm>
            <a:off x="3086100" y="3905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28" name="vc-primary-2-bullets"/>
          <p:cNvSpPr txBox="1"/>
          <p:nvPr/>
        </p:nvSpPr>
        <p:spPr>
          <a:xfrm>
            <a:off x="3086100" y="4152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Manufacturing &amp; assembly</a:t>
            </a:r>
          </a:p>
        </p:txBody>
      </p:sp>
      <p:sp>
        <p:nvSpPr>
          <p:cNvPr id="29" name="vc-primary-2-bullet-2"/>
          <p:cNvSpPr txBox="1"/>
          <p:nvPr/>
        </p:nvSpPr>
        <p:spPr>
          <a:xfrm>
            <a:off x="3086100" y="4305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Quality management</a:t>
            </a:r>
          </a:p>
        </p:txBody>
      </p:sp>
      <p:sp>
        <p:nvSpPr>
          <p:cNvPr id="30" name="vc-primary-3-seg"/>
          <p:cNvSpPr/>
          <p:nvPr/>
        </p:nvSpPr>
        <p:spPr>
          <a:xfrm>
            <a:off x="4914900" y="3790950"/>
            <a:ext cx="1943100" cy="1847850"/>
          </a:xfrm>
          <a:prstGeom prst="rect">
            <a:avLst/>
          </a:prstGeom>
          <a:solidFill>
            <a:srgbClr val="4A1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vc-primary-3-name"/>
          <p:cNvSpPr txBox="1"/>
          <p:nvPr/>
        </p:nvSpPr>
        <p:spPr>
          <a:xfrm>
            <a:off x="5048250" y="3905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Outbound Logistics</a:t>
            </a:r>
          </a:p>
        </p:txBody>
      </p:sp>
      <p:sp>
        <p:nvSpPr>
          <p:cNvPr id="32" name="vc-primary-3-bullets"/>
          <p:cNvSpPr txBox="1"/>
          <p:nvPr/>
        </p:nvSpPr>
        <p:spPr>
          <a:xfrm>
            <a:off x="5048250" y="4152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Order fulfillment</a:t>
            </a:r>
          </a:p>
        </p:txBody>
      </p:sp>
      <p:sp>
        <p:nvSpPr>
          <p:cNvPr id="33" name="vc-primary-3-bullet-2"/>
          <p:cNvSpPr txBox="1"/>
          <p:nvPr/>
        </p:nvSpPr>
        <p:spPr>
          <a:xfrm>
            <a:off x="5048250" y="4305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Distribution &amp; delivery</a:t>
            </a:r>
          </a:p>
        </p:txBody>
      </p:sp>
      <p:sp>
        <p:nvSpPr>
          <p:cNvPr id="34" name="vc-primary-4-seg"/>
          <p:cNvSpPr/>
          <p:nvPr/>
        </p:nvSpPr>
        <p:spPr>
          <a:xfrm>
            <a:off x="6877050" y="3790950"/>
            <a:ext cx="1943100" cy="18478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vc-primary-4-name"/>
          <p:cNvSpPr txBox="1"/>
          <p:nvPr/>
        </p:nvSpPr>
        <p:spPr>
          <a:xfrm>
            <a:off x="7010400" y="3905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Marketing &amp; Sales</a:t>
            </a:r>
          </a:p>
        </p:txBody>
      </p:sp>
      <p:sp>
        <p:nvSpPr>
          <p:cNvPr id="36" name="vc-primary-4-bullets"/>
          <p:cNvSpPr txBox="1"/>
          <p:nvPr/>
        </p:nvSpPr>
        <p:spPr>
          <a:xfrm>
            <a:off x="7010400" y="4152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Pricing &amp; promotion</a:t>
            </a:r>
          </a:p>
        </p:txBody>
      </p:sp>
      <p:sp>
        <p:nvSpPr>
          <p:cNvPr id="37" name="vc-primary-4-bullet-2"/>
          <p:cNvSpPr txBox="1"/>
          <p:nvPr/>
        </p:nvSpPr>
        <p:spPr>
          <a:xfrm>
            <a:off x="7010400" y="4305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Channel management</a:t>
            </a:r>
          </a:p>
        </p:txBody>
      </p:sp>
      <p:sp>
        <p:nvSpPr>
          <p:cNvPr id="38" name="vc-primary-5-seg"/>
          <p:cNvSpPr/>
          <p:nvPr/>
        </p:nvSpPr>
        <p:spPr>
          <a:xfrm>
            <a:off x="8839200" y="3790950"/>
            <a:ext cx="1943100" cy="18478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vc-primary-5-name"/>
          <p:cNvSpPr txBox="1"/>
          <p:nvPr/>
        </p:nvSpPr>
        <p:spPr>
          <a:xfrm>
            <a:off x="8972550" y="39052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Service</a:t>
            </a:r>
          </a:p>
        </p:txBody>
      </p:sp>
      <p:sp>
        <p:nvSpPr>
          <p:cNvPr id="40" name="vc-primary-5-bullets"/>
          <p:cNvSpPr txBox="1"/>
          <p:nvPr/>
        </p:nvSpPr>
        <p:spPr>
          <a:xfrm>
            <a:off x="8972550" y="41529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After-sales support</a:t>
            </a:r>
          </a:p>
        </p:txBody>
      </p:sp>
      <p:sp>
        <p:nvSpPr>
          <p:cNvPr id="41" name="vc-primary-5-bullet-2"/>
          <p:cNvSpPr txBox="1"/>
          <p:nvPr/>
        </p:nvSpPr>
        <p:spPr>
          <a:xfrm>
            <a:off x="8972550" y="4305300"/>
            <a:ext cx="1695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FBCE3"/>
                </a:solidFill>
                <a:latin typeface="Inter"/>
              </a:rPr>
              <a:t>· Repair &amp; warranty</a:t>
            </a:r>
          </a:p>
        </p:txBody>
      </p:sp>
      <p:sp>
        <p:nvSpPr>
          <p:cNvPr id="42" name="vc-margin-box"/>
          <p:cNvSpPr/>
          <p:nvPr/>
        </p:nvSpPr>
        <p:spPr>
          <a:xfrm>
            <a:off x="10877550" y="3790950"/>
            <a:ext cx="666750" cy="1847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vc-margin"/>
          <p:cNvSpPr txBox="1"/>
          <p:nvPr/>
        </p:nvSpPr>
        <p:spPr>
          <a:xfrm>
            <a:off x="10877550" y="3790950"/>
            <a:ext cx="666750" cy="1847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MARGIN</a:t>
            </a:r>
          </a:p>
        </p:txBody>
      </p:sp>
      <p:sp>
        <p:nvSpPr>
          <p:cNvPr id="4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