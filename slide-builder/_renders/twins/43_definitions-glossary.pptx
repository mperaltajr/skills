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Vocabulary — six terms before we go further.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Same words, same meaning — the shared dictionary for everything that follows.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-1"/>
          <p:cNvSpPr txBox="1"/>
          <p:nvPr/>
        </p:nvSpPr>
        <p:spPr>
          <a:xfrm>
            <a:off x="609600" y="1905000"/>
            <a:ext cx="2286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TERM</a:t>
            </a:r>
          </a:p>
        </p:txBody>
      </p:sp>
      <p:sp>
        <p:nvSpPr>
          <p:cNvPr id="6" name="table-head-2"/>
          <p:cNvSpPr txBox="1"/>
          <p:nvPr/>
        </p:nvSpPr>
        <p:spPr>
          <a:xfrm>
            <a:off x="3200400" y="1905000"/>
            <a:ext cx="838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DEFINITION</a:t>
            </a:r>
          </a:p>
        </p:txBody>
      </p:sp>
      <p:sp>
        <p:nvSpPr>
          <p:cNvPr id="7" name="table-head-rule"/>
          <p:cNvSpPr/>
          <p:nvPr/>
        </p:nvSpPr>
        <p:spPr>
          <a:xfrm>
            <a:off x="609600" y="2076450"/>
            <a:ext cx="109728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rm-1-label"/>
          <p:cNvSpPr txBox="1"/>
          <p:nvPr/>
        </p:nvSpPr>
        <p:spPr>
          <a:xfrm>
            <a:off x="609600" y="2286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GOVERNING THOUGHT</a:t>
            </a:r>
          </a:p>
        </p:txBody>
      </p:sp>
      <p:sp>
        <p:nvSpPr>
          <p:cNvPr id="9" name="term-1-def"/>
          <p:cNvSpPr txBox="1"/>
          <p:nvPr/>
        </p:nvSpPr>
        <p:spPr>
          <a:xfrm>
            <a:off x="3200400" y="22860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 single sentence the whole deck has to prove. If the deck were one sentence, it's this one.</a:t>
            </a:r>
          </a:p>
        </p:txBody>
      </p:sp>
      <p:sp>
        <p:nvSpPr>
          <p:cNvPr id="10" name="term-1-rule"/>
          <p:cNvSpPr/>
          <p:nvPr/>
        </p:nvSpPr>
        <p:spPr>
          <a:xfrm>
            <a:off x="609600" y="2762250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rm-2-label"/>
          <p:cNvSpPr txBox="1"/>
          <p:nvPr/>
        </p:nvSpPr>
        <p:spPr>
          <a:xfrm>
            <a:off x="609600" y="28575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ACTION TITLE</a:t>
            </a:r>
          </a:p>
        </p:txBody>
      </p:sp>
      <p:sp>
        <p:nvSpPr>
          <p:cNvPr id="12" name="term-2-def"/>
          <p:cNvSpPr txBox="1"/>
          <p:nvPr/>
        </p:nvSpPr>
        <p:spPr>
          <a:xfrm>
            <a:off x="3200400" y="28575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 headline of each slide, written as a declarative sentence with a verb and a so-what. Not "Background" — "Background shows we lost 60% of cycle time in this phase."</a:t>
            </a:r>
          </a:p>
        </p:txBody>
      </p:sp>
      <p:sp>
        <p:nvSpPr>
          <p:cNvPr id="13" name="term-2-rule"/>
          <p:cNvSpPr/>
          <p:nvPr/>
        </p:nvSpPr>
        <p:spPr>
          <a:xfrm>
            <a:off x="609600" y="3333750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rm-3-label"/>
          <p:cNvSpPr txBox="1"/>
          <p:nvPr/>
        </p:nvSpPr>
        <p:spPr>
          <a:xfrm>
            <a:off x="609600" y="3429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SO-WHAT</a:t>
            </a:r>
          </a:p>
        </p:txBody>
      </p:sp>
      <p:sp>
        <p:nvSpPr>
          <p:cNvPr id="15" name="term-3-def"/>
          <p:cNvSpPr txBox="1"/>
          <p:nvPr/>
        </p:nvSpPr>
        <p:spPr>
          <a:xfrm>
            <a:off x="3200400" y="34290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 decision or action a slide demands of the reader. Every slide has one; most slides don't say it.</a:t>
            </a:r>
          </a:p>
        </p:txBody>
      </p:sp>
      <p:sp>
        <p:nvSpPr>
          <p:cNvPr id="16" name="term-3-rule"/>
          <p:cNvSpPr/>
          <p:nvPr/>
        </p:nvSpPr>
        <p:spPr>
          <a:xfrm>
            <a:off x="609600" y="3905250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rm-4-label"/>
          <p:cNvSpPr txBox="1"/>
          <p:nvPr/>
        </p:nvSpPr>
        <p:spPr>
          <a:xfrm>
            <a:off x="609600" y="40005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INVARIANT ZONE</a:t>
            </a:r>
          </a:p>
        </p:txBody>
      </p:sp>
      <p:sp>
        <p:nvSpPr>
          <p:cNvPr id="18" name="term-4-def"/>
          <p:cNvSpPr txBox="1"/>
          <p:nvPr/>
        </p:nvSpPr>
        <p:spPr>
          <a:xfrm>
            <a:off x="3200400" y="40005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 fixed parts of every slide that shouldn't change deck-to-deck: page number, source line, footer, brand chrome.</a:t>
            </a:r>
          </a:p>
        </p:txBody>
      </p:sp>
      <p:sp>
        <p:nvSpPr>
          <p:cNvPr id="19" name="term-4-prov"/>
          <p:cNvSpPr txBox="1"/>
          <p:nvPr/>
        </p:nvSpPr>
        <p:spPr>
          <a:xfrm>
            <a:off x="3200400" y="4267200"/>
            <a:ext cx="838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PROVENANCE  Borrowed from architecture — "the parts that hold even when everything else moves."</a:t>
            </a:r>
          </a:p>
        </p:txBody>
      </p:sp>
      <p:sp>
        <p:nvSpPr>
          <p:cNvPr id="20" name="term-4-rule"/>
          <p:cNvSpPr/>
          <p:nvPr/>
        </p:nvSpPr>
        <p:spPr>
          <a:xfrm>
            <a:off x="609600" y="4476750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rm-5-label"/>
          <p:cNvSpPr txBox="1"/>
          <p:nvPr/>
        </p:nvSpPr>
        <p:spPr>
          <a:xfrm>
            <a:off x="609600" y="4572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MECE</a:t>
            </a:r>
          </a:p>
        </p:txBody>
      </p:sp>
      <p:sp>
        <p:nvSpPr>
          <p:cNvPr id="22" name="term-5-def"/>
          <p:cNvSpPr txBox="1"/>
          <p:nvPr/>
        </p:nvSpPr>
        <p:spPr>
          <a:xfrm>
            <a:off x="3200400" y="45720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Mutually Exclusive, Collectively Exhaustive. The discipline of cutting a problem into non-overlapping pieces that cover the whole space.</a:t>
            </a:r>
          </a:p>
        </p:txBody>
      </p:sp>
      <p:sp>
        <p:nvSpPr>
          <p:cNvPr id="23" name="term-5-rule"/>
          <p:cNvSpPr/>
          <p:nvPr/>
        </p:nvSpPr>
        <p:spPr>
          <a:xfrm>
            <a:off x="609600" y="5048250"/>
            <a:ext cx="10972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erm-6-label"/>
          <p:cNvSpPr txBox="1"/>
          <p:nvPr/>
        </p:nvSpPr>
        <p:spPr>
          <a:xfrm>
            <a:off x="609600" y="51435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CONVERGENCE LINE</a:t>
            </a:r>
          </a:p>
        </p:txBody>
      </p:sp>
      <p:sp>
        <p:nvSpPr>
          <p:cNvPr id="25" name="term-6-def"/>
          <p:cNvSpPr txBox="1"/>
          <p:nvPr/>
        </p:nvSpPr>
        <p:spPr>
          <a:xfrm>
            <a:off x="3200400" y="51435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 italic statement at the bottom of an argument slide that closes it — the final claim the evidence supports.</a:t>
            </a:r>
          </a:p>
        </p:txBody>
      </p:sp>
      <p:sp>
        <p:nvSpPr>
          <p:cNvPr id="26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Same words, same meaning — that's where the conversation starts.</a:t>
            </a:r>
          </a:p>
        </p:txBody>
      </p:sp>
      <p:sp>
        <p:nvSpPr>
          <p:cNvPr id="2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