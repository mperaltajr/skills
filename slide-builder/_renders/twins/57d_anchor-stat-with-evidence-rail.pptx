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0"/>
            <a:ext cx="857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FY29 NRB OUTLOOK · RISK READ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190500"/>
            <a:ext cx="11239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$67.6M FY29 NRB is on track — but three risks could erode that figure.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8953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Headline on the left, evidence on the right. Each evidence card colour-coded by severity.</a:t>
            </a:r>
          </a:p>
        </p:txBody>
      </p:sp>
      <p:sp>
        <p:nvSpPr>
          <p:cNvPr id="5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anchor-panel-bg"/>
          <p:cNvSpPr/>
          <p:nvPr/>
        </p:nvSpPr>
        <p:spPr>
          <a:xfrm>
            <a:off x="457200" y="2095500"/>
            <a:ext cx="3429000" cy="400050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anchor-panel-accent"/>
          <p:cNvSpPr/>
          <p:nvPr/>
        </p:nvSpPr>
        <p:spPr>
          <a:xfrm>
            <a:off x="457200" y="2095500"/>
            <a:ext cx="38100" cy="4000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anchor-pre-label"/>
          <p:cNvSpPr txBox="1"/>
          <p:nvPr/>
        </p:nvSpPr>
        <p:spPr>
          <a:xfrm>
            <a:off x="723900" y="247650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FY29 NET SAVINGS (GAAP)</a:t>
            </a:r>
          </a:p>
        </p:txBody>
      </p:sp>
      <p:sp>
        <p:nvSpPr>
          <p:cNvPr id="9" name="anchor-stat"/>
          <p:cNvSpPr txBox="1"/>
          <p:nvPr/>
        </p:nvSpPr>
        <p:spPr>
          <a:xfrm>
            <a:off x="723900" y="264795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800" b="1" i="0">
                <a:solidFill>
                  <a:srgbClr val="FFFFFF"/>
                </a:solidFill>
                <a:latin typeface="Inter"/>
              </a:rPr>
              <a:t>$67.6</a:t>
            </a:r>
          </a:p>
        </p:txBody>
      </p:sp>
      <p:sp>
        <p:nvSpPr>
          <p:cNvPr id="10" name="anchor-unit"/>
          <p:cNvSpPr txBox="1"/>
          <p:nvPr/>
        </p:nvSpPr>
        <p:spPr>
          <a:xfrm>
            <a:off x="2647950" y="2838450"/>
            <a:ext cx="7620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C780FF"/>
                </a:solidFill>
                <a:latin typeface="Inter"/>
              </a:rPr>
              <a:t>M</a:t>
            </a:r>
          </a:p>
        </p:txBody>
      </p:sp>
      <p:sp>
        <p:nvSpPr>
          <p:cNvPr id="11" name="anchor-status-bg"/>
          <p:cNvSpPr/>
          <p:nvPr/>
        </p:nvSpPr>
        <p:spPr>
          <a:xfrm>
            <a:off x="723900" y="3638550"/>
            <a:ext cx="2895600" cy="571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anchor-status-accent"/>
          <p:cNvSpPr/>
          <p:nvPr/>
        </p:nvSpPr>
        <p:spPr>
          <a:xfrm>
            <a:off x="723900" y="3638550"/>
            <a:ext cx="28575" cy="571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anchor-status-label"/>
          <p:cNvSpPr txBox="1"/>
          <p:nvPr/>
        </p:nvSpPr>
        <p:spPr>
          <a:xfrm>
            <a:off x="857250" y="3733800"/>
            <a:ext cx="26289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vs. $66M target</a:t>
            </a:r>
          </a:p>
        </p:txBody>
      </p:sp>
      <p:sp>
        <p:nvSpPr>
          <p:cNvPr id="14" name="anchor-status-value"/>
          <p:cNvSpPr txBox="1"/>
          <p:nvPr/>
        </p:nvSpPr>
        <p:spPr>
          <a:xfrm>
            <a:off x="857250" y="3905250"/>
            <a:ext cx="26289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✓ On Track</a:t>
            </a:r>
          </a:p>
        </p:txBody>
      </p:sp>
      <p:sp>
        <p:nvSpPr>
          <p:cNvPr id="15" name="anchor-divider"/>
          <p:cNvSpPr/>
          <p:nvPr/>
        </p:nvSpPr>
        <p:spPr>
          <a:xfrm>
            <a:off x="723900" y="4381500"/>
            <a:ext cx="2895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anchor-meta"/>
          <p:cNvSpPr txBox="1"/>
          <p:nvPr/>
        </p:nvSpPr>
        <p:spPr>
          <a:xfrm>
            <a:off x="723900" y="45339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FY30 outlook: $70.8M
5-year total: $198M</a:t>
            </a:r>
          </a:p>
        </p:txBody>
      </p:sp>
      <p:sp>
        <p:nvSpPr>
          <p:cNvPr id="17" name="evidence-1-card-bg"/>
          <p:cNvSpPr/>
          <p:nvPr/>
        </p:nvSpPr>
        <p:spPr>
          <a:xfrm>
            <a:off x="4076700" y="2095500"/>
            <a:ext cx="7658100" cy="1257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evidence-1-severity"/>
          <p:cNvSpPr/>
          <p:nvPr/>
        </p:nvSpPr>
        <p:spPr>
          <a:xfrm>
            <a:off x="4076700" y="2095500"/>
            <a:ext cx="47625" cy="12573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evidence-1-icon"/>
          <p:cNvSpPr txBox="1"/>
          <p:nvPr/>
        </p:nvSpPr>
        <p:spPr>
          <a:xfrm>
            <a:off x="4267200" y="2247900"/>
            <a:ext cx="209550" cy="20955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!</a:t>
            </a:r>
          </a:p>
        </p:txBody>
      </p:sp>
      <p:sp>
        <p:nvSpPr>
          <p:cNvPr id="20" name="evidence-1-title"/>
          <p:cNvSpPr txBox="1"/>
          <p:nvPr/>
        </p:nvSpPr>
        <p:spPr>
          <a:xfrm>
            <a:off x="4572000" y="2247900"/>
            <a:ext cx="5753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6B6B"/>
                </a:solidFill>
                <a:latin typeface="Inter"/>
              </a:rPr>
              <a:t>Open Roles Assumption Revised</a:t>
            </a:r>
          </a:p>
        </p:txBody>
      </p:sp>
      <p:sp>
        <p:nvSpPr>
          <p:cNvPr id="21" name="evidence-1-tag"/>
          <p:cNvSpPr txBox="1"/>
          <p:nvPr/>
        </p:nvSpPr>
        <p:spPr>
          <a:xfrm>
            <a:off x="10877550" y="2247900"/>
            <a:ext cx="666750" cy="1905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tIns="28575" rIns="76200" bIns="28575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sp>
        <p:nvSpPr>
          <p:cNvPr id="22" name="evidence-1-body"/>
          <p:cNvSpPr txBox="1"/>
          <p:nvPr/>
        </p:nvSpPr>
        <p:spPr>
          <a:xfrm>
            <a:off x="4572000" y="2514600"/>
            <a:ext cx="68961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Original model: 60 heads → current estimate: ~30 heads. Impact: ~$3M/year gap vs. original at $100K per head.</a:t>
            </a:r>
          </a:p>
        </p:txBody>
      </p:sp>
      <p:sp>
        <p:nvSpPr>
          <p:cNvPr id="23" name="evidence-2-card-bg"/>
          <p:cNvSpPr/>
          <p:nvPr/>
        </p:nvSpPr>
        <p:spPr>
          <a:xfrm>
            <a:off x="4076700" y="3467100"/>
            <a:ext cx="7658100" cy="1257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evidence-2-severity"/>
          <p:cNvSpPr/>
          <p:nvPr/>
        </p:nvSpPr>
        <p:spPr>
          <a:xfrm>
            <a:off x="4076700" y="3467100"/>
            <a:ext cx="47625" cy="1257300"/>
          </a:xfrm>
          <a:prstGeom prst="rect">
            <a:avLst/>
          </a:prstGeom>
          <a:solidFill>
            <a:srgbClr val="FFC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evidence-2-icon"/>
          <p:cNvSpPr txBox="1"/>
          <p:nvPr/>
        </p:nvSpPr>
        <p:spPr>
          <a:xfrm>
            <a:off x="4267200" y="3619500"/>
            <a:ext cx="209550" cy="209550"/>
          </a:xfrm>
          <a:prstGeom prst="rect">
            <a:avLst/>
          </a:prstGeom>
          <a:solidFill>
            <a:srgbClr val="FFC76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°</a:t>
            </a:r>
          </a:p>
        </p:txBody>
      </p:sp>
      <p:sp>
        <p:nvSpPr>
          <p:cNvPr id="26" name="evidence-2-title"/>
          <p:cNvSpPr txBox="1"/>
          <p:nvPr/>
        </p:nvSpPr>
        <p:spPr>
          <a:xfrm>
            <a:off x="4572000" y="3619500"/>
            <a:ext cx="5753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C76E"/>
                </a:solidFill>
                <a:latin typeface="Inter"/>
              </a:rPr>
              <a:t>Potential CY29 Business Case Reduction</a:t>
            </a:r>
          </a:p>
        </p:txBody>
      </p:sp>
      <p:sp>
        <p:nvSpPr>
          <p:cNvPr id="27" name="evidence-2-tag"/>
          <p:cNvSpPr txBox="1"/>
          <p:nvPr/>
        </p:nvSpPr>
        <p:spPr>
          <a:xfrm>
            <a:off x="10877550" y="3619500"/>
            <a:ext cx="666750" cy="190500"/>
          </a:xfrm>
          <a:prstGeom prst="rect">
            <a:avLst/>
          </a:prstGeom>
          <a:solidFill>
            <a:srgbClr val="FFC76E"/>
          </a:solidFill>
          <a:ln>
            <a:noFill/>
          </a:ln>
        </p:spPr>
        <p:txBody>
          <a:bodyPr wrap="square" tIns="28575" rIns="76200" bIns="28575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WATCH</a:t>
            </a:r>
          </a:p>
        </p:txBody>
      </p:sp>
      <p:sp>
        <p:nvSpPr>
          <p:cNvPr id="28" name="evidence-2-body"/>
          <p:cNvSpPr txBox="1"/>
          <p:nvPr/>
        </p:nvSpPr>
        <p:spPr>
          <a:xfrm>
            <a:off x="4572000" y="3886200"/>
            <a:ext cx="68961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Watch-item only — not confirmed. Flagged by internal stakeholder; no escalation to leadership until evidence solidifies.</a:t>
            </a:r>
          </a:p>
        </p:txBody>
      </p:sp>
      <p:sp>
        <p:nvSpPr>
          <p:cNvPr id="29" name="evidence-3-card-bg"/>
          <p:cNvSpPr/>
          <p:nvPr/>
        </p:nvSpPr>
        <p:spPr>
          <a:xfrm>
            <a:off x="4076700" y="4838700"/>
            <a:ext cx="7658100" cy="1257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evidence-3-severity"/>
          <p:cNvSpPr/>
          <p:nvPr/>
        </p:nvSpPr>
        <p:spPr>
          <a:xfrm>
            <a:off x="4076700" y="4838700"/>
            <a:ext cx="47625" cy="12573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evidence-3-icon"/>
          <p:cNvSpPr txBox="1"/>
          <p:nvPr/>
        </p:nvSpPr>
        <p:spPr>
          <a:xfrm>
            <a:off x="4267200" y="4991100"/>
            <a:ext cx="209550" cy="20955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!</a:t>
            </a:r>
          </a:p>
        </p:txBody>
      </p:sp>
      <p:sp>
        <p:nvSpPr>
          <p:cNvPr id="32" name="evidence-3-title"/>
          <p:cNvSpPr txBox="1"/>
          <p:nvPr/>
        </p:nvSpPr>
        <p:spPr>
          <a:xfrm>
            <a:off x="4572000" y="4991100"/>
            <a:ext cx="5753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6B6B"/>
                </a:solidFill>
                <a:latin typeface="Inter"/>
              </a:rPr>
              <a:t>Finance Initiative Ownership</a:t>
            </a:r>
          </a:p>
        </p:txBody>
      </p:sp>
      <p:sp>
        <p:nvSpPr>
          <p:cNvPr id="33" name="evidence-3-tag"/>
          <p:cNvSpPr txBox="1"/>
          <p:nvPr/>
        </p:nvSpPr>
        <p:spPr>
          <a:xfrm>
            <a:off x="10877550" y="4991100"/>
            <a:ext cx="666750" cy="1905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tIns="28575" rIns="76200" bIns="28575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sp>
        <p:nvSpPr>
          <p:cNvPr id="34" name="evidence-3-body"/>
          <p:cNvSpPr txBox="1"/>
          <p:nvPr/>
        </p:nvSpPr>
        <p:spPr>
          <a:xfrm>
            <a:off x="4572000" y="5257800"/>
            <a:ext cx="68961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Non-labor-arbitrage levers (background checks, cost-per-hire) uncommitted. If Finance does not execute, savings do not materialize.</a:t>
            </a:r>
          </a:p>
        </p:txBody>
      </p:sp>
      <p:sp>
        <p:nvSpPr>
          <p:cNvPr id="3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