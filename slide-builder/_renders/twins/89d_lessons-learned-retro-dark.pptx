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1905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LESSONS LEARNED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Four weeks of Slide Lab pilot — what worked, what didn't, what's next.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Wins and challenges came out roughly even. The "try next time" list is where half the value of this retro lives — carry it into Wave 2.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763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mpare-col-1"/>
          <p:cNvSpPr/>
          <p:nvPr/>
        </p:nvSpPr>
        <p:spPr>
          <a:xfrm>
            <a:off x="457200" y="2095500"/>
            <a:ext cx="3657600" cy="3505200"/>
          </a:xfrm>
          <a:prstGeom prst="rect">
            <a:avLst/>
          </a:prstGeom>
          <a:solidFill>
            <a:srgbClr val="144D2E"/>
          </a:solidFill>
          <a:ln w="9525">
            <a:solidFill>
              <a:srgbClr val="146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ompare-col-1-band"/>
          <p:cNvSpPr/>
          <p:nvPr/>
        </p:nvSpPr>
        <p:spPr>
          <a:xfrm>
            <a:off x="457200" y="2095500"/>
            <a:ext cx="3657600" cy="3619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mpare-col-1-header"/>
          <p:cNvSpPr txBox="1"/>
          <p:nvPr/>
        </p:nvSpPr>
        <p:spPr>
          <a:xfrm>
            <a:off x="609600" y="21907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WHAT WORKED</a:t>
            </a:r>
          </a:p>
        </p:txBody>
      </p:sp>
      <p:sp>
        <p:nvSpPr>
          <p:cNvPr id="9" name="compare-col-1-meta"/>
          <p:cNvSpPr txBox="1"/>
          <p:nvPr/>
        </p:nvSpPr>
        <p:spPr>
          <a:xfrm>
            <a:off x="3257550" y="2209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WINS</a:t>
            </a:r>
          </a:p>
        </p:txBody>
      </p:sp>
      <p:sp>
        <p:nvSpPr>
          <p:cNvPr id="10" name="compare-col-1-item-1-mark"/>
          <p:cNvSpPr/>
          <p:nvPr/>
        </p:nvSpPr>
        <p:spPr>
          <a:xfrm>
            <a:off x="590550" y="2647950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col-1-item-1-mark-text"/>
          <p:cNvSpPr txBox="1"/>
          <p:nvPr/>
        </p:nvSpPr>
        <p:spPr>
          <a:xfrm>
            <a:off x="590550" y="2647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2" name="compare-col-1-item-1"/>
          <p:cNvSpPr txBox="1"/>
          <p:nvPr/>
        </p:nvSpPr>
        <p:spPr>
          <a:xfrm>
            <a:off x="876300" y="262890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Pre-deck storyline session as default — consultants showed up with a sharper governing thought.</a:t>
            </a:r>
          </a:p>
        </p:txBody>
      </p:sp>
      <p:sp>
        <p:nvSpPr>
          <p:cNvPr id="13" name="compare-col-1-item-2-mark"/>
          <p:cNvSpPr/>
          <p:nvPr/>
        </p:nvSpPr>
        <p:spPr>
          <a:xfrm>
            <a:off x="590550" y="3362325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mpare-col-1-item-2-mark-text"/>
          <p:cNvSpPr txBox="1"/>
          <p:nvPr/>
        </p:nvSpPr>
        <p:spPr>
          <a:xfrm>
            <a:off x="590550" y="33623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5" name="compare-col-1-item-2"/>
          <p:cNvSpPr txBox="1"/>
          <p:nvPr/>
        </p:nvSpPr>
        <p:spPr>
          <a:xfrm>
            <a:off x="876300" y="334327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Brand-template integration was clean — no rework needed on slides handed to PMO.</a:t>
            </a:r>
          </a:p>
        </p:txBody>
      </p:sp>
      <p:sp>
        <p:nvSpPr>
          <p:cNvPr id="16" name="compare-col-1-item-3-mark"/>
          <p:cNvSpPr/>
          <p:nvPr/>
        </p:nvSpPr>
        <p:spPr>
          <a:xfrm>
            <a:off x="590550" y="4076700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mpare-col-1-item-3-mark-text"/>
          <p:cNvSpPr txBox="1"/>
          <p:nvPr/>
        </p:nvSpPr>
        <p:spPr>
          <a:xfrm>
            <a:off x="590550" y="4076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8" name="compare-col-1-item-3"/>
          <p:cNvSpPr txBox="1"/>
          <p:nvPr/>
        </p:nvSpPr>
        <p:spPr>
          <a:xfrm>
            <a:off x="876300" y="405765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Pattern library accelerated build — first-draft slides in ~8 min vs. 35 baseline.</a:t>
            </a:r>
          </a:p>
        </p:txBody>
      </p:sp>
      <p:sp>
        <p:nvSpPr>
          <p:cNvPr id="19" name="compare-col-1-item-4-mark"/>
          <p:cNvSpPr/>
          <p:nvPr/>
        </p:nvSpPr>
        <p:spPr>
          <a:xfrm>
            <a:off x="590550" y="4791075"/>
            <a:ext cx="209550" cy="2095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mpare-col-1-item-4-mark-text"/>
          <p:cNvSpPr txBox="1"/>
          <p:nvPr/>
        </p:nvSpPr>
        <p:spPr>
          <a:xfrm>
            <a:off x="590550" y="47910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1" name="compare-col-1-item-4"/>
          <p:cNvSpPr txBox="1"/>
          <p:nvPr/>
        </p:nvSpPr>
        <p:spPr>
          <a:xfrm>
            <a:off x="876300" y="477202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Coach-driven feedback loop kept quality high without slowing the team down.</a:t>
            </a:r>
          </a:p>
        </p:txBody>
      </p:sp>
      <p:sp>
        <p:nvSpPr>
          <p:cNvPr id="22" name="compare-col-2"/>
          <p:cNvSpPr/>
          <p:nvPr/>
        </p:nvSpPr>
        <p:spPr>
          <a:xfrm>
            <a:off x="4267200" y="2095500"/>
            <a:ext cx="3657600" cy="3505200"/>
          </a:xfrm>
          <a:prstGeom prst="rect">
            <a:avLst/>
          </a:prstGeom>
          <a:solidFill>
            <a:srgbClr val="573609"/>
          </a:solidFill>
          <a:ln w="9525">
            <a:solidFill>
              <a:srgbClr val="7E4F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mpare-col-2-band"/>
          <p:cNvSpPr/>
          <p:nvPr/>
        </p:nvSpPr>
        <p:spPr>
          <a:xfrm>
            <a:off x="4267200" y="2095500"/>
            <a:ext cx="3657600" cy="3619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mpare-col-2-header"/>
          <p:cNvSpPr txBox="1"/>
          <p:nvPr/>
        </p:nvSpPr>
        <p:spPr>
          <a:xfrm>
            <a:off x="4419600" y="21907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WHAT DIDN'T</a:t>
            </a:r>
          </a:p>
        </p:txBody>
      </p:sp>
      <p:sp>
        <p:nvSpPr>
          <p:cNvPr id="25" name="compare-col-2-meta"/>
          <p:cNvSpPr txBox="1"/>
          <p:nvPr/>
        </p:nvSpPr>
        <p:spPr>
          <a:xfrm>
            <a:off x="7067550" y="2209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GAPS</a:t>
            </a:r>
          </a:p>
        </p:txBody>
      </p:sp>
      <p:sp>
        <p:nvSpPr>
          <p:cNvPr id="26" name="compare-col-2-item-1-mark"/>
          <p:cNvSpPr/>
          <p:nvPr/>
        </p:nvSpPr>
        <p:spPr>
          <a:xfrm>
            <a:off x="4400550" y="2647950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mpare-col-2-item-1-mark-text"/>
          <p:cNvSpPr txBox="1"/>
          <p:nvPr/>
        </p:nvSpPr>
        <p:spPr>
          <a:xfrm>
            <a:off x="4400550" y="2647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28" name="compare-col-2-item-1"/>
          <p:cNvSpPr txBox="1"/>
          <p:nvPr/>
        </p:nvSpPr>
        <p:spPr>
          <a:xfrm>
            <a:off x="4686300" y="262890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Wave 2 IT provisioning was late — users sat idle for the first three days of the wave.</a:t>
            </a:r>
          </a:p>
        </p:txBody>
      </p:sp>
      <p:sp>
        <p:nvSpPr>
          <p:cNvPr id="29" name="compare-col-2-item-2-mark"/>
          <p:cNvSpPr/>
          <p:nvPr/>
        </p:nvSpPr>
        <p:spPr>
          <a:xfrm>
            <a:off x="4400550" y="3362325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mpare-col-2-item-2-mark-text"/>
          <p:cNvSpPr txBox="1"/>
          <p:nvPr/>
        </p:nvSpPr>
        <p:spPr>
          <a:xfrm>
            <a:off x="4400550" y="33623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1" name="compare-col-2-item-2"/>
          <p:cNvSpPr txBox="1"/>
          <p:nvPr/>
        </p:nvSpPr>
        <p:spPr>
          <a:xfrm>
            <a:off x="4686300" y="334327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Junior team couldn't self-serve patterns — the picker assumes prior storyline fluency.</a:t>
            </a:r>
          </a:p>
        </p:txBody>
      </p:sp>
      <p:sp>
        <p:nvSpPr>
          <p:cNvPr id="32" name="compare-col-2-item-3-mark"/>
          <p:cNvSpPr/>
          <p:nvPr/>
        </p:nvSpPr>
        <p:spPr>
          <a:xfrm>
            <a:off x="4400550" y="4076700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mpare-col-2-item-3-mark-text"/>
          <p:cNvSpPr txBox="1"/>
          <p:nvPr/>
        </p:nvSpPr>
        <p:spPr>
          <a:xfrm>
            <a:off x="4400550" y="4076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4" name="compare-col-2-item-3"/>
          <p:cNvSpPr txBox="1"/>
          <p:nvPr/>
        </p:nvSpPr>
        <p:spPr>
          <a:xfrm>
            <a:off x="4686300" y="405765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Two senior managers resisted change — defaulted to their own templates and stalled adoption on their pods.</a:t>
            </a:r>
          </a:p>
        </p:txBody>
      </p:sp>
      <p:sp>
        <p:nvSpPr>
          <p:cNvPr id="35" name="compare-col-2-item-4-mark"/>
          <p:cNvSpPr/>
          <p:nvPr/>
        </p:nvSpPr>
        <p:spPr>
          <a:xfrm>
            <a:off x="4400550" y="4791075"/>
            <a:ext cx="209550" cy="2095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mpare-col-2-item-4-mark-text"/>
          <p:cNvSpPr txBox="1"/>
          <p:nvPr/>
        </p:nvSpPr>
        <p:spPr>
          <a:xfrm>
            <a:off x="4400550" y="47910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✗</a:t>
            </a:r>
          </a:p>
        </p:txBody>
      </p:sp>
      <p:sp>
        <p:nvSpPr>
          <p:cNvPr id="37" name="compare-col-2-item-4"/>
          <p:cNvSpPr txBox="1"/>
          <p:nvPr/>
        </p:nvSpPr>
        <p:spPr>
          <a:xfrm>
            <a:off x="4686300" y="477202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HTML preview broke on Edge — only Chrome rendered reliably, blocking non-default users.</a:t>
            </a:r>
          </a:p>
        </p:txBody>
      </p:sp>
      <p:sp>
        <p:nvSpPr>
          <p:cNvPr id="38" name="compare-col-3"/>
          <p:cNvSpPr/>
          <p:nvPr/>
        </p:nvSpPr>
        <p:spPr>
          <a:xfrm>
            <a:off x="8077200" y="2095500"/>
            <a:ext cx="3657600" cy="3505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are-col-3-band"/>
          <p:cNvSpPr/>
          <p:nvPr/>
        </p:nvSpPr>
        <p:spPr>
          <a:xfrm>
            <a:off x="8077200" y="2095500"/>
            <a:ext cx="3657600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mpare-col-3-header"/>
          <p:cNvSpPr txBox="1"/>
          <p:nvPr/>
        </p:nvSpPr>
        <p:spPr>
          <a:xfrm>
            <a:off x="8229600" y="2190750"/>
            <a:ext cx="2705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TRY NEXT TIME</a:t>
            </a:r>
          </a:p>
        </p:txBody>
      </p:sp>
      <p:sp>
        <p:nvSpPr>
          <p:cNvPr id="41" name="compare-col-3-meta"/>
          <p:cNvSpPr txBox="1"/>
          <p:nvPr/>
        </p:nvSpPr>
        <p:spPr>
          <a:xfrm>
            <a:off x="10877550" y="2209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 MOVES</a:t>
            </a:r>
          </a:p>
        </p:txBody>
      </p:sp>
      <p:sp>
        <p:nvSpPr>
          <p:cNvPr id="42" name="compare-col-3-item-1-mark"/>
          <p:cNvSpPr/>
          <p:nvPr/>
        </p:nvSpPr>
        <p:spPr>
          <a:xfrm>
            <a:off x="8210550" y="264795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mpare-col-3-item-1-mark-text"/>
          <p:cNvSpPr txBox="1"/>
          <p:nvPr/>
        </p:nvSpPr>
        <p:spPr>
          <a:xfrm>
            <a:off x="8210550" y="2647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44" name="compare-col-3-item-1"/>
          <p:cNvSpPr txBox="1"/>
          <p:nvPr/>
        </p:nvSpPr>
        <p:spPr>
          <a:xfrm>
            <a:off x="8496300" y="262890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Pre-provision IT 2 weeks ahead of each wave — treat it as a hard gate, not a parallel track.</a:t>
            </a:r>
          </a:p>
        </p:txBody>
      </p:sp>
      <p:sp>
        <p:nvSpPr>
          <p:cNvPr id="45" name="compare-col-3-item-2-mark"/>
          <p:cNvSpPr/>
          <p:nvPr/>
        </p:nvSpPr>
        <p:spPr>
          <a:xfrm>
            <a:off x="8210550" y="3362325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mpare-col-3-item-2-mark-text"/>
          <p:cNvSpPr txBox="1"/>
          <p:nvPr/>
        </p:nvSpPr>
        <p:spPr>
          <a:xfrm>
            <a:off x="8210550" y="33623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47" name="compare-col-3-item-2"/>
          <p:cNvSpPr txBox="1"/>
          <p:nvPr/>
        </p:nvSpPr>
        <p:spPr>
          <a:xfrm>
            <a:off x="8496300" y="334327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Build a junior-friendly pattern picker UI — intent-first prompts, not pattern names.</a:t>
            </a:r>
          </a:p>
        </p:txBody>
      </p:sp>
      <p:sp>
        <p:nvSpPr>
          <p:cNvPr id="48" name="compare-col-3-item-3-mark"/>
          <p:cNvSpPr/>
          <p:nvPr/>
        </p:nvSpPr>
        <p:spPr>
          <a:xfrm>
            <a:off x="8210550" y="4076700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mpare-col-3-item-3-mark-text"/>
          <p:cNvSpPr txBox="1"/>
          <p:nvPr/>
        </p:nvSpPr>
        <p:spPr>
          <a:xfrm>
            <a:off x="8210550" y="4076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50" name="compare-col-3-item-3"/>
          <p:cNvSpPr txBox="1"/>
          <p:nvPr/>
        </p:nvSpPr>
        <p:spPr>
          <a:xfrm>
            <a:off x="8496300" y="4057650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Skeptic-as-coach assignment — turn the loudest resistors into the rollout's peer reviewers.</a:t>
            </a:r>
          </a:p>
        </p:txBody>
      </p:sp>
      <p:sp>
        <p:nvSpPr>
          <p:cNvPr id="51" name="compare-col-3-item-4-mark"/>
          <p:cNvSpPr/>
          <p:nvPr/>
        </p:nvSpPr>
        <p:spPr>
          <a:xfrm>
            <a:off x="8210550" y="4791075"/>
            <a:ext cx="2095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mpare-col-3-item-4-mark-text"/>
          <p:cNvSpPr txBox="1"/>
          <p:nvPr/>
        </p:nvSpPr>
        <p:spPr>
          <a:xfrm>
            <a:off x="8210550" y="47910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53" name="compare-col-3-item-4"/>
          <p:cNvSpPr txBox="1"/>
          <p:nvPr/>
        </p:nvSpPr>
        <p:spPr>
          <a:xfrm>
            <a:off x="8496300" y="4772025"/>
            <a:ext cx="3105150" cy="638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QC checklist printed on every preview — make hygiene checks visible at the point of build.</a:t>
            </a:r>
          </a:p>
        </p:txBody>
      </p:sp>
      <p:sp>
        <p:nvSpPr>
          <p:cNvPr id="54" name="convergence-bg"/>
          <p:cNvSpPr/>
          <p:nvPr/>
        </p:nvSpPr>
        <p:spPr>
          <a:xfrm>
            <a:off x="457200" y="5791200"/>
            <a:ext cx="11277600" cy="4953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ergence-mark"/>
          <p:cNvSpPr txBox="1"/>
          <p:nvPr/>
        </p:nvSpPr>
        <p:spPr>
          <a:xfrm>
            <a:off x="590550" y="5943600"/>
            <a:ext cx="7620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28575" rIns="57150" bIns="28575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56" name="convergence"/>
          <p:cNvSpPr txBox="1"/>
          <p:nvPr/>
        </p:nvSpPr>
        <p:spPr>
          <a:xfrm>
            <a:off x="1504950" y="5791200"/>
            <a:ext cx="100393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Wins and challenges came out roughly even — that's honest, not a failure. The "try next time" list is half the value of this retro; the four moves carry directly into the Wave 2 plan.</a:t>
            </a:r>
          </a:p>
        </p:txBody>
      </p:sp>
      <p:sp>
        <p:nvSpPr>
          <p:cNvPr id="5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