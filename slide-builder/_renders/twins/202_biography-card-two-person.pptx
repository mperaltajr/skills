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09600" y="190500"/>
            <a:ext cx="9525000" cy="762000"/>
          </a:xfrm>
          <a:prstGeom prst="rect">
            <a:avLst/>
          </a:prstGeom>
          <a:noFill/>
          <a:ln>
            <a:noFill/>
          </a:ln>
        </p:spPr>
        <p:txBody>
          <a:bodyPr wrap="square" tIns="0" rIns="0" bIns="0" lIns="0" anchor="b">
            <a:spAutoFit/>
          </a:bodyPr>
          <a:lstStyle/>
          <a:p>
            <a:pPr algn="l">
              <a:defRPr/>
            </a:pPr>
            <a:r>
              <a:rPr sz="2400" b="1" i="0">
                <a:solidFill>
                  <a:srgbClr val="1A1A2E"/>
                </a:solidFill>
                <a:latin typeface="Inter"/>
              </a:rPr>
              <a:t>Leadership </a:t>
            </a:r>
            <a:r>
              <a:rPr sz="2400" b="1" i="0">
                <a:solidFill>
                  <a:srgbClr val="2D0A4E"/>
                </a:solidFill>
                <a:latin typeface="Inter"/>
              </a:rPr>
              <a:t>Profiles</a:t>
            </a:r>
          </a:p>
        </p:txBody>
      </p:sp>
      <p:sp>
        <p:nvSpPr>
          <p:cNvPr id="3" name="subtitle"/>
          <p:cNvSpPr txBox="1"/>
          <p:nvPr/>
        </p:nvSpPr>
        <p:spPr>
          <a:xfrm>
            <a:off x="609600" y="666750"/>
            <a:ext cx="8382000" cy="190500"/>
          </a:xfrm>
          <a:prstGeom prst="rect">
            <a:avLst/>
          </a:prstGeom>
          <a:noFill/>
          <a:ln>
            <a:noFill/>
          </a:ln>
        </p:spPr>
        <p:txBody>
          <a:bodyPr wrap="square" tIns="0" rIns="0" bIns="0" lIns="0" anchor="t">
            <a:spAutoFit/>
          </a:bodyPr>
          <a:lstStyle/>
          <a:p>
            <a:pPr algn="l">
              <a:defRPr/>
            </a:pPr>
            <a:r>
              <a:rPr sz="1050" b="0" i="1">
                <a:solidFill>
                  <a:srgbClr val="64748B"/>
                </a:solidFill>
                <a:latin typeface="Inter"/>
              </a:rPr>
              <a:t>Meet the team driving transformation across the engagement</a:t>
            </a:r>
          </a:p>
        </p:txBody>
      </p:sp>
      <p:sp>
        <p:nvSpPr>
          <p:cNvPr id="4" name="brand-rule"/>
          <p:cNvSpPr/>
          <p:nvPr/>
        </p:nvSpPr>
        <p:spPr>
          <a:xfrm>
            <a:off x="609600" y="876300"/>
            <a:ext cx="609600" cy="28575"/>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vertical-divider"/>
          <p:cNvSpPr/>
          <p:nvPr/>
        </p:nvSpPr>
        <p:spPr>
          <a:xfrm>
            <a:off x="6086475" y="1504950"/>
            <a:ext cx="19050" cy="44386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persona-1-bg"/>
          <p:cNvSpPr/>
          <p:nvPr/>
        </p:nvSpPr>
        <p:spPr>
          <a:xfrm>
            <a:off x="609600" y="1504950"/>
            <a:ext cx="5410200" cy="4438650"/>
          </a:xfrm>
          <a:prstGeom prst="rect">
            <a:avLst/>
          </a:prstGeom>
          <a:solidFill>
            <a:srgbClr val="FBF8FE"/>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persona-1-photo"/>
          <p:cNvSpPr/>
          <p:nvPr/>
        </p:nvSpPr>
        <p:spPr>
          <a:xfrm>
            <a:off x="2886075" y="1733550"/>
            <a:ext cx="857250" cy="857250"/>
          </a:xfrm>
          <a:prstGeom prst="rect">
            <a:avLst/>
          </a:prstGeom>
          <a:solidFill>
            <a:srgbClr val="5C2D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persona-1-photo-initials"/>
          <p:cNvSpPr txBox="1"/>
          <p:nvPr/>
        </p:nvSpPr>
        <p:spPr>
          <a:xfrm>
            <a:off x="2886075" y="1733550"/>
            <a:ext cx="857250" cy="857250"/>
          </a:xfrm>
          <a:prstGeom prst="rect">
            <a:avLst/>
          </a:prstGeom>
          <a:noFill/>
          <a:ln>
            <a:noFill/>
          </a:ln>
        </p:spPr>
        <p:txBody>
          <a:bodyPr wrap="square" tIns="0" rIns="0" bIns="0" lIns="0" anchor="ctr">
            <a:spAutoFit/>
          </a:bodyPr>
          <a:lstStyle/>
          <a:p>
            <a:pPr algn="ctr">
              <a:defRPr/>
            </a:pPr>
            <a:r>
              <a:rPr sz="2100" b="1" i="0">
                <a:solidFill>
                  <a:srgbClr val="FFFFFF"/>
                </a:solidFill>
                <a:latin typeface="Inter"/>
              </a:rPr>
              <a:t>SA</a:t>
            </a:r>
          </a:p>
        </p:txBody>
      </p:sp>
      <p:sp>
        <p:nvSpPr>
          <p:cNvPr id="9" name="persona-1-name"/>
          <p:cNvSpPr txBox="1"/>
          <p:nvPr/>
        </p:nvSpPr>
        <p:spPr>
          <a:xfrm>
            <a:off x="762000" y="2724150"/>
            <a:ext cx="5105400" cy="209550"/>
          </a:xfrm>
          <a:prstGeom prst="rect">
            <a:avLst/>
          </a:prstGeom>
          <a:noFill/>
          <a:ln>
            <a:noFill/>
          </a:ln>
        </p:spPr>
        <p:txBody>
          <a:bodyPr wrap="square" tIns="0" rIns="0" bIns="0" lIns="0" anchor="t">
            <a:spAutoFit/>
          </a:bodyPr>
          <a:lstStyle/>
          <a:p>
            <a:pPr algn="ctr">
              <a:defRPr/>
            </a:pPr>
            <a:r>
              <a:rPr sz="1350" b="1" i="0">
                <a:solidFill>
                  <a:srgbClr val="2D0A4E"/>
                </a:solidFill>
                <a:latin typeface="Inter"/>
              </a:rPr>
              <a:t>Sarah Alvarez</a:t>
            </a:r>
          </a:p>
        </p:txBody>
      </p:sp>
      <p:sp>
        <p:nvSpPr>
          <p:cNvPr id="10" name="persona-1-role"/>
          <p:cNvSpPr txBox="1"/>
          <p:nvPr/>
        </p:nvSpPr>
        <p:spPr>
          <a:xfrm>
            <a:off x="762000" y="2952750"/>
            <a:ext cx="5105400" cy="171450"/>
          </a:xfrm>
          <a:prstGeom prst="rect">
            <a:avLst/>
          </a:prstGeom>
          <a:noFill/>
          <a:ln>
            <a:noFill/>
          </a:ln>
        </p:spPr>
        <p:txBody>
          <a:bodyPr wrap="square" tIns="0" rIns="0" bIns="0" lIns="0" anchor="t">
            <a:spAutoFit/>
          </a:bodyPr>
          <a:lstStyle/>
          <a:p>
            <a:pPr algn="ctr">
              <a:defRPr/>
            </a:pPr>
            <a:r>
              <a:rPr sz="1050" b="0" i="0">
                <a:solidFill>
                  <a:srgbClr val="5C2D87"/>
                </a:solidFill>
                <a:latin typeface="Inter"/>
              </a:rPr>
              <a:t>Managing Director, Strategy &amp; Consulting</a:t>
            </a:r>
          </a:p>
        </p:txBody>
      </p:sp>
      <p:sp>
        <p:nvSpPr>
          <p:cNvPr id="11" name="persona-1-name-rule"/>
          <p:cNvSpPr/>
          <p:nvPr/>
        </p:nvSpPr>
        <p:spPr>
          <a:xfrm>
            <a:off x="3124200" y="3200400"/>
            <a:ext cx="38100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persona-1-bio"/>
          <p:cNvSpPr txBox="1"/>
          <p:nvPr/>
        </p:nvSpPr>
        <p:spPr>
          <a:xfrm>
            <a:off x="800100" y="3333750"/>
            <a:ext cx="5029200" cy="1047750"/>
          </a:xfrm>
          <a:prstGeom prst="rect">
            <a:avLst/>
          </a:prstGeom>
          <a:noFill/>
          <a:ln>
            <a:noFill/>
          </a:ln>
        </p:spPr>
        <p:txBody>
          <a:bodyPr wrap="square" tIns="0" rIns="0" bIns="0" lIns="0" anchor="t">
            <a:spAutoFit/>
          </a:bodyPr>
          <a:lstStyle/>
          <a:p>
            <a:pPr algn="l">
              <a:defRPr/>
            </a:pPr>
            <a:r>
              <a:rPr sz="1050" b="0" i="0">
                <a:solidFill>
                  <a:srgbClr val="1A1A2E"/>
                </a:solidFill>
                <a:latin typeface="Inter"/>
              </a:rPr>
              <a:t>Sarah leads large-scale transformation programs for global financial services clients, with over 18 years of experience spanning operating model redesign, digital strategy, and organizational change. She has delivered programs across North America, Europe, and Asia-Pacific, consistently accelerating time-to-value through agile delivery frameworks.</a:t>
            </a:r>
          </a:p>
        </p:txBody>
      </p:sp>
      <p:sp>
        <p:nvSpPr>
          <p:cNvPr id="13" name="persona-1-stat-1-num"/>
          <p:cNvSpPr txBox="1"/>
          <p:nvPr/>
        </p:nvSpPr>
        <p:spPr>
          <a:xfrm>
            <a:off x="800100" y="4457700"/>
            <a:ext cx="1676400" cy="247650"/>
          </a:xfrm>
          <a:prstGeom prst="rect">
            <a:avLst/>
          </a:prstGeom>
          <a:noFill/>
          <a:ln>
            <a:noFill/>
          </a:ln>
        </p:spPr>
        <p:txBody>
          <a:bodyPr wrap="square" tIns="0" rIns="0" bIns="0" lIns="0" anchor="t">
            <a:spAutoFit/>
          </a:bodyPr>
          <a:lstStyle/>
          <a:p>
            <a:pPr algn="ctr">
              <a:defRPr/>
            </a:pPr>
            <a:r>
              <a:rPr sz="1500" b="1" i="0">
                <a:solidFill>
                  <a:srgbClr val="2D0A4E"/>
                </a:solidFill>
                <a:latin typeface="Inter"/>
              </a:rPr>
              <a:t>18+</a:t>
            </a:r>
          </a:p>
        </p:txBody>
      </p:sp>
      <p:sp>
        <p:nvSpPr>
          <p:cNvPr id="14" name="persona-1-stat-1-label"/>
          <p:cNvSpPr txBox="1"/>
          <p:nvPr/>
        </p:nvSpPr>
        <p:spPr>
          <a:xfrm>
            <a:off x="800100" y="4724400"/>
            <a:ext cx="1676400" cy="133350"/>
          </a:xfrm>
          <a:prstGeom prst="rect">
            <a:avLst/>
          </a:prstGeom>
          <a:noFill/>
          <a:ln>
            <a:noFill/>
          </a:ln>
        </p:spPr>
        <p:txBody>
          <a:bodyPr wrap="square" tIns="0" rIns="0" bIns="0" lIns="0" anchor="t">
            <a:spAutoFit/>
          </a:bodyPr>
          <a:lstStyle/>
          <a:p>
            <a:pPr algn="ctr">
              <a:defRPr/>
            </a:pPr>
            <a:r>
              <a:rPr sz="1050" b="1" i="0">
                <a:solidFill>
                  <a:srgbClr val="94A3B8"/>
                </a:solidFill>
                <a:latin typeface="Inter"/>
              </a:rPr>
              <a:t>YEARS</a:t>
            </a:r>
          </a:p>
        </p:txBody>
      </p:sp>
      <p:sp>
        <p:nvSpPr>
          <p:cNvPr id="15" name="persona-1-stat-2-num"/>
          <p:cNvSpPr txBox="1"/>
          <p:nvPr/>
        </p:nvSpPr>
        <p:spPr>
          <a:xfrm>
            <a:off x="2476500" y="4457700"/>
            <a:ext cx="1676400" cy="247650"/>
          </a:xfrm>
          <a:prstGeom prst="rect">
            <a:avLst/>
          </a:prstGeom>
          <a:noFill/>
          <a:ln>
            <a:noFill/>
          </a:ln>
        </p:spPr>
        <p:txBody>
          <a:bodyPr wrap="square" tIns="0" rIns="0" bIns="0" lIns="0" anchor="t">
            <a:spAutoFit/>
          </a:bodyPr>
          <a:lstStyle/>
          <a:p>
            <a:pPr algn="ctr">
              <a:defRPr/>
            </a:pPr>
            <a:r>
              <a:rPr sz="1500" b="1" i="0">
                <a:solidFill>
                  <a:srgbClr val="2D0A4E"/>
                </a:solidFill>
                <a:latin typeface="Inter"/>
              </a:rPr>
              <a:t>40+</a:t>
            </a:r>
          </a:p>
        </p:txBody>
      </p:sp>
      <p:sp>
        <p:nvSpPr>
          <p:cNvPr id="16" name="persona-1-stat-2-label"/>
          <p:cNvSpPr txBox="1"/>
          <p:nvPr/>
        </p:nvSpPr>
        <p:spPr>
          <a:xfrm>
            <a:off x="2476500" y="4724400"/>
            <a:ext cx="1676400" cy="133350"/>
          </a:xfrm>
          <a:prstGeom prst="rect">
            <a:avLst/>
          </a:prstGeom>
          <a:noFill/>
          <a:ln>
            <a:noFill/>
          </a:ln>
        </p:spPr>
        <p:txBody>
          <a:bodyPr wrap="square" tIns="0" rIns="0" bIns="0" lIns="0" anchor="t">
            <a:spAutoFit/>
          </a:bodyPr>
          <a:lstStyle/>
          <a:p>
            <a:pPr algn="ctr">
              <a:defRPr/>
            </a:pPr>
            <a:r>
              <a:rPr sz="1050" b="1" i="0">
                <a:solidFill>
                  <a:srgbClr val="94A3B8"/>
                </a:solidFill>
                <a:latin typeface="Inter"/>
              </a:rPr>
              <a:t>PROGRAMS</a:t>
            </a:r>
          </a:p>
        </p:txBody>
      </p:sp>
      <p:sp>
        <p:nvSpPr>
          <p:cNvPr id="17" name="persona-1-stat-3-num"/>
          <p:cNvSpPr txBox="1"/>
          <p:nvPr/>
        </p:nvSpPr>
        <p:spPr>
          <a:xfrm>
            <a:off x="4152900" y="4457700"/>
            <a:ext cx="1676400" cy="247650"/>
          </a:xfrm>
          <a:prstGeom prst="rect">
            <a:avLst/>
          </a:prstGeom>
          <a:noFill/>
          <a:ln>
            <a:noFill/>
          </a:ln>
        </p:spPr>
        <p:txBody>
          <a:bodyPr wrap="square" tIns="0" rIns="0" bIns="0" lIns="0" anchor="t">
            <a:spAutoFit/>
          </a:bodyPr>
          <a:lstStyle/>
          <a:p>
            <a:pPr algn="ctr">
              <a:defRPr/>
            </a:pPr>
            <a:r>
              <a:rPr sz="1500" b="1" i="0">
                <a:solidFill>
                  <a:srgbClr val="2D0A4E"/>
                </a:solidFill>
                <a:latin typeface="Inter"/>
              </a:rPr>
              <a:t>12</a:t>
            </a:r>
          </a:p>
        </p:txBody>
      </p:sp>
      <p:sp>
        <p:nvSpPr>
          <p:cNvPr id="18" name="persona-1-stat-3-label"/>
          <p:cNvSpPr txBox="1"/>
          <p:nvPr/>
        </p:nvSpPr>
        <p:spPr>
          <a:xfrm>
            <a:off x="4152900" y="4724400"/>
            <a:ext cx="1676400" cy="133350"/>
          </a:xfrm>
          <a:prstGeom prst="rect">
            <a:avLst/>
          </a:prstGeom>
          <a:noFill/>
          <a:ln>
            <a:noFill/>
          </a:ln>
        </p:spPr>
        <p:txBody>
          <a:bodyPr wrap="square" tIns="0" rIns="0" bIns="0" lIns="0" anchor="t">
            <a:spAutoFit/>
          </a:bodyPr>
          <a:lstStyle/>
          <a:p>
            <a:pPr algn="ctr">
              <a:defRPr/>
            </a:pPr>
            <a:r>
              <a:rPr sz="1050" b="1" i="0">
                <a:solidFill>
                  <a:srgbClr val="94A3B8"/>
                </a:solidFill>
                <a:latin typeface="Inter"/>
              </a:rPr>
              <a:t>COUNTRIES</a:t>
            </a:r>
          </a:p>
        </p:txBody>
      </p:sp>
      <p:sp>
        <p:nvSpPr>
          <p:cNvPr id="19" name="persona-1-expertise-label"/>
          <p:cNvSpPr txBox="1"/>
          <p:nvPr/>
        </p:nvSpPr>
        <p:spPr>
          <a:xfrm>
            <a:off x="800100" y="5029200"/>
            <a:ext cx="5029200" cy="133350"/>
          </a:xfrm>
          <a:prstGeom prst="rect">
            <a:avLst/>
          </a:prstGeom>
          <a:noFill/>
          <a:ln>
            <a:noFill/>
          </a:ln>
        </p:spPr>
        <p:txBody>
          <a:bodyPr wrap="square" tIns="0" rIns="0" bIns="0" lIns="0" anchor="t">
            <a:spAutoFit/>
          </a:bodyPr>
          <a:lstStyle/>
          <a:p>
            <a:pPr algn="l">
              <a:defRPr/>
            </a:pPr>
            <a:r>
              <a:rPr sz="1050" b="1" i="0">
                <a:solidFill>
                  <a:srgbClr val="64748B"/>
                </a:solidFill>
                <a:latin typeface="Inter"/>
              </a:rPr>
              <a:t>EXPERTISE</a:t>
            </a:r>
          </a:p>
        </p:txBody>
      </p:sp>
      <p:sp>
        <p:nvSpPr>
          <p:cNvPr id="20" name="persona-1-tag-1"/>
          <p:cNvSpPr txBox="1"/>
          <p:nvPr/>
        </p:nvSpPr>
        <p:spPr>
          <a:xfrm>
            <a:off x="800100" y="5238750"/>
            <a:ext cx="1238250" cy="190500"/>
          </a:xfrm>
          <a:prstGeom prst="rect">
            <a:avLst/>
          </a:prstGeom>
          <a:solidFill>
            <a:srgbClr val="C780FF"/>
          </a:solidFill>
          <a:ln>
            <a:noFill/>
          </a:ln>
        </p:spPr>
        <p:txBody>
          <a:bodyPr wrap="square" tIns="28575" rIns="76200" bIns="28575" lIns="76200" anchor="t">
            <a:spAutoFit/>
          </a:bodyPr>
          <a:lstStyle/>
          <a:p>
            <a:pPr algn="ctr">
              <a:defRPr/>
            </a:pPr>
            <a:r>
              <a:rPr sz="1050" b="1" i="0">
                <a:solidFill>
                  <a:srgbClr val="2D0A4E"/>
                </a:solidFill>
                <a:latin typeface="Inter"/>
              </a:rPr>
              <a:t>Operating Model</a:t>
            </a:r>
          </a:p>
        </p:txBody>
      </p:sp>
      <p:sp>
        <p:nvSpPr>
          <p:cNvPr id="21" name="persona-1-tag-2"/>
          <p:cNvSpPr txBox="1"/>
          <p:nvPr/>
        </p:nvSpPr>
        <p:spPr>
          <a:xfrm>
            <a:off x="2095500" y="5238750"/>
            <a:ext cx="1238250" cy="190500"/>
          </a:xfrm>
          <a:prstGeom prst="rect">
            <a:avLst/>
          </a:prstGeom>
          <a:solidFill>
            <a:srgbClr val="C780FF"/>
          </a:solidFill>
          <a:ln>
            <a:noFill/>
          </a:ln>
        </p:spPr>
        <p:txBody>
          <a:bodyPr wrap="square" tIns="28575" rIns="76200" bIns="28575" lIns="76200" anchor="t">
            <a:spAutoFit/>
          </a:bodyPr>
          <a:lstStyle/>
          <a:p>
            <a:pPr algn="ctr">
              <a:defRPr/>
            </a:pPr>
            <a:r>
              <a:rPr sz="1050" b="1" i="0">
                <a:solidFill>
                  <a:srgbClr val="2D0A4E"/>
                </a:solidFill>
                <a:latin typeface="Inter"/>
              </a:rPr>
              <a:t>Digital Strategy</a:t>
            </a:r>
          </a:p>
        </p:txBody>
      </p:sp>
      <p:sp>
        <p:nvSpPr>
          <p:cNvPr id="22" name="persona-1-tag-3"/>
          <p:cNvSpPr txBox="1"/>
          <p:nvPr/>
        </p:nvSpPr>
        <p:spPr>
          <a:xfrm>
            <a:off x="3390900" y="5238750"/>
            <a:ext cx="1238250" cy="190500"/>
          </a:xfrm>
          <a:prstGeom prst="rect">
            <a:avLst/>
          </a:prstGeom>
          <a:solidFill>
            <a:srgbClr val="C780FF"/>
          </a:solidFill>
          <a:ln>
            <a:noFill/>
          </a:ln>
        </p:spPr>
        <p:txBody>
          <a:bodyPr wrap="square" tIns="28575" rIns="76200" bIns="28575" lIns="76200" anchor="t">
            <a:spAutoFit/>
          </a:bodyPr>
          <a:lstStyle/>
          <a:p>
            <a:pPr algn="ctr">
              <a:defRPr/>
            </a:pPr>
            <a:r>
              <a:rPr sz="1050" b="1" i="0">
                <a:solidFill>
                  <a:srgbClr val="2D0A4E"/>
                </a:solidFill>
                <a:latin typeface="Inter"/>
              </a:rPr>
              <a:t>Change Management</a:t>
            </a:r>
          </a:p>
        </p:txBody>
      </p:sp>
      <p:sp>
        <p:nvSpPr>
          <p:cNvPr id="23" name="persona-2-bg"/>
          <p:cNvSpPr/>
          <p:nvPr/>
        </p:nvSpPr>
        <p:spPr>
          <a:xfrm>
            <a:off x="6172200" y="1504950"/>
            <a:ext cx="5410200" cy="4438650"/>
          </a:xfrm>
          <a:prstGeom prst="rect">
            <a:avLst/>
          </a:prstGeom>
          <a:solidFill>
            <a:srgbClr val="FBF8FE"/>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persona-2-photo"/>
          <p:cNvSpPr/>
          <p:nvPr/>
        </p:nvSpPr>
        <p:spPr>
          <a:xfrm>
            <a:off x="8448675" y="1733550"/>
            <a:ext cx="857250" cy="857250"/>
          </a:xfrm>
          <a:prstGeom prst="rect">
            <a:avLst/>
          </a:prstGeom>
          <a:solidFill>
            <a:srgbClr val="5C2D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persona-2-photo-initials"/>
          <p:cNvSpPr txBox="1"/>
          <p:nvPr/>
        </p:nvSpPr>
        <p:spPr>
          <a:xfrm>
            <a:off x="8448675" y="1733550"/>
            <a:ext cx="857250" cy="857250"/>
          </a:xfrm>
          <a:prstGeom prst="rect">
            <a:avLst/>
          </a:prstGeom>
          <a:noFill/>
          <a:ln>
            <a:noFill/>
          </a:ln>
        </p:spPr>
        <p:txBody>
          <a:bodyPr wrap="square" tIns="0" rIns="0" bIns="0" lIns="0" anchor="ctr">
            <a:spAutoFit/>
          </a:bodyPr>
          <a:lstStyle/>
          <a:p>
            <a:pPr algn="ctr">
              <a:defRPr/>
            </a:pPr>
            <a:r>
              <a:rPr sz="2100" b="1" i="0">
                <a:solidFill>
                  <a:srgbClr val="FFFFFF"/>
                </a:solidFill>
                <a:latin typeface="Inter"/>
              </a:rPr>
              <a:t>MR</a:t>
            </a:r>
          </a:p>
        </p:txBody>
      </p:sp>
      <p:sp>
        <p:nvSpPr>
          <p:cNvPr id="26" name="persona-2-name"/>
          <p:cNvSpPr txBox="1"/>
          <p:nvPr/>
        </p:nvSpPr>
        <p:spPr>
          <a:xfrm>
            <a:off x="6324600" y="2724150"/>
            <a:ext cx="5105400" cy="209550"/>
          </a:xfrm>
          <a:prstGeom prst="rect">
            <a:avLst/>
          </a:prstGeom>
          <a:noFill/>
          <a:ln>
            <a:noFill/>
          </a:ln>
        </p:spPr>
        <p:txBody>
          <a:bodyPr wrap="square" tIns="0" rIns="0" bIns="0" lIns="0" anchor="t">
            <a:spAutoFit/>
          </a:bodyPr>
          <a:lstStyle/>
          <a:p>
            <a:pPr algn="ctr">
              <a:defRPr/>
            </a:pPr>
            <a:r>
              <a:rPr sz="1350" b="1" i="0">
                <a:solidFill>
                  <a:srgbClr val="2D0A4E"/>
                </a:solidFill>
                <a:latin typeface="Inter"/>
              </a:rPr>
              <a:t>Marcus Reid</a:t>
            </a:r>
          </a:p>
        </p:txBody>
      </p:sp>
      <p:sp>
        <p:nvSpPr>
          <p:cNvPr id="27" name="persona-2-role"/>
          <p:cNvSpPr txBox="1"/>
          <p:nvPr/>
        </p:nvSpPr>
        <p:spPr>
          <a:xfrm>
            <a:off x="6324600" y="2952750"/>
            <a:ext cx="5105400" cy="171450"/>
          </a:xfrm>
          <a:prstGeom prst="rect">
            <a:avLst/>
          </a:prstGeom>
          <a:noFill/>
          <a:ln>
            <a:noFill/>
          </a:ln>
        </p:spPr>
        <p:txBody>
          <a:bodyPr wrap="square" tIns="0" rIns="0" bIns="0" lIns="0" anchor="t">
            <a:spAutoFit/>
          </a:bodyPr>
          <a:lstStyle/>
          <a:p>
            <a:pPr algn="ctr">
              <a:defRPr/>
            </a:pPr>
            <a:r>
              <a:rPr sz="1050" b="0" i="0">
                <a:solidFill>
                  <a:srgbClr val="5C2D87"/>
                </a:solidFill>
                <a:latin typeface="Inter"/>
              </a:rPr>
              <a:t>Senior Principal, Technology &amp; Innovation</a:t>
            </a:r>
          </a:p>
        </p:txBody>
      </p:sp>
      <p:sp>
        <p:nvSpPr>
          <p:cNvPr id="28" name="persona-2-name-rule"/>
          <p:cNvSpPr/>
          <p:nvPr/>
        </p:nvSpPr>
        <p:spPr>
          <a:xfrm>
            <a:off x="8686800" y="3200400"/>
            <a:ext cx="38100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persona-2-bio"/>
          <p:cNvSpPr txBox="1"/>
          <p:nvPr/>
        </p:nvSpPr>
        <p:spPr>
          <a:xfrm>
            <a:off x="6362700" y="3333750"/>
            <a:ext cx="5029200" cy="1047750"/>
          </a:xfrm>
          <a:prstGeom prst="rect">
            <a:avLst/>
          </a:prstGeom>
          <a:noFill/>
          <a:ln>
            <a:noFill/>
          </a:ln>
        </p:spPr>
        <p:txBody>
          <a:bodyPr wrap="square" tIns="0" rIns="0" bIns="0" lIns="0" anchor="t">
            <a:spAutoFit/>
          </a:bodyPr>
          <a:lstStyle/>
          <a:p>
            <a:pPr algn="l">
              <a:defRPr/>
            </a:pPr>
            <a:r>
              <a:rPr sz="1050" b="0" i="0">
                <a:solidFill>
                  <a:srgbClr val="1A1A2E"/>
                </a:solidFill>
                <a:latin typeface="Inter"/>
              </a:rPr>
              <a:t>Marcus specializes in enterprise AI adoption and cloud architecture for regulated industries, bringing 14 years of hands-on delivery across banking, insurance, and public sector. He has led multi-year platform modernization programs and served as chief architect on three large-scale data platform builds for Fortune 100 clients.</a:t>
            </a:r>
          </a:p>
        </p:txBody>
      </p:sp>
      <p:sp>
        <p:nvSpPr>
          <p:cNvPr id="30" name="persona-2-stat-1-num"/>
          <p:cNvSpPr txBox="1"/>
          <p:nvPr/>
        </p:nvSpPr>
        <p:spPr>
          <a:xfrm>
            <a:off x="6362700" y="4457700"/>
            <a:ext cx="1676400" cy="247650"/>
          </a:xfrm>
          <a:prstGeom prst="rect">
            <a:avLst/>
          </a:prstGeom>
          <a:noFill/>
          <a:ln>
            <a:noFill/>
          </a:ln>
        </p:spPr>
        <p:txBody>
          <a:bodyPr wrap="square" tIns="0" rIns="0" bIns="0" lIns="0" anchor="t">
            <a:spAutoFit/>
          </a:bodyPr>
          <a:lstStyle/>
          <a:p>
            <a:pPr algn="ctr">
              <a:defRPr/>
            </a:pPr>
            <a:r>
              <a:rPr sz="1500" b="1" i="0">
                <a:solidFill>
                  <a:srgbClr val="2D0A4E"/>
                </a:solidFill>
                <a:latin typeface="Inter"/>
              </a:rPr>
              <a:t>14+</a:t>
            </a:r>
          </a:p>
        </p:txBody>
      </p:sp>
      <p:sp>
        <p:nvSpPr>
          <p:cNvPr id="31" name="persona-2-stat-1-label"/>
          <p:cNvSpPr txBox="1"/>
          <p:nvPr/>
        </p:nvSpPr>
        <p:spPr>
          <a:xfrm>
            <a:off x="6362700" y="4724400"/>
            <a:ext cx="1676400" cy="133350"/>
          </a:xfrm>
          <a:prstGeom prst="rect">
            <a:avLst/>
          </a:prstGeom>
          <a:noFill/>
          <a:ln>
            <a:noFill/>
          </a:ln>
        </p:spPr>
        <p:txBody>
          <a:bodyPr wrap="square" tIns="0" rIns="0" bIns="0" lIns="0" anchor="t">
            <a:spAutoFit/>
          </a:bodyPr>
          <a:lstStyle/>
          <a:p>
            <a:pPr algn="ctr">
              <a:defRPr/>
            </a:pPr>
            <a:r>
              <a:rPr sz="1050" b="1" i="0">
                <a:solidFill>
                  <a:srgbClr val="94A3B8"/>
                </a:solidFill>
                <a:latin typeface="Inter"/>
              </a:rPr>
              <a:t>YEARS</a:t>
            </a:r>
          </a:p>
        </p:txBody>
      </p:sp>
      <p:sp>
        <p:nvSpPr>
          <p:cNvPr id="32" name="persona-2-stat-2-num"/>
          <p:cNvSpPr txBox="1"/>
          <p:nvPr/>
        </p:nvSpPr>
        <p:spPr>
          <a:xfrm>
            <a:off x="8039100" y="4457700"/>
            <a:ext cx="1676400" cy="247650"/>
          </a:xfrm>
          <a:prstGeom prst="rect">
            <a:avLst/>
          </a:prstGeom>
          <a:noFill/>
          <a:ln>
            <a:noFill/>
          </a:ln>
        </p:spPr>
        <p:txBody>
          <a:bodyPr wrap="square" tIns="0" rIns="0" bIns="0" lIns="0" anchor="t">
            <a:spAutoFit/>
          </a:bodyPr>
          <a:lstStyle/>
          <a:p>
            <a:pPr algn="ctr">
              <a:defRPr/>
            </a:pPr>
            <a:r>
              <a:rPr sz="1500" b="1" i="0">
                <a:solidFill>
                  <a:srgbClr val="2D0A4E"/>
                </a:solidFill>
                <a:latin typeface="Inter"/>
              </a:rPr>
              <a:t>3</a:t>
            </a:r>
          </a:p>
        </p:txBody>
      </p:sp>
      <p:sp>
        <p:nvSpPr>
          <p:cNvPr id="33" name="persona-2-stat-2-label"/>
          <p:cNvSpPr txBox="1"/>
          <p:nvPr/>
        </p:nvSpPr>
        <p:spPr>
          <a:xfrm>
            <a:off x="8039100" y="4724400"/>
            <a:ext cx="1676400" cy="133350"/>
          </a:xfrm>
          <a:prstGeom prst="rect">
            <a:avLst/>
          </a:prstGeom>
          <a:noFill/>
          <a:ln>
            <a:noFill/>
          </a:ln>
        </p:spPr>
        <p:txBody>
          <a:bodyPr wrap="square" tIns="0" rIns="0" bIns="0" lIns="0" anchor="t">
            <a:spAutoFit/>
          </a:bodyPr>
          <a:lstStyle/>
          <a:p>
            <a:pPr algn="ctr">
              <a:defRPr/>
            </a:pPr>
            <a:r>
              <a:rPr sz="1050" b="1" i="0">
                <a:solidFill>
                  <a:srgbClr val="94A3B8"/>
                </a:solidFill>
                <a:latin typeface="Inter"/>
              </a:rPr>
              <a:t>PLATFORMS</a:t>
            </a:r>
          </a:p>
        </p:txBody>
      </p:sp>
      <p:sp>
        <p:nvSpPr>
          <p:cNvPr id="34" name="persona-2-stat-3-num"/>
          <p:cNvSpPr txBox="1"/>
          <p:nvPr/>
        </p:nvSpPr>
        <p:spPr>
          <a:xfrm>
            <a:off x="9715500" y="4457700"/>
            <a:ext cx="1676400" cy="247650"/>
          </a:xfrm>
          <a:prstGeom prst="rect">
            <a:avLst/>
          </a:prstGeom>
          <a:noFill/>
          <a:ln>
            <a:noFill/>
          </a:ln>
        </p:spPr>
        <p:txBody>
          <a:bodyPr wrap="square" tIns="0" rIns="0" bIns="0" lIns="0" anchor="t">
            <a:spAutoFit/>
          </a:bodyPr>
          <a:lstStyle/>
          <a:p>
            <a:pPr algn="ctr">
              <a:defRPr/>
            </a:pPr>
            <a:r>
              <a:rPr sz="1500" b="1" i="0">
                <a:solidFill>
                  <a:srgbClr val="2D0A4E"/>
                </a:solidFill>
                <a:latin typeface="Inter"/>
              </a:rPr>
              <a:t>F100</a:t>
            </a:r>
          </a:p>
        </p:txBody>
      </p:sp>
      <p:sp>
        <p:nvSpPr>
          <p:cNvPr id="35" name="persona-2-stat-3-label"/>
          <p:cNvSpPr txBox="1"/>
          <p:nvPr/>
        </p:nvSpPr>
        <p:spPr>
          <a:xfrm>
            <a:off x="9715500" y="4724400"/>
            <a:ext cx="1676400" cy="133350"/>
          </a:xfrm>
          <a:prstGeom prst="rect">
            <a:avLst/>
          </a:prstGeom>
          <a:noFill/>
          <a:ln>
            <a:noFill/>
          </a:ln>
        </p:spPr>
        <p:txBody>
          <a:bodyPr wrap="square" tIns="0" rIns="0" bIns="0" lIns="0" anchor="t">
            <a:spAutoFit/>
          </a:bodyPr>
          <a:lstStyle/>
          <a:p>
            <a:pPr algn="ctr">
              <a:defRPr/>
            </a:pPr>
            <a:r>
              <a:rPr sz="1050" b="1" i="0">
                <a:solidFill>
                  <a:srgbClr val="94A3B8"/>
                </a:solidFill>
                <a:latin typeface="Inter"/>
              </a:rPr>
              <a:t>CLIENTS</a:t>
            </a:r>
          </a:p>
        </p:txBody>
      </p:sp>
      <p:sp>
        <p:nvSpPr>
          <p:cNvPr id="36" name="persona-2-expertise-label"/>
          <p:cNvSpPr txBox="1"/>
          <p:nvPr/>
        </p:nvSpPr>
        <p:spPr>
          <a:xfrm>
            <a:off x="6362700" y="5029200"/>
            <a:ext cx="5029200" cy="133350"/>
          </a:xfrm>
          <a:prstGeom prst="rect">
            <a:avLst/>
          </a:prstGeom>
          <a:noFill/>
          <a:ln>
            <a:noFill/>
          </a:ln>
        </p:spPr>
        <p:txBody>
          <a:bodyPr wrap="square" tIns="0" rIns="0" bIns="0" lIns="0" anchor="t">
            <a:spAutoFit/>
          </a:bodyPr>
          <a:lstStyle/>
          <a:p>
            <a:pPr algn="l">
              <a:defRPr/>
            </a:pPr>
            <a:r>
              <a:rPr sz="1050" b="1" i="0">
                <a:solidFill>
                  <a:srgbClr val="64748B"/>
                </a:solidFill>
                <a:latin typeface="Inter"/>
              </a:rPr>
              <a:t>EXPERTISE</a:t>
            </a:r>
          </a:p>
        </p:txBody>
      </p:sp>
      <p:sp>
        <p:nvSpPr>
          <p:cNvPr id="37" name="persona-2-tag-1"/>
          <p:cNvSpPr txBox="1"/>
          <p:nvPr/>
        </p:nvSpPr>
        <p:spPr>
          <a:xfrm>
            <a:off x="6362700" y="5238750"/>
            <a:ext cx="1238250" cy="190500"/>
          </a:xfrm>
          <a:prstGeom prst="rect">
            <a:avLst/>
          </a:prstGeom>
          <a:solidFill>
            <a:srgbClr val="C780FF"/>
          </a:solidFill>
          <a:ln>
            <a:noFill/>
          </a:ln>
        </p:spPr>
        <p:txBody>
          <a:bodyPr wrap="square" tIns="28575" rIns="76200" bIns="28575" lIns="76200" anchor="t">
            <a:spAutoFit/>
          </a:bodyPr>
          <a:lstStyle/>
          <a:p>
            <a:pPr algn="ctr">
              <a:defRPr/>
            </a:pPr>
            <a:r>
              <a:rPr sz="1050" b="1" i="0">
                <a:solidFill>
                  <a:srgbClr val="2D0A4E"/>
                </a:solidFill>
                <a:latin typeface="Inter"/>
              </a:rPr>
              <a:t>Enterprise AI</a:t>
            </a:r>
          </a:p>
        </p:txBody>
      </p:sp>
      <p:sp>
        <p:nvSpPr>
          <p:cNvPr id="38" name="persona-2-tag-2"/>
          <p:cNvSpPr txBox="1"/>
          <p:nvPr/>
        </p:nvSpPr>
        <p:spPr>
          <a:xfrm>
            <a:off x="7658100" y="5238750"/>
            <a:ext cx="1238250" cy="190500"/>
          </a:xfrm>
          <a:prstGeom prst="rect">
            <a:avLst/>
          </a:prstGeom>
          <a:solidFill>
            <a:srgbClr val="C780FF"/>
          </a:solidFill>
          <a:ln>
            <a:noFill/>
          </a:ln>
        </p:spPr>
        <p:txBody>
          <a:bodyPr wrap="square" tIns="28575" rIns="76200" bIns="28575" lIns="76200" anchor="t">
            <a:spAutoFit/>
          </a:bodyPr>
          <a:lstStyle/>
          <a:p>
            <a:pPr algn="ctr">
              <a:defRPr/>
            </a:pPr>
            <a:r>
              <a:rPr sz="1050" b="1" i="0">
                <a:solidFill>
                  <a:srgbClr val="2D0A4E"/>
                </a:solidFill>
                <a:latin typeface="Inter"/>
              </a:rPr>
              <a:t>Cloud Architecture</a:t>
            </a:r>
          </a:p>
        </p:txBody>
      </p:sp>
      <p:sp>
        <p:nvSpPr>
          <p:cNvPr id="39" name="persona-2-tag-3"/>
          <p:cNvSpPr txBox="1"/>
          <p:nvPr/>
        </p:nvSpPr>
        <p:spPr>
          <a:xfrm>
            <a:off x="8953500" y="5238750"/>
            <a:ext cx="1238250" cy="190500"/>
          </a:xfrm>
          <a:prstGeom prst="rect">
            <a:avLst/>
          </a:prstGeom>
          <a:solidFill>
            <a:srgbClr val="C780FF"/>
          </a:solidFill>
          <a:ln>
            <a:noFill/>
          </a:ln>
        </p:spPr>
        <p:txBody>
          <a:bodyPr wrap="square" tIns="28575" rIns="76200" bIns="28575" lIns="76200" anchor="t">
            <a:spAutoFit/>
          </a:bodyPr>
          <a:lstStyle/>
          <a:p>
            <a:pPr algn="ctr">
              <a:defRPr/>
            </a:pPr>
            <a:r>
              <a:rPr sz="1050" b="1" i="0">
                <a:solidFill>
                  <a:srgbClr val="2D0A4E"/>
                </a:solidFill>
                <a:latin typeface="Inter"/>
              </a:rPr>
              <a:t>Data Platforms</a:t>
            </a:r>
          </a:p>
        </p:txBody>
      </p:sp>
      <p:sp>
        <p:nvSpPr>
          <p:cNvPr id="40" name="footnote-1"/>
          <p:cNvSpPr txBox="1"/>
          <p:nvPr/>
        </p:nvSpPr>
        <p:spPr>
          <a:xfrm>
            <a:off x="552450" y="6400800"/>
            <a:ext cx="11087100" cy="152400"/>
          </a:xfrm>
          <a:prstGeom prst="rect">
            <a:avLst/>
          </a:prstGeom>
          <a:noFill/>
          <a:ln>
            <a:noFill/>
          </a:ln>
        </p:spPr>
        <p:txBody>
          <a:bodyPr wrap="square" tIns="0" rIns="0" bIns="0" lIns="0" anchor="t">
            <a:spAutoFit/>
          </a:bodyPr>
          <a:lstStyle/>
          <a:p>
            <a:pPr algn="l">
              <a:defRPr/>
            </a:pPr>
            <a:r>
              <a:rPr sz="1050" b="0" i="0">
                <a:solidFill>
                  <a:srgbClr val="94A3B8"/>
                </a:solidFill>
                <a:latin typeface="Inter"/>
              </a:rPr>
              <a:t>1. [add footnote here or delete]</a:t>
            </a:r>
          </a:p>
        </p:txBody>
      </p:sp>
      <p:sp>
        <p:nvSpPr>
          <p:cNvPr id="41" name="source"/>
          <p:cNvSpPr txBox="1"/>
          <p:nvPr/>
        </p:nvSpPr>
        <p:spPr>
          <a:xfrm>
            <a:off x="552450" y="6553200"/>
            <a:ext cx="10477500" cy="152400"/>
          </a:xfrm>
          <a:prstGeom prst="rect">
            <a:avLst/>
          </a:prstGeom>
          <a:noFill/>
          <a:ln>
            <a:noFill/>
          </a:ln>
        </p:spPr>
        <p:txBody>
          <a:bodyPr wrap="square" tIns="0" rIns="0" bIns="0" lIns="0" anchor="t">
            <a:spAutoFit/>
          </a:bodyPr>
          <a:lstStyle/>
          <a:p>
            <a:pPr algn="l"/>
            <a:r>
              <a:rPr sz="750" b="0" i="1">
                <a:solidFill>
                  <a:srgbClr val="94A3B8"/>
                </a:solidFill>
                <a:latin typeface="Inter"/>
              </a:rPr>
              <a:t>Source: [add source here or delete]</a:t>
            </a:r>
          </a:p>
        </p:txBody>
      </p:sp>
      <p:sp>
        <p:nvSpPr>
          <p:cNvPr id="42" name="page-number"/>
          <p:cNvSpPr txBox="1"/>
          <p:nvPr/>
        </p:nvSpPr>
        <p:spPr>
          <a:xfrm>
            <a:off x="11144250" y="6553200"/>
            <a:ext cx="495300" cy="152400"/>
          </a:xfrm>
          <a:prstGeom prst="rect">
            <a:avLst/>
          </a:prstGeom>
          <a:noFill/>
          <a:ln>
            <a:noFill/>
          </a:ln>
        </p:spPr>
        <p:txBody>
          <a:bodyPr wrap="square" tIns="0" rIns="0" bIns="0" lIns="0" anchor="t">
            <a:spAutoFit/>
          </a:bodyPr>
          <a:lstStyle/>
          <a:p>
            <a:pPr algn="r"/>
            <a:r>
              <a:rPr sz="825" b="0" i="0">
                <a:solidFill>
                  <a:srgbClr val="94A3B8"/>
                </a:solidFill>
                <a:latin typeface="Inter"/>
              </a:rPr>
              <a:t>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