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Client Program Needs a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Decisive Pivot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Before Q3 Gate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Executive Summary — Program Health Review ·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tl-bg"/>
          <p:cNvSpPr/>
          <p:nvPr/>
        </p:nvSpPr>
        <p:spPr>
          <a:xfrm>
            <a:off x="609600" y="1600200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adrant-tr-bg"/>
          <p:cNvSpPr/>
          <p:nvPr/>
        </p:nvSpPr>
        <p:spPr>
          <a:xfrm>
            <a:off x="6096000" y="1600200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quadrant-bl-bg"/>
          <p:cNvSpPr/>
          <p:nvPr/>
        </p:nvSpPr>
        <p:spPr>
          <a:xfrm>
            <a:off x="609600" y="3657600"/>
            <a:ext cx="5486400" cy="2057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quadrant-br-bg"/>
          <p:cNvSpPr/>
          <p:nvPr/>
        </p:nvSpPr>
        <p:spPr>
          <a:xfrm>
            <a:off x="6096000" y="3657600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adrant-bl-accent"/>
          <p:cNvSpPr/>
          <p:nvPr/>
        </p:nvSpPr>
        <p:spPr>
          <a:xfrm>
            <a:off x="609600" y="3657600"/>
            <a:ext cx="28575" cy="2057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quadrant-tl-label-accent"/>
          <p:cNvSpPr/>
          <p:nvPr/>
        </p:nvSpPr>
        <p:spPr>
          <a:xfrm>
            <a:off x="762000" y="1752600"/>
            <a:ext cx="2857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quadrant-tl-label"/>
          <p:cNvSpPr txBox="1"/>
          <p:nvPr/>
        </p:nvSpPr>
        <p:spPr>
          <a:xfrm>
            <a:off x="838200" y="1733550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CONTEXT</a:t>
            </a:r>
          </a:p>
        </p:txBody>
      </p:sp>
      <p:sp>
        <p:nvSpPr>
          <p:cNvPr id="12" name="quadrant-tl-body"/>
          <p:cNvSpPr txBox="1"/>
          <p:nvPr/>
        </p:nvSpPr>
        <p:spPr>
          <a:xfrm>
            <a:off x="838200" y="1981200"/>
            <a:ext cx="50292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The Orion transformation program entered Phase 3 four months ago with three workstreams running in parallel. Despite on-schedule delivery of two streams, the data migration workstream has accumulated a 6-week lag, putting the Q3 go-live at material risk. Steering has not yet been formally notified of scope implications.</a:t>
            </a:r>
          </a:p>
        </p:txBody>
      </p:sp>
      <p:sp>
        <p:nvSpPr>
          <p:cNvPr id="13" name="quadrant-tr-label-accent"/>
          <p:cNvSpPr/>
          <p:nvPr/>
        </p:nvSpPr>
        <p:spPr>
          <a:xfrm>
            <a:off x="6248400" y="1752600"/>
            <a:ext cx="2857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r-label"/>
          <p:cNvSpPr txBox="1"/>
          <p:nvPr/>
        </p:nvSpPr>
        <p:spPr>
          <a:xfrm>
            <a:off x="6324600" y="1733550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FINDINGS</a:t>
            </a:r>
          </a:p>
        </p:txBody>
      </p:sp>
      <p:sp>
        <p:nvSpPr>
          <p:cNvPr id="15" name="quadrant-tr-1-num"/>
          <p:cNvSpPr txBox="1"/>
          <p:nvPr/>
        </p:nvSpPr>
        <p:spPr>
          <a:xfrm>
            <a:off x="6324600" y="1981200"/>
            <a:ext cx="171450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</a:t>
            </a:r>
          </a:p>
        </p:txBody>
      </p:sp>
      <p:sp>
        <p:nvSpPr>
          <p:cNvPr id="16" name="quadrant-tr-1-body"/>
          <p:cNvSpPr txBox="1"/>
          <p:nvPr/>
        </p:nvSpPr>
        <p:spPr>
          <a:xfrm>
            <a:off x="6572250" y="1962150"/>
            <a:ext cx="48196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Data migration lag is systemic — root cause is an under-resourced ETL team, not a tooling defect; adding sprint cycles will not close the gap without headcount.</a:t>
            </a:r>
          </a:p>
        </p:txBody>
      </p:sp>
      <p:sp>
        <p:nvSpPr>
          <p:cNvPr id="17" name="quadrant-tr-2-num"/>
          <p:cNvSpPr txBox="1"/>
          <p:nvPr/>
        </p:nvSpPr>
        <p:spPr>
          <a:xfrm>
            <a:off x="6324600" y="2514600"/>
            <a:ext cx="171450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</a:t>
            </a:r>
          </a:p>
        </p:txBody>
      </p:sp>
      <p:sp>
        <p:nvSpPr>
          <p:cNvPr id="18" name="quadrant-tr-2-body"/>
          <p:cNvSpPr txBox="1"/>
          <p:nvPr/>
        </p:nvSpPr>
        <p:spPr>
          <a:xfrm>
            <a:off x="6572250" y="2495550"/>
            <a:ext cx="48196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Change management readiness scores dropped from 74% to 61% in the last pulse survey, signaling user adoption risk at launch.</a:t>
            </a:r>
          </a:p>
        </p:txBody>
      </p:sp>
      <p:sp>
        <p:nvSpPr>
          <p:cNvPr id="19" name="quadrant-tr-3-num"/>
          <p:cNvSpPr txBox="1"/>
          <p:nvPr/>
        </p:nvSpPr>
        <p:spPr>
          <a:xfrm>
            <a:off x="6324600" y="3048000"/>
            <a:ext cx="171450" cy="1714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20" name="quadrant-tr-3-body"/>
          <p:cNvSpPr txBox="1"/>
          <p:nvPr/>
        </p:nvSpPr>
        <p:spPr>
          <a:xfrm>
            <a:off x="6572250" y="3028950"/>
            <a:ext cx="4819650" cy="495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Budget contingency is 80% consumed with two months remaining; current burn rate projects a $1.2M overrun unless scope is re-baselined.</a:t>
            </a:r>
          </a:p>
        </p:txBody>
      </p:sp>
      <p:sp>
        <p:nvSpPr>
          <p:cNvPr id="21" name="quadrant-bl-label-accent"/>
          <p:cNvSpPr/>
          <p:nvPr/>
        </p:nvSpPr>
        <p:spPr>
          <a:xfrm>
            <a:off x="762000" y="3810000"/>
            <a:ext cx="28575" cy="1333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quadrant-bl-label"/>
          <p:cNvSpPr txBox="1"/>
          <p:nvPr/>
        </p:nvSpPr>
        <p:spPr>
          <a:xfrm>
            <a:off x="838200" y="3790950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RECOMMENDATION</a:t>
            </a:r>
          </a:p>
        </p:txBody>
      </p:sp>
      <p:sp>
        <p:nvSpPr>
          <p:cNvPr id="23" name="quadrant-bl-statement"/>
          <p:cNvSpPr txBox="1"/>
          <p:nvPr/>
        </p:nvSpPr>
        <p:spPr>
          <a:xfrm>
            <a:off x="838200" y="4038600"/>
            <a:ext cx="502920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Approve a 6-week schedule extension and immediate resource augmentation for the data workstream to protect go-live quality and contain budget exposure.</a:t>
            </a:r>
          </a:p>
        </p:txBody>
      </p:sp>
      <p:sp>
        <p:nvSpPr>
          <p:cNvPr id="24" name="quadrant-bl-body"/>
          <p:cNvSpPr txBox="1"/>
          <p:nvPr/>
        </p:nvSpPr>
        <p:spPr>
          <a:xfrm>
            <a:off x="838200" y="46863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› Onboard 2 senior ETL engineers from the bench by end of May to restore migration velocity to target.
› Re-baseline scope with Steering at the June 3 gate to formally absorb the extension and reset the budget ceiling.</a:t>
            </a:r>
          </a:p>
        </p:txBody>
      </p:sp>
      <p:sp>
        <p:nvSpPr>
          <p:cNvPr id="25" name="quadrant-br-label-accent"/>
          <p:cNvSpPr/>
          <p:nvPr/>
        </p:nvSpPr>
        <p:spPr>
          <a:xfrm>
            <a:off x="6248400" y="3810000"/>
            <a:ext cx="2857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quadrant-br-label"/>
          <p:cNvSpPr txBox="1"/>
          <p:nvPr/>
        </p:nvSpPr>
        <p:spPr>
          <a:xfrm>
            <a:off x="6324600" y="3790950"/>
            <a:ext cx="51054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NEXT STEPS</a:t>
            </a:r>
          </a:p>
        </p:txBody>
      </p:sp>
      <p:sp>
        <p:nvSpPr>
          <p:cNvPr id="27" name="quadrant-br-1-text"/>
          <p:cNvSpPr txBox="1"/>
          <p:nvPr/>
        </p:nvSpPr>
        <p:spPr>
          <a:xfrm>
            <a:off x="6324600" y="40386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Raise resource request for 2 ETL engineers through the Talent Deployment board.</a:t>
            </a:r>
          </a:p>
        </p:txBody>
      </p:sp>
      <p:sp>
        <p:nvSpPr>
          <p:cNvPr id="28" name="quadrant-br-1-owner"/>
          <p:cNvSpPr txBox="1"/>
          <p:nvPr/>
        </p:nvSpPr>
        <p:spPr>
          <a:xfrm>
            <a:off x="6324600" y="4343400"/>
            <a:ext cx="171450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J. Reyes · Delivery Lead</a:t>
            </a:r>
          </a:p>
        </p:txBody>
      </p:sp>
      <p:sp>
        <p:nvSpPr>
          <p:cNvPr id="29" name="quadrant-br-1-date"/>
          <p:cNvSpPr txBox="1"/>
          <p:nvPr/>
        </p:nvSpPr>
        <p:spPr>
          <a:xfrm>
            <a:off x="8096250" y="4343400"/>
            <a:ext cx="76200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May 23</a:t>
            </a:r>
          </a:p>
        </p:txBody>
      </p:sp>
      <p:sp>
        <p:nvSpPr>
          <p:cNvPr id="30" name="quadrant-br-2-text"/>
          <p:cNvSpPr txBox="1"/>
          <p:nvPr/>
        </p:nvSpPr>
        <p:spPr>
          <a:xfrm>
            <a:off x="6324600" y="46101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Prepare revised program baseline (schedule + budget) for Steering deck.</a:t>
            </a:r>
          </a:p>
        </p:txBody>
      </p:sp>
      <p:sp>
        <p:nvSpPr>
          <p:cNvPr id="31" name="quadrant-br-2-owner"/>
          <p:cNvSpPr txBox="1"/>
          <p:nvPr/>
        </p:nvSpPr>
        <p:spPr>
          <a:xfrm>
            <a:off x="6324600" y="4914900"/>
            <a:ext cx="171450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A. Müller · PMO</a:t>
            </a:r>
          </a:p>
        </p:txBody>
      </p:sp>
      <p:sp>
        <p:nvSpPr>
          <p:cNvPr id="32" name="quadrant-br-2-date"/>
          <p:cNvSpPr txBox="1"/>
          <p:nvPr/>
        </p:nvSpPr>
        <p:spPr>
          <a:xfrm>
            <a:off x="8096250" y="4914900"/>
            <a:ext cx="76200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May 30</a:t>
            </a:r>
          </a:p>
        </p:txBody>
      </p:sp>
      <p:sp>
        <p:nvSpPr>
          <p:cNvPr id="33" name="quadrant-br-3-text"/>
          <p:cNvSpPr txBox="1"/>
          <p:nvPr/>
        </p:nvSpPr>
        <p:spPr>
          <a:xfrm>
            <a:off x="6324600" y="51816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Present extension recommendation and re-baselined plan at Steering gate.</a:t>
            </a:r>
          </a:p>
        </p:txBody>
      </p:sp>
      <p:sp>
        <p:nvSpPr>
          <p:cNvPr id="34" name="quadrant-br-3-owner"/>
          <p:cNvSpPr txBox="1"/>
          <p:nvPr/>
        </p:nvSpPr>
        <p:spPr>
          <a:xfrm>
            <a:off x="6324600" y="5486400"/>
            <a:ext cx="1714500" cy="1524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C. Okafor · Sponsor</a:t>
            </a:r>
          </a:p>
        </p:txBody>
      </p:sp>
      <p:sp>
        <p:nvSpPr>
          <p:cNvPr id="35" name="quadrant-br-3-date"/>
          <p:cNvSpPr txBox="1"/>
          <p:nvPr/>
        </p:nvSpPr>
        <p:spPr>
          <a:xfrm>
            <a:off x="8096250" y="5486400"/>
            <a:ext cx="762000" cy="152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txBody>
          <a:bodyPr wrap="square" tIns="19050" rIns="57150" bIns="19050" lIns="5715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Jun 3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