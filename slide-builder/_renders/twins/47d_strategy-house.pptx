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476250"/>
            <a:ext cx="9525000" cy="781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100" b="1" i="0">
                <a:solidFill>
                  <a:srgbClr val="FFFFFF"/>
                </a:solidFill>
                <a:latin typeface="Inter"/>
              </a:rPr>
              <a:t>Our approach rests on two pillars supporting one integrated outcome — remove either pillar and the house falls.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3716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Roof = the outcome we are committing to. Pillars = the two mutually-reinforcing prongs. Foundation = what happens without both.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695450"/>
            <a:ext cx="4572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roof"/>
          <p:cNvSpPr/>
          <p:nvPr/>
        </p:nvSpPr>
        <p:spPr>
          <a:xfrm>
            <a:off x="2667000" y="1809750"/>
            <a:ext cx="6858000" cy="838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roof-label"/>
          <p:cNvSpPr txBox="1"/>
          <p:nvPr/>
        </p:nvSpPr>
        <p:spPr>
          <a:xfrm>
            <a:off x="2667000" y="1943100"/>
            <a:ext cx="6858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INTEGRATED OUTCOME</a:t>
            </a:r>
          </a:p>
        </p:txBody>
      </p:sp>
      <p:sp>
        <p:nvSpPr>
          <p:cNvPr id="7" name="roof-name"/>
          <p:cNvSpPr txBox="1"/>
          <p:nvPr/>
        </p:nvSpPr>
        <p:spPr>
          <a:xfrm>
            <a:off x="2667000" y="2152650"/>
            <a:ext cx="68580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Durable advantage — new and expanded opportunities</a:t>
            </a:r>
          </a:p>
        </p:txBody>
      </p:sp>
      <p:sp>
        <p:nvSpPr>
          <p:cNvPr id="8" name="pillar-1-header"/>
          <p:cNvSpPr/>
          <p:nvPr/>
        </p:nvSpPr>
        <p:spPr>
          <a:xfrm>
            <a:off x="1981200" y="2762250"/>
            <a:ext cx="4029075" cy="6096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pillar-1-tag"/>
          <p:cNvSpPr txBox="1"/>
          <p:nvPr/>
        </p:nvSpPr>
        <p:spPr>
          <a:xfrm>
            <a:off x="1981200" y="2838450"/>
            <a:ext cx="402907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PILLAR 1</a:t>
            </a:r>
          </a:p>
        </p:txBody>
      </p:sp>
      <p:sp>
        <p:nvSpPr>
          <p:cNvPr id="10" name="pillar-1-name"/>
          <p:cNvSpPr txBox="1"/>
          <p:nvPr/>
        </p:nvSpPr>
        <p:spPr>
          <a:xfrm>
            <a:off x="1981200" y="2971800"/>
            <a:ext cx="40290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FFFFFF"/>
                </a:solidFill>
                <a:latin typeface="Inter"/>
              </a:rPr>
              <a:t>Mindset shift</a:t>
            </a:r>
          </a:p>
        </p:txBody>
      </p:sp>
      <p:sp>
        <p:nvSpPr>
          <p:cNvPr id="11" name="pillar-1-sub"/>
          <p:cNvSpPr txBox="1"/>
          <p:nvPr/>
        </p:nvSpPr>
        <p:spPr>
          <a:xfrm>
            <a:off x="1981200" y="3200400"/>
            <a:ext cx="40290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How we think and operate</a:t>
            </a:r>
          </a:p>
        </p:txBody>
      </p:sp>
      <p:sp>
        <p:nvSpPr>
          <p:cNvPr id="12" name="pillar-1-body"/>
          <p:cNvSpPr/>
          <p:nvPr/>
        </p:nvSpPr>
        <p:spPr>
          <a:xfrm>
            <a:off x="1981200" y="3371850"/>
            <a:ext cx="4029075" cy="1104900"/>
          </a:xfrm>
          <a:prstGeom prst="rect">
            <a:avLst/>
          </a:prstGeom>
          <a:solidFill>
            <a:srgbClr val="3C1F5C"/>
          </a:solidFill>
          <a:ln w="25400">
            <a:solidFill>
              <a:srgbClr val="5C2D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pillar-1-bullet-1-num"/>
          <p:cNvSpPr txBox="1"/>
          <p:nvPr/>
        </p:nvSpPr>
        <p:spPr>
          <a:xfrm>
            <a:off x="2114550" y="3486150"/>
            <a:ext cx="190500" cy="1905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4" name="pillar-1-bullet-1-text"/>
          <p:cNvSpPr txBox="1"/>
          <p:nvPr/>
        </p:nvSpPr>
        <p:spPr>
          <a:xfrm>
            <a:off x="2381250" y="3486150"/>
            <a:ext cx="349567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Moves us from a delivery mindset to a value mindset</a:t>
            </a:r>
          </a:p>
        </p:txBody>
      </p:sp>
      <p:sp>
        <p:nvSpPr>
          <p:cNvPr id="15" name="pillar-1-bullet-2-num"/>
          <p:cNvSpPr txBox="1"/>
          <p:nvPr/>
        </p:nvSpPr>
        <p:spPr>
          <a:xfrm>
            <a:off x="2114550" y="3790950"/>
            <a:ext cx="190500" cy="1905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6" name="pillar-1-bullet-2-text"/>
          <p:cNvSpPr txBox="1"/>
          <p:nvPr/>
        </p:nvSpPr>
        <p:spPr>
          <a:xfrm>
            <a:off x="2381250" y="3790950"/>
            <a:ext cx="349567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Frames problems and engages at the right level</a:t>
            </a:r>
          </a:p>
        </p:txBody>
      </p:sp>
      <p:sp>
        <p:nvSpPr>
          <p:cNvPr id="17" name="pillar-1-bullet-3-num"/>
          <p:cNvSpPr txBox="1"/>
          <p:nvPr/>
        </p:nvSpPr>
        <p:spPr>
          <a:xfrm>
            <a:off x="2114550" y="4095750"/>
            <a:ext cx="190500" cy="1905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8" name="pillar-1-bullet-3-text"/>
          <p:cNvSpPr txBox="1"/>
          <p:nvPr/>
        </p:nvSpPr>
        <p:spPr>
          <a:xfrm>
            <a:off x="2381250" y="4095750"/>
            <a:ext cx="349567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Builds trusted relationships that produce influence</a:t>
            </a:r>
          </a:p>
        </p:txBody>
      </p:sp>
      <p:sp>
        <p:nvSpPr>
          <p:cNvPr id="19" name="pillar-2-header"/>
          <p:cNvSpPr/>
          <p:nvPr/>
        </p:nvSpPr>
        <p:spPr>
          <a:xfrm>
            <a:off x="6181725" y="2762250"/>
            <a:ext cx="4029075" cy="6096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pillar-2-tag"/>
          <p:cNvSpPr txBox="1"/>
          <p:nvPr/>
        </p:nvSpPr>
        <p:spPr>
          <a:xfrm>
            <a:off x="6181725" y="2838450"/>
            <a:ext cx="402907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PILLAR 2</a:t>
            </a:r>
          </a:p>
        </p:txBody>
      </p:sp>
      <p:sp>
        <p:nvSpPr>
          <p:cNvPr id="21" name="pillar-2-name"/>
          <p:cNvSpPr txBox="1"/>
          <p:nvPr/>
        </p:nvSpPr>
        <p:spPr>
          <a:xfrm>
            <a:off x="6181725" y="2971800"/>
            <a:ext cx="40290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2D0A4E"/>
                </a:solidFill>
                <a:latin typeface="Inter"/>
              </a:rPr>
              <a:t>Ops intelligence engine</a:t>
            </a:r>
          </a:p>
        </p:txBody>
      </p:sp>
      <p:sp>
        <p:nvSpPr>
          <p:cNvPr id="22" name="pillar-2-sub"/>
          <p:cNvSpPr txBox="1"/>
          <p:nvPr/>
        </p:nvSpPr>
        <p:spPr>
          <a:xfrm>
            <a:off x="6181725" y="3200400"/>
            <a:ext cx="40290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2D0A4E"/>
                </a:solidFill>
                <a:latin typeface="Inter"/>
              </a:rPr>
              <a:t>What we know and deliver</a:t>
            </a:r>
          </a:p>
        </p:txBody>
      </p:sp>
      <p:sp>
        <p:nvSpPr>
          <p:cNvPr id="23" name="pillar-2-body"/>
          <p:cNvSpPr/>
          <p:nvPr/>
        </p:nvSpPr>
        <p:spPr>
          <a:xfrm>
            <a:off x="6181725" y="3371850"/>
            <a:ext cx="4029075" cy="1104900"/>
          </a:xfrm>
          <a:prstGeom prst="rect">
            <a:avLst/>
          </a:prstGeom>
          <a:solidFill>
            <a:srgbClr val="3C1F5C"/>
          </a:solidFill>
          <a:ln w="25400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pillar-2-bullet-1-num"/>
          <p:cNvSpPr txBox="1"/>
          <p:nvPr/>
        </p:nvSpPr>
        <p:spPr>
          <a:xfrm>
            <a:off x="6315075" y="3486150"/>
            <a:ext cx="190500" cy="1905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1</a:t>
            </a:r>
          </a:p>
        </p:txBody>
      </p:sp>
      <p:sp>
        <p:nvSpPr>
          <p:cNvPr id="25" name="pillar-2-bullet-1-text"/>
          <p:cNvSpPr txBox="1"/>
          <p:nvPr/>
        </p:nvSpPr>
        <p:spPr>
          <a:xfrm>
            <a:off x="6581775" y="3486150"/>
            <a:ext cx="349567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Builds deep understanding of how the business actually works</a:t>
            </a:r>
          </a:p>
        </p:txBody>
      </p:sp>
      <p:sp>
        <p:nvSpPr>
          <p:cNvPr id="26" name="pillar-2-bullet-2-num"/>
          <p:cNvSpPr txBox="1"/>
          <p:nvPr/>
        </p:nvSpPr>
        <p:spPr>
          <a:xfrm>
            <a:off x="6315075" y="3790950"/>
            <a:ext cx="190500" cy="1905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2</a:t>
            </a:r>
          </a:p>
        </p:txBody>
      </p:sp>
      <p:sp>
        <p:nvSpPr>
          <p:cNvPr id="27" name="pillar-2-bullet-2-text"/>
          <p:cNvSpPr txBox="1"/>
          <p:nvPr/>
        </p:nvSpPr>
        <p:spPr>
          <a:xfrm>
            <a:off x="6581775" y="3790950"/>
            <a:ext cx="349567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Quantifies and captures value at decision time</a:t>
            </a:r>
          </a:p>
        </p:txBody>
      </p:sp>
      <p:sp>
        <p:nvSpPr>
          <p:cNvPr id="28" name="pillar-2-bullet-3-num"/>
          <p:cNvSpPr txBox="1"/>
          <p:nvPr/>
        </p:nvSpPr>
        <p:spPr>
          <a:xfrm>
            <a:off x="6315075" y="4095750"/>
            <a:ext cx="190500" cy="1905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3</a:t>
            </a:r>
          </a:p>
        </p:txBody>
      </p:sp>
      <p:sp>
        <p:nvSpPr>
          <p:cNvPr id="29" name="pillar-2-bullet-3-text"/>
          <p:cNvSpPr txBox="1"/>
          <p:nvPr/>
        </p:nvSpPr>
        <p:spPr>
          <a:xfrm>
            <a:off x="6581775" y="4095750"/>
            <a:ext cx="349567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Generates insights that earn credibility</a:t>
            </a:r>
          </a:p>
        </p:txBody>
      </p:sp>
      <p:sp>
        <p:nvSpPr>
          <p:cNvPr id="30" name="foundation"/>
          <p:cNvSpPr/>
          <p:nvPr/>
        </p:nvSpPr>
        <p:spPr>
          <a:xfrm>
            <a:off x="1905000" y="4572000"/>
            <a:ext cx="8382000" cy="6667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foundation-label"/>
          <p:cNvSpPr txBox="1"/>
          <p:nvPr/>
        </p:nvSpPr>
        <p:spPr>
          <a:xfrm>
            <a:off x="2114550" y="4667250"/>
            <a:ext cx="79629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THE FOUNDATION — WITHOUT BOTH</a:t>
            </a:r>
          </a:p>
        </p:txBody>
      </p:sp>
      <p:sp>
        <p:nvSpPr>
          <p:cNvPr id="32" name="foundation-name"/>
          <p:cNvSpPr txBox="1"/>
          <p:nvPr/>
        </p:nvSpPr>
        <p:spPr>
          <a:xfrm>
            <a:off x="2114550" y="4800600"/>
            <a:ext cx="7962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We leave value on the table</a:t>
            </a:r>
          </a:p>
        </p:txBody>
      </p:sp>
      <p:sp>
        <p:nvSpPr>
          <p:cNvPr id="33" name="foundation-desc"/>
          <p:cNvSpPr txBox="1"/>
          <p:nvPr/>
        </p:nvSpPr>
        <p:spPr>
          <a:xfrm>
            <a:off x="2114550" y="4991100"/>
            <a:ext cx="79629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One prong alone gets halfway: smart assets that nobody uses, or confident people without substance. Both together = credibility plus influence.</a:t>
            </a:r>
          </a:p>
        </p:txBody>
      </p:sp>
      <p:sp>
        <p:nvSpPr>
          <p:cNvPr id="34" name="convergence-bg"/>
          <p:cNvSpPr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convergence"/>
          <p:cNvSpPr txBox="1"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209550" bIns="0" lIns="20955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Two pillars, one roof, one foundation — the house only stands if both prongs hold.</a:t>
            </a:r>
          </a:p>
        </p:txBody>
      </p:sp>
      <p:sp>
        <p:nvSpPr>
          <p:cNvPr id="36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37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38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47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