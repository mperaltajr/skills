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Program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Risk Heat Map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Risk register mapped by likelihood and impact — Q2 2026 snapshot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-1-sw"/>
          <p:cNvSpPr/>
          <p:nvPr/>
        </p:nvSpPr>
        <p:spPr>
          <a:xfrm>
            <a:off x="6858000" y="2247900"/>
            <a:ext cx="133350" cy="95250"/>
          </a:xfrm>
          <a:prstGeom prst="rect">
            <a:avLst/>
          </a:prstGeom>
          <a:solidFill>
            <a:srgbClr val="1E4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-1-lbl"/>
          <p:cNvSpPr txBox="1"/>
          <p:nvPr/>
        </p:nvSpPr>
        <p:spPr>
          <a:xfrm>
            <a:off x="7029450" y="2209800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Low (1–4)</a:t>
            </a:r>
          </a:p>
        </p:txBody>
      </p:sp>
      <p:sp>
        <p:nvSpPr>
          <p:cNvPr id="7" name="leg-2-sw"/>
          <p:cNvSpPr/>
          <p:nvPr/>
        </p:nvSpPr>
        <p:spPr>
          <a:xfrm>
            <a:off x="8001000" y="2247900"/>
            <a:ext cx="133350" cy="95250"/>
          </a:xfrm>
          <a:prstGeom prst="rect">
            <a:avLst/>
          </a:prstGeom>
          <a:solidFill>
            <a:srgbClr val="6E5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leg-2-lbl"/>
          <p:cNvSpPr txBox="1"/>
          <p:nvPr/>
        </p:nvSpPr>
        <p:spPr>
          <a:xfrm>
            <a:off x="8172450" y="2209800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Medium (5–9)</a:t>
            </a:r>
          </a:p>
        </p:txBody>
      </p:sp>
      <p:sp>
        <p:nvSpPr>
          <p:cNvPr id="9" name="leg-3-sw"/>
          <p:cNvSpPr/>
          <p:nvPr/>
        </p:nvSpPr>
        <p:spPr>
          <a:xfrm>
            <a:off x="9144000" y="2247900"/>
            <a:ext cx="133350" cy="95250"/>
          </a:xfrm>
          <a:prstGeom prst="rect">
            <a:avLst/>
          </a:prstGeom>
          <a:solidFill>
            <a:srgbClr val="7A3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leg-3-lbl"/>
          <p:cNvSpPr txBox="1"/>
          <p:nvPr/>
        </p:nvSpPr>
        <p:spPr>
          <a:xfrm>
            <a:off x="9315450" y="2209800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High (10–14)</a:t>
            </a:r>
          </a:p>
        </p:txBody>
      </p:sp>
      <p:sp>
        <p:nvSpPr>
          <p:cNvPr id="11" name="leg-4-sw"/>
          <p:cNvSpPr/>
          <p:nvPr/>
        </p:nvSpPr>
        <p:spPr>
          <a:xfrm>
            <a:off x="10287000" y="2247900"/>
            <a:ext cx="133350" cy="95250"/>
          </a:xfrm>
          <a:prstGeom prst="rect">
            <a:avLst/>
          </a:prstGeom>
          <a:solidFill>
            <a:srgbClr val="6E2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leg-4-lbl"/>
          <p:cNvSpPr txBox="1"/>
          <p:nvPr/>
        </p:nvSpPr>
        <p:spPr>
          <a:xfrm>
            <a:off x="10458450" y="2209800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Critical (15–25)</a:t>
            </a:r>
          </a:p>
        </p:txBody>
      </p:sp>
      <p:sp>
        <p:nvSpPr>
          <p:cNvPr id="13" name="cell-r5-c1"/>
          <p:cNvSpPr/>
          <p:nvPr/>
        </p:nvSpPr>
        <p:spPr>
          <a:xfrm>
            <a:off x="1238250" y="2571750"/>
            <a:ext cx="742950" cy="533400"/>
          </a:xfrm>
          <a:prstGeom prst="rect">
            <a:avLst/>
          </a:prstGeom>
          <a:solidFill>
            <a:srgbClr val="6E521E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ell-r5-c2"/>
          <p:cNvSpPr/>
          <p:nvPr/>
        </p:nvSpPr>
        <p:spPr>
          <a:xfrm>
            <a:off x="2000250" y="2571750"/>
            <a:ext cx="742950" cy="533400"/>
          </a:xfrm>
          <a:prstGeom prst="rect">
            <a:avLst/>
          </a:prstGeom>
          <a:solidFill>
            <a:srgbClr val="7A3E1E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ell-r5-c3"/>
          <p:cNvSpPr/>
          <p:nvPr/>
        </p:nvSpPr>
        <p:spPr>
          <a:xfrm>
            <a:off x="2762250" y="2571750"/>
            <a:ext cx="742950" cy="533400"/>
          </a:xfrm>
          <a:prstGeom prst="rect">
            <a:avLst/>
          </a:prstGeom>
          <a:solidFill>
            <a:srgbClr val="6E222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ell-r5-c4"/>
          <p:cNvSpPr/>
          <p:nvPr/>
        </p:nvSpPr>
        <p:spPr>
          <a:xfrm>
            <a:off x="3524250" y="2571750"/>
            <a:ext cx="742950" cy="533400"/>
          </a:xfrm>
          <a:prstGeom prst="rect">
            <a:avLst/>
          </a:prstGeom>
          <a:solidFill>
            <a:srgbClr val="6E222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ell-r5-c5"/>
          <p:cNvSpPr/>
          <p:nvPr/>
        </p:nvSpPr>
        <p:spPr>
          <a:xfrm>
            <a:off x="4286250" y="2571750"/>
            <a:ext cx="742950" cy="533400"/>
          </a:xfrm>
          <a:prstGeom prst="rect">
            <a:avLst/>
          </a:prstGeom>
          <a:solidFill>
            <a:srgbClr val="6E222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ell-r4-c1"/>
          <p:cNvSpPr/>
          <p:nvPr/>
        </p:nvSpPr>
        <p:spPr>
          <a:xfrm>
            <a:off x="1238250" y="3124200"/>
            <a:ext cx="742950" cy="533400"/>
          </a:xfrm>
          <a:prstGeom prst="rect">
            <a:avLst/>
          </a:prstGeom>
          <a:solidFill>
            <a:srgbClr val="1E4E3A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ell-r4-c2"/>
          <p:cNvSpPr/>
          <p:nvPr/>
        </p:nvSpPr>
        <p:spPr>
          <a:xfrm>
            <a:off x="2000250" y="3124200"/>
            <a:ext cx="742950" cy="533400"/>
          </a:xfrm>
          <a:prstGeom prst="rect">
            <a:avLst/>
          </a:prstGeom>
          <a:solidFill>
            <a:srgbClr val="6E521E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cell-r4-c3"/>
          <p:cNvSpPr/>
          <p:nvPr/>
        </p:nvSpPr>
        <p:spPr>
          <a:xfrm>
            <a:off x="2762250" y="3124200"/>
            <a:ext cx="742950" cy="533400"/>
          </a:xfrm>
          <a:prstGeom prst="rect">
            <a:avLst/>
          </a:prstGeom>
          <a:solidFill>
            <a:srgbClr val="7A3E1E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ell-r4-c4"/>
          <p:cNvSpPr/>
          <p:nvPr/>
        </p:nvSpPr>
        <p:spPr>
          <a:xfrm>
            <a:off x="3524250" y="3124200"/>
            <a:ext cx="742950" cy="533400"/>
          </a:xfrm>
          <a:prstGeom prst="rect">
            <a:avLst/>
          </a:prstGeom>
          <a:solidFill>
            <a:srgbClr val="6E222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ell-r4-c5"/>
          <p:cNvSpPr/>
          <p:nvPr/>
        </p:nvSpPr>
        <p:spPr>
          <a:xfrm>
            <a:off x="4286250" y="3124200"/>
            <a:ext cx="742950" cy="533400"/>
          </a:xfrm>
          <a:prstGeom prst="rect">
            <a:avLst/>
          </a:prstGeom>
          <a:solidFill>
            <a:srgbClr val="6E222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ell-r3-c1"/>
          <p:cNvSpPr/>
          <p:nvPr/>
        </p:nvSpPr>
        <p:spPr>
          <a:xfrm>
            <a:off x="1238250" y="3676650"/>
            <a:ext cx="742950" cy="533400"/>
          </a:xfrm>
          <a:prstGeom prst="rect">
            <a:avLst/>
          </a:prstGeom>
          <a:solidFill>
            <a:srgbClr val="1E4E3A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ell-r3-c2"/>
          <p:cNvSpPr/>
          <p:nvPr/>
        </p:nvSpPr>
        <p:spPr>
          <a:xfrm>
            <a:off x="2000250" y="3676650"/>
            <a:ext cx="742950" cy="533400"/>
          </a:xfrm>
          <a:prstGeom prst="rect">
            <a:avLst/>
          </a:prstGeom>
          <a:solidFill>
            <a:srgbClr val="6E521E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ell-r3-c3"/>
          <p:cNvSpPr/>
          <p:nvPr/>
        </p:nvSpPr>
        <p:spPr>
          <a:xfrm>
            <a:off x="2762250" y="3676650"/>
            <a:ext cx="742950" cy="533400"/>
          </a:xfrm>
          <a:prstGeom prst="rect">
            <a:avLst/>
          </a:prstGeom>
          <a:solidFill>
            <a:srgbClr val="6E521E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ell-r3-c4"/>
          <p:cNvSpPr/>
          <p:nvPr/>
        </p:nvSpPr>
        <p:spPr>
          <a:xfrm>
            <a:off x="3524250" y="3676650"/>
            <a:ext cx="742950" cy="533400"/>
          </a:xfrm>
          <a:prstGeom prst="rect">
            <a:avLst/>
          </a:prstGeom>
          <a:solidFill>
            <a:srgbClr val="7A3E1E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ell-r3-c5"/>
          <p:cNvSpPr/>
          <p:nvPr/>
        </p:nvSpPr>
        <p:spPr>
          <a:xfrm>
            <a:off x="4286250" y="3676650"/>
            <a:ext cx="742950" cy="533400"/>
          </a:xfrm>
          <a:prstGeom prst="rect">
            <a:avLst/>
          </a:prstGeom>
          <a:solidFill>
            <a:srgbClr val="6E222C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cell-r2-c1"/>
          <p:cNvSpPr/>
          <p:nvPr/>
        </p:nvSpPr>
        <p:spPr>
          <a:xfrm>
            <a:off x="1238250" y="4229100"/>
            <a:ext cx="742950" cy="533400"/>
          </a:xfrm>
          <a:prstGeom prst="rect">
            <a:avLst/>
          </a:prstGeom>
          <a:solidFill>
            <a:srgbClr val="1E4E3A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ell-r2-c2"/>
          <p:cNvSpPr/>
          <p:nvPr/>
        </p:nvSpPr>
        <p:spPr>
          <a:xfrm>
            <a:off x="2000250" y="4229100"/>
            <a:ext cx="742950" cy="533400"/>
          </a:xfrm>
          <a:prstGeom prst="rect">
            <a:avLst/>
          </a:prstGeom>
          <a:solidFill>
            <a:srgbClr val="1E4E3A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ell-r2-c3"/>
          <p:cNvSpPr/>
          <p:nvPr/>
        </p:nvSpPr>
        <p:spPr>
          <a:xfrm>
            <a:off x="2762250" y="4229100"/>
            <a:ext cx="742950" cy="533400"/>
          </a:xfrm>
          <a:prstGeom prst="rect">
            <a:avLst/>
          </a:prstGeom>
          <a:solidFill>
            <a:srgbClr val="6E521E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ell-r2-c4"/>
          <p:cNvSpPr/>
          <p:nvPr/>
        </p:nvSpPr>
        <p:spPr>
          <a:xfrm>
            <a:off x="3524250" y="4229100"/>
            <a:ext cx="742950" cy="533400"/>
          </a:xfrm>
          <a:prstGeom prst="rect">
            <a:avLst/>
          </a:prstGeom>
          <a:solidFill>
            <a:srgbClr val="6E521E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ell-r2-c5"/>
          <p:cNvSpPr/>
          <p:nvPr/>
        </p:nvSpPr>
        <p:spPr>
          <a:xfrm>
            <a:off x="4286250" y="4229100"/>
            <a:ext cx="742950" cy="533400"/>
          </a:xfrm>
          <a:prstGeom prst="rect">
            <a:avLst/>
          </a:prstGeom>
          <a:solidFill>
            <a:srgbClr val="7A3E1E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ell-r1-c1"/>
          <p:cNvSpPr/>
          <p:nvPr/>
        </p:nvSpPr>
        <p:spPr>
          <a:xfrm>
            <a:off x="1238250" y="4781550"/>
            <a:ext cx="742950" cy="533400"/>
          </a:xfrm>
          <a:prstGeom prst="rect">
            <a:avLst/>
          </a:prstGeom>
          <a:solidFill>
            <a:srgbClr val="1E4E3A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ell-r1-c2"/>
          <p:cNvSpPr/>
          <p:nvPr/>
        </p:nvSpPr>
        <p:spPr>
          <a:xfrm>
            <a:off x="2000250" y="4781550"/>
            <a:ext cx="742950" cy="533400"/>
          </a:xfrm>
          <a:prstGeom prst="rect">
            <a:avLst/>
          </a:prstGeom>
          <a:solidFill>
            <a:srgbClr val="1E4E3A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ell-r1-c3"/>
          <p:cNvSpPr/>
          <p:nvPr/>
        </p:nvSpPr>
        <p:spPr>
          <a:xfrm>
            <a:off x="2762250" y="4781550"/>
            <a:ext cx="742950" cy="533400"/>
          </a:xfrm>
          <a:prstGeom prst="rect">
            <a:avLst/>
          </a:prstGeom>
          <a:solidFill>
            <a:srgbClr val="1E4E3A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ell-r1-c4"/>
          <p:cNvSpPr/>
          <p:nvPr/>
        </p:nvSpPr>
        <p:spPr>
          <a:xfrm>
            <a:off x="3524250" y="4781550"/>
            <a:ext cx="742950" cy="533400"/>
          </a:xfrm>
          <a:prstGeom prst="rect">
            <a:avLst/>
          </a:prstGeom>
          <a:solidFill>
            <a:srgbClr val="1E4E3A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ell-r1-c5"/>
          <p:cNvSpPr/>
          <p:nvPr/>
        </p:nvSpPr>
        <p:spPr>
          <a:xfrm>
            <a:off x="4286250" y="4781550"/>
            <a:ext cx="742950" cy="533400"/>
          </a:xfrm>
          <a:prstGeom prst="rect">
            <a:avLst/>
          </a:prstGeom>
          <a:solidFill>
            <a:srgbClr val="6E521E"/>
          </a:solidFill>
          <a:ln w="6350">
            <a:solidFill>
              <a:srgbClr val="44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y-1"/>
          <p:cNvSpPr txBox="1"/>
          <p:nvPr/>
        </p:nvSpPr>
        <p:spPr>
          <a:xfrm>
            <a:off x="0" y="2571750"/>
            <a:ext cx="12001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Almost Certain</a:t>
            </a:r>
          </a:p>
        </p:txBody>
      </p:sp>
      <p:sp>
        <p:nvSpPr>
          <p:cNvPr id="39" name="y-2"/>
          <p:cNvSpPr txBox="1"/>
          <p:nvPr/>
        </p:nvSpPr>
        <p:spPr>
          <a:xfrm>
            <a:off x="0" y="3124200"/>
            <a:ext cx="12001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Likely</a:t>
            </a:r>
          </a:p>
        </p:txBody>
      </p:sp>
      <p:sp>
        <p:nvSpPr>
          <p:cNvPr id="40" name="y-3"/>
          <p:cNvSpPr txBox="1"/>
          <p:nvPr/>
        </p:nvSpPr>
        <p:spPr>
          <a:xfrm>
            <a:off x="0" y="3676650"/>
            <a:ext cx="12001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Possible</a:t>
            </a:r>
          </a:p>
        </p:txBody>
      </p:sp>
      <p:sp>
        <p:nvSpPr>
          <p:cNvPr id="41" name="y-4"/>
          <p:cNvSpPr txBox="1"/>
          <p:nvPr/>
        </p:nvSpPr>
        <p:spPr>
          <a:xfrm>
            <a:off x="0" y="4229100"/>
            <a:ext cx="12001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Unlikely</a:t>
            </a:r>
          </a:p>
        </p:txBody>
      </p:sp>
      <p:sp>
        <p:nvSpPr>
          <p:cNvPr id="42" name="y-5"/>
          <p:cNvSpPr txBox="1"/>
          <p:nvPr/>
        </p:nvSpPr>
        <p:spPr>
          <a:xfrm>
            <a:off x="0" y="4781550"/>
            <a:ext cx="1200150" cy="533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Rare</a:t>
            </a:r>
          </a:p>
        </p:txBody>
      </p:sp>
      <p:sp>
        <p:nvSpPr>
          <p:cNvPr id="43" name="x-1"/>
          <p:cNvSpPr txBox="1"/>
          <p:nvPr/>
        </p:nvSpPr>
        <p:spPr>
          <a:xfrm>
            <a:off x="1238250" y="5391150"/>
            <a:ext cx="7429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Low</a:t>
            </a:r>
          </a:p>
        </p:txBody>
      </p:sp>
      <p:sp>
        <p:nvSpPr>
          <p:cNvPr id="44" name="x-2"/>
          <p:cNvSpPr txBox="1"/>
          <p:nvPr/>
        </p:nvSpPr>
        <p:spPr>
          <a:xfrm>
            <a:off x="2000250" y="5391150"/>
            <a:ext cx="7429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Minor</a:t>
            </a:r>
          </a:p>
        </p:txBody>
      </p:sp>
      <p:sp>
        <p:nvSpPr>
          <p:cNvPr id="45" name="x-3"/>
          <p:cNvSpPr txBox="1"/>
          <p:nvPr/>
        </p:nvSpPr>
        <p:spPr>
          <a:xfrm>
            <a:off x="2762250" y="5391150"/>
            <a:ext cx="7429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Moderate</a:t>
            </a:r>
          </a:p>
        </p:txBody>
      </p:sp>
      <p:sp>
        <p:nvSpPr>
          <p:cNvPr id="46" name="x-4"/>
          <p:cNvSpPr txBox="1"/>
          <p:nvPr/>
        </p:nvSpPr>
        <p:spPr>
          <a:xfrm>
            <a:off x="3524250" y="5391150"/>
            <a:ext cx="7429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Major</a:t>
            </a:r>
          </a:p>
        </p:txBody>
      </p:sp>
      <p:sp>
        <p:nvSpPr>
          <p:cNvPr id="47" name="x-5"/>
          <p:cNvSpPr txBox="1"/>
          <p:nvPr/>
        </p:nvSpPr>
        <p:spPr>
          <a:xfrm>
            <a:off x="4286250" y="5391150"/>
            <a:ext cx="7429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Critical</a:t>
            </a:r>
          </a:p>
        </p:txBody>
      </p:sp>
      <p:sp>
        <p:nvSpPr>
          <p:cNvPr id="48" name="x-title"/>
          <p:cNvSpPr txBox="1"/>
          <p:nvPr/>
        </p:nvSpPr>
        <p:spPr>
          <a:xfrm>
            <a:off x="1238250" y="55816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IMPACT →</a:t>
            </a:r>
          </a:p>
        </p:txBody>
      </p:sp>
      <p:sp>
        <p:nvSpPr>
          <p:cNvPr id="49" name="y-title"/>
          <p:cNvSpPr txBox="1"/>
          <p:nvPr/>
        </p:nvSpPr>
        <p:spPr>
          <a:xfrm>
            <a:off x="0" y="2571750"/>
            <a:ext cx="1200150" cy="2762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↑ LIKELIHOOD</a:t>
            </a:r>
          </a:p>
        </p:txBody>
      </p:sp>
      <p:sp>
        <p:nvSpPr>
          <p:cNvPr id="50" name="bub-R1"/>
          <p:cNvSpPr/>
          <p:nvPr/>
        </p:nvSpPr>
        <p:spPr>
          <a:xfrm>
            <a:off x="4552950" y="2733675"/>
            <a:ext cx="209550" cy="20955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bub-R1-lbl"/>
          <p:cNvSpPr txBox="1"/>
          <p:nvPr/>
        </p:nvSpPr>
        <p:spPr>
          <a:xfrm>
            <a:off x="4552950" y="27336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R1</a:t>
            </a:r>
          </a:p>
        </p:txBody>
      </p:sp>
      <p:sp>
        <p:nvSpPr>
          <p:cNvPr id="52" name="bub-R2"/>
          <p:cNvSpPr/>
          <p:nvPr/>
        </p:nvSpPr>
        <p:spPr>
          <a:xfrm>
            <a:off x="3790950" y="2733675"/>
            <a:ext cx="209550" cy="20955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bub-R2-lbl"/>
          <p:cNvSpPr txBox="1"/>
          <p:nvPr/>
        </p:nvSpPr>
        <p:spPr>
          <a:xfrm>
            <a:off x="3790950" y="27336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R2</a:t>
            </a:r>
          </a:p>
        </p:txBody>
      </p:sp>
      <p:sp>
        <p:nvSpPr>
          <p:cNvPr id="54" name="bub-R3"/>
          <p:cNvSpPr/>
          <p:nvPr/>
        </p:nvSpPr>
        <p:spPr>
          <a:xfrm>
            <a:off x="4552950" y="3286125"/>
            <a:ext cx="209550" cy="20955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bub-R3-lbl"/>
          <p:cNvSpPr txBox="1"/>
          <p:nvPr/>
        </p:nvSpPr>
        <p:spPr>
          <a:xfrm>
            <a:off x="4552950" y="32861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R3</a:t>
            </a:r>
          </a:p>
        </p:txBody>
      </p:sp>
      <p:sp>
        <p:nvSpPr>
          <p:cNvPr id="56" name="bub-R4"/>
          <p:cNvSpPr/>
          <p:nvPr/>
        </p:nvSpPr>
        <p:spPr>
          <a:xfrm>
            <a:off x="3028950" y="2733675"/>
            <a:ext cx="209550" cy="2095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bub-R4-lbl"/>
          <p:cNvSpPr txBox="1"/>
          <p:nvPr/>
        </p:nvSpPr>
        <p:spPr>
          <a:xfrm>
            <a:off x="3028950" y="27336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R4</a:t>
            </a:r>
          </a:p>
        </p:txBody>
      </p:sp>
      <p:sp>
        <p:nvSpPr>
          <p:cNvPr id="58" name="bub-R5"/>
          <p:cNvSpPr/>
          <p:nvPr/>
        </p:nvSpPr>
        <p:spPr>
          <a:xfrm>
            <a:off x="3790950" y="3286125"/>
            <a:ext cx="209550" cy="209550"/>
          </a:xfrm>
          <a:prstGeom prst="ellipse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bub-R5-lbl"/>
          <p:cNvSpPr txBox="1"/>
          <p:nvPr/>
        </p:nvSpPr>
        <p:spPr>
          <a:xfrm>
            <a:off x="3790950" y="32861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R5</a:t>
            </a:r>
          </a:p>
        </p:txBody>
      </p:sp>
      <p:sp>
        <p:nvSpPr>
          <p:cNvPr id="60" name="bub-R6"/>
          <p:cNvSpPr/>
          <p:nvPr/>
        </p:nvSpPr>
        <p:spPr>
          <a:xfrm>
            <a:off x="3028950" y="3838575"/>
            <a:ext cx="209550" cy="2095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bub-R6-lbl"/>
          <p:cNvSpPr txBox="1"/>
          <p:nvPr/>
        </p:nvSpPr>
        <p:spPr>
          <a:xfrm>
            <a:off x="3028950" y="383857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R6</a:t>
            </a:r>
          </a:p>
        </p:txBody>
      </p:sp>
      <p:sp>
        <p:nvSpPr>
          <p:cNvPr id="62" name="bub-R7"/>
          <p:cNvSpPr/>
          <p:nvPr/>
        </p:nvSpPr>
        <p:spPr>
          <a:xfrm>
            <a:off x="2266950" y="3286125"/>
            <a:ext cx="209550" cy="20955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3" name="bub-R7-lbl"/>
          <p:cNvSpPr txBox="1"/>
          <p:nvPr/>
        </p:nvSpPr>
        <p:spPr>
          <a:xfrm>
            <a:off x="2266950" y="32861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R7</a:t>
            </a:r>
          </a:p>
        </p:txBody>
      </p:sp>
      <p:sp>
        <p:nvSpPr>
          <p:cNvPr id="64" name="bub-R8"/>
          <p:cNvSpPr/>
          <p:nvPr/>
        </p:nvSpPr>
        <p:spPr>
          <a:xfrm>
            <a:off x="2266950" y="4391025"/>
            <a:ext cx="209550" cy="20955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bub-R8-lbl"/>
          <p:cNvSpPr txBox="1"/>
          <p:nvPr/>
        </p:nvSpPr>
        <p:spPr>
          <a:xfrm>
            <a:off x="2266950" y="4391025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R8</a:t>
            </a:r>
          </a:p>
        </p:txBody>
      </p:sp>
      <p:sp>
        <p:nvSpPr>
          <p:cNvPr id="66" name="reg-label"/>
          <p:cNvSpPr txBox="1"/>
          <p:nvPr/>
        </p:nvSpPr>
        <p:spPr>
          <a:xfrm>
            <a:off x="6858000" y="2495550"/>
            <a:ext cx="4724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RISK REGISTER — SORTED BY SEVERITY</a:t>
            </a:r>
          </a:p>
        </p:txBody>
      </p:sp>
      <p:sp>
        <p:nvSpPr>
          <p:cNvPr id="67" name="rr-R1-bg"/>
          <p:cNvSpPr/>
          <p:nvPr/>
        </p:nvSpPr>
        <p:spPr>
          <a:xfrm>
            <a:off x="6858000" y="2705100"/>
            <a:ext cx="4724400" cy="3619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8" name="rr-R1-strip"/>
          <p:cNvSpPr/>
          <p:nvPr/>
        </p:nvSpPr>
        <p:spPr>
          <a:xfrm>
            <a:off x="6858000" y="2705100"/>
            <a:ext cx="28575" cy="3619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9" name="rr-R1-badge"/>
          <p:cNvSpPr/>
          <p:nvPr/>
        </p:nvSpPr>
        <p:spPr>
          <a:xfrm>
            <a:off x="6972300" y="2781300"/>
            <a:ext cx="247650" cy="20955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0" name="rr-R1-badge-lbl"/>
          <p:cNvSpPr txBox="1"/>
          <p:nvPr/>
        </p:nvSpPr>
        <p:spPr>
          <a:xfrm>
            <a:off x="6972300" y="2781300"/>
            <a:ext cx="247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R1</a:t>
            </a:r>
          </a:p>
        </p:txBody>
      </p:sp>
      <p:sp>
        <p:nvSpPr>
          <p:cNvPr id="71" name="rr-R1-name"/>
          <p:cNvSpPr txBox="1"/>
          <p:nvPr/>
        </p:nvSpPr>
        <p:spPr>
          <a:xfrm>
            <a:off x="7296150" y="274320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Breach / Regulatory Exposure</a:t>
            </a:r>
          </a:p>
        </p:txBody>
      </p:sp>
      <p:sp>
        <p:nvSpPr>
          <p:cNvPr id="72" name="rr-R1-imp"/>
          <p:cNvSpPr txBox="1"/>
          <p:nvPr/>
        </p:nvSpPr>
        <p:spPr>
          <a:xfrm>
            <a:off x="9620250" y="274320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CRITICAL</a:t>
            </a:r>
          </a:p>
        </p:txBody>
      </p:sp>
      <p:sp>
        <p:nvSpPr>
          <p:cNvPr id="73" name="rr-R1-lik"/>
          <p:cNvSpPr txBox="1"/>
          <p:nvPr/>
        </p:nvSpPr>
        <p:spPr>
          <a:xfrm>
            <a:off x="10401300" y="274320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ALMOST CERTAIN</a:t>
            </a:r>
          </a:p>
        </p:txBody>
      </p:sp>
      <p:sp>
        <p:nvSpPr>
          <p:cNvPr id="74" name="rr-R1-owner-bg"/>
          <p:cNvSpPr/>
          <p:nvPr/>
        </p:nvSpPr>
        <p:spPr>
          <a:xfrm>
            <a:off x="11315700" y="2781300"/>
            <a:ext cx="209550" cy="2095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5" name="rr-R1-owner"/>
          <p:cNvSpPr txBox="1"/>
          <p:nvPr/>
        </p:nvSpPr>
        <p:spPr>
          <a:xfrm>
            <a:off x="11315700" y="27813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JK</a:t>
            </a:r>
          </a:p>
        </p:txBody>
      </p:sp>
      <p:sp>
        <p:nvSpPr>
          <p:cNvPr id="76" name="rr-R2-bg"/>
          <p:cNvSpPr/>
          <p:nvPr/>
        </p:nvSpPr>
        <p:spPr>
          <a:xfrm>
            <a:off x="6858000" y="3105150"/>
            <a:ext cx="4724400" cy="3619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7" name="rr-R2-strip"/>
          <p:cNvSpPr/>
          <p:nvPr/>
        </p:nvSpPr>
        <p:spPr>
          <a:xfrm>
            <a:off x="6858000" y="3105150"/>
            <a:ext cx="28575" cy="3619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8" name="rr-R2-badge"/>
          <p:cNvSpPr/>
          <p:nvPr/>
        </p:nvSpPr>
        <p:spPr>
          <a:xfrm>
            <a:off x="6972300" y="3181350"/>
            <a:ext cx="247650" cy="20955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9" name="rr-R2-badge-lbl"/>
          <p:cNvSpPr txBox="1"/>
          <p:nvPr/>
        </p:nvSpPr>
        <p:spPr>
          <a:xfrm>
            <a:off x="6972300" y="3181350"/>
            <a:ext cx="247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R2</a:t>
            </a:r>
          </a:p>
        </p:txBody>
      </p:sp>
      <p:sp>
        <p:nvSpPr>
          <p:cNvPr id="80" name="rr-R2-name"/>
          <p:cNvSpPr txBox="1"/>
          <p:nvPr/>
        </p:nvSpPr>
        <p:spPr>
          <a:xfrm>
            <a:off x="7296150" y="314325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Third-Party Vendor Failure</a:t>
            </a:r>
          </a:p>
        </p:txBody>
      </p:sp>
      <p:sp>
        <p:nvSpPr>
          <p:cNvPr id="81" name="rr-R2-imp"/>
          <p:cNvSpPr txBox="1"/>
          <p:nvPr/>
        </p:nvSpPr>
        <p:spPr>
          <a:xfrm>
            <a:off x="9620250" y="314325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MAJOR</a:t>
            </a:r>
          </a:p>
        </p:txBody>
      </p:sp>
      <p:sp>
        <p:nvSpPr>
          <p:cNvPr id="82" name="rr-R2-lik"/>
          <p:cNvSpPr txBox="1"/>
          <p:nvPr/>
        </p:nvSpPr>
        <p:spPr>
          <a:xfrm>
            <a:off x="10401300" y="314325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ALMOST CERTAIN</a:t>
            </a:r>
          </a:p>
        </p:txBody>
      </p:sp>
      <p:sp>
        <p:nvSpPr>
          <p:cNvPr id="83" name="rr-R2-owner-bg"/>
          <p:cNvSpPr/>
          <p:nvPr/>
        </p:nvSpPr>
        <p:spPr>
          <a:xfrm>
            <a:off x="11315700" y="3181350"/>
            <a:ext cx="209550" cy="2095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4" name="rr-R2-owner"/>
          <p:cNvSpPr txBox="1"/>
          <p:nvPr/>
        </p:nvSpPr>
        <p:spPr>
          <a:xfrm>
            <a:off x="11315700" y="31813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SR</a:t>
            </a:r>
          </a:p>
        </p:txBody>
      </p:sp>
      <p:sp>
        <p:nvSpPr>
          <p:cNvPr id="85" name="rr-R3-bg"/>
          <p:cNvSpPr/>
          <p:nvPr/>
        </p:nvSpPr>
        <p:spPr>
          <a:xfrm>
            <a:off x="6858000" y="3505200"/>
            <a:ext cx="4724400" cy="3619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6" name="rr-R3-strip"/>
          <p:cNvSpPr/>
          <p:nvPr/>
        </p:nvSpPr>
        <p:spPr>
          <a:xfrm>
            <a:off x="6858000" y="3505200"/>
            <a:ext cx="28575" cy="3619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7" name="rr-R3-badge"/>
          <p:cNvSpPr/>
          <p:nvPr/>
        </p:nvSpPr>
        <p:spPr>
          <a:xfrm>
            <a:off x="6972300" y="3581400"/>
            <a:ext cx="247650" cy="2095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8" name="rr-R3-badge-lbl"/>
          <p:cNvSpPr txBox="1"/>
          <p:nvPr/>
        </p:nvSpPr>
        <p:spPr>
          <a:xfrm>
            <a:off x="6972300" y="3581400"/>
            <a:ext cx="247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R3</a:t>
            </a:r>
          </a:p>
        </p:txBody>
      </p:sp>
      <p:sp>
        <p:nvSpPr>
          <p:cNvPr id="89" name="rr-R3-name"/>
          <p:cNvSpPr txBox="1"/>
          <p:nvPr/>
        </p:nvSpPr>
        <p:spPr>
          <a:xfrm>
            <a:off x="7296150" y="354330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Core Platform Outage</a:t>
            </a:r>
          </a:p>
        </p:txBody>
      </p:sp>
      <p:sp>
        <p:nvSpPr>
          <p:cNvPr id="90" name="rr-R3-imp"/>
          <p:cNvSpPr txBox="1"/>
          <p:nvPr/>
        </p:nvSpPr>
        <p:spPr>
          <a:xfrm>
            <a:off x="9620250" y="354330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CRITICAL</a:t>
            </a:r>
          </a:p>
        </p:txBody>
      </p:sp>
      <p:sp>
        <p:nvSpPr>
          <p:cNvPr id="91" name="rr-R3-lik"/>
          <p:cNvSpPr txBox="1"/>
          <p:nvPr/>
        </p:nvSpPr>
        <p:spPr>
          <a:xfrm>
            <a:off x="10401300" y="354330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LIKELY</a:t>
            </a:r>
          </a:p>
        </p:txBody>
      </p:sp>
      <p:sp>
        <p:nvSpPr>
          <p:cNvPr id="92" name="rr-R3-owner-bg"/>
          <p:cNvSpPr/>
          <p:nvPr/>
        </p:nvSpPr>
        <p:spPr>
          <a:xfrm>
            <a:off x="11315700" y="3581400"/>
            <a:ext cx="209550" cy="2095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3" name="rr-R3-owner"/>
          <p:cNvSpPr txBox="1"/>
          <p:nvPr/>
        </p:nvSpPr>
        <p:spPr>
          <a:xfrm>
            <a:off x="11315700" y="35814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MP</a:t>
            </a:r>
          </a:p>
        </p:txBody>
      </p:sp>
      <p:sp>
        <p:nvSpPr>
          <p:cNvPr id="94" name="rr-R4-bg"/>
          <p:cNvSpPr/>
          <p:nvPr/>
        </p:nvSpPr>
        <p:spPr>
          <a:xfrm>
            <a:off x="6858000" y="3905250"/>
            <a:ext cx="4724400" cy="3619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5" name="rr-R4-strip"/>
          <p:cNvSpPr/>
          <p:nvPr/>
        </p:nvSpPr>
        <p:spPr>
          <a:xfrm>
            <a:off x="6858000" y="3905250"/>
            <a:ext cx="28575" cy="3619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6" name="rr-R4-badge"/>
          <p:cNvSpPr/>
          <p:nvPr/>
        </p:nvSpPr>
        <p:spPr>
          <a:xfrm>
            <a:off x="6972300" y="3981450"/>
            <a:ext cx="247650" cy="2095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7" name="rr-R4-badge-lbl"/>
          <p:cNvSpPr txBox="1"/>
          <p:nvPr/>
        </p:nvSpPr>
        <p:spPr>
          <a:xfrm>
            <a:off x="6972300" y="3981450"/>
            <a:ext cx="247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R4</a:t>
            </a:r>
          </a:p>
        </p:txBody>
      </p:sp>
      <p:sp>
        <p:nvSpPr>
          <p:cNvPr id="98" name="rr-R4-name"/>
          <p:cNvSpPr txBox="1"/>
          <p:nvPr/>
        </p:nvSpPr>
        <p:spPr>
          <a:xfrm>
            <a:off x="7296150" y="394335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Scope Creep — Programme Delay</a:t>
            </a:r>
          </a:p>
        </p:txBody>
      </p:sp>
      <p:sp>
        <p:nvSpPr>
          <p:cNvPr id="99" name="rr-R4-imp"/>
          <p:cNvSpPr txBox="1"/>
          <p:nvPr/>
        </p:nvSpPr>
        <p:spPr>
          <a:xfrm>
            <a:off x="9620250" y="394335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MODERATE</a:t>
            </a:r>
          </a:p>
        </p:txBody>
      </p:sp>
      <p:sp>
        <p:nvSpPr>
          <p:cNvPr id="100" name="rr-R4-lik"/>
          <p:cNvSpPr txBox="1"/>
          <p:nvPr/>
        </p:nvSpPr>
        <p:spPr>
          <a:xfrm>
            <a:off x="10401300" y="394335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ALMOST CERTAIN</a:t>
            </a:r>
          </a:p>
        </p:txBody>
      </p:sp>
      <p:sp>
        <p:nvSpPr>
          <p:cNvPr id="101" name="rr-R4-owner-bg"/>
          <p:cNvSpPr/>
          <p:nvPr/>
        </p:nvSpPr>
        <p:spPr>
          <a:xfrm>
            <a:off x="11315700" y="3981450"/>
            <a:ext cx="209550" cy="2095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2" name="rr-R4-owner"/>
          <p:cNvSpPr txBox="1"/>
          <p:nvPr/>
        </p:nvSpPr>
        <p:spPr>
          <a:xfrm>
            <a:off x="11315700" y="39814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LT</a:t>
            </a:r>
          </a:p>
        </p:txBody>
      </p:sp>
      <p:sp>
        <p:nvSpPr>
          <p:cNvPr id="103" name="rr-R5-bg"/>
          <p:cNvSpPr/>
          <p:nvPr/>
        </p:nvSpPr>
        <p:spPr>
          <a:xfrm>
            <a:off x="6858000" y="4305300"/>
            <a:ext cx="4724400" cy="3619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4" name="rr-R5-strip"/>
          <p:cNvSpPr/>
          <p:nvPr/>
        </p:nvSpPr>
        <p:spPr>
          <a:xfrm>
            <a:off x="6858000" y="4305300"/>
            <a:ext cx="28575" cy="3619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5" name="rr-R5-badge"/>
          <p:cNvSpPr/>
          <p:nvPr/>
        </p:nvSpPr>
        <p:spPr>
          <a:xfrm>
            <a:off x="6972300" y="4381500"/>
            <a:ext cx="247650" cy="2095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6" name="rr-R5-badge-lbl"/>
          <p:cNvSpPr txBox="1"/>
          <p:nvPr/>
        </p:nvSpPr>
        <p:spPr>
          <a:xfrm>
            <a:off x="6972300" y="4381500"/>
            <a:ext cx="247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R5</a:t>
            </a:r>
          </a:p>
        </p:txBody>
      </p:sp>
      <p:sp>
        <p:nvSpPr>
          <p:cNvPr id="107" name="rr-R5-name"/>
          <p:cNvSpPr txBox="1"/>
          <p:nvPr/>
        </p:nvSpPr>
        <p:spPr>
          <a:xfrm>
            <a:off x="7296150" y="434340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Key Talent Attrition</a:t>
            </a:r>
          </a:p>
        </p:txBody>
      </p:sp>
      <p:sp>
        <p:nvSpPr>
          <p:cNvPr id="108" name="rr-R5-imp"/>
          <p:cNvSpPr txBox="1"/>
          <p:nvPr/>
        </p:nvSpPr>
        <p:spPr>
          <a:xfrm>
            <a:off x="9620250" y="434340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MAJOR</a:t>
            </a:r>
          </a:p>
        </p:txBody>
      </p:sp>
      <p:sp>
        <p:nvSpPr>
          <p:cNvPr id="109" name="rr-R5-lik"/>
          <p:cNvSpPr txBox="1"/>
          <p:nvPr/>
        </p:nvSpPr>
        <p:spPr>
          <a:xfrm>
            <a:off x="10401300" y="434340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LIKELY</a:t>
            </a:r>
          </a:p>
        </p:txBody>
      </p:sp>
      <p:sp>
        <p:nvSpPr>
          <p:cNvPr id="110" name="rr-R5-owner-bg"/>
          <p:cNvSpPr/>
          <p:nvPr/>
        </p:nvSpPr>
        <p:spPr>
          <a:xfrm>
            <a:off x="11315700" y="4381500"/>
            <a:ext cx="209550" cy="2095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1" name="rr-R5-owner"/>
          <p:cNvSpPr txBox="1"/>
          <p:nvPr/>
        </p:nvSpPr>
        <p:spPr>
          <a:xfrm>
            <a:off x="11315700" y="43815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AN</a:t>
            </a:r>
          </a:p>
        </p:txBody>
      </p:sp>
      <p:sp>
        <p:nvSpPr>
          <p:cNvPr id="112" name="rr-R6-bg"/>
          <p:cNvSpPr/>
          <p:nvPr/>
        </p:nvSpPr>
        <p:spPr>
          <a:xfrm>
            <a:off x="6858000" y="4705350"/>
            <a:ext cx="4724400" cy="3619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3" name="rr-R6-strip"/>
          <p:cNvSpPr/>
          <p:nvPr/>
        </p:nvSpPr>
        <p:spPr>
          <a:xfrm>
            <a:off x="6858000" y="4705350"/>
            <a:ext cx="28575" cy="3619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4" name="rr-R6-badge"/>
          <p:cNvSpPr/>
          <p:nvPr/>
        </p:nvSpPr>
        <p:spPr>
          <a:xfrm>
            <a:off x="6972300" y="4781550"/>
            <a:ext cx="247650" cy="209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5" name="rr-R6-badge-lbl"/>
          <p:cNvSpPr txBox="1"/>
          <p:nvPr/>
        </p:nvSpPr>
        <p:spPr>
          <a:xfrm>
            <a:off x="6972300" y="4781550"/>
            <a:ext cx="247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R6</a:t>
            </a:r>
          </a:p>
        </p:txBody>
      </p:sp>
      <p:sp>
        <p:nvSpPr>
          <p:cNvPr id="116" name="rr-R6-name"/>
          <p:cNvSpPr txBox="1"/>
          <p:nvPr/>
        </p:nvSpPr>
        <p:spPr>
          <a:xfrm>
            <a:off x="7296150" y="474345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Budget Overrun — Integration Layer</a:t>
            </a:r>
          </a:p>
        </p:txBody>
      </p:sp>
      <p:sp>
        <p:nvSpPr>
          <p:cNvPr id="117" name="rr-R6-imp"/>
          <p:cNvSpPr txBox="1"/>
          <p:nvPr/>
        </p:nvSpPr>
        <p:spPr>
          <a:xfrm>
            <a:off x="9620250" y="474345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MODERATE</a:t>
            </a:r>
          </a:p>
        </p:txBody>
      </p:sp>
      <p:sp>
        <p:nvSpPr>
          <p:cNvPr id="118" name="rr-R6-lik"/>
          <p:cNvSpPr txBox="1"/>
          <p:nvPr/>
        </p:nvSpPr>
        <p:spPr>
          <a:xfrm>
            <a:off x="10401300" y="474345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POSSIBLE</a:t>
            </a:r>
          </a:p>
        </p:txBody>
      </p:sp>
      <p:sp>
        <p:nvSpPr>
          <p:cNvPr id="119" name="rr-R6-owner-bg"/>
          <p:cNvSpPr/>
          <p:nvPr/>
        </p:nvSpPr>
        <p:spPr>
          <a:xfrm>
            <a:off x="11315700" y="4781550"/>
            <a:ext cx="209550" cy="2095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0" name="rr-R6-owner"/>
          <p:cNvSpPr txBox="1"/>
          <p:nvPr/>
        </p:nvSpPr>
        <p:spPr>
          <a:xfrm>
            <a:off x="11315700" y="47815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CB</a:t>
            </a:r>
          </a:p>
        </p:txBody>
      </p:sp>
      <p:sp>
        <p:nvSpPr>
          <p:cNvPr id="121" name="rr-R7-bg"/>
          <p:cNvSpPr/>
          <p:nvPr/>
        </p:nvSpPr>
        <p:spPr>
          <a:xfrm>
            <a:off x="6858000" y="5105400"/>
            <a:ext cx="4724400" cy="3619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2" name="rr-R7-strip"/>
          <p:cNvSpPr/>
          <p:nvPr/>
        </p:nvSpPr>
        <p:spPr>
          <a:xfrm>
            <a:off x="6858000" y="5105400"/>
            <a:ext cx="28575" cy="3619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3" name="rr-R7-badge"/>
          <p:cNvSpPr/>
          <p:nvPr/>
        </p:nvSpPr>
        <p:spPr>
          <a:xfrm>
            <a:off x="6972300" y="5181600"/>
            <a:ext cx="247650" cy="2095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4" name="rr-R7-badge-lbl"/>
          <p:cNvSpPr txBox="1"/>
          <p:nvPr/>
        </p:nvSpPr>
        <p:spPr>
          <a:xfrm>
            <a:off x="6972300" y="5181600"/>
            <a:ext cx="247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R7</a:t>
            </a:r>
          </a:p>
        </p:txBody>
      </p:sp>
      <p:sp>
        <p:nvSpPr>
          <p:cNvPr id="125" name="rr-R7-name"/>
          <p:cNvSpPr txBox="1"/>
          <p:nvPr/>
        </p:nvSpPr>
        <p:spPr>
          <a:xfrm>
            <a:off x="7296150" y="514350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Change Management Resistance</a:t>
            </a:r>
          </a:p>
        </p:txBody>
      </p:sp>
      <p:sp>
        <p:nvSpPr>
          <p:cNvPr id="126" name="rr-R7-imp"/>
          <p:cNvSpPr txBox="1"/>
          <p:nvPr/>
        </p:nvSpPr>
        <p:spPr>
          <a:xfrm>
            <a:off x="9620250" y="514350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MINOR</a:t>
            </a:r>
          </a:p>
        </p:txBody>
      </p:sp>
      <p:sp>
        <p:nvSpPr>
          <p:cNvPr id="127" name="rr-R7-lik"/>
          <p:cNvSpPr txBox="1"/>
          <p:nvPr/>
        </p:nvSpPr>
        <p:spPr>
          <a:xfrm>
            <a:off x="10401300" y="514350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LIKELY</a:t>
            </a:r>
          </a:p>
        </p:txBody>
      </p:sp>
      <p:sp>
        <p:nvSpPr>
          <p:cNvPr id="128" name="rr-R7-owner-bg"/>
          <p:cNvSpPr/>
          <p:nvPr/>
        </p:nvSpPr>
        <p:spPr>
          <a:xfrm>
            <a:off x="11315700" y="5181600"/>
            <a:ext cx="209550" cy="2095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9" name="rr-R7-owner"/>
          <p:cNvSpPr txBox="1"/>
          <p:nvPr/>
        </p:nvSpPr>
        <p:spPr>
          <a:xfrm>
            <a:off x="11315700" y="518160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PW</a:t>
            </a:r>
          </a:p>
        </p:txBody>
      </p:sp>
      <p:sp>
        <p:nvSpPr>
          <p:cNvPr id="130" name="rr-R8-bg"/>
          <p:cNvSpPr/>
          <p:nvPr/>
        </p:nvSpPr>
        <p:spPr>
          <a:xfrm>
            <a:off x="6858000" y="5505450"/>
            <a:ext cx="4724400" cy="361950"/>
          </a:xfrm>
          <a:prstGeom prst="rect">
            <a:avLst/>
          </a:prstGeom>
          <a:solidFill>
            <a:srgbClr val="3C1F5C"/>
          </a:solidFill>
          <a:ln w="6350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1" name="rr-R8-strip"/>
          <p:cNvSpPr/>
          <p:nvPr/>
        </p:nvSpPr>
        <p:spPr>
          <a:xfrm>
            <a:off x="6858000" y="5505450"/>
            <a:ext cx="28575" cy="3619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2" name="rr-R8-badge"/>
          <p:cNvSpPr/>
          <p:nvPr/>
        </p:nvSpPr>
        <p:spPr>
          <a:xfrm>
            <a:off x="6972300" y="5581650"/>
            <a:ext cx="247650" cy="20955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3" name="rr-R8-badge-lbl"/>
          <p:cNvSpPr txBox="1"/>
          <p:nvPr/>
        </p:nvSpPr>
        <p:spPr>
          <a:xfrm>
            <a:off x="6972300" y="5581650"/>
            <a:ext cx="247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R8</a:t>
            </a:r>
          </a:p>
        </p:txBody>
      </p:sp>
      <p:sp>
        <p:nvSpPr>
          <p:cNvPr id="134" name="rr-R8-name"/>
          <p:cNvSpPr txBox="1"/>
          <p:nvPr/>
        </p:nvSpPr>
        <p:spPr>
          <a:xfrm>
            <a:off x="7296150" y="5543550"/>
            <a:ext cx="2286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Licensing Cost Variance</a:t>
            </a:r>
          </a:p>
        </p:txBody>
      </p:sp>
      <p:sp>
        <p:nvSpPr>
          <p:cNvPr id="135" name="rr-R8-imp"/>
          <p:cNvSpPr txBox="1"/>
          <p:nvPr/>
        </p:nvSpPr>
        <p:spPr>
          <a:xfrm>
            <a:off x="9620250" y="554355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MINOR</a:t>
            </a:r>
          </a:p>
        </p:txBody>
      </p:sp>
      <p:sp>
        <p:nvSpPr>
          <p:cNvPr id="136" name="rr-R8-lik"/>
          <p:cNvSpPr txBox="1"/>
          <p:nvPr/>
        </p:nvSpPr>
        <p:spPr>
          <a:xfrm>
            <a:off x="10401300" y="5543550"/>
            <a:ext cx="762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UNLIKELY</a:t>
            </a:r>
          </a:p>
        </p:txBody>
      </p:sp>
      <p:sp>
        <p:nvSpPr>
          <p:cNvPr id="137" name="rr-R8-owner-bg"/>
          <p:cNvSpPr/>
          <p:nvPr/>
        </p:nvSpPr>
        <p:spPr>
          <a:xfrm>
            <a:off x="11315700" y="5581650"/>
            <a:ext cx="209550" cy="209550"/>
          </a:xfrm>
          <a:prstGeom prst="ellipse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8" name="rr-R8-owner"/>
          <p:cNvSpPr txBox="1"/>
          <p:nvPr/>
        </p:nvSpPr>
        <p:spPr>
          <a:xfrm>
            <a:off x="11315700" y="5581650"/>
            <a:ext cx="2095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HG</a:t>
            </a:r>
          </a:p>
        </p:txBody>
      </p:sp>
      <p:sp>
        <p:nvSpPr>
          <p:cNvPr id="13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14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14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344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