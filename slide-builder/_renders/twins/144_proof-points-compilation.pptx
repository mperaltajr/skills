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2D0A4E"/>
                </a:solidFill>
                <a:latin typeface="Inter"/>
              </a:rPr>
              <a:t>Six comparable programs delivered</a:t>
            </a:r>
            <a:r>
              <a:rPr sz="1500" b="1" i="0">
                <a:solidFill>
                  <a:srgbClr val="1A1A2E"/>
                </a:solidFill>
                <a:latin typeface="Inter"/>
              </a:rPr>
              <a:t> — each with measurable outcomes traceable to transformation levers</a:t>
            </a:r>
          </a:p>
        </p:txBody>
      </p:sp>
      <p:sp>
        <p:nvSpPr>
          <p:cNvPr id="3" name="brand-rule"/>
          <p:cNvSpPr/>
          <p:nvPr/>
        </p:nvSpPr>
        <p:spPr>
          <a:xfrm>
            <a:off x="457200" y="12382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ard-1-bg"/>
          <p:cNvSpPr/>
          <p:nvPr/>
        </p:nvSpPr>
        <p:spPr>
          <a:xfrm>
            <a:off x="457200" y="1409700"/>
            <a:ext cx="3667125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accent"/>
          <p:cNvSpPr/>
          <p:nvPr/>
        </p:nvSpPr>
        <p:spPr>
          <a:xfrm>
            <a:off x="457200" y="14097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badge"/>
          <p:cNvSpPr txBox="1"/>
          <p:nvPr/>
        </p:nvSpPr>
        <p:spPr>
          <a:xfrm>
            <a:off x="590550" y="15430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GLOBAL RETAIL BANK</a:t>
            </a:r>
          </a:p>
        </p:txBody>
      </p:sp>
      <p:sp>
        <p:nvSpPr>
          <p:cNvPr id="7" name="card-1-heading"/>
          <p:cNvSpPr txBox="1"/>
          <p:nvPr/>
        </p:nvSpPr>
        <p:spPr>
          <a:xfrm>
            <a:off x="590550" y="17907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Legacy core migration at scale</a:t>
            </a:r>
          </a:p>
        </p:txBody>
      </p:sp>
      <p:sp>
        <p:nvSpPr>
          <p:cNvPr id="8" name="card-1-stat"/>
          <p:cNvSpPr txBox="1"/>
          <p:nvPr/>
        </p:nvSpPr>
        <p:spPr>
          <a:xfrm>
            <a:off x="590550" y="20002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+47% straight-through processing</a:t>
            </a:r>
          </a:p>
        </p:txBody>
      </p:sp>
      <p:sp>
        <p:nvSpPr>
          <p:cNvPr id="9" name="card-1-body"/>
          <p:cNvSpPr txBox="1"/>
          <p:nvPr/>
        </p:nvSpPr>
        <p:spPr>
          <a:xfrm>
            <a:off x="590550" y="2438400"/>
            <a:ext cx="3400425" cy="11715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3-year program, 220+ APIs modernized across payment and lending domains.</a:t>
            </a:r>
          </a:p>
        </p:txBody>
      </p:sp>
      <p:sp>
        <p:nvSpPr>
          <p:cNvPr id="10" name="card-1-divider"/>
          <p:cNvSpPr/>
          <p:nvPr/>
        </p:nvSpPr>
        <p:spPr>
          <a:xfrm>
            <a:off x="590550" y="3629025"/>
            <a:ext cx="3400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footer"/>
          <p:cNvSpPr txBox="1"/>
          <p:nvPr/>
        </p:nvSpPr>
        <p:spPr>
          <a:xfrm>
            <a:off x="590550" y="368617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Program closeout report, Q4 2024</a:t>
            </a:r>
          </a:p>
        </p:txBody>
      </p:sp>
      <p:sp>
        <p:nvSpPr>
          <p:cNvPr id="12" name="card-2-bg"/>
          <p:cNvSpPr/>
          <p:nvPr/>
        </p:nvSpPr>
        <p:spPr>
          <a:xfrm>
            <a:off x="4257675" y="1409700"/>
            <a:ext cx="3667125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4257675" y="14097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badge"/>
          <p:cNvSpPr txBox="1"/>
          <p:nvPr/>
        </p:nvSpPr>
        <p:spPr>
          <a:xfrm>
            <a:off x="4391025" y="15430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INSURANCE CARRIER</a:t>
            </a:r>
          </a:p>
        </p:txBody>
      </p:sp>
      <p:sp>
        <p:nvSpPr>
          <p:cNvPr id="15" name="card-2-heading"/>
          <p:cNvSpPr txBox="1"/>
          <p:nvPr/>
        </p:nvSpPr>
        <p:spPr>
          <a:xfrm>
            <a:off x="4391025" y="17907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Claims AI modernization</a:t>
            </a:r>
          </a:p>
        </p:txBody>
      </p:sp>
      <p:sp>
        <p:nvSpPr>
          <p:cNvPr id="16" name="card-2-stat"/>
          <p:cNvSpPr txBox="1"/>
          <p:nvPr/>
        </p:nvSpPr>
        <p:spPr>
          <a:xfrm>
            <a:off x="4391025" y="20002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$28M annual savings</a:t>
            </a:r>
          </a:p>
        </p:txBody>
      </p:sp>
      <p:sp>
        <p:nvSpPr>
          <p:cNvPr id="17" name="card-2-body"/>
          <p:cNvSpPr txBox="1"/>
          <p:nvPr/>
        </p:nvSpPr>
        <p:spPr>
          <a:xfrm>
            <a:off x="4391025" y="2438400"/>
            <a:ext cx="3400425" cy="11715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Computer vision reduced manual review by 80%; redeployed 140 FTEs to complex cases.</a:t>
            </a:r>
          </a:p>
        </p:txBody>
      </p:sp>
      <p:sp>
        <p:nvSpPr>
          <p:cNvPr id="18" name="card-2-divider"/>
          <p:cNvSpPr/>
          <p:nvPr/>
        </p:nvSpPr>
        <p:spPr>
          <a:xfrm>
            <a:off x="4391025" y="3629025"/>
            <a:ext cx="3400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2-footer"/>
          <p:cNvSpPr txBox="1"/>
          <p:nvPr/>
        </p:nvSpPr>
        <p:spPr>
          <a:xfrm>
            <a:off x="4391025" y="368617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CFO-validated business case, 2025</a:t>
            </a:r>
          </a:p>
        </p:txBody>
      </p:sp>
      <p:sp>
        <p:nvSpPr>
          <p:cNvPr id="20" name="card-3-bg"/>
          <p:cNvSpPr/>
          <p:nvPr/>
        </p:nvSpPr>
        <p:spPr>
          <a:xfrm>
            <a:off x="8058150" y="1409700"/>
            <a:ext cx="3667125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3-accent"/>
          <p:cNvSpPr/>
          <p:nvPr/>
        </p:nvSpPr>
        <p:spPr>
          <a:xfrm>
            <a:off x="8058150" y="14097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3-badge"/>
          <p:cNvSpPr txBox="1"/>
          <p:nvPr/>
        </p:nvSpPr>
        <p:spPr>
          <a:xfrm>
            <a:off x="8191500" y="15430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HEALTHCARE SYSTEM</a:t>
            </a:r>
          </a:p>
        </p:txBody>
      </p:sp>
      <p:sp>
        <p:nvSpPr>
          <p:cNvPr id="23" name="card-3-heading"/>
          <p:cNvSpPr txBox="1"/>
          <p:nvPr/>
        </p:nvSpPr>
        <p:spPr>
          <a:xfrm>
            <a:off x="8191500" y="17907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EHR consolidation</a:t>
            </a:r>
          </a:p>
        </p:txBody>
      </p:sp>
      <p:sp>
        <p:nvSpPr>
          <p:cNvPr id="24" name="card-3-stat"/>
          <p:cNvSpPr txBox="1"/>
          <p:nvPr/>
        </p:nvSpPr>
        <p:spPr>
          <a:xfrm>
            <a:off x="8191500" y="20002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94% user adoption</a:t>
            </a:r>
          </a:p>
        </p:txBody>
      </p:sp>
      <p:sp>
        <p:nvSpPr>
          <p:cNvPr id="25" name="card-3-body"/>
          <p:cNvSpPr txBox="1"/>
          <p:nvPr/>
        </p:nvSpPr>
        <p:spPr>
          <a:xfrm>
            <a:off x="8191500" y="2438400"/>
            <a:ext cx="3400425" cy="11715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12-hospital network, 18-month program; adoption measured at 90 days post go-live.</a:t>
            </a:r>
          </a:p>
        </p:txBody>
      </p:sp>
      <p:sp>
        <p:nvSpPr>
          <p:cNvPr id="26" name="card-3-divider"/>
          <p:cNvSpPr/>
          <p:nvPr/>
        </p:nvSpPr>
        <p:spPr>
          <a:xfrm>
            <a:off x="8191500" y="3629025"/>
            <a:ext cx="3400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3-footer"/>
          <p:cNvSpPr txBox="1"/>
          <p:nvPr/>
        </p:nvSpPr>
        <p:spPr>
          <a:xfrm>
            <a:off x="8191500" y="368617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Post-implementation review, 2024</a:t>
            </a:r>
          </a:p>
        </p:txBody>
      </p:sp>
      <p:sp>
        <p:nvSpPr>
          <p:cNvPr id="28" name="card-4-bg"/>
          <p:cNvSpPr/>
          <p:nvPr/>
        </p:nvSpPr>
        <p:spPr>
          <a:xfrm>
            <a:off x="457200" y="4029075"/>
            <a:ext cx="3667125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ard-4-accent"/>
          <p:cNvSpPr/>
          <p:nvPr/>
        </p:nvSpPr>
        <p:spPr>
          <a:xfrm>
            <a:off x="457200" y="402907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badge"/>
          <p:cNvSpPr txBox="1"/>
          <p:nvPr/>
        </p:nvSpPr>
        <p:spPr>
          <a:xfrm>
            <a:off x="590550" y="416242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ENERGY UTILITY</a:t>
            </a:r>
          </a:p>
        </p:txBody>
      </p:sp>
      <p:sp>
        <p:nvSpPr>
          <p:cNvPr id="31" name="card-4-heading"/>
          <p:cNvSpPr txBox="1"/>
          <p:nvPr/>
        </p:nvSpPr>
        <p:spPr>
          <a:xfrm>
            <a:off x="590550" y="441007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Field workforce transformation</a:t>
            </a:r>
          </a:p>
        </p:txBody>
      </p:sp>
      <p:sp>
        <p:nvSpPr>
          <p:cNvPr id="32" name="card-4-stat"/>
          <p:cNvSpPr txBox="1"/>
          <p:nvPr/>
        </p:nvSpPr>
        <p:spPr>
          <a:xfrm>
            <a:off x="590550" y="461962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3.2× productivity</a:t>
            </a:r>
          </a:p>
        </p:txBody>
      </p:sp>
      <p:sp>
        <p:nvSpPr>
          <p:cNvPr id="33" name="card-4-body"/>
          <p:cNvSpPr txBox="1"/>
          <p:nvPr/>
        </p:nvSpPr>
        <p:spPr>
          <a:xfrm>
            <a:off x="590550" y="5057775"/>
            <a:ext cx="3400425" cy="11715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4,000 field workers, mobile-first platform; jobs per shift up from 4.1 to 13.2.</a:t>
            </a:r>
          </a:p>
        </p:txBody>
      </p:sp>
      <p:sp>
        <p:nvSpPr>
          <p:cNvPr id="34" name="card-4-divider"/>
          <p:cNvSpPr/>
          <p:nvPr/>
        </p:nvSpPr>
        <p:spPr>
          <a:xfrm>
            <a:off x="590550" y="6248400"/>
            <a:ext cx="3400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4-footer"/>
          <p:cNvSpPr txBox="1"/>
          <p:nvPr/>
        </p:nvSpPr>
        <p:spPr>
          <a:xfrm>
            <a:off x="590550" y="63055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Workforce analytics dashboard, Q1 2025</a:t>
            </a:r>
          </a:p>
        </p:txBody>
      </p:sp>
      <p:sp>
        <p:nvSpPr>
          <p:cNvPr id="36" name="card-5-bg"/>
          <p:cNvSpPr/>
          <p:nvPr/>
        </p:nvSpPr>
        <p:spPr>
          <a:xfrm>
            <a:off x="4257675" y="4029075"/>
            <a:ext cx="3667125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5-accent"/>
          <p:cNvSpPr/>
          <p:nvPr/>
        </p:nvSpPr>
        <p:spPr>
          <a:xfrm>
            <a:off x="4257675" y="402907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rd-5-badge"/>
          <p:cNvSpPr txBox="1"/>
          <p:nvPr/>
        </p:nvSpPr>
        <p:spPr>
          <a:xfrm>
            <a:off x="4391025" y="416242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CONSUMER GOODS</a:t>
            </a:r>
          </a:p>
        </p:txBody>
      </p:sp>
      <p:sp>
        <p:nvSpPr>
          <p:cNvPr id="39" name="card-5-heading"/>
          <p:cNvSpPr txBox="1"/>
          <p:nvPr/>
        </p:nvSpPr>
        <p:spPr>
          <a:xfrm>
            <a:off x="4391025" y="441007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Supply chain AI</a:t>
            </a:r>
          </a:p>
        </p:txBody>
      </p:sp>
      <p:sp>
        <p:nvSpPr>
          <p:cNvPr id="40" name="card-5-stat"/>
          <p:cNvSpPr txBox="1"/>
          <p:nvPr/>
        </p:nvSpPr>
        <p:spPr>
          <a:xfrm>
            <a:off x="4391025" y="461962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−32% inventory waste</a:t>
            </a:r>
          </a:p>
        </p:txBody>
      </p:sp>
      <p:sp>
        <p:nvSpPr>
          <p:cNvPr id="41" name="card-5-body"/>
          <p:cNvSpPr txBox="1"/>
          <p:nvPr/>
        </p:nvSpPr>
        <p:spPr>
          <a:xfrm>
            <a:off x="4391025" y="5057775"/>
            <a:ext cx="3400425" cy="11715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6-country rollout, ML-driven demand sensing; SKU forecast accuracy up to 91%.</a:t>
            </a:r>
          </a:p>
        </p:txBody>
      </p:sp>
      <p:sp>
        <p:nvSpPr>
          <p:cNvPr id="42" name="card-5-divider"/>
          <p:cNvSpPr/>
          <p:nvPr/>
        </p:nvSpPr>
        <p:spPr>
          <a:xfrm>
            <a:off x="4391025" y="6248400"/>
            <a:ext cx="3400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ard-5-footer"/>
          <p:cNvSpPr txBox="1"/>
          <p:nvPr/>
        </p:nvSpPr>
        <p:spPr>
          <a:xfrm>
            <a:off x="4391025" y="63055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Supply chain COE benchmark, 2025</a:t>
            </a:r>
          </a:p>
        </p:txBody>
      </p:sp>
      <p:sp>
        <p:nvSpPr>
          <p:cNvPr id="44" name="card-6-bg"/>
          <p:cNvSpPr/>
          <p:nvPr/>
        </p:nvSpPr>
        <p:spPr>
          <a:xfrm>
            <a:off x="8058150" y="4029075"/>
            <a:ext cx="3667125" cy="2486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ard-6-accent"/>
          <p:cNvSpPr/>
          <p:nvPr/>
        </p:nvSpPr>
        <p:spPr>
          <a:xfrm>
            <a:off x="8058150" y="402907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6-badge"/>
          <p:cNvSpPr txBox="1"/>
          <p:nvPr/>
        </p:nvSpPr>
        <p:spPr>
          <a:xfrm>
            <a:off x="8191500" y="416242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GOVERNMENT AGENCY</a:t>
            </a:r>
          </a:p>
        </p:txBody>
      </p:sp>
      <p:sp>
        <p:nvSpPr>
          <p:cNvPr id="47" name="card-6-heading"/>
          <p:cNvSpPr txBox="1"/>
          <p:nvPr/>
        </p:nvSpPr>
        <p:spPr>
          <a:xfrm>
            <a:off x="8191500" y="441007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Digital services platform</a:t>
            </a:r>
          </a:p>
        </p:txBody>
      </p:sp>
      <p:sp>
        <p:nvSpPr>
          <p:cNvPr id="48" name="card-6-stat"/>
          <p:cNvSpPr txBox="1"/>
          <p:nvPr/>
        </p:nvSpPr>
        <p:spPr>
          <a:xfrm>
            <a:off x="8191500" y="461962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7.8M citizens served</a:t>
            </a:r>
          </a:p>
        </p:txBody>
      </p:sp>
      <p:sp>
        <p:nvSpPr>
          <p:cNvPr id="49" name="card-6-body"/>
          <p:cNvSpPr txBox="1"/>
          <p:nvPr/>
        </p:nvSpPr>
        <p:spPr>
          <a:xfrm>
            <a:off x="8191500" y="5057775"/>
            <a:ext cx="3400425" cy="11715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Full GDS standard compliance, 99.9% uptime; avg. transaction time cut from 22 min to 4 min.</a:t>
            </a:r>
          </a:p>
        </p:txBody>
      </p:sp>
      <p:sp>
        <p:nvSpPr>
          <p:cNvPr id="50" name="card-6-divider"/>
          <p:cNvSpPr/>
          <p:nvPr/>
        </p:nvSpPr>
        <p:spPr>
          <a:xfrm>
            <a:off x="8191500" y="6248400"/>
            <a:ext cx="3400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ard-6-footer"/>
          <p:cNvSpPr txBox="1"/>
          <p:nvPr/>
        </p:nvSpPr>
        <p:spPr>
          <a:xfrm>
            <a:off x="8191500" y="63055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Cabinet Office assurance review, 2025</a:t>
            </a:r>
          </a:p>
        </p:txBody>
      </p:sp>
      <p:sp>
        <p:nvSpPr>
          <p:cNvPr id="5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