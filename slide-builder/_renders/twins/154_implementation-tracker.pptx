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533400"/>
            <a:ext cx="5334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IMPLEMENTATION TRACKER — MILESTONES × STATUS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10477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Integration testing is the critical path risk</a:t>
            </a:r>
            <a:r>
              <a:rPr sz="1650" b="1" i="0">
                <a:solidFill>
                  <a:srgbClr val="1A1A2E"/>
                </a:solidFill>
                <a:latin typeface="Inter"/>
              </a:rPr>
              <a:t> — Phase 2 go-live slides to Q4 2025 if not resolved by Week 3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1049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10 program milestones tracked across five workstreams. Target vs. actual/forecast dates; status and percent complete as of today.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371600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able-head-bg"/>
          <p:cNvSpPr/>
          <p:nvPr/>
        </p:nvSpPr>
        <p:spPr>
          <a:xfrm>
            <a:off x="457200" y="1504950"/>
            <a:ext cx="11277600" cy="2476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able-col-1-header"/>
          <p:cNvSpPr txBox="1"/>
          <p:nvPr/>
        </p:nvSpPr>
        <p:spPr>
          <a:xfrm>
            <a:off x="533400" y="1562100"/>
            <a:ext cx="2952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#</a:t>
            </a:r>
          </a:p>
        </p:txBody>
      </p:sp>
      <p:sp>
        <p:nvSpPr>
          <p:cNvPr id="8" name="table-col-2-header"/>
          <p:cNvSpPr txBox="1"/>
          <p:nvPr/>
        </p:nvSpPr>
        <p:spPr>
          <a:xfrm>
            <a:off x="981075" y="1562100"/>
            <a:ext cx="28860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MILESTONE</a:t>
            </a:r>
          </a:p>
        </p:txBody>
      </p:sp>
      <p:sp>
        <p:nvSpPr>
          <p:cNvPr id="9" name="table-col-3-header"/>
          <p:cNvSpPr txBox="1"/>
          <p:nvPr/>
        </p:nvSpPr>
        <p:spPr>
          <a:xfrm>
            <a:off x="4019550" y="1562100"/>
            <a:ext cx="12001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WORKSTREAM</a:t>
            </a:r>
          </a:p>
        </p:txBody>
      </p:sp>
      <p:sp>
        <p:nvSpPr>
          <p:cNvPr id="10" name="table-col-4-header"/>
          <p:cNvSpPr txBox="1"/>
          <p:nvPr/>
        </p:nvSpPr>
        <p:spPr>
          <a:xfrm>
            <a:off x="5372100" y="1562100"/>
            <a:ext cx="1085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TARGET DATE</a:t>
            </a:r>
          </a:p>
        </p:txBody>
      </p:sp>
      <p:sp>
        <p:nvSpPr>
          <p:cNvPr id="11" name="table-col-5-header"/>
          <p:cNvSpPr txBox="1"/>
          <p:nvPr/>
        </p:nvSpPr>
        <p:spPr>
          <a:xfrm>
            <a:off x="6610350" y="1562100"/>
            <a:ext cx="1304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ACTUAL / FORECAST</a:t>
            </a:r>
          </a:p>
        </p:txBody>
      </p:sp>
      <p:sp>
        <p:nvSpPr>
          <p:cNvPr id="12" name="table-col-6-header"/>
          <p:cNvSpPr txBox="1"/>
          <p:nvPr/>
        </p:nvSpPr>
        <p:spPr>
          <a:xfrm>
            <a:off x="8067675" y="1562100"/>
            <a:ext cx="13049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13" name="table-col-7-header"/>
          <p:cNvSpPr txBox="1"/>
          <p:nvPr/>
        </p:nvSpPr>
        <p:spPr>
          <a:xfrm>
            <a:off x="9525000" y="1562100"/>
            <a:ext cx="21336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% COMPLETE</a:t>
            </a:r>
          </a:p>
        </p:txBody>
      </p:sp>
      <p:sp>
        <p:nvSpPr>
          <p:cNvPr id="14" name="table-row-1-divider"/>
          <p:cNvSpPr/>
          <p:nvPr/>
        </p:nvSpPr>
        <p:spPr>
          <a:xfrm>
            <a:off x="457200" y="17526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able-row-1-num"/>
          <p:cNvSpPr txBox="1"/>
          <p:nvPr/>
        </p:nvSpPr>
        <p:spPr>
          <a:xfrm>
            <a:off x="457200" y="18288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16" name="table-row-1-cell-2"/>
          <p:cNvSpPr txBox="1"/>
          <p:nvPr/>
        </p:nvSpPr>
        <p:spPr>
          <a:xfrm>
            <a:off x="981075" y="182880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Project kickoff</a:t>
            </a:r>
          </a:p>
        </p:txBody>
      </p:sp>
      <p:sp>
        <p:nvSpPr>
          <p:cNvPr id="17" name="table-row-1-ws-dot"/>
          <p:cNvSpPr/>
          <p:nvPr/>
        </p:nvSpPr>
        <p:spPr>
          <a:xfrm>
            <a:off x="4019550" y="1885950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able-row-1-cell-3"/>
          <p:cNvSpPr txBox="1"/>
          <p:nvPr/>
        </p:nvSpPr>
        <p:spPr>
          <a:xfrm>
            <a:off x="4152900" y="18288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All</a:t>
            </a:r>
          </a:p>
        </p:txBody>
      </p:sp>
      <p:sp>
        <p:nvSpPr>
          <p:cNvPr id="19" name="table-row-1-cell-4"/>
          <p:cNvSpPr txBox="1"/>
          <p:nvPr/>
        </p:nvSpPr>
        <p:spPr>
          <a:xfrm>
            <a:off x="5334000" y="18288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15 Jan 2025</a:t>
            </a:r>
          </a:p>
        </p:txBody>
      </p:sp>
      <p:sp>
        <p:nvSpPr>
          <p:cNvPr id="20" name="table-row-1-cell-5"/>
          <p:cNvSpPr txBox="1"/>
          <p:nvPr/>
        </p:nvSpPr>
        <p:spPr>
          <a:xfrm>
            <a:off x="6572250" y="182880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15 Jan 2025</a:t>
            </a:r>
          </a:p>
        </p:txBody>
      </p:sp>
      <p:sp>
        <p:nvSpPr>
          <p:cNvPr id="21" name="table-row-1-pill"/>
          <p:cNvSpPr txBox="1"/>
          <p:nvPr/>
        </p:nvSpPr>
        <p:spPr>
          <a:xfrm>
            <a:off x="8048625" y="1828800"/>
            <a:ext cx="1343025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COMPLETE</a:t>
            </a:r>
          </a:p>
        </p:txBody>
      </p:sp>
      <p:sp>
        <p:nvSpPr>
          <p:cNvPr id="22" name="table-row-1-rag-dot"/>
          <p:cNvSpPr/>
          <p:nvPr/>
        </p:nvSpPr>
        <p:spPr>
          <a:xfrm>
            <a:off x="8086725" y="1876425"/>
            <a:ext cx="5715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table-row-1-pct-label"/>
          <p:cNvSpPr txBox="1"/>
          <p:nvPr/>
        </p:nvSpPr>
        <p:spPr>
          <a:xfrm>
            <a:off x="11258550" y="18288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100%</a:t>
            </a:r>
          </a:p>
        </p:txBody>
      </p:sp>
      <p:sp>
        <p:nvSpPr>
          <p:cNvPr id="24" name="table-row-1-bar-bg"/>
          <p:cNvSpPr/>
          <p:nvPr/>
        </p:nvSpPr>
        <p:spPr>
          <a:xfrm>
            <a:off x="9505950" y="1885950"/>
            <a:ext cx="1714500" cy="571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table-row-1-bar-fill"/>
          <p:cNvSpPr/>
          <p:nvPr/>
        </p:nvSpPr>
        <p:spPr>
          <a:xfrm>
            <a:off x="9505950" y="1885950"/>
            <a:ext cx="171450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able-row-2-bg"/>
          <p:cNvSpPr/>
          <p:nvPr/>
        </p:nvSpPr>
        <p:spPr>
          <a:xfrm>
            <a:off x="457200" y="2171700"/>
            <a:ext cx="11277600" cy="419100"/>
          </a:xfrm>
          <a:prstGeom prst="rect">
            <a:avLst/>
          </a:prstGeom>
          <a:solidFill>
            <a:srgbClr val="FB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table-row-2-flag"/>
          <p:cNvSpPr/>
          <p:nvPr/>
        </p:nvSpPr>
        <p:spPr>
          <a:xfrm>
            <a:off x="457200" y="2171700"/>
            <a:ext cx="28575" cy="419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table-row-2-divider"/>
          <p:cNvSpPr/>
          <p:nvPr/>
        </p:nvSpPr>
        <p:spPr>
          <a:xfrm>
            <a:off x="457200" y="21717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table-row-2-num"/>
          <p:cNvSpPr txBox="1"/>
          <p:nvPr/>
        </p:nvSpPr>
        <p:spPr>
          <a:xfrm>
            <a:off x="457200" y="22479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30" name="table-row-2-cell-2"/>
          <p:cNvSpPr txBox="1"/>
          <p:nvPr/>
        </p:nvSpPr>
        <p:spPr>
          <a:xfrm>
            <a:off x="981075" y="224790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Architecture design approved</a:t>
            </a:r>
          </a:p>
        </p:txBody>
      </p:sp>
      <p:sp>
        <p:nvSpPr>
          <p:cNvPr id="31" name="table-row-2-ws-dot"/>
          <p:cNvSpPr/>
          <p:nvPr/>
        </p:nvSpPr>
        <p:spPr>
          <a:xfrm>
            <a:off x="4019550" y="2305050"/>
            <a:ext cx="76200" cy="76200"/>
          </a:xfrm>
          <a:prstGeom prst="rect">
            <a:avLst/>
          </a:prstGeom>
          <a:solidFill>
            <a:srgbClr val="1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able-row-2-cell-3"/>
          <p:cNvSpPr txBox="1"/>
          <p:nvPr/>
        </p:nvSpPr>
        <p:spPr>
          <a:xfrm>
            <a:off x="4152900" y="22479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Technology</a:t>
            </a:r>
          </a:p>
        </p:txBody>
      </p:sp>
      <p:sp>
        <p:nvSpPr>
          <p:cNvPr id="33" name="table-row-2-cell-4"/>
          <p:cNvSpPr txBox="1"/>
          <p:nvPr/>
        </p:nvSpPr>
        <p:spPr>
          <a:xfrm>
            <a:off x="5334000" y="22479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28 Feb 2025</a:t>
            </a:r>
          </a:p>
        </p:txBody>
      </p:sp>
      <p:sp>
        <p:nvSpPr>
          <p:cNvPr id="34" name="table-row-2-cell-5"/>
          <p:cNvSpPr txBox="1"/>
          <p:nvPr/>
        </p:nvSpPr>
        <p:spPr>
          <a:xfrm>
            <a:off x="6572250" y="224790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8770A"/>
                </a:solidFill>
                <a:latin typeface="Inter"/>
              </a:rPr>
              <a:t>7 Mar 2025</a:t>
            </a:r>
          </a:p>
        </p:txBody>
      </p:sp>
      <p:sp>
        <p:nvSpPr>
          <p:cNvPr id="35" name="table-row-2-pill"/>
          <p:cNvSpPr txBox="1"/>
          <p:nvPr/>
        </p:nvSpPr>
        <p:spPr>
          <a:xfrm>
            <a:off x="8048625" y="2247900"/>
            <a:ext cx="1343025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8770A"/>
                </a:solidFill>
                <a:latin typeface="Inter"/>
              </a:rPr>
              <a:t>COMPLETE (LATE)</a:t>
            </a:r>
          </a:p>
        </p:txBody>
      </p:sp>
      <p:sp>
        <p:nvSpPr>
          <p:cNvPr id="36" name="table-row-2-rag-dot"/>
          <p:cNvSpPr/>
          <p:nvPr/>
        </p:nvSpPr>
        <p:spPr>
          <a:xfrm>
            <a:off x="8086725" y="2295525"/>
            <a:ext cx="57150" cy="571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2-pct-label"/>
          <p:cNvSpPr txBox="1"/>
          <p:nvPr/>
        </p:nvSpPr>
        <p:spPr>
          <a:xfrm>
            <a:off x="11258550" y="22479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100%</a:t>
            </a:r>
          </a:p>
        </p:txBody>
      </p:sp>
      <p:sp>
        <p:nvSpPr>
          <p:cNvPr id="38" name="table-row-2-bar-bg"/>
          <p:cNvSpPr/>
          <p:nvPr/>
        </p:nvSpPr>
        <p:spPr>
          <a:xfrm>
            <a:off x="9505950" y="2305050"/>
            <a:ext cx="1714500" cy="571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table-row-2-bar-fill"/>
          <p:cNvSpPr/>
          <p:nvPr/>
        </p:nvSpPr>
        <p:spPr>
          <a:xfrm>
            <a:off x="9505950" y="2305050"/>
            <a:ext cx="1714500" cy="571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table-row-3-divider"/>
          <p:cNvSpPr/>
          <p:nvPr/>
        </p:nvSpPr>
        <p:spPr>
          <a:xfrm>
            <a:off x="457200" y="25908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table-row-3-num"/>
          <p:cNvSpPr txBox="1"/>
          <p:nvPr/>
        </p:nvSpPr>
        <p:spPr>
          <a:xfrm>
            <a:off x="457200" y="26670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42" name="table-row-3-cell-2"/>
          <p:cNvSpPr txBox="1"/>
          <p:nvPr/>
        </p:nvSpPr>
        <p:spPr>
          <a:xfrm>
            <a:off x="981075" y="266700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Phase 1 pilot launch</a:t>
            </a:r>
          </a:p>
        </p:txBody>
      </p:sp>
      <p:sp>
        <p:nvSpPr>
          <p:cNvPr id="43" name="table-row-3-ws-dot"/>
          <p:cNvSpPr/>
          <p:nvPr/>
        </p:nvSpPr>
        <p:spPr>
          <a:xfrm>
            <a:off x="4019550" y="2724150"/>
            <a:ext cx="76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3-cell-3"/>
          <p:cNvSpPr txBox="1"/>
          <p:nvPr/>
        </p:nvSpPr>
        <p:spPr>
          <a:xfrm>
            <a:off x="4152900" y="26670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Operations</a:t>
            </a:r>
          </a:p>
        </p:txBody>
      </p:sp>
      <p:sp>
        <p:nvSpPr>
          <p:cNvPr id="45" name="table-row-3-cell-4"/>
          <p:cNvSpPr txBox="1"/>
          <p:nvPr/>
        </p:nvSpPr>
        <p:spPr>
          <a:xfrm>
            <a:off x="5334000" y="26670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 Apr 2025</a:t>
            </a:r>
          </a:p>
        </p:txBody>
      </p:sp>
      <p:sp>
        <p:nvSpPr>
          <p:cNvPr id="46" name="table-row-3-cell-5"/>
          <p:cNvSpPr txBox="1"/>
          <p:nvPr/>
        </p:nvSpPr>
        <p:spPr>
          <a:xfrm>
            <a:off x="6572250" y="266700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 Apr 2025</a:t>
            </a:r>
          </a:p>
        </p:txBody>
      </p:sp>
      <p:sp>
        <p:nvSpPr>
          <p:cNvPr id="47" name="table-row-3-pill"/>
          <p:cNvSpPr txBox="1"/>
          <p:nvPr/>
        </p:nvSpPr>
        <p:spPr>
          <a:xfrm>
            <a:off x="8048625" y="2667000"/>
            <a:ext cx="1343025" cy="17145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COMPLETE</a:t>
            </a:r>
          </a:p>
        </p:txBody>
      </p:sp>
      <p:sp>
        <p:nvSpPr>
          <p:cNvPr id="48" name="table-row-3-rag-dot"/>
          <p:cNvSpPr/>
          <p:nvPr/>
        </p:nvSpPr>
        <p:spPr>
          <a:xfrm>
            <a:off x="8086725" y="2714625"/>
            <a:ext cx="5715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table-row-3-pct-label"/>
          <p:cNvSpPr txBox="1"/>
          <p:nvPr/>
        </p:nvSpPr>
        <p:spPr>
          <a:xfrm>
            <a:off x="11258550" y="26670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100%</a:t>
            </a:r>
          </a:p>
        </p:txBody>
      </p:sp>
      <p:sp>
        <p:nvSpPr>
          <p:cNvPr id="50" name="table-row-3-bar-bg"/>
          <p:cNvSpPr/>
          <p:nvPr/>
        </p:nvSpPr>
        <p:spPr>
          <a:xfrm>
            <a:off x="9505950" y="2724150"/>
            <a:ext cx="1714500" cy="571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table-row-3-bar-fill"/>
          <p:cNvSpPr/>
          <p:nvPr/>
        </p:nvSpPr>
        <p:spPr>
          <a:xfrm>
            <a:off x="9505950" y="2724150"/>
            <a:ext cx="1714500" cy="5715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table-row-4-bg"/>
          <p:cNvSpPr/>
          <p:nvPr/>
        </p:nvSpPr>
        <p:spPr>
          <a:xfrm>
            <a:off x="457200" y="3009900"/>
            <a:ext cx="11277600" cy="419100"/>
          </a:xfrm>
          <a:prstGeom prst="rect">
            <a:avLst/>
          </a:prstGeom>
          <a:solidFill>
            <a:srgbClr val="FB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table-row-4-flag"/>
          <p:cNvSpPr/>
          <p:nvPr/>
        </p:nvSpPr>
        <p:spPr>
          <a:xfrm>
            <a:off x="457200" y="3009900"/>
            <a:ext cx="28575" cy="419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able-row-4-divider"/>
          <p:cNvSpPr/>
          <p:nvPr/>
        </p:nvSpPr>
        <p:spPr>
          <a:xfrm>
            <a:off x="457200" y="30099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able-row-4-num"/>
          <p:cNvSpPr txBox="1"/>
          <p:nvPr/>
        </p:nvSpPr>
        <p:spPr>
          <a:xfrm>
            <a:off x="457200" y="30861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04</a:t>
            </a:r>
          </a:p>
        </p:txBody>
      </p:sp>
      <p:sp>
        <p:nvSpPr>
          <p:cNvPr id="56" name="table-row-4-cell-2"/>
          <p:cNvSpPr txBox="1"/>
          <p:nvPr/>
        </p:nvSpPr>
        <p:spPr>
          <a:xfrm>
            <a:off x="981075" y="308610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Data migration Wave 1</a:t>
            </a:r>
          </a:p>
        </p:txBody>
      </p:sp>
      <p:sp>
        <p:nvSpPr>
          <p:cNvPr id="57" name="table-row-4-ws-dot"/>
          <p:cNvSpPr/>
          <p:nvPr/>
        </p:nvSpPr>
        <p:spPr>
          <a:xfrm>
            <a:off x="4019550" y="3143250"/>
            <a:ext cx="76200" cy="76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table-row-4-cell-3"/>
          <p:cNvSpPr txBox="1"/>
          <p:nvPr/>
        </p:nvSpPr>
        <p:spPr>
          <a:xfrm>
            <a:off x="4152900" y="30861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Data</a:t>
            </a:r>
          </a:p>
        </p:txBody>
      </p:sp>
      <p:sp>
        <p:nvSpPr>
          <p:cNvPr id="59" name="table-row-4-cell-4"/>
          <p:cNvSpPr txBox="1"/>
          <p:nvPr/>
        </p:nvSpPr>
        <p:spPr>
          <a:xfrm>
            <a:off x="5334000" y="30861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15 May 2025</a:t>
            </a:r>
          </a:p>
        </p:txBody>
      </p:sp>
      <p:sp>
        <p:nvSpPr>
          <p:cNvPr id="60" name="table-row-4-cell-5"/>
          <p:cNvSpPr txBox="1"/>
          <p:nvPr/>
        </p:nvSpPr>
        <p:spPr>
          <a:xfrm>
            <a:off x="6572250" y="308610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8770A"/>
                </a:solidFill>
                <a:latin typeface="Inter"/>
              </a:rPr>
              <a:t>20 May 2025</a:t>
            </a:r>
          </a:p>
        </p:txBody>
      </p:sp>
      <p:sp>
        <p:nvSpPr>
          <p:cNvPr id="61" name="table-row-4-pill"/>
          <p:cNvSpPr txBox="1"/>
          <p:nvPr/>
        </p:nvSpPr>
        <p:spPr>
          <a:xfrm>
            <a:off x="8048625" y="3086100"/>
            <a:ext cx="1343025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8770A"/>
                </a:solidFill>
                <a:latin typeface="Inter"/>
              </a:rPr>
              <a:t>COMPLETE (LATE)</a:t>
            </a:r>
          </a:p>
        </p:txBody>
      </p:sp>
      <p:sp>
        <p:nvSpPr>
          <p:cNvPr id="62" name="table-row-4-rag-dot"/>
          <p:cNvSpPr/>
          <p:nvPr/>
        </p:nvSpPr>
        <p:spPr>
          <a:xfrm>
            <a:off x="8086725" y="3133725"/>
            <a:ext cx="57150" cy="571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table-row-4-pct-label"/>
          <p:cNvSpPr txBox="1"/>
          <p:nvPr/>
        </p:nvSpPr>
        <p:spPr>
          <a:xfrm>
            <a:off x="11258550" y="30861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100%</a:t>
            </a:r>
          </a:p>
        </p:txBody>
      </p:sp>
      <p:sp>
        <p:nvSpPr>
          <p:cNvPr id="64" name="table-row-4-bar-bg"/>
          <p:cNvSpPr/>
          <p:nvPr/>
        </p:nvSpPr>
        <p:spPr>
          <a:xfrm>
            <a:off x="9505950" y="3143250"/>
            <a:ext cx="1714500" cy="571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table-row-4-bar-fill"/>
          <p:cNvSpPr/>
          <p:nvPr/>
        </p:nvSpPr>
        <p:spPr>
          <a:xfrm>
            <a:off x="9505950" y="3143250"/>
            <a:ext cx="1714500" cy="571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table-row-5-divider"/>
          <p:cNvSpPr/>
          <p:nvPr/>
        </p:nvSpPr>
        <p:spPr>
          <a:xfrm>
            <a:off x="457200" y="34290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table-row-5-num"/>
          <p:cNvSpPr txBox="1"/>
          <p:nvPr/>
        </p:nvSpPr>
        <p:spPr>
          <a:xfrm>
            <a:off x="457200" y="35052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05</a:t>
            </a:r>
          </a:p>
        </p:txBody>
      </p:sp>
      <p:sp>
        <p:nvSpPr>
          <p:cNvPr id="68" name="table-row-5-cell-2"/>
          <p:cNvSpPr txBox="1"/>
          <p:nvPr/>
        </p:nvSpPr>
        <p:spPr>
          <a:xfrm>
            <a:off x="981075" y="350520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Training program begins</a:t>
            </a:r>
          </a:p>
        </p:txBody>
      </p:sp>
      <p:sp>
        <p:nvSpPr>
          <p:cNvPr id="69" name="table-row-5-ws-dot"/>
          <p:cNvSpPr/>
          <p:nvPr/>
        </p:nvSpPr>
        <p:spPr>
          <a:xfrm>
            <a:off x="4019550" y="3562350"/>
            <a:ext cx="76200" cy="76200"/>
          </a:xfrm>
          <a:prstGeom prst="rect">
            <a:avLst/>
          </a:prstGeom>
          <a:solidFill>
            <a:srgbClr val="E0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table-row-5-cell-3"/>
          <p:cNvSpPr txBox="1"/>
          <p:nvPr/>
        </p:nvSpPr>
        <p:spPr>
          <a:xfrm>
            <a:off x="4152900" y="35052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People</a:t>
            </a:r>
          </a:p>
        </p:txBody>
      </p:sp>
      <p:sp>
        <p:nvSpPr>
          <p:cNvPr id="71" name="table-row-5-cell-4"/>
          <p:cNvSpPr txBox="1"/>
          <p:nvPr/>
        </p:nvSpPr>
        <p:spPr>
          <a:xfrm>
            <a:off x="5334000" y="35052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 Jun 2025</a:t>
            </a:r>
          </a:p>
        </p:txBody>
      </p:sp>
      <p:sp>
        <p:nvSpPr>
          <p:cNvPr id="72" name="table-row-5-cell-5"/>
          <p:cNvSpPr txBox="1"/>
          <p:nvPr/>
        </p:nvSpPr>
        <p:spPr>
          <a:xfrm>
            <a:off x="6572250" y="350520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 Jun 2025</a:t>
            </a:r>
          </a:p>
        </p:txBody>
      </p:sp>
      <p:sp>
        <p:nvSpPr>
          <p:cNvPr id="73" name="table-row-5-pill"/>
          <p:cNvSpPr txBox="1"/>
          <p:nvPr/>
        </p:nvSpPr>
        <p:spPr>
          <a:xfrm>
            <a:off x="8048625" y="3505200"/>
            <a:ext cx="1343025" cy="17145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D6FBE"/>
                </a:solidFill>
                <a:latin typeface="Inter"/>
              </a:rPr>
              <a:t>ON TRACK</a:t>
            </a:r>
          </a:p>
        </p:txBody>
      </p:sp>
      <p:sp>
        <p:nvSpPr>
          <p:cNvPr id="74" name="table-row-5-rag-dot"/>
          <p:cNvSpPr/>
          <p:nvPr/>
        </p:nvSpPr>
        <p:spPr>
          <a:xfrm>
            <a:off x="8086725" y="3552825"/>
            <a:ext cx="57150" cy="57150"/>
          </a:xfrm>
          <a:prstGeom prst="rect">
            <a:avLst/>
          </a:prstGeom>
          <a:solidFill>
            <a:srgbClr val="1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table-row-5-pct-label"/>
          <p:cNvSpPr txBox="1"/>
          <p:nvPr/>
        </p:nvSpPr>
        <p:spPr>
          <a:xfrm>
            <a:off x="11258550" y="35052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65%</a:t>
            </a:r>
          </a:p>
        </p:txBody>
      </p:sp>
      <p:sp>
        <p:nvSpPr>
          <p:cNvPr id="76" name="table-row-5-bar-bg"/>
          <p:cNvSpPr/>
          <p:nvPr/>
        </p:nvSpPr>
        <p:spPr>
          <a:xfrm>
            <a:off x="9505950" y="3562350"/>
            <a:ext cx="1714500" cy="571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table-row-5-bar-fill"/>
          <p:cNvSpPr/>
          <p:nvPr/>
        </p:nvSpPr>
        <p:spPr>
          <a:xfrm>
            <a:off x="9505950" y="3562350"/>
            <a:ext cx="1114425" cy="57150"/>
          </a:xfrm>
          <a:prstGeom prst="rect">
            <a:avLst/>
          </a:prstGeom>
          <a:solidFill>
            <a:srgbClr val="1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table-row-6-bg"/>
          <p:cNvSpPr/>
          <p:nvPr/>
        </p:nvSpPr>
        <p:spPr>
          <a:xfrm>
            <a:off x="457200" y="3848100"/>
            <a:ext cx="11277600" cy="419100"/>
          </a:xfrm>
          <a:prstGeom prst="rect">
            <a:avLst/>
          </a:prstGeom>
          <a:solidFill>
            <a:srgbClr val="FB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table-row-6-flag"/>
          <p:cNvSpPr/>
          <p:nvPr/>
        </p:nvSpPr>
        <p:spPr>
          <a:xfrm>
            <a:off x="457200" y="3848100"/>
            <a:ext cx="28575" cy="419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table-row-6-divider"/>
          <p:cNvSpPr/>
          <p:nvPr/>
        </p:nvSpPr>
        <p:spPr>
          <a:xfrm>
            <a:off x="457200" y="38481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table-row-6-num"/>
          <p:cNvSpPr txBox="1"/>
          <p:nvPr/>
        </p:nvSpPr>
        <p:spPr>
          <a:xfrm>
            <a:off x="457200" y="39243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06</a:t>
            </a:r>
          </a:p>
        </p:txBody>
      </p:sp>
      <p:sp>
        <p:nvSpPr>
          <p:cNvPr id="82" name="table-row-6-cell-2"/>
          <p:cNvSpPr txBox="1"/>
          <p:nvPr/>
        </p:nvSpPr>
        <p:spPr>
          <a:xfrm>
            <a:off x="981075" y="392430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Integration testing complete</a:t>
            </a:r>
          </a:p>
        </p:txBody>
      </p:sp>
      <p:sp>
        <p:nvSpPr>
          <p:cNvPr id="83" name="table-row-6-ws-dot"/>
          <p:cNvSpPr/>
          <p:nvPr/>
        </p:nvSpPr>
        <p:spPr>
          <a:xfrm>
            <a:off x="4019550" y="3981450"/>
            <a:ext cx="76200" cy="76200"/>
          </a:xfrm>
          <a:prstGeom prst="rect">
            <a:avLst/>
          </a:prstGeom>
          <a:solidFill>
            <a:srgbClr val="1D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table-row-6-cell-3"/>
          <p:cNvSpPr txBox="1"/>
          <p:nvPr/>
        </p:nvSpPr>
        <p:spPr>
          <a:xfrm>
            <a:off x="4152900" y="39243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Technology</a:t>
            </a:r>
          </a:p>
        </p:txBody>
      </p:sp>
      <p:sp>
        <p:nvSpPr>
          <p:cNvPr id="85" name="table-row-6-cell-4"/>
          <p:cNvSpPr txBox="1"/>
          <p:nvPr/>
        </p:nvSpPr>
        <p:spPr>
          <a:xfrm>
            <a:off x="5334000" y="39243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15 Jul 2025</a:t>
            </a:r>
          </a:p>
        </p:txBody>
      </p:sp>
      <p:sp>
        <p:nvSpPr>
          <p:cNvPr id="86" name="table-row-6-cell-5"/>
          <p:cNvSpPr txBox="1"/>
          <p:nvPr/>
        </p:nvSpPr>
        <p:spPr>
          <a:xfrm>
            <a:off x="6572250" y="392430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8770A"/>
                </a:solidFill>
                <a:latin typeface="Inter"/>
              </a:rPr>
              <a:t>1 Aug 2025</a:t>
            </a:r>
          </a:p>
        </p:txBody>
      </p:sp>
      <p:sp>
        <p:nvSpPr>
          <p:cNvPr id="87" name="table-row-6-pill"/>
          <p:cNvSpPr txBox="1"/>
          <p:nvPr/>
        </p:nvSpPr>
        <p:spPr>
          <a:xfrm>
            <a:off x="8048625" y="3924300"/>
            <a:ext cx="1343025" cy="17145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8770A"/>
                </a:solidFill>
                <a:latin typeface="Inter"/>
              </a:rPr>
              <a:t>AT RISK</a:t>
            </a:r>
          </a:p>
        </p:txBody>
      </p:sp>
      <p:sp>
        <p:nvSpPr>
          <p:cNvPr id="88" name="table-row-6-rag-dot"/>
          <p:cNvSpPr/>
          <p:nvPr/>
        </p:nvSpPr>
        <p:spPr>
          <a:xfrm>
            <a:off x="8086725" y="3971925"/>
            <a:ext cx="57150" cy="571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table-row-6-pct-label"/>
          <p:cNvSpPr txBox="1"/>
          <p:nvPr/>
        </p:nvSpPr>
        <p:spPr>
          <a:xfrm>
            <a:off x="11258550" y="39243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30%</a:t>
            </a:r>
          </a:p>
        </p:txBody>
      </p:sp>
      <p:sp>
        <p:nvSpPr>
          <p:cNvPr id="90" name="table-row-6-bar-bg"/>
          <p:cNvSpPr/>
          <p:nvPr/>
        </p:nvSpPr>
        <p:spPr>
          <a:xfrm>
            <a:off x="9505950" y="3981450"/>
            <a:ext cx="1714500" cy="571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1" name="table-row-6-bar-fill"/>
          <p:cNvSpPr/>
          <p:nvPr/>
        </p:nvSpPr>
        <p:spPr>
          <a:xfrm>
            <a:off x="9505950" y="3981450"/>
            <a:ext cx="514350" cy="571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2" name="table-row-7-flag"/>
          <p:cNvSpPr/>
          <p:nvPr/>
        </p:nvSpPr>
        <p:spPr>
          <a:xfrm>
            <a:off x="457200" y="4267200"/>
            <a:ext cx="28575" cy="419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table-row-7-divider"/>
          <p:cNvSpPr/>
          <p:nvPr/>
        </p:nvSpPr>
        <p:spPr>
          <a:xfrm>
            <a:off x="457200" y="42672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4" name="table-row-7-num"/>
          <p:cNvSpPr txBox="1"/>
          <p:nvPr/>
        </p:nvSpPr>
        <p:spPr>
          <a:xfrm>
            <a:off x="457200" y="43434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07</a:t>
            </a:r>
          </a:p>
        </p:txBody>
      </p:sp>
      <p:sp>
        <p:nvSpPr>
          <p:cNvPr id="95" name="table-row-7-cell-2"/>
          <p:cNvSpPr txBox="1"/>
          <p:nvPr/>
        </p:nvSpPr>
        <p:spPr>
          <a:xfrm>
            <a:off x="981075" y="434340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Phase 2 UAT</a:t>
            </a:r>
          </a:p>
        </p:txBody>
      </p:sp>
      <p:sp>
        <p:nvSpPr>
          <p:cNvPr id="96" name="table-row-7-ws-dot"/>
          <p:cNvSpPr/>
          <p:nvPr/>
        </p:nvSpPr>
        <p:spPr>
          <a:xfrm>
            <a:off x="4019550" y="4400550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table-row-7-cell-3"/>
          <p:cNvSpPr txBox="1"/>
          <p:nvPr/>
        </p:nvSpPr>
        <p:spPr>
          <a:xfrm>
            <a:off x="4152900" y="43434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All</a:t>
            </a:r>
          </a:p>
        </p:txBody>
      </p:sp>
      <p:sp>
        <p:nvSpPr>
          <p:cNvPr id="98" name="table-row-7-cell-4"/>
          <p:cNvSpPr txBox="1"/>
          <p:nvPr/>
        </p:nvSpPr>
        <p:spPr>
          <a:xfrm>
            <a:off x="5334000" y="43434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 Sep 2025</a:t>
            </a:r>
          </a:p>
        </p:txBody>
      </p:sp>
      <p:sp>
        <p:nvSpPr>
          <p:cNvPr id="99" name="table-row-7-cell-5"/>
          <p:cNvSpPr txBox="1"/>
          <p:nvPr/>
        </p:nvSpPr>
        <p:spPr>
          <a:xfrm>
            <a:off x="6572250" y="434340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TBD</a:t>
            </a:r>
          </a:p>
        </p:txBody>
      </p:sp>
      <p:sp>
        <p:nvSpPr>
          <p:cNvPr id="100" name="table-row-7-pill"/>
          <p:cNvSpPr txBox="1"/>
          <p:nvPr/>
        </p:nvSpPr>
        <p:spPr>
          <a:xfrm>
            <a:off x="8048625" y="4343400"/>
            <a:ext cx="1343025" cy="1714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91C1C"/>
                </a:solidFill>
                <a:latin typeface="Inter"/>
              </a:rPr>
              <a:t>DELAYED</a:t>
            </a:r>
          </a:p>
        </p:txBody>
      </p:sp>
      <p:sp>
        <p:nvSpPr>
          <p:cNvPr id="101" name="table-row-7-rag-dot"/>
          <p:cNvSpPr/>
          <p:nvPr/>
        </p:nvSpPr>
        <p:spPr>
          <a:xfrm>
            <a:off x="8086725" y="4391025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table-row-7-pct-label"/>
          <p:cNvSpPr txBox="1"/>
          <p:nvPr/>
        </p:nvSpPr>
        <p:spPr>
          <a:xfrm>
            <a:off x="11258550" y="43434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0%</a:t>
            </a:r>
          </a:p>
        </p:txBody>
      </p:sp>
      <p:sp>
        <p:nvSpPr>
          <p:cNvPr id="103" name="table-row-7-bar-bg"/>
          <p:cNvSpPr/>
          <p:nvPr/>
        </p:nvSpPr>
        <p:spPr>
          <a:xfrm>
            <a:off x="9505950" y="4400550"/>
            <a:ext cx="1714500" cy="571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4" name="table-row-8-bg"/>
          <p:cNvSpPr/>
          <p:nvPr/>
        </p:nvSpPr>
        <p:spPr>
          <a:xfrm>
            <a:off x="457200" y="4686300"/>
            <a:ext cx="11277600" cy="419100"/>
          </a:xfrm>
          <a:prstGeom prst="rect">
            <a:avLst/>
          </a:prstGeom>
          <a:solidFill>
            <a:srgbClr val="FB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table-row-8-flag"/>
          <p:cNvSpPr/>
          <p:nvPr/>
        </p:nvSpPr>
        <p:spPr>
          <a:xfrm>
            <a:off x="457200" y="4686300"/>
            <a:ext cx="28575" cy="4191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table-row-8-divider"/>
          <p:cNvSpPr/>
          <p:nvPr/>
        </p:nvSpPr>
        <p:spPr>
          <a:xfrm>
            <a:off x="457200" y="46863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7" name="table-row-8-num"/>
          <p:cNvSpPr txBox="1"/>
          <p:nvPr/>
        </p:nvSpPr>
        <p:spPr>
          <a:xfrm>
            <a:off x="457200" y="47625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08</a:t>
            </a:r>
          </a:p>
        </p:txBody>
      </p:sp>
      <p:sp>
        <p:nvSpPr>
          <p:cNvPr id="108" name="table-row-8-cell-2"/>
          <p:cNvSpPr txBox="1"/>
          <p:nvPr/>
        </p:nvSpPr>
        <p:spPr>
          <a:xfrm>
            <a:off x="981075" y="476250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Phase 2 go-live</a:t>
            </a:r>
          </a:p>
        </p:txBody>
      </p:sp>
      <p:sp>
        <p:nvSpPr>
          <p:cNvPr id="109" name="table-row-8-ws-dot"/>
          <p:cNvSpPr/>
          <p:nvPr/>
        </p:nvSpPr>
        <p:spPr>
          <a:xfrm>
            <a:off x="4019550" y="4819650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0" name="table-row-8-cell-3"/>
          <p:cNvSpPr txBox="1"/>
          <p:nvPr/>
        </p:nvSpPr>
        <p:spPr>
          <a:xfrm>
            <a:off x="4152900" y="47625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All</a:t>
            </a:r>
          </a:p>
        </p:txBody>
      </p:sp>
      <p:sp>
        <p:nvSpPr>
          <p:cNvPr id="111" name="table-row-8-cell-4"/>
          <p:cNvSpPr txBox="1"/>
          <p:nvPr/>
        </p:nvSpPr>
        <p:spPr>
          <a:xfrm>
            <a:off x="5334000" y="47625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 Oct 2025</a:t>
            </a:r>
          </a:p>
        </p:txBody>
      </p:sp>
      <p:sp>
        <p:nvSpPr>
          <p:cNvPr id="112" name="table-row-8-cell-5"/>
          <p:cNvSpPr txBox="1"/>
          <p:nvPr/>
        </p:nvSpPr>
        <p:spPr>
          <a:xfrm>
            <a:off x="6572250" y="476250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TBD</a:t>
            </a:r>
          </a:p>
        </p:txBody>
      </p:sp>
      <p:sp>
        <p:nvSpPr>
          <p:cNvPr id="113" name="table-row-8-pill"/>
          <p:cNvSpPr txBox="1"/>
          <p:nvPr/>
        </p:nvSpPr>
        <p:spPr>
          <a:xfrm>
            <a:off x="8048625" y="4762500"/>
            <a:ext cx="1343025" cy="1714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91C1C"/>
                </a:solidFill>
                <a:latin typeface="Inter"/>
              </a:rPr>
              <a:t>DELAYED</a:t>
            </a:r>
          </a:p>
        </p:txBody>
      </p:sp>
      <p:sp>
        <p:nvSpPr>
          <p:cNvPr id="114" name="table-row-8-rag-dot"/>
          <p:cNvSpPr/>
          <p:nvPr/>
        </p:nvSpPr>
        <p:spPr>
          <a:xfrm>
            <a:off x="8086725" y="4810125"/>
            <a:ext cx="57150" cy="571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5" name="table-row-8-pct-label"/>
          <p:cNvSpPr txBox="1"/>
          <p:nvPr/>
        </p:nvSpPr>
        <p:spPr>
          <a:xfrm>
            <a:off x="11258550" y="47625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0%</a:t>
            </a:r>
          </a:p>
        </p:txBody>
      </p:sp>
      <p:sp>
        <p:nvSpPr>
          <p:cNvPr id="116" name="table-row-8-bar-bg"/>
          <p:cNvSpPr/>
          <p:nvPr/>
        </p:nvSpPr>
        <p:spPr>
          <a:xfrm>
            <a:off x="9505950" y="4819650"/>
            <a:ext cx="1714500" cy="571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7" name="table-row-9-divider"/>
          <p:cNvSpPr/>
          <p:nvPr/>
        </p:nvSpPr>
        <p:spPr>
          <a:xfrm>
            <a:off x="457200" y="5105400"/>
            <a:ext cx="112776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8" name="table-row-9-num"/>
          <p:cNvSpPr txBox="1"/>
          <p:nvPr/>
        </p:nvSpPr>
        <p:spPr>
          <a:xfrm>
            <a:off x="457200" y="51816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09</a:t>
            </a:r>
          </a:p>
        </p:txBody>
      </p:sp>
      <p:sp>
        <p:nvSpPr>
          <p:cNvPr id="119" name="table-row-9-cell-2"/>
          <p:cNvSpPr txBox="1"/>
          <p:nvPr/>
        </p:nvSpPr>
        <p:spPr>
          <a:xfrm>
            <a:off x="981075" y="518160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Phase 3 planning</a:t>
            </a:r>
          </a:p>
        </p:txBody>
      </p:sp>
      <p:sp>
        <p:nvSpPr>
          <p:cNvPr id="120" name="table-row-9-ws-dot"/>
          <p:cNvSpPr/>
          <p:nvPr/>
        </p:nvSpPr>
        <p:spPr>
          <a:xfrm>
            <a:off x="4019550" y="5238750"/>
            <a:ext cx="76200" cy="76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1" name="table-row-9-cell-3"/>
          <p:cNvSpPr txBox="1"/>
          <p:nvPr/>
        </p:nvSpPr>
        <p:spPr>
          <a:xfrm>
            <a:off x="4152900" y="51816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Program</a:t>
            </a:r>
          </a:p>
        </p:txBody>
      </p:sp>
      <p:sp>
        <p:nvSpPr>
          <p:cNvPr id="122" name="table-row-9-cell-4"/>
          <p:cNvSpPr txBox="1"/>
          <p:nvPr/>
        </p:nvSpPr>
        <p:spPr>
          <a:xfrm>
            <a:off x="5334000" y="51816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1 Nov 2025</a:t>
            </a:r>
          </a:p>
        </p:txBody>
      </p:sp>
      <p:sp>
        <p:nvSpPr>
          <p:cNvPr id="123" name="table-row-9-cell-5"/>
          <p:cNvSpPr txBox="1"/>
          <p:nvPr/>
        </p:nvSpPr>
        <p:spPr>
          <a:xfrm>
            <a:off x="6572250" y="518160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TBD</a:t>
            </a:r>
          </a:p>
        </p:txBody>
      </p:sp>
      <p:sp>
        <p:nvSpPr>
          <p:cNvPr id="124" name="table-row-9-pill"/>
          <p:cNvSpPr txBox="1"/>
          <p:nvPr/>
        </p:nvSpPr>
        <p:spPr>
          <a:xfrm>
            <a:off x="8048625" y="5181600"/>
            <a:ext cx="1343025" cy="1714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NOT STARTED</a:t>
            </a:r>
          </a:p>
        </p:txBody>
      </p:sp>
      <p:sp>
        <p:nvSpPr>
          <p:cNvPr id="125" name="table-row-9-rag-dot"/>
          <p:cNvSpPr/>
          <p:nvPr/>
        </p:nvSpPr>
        <p:spPr>
          <a:xfrm>
            <a:off x="8086725" y="5229225"/>
            <a:ext cx="5715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6" name="table-row-9-pct-label"/>
          <p:cNvSpPr txBox="1"/>
          <p:nvPr/>
        </p:nvSpPr>
        <p:spPr>
          <a:xfrm>
            <a:off x="11258550" y="51816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0%</a:t>
            </a:r>
          </a:p>
        </p:txBody>
      </p:sp>
      <p:sp>
        <p:nvSpPr>
          <p:cNvPr id="127" name="table-row-9-bar-bg"/>
          <p:cNvSpPr/>
          <p:nvPr/>
        </p:nvSpPr>
        <p:spPr>
          <a:xfrm>
            <a:off x="9505950" y="5238750"/>
            <a:ext cx="1714500" cy="571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8" name="table-row-10-bg"/>
          <p:cNvSpPr/>
          <p:nvPr/>
        </p:nvSpPr>
        <p:spPr>
          <a:xfrm>
            <a:off x="457200" y="5524500"/>
            <a:ext cx="11277600" cy="419100"/>
          </a:xfrm>
          <a:prstGeom prst="rect">
            <a:avLst/>
          </a:prstGeom>
          <a:solidFill>
            <a:srgbClr val="FB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0" name="table-row-10-num"/>
          <p:cNvSpPr txBox="1"/>
          <p:nvPr/>
        </p:nvSpPr>
        <p:spPr>
          <a:xfrm>
            <a:off x="457200" y="5600700"/>
            <a:ext cx="4476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10</a:t>
            </a:r>
          </a:p>
        </p:txBody>
      </p:sp>
      <p:sp>
        <p:nvSpPr>
          <p:cNvPr id="131" name="table-row-10-cell-2"/>
          <p:cNvSpPr txBox="1"/>
          <p:nvPr/>
        </p:nvSpPr>
        <p:spPr>
          <a:xfrm>
            <a:off x="981075" y="5600700"/>
            <a:ext cx="28860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Program closure</a:t>
            </a:r>
          </a:p>
        </p:txBody>
      </p:sp>
      <p:sp>
        <p:nvSpPr>
          <p:cNvPr id="132" name="table-row-10-ws-dot"/>
          <p:cNvSpPr/>
          <p:nvPr/>
        </p:nvSpPr>
        <p:spPr>
          <a:xfrm>
            <a:off x="4019550" y="5657850"/>
            <a:ext cx="762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3" name="table-row-10-cell-3"/>
          <p:cNvSpPr txBox="1"/>
          <p:nvPr/>
        </p:nvSpPr>
        <p:spPr>
          <a:xfrm>
            <a:off x="4152900" y="5600700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All</a:t>
            </a:r>
          </a:p>
        </p:txBody>
      </p:sp>
      <p:sp>
        <p:nvSpPr>
          <p:cNvPr id="134" name="table-row-10-cell-4"/>
          <p:cNvSpPr txBox="1"/>
          <p:nvPr/>
        </p:nvSpPr>
        <p:spPr>
          <a:xfrm>
            <a:off x="5334000" y="56007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31 Mar 2026</a:t>
            </a:r>
          </a:p>
        </p:txBody>
      </p:sp>
      <p:sp>
        <p:nvSpPr>
          <p:cNvPr id="135" name="table-row-10-cell-5"/>
          <p:cNvSpPr txBox="1"/>
          <p:nvPr/>
        </p:nvSpPr>
        <p:spPr>
          <a:xfrm>
            <a:off x="6572250" y="5600700"/>
            <a:ext cx="13811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TBD</a:t>
            </a:r>
          </a:p>
        </p:txBody>
      </p:sp>
      <p:sp>
        <p:nvSpPr>
          <p:cNvPr id="136" name="table-row-10-pill"/>
          <p:cNvSpPr txBox="1"/>
          <p:nvPr/>
        </p:nvSpPr>
        <p:spPr>
          <a:xfrm>
            <a:off x="8048625" y="5600700"/>
            <a:ext cx="1343025" cy="1714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tIns="19050" rIns="38100" bIns="19050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NOT STARTED</a:t>
            </a:r>
          </a:p>
        </p:txBody>
      </p:sp>
      <p:sp>
        <p:nvSpPr>
          <p:cNvPr id="137" name="table-row-10-rag-dot"/>
          <p:cNvSpPr/>
          <p:nvPr/>
        </p:nvSpPr>
        <p:spPr>
          <a:xfrm>
            <a:off x="8086725" y="5648325"/>
            <a:ext cx="57150" cy="5715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8" name="table-row-10-pct-label"/>
          <p:cNvSpPr txBox="1"/>
          <p:nvPr/>
        </p:nvSpPr>
        <p:spPr>
          <a:xfrm>
            <a:off x="11258550" y="5600700"/>
            <a:ext cx="419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0%</a:t>
            </a:r>
          </a:p>
        </p:txBody>
      </p:sp>
      <p:sp>
        <p:nvSpPr>
          <p:cNvPr id="139" name="table-row-10-bar-bg"/>
          <p:cNvSpPr/>
          <p:nvPr/>
        </p:nvSpPr>
        <p:spPr>
          <a:xfrm>
            <a:off x="9505950" y="5657850"/>
            <a:ext cx="1714500" cy="57150"/>
          </a:xfrm>
          <a:prstGeom prst="rect">
            <a:avLst/>
          </a:prstGeom>
          <a:solidFill>
            <a:srgbClr val="ED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0" name="convergence-bg"/>
          <p:cNvSpPr/>
          <p:nvPr/>
        </p:nvSpPr>
        <p:spPr>
          <a:xfrm>
            <a:off x="457200" y="6134100"/>
            <a:ext cx="11277600" cy="381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1" name="convergence-mark"/>
          <p:cNvSpPr txBox="1"/>
          <p:nvPr/>
        </p:nvSpPr>
        <p:spPr>
          <a:xfrm>
            <a:off x="571500" y="6248400"/>
            <a:ext cx="10477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CRITICAL PATH</a:t>
            </a:r>
          </a:p>
        </p:txBody>
      </p:sp>
      <p:sp>
        <p:nvSpPr>
          <p:cNvPr id="142" name="convergence"/>
          <p:cNvSpPr txBox="1"/>
          <p:nvPr/>
        </p:nvSpPr>
        <p:spPr>
          <a:xfrm>
            <a:off x="1752600" y="6134100"/>
            <a:ext cx="99822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Integration testing is the critical path risk — Phase 2 go-live slides to Q4 2025 if not resolved by Week 3.</a:t>
            </a:r>
          </a:p>
        </p:txBody>
      </p:sp>
      <p:sp>
        <p:nvSpPr>
          <p:cNvPr id="14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4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4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