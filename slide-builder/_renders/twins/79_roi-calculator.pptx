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1A1A2E"/>
                </a:solidFill>
                <a:latin typeface="Inter"/>
              </a:rPr>
              <a:t>Slide Lab pilot ROI — </a:t>
            </a:r>
            <a:r>
              <a:rPr sz="1800" b="1" i="0">
                <a:solidFill>
                  <a:srgbClr val="2D0A4E"/>
                </a:solidFill>
                <a:latin typeface="Inter"/>
              </a:rPr>
              <a:t>24× return, payback in two weeks.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33450"/>
            <a:ext cx="1097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Conservative assumptions: 30 senior consultants, 50 decks each per year, 9 hours saved per deck at $150/hr loaded rate.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inputs-label"/>
          <p:cNvSpPr txBox="1"/>
          <p:nvPr/>
        </p:nvSpPr>
        <p:spPr>
          <a:xfrm>
            <a:off x="609600" y="1866900"/>
            <a:ext cx="2743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INPUTS · ASSUMPTIONS</a:t>
            </a:r>
          </a:p>
        </p:txBody>
      </p:sp>
      <p:sp>
        <p:nvSpPr>
          <p:cNvPr id="6" name="calc-label"/>
          <p:cNvSpPr txBox="1"/>
          <p:nvPr/>
        </p:nvSpPr>
        <p:spPr>
          <a:xfrm>
            <a:off x="3752850" y="1866900"/>
            <a:ext cx="3857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CALCULATION · THE MATH</a:t>
            </a:r>
          </a:p>
        </p:txBody>
      </p:sp>
      <p:sp>
        <p:nvSpPr>
          <p:cNvPr id="7" name="result-label"/>
          <p:cNvSpPr txBox="1"/>
          <p:nvPr/>
        </p:nvSpPr>
        <p:spPr>
          <a:xfrm>
            <a:off x="8010525" y="1866900"/>
            <a:ext cx="3571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RESULT · THE RETURN</a:t>
            </a:r>
          </a:p>
        </p:txBody>
      </p:sp>
      <p:sp>
        <p:nvSpPr>
          <p:cNvPr id="8" name="inputs-bg"/>
          <p:cNvSpPr/>
          <p:nvPr/>
        </p:nvSpPr>
        <p:spPr>
          <a:xfrm>
            <a:off x="609600" y="2133600"/>
            <a:ext cx="2609850" cy="3581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inputs-accent"/>
          <p:cNvSpPr/>
          <p:nvPr/>
        </p:nvSpPr>
        <p:spPr>
          <a:xfrm>
            <a:off x="609600" y="2133600"/>
            <a:ext cx="28575" cy="3581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input-1-rule"/>
          <p:cNvSpPr/>
          <p:nvPr/>
        </p:nvSpPr>
        <p:spPr>
          <a:xfrm>
            <a:off x="781050" y="2895600"/>
            <a:ext cx="2266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input-1-label"/>
          <p:cNvSpPr txBox="1"/>
          <p:nvPr/>
        </p:nvSpPr>
        <p:spPr>
          <a:xfrm>
            <a:off x="781050" y="2286000"/>
            <a:ext cx="140017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Senior consultants in scope</a:t>
            </a:r>
          </a:p>
        </p:txBody>
      </p:sp>
      <p:sp>
        <p:nvSpPr>
          <p:cNvPr id="12" name="input-1-value"/>
          <p:cNvSpPr txBox="1"/>
          <p:nvPr/>
        </p:nvSpPr>
        <p:spPr>
          <a:xfrm>
            <a:off x="2181225" y="22860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30</a:t>
            </a:r>
          </a:p>
        </p:txBody>
      </p:sp>
      <p:sp>
        <p:nvSpPr>
          <p:cNvPr id="13" name="input-2-rule"/>
          <p:cNvSpPr/>
          <p:nvPr/>
        </p:nvSpPr>
        <p:spPr>
          <a:xfrm>
            <a:off x="781050" y="3543300"/>
            <a:ext cx="2266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input-2-label"/>
          <p:cNvSpPr txBox="1"/>
          <p:nvPr/>
        </p:nvSpPr>
        <p:spPr>
          <a:xfrm>
            <a:off x="781050" y="2933700"/>
            <a:ext cx="140017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Decks per consultant per year</a:t>
            </a:r>
          </a:p>
        </p:txBody>
      </p:sp>
      <p:sp>
        <p:nvSpPr>
          <p:cNvPr id="15" name="input-2-value"/>
          <p:cNvSpPr txBox="1"/>
          <p:nvPr/>
        </p:nvSpPr>
        <p:spPr>
          <a:xfrm>
            <a:off x="2181225" y="29337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50</a:t>
            </a:r>
          </a:p>
        </p:txBody>
      </p:sp>
      <p:sp>
        <p:nvSpPr>
          <p:cNvPr id="16" name="input-3-rule"/>
          <p:cNvSpPr/>
          <p:nvPr/>
        </p:nvSpPr>
        <p:spPr>
          <a:xfrm>
            <a:off x="781050" y="4191000"/>
            <a:ext cx="2266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input-3-label"/>
          <p:cNvSpPr txBox="1"/>
          <p:nvPr/>
        </p:nvSpPr>
        <p:spPr>
          <a:xfrm>
            <a:off x="781050" y="3581400"/>
            <a:ext cx="140017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Hours saved per deck</a:t>
            </a:r>
          </a:p>
        </p:txBody>
      </p:sp>
      <p:sp>
        <p:nvSpPr>
          <p:cNvPr id="18" name="input-3-value"/>
          <p:cNvSpPr txBox="1"/>
          <p:nvPr/>
        </p:nvSpPr>
        <p:spPr>
          <a:xfrm>
            <a:off x="2181225" y="35814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</a:t>
            </a:r>
          </a:p>
        </p:txBody>
      </p:sp>
      <p:sp>
        <p:nvSpPr>
          <p:cNvPr id="19" name="input-4-rule"/>
          <p:cNvSpPr/>
          <p:nvPr/>
        </p:nvSpPr>
        <p:spPr>
          <a:xfrm>
            <a:off x="781050" y="4838700"/>
            <a:ext cx="2266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input-4-label"/>
          <p:cNvSpPr txBox="1"/>
          <p:nvPr/>
        </p:nvSpPr>
        <p:spPr>
          <a:xfrm>
            <a:off x="781050" y="4229100"/>
            <a:ext cx="140017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Loaded hourly rate</a:t>
            </a:r>
          </a:p>
        </p:txBody>
      </p:sp>
      <p:sp>
        <p:nvSpPr>
          <p:cNvPr id="21" name="input-4-value"/>
          <p:cNvSpPr txBox="1"/>
          <p:nvPr/>
        </p:nvSpPr>
        <p:spPr>
          <a:xfrm>
            <a:off x="2181225" y="42291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$150</a:t>
            </a:r>
          </a:p>
        </p:txBody>
      </p:sp>
      <p:sp>
        <p:nvSpPr>
          <p:cNvPr id="22" name="input-5-rule"/>
          <p:cNvSpPr/>
          <p:nvPr/>
        </p:nvSpPr>
        <p:spPr>
          <a:xfrm>
            <a:off x="781050" y="4838700"/>
            <a:ext cx="2266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input-5-label"/>
          <p:cNvSpPr txBox="1"/>
          <p:nvPr/>
        </p:nvSpPr>
        <p:spPr>
          <a:xfrm>
            <a:off x="781050" y="4876800"/>
            <a:ext cx="140017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 investment (Y1)</a:t>
            </a:r>
          </a:p>
        </p:txBody>
      </p:sp>
      <p:sp>
        <p:nvSpPr>
          <p:cNvPr id="24" name="input-5-value"/>
          <p:cNvSpPr txBox="1"/>
          <p:nvPr/>
        </p:nvSpPr>
        <p:spPr>
          <a:xfrm>
            <a:off x="2181225" y="4876800"/>
            <a:ext cx="8572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$80K</a:t>
            </a:r>
          </a:p>
        </p:txBody>
      </p:sp>
      <p:sp>
        <p:nvSpPr>
          <p:cNvPr id="25" name="arrow-1-head"/>
          <p:cNvSpPr/>
          <p:nvPr/>
        </p:nvSpPr>
        <p:spPr>
          <a:xfrm>
            <a:off x="3371850" y="3819525"/>
            <a:ext cx="361950" cy="209550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lc-1-bg"/>
          <p:cNvSpPr/>
          <p:nvPr/>
        </p:nvSpPr>
        <p:spPr>
          <a:xfrm>
            <a:off x="3810000" y="2133600"/>
            <a:ext cx="37433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lc-1-formula"/>
          <p:cNvSpPr txBox="1"/>
          <p:nvPr/>
        </p:nvSpPr>
        <p:spPr>
          <a:xfrm>
            <a:off x="3924300" y="2190750"/>
            <a:ext cx="3514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30 × 50 = 1,500</a:t>
            </a:r>
          </a:p>
        </p:txBody>
      </p:sp>
      <p:sp>
        <p:nvSpPr>
          <p:cNvPr id="28" name="calc-1-caption"/>
          <p:cNvSpPr txBox="1"/>
          <p:nvPr/>
        </p:nvSpPr>
        <p:spPr>
          <a:xfrm>
            <a:off x="3924300" y="2419350"/>
            <a:ext cx="3514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DECKS PRODUCED PER YEAR</a:t>
            </a:r>
          </a:p>
        </p:txBody>
      </p:sp>
      <p:sp>
        <p:nvSpPr>
          <p:cNvPr id="29" name="calc-1-arrow"/>
          <p:cNvSpPr/>
          <p:nvPr/>
        </p:nvSpPr>
        <p:spPr>
          <a:xfrm>
            <a:off x="5610225" y="2924175"/>
            <a:ext cx="133350" cy="76200"/>
          </a:xfrm>
          <a:prstGeom prst="downArrow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lc-2-bg"/>
          <p:cNvSpPr/>
          <p:nvPr/>
        </p:nvSpPr>
        <p:spPr>
          <a:xfrm>
            <a:off x="3810000" y="2990850"/>
            <a:ext cx="37433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lc-2-formula"/>
          <p:cNvSpPr txBox="1"/>
          <p:nvPr/>
        </p:nvSpPr>
        <p:spPr>
          <a:xfrm>
            <a:off x="3924300" y="3048000"/>
            <a:ext cx="3514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1,500 × 9 = 13,500 hr</a:t>
            </a:r>
          </a:p>
        </p:txBody>
      </p:sp>
      <p:sp>
        <p:nvSpPr>
          <p:cNvPr id="32" name="calc-2-caption"/>
          <p:cNvSpPr txBox="1"/>
          <p:nvPr/>
        </p:nvSpPr>
        <p:spPr>
          <a:xfrm>
            <a:off x="3924300" y="3276600"/>
            <a:ext cx="3514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CONSULTANT HOURS SAVED PER YEAR</a:t>
            </a:r>
          </a:p>
        </p:txBody>
      </p:sp>
      <p:sp>
        <p:nvSpPr>
          <p:cNvPr id="33" name="calc-2-arrow"/>
          <p:cNvSpPr/>
          <p:nvPr/>
        </p:nvSpPr>
        <p:spPr>
          <a:xfrm>
            <a:off x="5610225" y="3781425"/>
            <a:ext cx="133350" cy="76200"/>
          </a:xfrm>
          <a:prstGeom prst="downArrow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lc-3-bg"/>
          <p:cNvSpPr/>
          <p:nvPr/>
        </p:nvSpPr>
        <p:spPr>
          <a:xfrm>
            <a:off x="3810000" y="3848100"/>
            <a:ext cx="37433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lc-3-formula"/>
          <p:cNvSpPr txBox="1"/>
          <p:nvPr/>
        </p:nvSpPr>
        <p:spPr>
          <a:xfrm>
            <a:off x="3924300" y="3905250"/>
            <a:ext cx="3514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13,500 × $150 = $2.025M</a:t>
            </a:r>
          </a:p>
        </p:txBody>
      </p:sp>
      <p:sp>
        <p:nvSpPr>
          <p:cNvPr id="36" name="calc-3-caption"/>
          <p:cNvSpPr txBox="1"/>
          <p:nvPr/>
        </p:nvSpPr>
        <p:spPr>
          <a:xfrm>
            <a:off x="3924300" y="4133850"/>
            <a:ext cx="3514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GROSS VALUE CREATED PER YEAR</a:t>
            </a:r>
          </a:p>
        </p:txBody>
      </p:sp>
      <p:sp>
        <p:nvSpPr>
          <p:cNvPr id="37" name="calc-3-arrow"/>
          <p:cNvSpPr/>
          <p:nvPr/>
        </p:nvSpPr>
        <p:spPr>
          <a:xfrm>
            <a:off x="5610225" y="4638675"/>
            <a:ext cx="133350" cy="76200"/>
          </a:xfrm>
          <a:prstGeom prst="downArrow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lc-4-bg"/>
          <p:cNvSpPr/>
          <p:nvPr/>
        </p:nvSpPr>
        <p:spPr>
          <a:xfrm>
            <a:off x="3810000" y="4705350"/>
            <a:ext cx="37433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alc-4-formula"/>
          <p:cNvSpPr txBox="1"/>
          <p:nvPr/>
        </p:nvSpPr>
        <p:spPr>
          <a:xfrm>
            <a:off x="3924300" y="4762500"/>
            <a:ext cx="3514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$2.025M − $80K = $1.945M</a:t>
            </a:r>
          </a:p>
        </p:txBody>
      </p:sp>
      <p:sp>
        <p:nvSpPr>
          <p:cNvPr id="40" name="calc-4-caption"/>
          <p:cNvSpPr txBox="1"/>
          <p:nvPr/>
        </p:nvSpPr>
        <p:spPr>
          <a:xfrm>
            <a:off x="3924300" y="4991100"/>
            <a:ext cx="3514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NET VALUE, YEAR 1</a:t>
            </a:r>
          </a:p>
        </p:txBody>
      </p:sp>
      <p:sp>
        <p:nvSpPr>
          <p:cNvPr id="41" name="arrow-2-head"/>
          <p:cNvSpPr/>
          <p:nvPr/>
        </p:nvSpPr>
        <p:spPr>
          <a:xfrm>
            <a:off x="7629525" y="3819525"/>
            <a:ext cx="361950" cy="209550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esult-bg"/>
          <p:cNvSpPr/>
          <p:nvPr/>
        </p:nvSpPr>
        <p:spPr>
          <a:xfrm>
            <a:off x="8143875" y="2133600"/>
            <a:ext cx="3438525" cy="3581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esult-accent"/>
          <p:cNvSpPr/>
          <p:nvPr/>
        </p:nvSpPr>
        <p:spPr>
          <a:xfrm>
            <a:off x="11544300" y="2133600"/>
            <a:ext cx="38100" cy="3581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esult-eyebrow"/>
          <p:cNvSpPr txBox="1"/>
          <p:nvPr/>
        </p:nvSpPr>
        <p:spPr>
          <a:xfrm>
            <a:off x="8353425" y="2305050"/>
            <a:ext cx="3019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YEAR 1 ROI</a:t>
            </a:r>
          </a:p>
        </p:txBody>
      </p:sp>
      <p:sp>
        <p:nvSpPr>
          <p:cNvPr id="45" name="result-roi-number"/>
          <p:cNvSpPr txBox="1"/>
          <p:nvPr/>
        </p:nvSpPr>
        <p:spPr>
          <a:xfrm>
            <a:off x="8353425" y="2495550"/>
            <a:ext cx="3019425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800" b="1" i="0">
                <a:solidFill>
                  <a:srgbClr val="FFFFFF"/>
                </a:solidFill>
                <a:latin typeface="Inter"/>
              </a:rPr>
              <a:t>24×</a:t>
            </a:r>
          </a:p>
        </p:txBody>
      </p:sp>
      <p:sp>
        <p:nvSpPr>
          <p:cNvPr id="46" name="result-roi-label"/>
          <p:cNvSpPr txBox="1"/>
          <p:nvPr/>
        </p:nvSpPr>
        <p:spPr>
          <a:xfrm>
            <a:off x="8353425" y="3352800"/>
            <a:ext cx="30194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DE5"/>
                </a:solidFill>
                <a:latin typeface="Inter"/>
              </a:rPr>
              <a:t>net return on $80K invested</a:t>
            </a:r>
          </a:p>
        </p:txBody>
      </p:sp>
      <p:sp>
        <p:nvSpPr>
          <p:cNvPr id="47" name="result-divider"/>
          <p:cNvSpPr/>
          <p:nvPr/>
        </p:nvSpPr>
        <p:spPr>
          <a:xfrm>
            <a:off x="8353425" y="3619500"/>
            <a:ext cx="3019425" cy="9525"/>
          </a:xfrm>
          <a:prstGeom prst="rect">
            <a:avLst/>
          </a:prstGeom>
          <a:solidFill>
            <a:srgbClr val="BFB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payback-value"/>
          <p:cNvSpPr txBox="1"/>
          <p:nvPr/>
        </p:nvSpPr>
        <p:spPr>
          <a:xfrm>
            <a:off x="8353425" y="3733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C780FF"/>
                </a:solidFill>
                <a:latin typeface="Inter"/>
              </a:rPr>
              <a:t>~2 wks</a:t>
            </a:r>
          </a:p>
        </p:txBody>
      </p:sp>
      <p:sp>
        <p:nvSpPr>
          <p:cNvPr id="49" name="payback-label"/>
          <p:cNvSpPr txBox="1"/>
          <p:nvPr/>
        </p:nvSpPr>
        <p:spPr>
          <a:xfrm>
            <a:off x="9172575" y="3771900"/>
            <a:ext cx="2200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DE5"/>
                </a:solidFill>
                <a:latin typeface="Inter"/>
              </a:rPr>
              <a:t>payback period on cumulative savings</a:t>
            </a:r>
          </a:p>
        </p:txBody>
      </p:sp>
      <p:sp>
        <p:nvSpPr>
          <p:cNvPr id="50" name="breakdown-title"/>
          <p:cNvSpPr txBox="1"/>
          <p:nvPr/>
        </p:nvSpPr>
        <p:spPr>
          <a:xfrm>
            <a:off x="8353425" y="4876800"/>
            <a:ext cx="3019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FB2CE"/>
                </a:solidFill>
                <a:latin typeface="Inter"/>
              </a:rPr>
              <a:t>BREAKDOWN</a:t>
            </a:r>
          </a:p>
        </p:txBody>
      </p:sp>
      <p:sp>
        <p:nvSpPr>
          <p:cNvPr id="51" name="breakdown-1-lbl"/>
          <p:cNvSpPr txBox="1"/>
          <p:nvPr/>
        </p:nvSpPr>
        <p:spPr>
          <a:xfrm>
            <a:off x="8353425" y="5067300"/>
            <a:ext cx="1885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DE5"/>
                </a:solidFill>
                <a:latin typeface="Inter"/>
              </a:rPr>
              <a:t>Gross value (Y1)</a:t>
            </a:r>
          </a:p>
        </p:txBody>
      </p:sp>
      <p:sp>
        <p:nvSpPr>
          <p:cNvPr id="52" name="breakdown-1-val"/>
          <p:cNvSpPr txBox="1"/>
          <p:nvPr/>
        </p:nvSpPr>
        <p:spPr>
          <a:xfrm>
            <a:off x="10629900" y="50673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$2.025M</a:t>
            </a:r>
          </a:p>
        </p:txBody>
      </p:sp>
      <p:sp>
        <p:nvSpPr>
          <p:cNvPr id="53" name="breakdown-2-lbl"/>
          <p:cNvSpPr txBox="1"/>
          <p:nvPr/>
        </p:nvSpPr>
        <p:spPr>
          <a:xfrm>
            <a:off x="8353425" y="5238750"/>
            <a:ext cx="1885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DE5"/>
                </a:solidFill>
                <a:latin typeface="Inter"/>
              </a:rPr>
              <a:t>Pilot investment</a:t>
            </a:r>
          </a:p>
        </p:txBody>
      </p:sp>
      <p:sp>
        <p:nvSpPr>
          <p:cNvPr id="54" name="breakdown-2-val"/>
          <p:cNvSpPr txBox="1"/>
          <p:nvPr/>
        </p:nvSpPr>
        <p:spPr>
          <a:xfrm>
            <a:off x="10629900" y="52387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$80K</a:t>
            </a:r>
          </a:p>
        </p:txBody>
      </p:sp>
      <p:sp>
        <p:nvSpPr>
          <p:cNvPr id="55" name="breakdown-3-lbl"/>
          <p:cNvSpPr txBox="1"/>
          <p:nvPr/>
        </p:nvSpPr>
        <p:spPr>
          <a:xfrm>
            <a:off x="8353425" y="5410200"/>
            <a:ext cx="1885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DE5"/>
                </a:solidFill>
                <a:latin typeface="Inter"/>
              </a:rPr>
              <a:t>Net value (Y1)</a:t>
            </a:r>
          </a:p>
        </p:txBody>
      </p:sp>
      <p:sp>
        <p:nvSpPr>
          <p:cNvPr id="56" name="breakdown-3-val"/>
          <p:cNvSpPr txBox="1"/>
          <p:nvPr/>
        </p:nvSpPr>
        <p:spPr>
          <a:xfrm>
            <a:off x="10629900" y="5410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$1.945M</a:t>
            </a:r>
          </a:p>
        </p:txBody>
      </p:sp>
      <p:sp>
        <p:nvSpPr>
          <p:cNvPr id="57" name="convergence-bg"/>
          <p:cNvSpPr/>
          <p:nvPr/>
        </p:nvSpPr>
        <p:spPr>
          <a:xfrm>
            <a:off x="609600" y="5848350"/>
            <a:ext cx="10972800" cy="3238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nvergence"/>
          <p:cNvSpPr txBox="1"/>
          <p:nvPr/>
        </p:nvSpPr>
        <p:spPr>
          <a:xfrm>
            <a:off x="762000" y="584835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pilot pays for itself inside the first month — everything after that is </a:t>
            </a:r>
            <a:r>
              <a:rPr sz="1050" b="1" i="1">
                <a:solidFill>
                  <a:srgbClr val="C780FF"/>
                </a:solidFill>
                <a:latin typeface="Inter"/>
              </a:rPr>
              <a:t>net upside</a:t>
            </a:r>
            <a:r>
              <a:rPr sz="1050" b="0" i="1">
                <a:solidFill>
                  <a:srgbClr val="FFFFFF"/>
                </a:solidFill>
                <a:latin typeface="Inter"/>
              </a:rPr>
              <a:t>, and the model compounds as adoption widens.</a:t>
            </a:r>
          </a:p>
        </p:txBody>
      </p:sp>
      <p:sp>
        <p:nvSpPr>
          <p:cNvPr id="5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