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Employee trust is 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new performance currency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Survey data shows alignment between leadership sentiment and workforce confidence scores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ote-card"/>
          <p:cNvSpPr/>
          <p:nvPr/>
        </p:nvSpPr>
        <p:spPr>
          <a:xfrm>
            <a:off x="457200" y="1485900"/>
            <a:ext cx="4400550" cy="46863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accent"/>
          <p:cNvSpPr/>
          <p:nvPr/>
        </p:nvSpPr>
        <p:spPr>
          <a:xfrm>
            <a:off x="457200" y="1485900"/>
            <a:ext cx="38100" cy="4686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ote-mark"/>
          <p:cNvSpPr txBox="1"/>
          <p:nvPr/>
        </p:nvSpPr>
        <p:spPr>
          <a:xfrm>
            <a:off x="685800" y="160020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8" name="quote-text"/>
          <p:cNvSpPr txBox="1"/>
          <p:nvPr/>
        </p:nvSpPr>
        <p:spPr>
          <a:xfrm>
            <a:off x="685800" y="2228850"/>
            <a:ext cx="394335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0" i="1">
                <a:solidFill>
                  <a:srgbClr val="5C2D87"/>
                </a:solidFill>
                <a:latin typeface="Inter"/>
              </a:rPr>
              <a:t>When people trust that their leaders are being honest with them, performance outcomes follow naturally. Culture isn't a soft metric — it's the leading indicator every board should be watching.</a:t>
            </a:r>
          </a:p>
        </p:txBody>
      </p:sp>
      <p:sp>
        <p:nvSpPr>
          <p:cNvPr id="9" name="quote-attribution-name"/>
          <p:cNvSpPr txBox="1"/>
          <p:nvPr/>
        </p:nvSpPr>
        <p:spPr>
          <a:xfrm>
            <a:off x="685800" y="5715000"/>
            <a:ext cx="39433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Sarah Okonkwo</a:t>
            </a:r>
          </a:p>
        </p:txBody>
      </p:sp>
      <p:sp>
        <p:nvSpPr>
          <p:cNvPr id="10" name="quote-attribution-role"/>
          <p:cNvSpPr txBox="1"/>
          <p:nvPr/>
        </p:nvSpPr>
        <p:spPr>
          <a:xfrm>
            <a:off x="685800" y="5886450"/>
            <a:ext cx="39433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Chief People Officer, Global Enterprise Survey 2026</a:t>
            </a:r>
          </a:p>
        </p:txBody>
      </p:sp>
      <p:sp>
        <p:nvSpPr>
          <p:cNvPr id="11" name="chart-title"/>
          <p:cNvSpPr txBox="1"/>
          <p:nvPr/>
        </p:nvSpPr>
        <p:spPr>
          <a:xfrm>
            <a:off x="5124450" y="1485900"/>
            <a:ext cx="6610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% Employees who strongly agree — Workforce Confidence Survey 2026 (n = 4,200)</a:t>
            </a:r>
          </a:p>
        </p:txBody>
      </p:sp>
      <p:sp>
        <p:nvSpPr>
          <p:cNvPr id="12" name="bar-1-label"/>
          <p:cNvSpPr txBox="1"/>
          <p:nvPr/>
        </p:nvSpPr>
        <p:spPr>
          <a:xfrm>
            <a:off x="5124450" y="209550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Leadership communicates openly</a:t>
            </a:r>
          </a:p>
        </p:txBody>
      </p:sp>
      <p:sp>
        <p:nvSpPr>
          <p:cNvPr id="13" name="bar-1-track"/>
          <p:cNvSpPr/>
          <p:nvPr/>
        </p:nvSpPr>
        <p:spPr>
          <a:xfrm>
            <a:off x="6838950" y="2095500"/>
            <a:ext cx="4419600" cy="2095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ar-1-bar"/>
          <p:cNvSpPr/>
          <p:nvPr/>
        </p:nvSpPr>
        <p:spPr>
          <a:xfrm>
            <a:off x="6838950" y="2095500"/>
            <a:ext cx="343852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r-1-val"/>
          <p:cNvSpPr txBox="1"/>
          <p:nvPr/>
        </p:nvSpPr>
        <p:spPr>
          <a:xfrm>
            <a:off x="10334625" y="209550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78%</a:t>
            </a:r>
          </a:p>
        </p:txBody>
      </p:sp>
      <p:sp>
        <p:nvSpPr>
          <p:cNvPr id="16" name="bar-2-label"/>
          <p:cNvSpPr txBox="1"/>
          <p:nvPr/>
        </p:nvSpPr>
        <p:spPr>
          <a:xfrm>
            <a:off x="5124450" y="2924175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 trust my direct manager</a:t>
            </a:r>
          </a:p>
        </p:txBody>
      </p:sp>
      <p:sp>
        <p:nvSpPr>
          <p:cNvPr id="17" name="bar-2-track"/>
          <p:cNvSpPr/>
          <p:nvPr/>
        </p:nvSpPr>
        <p:spPr>
          <a:xfrm>
            <a:off x="6838950" y="2924175"/>
            <a:ext cx="4419600" cy="2095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ar-2-bar"/>
          <p:cNvSpPr/>
          <p:nvPr/>
        </p:nvSpPr>
        <p:spPr>
          <a:xfrm>
            <a:off x="6838950" y="2924175"/>
            <a:ext cx="31337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bar-2-val"/>
          <p:cNvSpPr txBox="1"/>
          <p:nvPr/>
        </p:nvSpPr>
        <p:spPr>
          <a:xfrm>
            <a:off x="10029825" y="2924175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71%</a:t>
            </a:r>
          </a:p>
        </p:txBody>
      </p:sp>
      <p:sp>
        <p:nvSpPr>
          <p:cNvPr id="20" name="bar-3-label"/>
          <p:cNvSpPr txBox="1"/>
          <p:nvPr/>
        </p:nvSpPr>
        <p:spPr>
          <a:xfrm>
            <a:off x="5124450" y="375285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Company vision is clear to me</a:t>
            </a:r>
          </a:p>
        </p:txBody>
      </p:sp>
      <p:sp>
        <p:nvSpPr>
          <p:cNvPr id="21" name="bar-3-track"/>
          <p:cNvSpPr/>
          <p:nvPr/>
        </p:nvSpPr>
        <p:spPr>
          <a:xfrm>
            <a:off x="6838950" y="3752850"/>
            <a:ext cx="4419600" cy="2095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ar-3-bar"/>
          <p:cNvSpPr/>
          <p:nvPr/>
        </p:nvSpPr>
        <p:spPr>
          <a:xfrm>
            <a:off x="6838950" y="3752850"/>
            <a:ext cx="28194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3-val"/>
          <p:cNvSpPr txBox="1"/>
          <p:nvPr/>
        </p:nvSpPr>
        <p:spPr>
          <a:xfrm>
            <a:off x="9715500" y="37528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64%</a:t>
            </a:r>
          </a:p>
        </p:txBody>
      </p:sp>
      <p:sp>
        <p:nvSpPr>
          <p:cNvPr id="24" name="bar-4-label"/>
          <p:cNvSpPr txBox="1"/>
          <p:nvPr/>
        </p:nvSpPr>
        <p:spPr>
          <a:xfrm>
            <a:off x="5124450" y="4581525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Feedback leads to real change</a:t>
            </a:r>
          </a:p>
        </p:txBody>
      </p:sp>
      <p:sp>
        <p:nvSpPr>
          <p:cNvPr id="25" name="bar-4-track"/>
          <p:cNvSpPr/>
          <p:nvPr/>
        </p:nvSpPr>
        <p:spPr>
          <a:xfrm>
            <a:off x="6838950" y="4581525"/>
            <a:ext cx="4419600" cy="2095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4-bar"/>
          <p:cNvSpPr/>
          <p:nvPr/>
        </p:nvSpPr>
        <p:spPr>
          <a:xfrm>
            <a:off x="6838950" y="4581525"/>
            <a:ext cx="22955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ar-4-val"/>
          <p:cNvSpPr txBox="1"/>
          <p:nvPr/>
        </p:nvSpPr>
        <p:spPr>
          <a:xfrm>
            <a:off x="9191625" y="4581525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52%</a:t>
            </a:r>
          </a:p>
        </p:txBody>
      </p:sp>
      <p:sp>
        <p:nvSpPr>
          <p:cNvPr id="28" name="bar-5-label"/>
          <p:cNvSpPr txBox="1"/>
          <p:nvPr/>
        </p:nvSpPr>
        <p:spPr>
          <a:xfrm>
            <a:off x="5124450" y="5410200"/>
            <a:ext cx="1638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Senior leadership walks the talk</a:t>
            </a:r>
          </a:p>
        </p:txBody>
      </p:sp>
      <p:sp>
        <p:nvSpPr>
          <p:cNvPr id="29" name="bar-5-track"/>
          <p:cNvSpPr/>
          <p:nvPr/>
        </p:nvSpPr>
        <p:spPr>
          <a:xfrm>
            <a:off x="6838950" y="5410200"/>
            <a:ext cx="4419600" cy="2095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ar-5-bar"/>
          <p:cNvSpPr/>
          <p:nvPr/>
        </p:nvSpPr>
        <p:spPr>
          <a:xfrm>
            <a:off x="6838950" y="5410200"/>
            <a:ext cx="19431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5-val"/>
          <p:cNvSpPr txBox="1"/>
          <p:nvPr/>
        </p:nvSpPr>
        <p:spPr>
          <a:xfrm>
            <a:off x="8839200" y="541020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44%</a:t>
            </a:r>
          </a:p>
        </p:txBody>
      </p:sp>
      <p:sp>
        <p:nvSpPr>
          <p:cNvPr id="32" name="x-tick-0"/>
          <p:cNvSpPr txBox="1"/>
          <p:nvPr/>
        </p:nvSpPr>
        <p:spPr>
          <a:xfrm>
            <a:off x="66484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0%</a:t>
            </a:r>
          </a:p>
        </p:txBody>
      </p:sp>
      <p:sp>
        <p:nvSpPr>
          <p:cNvPr id="33" name="x-tick-25"/>
          <p:cNvSpPr txBox="1"/>
          <p:nvPr/>
        </p:nvSpPr>
        <p:spPr>
          <a:xfrm>
            <a:off x="77533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25%</a:t>
            </a:r>
          </a:p>
        </p:txBody>
      </p:sp>
      <p:sp>
        <p:nvSpPr>
          <p:cNvPr id="34" name="x-tick-50"/>
          <p:cNvSpPr txBox="1"/>
          <p:nvPr/>
        </p:nvSpPr>
        <p:spPr>
          <a:xfrm>
            <a:off x="88582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50%</a:t>
            </a:r>
          </a:p>
        </p:txBody>
      </p:sp>
      <p:sp>
        <p:nvSpPr>
          <p:cNvPr id="35" name="x-tick-75"/>
          <p:cNvSpPr txBox="1"/>
          <p:nvPr/>
        </p:nvSpPr>
        <p:spPr>
          <a:xfrm>
            <a:off x="99631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75%</a:t>
            </a:r>
          </a:p>
        </p:txBody>
      </p:sp>
      <p:sp>
        <p:nvSpPr>
          <p:cNvPr id="36" name="x-tick-100"/>
          <p:cNvSpPr txBox="1"/>
          <p:nvPr/>
        </p:nvSpPr>
        <p:spPr>
          <a:xfrm>
            <a:off x="11068050" y="59626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100%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