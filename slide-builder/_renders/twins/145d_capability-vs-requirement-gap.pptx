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AI and UX are critical gaps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— must close before Phase 2 begins in Q3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Current team capability mapped against client requirements across 10 delivery areas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able-head-bg"/>
          <p:cNvSpPr/>
          <p:nvPr/>
        </p:nvSpPr>
        <p:spPr>
          <a:xfrm>
            <a:off x="457200" y="2095500"/>
            <a:ext cx="11277600" cy="2667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able-col-1-header"/>
          <p:cNvSpPr txBox="1"/>
          <p:nvPr/>
        </p:nvSpPr>
        <p:spPr>
          <a:xfrm>
            <a:off x="552450" y="2152650"/>
            <a:ext cx="2514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CAPABILITY AREA</a:t>
            </a:r>
          </a:p>
        </p:txBody>
      </p:sp>
      <p:sp>
        <p:nvSpPr>
          <p:cNvPr id="7" name="table-col-2-header"/>
          <p:cNvSpPr txBox="1"/>
          <p:nvPr/>
        </p:nvSpPr>
        <p:spPr>
          <a:xfrm>
            <a:off x="3257550" y="2152650"/>
            <a:ext cx="16097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REQUIRED LEVEL</a:t>
            </a:r>
          </a:p>
        </p:txBody>
      </p:sp>
      <p:sp>
        <p:nvSpPr>
          <p:cNvPr id="8" name="table-col-3-header"/>
          <p:cNvSpPr txBox="1"/>
          <p:nvPr/>
        </p:nvSpPr>
        <p:spPr>
          <a:xfrm>
            <a:off x="5057775" y="2152650"/>
            <a:ext cx="16097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CURRENT LEVEL</a:t>
            </a:r>
          </a:p>
        </p:txBody>
      </p:sp>
      <p:sp>
        <p:nvSpPr>
          <p:cNvPr id="9" name="table-col-4-header"/>
          <p:cNvSpPr txBox="1"/>
          <p:nvPr/>
        </p:nvSpPr>
        <p:spPr>
          <a:xfrm>
            <a:off x="6858000" y="2152650"/>
            <a:ext cx="2514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GAP</a:t>
            </a:r>
          </a:p>
        </p:txBody>
      </p:sp>
      <p:sp>
        <p:nvSpPr>
          <p:cNvPr id="10" name="table-col-5-header"/>
          <p:cNvSpPr txBox="1"/>
          <p:nvPr/>
        </p:nvSpPr>
        <p:spPr>
          <a:xfrm>
            <a:off x="9563100" y="2152650"/>
            <a:ext cx="2076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PRIORITY TO CLOSE</a:t>
            </a:r>
          </a:p>
        </p:txBody>
      </p:sp>
      <p:sp>
        <p:nvSpPr>
          <p:cNvPr id="11" name="table-row-1-divider"/>
          <p:cNvSpPr/>
          <p:nvPr/>
        </p:nvSpPr>
        <p:spPr>
          <a:xfrm>
            <a:off x="457200" y="236220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able-row-1-cell-1"/>
          <p:cNvSpPr txBox="1"/>
          <p:nvPr/>
        </p:nvSpPr>
        <p:spPr>
          <a:xfrm>
            <a:off x="590550" y="245745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Cloud Architecture</a:t>
            </a:r>
          </a:p>
        </p:txBody>
      </p:sp>
      <p:sp>
        <p:nvSpPr>
          <p:cNvPr id="13" name="table-row-1-cell-2"/>
          <p:cNvSpPr txBox="1"/>
          <p:nvPr/>
        </p:nvSpPr>
        <p:spPr>
          <a:xfrm>
            <a:off x="3686175" y="2457450"/>
            <a:ext cx="7429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EXPERT</a:t>
            </a:r>
          </a:p>
        </p:txBody>
      </p:sp>
      <p:sp>
        <p:nvSpPr>
          <p:cNvPr id="14" name="table-row-1-cell-3"/>
          <p:cNvSpPr txBox="1"/>
          <p:nvPr/>
        </p:nvSpPr>
        <p:spPr>
          <a:xfrm>
            <a:off x="5486400" y="2457450"/>
            <a:ext cx="7429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PROFICIENT</a:t>
            </a:r>
          </a:p>
        </p:txBody>
      </p:sp>
      <p:sp>
        <p:nvSpPr>
          <p:cNvPr id="15" name="table-row-1-gap-badge"/>
          <p:cNvSpPr txBox="1"/>
          <p:nvPr/>
        </p:nvSpPr>
        <p:spPr>
          <a:xfrm>
            <a:off x="6896100" y="2457450"/>
            <a:ext cx="914400" cy="17145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MINOR</a:t>
            </a:r>
          </a:p>
        </p:txBody>
      </p:sp>
      <p:sp>
        <p:nvSpPr>
          <p:cNvPr id="16" name="table-row-1-cell-5"/>
          <p:cNvSpPr txBox="1"/>
          <p:nvPr/>
        </p:nvSpPr>
        <p:spPr>
          <a:xfrm>
            <a:off x="10229850" y="2457450"/>
            <a:ext cx="742950" cy="171450"/>
          </a:xfrm>
          <a:prstGeom prst="rect">
            <a:avLst/>
          </a:prstGeom>
          <a:solidFill>
            <a:srgbClr val="164E2A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LOW</a:t>
            </a:r>
          </a:p>
        </p:txBody>
      </p:sp>
      <p:sp>
        <p:nvSpPr>
          <p:cNvPr id="17" name="table-row-2-divider"/>
          <p:cNvSpPr/>
          <p:nvPr/>
        </p:nvSpPr>
        <p:spPr>
          <a:xfrm>
            <a:off x="457200" y="269557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able-row-2-cell-1"/>
          <p:cNvSpPr txBox="1"/>
          <p:nvPr/>
        </p:nvSpPr>
        <p:spPr>
          <a:xfrm>
            <a:off x="590550" y="2790825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 Engineering</a:t>
            </a:r>
          </a:p>
        </p:txBody>
      </p:sp>
      <p:sp>
        <p:nvSpPr>
          <p:cNvPr id="19" name="table-row-2-cell-2"/>
          <p:cNvSpPr txBox="1"/>
          <p:nvPr/>
        </p:nvSpPr>
        <p:spPr>
          <a:xfrm>
            <a:off x="3686175" y="2790825"/>
            <a:ext cx="7429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EXPERT</a:t>
            </a:r>
          </a:p>
        </p:txBody>
      </p:sp>
      <p:sp>
        <p:nvSpPr>
          <p:cNvPr id="20" name="table-row-2-cell-3"/>
          <p:cNvSpPr txBox="1"/>
          <p:nvPr/>
        </p:nvSpPr>
        <p:spPr>
          <a:xfrm>
            <a:off x="5486400" y="2790825"/>
            <a:ext cx="7429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EXPERT</a:t>
            </a:r>
          </a:p>
        </p:txBody>
      </p:sp>
      <p:sp>
        <p:nvSpPr>
          <p:cNvPr id="21" name="table-row-2-gap-badge"/>
          <p:cNvSpPr txBox="1"/>
          <p:nvPr/>
        </p:nvSpPr>
        <p:spPr>
          <a:xfrm>
            <a:off x="6896100" y="2790825"/>
            <a:ext cx="914400" cy="171450"/>
          </a:xfrm>
          <a:prstGeom prst="rect">
            <a:avLst/>
          </a:prstGeom>
          <a:solidFill>
            <a:srgbClr val="164E2A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NONE</a:t>
            </a:r>
          </a:p>
        </p:txBody>
      </p:sp>
      <p:sp>
        <p:nvSpPr>
          <p:cNvPr id="22" name="table-row-2-cell-5"/>
          <p:cNvSpPr txBox="1"/>
          <p:nvPr/>
        </p:nvSpPr>
        <p:spPr>
          <a:xfrm>
            <a:off x="10229850" y="2790825"/>
            <a:ext cx="742950" cy="1714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—</a:t>
            </a:r>
          </a:p>
        </p:txBody>
      </p:sp>
      <p:sp>
        <p:nvSpPr>
          <p:cNvPr id="23" name="table-row-3-bg"/>
          <p:cNvSpPr/>
          <p:nvPr/>
        </p:nvSpPr>
        <p:spPr>
          <a:xfrm>
            <a:off x="457200" y="3028950"/>
            <a:ext cx="11277600" cy="333375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able-row-3-flag"/>
          <p:cNvSpPr/>
          <p:nvPr/>
        </p:nvSpPr>
        <p:spPr>
          <a:xfrm>
            <a:off x="457200" y="3028950"/>
            <a:ext cx="38100" cy="333375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table-row-3-divider"/>
          <p:cNvSpPr/>
          <p:nvPr/>
        </p:nvSpPr>
        <p:spPr>
          <a:xfrm>
            <a:off x="457200" y="302895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able-row-3-cell-1"/>
          <p:cNvSpPr txBox="1"/>
          <p:nvPr/>
        </p:nvSpPr>
        <p:spPr>
          <a:xfrm>
            <a:off x="590550" y="312420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AI/ML Production</a:t>
            </a:r>
          </a:p>
        </p:txBody>
      </p:sp>
      <p:sp>
        <p:nvSpPr>
          <p:cNvPr id="27" name="table-row-3-cell-2"/>
          <p:cNvSpPr txBox="1"/>
          <p:nvPr/>
        </p:nvSpPr>
        <p:spPr>
          <a:xfrm>
            <a:off x="3686175" y="3124200"/>
            <a:ext cx="7429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EXPERT</a:t>
            </a:r>
          </a:p>
        </p:txBody>
      </p:sp>
      <p:sp>
        <p:nvSpPr>
          <p:cNvPr id="28" name="table-row-3-cell-3"/>
          <p:cNvSpPr txBox="1"/>
          <p:nvPr/>
        </p:nvSpPr>
        <p:spPr>
          <a:xfrm>
            <a:off x="5486400" y="3124200"/>
            <a:ext cx="742950" cy="1714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BASIC</a:t>
            </a:r>
          </a:p>
        </p:txBody>
      </p:sp>
      <p:sp>
        <p:nvSpPr>
          <p:cNvPr id="29" name="table-row-3-gap-badge"/>
          <p:cNvSpPr txBox="1"/>
          <p:nvPr/>
        </p:nvSpPr>
        <p:spPr>
          <a:xfrm>
            <a:off x="6896100" y="3124200"/>
            <a:ext cx="914400" cy="171450"/>
          </a:xfrm>
          <a:prstGeom prst="rect">
            <a:avLst/>
          </a:prstGeom>
          <a:solidFill>
            <a:srgbClr val="5C1F1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87171"/>
                </a:solidFill>
                <a:latin typeface="Inter"/>
              </a:rPr>
              <a:t>CRITICAL</a:t>
            </a:r>
          </a:p>
        </p:txBody>
      </p:sp>
      <p:sp>
        <p:nvSpPr>
          <p:cNvPr id="30" name="table-row-3-cell-5"/>
          <p:cNvSpPr txBox="1"/>
          <p:nvPr/>
        </p:nvSpPr>
        <p:spPr>
          <a:xfrm>
            <a:off x="10229850" y="3124200"/>
            <a:ext cx="742950" cy="171450"/>
          </a:xfrm>
          <a:prstGeom prst="rect">
            <a:avLst/>
          </a:prstGeom>
          <a:solidFill>
            <a:srgbClr val="5C1F1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87171"/>
                </a:solidFill>
                <a:latin typeface="Inter"/>
              </a:rPr>
              <a:t>HIGH</a:t>
            </a:r>
          </a:p>
        </p:txBody>
      </p:sp>
      <p:sp>
        <p:nvSpPr>
          <p:cNvPr id="31" name="table-row-4-divider"/>
          <p:cNvSpPr/>
          <p:nvPr/>
        </p:nvSpPr>
        <p:spPr>
          <a:xfrm>
            <a:off x="457200" y="336232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table-row-4-cell-1"/>
          <p:cNvSpPr txBox="1"/>
          <p:nvPr/>
        </p:nvSpPr>
        <p:spPr>
          <a:xfrm>
            <a:off x="590550" y="3457575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Change Management</a:t>
            </a:r>
          </a:p>
        </p:txBody>
      </p:sp>
      <p:sp>
        <p:nvSpPr>
          <p:cNvPr id="33" name="table-row-4-cell-2"/>
          <p:cNvSpPr txBox="1"/>
          <p:nvPr/>
        </p:nvSpPr>
        <p:spPr>
          <a:xfrm>
            <a:off x="3686175" y="3457575"/>
            <a:ext cx="742950" cy="1714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ADVANCED</a:t>
            </a:r>
          </a:p>
        </p:txBody>
      </p:sp>
      <p:sp>
        <p:nvSpPr>
          <p:cNvPr id="34" name="table-row-4-cell-3"/>
          <p:cNvSpPr txBox="1"/>
          <p:nvPr/>
        </p:nvSpPr>
        <p:spPr>
          <a:xfrm>
            <a:off x="5486400" y="3457575"/>
            <a:ext cx="7429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EXPERT</a:t>
            </a:r>
          </a:p>
        </p:txBody>
      </p:sp>
      <p:sp>
        <p:nvSpPr>
          <p:cNvPr id="35" name="table-row-4-gap-badge"/>
          <p:cNvSpPr txBox="1"/>
          <p:nvPr/>
        </p:nvSpPr>
        <p:spPr>
          <a:xfrm>
            <a:off x="6896100" y="3457575"/>
            <a:ext cx="914400" cy="171450"/>
          </a:xfrm>
          <a:prstGeom prst="rect">
            <a:avLst/>
          </a:prstGeom>
          <a:solidFill>
            <a:srgbClr val="164E2A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NONE</a:t>
            </a:r>
          </a:p>
        </p:txBody>
      </p:sp>
      <p:sp>
        <p:nvSpPr>
          <p:cNvPr id="36" name="table-row-4-cell-5"/>
          <p:cNvSpPr txBox="1"/>
          <p:nvPr/>
        </p:nvSpPr>
        <p:spPr>
          <a:xfrm>
            <a:off x="10229850" y="3457575"/>
            <a:ext cx="742950" cy="1714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—</a:t>
            </a:r>
          </a:p>
        </p:txBody>
      </p:sp>
      <p:sp>
        <p:nvSpPr>
          <p:cNvPr id="37" name="table-row-5-divider"/>
          <p:cNvSpPr/>
          <p:nvPr/>
        </p:nvSpPr>
        <p:spPr>
          <a:xfrm>
            <a:off x="457200" y="369570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table-row-5-cell-1"/>
          <p:cNvSpPr txBox="1"/>
          <p:nvPr/>
        </p:nvSpPr>
        <p:spPr>
          <a:xfrm>
            <a:off x="590550" y="379095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Cyber Security</a:t>
            </a:r>
          </a:p>
        </p:txBody>
      </p:sp>
      <p:sp>
        <p:nvSpPr>
          <p:cNvPr id="39" name="table-row-5-cell-2"/>
          <p:cNvSpPr txBox="1"/>
          <p:nvPr/>
        </p:nvSpPr>
        <p:spPr>
          <a:xfrm>
            <a:off x="3686175" y="3790950"/>
            <a:ext cx="742950" cy="1714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ADVANCED</a:t>
            </a:r>
          </a:p>
        </p:txBody>
      </p:sp>
      <p:sp>
        <p:nvSpPr>
          <p:cNvPr id="40" name="table-row-5-cell-3"/>
          <p:cNvSpPr txBox="1"/>
          <p:nvPr/>
        </p:nvSpPr>
        <p:spPr>
          <a:xfrm>
            <a:off x="5486400" y="3790950"/>
            <a:ext cx="7429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PROFICIENT</a:t>
            </a:r>
          </a:p>
        </p:txBody>
      </p:sp>
      <p:sp>
        <p:nvSpPr>
          <p:cNvPr id="41" name="table-row-5-gap-badge"/>
          <p:cNvSpPr txBox="1"/>
          <p:nvPr/>
        </p:nvSpPr>
        <p:spPr>
          <a:xfrm>
            <a:off x="6896100" y="3790950"/>
            <a:ext cx="914400" cy="17145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MODERATE</a:t>
            </a:r>
          </a:p>
        </p:txBody>
      </p:sp>
      <p:sp>
        <p:nvSpPr>
          <p:cNvPr id="42" name="table-row-5-cell-5"/>
          <p:cNvSpPr txBox="1"/>
          <p:nvPr/>
        </p:nvSpPr>
        <p:spPr>
          <a:xfrm>
            <a:off x="10229850" y="3790950"/>
            <a:ext cx="742950" cy="17145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MEDIUM</a:t>
            </a:r>
          </a:p>
        </p:txBody>
      </p:sp>
      <p:sp>
        <p:nvSpPr>
          <p:cNvPr id="43" name="table-row-6-divider"/>
          <p:cNvSpPr/>
          <p:nvPr/>
        </p:nvSpPr>
        <p:spPr>
          <a:xfrm>
            <a:off x="457200" y="402907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table-row-6-cell-1"/>
          <p:cNvSpPr txBox="1"/>
          <p:nvPr/>
        </p:nvSpPr>
        <p:spPr>
          <a:xfrm>
            <a:off x="590550" y="4124325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Program Delivery</a:t>
            </a:r>
          </a:p>
        </p:txBody>
      </p:sp>
      <p:sp>
        <p:nvSpPr>
          <p:cNvPr id="45" name="table-row-6-cell-2"/>
          <p:cNvSpPr txBox="1"/>
          <p:nvPr/>
        </p:nvSpPr>
        <p:spPr>
          <a:xfrm>
            <a:off x="3686175" y="4124325"/>
            <a:ext cx="7429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EXPERT</a:t>
            </a:r>
          </a:p>
        </p:txBody>
      </p:sp>
      <p:sp>
        <p:nvSpPr>
          <p:cNvPr id="46" name="table-row-6-cell-3"/>
          <p:cNvSpPr txBox="1"/>
          <p:nvPr/>
        </p:nvSpPr>
        <p:spPr>
          <a:xfrm>
            <a:off x="5486400" y="4124325"/>
            <a:ext cx="7429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EXPERT</a:t>
            </a:r>
          </a:p>
        </p:txBody>
      </p:sp>
      <p:sp>
        <p:nvSpPr>
          <p:cNvPr id="47" name="table-row-6-gap-badge"/>
          <p:cNvSpPr txBox="1"/>
          <p:nvPr/>
        </p:nvSpPr>
        <p:spPr>
          <a:xfrm>
            <a:off x="6896100" y="4124325"/>
            <a:ext cx="914400" cy="171450"/>
          </a:xfrm>
          <a:prstGeom prst="rect">
            <a:avLst/>
          </a:prstGeom>
          <a:solidFill>
            <a:srgbClr val="164E2A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NONE</a:t>
            </a:r>
          </a:p>
        </p:txBody>
      </p:sp>
      <p:sp>
        <p:nvSpPr>
          <p:cNvPr id="48" name="table-row-6-cell-5"/>
          <p:cNvSpPr txBox="1"/>
          <p:nvPr/>
        </p:nvSpPr>
        <p:spPr>
          <a:xfrm>
            <a:off x="10229850" y="4124325"/>
            <a:ext cx="742950" cy="1714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—</a:t>
            </a:r>
          </a:p>
        </p:txBody>
      </p:sp>
      <p:sp>
        <p:nvSpPr>
          <p:cNvPr id="49" name="table-row-7-divider"/>
          <p:cNvSpPr/>
          <p:nvPr/>
        </p:nvSpPr>
        <p:spPr>
          <a:xfrm>
            <a:off x="457200" y="436245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table-row-7-cell-1"/>
          <p:cNvSpPr txBox="1"/>
          <p:nvPr/>
        </p:nvSpPr>
        <p:spPr>
          <a:xfrm>
            <a:off x="590550" y="445770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Business Analysis</a:t>
            </a:r>
          </a:p>
        </p:txBody>
      </p:sp>
      <p:sp>
        <p:nvSpPr>
          <p:cNvPr id="51" name="table-row-7-cell-2"/>
          <p:cNvSpPr txBox="1"/>
          <p:nvPr/>
        </p:nvSpPr>
        <p:spPr>
          <a:xfrm>
            <a:off x="3686175" y="4457700"/>
            <a:ext cx="742950" cy="1714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ADVANCED</a:t>
            </a:r>
          </a:p>
        </p:txBody>
      </p:sp>
      <p:sp>
        <p:nvSpPr>
          <p:cNvPr id="52" name="table-row-7-cell-3"/>
          <p:cNvSpPr txBox="1"/>
          <p:nvPr/>
        </p:nvSpPr>
        <p:spPr>
          <a:xfrm>
            <a:off x="5486400" y="4457700"/>
            <a:ext cx="7429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PROFICIENT</a:t>
            </a:r>
          </a:p>
        </p:txBody>
      </p:sp>
      <p:sp>
        <p:nvSpPr>
          <p:cNvPr id="53" name="table-row-7-gap-badge"/>
          <p:cNvSpPr txBox="1"/>
          <p:nvPr/>
        </p:nvSpPr>
        <p:spPr>
          <a:xfrm>
            <a:off x="6896100" y="4457700"/>
            <a:ext cx="914400" cy="17145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MINOR</a:t>
            </a:r>
          </a:p>
        </p:txBody>
      </p:sp>
      <p:sp>
        <p:nvSpPr>
          <p:cNvPr id="54" name="table-row-7-cell-5"/>
          <p:cNvSpPr txBox="1"/>
          <p:nvPr/>
        </p:nvSpPr>
        <p:spPr>
          <a:xfrm>
            <a:off x="10229850" y="4457700"/>
            <a:ext cx="742950" cy="171450"/>
          </a:xfrm>
          <a:prstGeom prst="rect">
            <a:avLst/>
          </a:prstGeom>
          <a:solidFill>
            <a:srgbClr val="164E2A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LOW</a:t>
            </a:r>
          </a:p>
        </p:txBody>
      </p:sp>
      <p:sp>
        <p:nvSpPr>
          <p:cNvPr id="55" name="table-row-8-bg"/>
          <p:cNvSpPr/>
          <p:nvPr/>
        </p:nvSpPr>
        <p:spPr>
          <a:xfrm>
            <a:off x="457200" y="4695825"/>
            <a:ext cx="11277600" cy="333375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table-row-8-flag"/>
          <p:cNvSpPr/>
          <p:nvPr/>
        </p:nvSpPr>
        <p:spPr>
          <a:xfrm>
            <a:off x="457200" y="4695825"/>
            <a:ext cx="38100" cy="333375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table-row-8-divider"/>
          <p:cNvSpPr/>
          <p:nvPr/>
        </p:nvSpPr>
        <p:spPr>
          <a:xfrm>
            <a:off x="457200" y="469582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table-row-8-cell-1"/>
          <p:cNvSpPr txBox="1"/>
          <p:nvPr/>
        </p:nvSpPr>
        <p:spPr>
          <a:xfrm>
            <a:off x="590550" y="4791075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UX / Design</a:t>
            </a:r>
          </a:p>
        </p:txBody>
      </p:sp>
      <p:sp>
        <p:nvSpPr>
          <p:cNvPr id="59" name="table-row-8-cell-2"/>
          <p:cNvSpPr txBox="1"/>
          <p:nvPr/>
        </p:nvSpPr>
        <p:spPr>
          <a:xfrm>
            <a:off x="3686175" y="4791075"/>
            <a:ext cx="742950" cy="1714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ADVANCED</a:t>
            </a:r>
          </a:p>
        </p:txBody>
      </p:sp>
      <p:sp>
        <p:nvSpPr>
          <p:cNvPr id="60" name="table-row-8-cell-3"/>
          <p:cNvSpPr txBox="1"/>
          <p:nvPr/>
        </p:nvSpPr>
        <p:spPr>
          <a:xfrm>
            <a:off x="5486400" y="4791075"/>
            <a:ext cx="742950" cy="17145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BASIC</a:t>
            </a:r>
          </a:p>
        </p:txBody>
      </p:sp>
      <p:sp>
        <p:nvSpPr>
          <p:cNvPr id="61" name="table-row-8-gap-badge"/>
          <p:cNvSpPr txBox="1"/>
          <p:nvPr/>
        </p:nvSpPr>
        <p:spPr>
          <a:xfrm>
            <a:off x="6896100" y="4791075"/>
            <a:ext cx="914400" cy="171450"/>
          </a:xfrm>
          <a:prstGeom prst="rect">
            <a:avLst/>
          </a:prstGeom>
          <a:solidFill>
            <a:srgbClr val="5C1F1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87171"/>
                </a:solidFill>
                <a:latin typeface="Inter"/>
              </a:rPr>
              <a:t>SIGNIFICANT</a:t>
            </a:r>
          </a:p>
        </p:txBody>
      </p:sp>
      <p:sp>
        <p:nvSpPr>
          <p:cNvPr id="62" name="table-row-8-cell-5"/>
          <p:cNvSpPr txBox="1"/>
          <p:nvPr/>
        </p:nvSpPr>
        <p:spPr>
          <a:xfrm>
            <a:off x="10229850" y="4791075"/>
            <a:ext cx="742950" cy="171450"/>
          </a:xfrm>
          <a:prstGeom prst="rect">
            <a:avLst/>
          </a:prstGeom>
          <a:solidFill>
            <a:srgbClr val="5C1F1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87171"/>
                </a:solidFill>
                <a:latin typeface="Inter"/>
              </a:rPr>
              <a:t>HIGH</a:t>
            </a:r>
          </a:p>
        </p:txBody>
      </p:sp>
      <p:sp>
        <p:nvSpPr>
          <p:cNvPr id="63" name="table-row-9-divider"/>
          <p:cNvSpPr/>
          <p:nvPr/>
        </p:nvSpPr>
        <p:spPr>
          <a:xfrm>
            <a:off x="457200" y="502920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table-row-9-cell-1"/>
          <p:cNvSpPr txBox="1"/>
          <p:nvPr/>
        </p:nvSpPr>
        <p:spPr>
          <a:xfrm>
            <a:off x="590550" y="512445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Financial Modeling</a:t>
            </a:r>
          </a:p>
        </p:txBody>
      </p:sp>
      <p:sp>
        <p:nvSpPr>
          <p:cNvPr id="65" name="table-row-9-cell-2"/>
          <p:cNvSpPr txBox="1"/>
          <p:nvPr/>
        </p:nvSpPr>
        <p:spPr>
          <a:xfrm>
            <a:off x="3686175" y="5124450"/>
            <a:ext cx="7429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PROFICIENT</a:t>
            </a:r>
          </a:p>
        </p:txBody>
      </p:sp>
      <p:sp>
        <p:nvSpPr>
          <p:cNvPr id="66" name="table-row-9-cell-3"/>
          <p:cNvSpPr txBox="1"/>
          <p:nvPr/>
        </p:nvSpPr>
        <p:spPr>
          <a:xfrm>
            <a:off x="5486400" y="5124450"/>
            <a:ext cx="7429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PROFICIENT</a:t>
            </a:r>
          </a:p>
        </p:txBody>
      </p:sp>
      <p:sp>
        <p:nvSpPr>
          <p:cNvPr id="67" name="table-row-9-gap-badge"/>
          <p:cNvSpPr txBox="1"/>
          <p:nvPr/>
        </p:nvSpPr>
        <p:spPr>
          <a:xfrm>
            <a:off x="6896100" y="5124450"/>
            <a:ext cx="914400" cy="171450"/>
          </a:xfrm>
          <a:prstGeom prst="rect">
            <a:avLst/>
          </a:prstGeom>
          <a:solidFill>
            <a:srgbClr val="164E2A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NONE</a:t>
            </a:r>
          </a:p>
        </p:txBody>
      </p:sp>
      <p:sp>
        <p:nvSpPr>
          <p:cNvPr id="68" name="table-row-9-cell-5"/>
          <p:cNvSpPr txBox="1"/>
          <p:nvPr/>
        </p:nvSpPr>
        <p:spPr>
          <a:xfrm>
            <a:off x="10229850" y="5124450"/>
            <a:ext cx="742950" cy="1714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—</a:t>
            </a:r>
          </a:p>
        </p:txBody>
      </p:sp>
      <p:sp>
        <p:nvSpPr>
          <p:cNvPr id="69" name="table-row-10-bg"/>
          <p:cNvSpPr/>
          <p:nvPr/>
        </p:nvSpPr>
        <p:spPr>
          <a:xfrm>
            <a:off x="457200" y="5362575"/>
            <a:ext cx="11277600" cy="333375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table-row-10-flag"/>
          <p:cNvSpPr/>
          <p:nvPr/>
        </p:nvSpPr>
        <p:spPr>
          <a:xfrm>
            <a:off x="457200" y="5362575"/>
            <a:ext cx="38100" cy="333375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table-row-10-divider"/>
          <p:cNvSpPr/>
          <p:nvPr/>
        </p:nvSpPr>
        <p:spPr>
          <a:xfrm>
            <a:off x="457200" y="536257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table-row-10-cell-1"/>
          <p:cNvSpPr txBox="1"/>
          <p:nvPr/>
        </p:nvSpPr>
        <p:spPr>
          <a:xfrm>
            <a:off x="590550" y="5457825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Regulatory / Compliance</a:t>
            </a:r>
          </a:p>
        </p:txBody>
      </p:sp>
      <p:sp>
        <p:nvSpPr>
          <p:cNvPr id="73" name="table-row-10-cell-2"/>
          <p:cNvSpPr txBox="1"/>
          <p:nvPr/>
        </p:nvSpPr>
        <p:spPr>
          <a:xfrm>
            <a:off x="3686175" y="5457825"/>
            <a:ext cx="742950" cy="1714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ADVANCED</a:t>
            </a:r>
          </a:p>
        </p:txBody>
      </p:sp>
      <p:sp>
        <p:nvSpPr>
          <p:cNvPr id="74" name="table-row-10-cell-3"/>
          <p:cNvSpPr txBox="1"/>
          <p:nvPr/>
        </p:nvSpPr>
        <p:spPr>
          <a:xfrm>
            <a:off x="5486400" y="5457825"/>
            <a:ext cx="742950" cy="17145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AWARENESS</a:t>
            </a:r>
          </a:p>
        </p:txBody>
      </p:sp>
      <p:sp>
        <p:nvSpPr>
          <p:cNvPr id="75" name="table-row-10-gap-badge"/>
          <p:cNvSpPr txBox="1"/>
          <p:nvPr/>
        </p:nvSpPr>
        <p:spPr>
          <a:xfrm>
            <a:off x="6896100" y="5457825"/>
            <a:ext cx="914400" cy="171450"/>
          </a:xfrm>
          <a:prstGeom prst="rect">
            <a:avLst/>
          </a:prstGeom>
          <a:solidFill>
            <a:srgbClr val="5C1F1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87171"/>
                </a:solidFill>
                <a:latin typeface="Inter"/>
              </a:rPr>
              <a:t>CRITICAL</a:t>
            </a:r>
          </a:p>
        </p:txBody>
      </p:sp>
      <p:sp>
        <p:nvSpPr>
          <p:cNvPr id="76" name="table-row-10-cell-5"/>
          <p:cNvSpPr txBox="1"/>
          <p:nvPr/>
        </p:nvSpPr>
        <p:spPr>
          <a:xfrm>
            <a:off x="10229850" y="5457825"/>
            <a:ext cx="742950" cy="171450"/>
          </a:xfrm>
          <a:prstGeom prst="rect">
            <a:avLst/>
          </a:prstGeom>
          <a:solidFill>
            <a:srgbClr val="5C1F1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87171"/>
                </a:solidFill>
                <a:latin typeface="Inter"/>
              </a:rPr>
              <a:t>HIGH</a:t>
            </a:r>
          </a:p>
        </p:txBody>
      </p:sp>
      <p:sp>
        <p:nvSpPr>
          <p:cNvPr id="77" name="convergence-bg"/>
          <p:cNvSpPr/>
          <p:nvPr/>
        </p:nvSpPr>
        <p:spPr>
          <a:xfrm>
            <a:off x="457200" y="5848350"/>
            <a:ext cx="11277600" cy="3619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convergence-mark"/>
          <p:cNvSpPr txBox="1"/>
          <p:nvPr/>
        </p:nvSpPr>
        <p:spPr>
          <a:xfrm>
            <a:off x="571500" y="5943600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DELIVERY RISK</a:t>
            </a:r>
          </a:p>
        </p:txBody>
      </p:sp>
      <p:sp>
        <p:nvSpPr>
          <p:cNvPr id="79" name="convergence"/>
          <p:cNvSpPr txBox="1"/>
          <p:nvPr/>
        </p:nvSpPr>
        <p:spPr>
          <a:xfrm>
            <a:off x="1657350" y="5848350"/>
            <a:ext cx="1007745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3 critical gaps — training plan in progress; delivery risk remains until Q3 2025. AI/ML and Compliance require external hires or accelerated upskilling before Phase 2 kickoff.</a:t>
            </a:r>
          </a:p>
        </p:txBody>
      </p:sp>
      <p:sp>
        <p:nvSpPr>
          <p:cNvPr id="80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