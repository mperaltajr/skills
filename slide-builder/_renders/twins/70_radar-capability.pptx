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1A1A2E"/>
                </a:solidFill>
                <a:latin typeface="Inter"/>
              </a:rPr>
              <a:t>Capability radar — baseline vs pilot week 4 across six dimensions.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9334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Every dimension moved up; cycle time and stakeholder sign-off jumped the most — both are where Slide Lab automation lands hardest.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3335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1676400" y="1857375"/>
            <a:ext cx="3829050" cy="382905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nnot-header"/>
          <p:cNvSpPr txBox="1"/>
          <p:nvPr/>
        </p:nvSpPr>
        <p:spPr>
          <a:xfrm>
            <a:off x="6877050" y="1752600"/>
            <a:ext cx="4781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BEFORE VS AFTER, BY DIMENSION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6877050" y="2019300"/>
            <a:ext cx="133350" cy="1333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7067550" y="20002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Week 0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7829550" y="20193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8020050" y="20002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Week 4</a:t>
            </a:r>
          </a:p>
        </p:txBody>
      </p:sp>
      <p:sp>
        <p:nvSpPr>
          <p:cNvPr id="11" name="delta-1-name"/>
          <p:cNvSpPr txBox="1"/>
          <p:nvPr/>
        </p:nvSpPr>
        <p:spPr>
          <a:xfrm>
            <a:off x="6877050" y="2466975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Structure clarity</a:t>
            </a:r>
          </a:p>
        </p:txBody>
      </p:sp>
      <p:sp>
        <p:nvSpPr>
          <p:cNvPr id="12" name="delta-1-before"/>
          <p:cNvSpPr txBox="1"/>
          <p:nvPr/>
        </p:nvSpPr>
        <p:spPr>
          <a:xfrm>
            <a:off x="10515600" y="246697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</a:t>
            </a:r>
          </a:p>
        </p:txBody>
      </p:sp>
      <p:sp>
        <p:nvSpPr>
          <p:cNvPr id="13" name="delta-1-arrow"/>
          <p:cNvSpPr txBox="1"/>
          <p:nvPr/>
        </p:nvSpPr>
        <p:spPr>
          <a:xfrm>
            <a:off x="10839450" y="246697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4" name="delta-1-after"/>
          <p:cNvSpPr txBox="1"/>
          <p:nvPr/>
        </p:nvSpPr>
        <p:spPr>
          <a:xfrm>
            <a:off x="11106150" y="246697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15" name="delta-2-name"/>
          <p:cNvSpPr txBox="1"/>
          <p:nvPr/>
        </p:nvSpPr>
        <p:spPr>
          <a:xfrm>
            <a:off x="6877050" y="304800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Argument sharpness</a:t>
            </a:r>
          </a:p>
        </p:txBody>
      </p:sp>
      <p:sp>
        <p:nvSpPr>
          <p:cNvPr id="16" name="delta-2-before"/>
          <p:cNvSpPr txBox="1"/>
          <p:nvPr/>
        </p:nvSpPr>
        <p:spPr>
          <a:xfrm>
            <a:off x="10515600" y="30480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</a:t>
            </a:r>
          </a:p>
        </p:txBody>
      </p:sp>
      <p:sp>
        <p:nvSpPr>
          <p:cNvPr id="17" name="delta-2-arrow"/>
          <p:cNvSpPr txBox="1"/>
          <p:nvPr/>
        </p:nvSpPr>
        <p:spPr>
          <a:xfrm>
            <a:off x="10839450" y="30480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8" name="delta-2-after"/>
          <p:cNvSpPr txBox="1"/>
          <p:nvPr/>
        </p:nvSpPr>
        <p:spPr>
          <a:xfrm>
            <a:off x="11106150" y="30480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19" name="delta-3-name"/>
          <p:cNvSpPr txBox="1"/>
          <p:nvPr/>
        </p:nvSpPr>
        <p:spPr>
          <a:xfrm>
            <a:off x="6877050" y="3629025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Visual polish</a:t>
            </a:r>
          </a:p>
        </p:txBody>
      </p:sp>
      <p:sp>
        <p:nvSpPr>
          <p:cNvPr id="20" name="delta-3-before"/>
          <p:cNvSpPr txBox="1"/>
          <p:nvPr/>
        </p:nvSpPr>
        <p:spPr>
          <a:xfrm>
            <a:off x="10515600" y="362902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</a:t>
            </a:r>
          </a:p>
        </p:txBody>
      </p:sp>
      <p:sp>
        <p:nvSpPr>
          <p:cNvPr id="21" name="delta-3-arrow"/>
          <p:cNvSpPr txBox="1"/>
          <p:nvPr/>
        </p:nvSpPr>
        <p:spPr>
          <a:xfrm>
            <a:off x="10839450" y="362902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22" name="delta-3-after"/>
          <p:cNvSpPr txBox="1"/>
          <p:nvPr/>
        </p:nvSpPr>
        <p:spPr>
          <a:xfrm>
            <a:off x="11106150" y="362902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23" name="delta-4-name"/>
          <p:cNvSpPr txBox="1"/>
          <p:nvPr/>
        </p:nvSpPr>
        <p:spPr>
          <a:xfrm>
            <a:off x="6877050" y="421005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Cycle time</a:t>
            </a:r>
          </a:p>
        </p:txBody>
      </p:sp>
      <p:sp>
        <p:nvSpPr>
          <p:cNvPr id="24" name="delta-4-before"/>
          <p:cNvSpPr txBox="1"/>
          <p:nvPr/>
        </p:nvSpPr>
        <p:spPr>
          <a:xfrm>
            <a:off x="10515600" y="42100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</a:t>
            </a:r>
          </a:p>
        </p:txBody>
      </p:sp>
      <p:sp>
        <p:nvSpPr>
          <p:cNvPr id="25" name="delta-4-arrow"/>
          <p:cNvSpPr txBox="1"/>
          <p:nvPr/>
        </p:nvSpPr>
        <p:spPr>
          <a:xfrm>
            <a:off x="10839450" y="42100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26" name="delta-4-after"/>
          <p:cNvSpPr txBox="1"/>
          <p:nvPr/>
        </p:nvSpPr>
        <p:spPr>
          <a:xfrm>
            <a:off x="11106150" y="42100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</a:t>
            </a:r>
          </a:p>
        </p:txBody>
      </p:sp>
      <p:sp>
        <p:nvSpPr>
          <p:cNvPr id="27" name="delta-5-name"/>
          <p:cNvSpPr txBox="1"/>
          <p:nvPr/>
        </p:nvSpPr>
        <p:spPr>
          <a:xfrm>
            <a:off x="6877050" y="4791075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Reviewer alignment</a:t>
            </a:r>
          </a:p>
        </p:txBody>
      </p:sp>
      <p:sp>
        <p:nvSpPr>
          <p:cNvPr id="28" name="delta-5-before"/>
          <p:cNvSpPr txBox="1"/>
          <p:nvPr/>
        </p:nvSpPr>
        <p:spPr>
          <a:xfrm>
            <a:off x="10515600" y="479107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</a:t>
            </a:r>
          </a:p>
        </p:txBody>
      </p:sp>
      <p:sp>
        <p:nvSpPr>
          <p:cNvPr id="29" name="delta-5-arrow"/>
          <p:cNvSpPr txBox="1"/>
          <p:nvPr/>
        </p:nvSpPr>
        <p:spPr>
          <a:xfrm>
            <a:off x="10839450" y="479107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30" name="delta-5-after"/>
          <p:cNvSpPr txBox="1"/>
          <p:nvPr/>
        </p:nvSpPr>
        <p:spPr>
          <a:xfrm>
            <a:off x="11106150" y="479107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31" name="delta-6-name"/>
          <p:cNvSpPr txBox="1"/>
          <p:nvPr/>
        </p:nvSpPr>
        <p:spPr>
          <a:xfrm>
            <a:off x="6877050" y="537210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Stakeholder sign-off</a:t>
            </a:r>
          </a:p>
        </p:txBody>
      </p:sp>
      <p:sp>
        <p:nvSpPr>
          <p:cNvPr id="32" name="delta-6-before"/>
          <p:cNvSpPr txBox="1"/>
          <p:nvPr/>
        </p:nvSpPr>
        <p:spPr>
          <a:xfrm>
            <a:off x="10515600" y="53721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</a:t>
            </a:r>
          </a:p>
        </p:txBody>
      </p:sp>
      <p:sp>
        <p:nvSpPr>
          <p:cNvPr id="33" name="delta-6-arrow"/>
          <p:cNvSpPr txBox="1"/>
          <p:nvPr/>
        </p:nvSpPr>
        <p:spPr>
          <a:xfrm>
            <a:off x="10839450" y="53721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34" name="delta-6-after"/>
          <p:cNvSpPr txBox="1"/>
          <p:nvPr/>
        </p:nvSpPr>
        <p:spPr>
          <a:xfrm>
            <a:off x="11106150" y="53721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</a:t>
            </a:r>
          </a:p>
        </p:txBody>
      </p:sp>
      <p:sp>
        <p:nvSpPr>
          <p:cNvPr id="35" name="convergence-bg"/>
          <p:cNvSpPr/>
          <p:nvPr/>
        </p:nvSpPr>
        <p:spPr>
          <a:xfrm>
            <a:off x="533400" y="5886450"/>
            <a:ext cx="111252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nvergence"/>
          <p:cNvSpPr txBox="1"/>
          <p:nvPr/>
        </p:nvSpPr>
        <p:spPr>
          <a:xfrm>
            <a:off x="742950" y="5886450"/>
            <a:ext cx="10706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Pilot polygon engulfs the baseline on every axis — cycle time and stakeholder sign-off each gained three points, the largest single-dimension lifts.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