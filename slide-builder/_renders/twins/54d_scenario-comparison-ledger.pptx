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00125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025" b="1" i="0">
                <a:solidFill>
                  <a:srgbClr val="FFFFFF"/>
                </a:solidFill>
                <a:latin typeface="Inter"/>
              </a:rPr>
              <a:t>Four scenarios, one comparison — Scenario 1 is the only viable path.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00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Same KPIs, same rules, line them up side-by-side. Verdict reflects feasibility against transition risk and cash impact.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4825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dger-head-bg"/>
          <p:cNvSpPr/>
          <p:nvPr/>
        </p:nvSpPr>
        <p:spPr>
          <a:xfrm>
            <a:off x="533400" y="2095500"/>
            <a:ext cx="11125200" cy="400050"/>
          </a:xfrm>
          <a:prstGeom prst="rect">
            <a:avLst/>
          </a:prstGeom>
          <a:solidFill>
            <a:srgbClr val="1A0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table-col-1-header"/>
          <p:cNvSpPr txBox="1"/>
          <p:nvPr/>
        </p:nvSpPr>
        <p:spPr>
          <a:xfrm>
            <a:off x="704850" y="2095500"/>
            <a:ext cx="238125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SCENARIO</a:t>
            </a:r>
          </a:p>
        </p:txBody>
      </p:sp>
      <p:sp>
        <p:nvSpPr>
          <p:cNvPr id="7" name="table-col-2-header"/>
          <p:cNvSpPr txBox="1"/>
          <p:nvPr/>
        </p:nvSpPr>
        <p:spPr>
          <a:xfrm>
            <a:off x="3429000" y="2095500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EXIT COMPLETION</a:t>
            </a:r>
          </a:p>
        </p:txBody>
      </p:sp>
      <p:sp>
        <p:nvSpPr>
          <p:cNvPr id="8" name="table-col-3-header"/>
          <p:cNvSpPr txBox="1"/>
          <p:nvPr/>
        </p:nvSpPr>
        <p:spPr>
          <a:xfrm>
            <a:off x="5372100" y="2095500"/>
            <a:ext cx="16002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SAVINGS AT RISK</a:t>
            </a:r>
          </a:p>
        </p:txBody>
      </p:sp>
      <p:sp>
        <p:nvSpPr>
          <p:cNvPr id="9" name="table-col-4-header"/>
          <p:cNvSpPr txBox="1"/>
          <p:nvPr/>
        </p:nvSpPr>
        <p:spPr>
          <a:xfrm>
            <a:off x="7315200" y="2095500"/>
            <a:ext cx="180022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FINAL EXIT</a:t>
            </a:r>
          </a:p>
        </p:txBody>
      </p:sp>
      <p:sp>
        <p:nvSpPr>
          <p:cNvPr id="10" name="table-col-5-header"/>
          <p:cNvSpPr txBox="1"/>
          <p:nvPr/>
        </p:nvSpPr>
        <p:spPr>
          <a:xfrm>
            <a:off x="9458325" y="2095500"/>
            <a:ext cx="2028825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VERDICT</a:t>
            </a:r>
          </a:p>
        </p:txBody>
      </p:sp>
      <p:sp>
        <p:nvSpPr>
          <p:cNvPr id="11" name="row-1-bg"/>
          <p:cNvSpPr/>
          <p:nvPr/>
        </p:nvSpPr>
        <p:spPr>
          <a:xfrm>
            <a:off x="533400" y="2495550"/>
            <a:ext cx="11125200" cy="7620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row-1-rule"/>
          <p:cNvSpPr/>
          <p:nvPr/>
        </p:nvSpPr>
        <p:spPr>
          <a:xfrm>
            <a:off x="533400" y="2495550"/>
            <a:ext cx="11125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scenario-1-tag"/>
          <p:cNvSpPr txBox="1"/>
          <p:nvPr/>
        </p:nvSpPr>
        <p:spPr>
          <a:xfrm>
            <a:off x="704850" y="2628900"/>
            <a:ext cx="2381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REFERENCE</a:t>
            </a:r>
          </a:p>
        </p:txBody>
      </p:sp>
      <p:sp>
        <p:nvSpPr>
          <p:cNvPr id="14" name="scenario-1-name"/>
          <p:cNvSpPr txBox="1"/>
          <p:nvPr/>
        </p:nvSpPr>
        <p:spPr>
          <a:xfrm>
            <a:off x="704850" y="28003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Base case</a:t>
            </a:r>
          </a:p>
        </p:txBody>
      </p:sp>
      <p:sp>
        <p:nvSpPr>
          <p:cNvPr id="15" name="scenario-1-sub"/>
          <p:cNvSpPr txBox="1"/>
          <p:nvPr/>
        </p:nvSpPr>
        <p:spPr>
          <a:xfrm>
            <a:off x="704850" y="3048000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Planned glide path</a:t>
            </a:r>
          </a:p>
        </p:txBody>
      </p:sp>
      <p:sp>
        <p:nvSpPr>
          <p:cNvPr id="16" name="scenario-1-completion-value"/>
          <p:cNvSpPr txBox="1"/>
          <p:nvPr/>
        </p:nvSpPr>
        <p:spPr>
          <a:xfrm>
            <a:off x="3429000" y="26289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100%</a:t>
            </a:r>
          </a:p>
        </p:txBody>
      </p:sp>
      <p:sp>
        <p:nvSpPr>
          <p:cNvPr id="17" name="scenario-1-completion-unit"/>
          <p:cNvSpPr txBox="1"/>
          <p:nvPr/>
        </p:nvSpPr>
        <p:spPr>
          <a:xfrm>
            <a:off x="3429000" y="29146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530 FTE exit by Apr 30</a:t>
            </a:r>
          </a:p>
        </p:txBody>
      </p:sp>
      <p:sp>
        <p:nvSpPr>
          <p:cNvPr id="18" name="row-1-bar-track"/>
          <p:cNvSpPr/>
          <p:nvPr/>
        </p:nvSpPr>
        <p:spPr>
          <a:xfrm>
            <a:off x="3429000" y="3105150"/>
            <a:ext cx="1600200" cy="571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scenario-1-completion-bar"/>
          <p:cNvSpPr/>
          <p:nvPr/>
        </p:nvSpPr>
        <p:spPr>
          <a:xfrm>
            <a:off x="3429000" y="3105150"/>
            <a:ext cx="160020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scenario-1-impact-amount"/>
          <p:cNvSpPr txBox="1"/>
          <p:nvPr/>
        </p:nvSpPr>
        <p:spPr>
          <a:xfrm>
            <a:off x="5372100" y="26289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C780FF"/>
                </a:solidFill>
                <a:latin typeface="Inter"/>
              </a:rPr>
              <a:t>$0</a:t>
            </a:r>
          </a:p>
        </p:txBody>
      </p:sp>
      <p:sp>
        <p:nvSpPr>
          <p:cNvPr id="21" name="scenario-1-impact-note"/>
          <p:cNvSpPr txBox="1"/>
          <p:nvPr/>
        </p:nvSpPr>
        <p:spPr>
          <a:xfrm>
            <a:off x="5372100" y="29146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— on plan</a:t>
            </a:r>
          </a:p>
        </p:txBody>
      </p:sp>
      <p:sp>
        <p:nvSpPr>
          <p:cNvPr id="22" name="scenario-1-timing-value"/>
          <p:cNvSpPr txBox="1"/>
          <p:nvPr/>
        </p:nvSpPr>
        <p:spPr>
          <a:xfrm>
            <a:off x="7315200" y="2628900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Apr 30</a:t>
            </a:r>
          </a:p>
        </p:txBody>
      </p:sp>
      <p:sp>
        <p:nvSpPr>
          <p:cNvPr id="23" name="scenario-1-timing-note"/>
          <p:cNvSpPr txBox="1"/>
          <p:nvPr/>
        </p:nvSpPr>
        <p:spPr>
          <a:xfrm>
            <a:off x="7315200" y="2914650"/>
            <a:ext cx="18002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Within window</a:t>
            </a:r>
          </a:p>
        </p:txBody>
      </p:sp>
      <p:sp>
        <p:nvSpPr>
          <p:cNvPr id="24" name="scenario-1-verdict-pill"/>
          <p:cNvSpPr txBox="1"/>
          <p:nvPr/>
        </p:nvSpPr>
        <p:spPr>
          <a:xfrm>
            <a:off x="9458325" y="2647950"/>
            <a:ext cx="2028825" cy="209550"/>
          </a:xfrm>
          <a:prstGeom prst="rect">
            <a:avLst/>
          </a:prstGeom>
          <a:solidFill>
            <a:srgbClr val="104A28"/>
          </a:solidFill>
          <a:ln>
            <a:noFill/>
          </a:ln>
        </p:spPr>
        <p:txBody>
          <a:bodyPr wrap="square" tIns="28575" rIns="114300" bIns="28575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09E"/>
                </a:solidFill>
                <a:latin typeface="Inter"/>
              </a:rPr>
              <a:t>BASELINE</a:t>
            </a:r>
          </a:p>
        </p:txBody>
      </p:sp>
      <p:sp>
        <p:nvSpPr>
          <p:cNvPr id="25" name="scenario-1-verdict-note"/>
          <p:cNvSpPr txBox="1"/>
          <p:nvPr/>
        </p:nvSpPr>
        <p:spPr>
          <a:xfrm>
            <a:off x="9458325" y="2933700"/>
            <a:ext cx="2028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Target outcome — no slip.</a:t>
            </a:r>
          </a:p>
        </p:txBody>
      </p:sp>
      <p:sp>
        <p:nvSpPr>
          <p:cNvPr id="26" name="row-2-bg"/>
          <p:cNvSpPr/>
          <p:nvPr/>
        </p:nvSpPr>
        <p:spPr>
          <a:xfrm>
            <a:off x="533400" y="3257550"/>
            <a:ext cx="11125200" cy="762000"/>
          </a:xfrm>
          <a:prstGeom prst="rect">
            <a:avLst/>
          </a:prstGeom>
          <a:solidFill>
            <a:srgbClr val="361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row-2-rule"/>
          <p:cNvSpPr/>
          <p:nvPr/>
        </p:nvSpPr>
        <p:spPr>
          <a:xfrm>
            <a:off x="533400" y="3257550"/>
            <a:ext cx="11125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8" name="scenario-2-tag"/>
          <p:cNvSpPr txBox="1"/>
          <p:nvPr/>
        </p:nvSpPr>
        <p:spPr>
          <a:xfrm>
            <a:off x="704850" y="3390900"/>
            <a:ext cx="2381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MODERATE SLIP</a:t>
            </a:r>
          </a:p>
        </p:txBody>
      </p:sp>
      <p:sp>
        <p:nvSpPr>
          <p:cNvPr id="29" name="scenario-2-name"/>
          <p:cNvSpPr txBox="1"/>
          <p:nvPr/>
        </p:nvSpPr>
        <p:spPr>
          <a:xfrm>
            <a:off x="704850" y="35623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Scenario 1</a:t>
            </a:r>
          </a:p>
        </p:txBody>
      </p:sp>
      <p:sp>
        <p:nvSpPr>
          <p:cNvPr id="30" name="scenario-2-sub"/>
          <p:cNvSpPr txBox="1"/>
          <p:nvPr/>
        </p:nvSpPr>
        <p:spPr>
          <a:xfrm>
            <a:off x="704850" y="3810000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Phased through June</a:t>
            </a:r>
          </a:p>
        </p:txBody>
      </p:sp>
      <p:sp>
        <p:nvSpPr>
          <p:cNvPr id="31" name="scenario-2-completion-value"/>
          <p:cNvSpPr txBox="1"/>
          <p:nvPr/>
        </p:nvSpPr>
        <p:spPr>
          <a:xfrm>
            <a:off x="3429000" y="33909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100%</a:t>
            </a:r>
          </a:p>
        </p:txBody>
      </p:sp>
      <p:sp>
        <p:nvSpPr>
          <p:cNvPr id="32" name="scenario-2-completion-unit"/>
          <p:cNvSpPr txBox="1"/>
          <p:nvPr/>
        </p:nvSpPr>
        <p:spPr>
          <a:xfrm>
            <a:off x="3429000" y="36766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531 FTE by Jun 16</a:t>
            </a:r>
          </a:p>
        </p:txBody>
      </p:sp>
      <p:sp>
        <p:nvSpPr>
          <p:cNvPr id="33" name="row-2-bar-track"/>
          <p:cNvSpPr/>
          <p:nvPr/>
        </p:nvSpPr>
        <p:spPr>
          <a:xfrm>
            <a:off x="3429000" y="3867150"/>
            <a:ext cx="1600200" cy="571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scenario-2-completion-bar"/>
          <p:cNvSpPr/>
          <p:nvPr/>
        </p:nvSpPr>
        <p:spPr>
          <a:xfrm>
            <a:off x="3429000" y="3867150"/>
            <a:ext cx="160020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scenario-2-impact-amount"/>
          <p:cNvSpPr txBox="1"/>
          <p:nvPr/>
        </p:nvSpPr>
        <p:spPr>
          <a:xfrm>
            <a:off x="5372100" y="33909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8A82"/>
                </a:solidFill>
                <a:latin typeface="Inter"/>
              </a:rPr>
              <a:t>$5.0M</a:t>
            </a:r>
          </a:p>
        </p:txBody>
      </p:sp>
      <p:sp>
        <p:nvSpPr>
          <p:cNvPr id="36" name="scenario-2-impact-note"/>
          <p:cNvSpPr txBox="1"/>
          <p:nvPr/>
        </p:nvSpPr>
        <p:spPr>
          <a:xfrm>
            <a:off x="5372100" y="36766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8A82"/>
                </a:solidFill>
                <a:latin typeface="Inter"/>
              </a:rPr>
              <a:t>▼ vs. base</a:t>
            </a:r>
          </a:p>
        </p:txBody>
      </p:sp>
      <p:sp>
        <p:nvSpPr>
          <p:cNvPr id="37" name="scenario-2-timing-value"/>
          <p:cNvSpPr txBox="1"/>
          <p:nvPr/>
        </p:nvSpPr>
        <p:spPr>
          <a:xfrm>
            <a:off x="7315200" y="3390900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Jun 16</a:t>
            </a:r>
          </a:p>
        </p:txBody>
      </p:sp>
      <p:sp>
        <p:nvSpPr>
          <p:cNvPr id="38" name="scenario-2-timing-note"/>
          <p:cNvSpPr txBox="1"/>
          <p:nvPr/>
        </p:nvSpPr>
        <p:spPr>
          <a:xfrm>
            <a:off x="7315200" y="3676650"/>
            <a:ext cx="18002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+47 days</a:t>
            </a:r>
          </a:p>
        </p:txBody>
      </p:sp>
      <p:sp>
        <p:nvSpPr>
          <p:cNvPr id="39" name="scenario-2-verdict-pill"/>
          <p:cNvSpPr txBox="1"/>
          <p:nvPr/>
        </p:nvSpPr>
        <p:spPr>
          <a:xfrm>
            <a:off x="9458325" y="3409950"/>
            <a:ext cx="2028825" cy="209550"/>
          </a:xfrm>
          <a:prstGeom prst="rect">
            <a:avLst/>
          </a:prstGeom>
          <a:solidFill>
            <a:srgbClr val="104A28"/>
          </a:solidFill>
          <a:ln>
            <a:noFill/>
          </a:ln>
        </p:spPr>
        <p:txBody>
          <a:bodyPr wrap="square" tIns="28575" rIns="114300" bIns="28575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6EE09E"/>
                </a:solidFill>
                <a:latin typeface="Inter"/>
              </a:rPr>
              <a:t>RECOMMENDED</a:t>
            </a:r>
          </a:p>
        </p:txBody>
      </p:sp>
      <p:sp>
        <p:nvSpPr>
          <p:cNvPr id="40" name="scenario-2-verdict-note"/>
          <p:cNvSpPr txBox="1"/>
          <p:nvPr/>
        </p:nvSpPr>
        <p:spPr>
          <a:xfrm>
            <a:off x="9458325" y="3695700"/>
            <a:ext cx="2028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Preserves transition quality.</a:t>
            </a:r>
          </a:p>
        </p:txBody>
      </p:sp>
      <p:sp>
        <p:nvSpPr>
          <p:cNvPr id="41" name="row-3-bg"/>
          <p:cNvSpPr/>
          <p:nvPr/>
        </p:nvSpPr>
        <p:spPr>
          <a:xfrm>
            <a:off x="533400" y="4019550"/>
            <a:ext cx="11125200" cy="7620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row-3-rule"/>
          <p:cNvSpPr/>
          <p:nvPr/>
        </p:nvSpPr>
        <p:spPr>
          <a:xfrm>
            <a:off x="533400" y="4019550"/>
            <a:ext cx="11125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scenario-3-tag"/>
          <p:cNvSpPr txBox="1"/>
          <p:nvPr/>
        </p:nvSpPr>
        <p:spPr>
          <a:xfrm>
            <a:off x="704850" y="4152900"/>
            <a:ext cx="2381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HEAVY SLIP</a:t>
            </a:r>
          </a:p>
        </p:txBody>
      </p:sp>
      <p:sp>
        <p:nvSpPr>
          <p:cNvPr id="44" name="scenario-3-name"/>
          <p:cNvSpPr txBox="1"/>
          <p:nvPr/>
        </p:nvSpPr>
        <p:spPr>
          <a:xfrm>
            <a:off x="704850" y="43243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Scenario 2</a:t>
            </a:r>
          </a:p>
        </p:txBody>
      </p:sp>
      <p:sp>
        <p:nvSpPr>
          <p:cNvPr id="45" name="scenario-3-sub"/>
          <p:cNvSpPr txBox="1"/>
          <p:nvPr/>
        </p:nvSpPr>
        <p:spPr>
          <a:xfrm>
            <a:off x="704850" y="4572000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Compressed late-window</a:t>
            </a:r>
          </a:p>
        </p:txBody>
      </p:sp>
      <p:sp>
        <p:nvSpPr>
          <p:cNvPr id="46" name="scenario-3-completion-value"/>
          <p:cNvSpPr txBox="1"/>
          <p:nvPr/>
        </p:nvSpPr>
        <p:spPr>
          <a:xfrm>
            <a:off x="3429000" y="41529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100%</a:t>
            </a:r>
          </a:p>
        </p:txBody>
      </p:sp>
      <p:sp>
        <p:nvSpPr>
          <p:cNvPr id="47" name="scenario-3-completion-unit"/>
          <p:cNvSpPr txBox="1"/>
          <p:nvPr/>
        </p:nvSpPr>
        <p:spPr>
          <a:xfrm>
            <a:off x="3429000" y="44386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530 FTE by Jun 16</a:t>
            </a:r>
          </a:p>
        </p:txBody>
      </p:sp>
      <p:sp>
        <p:nvSpPr>
          <p:cNvPr id="48" name="row-3-bar-track"/>
          <p:cNvSpPr/>
          <p:nvPr/>
        </p:nvSpPr>
        <p:spPr>
          <a:xfrm>
            <a:off x="3429000" y="4629150"/>
            <a:ext cx="1600200" cy="571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scenario-3-completion-bar"/>
          <p:cNvSpPr/>
          <p:nvPr/>
        </p:nvSpPr>
        <p:spPr>
          <a:xfrm>
            <a:off x="3429000" y="4629150"/>
            <a:ext cx="160020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scenario-3-impact-amount"/>
          <p:cNvSpPr txBox="1"/>
          <p:nvPr/>
        </p:nvSpPr>
        <p:spPr>
          <a:xfrm>
            <a:off x="5372100" y="41529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8A82"/>
                </a:solidFill>
                <a:latin typeface="Inter"/>
              </a:rPr>
              <a:t>$6.4M</a:t>
            </a:r>
          </a:p>
        </p:txBody>
      </p:sp>
      <p:sp>
        <p:nvSpPr>
          <p:cNvPr id="51" name="scenario-3-impact-note"/>
          <p:cNvSpPr txBox="1"/>
          <p:nvPr/>
        </p:nvSpPr>
        <p:spPr>
          <a:xfrm>
            <a:off x="5372100" y="44386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8A82"/>
                </a:solidFill>
                <a:latin typeface="Inter"/>
              </a:rPr>
              <a:t>▼ vs. base</a:t>
            </a:r>
          </a:p>
        </p:txBody>
      </p:sp>
      <p:sp>
        <p:nvSpPr>
          <p:cNvPr id="52" name="scenario-3-timing-value"/>
          <p:cNvSpPr txBox="1"/>
          <p:nvPr/>
        </p:nvSpPr>
        <p:spPr>
          <a:xfrm>
            <a:off x="7315200" y="4152900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Jun 16</a:t>
            </a:r>
          </a:p>
        </p:txBody>
      </p:sp>
      <p:sp>
        <p:nvSpPr>
          <p:cNvPr id="53" name="scenario-3-timing-note"/>
          <p:cNvSpPr txBox="1"/>
          <p:nvPr/>
        </p:nvSpPr>
        <p:spPr>
          <a:xfrm>
            <a:off x="7315200" y="4438650"/>
            <a:ext cx="18002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+47 days</a:t>
            </a:r>
          </a:p>
        </p:txBody>
      </p:sp>
      <p:sp>
        <p:nvSpPr>
          <p:cNvPr id="54" name="scenario-3-verdict-pill"/>
          <p:cNvSpPr txBox="1"/>
          <p:nvPr/>
        </p:nvSpPr>
        <p:spPr>
          <a:xfrm>
            <a:off x="9458325" y="4171950"/>
            <a:ext cx="2028825" cy="209550"/>
          </a:xfrm>
          <a:prstGeom prst="rect">
            <a:avLst/>
          </a:prstGeom>
          <a:solidFill>
            <a:srgbClr val="6E4410"/>
          </a:solidFill>
          <a:ln>
            <a:noFill/>
          </a:ln>
        </p:spPr>
        <p:txBody>
          <a:bodyPr wrap="square" tIns="28575" rIns="114300" bIns="28575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C76E"/>
                </a:solidFill>
                <a:latin typeface="Inter"/>
              </a:rPr>
              <a:t>VIABLE</a:t>
            </a:r>
          </a:p>
        </p:txBody>
      </p:sp>
      <p:sp>
        <p:nvSpPr>
          <p:cNvPr id="55" name="scenario-3-verdict-note"/>
          <p:cNvSpPr txBox="1"/>
          <p:nvPr/>
        </p:nvSpPr>
        <p:spPr>
          <a:xfrm>
            <a:off x="9458325" y="4457700"/>
            <a:ext cx="2028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Same end date, worse cash.</a:t>
            </a:r>
          </a:p>
        </p:txBody>
      </p:sp>
      <p:sp>
        <p:nvSpPr>
          <p:cNvPr id="56" name="row-4-bg"/>
          <p:cNvSpPr/>
          <p:nvPr/>
        </p:nvSpPr>
        <p:spPr>
          <a:xfrm>
            <a:off x="533400" y="4781550"/>
            <a:ext cx="11125200" cy="762000"/>
          </a:xfrm>
          <a:prstGeom prst="rect">
            <a:avLst/>
          </a:prstGeom>
          <a:solidFill>
            <a:srgbClr val="361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row-4-rule"/>
          <p:cNvSpPr/>
          <p:nvPr/>
        </p:nvSpPr>
        <p:spPr>
          <a:xfrm>
            <a:off x="533400" y="4781550"/>
            <a:ext cx="111252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scenario-4-tag"/>
          <p:cNvSpPr txBox="1"/>
          <p:nvPr/>
        </p:nvSpPr>
        <p:spPr>
          <a:xfrm>
            <a:off x="704850" y="4914900"/>
            <a:ext cx="238125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ACCELERATED</a:t>
            </a:r>
          </a:p>
        </p:txBody>
      </p:sp>
      <p:sp>
        <p:nvSpPr>
          <p:cNvPr id="59" name="scenario-4-name"/>
          <p:cNvSpPr txBox="1"/>
          <p:nvPr/>
        </p:nvSpPr>
        <p:spPr>
          <a:xfrm>
            <a:off x="704850" y="5086350"/>
            <a:ext cx="238125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75" b="1" i="0">
                <a:solidFill>
                  <a:srgbClr val="FFFFFF"/>
                </a:solidFill>
                <a:latin typeface="Inter"/>
              </a:rPr>
              <a:t>Scenario 3</a:t>
            </a:r>
          </a:p>
        </p:txBody>
      </p:sp>
      <p:sp>
        <p:nvSpPr>
          <p:cNvPr id="60" name="scenario-4-sub"/>
          <p:cNvSpPr txBox="1"/>
          <p:nvPr/>
        </p:nvSpPr>
        <p:spPr>
          <a:xfrm>
            <a:off x="704850" y="5334000"/>
            <a:ext cx="238125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All exits by Apr 9</a:t>
            </a:r>
          </a:p>
        </p:txBody>
      </p:sp>
      <p:sp>
        <p:nvSpPr>
          <p:cNvPr id="61" name="scenario-4-completion-value"/>
          <p:cNvSpPr txBox="1"/>
          <p:nvPr/>
        </p:nvSpPr>
        <p:spPr>
          <a:xfrm>
            <a:off x="3429000" y="49149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100%</a:t>
            </a:r>
          </a:p>
        </p:txBody>
      </p:sp>
      <p:sp>
        <p:nvSpPr>
          <p:cNvPr id="62" name="scenario-4-completion-unit"/>
          <p:cNvSpPr txBox="1"/>
          <p:nvPr/>
        </p:nvSpPr>
        <p:spPr>
          <a:xfrm>
            <a:off x="3429000" y="52006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530 FTE by Apr 9</a:t>
            </a:r>
          </a:p>
        </p:txBody>
      </p:sp>
      <p:sp>
        <p:nvSpPr>
          <p:cNvPr id="63" name="row-4-bar-track"/>
          <p:cNvSpPr/>
          <p:nvPr/>
        </p:nvSpPr>
        <p:spPr>
          <a:xfrm>
            <a:off x="3429000" y="5391150"/>
            <a:ext cx="1600200" cy="5715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4" name="scenario-4-completion-bar"/>
          <p:cNvSpPr/>
          <p:nvPr/>
        </p:nvSpPr>
        <p:spPr>
          <a:xfrm>
            <a:off x="3429000" y="5391150"/>
            <a:ext cx="1600200" cy="571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5" name="scenario-4-impact-amount"/>
          <p:cNvSpPr txBox="1"/>
          <p:nvPr/>
        </p:nvSpPr>
        <p:spPr>
          <a:xfrm>
            <a:off x="5372100" y="4914900"/>
            <a:ext cx="16002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8A82"/>
                </a:solidFill>
                <a:latin typeface="Inter"/>
              </a:rPr>
              <a:t>$343K</a:t>
            </a:r>
          </a:p>
        </p:txBody>
      </p:sp>
      <p:sp>
        <p:nvSpPr>
          <p:cNvPr id="66" name="scenario-4-impact-note"/>
          <p:cNvSpPr txBox="1"/>
          <p:nvPr/>
        </p:nvSpPr>
        <p:spPr>
          <a:xfrm>
            <a:off x="5372100" y="5200650"/>
            <a:ext cx="16002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8A82"/>
                </a:solidFill>
                <a:latin typeface="Inter"/>
              </a:rPr>
              <a:t>▼ vs. base</a:t>
            </a:r>
          </a:p>
        </p:txBody>
      </p:sp>
      <p:sp>
        <p:nvSpPr>
          <p:cNvPr id="67" name="scenario-4-timing-value"/>
          <p:cNvSpPr txBox="1"/>
          <p:nvPr/>
        </p:nvSpPr>
        <p:spPr>
          <a:xfrm>
            <a:off x="7315200" y="4914900"/>
            <a:ext cx="180022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Apr 9</a:t>
            </a:r>
          </a:p>
        </p:txBody>
      </p:sp>
      <p:sp>
        <p:nvSpPr>
          <p:cNvPr id="68" name="scenario-4-timing-note"/>
          <p:cNvSpPr txBox="1"/>
          <p:nvPr/>
        </p:nvSpPr>
        <p:spPr>
          <a:xfrm>
            <a:off x="7315200" y="5200650"/>
            <a:ext cx="180022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B8DD"/>
                </a:solidFill>
                <a:latin typeface="Inter"/>
              </a:rPr>
              <a:t>−21 days</a:t>
            </a:r>
          </a:p>
        </p:txBody>
      </p:sp>
      <p:sp>
        <p:nvSpPr>
          <p:cNvPr id="69" name="scenario-4-verdict-pill"/>
          <p:cNvSpPr txBox="1"/>
          <p:nvPr/>
        </p:nvSpPr>
        <p:spPr>
          <a:xfrm>
            <a:off x="9458325" y="4933950"/>
            <a:ext cx="2028825" cy="209550"/>
          </a:xfrm>
          <a:prstGeom prst="rect">
            <a:avLst/>
          </a:prstGeom>
          <a:solidFill>
            <a:srgbClr val="661A15"/>
          </a:solidFill>
          <a:ln>
            <a:noFill/>
          </a:ln>
        </p:spPr>
        <p:txBody>
          <a:bodyPr wrap="square" tIns="28575" rIns="114300" bIns="28575" lIns="11430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8A82"/>
                </a:solidFill>
                <a:latin typeface="Inter"/>
              </a:rPr>
              <a:t>NOT VIABLE</a:t>
            </a:r>
          </a:p>
        </p:txBody>
      </p:sp>
      <p:sp>
        <p:nvSpPr>
          <p:cNvPr id="70" name="scenario-4-verdict-note"/>
          <p:cNvSpPr txBox="1"/>
          <p:nvPr/>
        </p:nvSpPr>
        <p:spPr>
          <a:xfrm>
            <a:off x="9458325" y="5219700"/>
            <a:ext cx="2028825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Breaks knowledge transfer.</a:t>
            </a:r>
          </a:p>
        </p:txBody>
      </p:sp>
      <p:sp>
        <p:nvSpPr>
          <p:cNvPr id="71" name="convergence-bg"/>
          <p:cNvSpPr/>
          <p:nvPr/>
        </p:nvSpPr>
        <p:spPr>
          <a:xfrm>
            <a:off x="533400" y="5638800"/>
            <a:ext cx="11125200" cy="3810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2" name="convergence-accent"/>
          <p:cNvSpPr/>
          <p:nvPr/>
        </p:nvSpPr>
        <p:spPr>
          <a:xfrm>
            <a:off x="533400" y="5638800"/>
            <a:ext cx="38100" cy="38100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3" name="convergence"/>
          <p:cNvSpPr txBox="1"/>
          <p:nvPr/>
        </p:nvSpPr>
        <p:spPr>
          <a:xfrm>
            <a:off x="704850" y="5638800"/>
            <a:ext cx="10782300" cy="381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Read: rows are scenarios, columns are the same four lenses. Verdict combines cash impact with transition feasibility.</a:t>
            </a:r>
          </a:p>
        </p:txBody>
      </p:sp>
      <p:sp>
        <p:nvSpPr>
          <p:cNvPr id="74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75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76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