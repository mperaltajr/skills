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419100"/>
            <a:ext cx="12192000" cy="6477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55245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Account scorecard — Q3 FY26 program health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1066800"/>
            <a:ext cx="121920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eyebrow"/>
          <p:cNvSpPr txBox="1"/>
          <p:nvPr/>
        </p:nvSpPr>
        <p:spPr>
          <a:xfrm>
            <a:off x="381000" y="11430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PROGRAM HEALTH</a:t>
            </a:r>
          </a:p>
        </p:txBody>
      </p:sp>
      <p:sp>
        <p:nvSpPr>
          <p:cNvPr id="6" name="card-1-bg"/>
          <p:cNvSpPr/>
          <p:nvPr/>
        </p:nvSpPr>
        <p:spPr>
          <a:xfrm>
            <a:off x="381000" y="1409700"/>
            <a:ext cx="5619750" cy="23431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head"/>
          <p:cNvSpPr/>
          <p:nvPr/>
        </p:nvSpPr>
        <p:spPr>
          <a:xfrm>
            <a:off x="381000" y="1409700"/>
            <a:ext cx="5619750" cy="400050"/>
          </a:xfrm>
          <a:prstGeom prst="rect">
            <a:avLst/>
          </a:prstGeom>
          <a:solidFill>
            <a:srgbClr val="4A2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rag-dot"/>
          <p:cNvSpPr/>
          <p:nvPr/>
        </p:nvSpPr>
        <p:spPr>
          <a:xfrm>
            <a:off x="533400" y="1552575"/>
            <a:ext cx="114300" cy="1143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heading"/>
          <p:cNvSpPr txBox="1"/>
          <p:nvPr/>
        </p:nvSpPr>
        <p:spPr>
          <a:xfrm>
            <a:off x="762000" y="15049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Prometheus</a:t>
            </a:r>
          </a:p>
        </p:txBody>
      </p:sp>
      <p:sp>
        <p:nvSpPr>
          <p:cNvPr id="10" name="card-1-rag-pill-text"/>
          <p:cNvSpPr txBox="1"/>
          <p:nvPr/>
        </p:nvSpPr>
        <p:spPr>
          <a:xfrm>
            <a:off x="4762500" y="15240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ON TRACK</a:t>
            </a:r>
          </a:p>
        </p:txBody>
      </p:sp>
      <p:sp>
        <p:nvSpPr>
          <p:cNvPr id="11" name="card-1-body-bg"/>
          <p:cNvSpPr/>
          <p:nvPr/>
        </p:nvSpPr>
        <p:spPr>
          <a:xfrm>
            <a:off x="390525" y="1809750"/>
            <a:ext cx="5600700" cy="193357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eyebrow"/>
          <p:cNvSpPr txBox="1"/>
          <p:nvPr/>
        </p:nvSpPr>
        <p:spPr>
          <a:xfrm>
            <a:off x="533400" y="192405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HIGHLIGHTS</a:t>
            </a:r>
          </a:p>
        </p:txBody>
      </p:sp>
      <p:sp>
        <p:nvSpPr>
          <p:cNvPr id="13" name="card-1-body"/>
          <p:cNvSpPr txBox="1"/>
          <p:nvPr/>
        </p:nvSpPr>
        <p:spPr>
          <a:xfrm>
            <a:off x="533400" y="2114550"/>
            <a:ext cx="5314950" cy="1543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› 1,000+ automation use cases; 42% deployed across 14 archetypes
› MS 2.0 pre-requisites complete — go-live confirmed 3/16
› 85%+ MS activation; final 15% on track for Q3 close
› GenAI: 3,800+ GitHub Copilot users active</a:t>
            </a:r>
          </a:p>
        </p:txBody>
      </p:sp>
      <p:sp>
        <p:nvSpPr>
          <p:cNvPr id="14" name="card-2-bg"/>
          <p:cNvSpPr/>
          <p:nvPr/>
        </p:nvSpPr>
        <p:spPr>
          <a:xfrm>
            <a:off x="6191250" y="1409700"/>
            <a:ext cx="5619750" cy="23431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head"/>
          <p:cNvSpPr/>
          <p:nvPr/>
        </p:nvSpPr>
        <p:spPr>
          <a:xfrm>
            <a:off x="6191250" y="1409700"/>
            <a:ext cx="5619750" cy="400050"/>
          </a:xfrm>
          <a:prstGeom prst="rect">
            <a:avLst/>
          </a:prstGeom>
          <a:solidFill>
            <a:srgbClr val="4A2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rag-dot"/>
          <p:cNvSpPr/>
          <p:nvPr/>
        </p:nvSpPr>
        <p:spPr>
          <a:xfrm>
            <a:off x="6343650" y="1552575"/>
            <a:ext cx="114300" cy="1143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heading"/>
          <p:cNvSpPr txBox="1"/>
          <p:nvPr/>
        </p:nvSpPr>
        <p:spPr>
          <a:xfrm>
            <a:off x="6572250" y="15049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Fairway — EU Mod</a:t>
            </a:r>
          </a:p>
        </p:txBody>
      </p:sp>
      <p:sp>
        <p:nvSpPr>
          <p:cNvPr id="18" name="card-2-rag-pill-text"/>
          <p:cNvSpPr txBox="1"/>
          <p:nvPr/>
        </p:nvSpPr>
        <p:spPr>
          <a:xfrm>
            <a:off x="10572750" y="15240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AT RISK</a:t>
            </a:r>
          </a:p>
        </p:txBody>
      </p:sp>
      <p:sp>
        <p:nvSpPr>
          <p:cNvPr id="19" name="card-2-body-bg"/>
          <p:cNvSpPr/>
          <p:nvPr/>
        </p:nvSpPr>
        <p:spPr>
          <a:xfrm>
            <a:off x="6200775" y="1809750"/>
            <a:ext cx="5600700" cy="1933575"/>
          </a:xfrm>
          <a:prstGeom prst="rect">
            <a:avLst/>
          </a:prstGeom>
          <a:solidFill>
            <a:srgbClr val="4A3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2-eyebrow"/>
          <p:cNvSpPr txBox="1"/>
          <p:nvPr/>
        </p:nvSpPr>
        <p:spPr>
          <a:xfrm>
            <a:off x="6343650" y="192405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HIGHLIGHTS</a:t>
            </a:r>
          </a:p>
        </p:txBody>
      </p:sp>
      <p:sp>
        <p:nvSpPr>
          <p:cNvPr id="21" name="card-2-body"/>
          <p:cNvSpPr txBox="1"/>
          <p:nvPr/>
        </p:nvSpPr>
        <p:spPr>
          <a:xfrm>
            <a:off x="6343650" y="2114550"/>
            <a:ext cx="5314950" cy="1543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› SIT complete; UAT3 starting — 3-week slip risk on cutover
› TSA Exit planning initiated; resourcing gap flagged for steering
› Go-live May 5th — contingency plan for May 19th
› 16 weeks to production; cutover events on schedule</a:t>
            </a:r>
          </a:p>
        </p:txBody>
      </p:sp>
      <p:sp>
        <p:nvSpPr>
          <p:cNvPr id="22" name="card-3-bg"/>
          <p:cNvSpPr/>
          <p:nvPr/>
        </p:nvSpPr>
        <p:spPr>
          <a:xfrm>
            <a:off x="381000" y="3905250"/>
            <a:ext cx="5619750" cy="22098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head"/>
          <p:cNvSpPr/>
          <p:nvPr/>
        </p:nvSpPr>
        <p:spPr>
          <a:xfrm>
            <a:off x="381000" y="3905250"/>
            <a:ext cx="5619750" cy="400050"/>
          </a:xfrm>
          <a:prstGeom prst="rect">
            <a:avLst/>
          </a:prstGeom>
          <a:solidFill>
            <a:srgbClr val="4A2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3-rag-dot"/>
          <p:cNvSpPr/>
          <p:nvPr/>
        </p:nvSpPr>
        <p:spPr>
          <a:xfrm>
            <a:off x="533400" y="4048125"/>
            <a:ext cx="114300" cy="1143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3-heading"/>
          <p:cNvSpPr txBox="1"/>
          <p:nvPr/>
        </p:nvSpPr>
        <p:spPr>
          <a:xfrm>
            <a:off x="762000" y="40005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Journey 2 Cloud</a:t>
            </a:r>
          </a:p>
        </p:txBody>
      </p:sp>
      <p:sp>
        <p:nvSpPr>
          <p:cNvPr id="26" name="card-3-rag-pill-text"/>
          <p:cNvSpPr txBox="1"/>
          <p:nvPr/>
        </p:nvSpPr>
        <p:spPr>
          <a:xfrm>
            <a:off x="4762500" y="40195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ON TRACK</a:t>
            </a:r>
          </a:p>
        </p:txBody>
      </p:sp>
      <p:sp>
        <p:nvSpPr>
          <p:cNvPr id="27" name="card-3-body-bg"/>
          <p:cNvSpPr/>
          <p:nvPr/>
        </p:nvSpPr>
        <p:spPr>
          <a:xfrm>
            <a:off x="390525" y="4305300"/>
            <a:ext cx="5600700" cy="18002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3-eyebrow"/>
          <p:cNvSpPr txBox="1"/>
          <p:nvPr/>
        </p:nvSpPr>
        <p:spPr>
          <a:xfrm>
            <a:off x="533400" y="441960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HIGHLIGHTS</a:t>
            </a:r>
          </a:p>
        </p:txBody>
      </p:sp>
      <p:sp>
        <p:nvSpPr>
          <p:cNvPr id="29" name="card-3-body"/>
          <p:cNvSpPr txBox="1"/>
          <p:nvPr/>
        </p:nvSpPr>
        <p:spPr>
          <a:xfrm>
            <a:off x="533400" y="4610100"/>
            <a:ext cx="5314950" cy="1409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› 45 resources mobilized; Phase 1 design approved
› Phase 2 architecture underway — Q4 FY26 migration start
› $7.9M FY26 benefit on track; no material blockers</a:t>
            </a:r>
          </a:p>
        </p:txBody>
      </p:sp>
      <p:sp>
        <p:nvSpPr>
          <p:cNvPr id="30" name="card-4-bg"/>
          <p:cNvSpPr/>
          <p:nvPr/>
        </p:nvSpPr>
        <p:spPr>
          <a:xfrm>
            <a:off x="6191250" y="3905250"/>
            <a:ext cx="5619750" cy="22098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4-head"/>
          <p:cNvSpPr/>
          <p:nvPr/>
        </p:nvSpPr>
        <p:spPr>
          <a:xfrm>
            <a:off x="6191250" y="3905250"/>
            <a:ext cx="5619750" cy="400050"/>
          </a:xfrm>
          <a:prstGeom prst="rect">
            <a:avLst/>
          </a:prstGeom>
          <a:solidFill>
            <a:srgbClr val="4A2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4-rag-dot"/>
          <p:cNvSpPr/>
          <p:nvPr/>
        </p:nvSpPr>
        <p:spPr>
          <a:xfrm>
            <a:off x="6343650" y="4048125"/>
            <a:ext cx="114300" cy="1143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ard-4-heading"/>
          <p:cNvSpPr txBox="1"/>
          <p:nvPr/>
        </p:nvSpPr>
        <p:spPr>
          <a:xfrm>
            <a:off x="6572250" y="40005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Tech Mod / Hire-to-Retire</a:t>
            </a:r>
          </a:p>
        </p:txBody>
      </p:sp>
      <p:sp>
        <p:nvSpPr>
          <p:cNvPr id="34" name="card-4-rag-pill-text"/>
          <p:cNvSpPr txBox="1"/>
          <p:nvPr/>
        </p:nvSpPr>
        <p:spPr>
          <a:xfrm>
            <a:off x="10572750" y="40195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AT RISK</a:t>
            </a:r>
          </a:p>
        </p:txBody>
      </p:sp>
      <p:sp>
        <p:nvSpPr>
          <p:cNvPr id="35" name="card-4-body-bg"/>
          <p:cNvSpPr/>
          <p:nvPr/>
        </p:nvSpPr>
        <p:spPr>
          <a:xfrm>
            <a:off x="6200775" y="4305300"/>
            <a:ext cx="5600700" cy="1800225"/>
          </a:xfrm>
          <a:prstGeom prst="rect">
            <a:avLst/>
          </a:prstGeom>
          <a:solidFill>
            <a:srgbClr val="4A3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4-eyebrow"/>
          <p:cNvSpPr txBox="1"/>
          <p:nvPr/>
        </p:nvSpPr>
        <p:spPr>
          <a:xfrm>
            <a:off x="6343650" y="441960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HIGHLIGHTS</a:t>
            </a:r>
          </a:p>
        </p:txBody>
      </p:sp>
      <p:sp>
        <p:nvSpPr>
          <p:cNvPr id="37" name="card-4-body"/>
          <p:cNvSpPr txBox="1"/>
          <p:nvPr/>
        </p:nvSpPr>
        <p:spPr>
          <a:xfrm>
            <a:off x="6343650" y="4610100"/>
            <a:ext cx="5314950" cy="1409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› Joint Mod Council established; governance guardrails pending
› AIQ: 10,000+ courses complete; exec 1:1 coaching active
› Portfolio modernization — benefit at risk without Q3 decision</a:t>
            </a:r>
          </a:p>
        </p:txBody>
      </p:sp>
      <p:sp>
        <p:nvSpPr>
          <p:cNvPr id="3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