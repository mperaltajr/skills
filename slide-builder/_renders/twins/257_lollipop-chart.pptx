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Channel engagement scores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digital leads by a wide margin.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Composite engagement index by channel, current period · ranked descending · top 3 highlighted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914400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9296400" y="22098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Top 3 channels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10477500" y="2257425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10629900" y="2209800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All other channels</a:t>
            </a:r>
          </a:p>
        </p:txBody>
      </p:sp>
      <p:sp>
        <p:nvSpPr>
          <p:cNvPr id="9" name="chart-zone"/>
          <p:cNvSpPr/>
          <p:nvPr/>
        </p:nvSpPr>
        <p:spPr>
          <a:xfrm>
            <a:off x="457200" y="2552700"/>
            <a:ext cx="7439025" cy="3467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gridline-25"/>
          <p:cNvSpPr/>
          <p:nvPr/>
        </p:nvSpPr>
        <p:spPr>
          <a:xfrm>
            <a:off x="3238500" y="2705100"/>
            <a:ext cx="9525" cy="3028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gridline-50"/>
          <p:cNvSpPr/>
          <p:nvPr/>
        </p:nvSpPr>
        <p:spPr>
          <a:xfrm>
            <a:off x="4600575" y="2705100"/>
            <a:ext cx="9525" cy="3028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gridline-75"/>
          <p:cNvSpPr/>
          <p:nvPr/>
        </p:nvSpPr>
        <p:spPr>
          <a:xfrm>
            <a:off x="5962650" y="2705100"/>
            <a:ext cx="9525" cy="3028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gridline-100"/>
          <p:cNvSpPr/>
          <p:nvPr/>
        </p:nvSpPr>
        <p:spPr>
          <a:xfrm>
            <a:off x="7324725" y="2705100"/>
            <a:ext cx="9525" cy="3028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ck-0"/>
          <p:cNvSpPr txBox="1"/>
          <p:nvPr/>
        </p:nvSpPr>
        <p:spPr>
          <a:xfrm>
            <a:off x="1695450" y="5772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0%</a:t>
            </a:r>
          </a:p>
        </p:txBody>
      </p:sp>
      <p:sp>
        <p:nvSpPr>
          <p:cNvPr id="15" name="tick-25"/>
          <p:cNvSpPr txBox="1"/>
          <p:nvPr/>
        </p:nvSpPr>
        <p:spPr>
          <a:xfrm>
            <a:off x="3048000" y="5772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25%</a:t>
            </a:r>
          </a:p>
        </p:txBody>
      </p:sp>
      <p:sp>
        <p:nvSpPr>
          <p:cNvPr id="16" name="tick-50"/>
          <p:cNvSpPr txBox="1"/>
          <p:nvPr/>
        </p:nvSpPr>
        <p:spPr>
          <a:xfrm>
            <a:off x="4410075" y="5772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50%</a:t>
            </a:r>
          </a:p>
        </p:txBody>
      </p:sp>
      <p:sp>
        <p:nvSpPr>
          <p:cNvPr id="17" name="tick-75"/>
          <p:cNvSpPr txBox="1"/>
          <p:nvPr/>
        </p:nvSpPr>
        <p:spPr>
          <a:xfrm>
            <a:off x="5772150" y="5772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75%</a:t>
            </a:r>
          </a:p>
        </p:txBody>
      </p:sp>
      <p:sp>
        <p:nvSpPr>
          <p:cNvPr id="18" name="tick-100"/>
          <p:cNvSpPr txBox="1"/>
          <p:nvPr/>
        </p:nvSpPr>
        <p:spPr>
          <a:xfrm>
            <a:off x="7134225" y="5772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100%</a:t>
            </a:r>
          </a:p>
        </p:txBody>
      </p:sp>
      <p:sp>
        <p:nvSpPr>
          <p:cNvPr id="19" name="row-1-label"/>
          <p:cNvSpPr txBox="1"/>
          <p:nvPr/>
        </p:nvSpPr>
        <p:spPr>
          <a:xfrm>
            <a:off x="552450" y="277177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Channels</a:t>
            </a:r>
          </a:p>
        </p:txBody>
      </p:sp>
      <p:sp>
        <p:nvSpPr>
          <p:cNvPr id="20" name="row-1-line"/>
          <p:cNvSpPr/>
          <p:nvPr/>
        </p:nvSpPr>
        <p:spPr>
          <a:xfrm>
            <a:off x="1885950" y="2838450"/>
            <a:ext cx="47244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1-dot"/>
          <p:cNvSpPr/>
          <p:nvPr/>
        </p:nvSpPr>
        <p:spPr>
          <a:xfrm>
            <a:off x="6562725" y="28003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row-1-val"/>
          <p:cNvSpPr txBox="1"/>
          <p:nvPr/>
        </p:nvSpPr>
        <p:spPr>
          <a:xfrm>
            <a:off x="6686550" y="277177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87%</a:t>
            </a:r>
          </a:p>
        </p:txBody>
      </p:sp>
      <p:sp>
        <p:nvSpPr>
          <p:cNvPr id="23" name="row-2-label"/>
          <p:cNvSpPr txBox="1"/>
          <p:nvPr/>
        </p:nvSpPr>
        <p:spPr>
          <a:xfrm>
            <a:off x="552450" y="30670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Mobile App</a:t>
            </a:r>
          </a:p>
        </p:txBody>
      </p:sp>
      <p:sp>
        <p:nvSpPr>
          <p:cNvPr id="24" name="row-2-line"/>
          <p:cNvSpPr/>
          <p:nvPr/>
        </p:nvSpPr>
        <p:spPr>
          <a:xfrm>
            <a:off x="1885950" y="3133725"/>
            <a:ext cx="42957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2-dot"/>
          <p:cNvSpPr/>
          <p:nvPr/>
        </p:nvSpPr>
        <p:spPr>
          <a:xfrm>
            <a:off x="6134100" y="30956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2-val"/>
          <p:cNvSpPr txBox="1"/>
          <p:nvPr/>
        </p:nvSpPr>
        <p:spPr>
          <a:xfrm>
            <a:off x="6257925" y="30670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79%</a:t>
            </a:r>
          </a:p>
        </p:txBody>
      </p:sp>
      <p:sp>
        <p:nvSpPr>
          <p:cNvPr id="27" name="row-3-label"/>
          <p:cNvSpPr txBox="1"/>
          <p:nvPr/>
        </p:nvSpPr>
        <p:spPr>
          <a:xfrm>
            <a:off x="552450" y="336232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Self-Service</a:t>
            </a:r>
          </a:p>
        </p:txBody>
      </p:sp>
      <p:sp>
        <p:nvSpPr>
          <p:cNvPr id="28" name="row-3-line"/>
          <p:cNvSpPr/>
          <p:nvPr/>
        </p:nvSpPr>
        <p:spPr>
          <a:xfrm>
            <a:off x="1885950" y="3429000"/>
            <a:ext cx="38576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3-dot"/>
          <p:cNvSpPr/>
          <p:nvPr/>
        </p:nvSpPr>
        <p:spPr>
          <a:xfrm>
            <a:off x="5695950" y="339090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3-val"/>
          <p:cNvSpPr txBox="1"/>
          <p:nvPr/>
        </p:nvSpPr>
        <p:spPr>
          <a:xfrm>
            <a:off x="5819775" y="336232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71%</a:t>
            </a:r>
          </a:p>
        </p:txBody>
      </p:sp>
      <p:sp>
        <p:nvSpPr>
          <p:cNvPr id="31" name="row-4-label"/>
          <p:cNvSpPr txBox="1"/>
          <p:nvPr/>
        </p:nvSpPr>
        <p:spPr>
          <a:xfrm>
            <a:off x="552450" y="365760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Email</a:t>
            </a:r>
          </a:p>
        </p:txBody>
      </p:sp>
      <p:sp>
        <p:nvSpPr>
          <p:cNvPr id="32" name="row-4-line"/>
          <p:cNvSpPr/>
          <p:nvPr/>
        </p:nvSpPr>
        <p:spPr>
          <a:xfrm>
            <a:off x="1885950" y="3724275"/>
            <a:ext cx="347662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ow-4-dot"/>
          <p:cNvSpPr/>
          <p:nvPr/>
        </p:nvSpPr>
        <p:spPr>
          <a:xfrm>
            <a:off x="5314950" y="3686175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4-val"/>
          <p:cNvSpPr txBox="1"/>
          <p:nvPr/>
        </p:nvSpPr>
        <p:spPr>
          <a:xfrm>
            <a:off x="5438775" y="365760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64%</a:t>
            </a:r>
          </a:p>
        </p:txBody>
      </p:sp>
      <p:sp>
        <p:nvSpPr>
          <p:cNvPr id="35" name="row-5-label"/>
          <p:cNvSpPr txBox="1"/>
          <p:nvPr/>
        </p:nvSpPr>
        <p:spPr>
          <a:xfrm>
            <a:off x="552450" y="395287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Branch</a:t>
            </a:r>
          </a:p>
        </p:txBody>
      </p:sp>
      <p:sp>
        <p:nvSpPr>
          <p:cNvPr id="36" name="row-5-line"/>
          <p:cNvSpPr/>
          <p:nvPr/>
        </p:nvSpPr>
        <p:spPr>
          <a:xfrm>
            <a:off x="1885950" y="4019550"/>
            <a:ext cx="315277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5-dot"/>
          <p:cNvSpPr/>
          <p:nvPr/>
        </p:nvSpPr>
        <p:spPr>
          <a:xfrm>
            <a:off x="4991100" y="3981450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5-val"/>
          <p:cNvSpPr txBox="1"/>
          <p:nvPr/>
        </p:nvSpPr>
        <p:spPr>
          <a:xfrm>
            <a:off x="5114925" y="395287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58%</a:t>
            </a:r>
          </a:p>
        </p:txBody>
      </p:sp>
      <p:sp>
        <p:nvSpPr>
          <p:cNvPr id="39" name="row-6-label"/>
          <p:cNvSpPr txBox="1"/>
          <p:nvPr/>
        </p:nvSpPr>
        <p:spPr>
          <a:xfrm>
            <a:off x="552450" y="42481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Call Center</a:t>
            </a:r>
          </a:p>
        </p:txBody>
      </p:sp>
      <p:sp>
        <p:nvSpPr>
          <p:cNvPr id="40" name="row-6-line"/>
          <p:cNvSpPr/>
          <p:nvPr/>
        </p:nvSpPr>
        <p:spPr>
          <a:xfrm>
            <a:off x="1885950" y="4314825"/>
            <a:ext cx="28194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6-dot"/>
          <p:cNvSpPr/>
          <p:nvPr/>
        </p:nvSpPr>
        <p:spPr>
          <a:xfrm>
            <a:off x="4657725" y="4276725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6-val"/>
          <p:cNvSpPr txBox="1"/>
          <p:nvPr/>
        </p:nvSpPr>
        <p:spPr>
          <a:xfrm>
            <a:off x="4781550" y="42481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52%</a:t>
            </a:r>
          </a:p>
        </p:txBody>
      </p:sp>
      <p:sp>
        <p:nvSpPr>
          <p:cNvPr id="43" name="row-7-label"/>
          <p:cNvSpPr txBox="1"/>
          <p:nvPr/>
        </p:nvSpPr>
        <p:spPr>
          <a:xfrm>
            <a:off x="552450" y="454342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Chat Bot</a:t>
            </a:r>
          </a:p>
        </p:txBody>
      </p:sp>
      <p:sp>
        <p:nvSpPr>
          <p:cNvPr id="44" name="row-7-line"/>
          <p:cNvSpPr/>
          <p:nvPr/>
        </p:nvSpPr>
        <p:spPr>
          <a:xfrm>
            <a:off x="1885950" y="4610100"/>
            <a:ext cx="239077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7-dot"/>
          <p:cNvSpPr/>
          <p:nvPr/>
        </p:nvSpPr>
        <p:spPr>
          <a:xfrm>
            <a:off x="4229100" y="4572000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ow-7-val"/>
          <p:cNvSpPr txBox="1"/>
          <p:nvPr/>
        </p:nvSpPr>
        <p:spPr>
          <a:xfrm>
            <a:off x="4352925" y="454342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44%</a:t>
            </a:r>
          </a:p>
        </p:txBody>
      </p:sp>
      <p:sp>
        <p:nvSpPr>
          <p:cNvPr id="47" name="row-8-label"/>
          <p:cNvSpPr txBox="1"/>
          <p:nvPr/>
        </p:nvSpPr>
        <p:spPr>
          <a:xfrm>
            <a:off x="552450" y="483870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Network</a:t>
            </a:r>
          </a:p>
        </p:txBody>
      </p:sp>
      <p:sp>
        <p:nvSpPr>
          <p:cNvPr id="48" name="row-8-line"/>
          <p:cNvSpPr/>
          <p:nvPr/>
        </p:nvSpPr>
        <p:spPr>
          <a:xfrm>
            <a:off x="1885950" y="4905375"/>
            <a:ext cx="20574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ow-8-dot"/>
          <p:cNvSpPr/>
          <p:nvPr/>
        </p:nvSpPr>
        <p:spPr>
          <a:xfrm>
            <a:off x="3895725" y="4867275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8-val"/>
          <p:cNvSpPr txBox="1"/>
          <p:nvPr/>
        </p:nvSpPr>
        <p:spPr>
          <a:xfrm>
            <a:off x="4019550" y="483870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38%</a:t>
            </a:r>
          </a:p>
        </p:txBody>
      </p:sp>
      <p:sp>
        <p:nvSpPr>
          <p:cNvPr id="51" name="row-9-label"/>
          <p:cNvSpPr txBox="1"/>
          <p:nvPr/>
        </p:nvSpPr>
        <p:spPr>
          <a:xfrm>
            <a:off x="552450" y="513397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Postal</a:t>
            </a:r>
          </a:p>
        </p:txBody>
      </p:sp>
      <p:sp>
        <p:nvSpPr>
          <p:cNvPr id="52" name="row-9-line"/>
          <p:cNvSpPr/>
          <p:nvPr/>
        </p:nvSpPr>
        <p:spPr>
          <a:xfrm>
            <a:off x="1885950" y="5200650"/>
            <a:ext cx="130492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9-dot"/>
          <p:cNvSpPr/>
          <p:nvPr/>
        </p:nvSpPr>
        <p:spPr>
          <a:xfrm>
            <a:off x="3143250" y="5162550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9-val"/>
          <p:cNvSpPr txBox="1"/>
          <p:nvPr/>
        </p:nvSpPr>
        <p:spPr>
          <a:xfrm>
            <a:off x="3267075" y="513397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24%</a:t>
            </a:r>
          </a:p>
        </p:txBody>
      </p:sp>
      <p:sp>
        <p:nvSpPr>
          <p:cNvPr id="55" name="row-10-label"/>
          <p:cNvSpPr txBox="1"/>
          <p:nvPr/>
        </p:nvSpPr>
        <p:spPr>
          <a:xfrm>
            <a:off x="552450" y="54292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Fax</a:t>
            </a:r>
          </a:p>
        </p:txBody>
      </p:sp>
      <p:sp>
        <p:nvSpPr>
          <p:cNvPr id="56" name="row-10-line"/>
          <p:cNvSpPr/>
          <p:nvPr/>
        </p:nvSpPr>
        <p:spPr>
          <a:xfrm>
            <a:off x="1885950" y="5495925"/>
            <a:ext cx="42862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10-dot"/>
          <p:cNvSpPr/>
          <p:nvPr/>
        </p:nvSpPr>
        <p:spPr>
          <a:xfrm>
            <a:off x="2266950" y="5457825"/>
            <a:ext cx="95250" cy="952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10-val"/>
          <p:cNvSpPr txBox="1"/>
          <p:nvPr/>
        </p:nvSpPr>
        <p:spPr>
          <a:xfrm>
            <a:off x="2390775" y="5429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8%</a:t>
            </a:r>
          </a:p>
        </p:txBody>
      </p:sp>
      <p:sp>
        <p:nvSpPr>
          <p:cNvPr id="59" name="annotation"/>
          <p:cNvSpPr/>
          <p:nvPr/>
        </p:nvSpPr>
        <p:spPr>
          <a:xfrm>
            <a:off x="8067675" y="2552700"/>
            <a:ext cx="3667125" cy="3467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annotation-tag"/>
          <p:cNvSpPr txBox="1"/>
          <p:nvPr/>
        </p:nvSpPr>
        <p:spPr>
          <a:xfrm>
            <a:off x="8239125" y="2705100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FINDINGS</a:t>
            </a:r>
          </a:p>
        </p:txBody>
      </p:sp>
      <p:sp>
        <p:nvSpPr>
          <p:cNvPr id="61" name="ann-bullet-1-marker"/>
          <p:cNvSpPr txBox="1"/>
          <p:nvPr/>
        </p:nvSpPr>
        <p:spPr>
          <a:xfrm>
            <a:off x="8239125" y="30099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62" name="ann-bullet-1"/>
          <p:cNvSpPr txBox="1"/>
          <p:nvPr/>
        </p:nvSpPr>
        <p:spPr>
          <a:xfrm>
            <a:off x="8410575" y="2990850"/>
            <a:ext cx="3152775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channels dominate: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the top 3 ranked channels are all digital — signalling a decisive shift in customer preference away from human-staffed touchpoints.</a:t>
            </a:r>
          </a:p>
        </p:txBody>
      </p:sp>
      <p:sp>
        <p:nvSpPr>
          <p:cNvPr id="63" name="ann-bullet-2-marker"/>
          <p:cNvSpPr txBox="1"/>
          <p:nvPr/>
        </p:nvSpPr>
        <p:spPr>
          <a:xfrm>
            <a:off x="8239125" y="38481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64" name="ann-bullet-2"/>
          <p:cNvSpPr txBox="1"/>
          <p:nvPr/>
        </p:nvSpPr>
        <p:spPr>
          <a:xfrm>
            <a:off x="8410575" y="3829050"/>
            <a:ext cx="3152775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Legacy channels trail sharply: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Postal (24%) and Fax (8%) score below a quarter of the leading channel, indicating residual edge-case use only.</a:t>
            </a:r>
          </a:p>
        </p:txBody>
      </p:sp>
      <p:sp>
        <p:nvSpPr>
          <p:cNvPr id="65" name="ann-bullet-3-marker"/>
          <p:cNvSpPr txBox="1"/>
          <p:nvPr/>
        </p:nvSpPr>
        <p:spPr>
          <a:xfrm>
            <a:off x="8239125" y="46863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66" name="ann-bullet-3"/>
          <p:cNvSpPr txBox="1"/>
          <p:nvPr/>
        </p:nvSpPr>
        <p:spPr>
          <a:xfrm>
            <a:off x="8410575" y="4667250"/>
            <a:ext cx="3152775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Mid-tier gap is actionable: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Call Center and Chat Bot cluster between 44–52% — targeted investment in conversational AI could close the gap in one cycle.</a:t>
            </a:r>
          </a:p>
        </p:txBody>
      </p:sp>
      <p:sp>
        <p:nvSpPr>
          <p:cNvPr id="67" name="annotation-source"/>
          <p:cNvSpPr txBox="1"/>
          <p:nvPr/>
        </p:nvSpPr>
        <p:spPr>
          <a:xfrm>
            <a:off x="8239125" y="5676900"/>
            <a:ext cx="33242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Source: Customer Engagement Survey, Q1 2026 · n = 4,200 · composite (reach × depth × satisfaction)</a:t>
            </a:r>
          </a:p>
        </p:txBody>
      </p:sp>
      <p:sp>
        <p:nvSpPr>
          <p:cNvPr id="6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