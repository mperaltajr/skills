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Six </a:t>
            </a:r>
            <a:r>
              <a:rPr sz="2100" b="1" i="0">
                <a:solidFill>
                  <a:srgbClr val="C780FF"/>
                </a:solidFill>
                <a:latin typeface="Inter"/>
              </a:rPr>
              <a:t>strategic levers</a:t>
            </a:r>
            <a:r>
              <a:rPr sz="2100" b="1" i="0">
                <a:solidFill>
                  <a:srgbClr val="FFFFFF"/>
                </a:solidFill>
                <a:latin typeface="Inter"/>
              </a:rPr>
              <a:t> driving transformation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Prioritized initiative clusters mapped to business value and delivery readiness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3657600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top"/>
          <p:cNvSpPr/>
          <p:nvPr/>
        </p:nvSpPr>
        <p:spPr>
          <a:xfrm>
            <a:off x="457200" y="1905000"/>
            <a:ext cx="3657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ucket-1-badge-bg"/>
          <p:cNvSpPr/>
          <p:nvPr/>
        </p:nvSpPr>
        <p:spPr>
          <a:xfrm>
            <a:off x="609600" y="2057400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bucket-1-badge"/>
          <p:cNvSpPr txBox="1"/>
          <p:nvPr/>
        </p:nvSpPr>
        <p:spPr>
          <a:xfrm>
            <a:off x="609600" y="20574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bucket-1-title"/>
          <p:cNvSpPr txBox="1"/>
          <p:nvPr/>
        </p:nvSpPr>
        <p:spPr>
          <a:xfrm>
            <a:off x="971550" y="2076450"/>
            <a:ext cx="2933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Foundation &amp; Governance</a:t>
            </a:r>
          </a:p>
        </p:txBody>
      </p:sp>
      <p:sp>
        <p:nvSpPr>
          <p:cNvPr id="10" name="bucket-1-bullet-1"/>
          <p:cNvSpPr txBox="1"/>
          <p:nvPr/>
        </p:nvSpPr>
        <p:spPr>
          <a:xfrm>
            <a:off x="609600" y="2476500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Unified data catalog across 14 source systems</a:t>
            </a:r>
          </a:p>
        </p:txBody>
      </p:sp>
      <p:sp>
        <p:nvSpPr>
          <p:cNvPr id="11" name="bucket-1-bullet-2"/>
          <p:cNvSpPr txBox="1"/>
          <p:nvPr/>
        </p:nvSpPr>
        <p:spPr>
          <a:xfrm>
            <a:off x="609600" y="2686050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Master data management framework deployed</a:t>
            </a:r>
          </a:p>
        </p:txBody>
      </p:sp>
      <p:sp>
        <p:nvSpPr>
          <p:cNvPr id="12" name="bucket-1-metric"/>
          <p:cNvSpPr txBox="1"/>
          <p:nvPr/>
        </p:nvSpPr>
        <p:spPr>
          <a:xfrm>
            <a:off x="609600" y="3857625"/>
            <a:ext cx="335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84% coverage</a:t>
            </a:r>
          </a:p>
        </p:txBody>
      </p:sp>
      <p:sp>
        <p:nvSpPr>
          <p:cNvPr id="13" name="bucket-2-card"/>
          <p:cNvSpPr/>
          <p:nvPr/>
        </p:nvSpPr>
        <p:spPr>
          <a:xfrm>
            <a:off x="4267200" y="1905000"/>
            <a:ext cx="3657600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bucket-2-top"/>
          <p:cNvSpPr/>
          <p:nvPr/>
        </p:nvSpPr>
        <p:spPr>
          <a:xfrm>
            <a:off x="4267200" y="1905000"/>
            <a:ext cx="3657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ucket-2-badge-bg"/>
          <p:cNvSpPr/>
          <p:nvPr/>
        </p:nvSpPr>
        <p:spPr>
          <a:xfrm>
            <a:off x="4419600" y="2057400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bucket-2-badge"/>
          <p:cNvSpPr txBox="1"/>
          <p:nvPr/>
        </p:nvSpPr>
        <p:spPr>
          <a:xfrm>
            <a:off x="4419600" y="20574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7" name="bucket-2-title"/>
          <p:cNvSpPr txBox="1"/>
          <p:nvPr/>
        </p:nvSpPr>
        <p:spPr>
          <a:xfrm>
            <a:off x="4781550" y="2076450"/>
            <a:ext cx="2933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Migration &amp; Modernisation</a:t>
            </a:r>
          </a:p>
        </p:txBody>
      </p:sp>
      <p:sp>
        <p:nvSpPr>
          <p:cNvPr id="18" name="bucket-2-bullet-1"/>
          <p:cNvSpPr txBox="1"/>
          <p:nvPr/>
        </p:nvSpPr>
        <p:spPr>
          <a:xfrm>
            <a:off x="4419600" y="2476500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Lift-and-shift Phase 1 completed on schedule</a:t>
            </a:r>
          </a:p>
        </p:txBody>
      </p:sp>
      <p:sp>
        <p:nvSpPr>
          <p:cNvPr id="19" name="bucket-2-bullet-2"/>
          <p:cNvSpPr txBox="1"/>
          <p:nvPr/>
        </p:nvSpPr>
        <p:spPr>
          <a:xfrm>
            <a:off x="4419600" y="2686050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Containerisation of 60+ legacy workloads</a:t>
            </a:r>
          </a:p>
        </p:txBody>
      </p:sp>
      <p:sp>
        <p:nvSpPr>
          <p:cNvPr id="20" name="bucket-2-metric"/>
          <p:cNvSpPr txBox="1"/>
          <p:nvPr/>
        </p:nvSpPr>
        <p:spPr>
          <a:xfrm>
            <a:off x="4419600" y="3857625"/>
            <a:ext cx="335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$3.2M savings</a:t>
            </a:r>
          </a:p>
        </p:txBody>
      </p:sp>
      <p:sp>
        <p:nvSpPr>
          <p:cNvPr id="21" name="bucket-3-card"/>
          <p:cNvSpPr/>
          <p:nvPr/>
        </p:nvSpPr>
        <p:spPr>
          <a:xfrm>
            <a:off x="8077200" y="1905000"/>
            <a:ext cx="3657600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bucket-3-top"/>
          <p:cNvSpPr/>
          <p:nvPr/>
        </p:nvSpPr>
        <p:spPr>
          <a:xfrm>
            <a:off x="8077200" y="1905000"/>
            <a:ext cx="3657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ucket-3-badge-bg"/>
          <p:cNvSpPr/>
          <p:nvPr/>
        </p:nvSpPr>
        <p:spPr>
          <a:xfrm>
            <a:off x="8229600" y="2057400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bucket-3-badge"/>
          <p:cNvSpPr txBox="1"/>
          <p:nvPr/>
        </p:nvSpPr>
        <p:spPr>
          <a:xfrm>
            <a:off x="8229600" y="2057400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5" name="bucket-3-title"/>
          <p:cNvSpPr txBox="1"/>
          <p:nvPr/>
        </p:nvSpPr>
        <p:spPr>
          <a:xfrm>
            <a:off x="8591550" y="2076450"/>
            <a:ext cx="2933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AI &amp; Analytics Enablement</a:t>
            </a:r>
          </a:p>
        </p:txBody>
      </p:sp>
      <p:sp>
        <p:nvSpPr>
          <p:cNvPr id="26" name="bucket-3-bullet-1"/>
          <p:cNvSpPr txBox="1"/>
          <p:nvPr/>
        </p:nvSpPr>
        <p:spPr>
          <a:xfrm>
            <a:off x="8229600" y="2476500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Predictive demand models in 3 business units</a:t>
            </a:r>
          </a:p>
        </p:txBody>
      </p:sp>
      <p:sp>
        <p:nvSpPr>
          <p:cNvPr id="27" name="bucket-3-bullet-2"/>
          <p:cNvSpPr txBox="1"/>
          <p:nvPr/>
        </p:nvSpPr>
        <p:spPr>
          <a:xfrm>
            <a:off x="8229600" y="2686050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GenAI pilot: 40% reduction in report cycle</a:t>
            </a:r>
          </a:p>
        </p:txBody>
      </p:sp>
      <p:sp>
        <p:nvSpPr>
          <p:cNvPr id="28" name="bucket-3-metric"/>
          <p:cNvSpPr txBox="1"/>
          <p:nvPr/>
        </p:nvSpPr>
        <p:spPr>
          <a:xfrm>
            <a:off x="8229600" y="3857625"/>
            <a:ext cx="335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+27% throughput</a:t>
            </a:r>
          </a:p>
        </p:txBody>
      </p:sp>
      <p:sp>
        <p:nvSpPr>
          <p:cNvPr id="29" name="bucket-4-card"/>
          <p:cNvSpPr/>
          <p:nvPr/>
        </p:nvSpPr>
        <p:spPr>
          <a:xfrm>
            <a:off x="457200" y="4219575"/>
            <a:ext cx="3657600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ucket-4-top"/>
          <p:cNvSpPr/>
          <p:nvPr/>
        </p:nvSpPr>
        <p:spPr>
          <a:xfrm>
            <a:off x="457200" y="4219575"/>
            <a:ext cx="3657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ucket-4-badge-bg"/>
          <p:cNvSpPr/>
          <p:nvPr/>
        </p:nvSpPr>
        <p:spPr>
          <a:xfrm>
            <a:off x="609600" y="4371975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ucket-4-badge"/>
          <p:cNvSpPr txBox="1"/>
          <p:nvPr/>
        </p:nvSpPr>
        <p:spPr>
          <a:xfrm>
            <a:off x="609600" y="43719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33" name="bucket-4-title"/>
          <p:cNvSpPr txBox="1"/>
          <p:nvPr/>
        </p:nvSpPr>
        <p:spPr>
          <a:xfrm>
            <a:off x="971550" y="4391025"/>
            <a:ext cx="2933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Operating Model Redesign</a:t>
            </a:r>
          </a:p>
        </p:txBody>
      </p:sp>
      <p:sp>
        <p:nvSpPr>
          <p:cNvPr id="34" name="bucket-4-bullet-1"/>
          <p:cNvSpPr txBox="1"/>
          <p:nvPr/>
        </p:nvSpPr>
        <p:spPr>
          <a:xfrm>
            <a:off x="609600" y="4791075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Product-aligned squads replacing functional silos</a:t>
            </a:r>
          </a:p>
        </p:txBody>
      </p:sp>
      <p:sp>
        <p:nvSpPr>
          <p:cNvPr id="35" name="bucket-4-bullet-2"/>
          <p:cNvSpPr txBox="1"/>
          <p:nvPr/>
        </p:nvSpPr>
        <p:spPr>
          <a:xfrm>
            <a:off x="609600" y="5000625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RACI refreshed for 8 critical decision domains</a:t>
            </a:r>
          </a:p>
        </p:txBody>
      </p:sp>
      <p:sp>
        <p:nvSpPr>
          <p:cNvPr id="36" name="bucket-4-metric"/>
          <p:cNvSpPr txBox="1"/>
          <p:nvPr/>
        </p:nvSpPr>
        <p:spPr>
          <a:xfrm>
            <a:off x="609600" y="6172200"/>
            <a:ext cx="335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18 wks to go-live</a:t>
            </a:r>
          </a:p>
        </p:txBody>
      </p:sp>
      <p:sp>
        <p:nvSpPr>
          <p:cNvPr id="37" name="bucket-5-card"/>
          <p:cNvSpPr/>
          <p:nvPr/>
        </p:nvSpPr>
        <p:spPr>
          <a:xfrm>
            <a:off x="4267200" y="4219575"/>
            <a:ext cx="3657600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bucket-5-top"/>
          <p:cNvSpPr/>
          <p:nvPr/>
        </p:nvSpPr>
        <p:spPr>
          <a:xfrm>
            <a:off x="4267200" y="4219575"/>
            <a:ext cx="3657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ucket-5-badge-bg"/>
          <p:cNvSpPr/>
          <p:nvPr/>
        </p:nvSpPr>
        <p:spPr>
          <a:xfrm>
            <a:off x="4419600" y="4371975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bucket-5-badge"/>
          <p:cNvSpPr txBox="1"/>
          <p:nvPr/>
        </p:nvSpPr>
        <p:spPr>
          <a:xfrm>
            <a:off x="4419600" y="43719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41" name="bucket-5-title"/>
          <p:cNvSpPr txBox="1"/>
          <p:nvPr/>
        </p:nvSpPr>
        <p:spPr>
          <a:xfrm>
            <a:off x="4781550" y="4391025"/>
            <a:ext cx="2933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Cybersecurity &amp; Resilience</a:t>
            </a:r>
          </a:p>
        </p:txBody>
      </p:sp>
      <p:sp>
        <p:nvSpPr>
          <p:cNvPr id="42" name="bucket-5-bullet-1"/>
          <p:cNvSpPr txBox="1"/>
          <p:nvPr/>
        </p:nvSpPr>
        <p:spPr>
          <a:xfrm>
            <a:off x="4419600" y="4791075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Zero-trust architecture rollout across core zones</a:t>
            </a:r>
          </a:p>
        </p:txBody>
      </p:sp>
      <p:sp>
        <p:nvSpPr>
          <p:cNvPr id="43" name="bucket-5-bullet-2"/>
          <p:cNvSpPr txBox="1"/>
          <p:nvPr/>
        </p:nvSpPr>
        <p:spPr>
          <a:xfrm>
            <a:off x="4419600" y="5000625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MTTD reduced from 72h to under 4h</a:t>
            </a:r>
          </a:p>
        </p:txBody>
      </p:sp>
      <p:sp>
        <p:nvSpPr>
          <p:cNvPr id="44" name="bucket-5-metric"/>
          <p:cNvSpPr txBox="1"/>
          <p:nvPr/>
        </p:nvSpPr>
        <p:spPr>
          <a:xfrm>
            <a:off x="4419600" y="6172200"/>
            <a:ext cx="335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Risk: Medium → Low</a:t>
            </a:r>
          </a:p>
        </p:txBody>
      </p:sp>
      <p:sp>
        <p:nvSpPr>
          <p:cNvPr id="45" name="bucket-6-card"/>
          <p:cNvSpPr/>
          <p:nvPr/>
        </p:nvSpPr>
        <p:spPr>
          <a:xfrm>
            <a:off x="8077200" y="4219575"/>
            <a:ext cx="3657600" cy="2200275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bucket-6-top"/>
          <p:cNvSpPr/>
          <p:nvPr/>
        </p:nvSpPr>
        <p:spPr>
          <a:xfrm>
            <a:off x="8077200" y="4219575"/>
            <a:ext cx="3657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bucket-6-badge-bg"/>
          <p:cNvSpPr/>
          <p:nvPr/>
        </p:nvSpPr>
        <p:spPr>
          <a:xfrm>
            <a:off x="8229600" y="4371975"/>
            <a:ext cx="247650" cy="2476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bucket-6-badge"/>
          <p:cNvSpPr txBox="1"/>
          <p:nvPr/>
        </p:nvSpPr>
        <p:spPr>
          <a:xfrm>
            <a:off x="8229600" y="43719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49" name="bucket-6-title"/>
          <p:cNvSpPr txBox="1"/>
          <p:nvPr/>
        </p:nvSpPr>
        <p:spPr>
          <a:xfrm>
            <a:off x="8591550" y="4391025"/>
            <a:ext cx="29337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 &amp; Capability Building</a:t>
            </a:r>
          </a:p>
        </p:txBody>
      </p:sp>
      <p:sp>
        <p:nvSpPr>
          <p:cNvPr id="50" name="bucket-6-bullet-1"/>
          <p:cNvSpPr txBox="1"/>
          <p:nvPr/>
        </p:nvSpPr>
        <p:spPr>
          <a:xfrm>
            <a:off x="8229600" y="4791075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Digital fluency programme reaching 4,200 staff</a:t>
            </a:r>
          </a:p>
        </p:txBody>
      </p:sp>
      <p:sp>
        <p:nvSpPr>
          <p:cNvPr id="51" name="bucket-6-bullet-2"/>
          <p:cNvSpPr txBox="1"/>
          <p:nvPr/>
        </p:nvSpPr>
        <p:spPr>
          <a:xfrm>
            <a:off x="8229600" y="5000625"/>
            <a:ext cx="3352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– Adoption index up 22 pts since Q1 baseline</a:t>
            </a:r>
          </a:p>
        </p:txBody>
      </p:sp>
      <p:sp>
        <p:nvSpPr>
          <p:cNvPr id="52" name="bucket-6-metric"/>
          <p:cNvSpPr txBox="1"/>
          <p:nvPr/>
        </p:nvSpPr>
        <p:spPr>
          <a:xfrm>
            <a:off x="8229600" y="6172200"/>
            <a:ext cx="335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92% enrolment</a:t>
            </a:r>
          </a:p>
        </p:txBody>
      </p:sp>
      <p:sp>
        <p:nvSpPr>
          <p:cNvPr id="5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