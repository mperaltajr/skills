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SOAR Framework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forward-looking strategy on a single page.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Strengths to build on · Opportunities to capture · Aspirations to aim for · Results to measure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tl"/>
          <p:cNvSpPr/>
          <p:nvPr/>
        </p:nvSpPr>
        <p:spPr>
          <a:xfrm>
            <a:off x="533400" y="2286000"/>
            <a:ext cx="5514975" cy="1857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adrant-tl-head"/>
          <p:cNvSpPr/>
          <p:nvPr/>
        </p:nvSpPr>
        <p:spPr>
          <a:xfrm>
            <a:off x="533400" y="2286000"/>
            <a:ext cx="5514975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adrant-tl-letter"/>
          <p:cNvSpPr txBox="1"/>
          <p:nvPr/>
        </p:nvSpPr>
        <p:spPr>
          <a:xfrm>
            <a:off x="666750" y="23431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8" name="quadrant-tl-name"/>
          <p:cNvSpPr txBox="1"/>
          <p:nvPr/>
        </p:nvSpPr>
        <p:spPr>
          <a:xfrm>
            <a:off x="666750" y="2476500"/>
            <a:ext cx="5248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STRENGTHS</a:t>
            </a:r>
          </a:p>
        </p:txBody>
      </p:sp>
      <p:sp>
        <p:nvSpPr>
          <p:cNvPr id="9" name="quadrant-tl-prompt"/>
          <p:cNvSpPr txBox="1"/>
          <p:nvPr/>
        </p:nvSpPr>
        <p:spPr>
          <a:xfrm>
            <a:off x="666750" y="2628900"/>
            <a:ext cx="5248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do we do best?</a:t>
            </a:r>
          </a:p>
        </p:txBody>
      </p:sp>
      <p:sp>
        <p:nvSpPr>
          <p:cNvPr id="10" name="quadrant-tl-bullet-1-dot"/>
          <p:cNvSpPr/>
          <p:nvPr/>
        </p:nvSpPr>
        <p:spPr>
          <a:xfrm>
            <a:off x="685800" y="2924175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bullet-1"/>
          <p:cNvSpPr txBox="1"/>
          <p:nvPr/>
        </p:nvSpPr>
        <p:spPr>
          <a:xfrm>
            <a:off x="800100" y="285750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Market-leading NPS score of 76</a:t>
            </a:r>
          </a:p>
        </p:txBody>
      </p:sp>
      <p:sp>
        <p:nvSpPr>
          <p:cNvPr id="12" name="quadrant-tl-bullet-2-dot"/>
          <p:cNvSpPr/>
          <p:nvPr/>
        </p:nvSpPr>
        <p:spPr>
          <a:xfrm>
            <a:off x="685800" y="3133725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adrant-tl-bullet-2"/>
          <p:cNvSpPr txBox="1"/>
          <p:nvPr/>
        </p:nvSpPr>
        <p:spPr>
          <a:xfrm>
            <a:off x="800100" y="306705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3,200 specialist consultants</a:t>
            </a:r>
          </a:p>
        </p:txBody>
      </p:sp>
      <p:sp>
        <p:nvSpPr>
          <p:cNvPr id="14" name="quadrant-tl-bullet-3-dot"/>
          <p:cNvSpPr/>
          <p:nvPr/>
        </p:nvSpPr>
        <p:spPr>
          <a:xfrm>
            <a:off x="685800" y="3343275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quadrant-tl-bullet-3"/>
          <p:cNvSpPr txBox="1"/>
          <p:nvPr/>
        </p:nvSpPr>
        <p:spPr>
          <a:xfrm>
            <a:off x="800100" y="327660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94% client retention</a:t>
            </a:r>
          </a:p>
        </p:txBody>
      </p:sp>
      <p:sp>
        <p:nvSpPr>
          <p:cNvPr id="16" name="quadrant-tl-bullet-4-dot"/>
          <p:cNvSpPr/>
          <p:nvPr/>
        </p:nvSpPr>
        <p:spPr>
          <a:xfrm>
            <a:off x="685800" y="3552825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tl-bullet-4"/>
          <p:cNvSpPr txBox="1"/>
          <p:nvPr/>
        </p:nvSpPr>
        <p:spPr>
          <a:xfrm>
            <a:off x="800100" y="348615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ISO-certified delivery model</a:t>
            </a:r>
          </a:p>
        </p:txBody>
      </p:sp>
      <p:sp>
        <p:nvSpPr>
          <p:cNvPr id="18" name="quadrant-tl-outcome-bg"/>
          <p:cNvSpPr/>
          <p:nvPr/>
        </p:nvSpPr>
        <p:spPr>
          <a:xfrm>
            <a:off x="533400" y="3724275"/>
            <a:ext cx="55149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quadrant-tl-outcome"/>
          <p:cNvSpPr txBox="1"/>
          <p:nvPr/>
        </p:nvSpPr>
        <p:spPr>
          <a:xfrm>
            <a:off x="666750" y="3733800"/>
            <a:ext cx="52482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Key outcome: Leverage certified talent base and high retention to deepen client relationships.</a:t>
            </a:r>
          </a:p>
        </p:txBody>
      </p:sp>
      <p:sp>
        <p:nvSpPr>
          <p:cNvPr id="20" name="quadrant-tr"/>
          <p:cNvSpPr/>
          <p:nvPr/>
        </p:nvSpPr>
        <p:spPr>
          <a:xfrm>
            <a:off x="6143625" y="2286000"/>
            <a:ext cx="5514975" cy="1857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tr-head"/>
          <p:cNvSpPr/>
          <p:nvPr/>
        </p:nvSpPr>
        <p:spPr>
          <a:xfrm>
            <a:off x="6143625" y="2286000"/>
            <a:ext cx="5514975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uadrant-tr-letter"/>
          <p:cNvSpPr txBox="1"/>
          <p:nvPr/>
        </p:nvSpPr>
        <p:spPr>
          <a:xfrm>
            <a:off x="6276975" y="23431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23" name="quadrant-tr-name"/>
          <p:cNvSpPr txBox="1"/>
          <p:nvPr/>
        </p:nvSpPr>
        <p:spPr>
          <a:xfrm>
            <a:off x="6276975" y="2476500"/>
            <a:ext cx="5248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OPPORTUNITIES</a:t>
            </a:r>
          </a:p>
        </p:txBody>
      </p:sp>
      <p:sp>
        <p:nvSpPr>
          <p:cNvPr id="24" name="quadrant-tr-prompt"/>
          <p:cNvSpPr txBox="1"/>
          <p:nvPr/>
        </p:nvSpPr>
        <p:spPr>
          <a:xfrm>
            <a:off x="6276975" y="2628900"/>
            <a:ext cx="5248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are our best opportunities?</a:t>
            </a:r>
          </a:p>
        </p:txBody>
      </p:sp>
      <p:sp>
        <p:nvSpPr>
          <p:cNvPr id="25" name="quadrant-tr-bullet-1-dot"/>
          <p:cNvSpPr/>
          <p:nvPr/>
        </p:nvSpPr>
        <p:spPr>
          <a:xfrm>
            <a:off x="6296025" y="292417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tr-bullet-1"/>
          <p:cNvSpPr txBox="1"/>
          <p:nvPr/>
        </p:nvSpPr>
        <p:spPr>
          <a:xfrm>
            <a:off x="6410325" y="285750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GenAI advisory practice: $2B market</a:t>
            </a:r>
          </a:p>
        </p:txBody>
      </p:sp>
      <p:sp>
        <p:nvSpPr>
          <p:cNvPr id="27" name="quadrant-tr-bullet-2-dot"/>
          <p:cNvSpPr/>
          <p:nvPr/>
        </p:nvSpPr>
        <p:spPr>
          <a:xfrm>
            <a:off x="6296025" y="313372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quadrant-tr-bullet-2"/>
          <p:cNvSpPr txBox="1"/>
          <p:nvPr/>
        </p:nvSpPr>
        <p:spPr>
          <a:xfrm>
            <a:off x="6410325" y="306705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Uncontested mid-market segment</a:t>
            </a:r>
          </a:p>
        </p:txBody>
      </p:sp>
      <p:sp>
        <p:nvSpPr>
          <p:cNvPr id="29" name="quadrant-tr-bullet-3-dot"/>
          <p:cNvSpPr/>
          <p:nvPr/>
        </p:nvSpPr>
        <p:spPr>
          <a:xfrm>
            <a:off x="6296025" y="334327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quadrant-tr-bullet-3"/>
          <p:cNvSpPr txBox="1"/>
          <p:nvPr/>
        </p:nvSpPr>
        <p:spPr>
          <a:xfrm>
            <a:off x="6410325" y="327660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ESG compliance wave</a:t>
            </a:r>
          </a:p>
        </p:txBody>
      </p:sp>
      <p:sp>
        <p:nvSpPr>
          <p:cNvPr id="31" name="quadrant-tr-bullet-4-dot"/>
          <p:cNvSpPr/>
          <p:nvPr/>
        </p:nvSpPr>
        <p:spPr>
          <a:xfrm>
            <a:off x="6296025" y="355282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tr-bullet-4"/>
          <p:cNvSpPr txBox="1"/>
          <p:nvPr/>
        </p:nvSpPr>
        <p:spPr>
          <a:xfrm>
            <a:off x="6410325" y="3486150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ecosystem expansion</a:t>
            </a:r>
          </a:p>
        </p:txBody>
      </p:sp>
      <p:sp>
        <p:nvSpPr>
          <p:cNvPr id="33" name="quadrant-tr-outcome-bg"/>
          <p:cNvSpPr/>
          <p:nvPr/>
        </p:nvSpPr>
        <p:spPr>
          <a:xfrm>
            <a:off x="6143625" y="3724275"/>
            <a:ext cx="55149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drant-tr-outcome"/>
          <p:cNvSpPr txBox="1"/>
          <p:nvPr/>
        </p:nvSpPr>
        <p:spPr>
          <a:xfrm>
            <a:off x="6276975" y="3733800"/>
            <a:ext cx="52482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A100FF"/>
                </a:solidFill>
                <a:latin typeface="Inter"/>
              </a:rPr>
              <a:t>Key outcome: Capture GenAI advisory market leadership before incumbents mobilise at scale.</a:t>
            </a:r>
          </a:p>
        </p:txBody>
      </p:sp>
      <p:sp>
        <p:nvSpPr>
          <p:cNvPr id="35" name="quadrant-bl"/>
          <p:cNvSpPr/>
          <p:nvPr/>
        </p:nvSpPr>
        <p:spPr>
          <a:xfrm>
            <a:off x="533400" y="4238625"/>
            <a:ext cx="5514975" cy="1857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quadrant-bl-head"/>
          <p:cNvSpPr/>
          <p:nvPr/>
        </p:nvSpPr>
        <p:spPr>
          <a:xfrm>
            <a:off x="533400" y="4238625"/>
            <a:ext cx="5514975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quadrant-bl-letter"/>
          <p:cNvSpPr txBox="1"/>
          <p:nvPr/>
        </p:nvSpPr>
        <p:spPr>
          <a:xfrm>
            <a:off x="666750" y="42957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38" name="quadrant-bl-name"/>
          <p:cNvSpPr txBox="1"/>
          <p:nvPr/>
        </p:nvSpPr>
        <p:spPr>
          <a:xfrm>
            <a:off x="666750" y="4429125"/>
            <a:ext cx="5248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ASPIRATIONS</a:t>
            </a:r>
          </a:p>
        </p:txBody>
      </p:sp>
      <p:sp>
        <p:nvSpPr>
          <p:cNvPr id="39" name="quadrant-bl-prompt"/>
          <p:cNvSpPr txBox="1"/>
          <p:nvPr/>
        </p:nvSpPr>
        <p:spPr>
          <a:xfrm>
            <a:off x="666750" y="4581525"/>
            <a:ext cx="5248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What do we aspire to be?</a:t>
            </a:r>
          </a:p>
        </p:txBody>
      </p:sp>
      <p:sp>
        <p:nvSpPr>
          <p:cNvPr id="40" name="quadrant-bl-bullet-1-dot"/>
          <p:cNvSpPr/>
          <p:nvPr/>
        </p:nvSpPr>
        <p:spPr>
          <a:xfrm>
            <a:off x="685800" y="4876800"/>
            <a:ext cx="47625" cy="47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quadrant-bl-bullet-1"/>
          <p:cNvSpPr txBox="1"/>
          <p:nvPr/>
        </p:nvSpPr>
        <p:spPr>
          <a:xfrm>
            <a:off x="800100" y="481012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#1 transformation partner by 2028</a:t>
            </a:r>
          </a:p>
        </p:txBody>
      </p:sp>
      <p:sp>
        <p:nvSpPr>
          <p:cNvPr id="42" name="quadrant-bl-bullet-2-dot"/>
          <p:cNvSpPr/>
          <p:nvPr/>
        </p:nvSpPr>
        <p:spPr>
          <a:xfrm>
            <a:off x="685800" y="5086350"/>
            <a:ext cx="47625" cy="47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quadrant-bl-bullet-2"/>
          <p:cNvSpPr txBox="1"/>
          <p:nvPr/>
        </p:nvSpPr>
        <p:spPr>
          <a:xfrm>
            <a:off x="800100" y="501967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$5B revenue milestone</a:t>
            </a:r>
          </a:p>
        </p:txBody>
      </p:sp>
      <p:sp>
        <p:nvSpPr>
          <p:cNvPr id="44" name="quadrant-bl-bullet-3-dot"/>
          <p:cNvSpPr/>
          <p:nvPr/>
        </p:nvSpPr>
        <p:spPr>
          <a:xfrm>
            <a:off x="685800" y="5295900"/>
            <a:ext cx="47625" cy="47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quadrant-bl-bullet-3"/>
          <p:cNvSpPr txBox="1"/>
          <p:nvPr/>
        </p:nvSpPr>
        <p:spPr>
          <a:xfrm>
            <a:off x="800100" y="522922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Net zero operations by 2027</a:t>
            </a:r>
          </a:p>
        </p:txBody>
      </p:sp>
      <p:sp>
        <p:nvSpPr>
          <p:cNvPr id="46" name="quadrant-bl-bullet-4-dot"/>
          <p:cNvSpPr/>
          <p:nvPr/>
        </p:nvSpPr>
        <p:spPr>
          <a:xfrm>
            <a:off x="685800" y="5505450"/>
            <a:ext cx="47625" cy="47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quadrant-bl-bullet-4"/>
          <p:cNvSpPr txBox="1"/>
          <p:nvPr/>
        </p:nvSpPr>
        <p:spPr>
          <a:xfrm>
            <a:off x="800100" y="543877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50% diverse leadership</a:t>
            </a:r>
          </a:p>
        </p:txBody>
      </p:sp>
      <p:sp>
        <p:nvSpPr>
          <p:cNvPr id="49" name="quadrant-bl-outcome"/>
          <p:cNvSpPr txBox="1"/>
          <p:nvPr/>
        </p:nvSpPr>
        <p:spPr>
          <a:xfrm>
            <a:off x="666750" y="5686425"/>
            <a:ext cx="52482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5C2D87"/>
                </a:solidFill>
                <a:latin typeface="Inter"/>
              </a:rPr>
              <a:t>Key outcome: Be recognised as the defining transformation partner of the late 2020s decade.</a:t>
            </a:r>
          </a:p>
        </p:txBody>
      </p:sp>
      <p:sp>
        <p:nvSpPr>
          <p:cNvPr id="50" name="quadrant-br"/>
          <p:cNvSpPr/>
          <p:nvPr/>
        </p:nvSpPr>
        <p:spPr>
          <a:xfrm>
            <a:off x="6143625" y="4238625"/>
            <a:ext cx="5514975" cy="1857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quadrant-br-head"/>
          <p:cNvSpPr/>
          <p:nvPr/>
        </p:nvSpPr>
        <p:spPr>
          <a:xfrm>
            <a:off x="6143625" y="4238625"/>
            <a:ext cx="5514975" cy="47625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quadrant-br-letter"/>
          <p:cNvSpPr txBox="1"/>
          <p:nvPr/>
        </p:nvSpPr>
        <p:spPr>
          <a:xfrm>
            <a:off x="6276975" y="42957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53" name="quadrant-br-name"/>
          <p:cNvSpPr txBox="1"/>
          <p:nvPr/>
        </p:nvSpPr>
        <p:spPr>
          <a:xfrm>
            <a:off x="6276975" y="4429125"/>
            <a:ext cx="5248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RESULTS</a:t>
            </a:r>
          </a:p>
        </p:txBody>
      </p:sp>
      <p:sp>
        <p:nvSpPr>
          <p:cNvPr id="54" name="quadrant-br-prompt"/>
          <p:cNvSpPr txBox="1"/>
          <p:nvPr/>
        </p:nvSpPr>
        <p:spPr>
          <a:xfrm>
            <a:off x="6276975" y="4581525"/>
            <a:ext cx="5248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How will we know we've succeeded?</a:t>
            </a:r>
          </a:p>
        </p:txBody>
      </p:sp>
      <p:sp>
        <p:nvSpPr>
          <p:cNvPr id="55" name="quadrant-br-bullet-1-dot"/>
          <p:cNvSpPr/>
          <p:nvPr/>
        </p:nvSpPr>
        <p:spPr>
          <a:xfrm>
            <a:off x="6296025" y="4876800"/>
            <a:ext cx="47625" cy="4762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quadrant-br-bullet-1"/>
          <p:cNvSpPr txBox="1"/>
          <p:nvPr/>
        </p:nvSpPr>
        <p:spPr>
          <a:xfrm>
            <a:off x="6410325" y="481012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Revenue: $5B by FY28</a:t>
            </a:r>
          </a:p>
        </p:txBody>
      </p:sp>
      <p:sp>
        <p:nvSpPr>
          <p:cNvPr id="57" name="quadrant-br-bullet-2-dot"/>
          <p:cNvSpPr/>
          <p:nvPr/>
        </p:nvSpPr>
        <p:spPr>
          <a:xfrm>
            <a:off x="6296025" y="5086350"/>
            <a:ext cx="47625" cy="4762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quadrant-br-bullet-2"/>
          <p:cNvSpPr txBox="1"/>
          <p:nvPr/>
        </p:nvSpPr>
        <p:spPr>
          <a:xfrm>
            <a:off x="6410325" y="501967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NPS: 80+</a:t>
            </a:r>
          </a:p>
        </p:txBody>
      </p:sp>
      <p:sp>
        <p:nvSpPr>
          <p:cNvPr id="59" name="quadrant-br-bullet-3-dot"/>
          <p:cNvSpPr/>
          <p:nvPr/>
        </p:nvSpPr>
        <p:spPr>
          <a:xfrm>
            <a:off x="6296025" y="5295900"/>
            <a:ext cx="47625" cy="4762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quadrant-br-bullet-3"/>
          <p:cNvSpPr txBox="1"/>
          <p:nvPr/>
        </p:nvSpPr>
        <p:spPr>
          <a:xfrm>
            <a:off x="6410325" y="522922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Market share: 18%</a:t>
            </a:r>
          </a:p>
        </p:txBody>
      </p:sp>
      <p:sp>
        <p:nvSpPr>
          <p:cNvPr id="61" name="quadrant-br-bullet-4-dot"/>
          <p:cNvSpPr/>
          <p:nvPr/>
        </p:nvSpPr>
        <p:spPr>
          <a:xfrm>
            <a:off x="6296025" y="5505450"/>
            <a:ext cx="47625" cy="47625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quadrant-br-bullet-4"/>
          <p:cNvSpPr txBox="1"/>
          <p:nvPr/>
        </p:nvSpPr>
        <p:spPr>
          <a:xfrm>
            <a:off x="6410325" y="543877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Employee engagement: top quartile</a:t>
            </a:r>
          </a:p>
        </p:txBody>
      </p:sp>
      <p:sp>
        <p:nvSpPr>
          <p:cNvPr id="64" name="quadrant-br-outcome"/>
          <p:cNvSpPr txBox="1"/>
          <p:nvPr/>
        </p:nvSpPr>
        <p:spPr>
          <a:xfrm>
            <a:off x="6276975" y="5686425"/>
            <a:ext cx="52482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1A6B3C"/>
                </a:solidFill>
                <a:latin typeface="Inter"/>
              </a:rPr>
              <a:t>Key outcome: Four hard metrics tracked quarterly confirm the strategy is landing as designed.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