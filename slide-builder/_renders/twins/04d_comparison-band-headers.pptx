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Other tools skip the hard part — building the argument first.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Any tool is only as good as the thinking behind it. Both failure modes share the same root cause.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mpare-header-rule"/>
          <p:cNvSpPr/>
          <p:nvPr/>
        </p:nvSpPr>
        <p:spPr>
          <a:xfrm>
            <a:off x="609600" y="2609850"/>
            <a:ext cx="109728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ompare-col-1-header"/>
          <p:cNvSpPr txBox="1"/>
          <p:nvPr/>
        </p:nvSpPr>
        <p:spPr>
          <a:xfrm>
            <a:off x="2990850" y="2324100"/>
            <a:ext cx="3867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Training Gap</a:t>
            </a:r>
          </a:p>
        </p:txBody>
      </p:sp>
      <p:sp>
        <p:nvSpPr>
          <p:cNvPr id="7" name="compare-col-2-header"/>
          <p:cNvSpPr txBox="1"/>
          <p:nvPr/>
        </p:nvSpPr>
        <p:spPr>
          <a:xfrm>
            <a:off x="7524750" y="2324100"/>
            <a:ext cx="3867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C780FF"/>
                </a:solidFill>
                <a:latin typeface="Inter"/>
              </a:rPr>
              <a:t>GenAI Gap</a:t>
            </a:r>
          </a:p>
        </p:txBody>
      </p:sp>
      <p:sp>
        <p:nvSpPr>
          <p:cNvPr id="8" name="compare-row-1-label-bg"/>
          <p:cNvSpPr/>
          <p:nvPr/>
        </p:nvSpPr>
        <p:spPr>
          <a:xfrm>
            <a:off x="609600" y="2628900"/>
            <a:ext cx="1905000" cy="666750"/>
          </a:xfrm>
          <a:prstGeom prst="rect">
            <a:avLst/>
          </a:prstGeom>
          <a:solidFill>
            <a:srgbClr val="140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ompare-row-1-label"/>
          <p:cNvSpPr txBox="1"/>
          <p:nvPr/>
        </p:nvSpPr>
        <p:spPr>
          <a:xfrm>
            <a:off x="742950" y="2628900"/>
            <a:ext cx="16383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ROOT CAUSE</a:t>
            </a:r>
          </a:p>
        </p:txBody>
      </p:sp>
      <p:sp>
        <p:nvSpPr>
          <p:cNvPr id="10" name="compare-row-1-col-1-cell"/>
          <p:cNvSpPr txBox="1"/>
          <p:nvPr/>
        </p:nvSpPr>
        <p:spPr>
          <a:xfrm>
            <a:off x="2705100" y="2705100"/>
            <a:ext cx="41529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Most consultants never learned the rigor. McKinsey built it in. Most firms didn't — experienced people skip the sharpening step.</a:t>
            </a:r>
          </a:p>
        </p:txBody>
      </p:sp>
      <p:sp>
        <p:nvSpPr>
          <p:cNvPr id="11" name="compare-row-1-col-2-cell"/>
          <p:cNvSpPr txBox="1"/>
          <p:nvPr/>
        </p:nvSpPr>
        <p:spPr>
          <a:xfrm>
            <a:off x="7239000" y="2705100"/>
            <a:ext cx="41529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Generic AI does what you say. It generates an answer — not yours. No pushback, no conflict detection, no standard.</a:t>
            </a:r>
          </a:p>
        </p:txBody>
      </p:sp>
      <p:sp>
        <p:nvSpPr>
          <p:cNvPr id="12" name="compare-row-2-label-bg"/>
          <p:cNvSpPr/>
          <p:nvPr/>
        </p:nvSpPr>
        <p:spPr>
          <a:xfrm>
            <a:off x="609600" y="3295650"/>
            <a:ext cx="1905000" cy="666750"/>
          </a:xfrm>
          <a:prstGeom prst="rect">
            <a:avLst/>
          </a:prstGeom>
          <a:solidFill>
            <a:srgbClr val="140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ompare-row-2-label"/>
          <p:cNvSpPr txBox="1"/>
          <p:nvPr/>
        </p:nvSpPr>
        <p:spPr>
          <a:xfrm>
            <a:off x="742950" y="3295650"/>
            <a:ext cx="16383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IT PRODUCES</a:t>
            </a:r>
          </a:p>
        </p:txBody>
      </p:sp>
      <p:sp>
        <p:nvSpPr>
          <p:cNvPr id="14" name="compare-row-2-col-1-cell"/>
          <p:cNvSpPr txBox="1"/>
          <p:nvPr/>
        </p:nvSpPr>
        <p:spPr>
          <a:xfrm>
            <a:off x="2705100" y="3371850"/>
            <a:ext cx="41529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Pages made repeatedly without knowing the underlying message. Manual fixes at the end.</a:t>
            </a:r>
          </a:p>
        </p:txBody>
      </p:sp>
      <p:sp>
        <p:nvSpPr>
          <p:cNvPr id="15" name="compare-row-2-col-2-cell"/>
          <p:cNvSpPr txBox="1"/>
          <p:nvPr/>
        </p:nvSpPr>
        <p:spPr>
          <a:xfrm>
            <a:off x="7239000" y="3371850"/>
            <a:ext cx="41529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 complete slide, regardless of whether the thinking is ready.</a:t>
            </a:r>
          </a:p>
        </p:txBody>
      </p:sp>
      <p:sp>
        <p:nvSpPr>
          <p:cNvPr id="16" name="compare-row-2-sep"/>
          <p:cNvSpPr/>
          <p:nvPr/>
        </p:nvSpPr>
        <p:spPr>
          <a:xfrm>
            <a:off x="2514600" y="3295650"/>
            <a:ext cx="9067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ompare-row-3-label-bg"/>
          <p:cNvSpPr/>
          <p:nvPr/>
        </p:nvSpPr>
        <p:spPr>
          <a:xfrm>
            <a:off x="609600" y="3962400"/>
            <a:ext cx="1905000" cy="666750"/>
          </a:xfrm>
          <a:prstGeom prst="rect">
            <a:avLst/>
          </a:prstGeom>
          <a:solidFill>
            <a:srgbClr val="140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ompare-row-3-label"/>
          <p:cNvSpPr txBox="1"/>
          <p:nvPr/>
        </p:nvSpPr>
        <p:spPr>
          <a:xfrm>
            <a:off x="742950" y="3962400"/>
            <a:ext cx="16383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WHY IT PERSISTS</a:t>
            </a:r>
          </a:p>
        </p:txBody>
      </p:sp>
      <p:sp>
        <p:nvSpPr>
          <p:cNvPr id="19" name="compare-row-3-col-1-cell"/>
          <p:cNvSpPr txBox="1"/>
          <p:nvPr/>
        </p:nvSpPr>
        <p:spPr>
          <a:xfrm>
            <a:off x="2705100" y="4038600"/>
            <a:ext cx="41529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Time pressure + no enforced standard = the shortcut always wins.</a:t>
            </a:r>
          </a:p>
        </p:txBody>
      </p:sp>
      <p:sp>
        <p:nvSpPr>
          <p:cNvPr id="20" name="compare-row-3-col-2-cell"/>
          <p:cNvSpPr txBox="1"/>
          <p:nvPr/>
        </p:nvSpPr>
        <p:spPr>
          <a:xfrm>
            <a:off x="7239000" y="4038600"/>
            <a:ext cx="41529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Output quality depends entirely on input quality — and no one checks the input.</a:t>
            </a:r>
          </a:p>
        </p:txBody>
      </p:sp>
      <p:sp>
        <p:nvSpPr>
          <p:cNvPr id="21" name="compare-row-3-sep"/>
          <p:cNvSpPr/>
          <p:nvPr/>
        </p:nvSpPr>
        <p:spPr>
          <a:xfrm>
            <a:off x="2514600" y="3962400"/>
            <a:ext cx="9067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nvergence-bg"/>
          <p:cNvSpPr/>
          <p:nvPr/>
        </p:nvSpPr>
        <p:spPr>
          <a:xfrm>
            <a:off x="609600" y="4857750"/>
            <a:ext cx="10972800" cy="533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onvergence-accent"/>
          <p:cNvSpPr/>
          <p:nvPr/>
        </p:nvSpPr>
        <p:spPr>
          <a:xfrm>
            <a:off x="609600" y="4857750"/>
            <a:ext cx="5715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onvergence-mark"/>
          <p:cNvSpPr txBox="1"/>
          <p:nvPr/>
        </p:nvSpPr>
        <p:spPr>
          <a:xfrm>
            <a:off x="762000" y="4914900"/>
            <a:ext cx="381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1">
                <a:solidFill>
                  <a:srgbClr val="C780FF"/>
                </a:solidFill>
                <a:latin typeface="Inter"/>
              </a:rPr>
              <a:t>“</a:t>
            </a:r>
          </a:p>
        </p:txBody>
      </p:sp>
      <p:sp>
        <p:nvSpPr>
          <p:cNvPr id="25" name="convergence"/>
          <p:cNvSpPr txBox="1"/>
          <p:nvPr/>
        </p:nvSpPr>
        <p:spPr>
          <a:xfrm>
            <a:off x="1143000" y="4857750"/>
            <a:ext cx="102108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The tool isn't the problem — the unstructured input is. Both failure modes share the same root cause.</a:t>
            </a:r>
          </a:p>
        </p:txBody>
      </p:sp>
      <p:sp>
        <p:nvSpPr>
          <p:cNvPr id="2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