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Digital Operations Transformation —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Investment Case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Financial summary and value proposition for board review, FY 2026–2028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kpi-1-bg"/>
          <p:cNvSpPr/>
          <p:nvPr/>
        </p:nvSpPr>
        <p:spPr>
          <a:xfrm>
            <a:off x="609600" y="1543050"/>
            <a:ext cx="26574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kpi-1-label"/>
          <p:cNvSpPr txBox="1"/>
          <p:nvPr/>
        </p:nvSpPr>
        <p:spPr>
          <a:xfrm>
            <a:off x="762000" y="1657350"/>
            <a:ext cx="2352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INVESTMENT REQUIRED</a:t>
            </a:r>
          </a:p>
        </p:txBody>
      </p:sp>
      <p:sp>
        <p:nvSpPr>
          <p:cNvPr id="7" name="kpi-1-value"/>
          <p:cNvSpPr txBox="1"/>
          <p:nvPr/>
        </p:nvSpPr>
        <p:spPr>
          <a:xfrm>
            <a:off x="762000" y="1809750"/>
            <a:ext cx="2352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$14.2M</a:t>
            </a:r>
          </a:p>
        </p:txBody>
      </p:sp>
      <p:sp>
        <p:nvSpPr>
          <p:cNvPr id="8" name="kpi-1-sub"/>
          <p:cNvSpPr txBox="1"/>
          <p:nvPr/>
        </p:nvSpPr>
        <p:spPr>
          <a:xfrm>
            <a:off x="762000" y="2190750"/>
            <a:ext cx="2352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Over 24-month programme</a:t>
            </a:r>
          </a:p>
        </p:txBody>
      </p:sp>
      <p:sp>
        <p:nvSpPr>
          <p:cNvPr id="9" name="kpi-2-bg"/>
          <p:cNvSpPr/>
          <p:nvPr/>
        </p:nvSpPr>
        <p:spPr>
          <a:xfrm>
            <a:off x="3381375" y="1543050"/>
            <a:ext cx="26574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kpi-2-label"/>
          <p:cNvSpPr txBox="1"/>
          <p:nvPr/>
        </p:nvSpPr>
        <p:spPr>
          <a:xfrm>
            <a:off x="3533775" y="1657350"/>
            <a:ext cx="2352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EXPECTED ROI</a:t>
            </a:r>
          </a:p>
        </p:txBody>
      </p:sp>
      <p:sp>
        <p:nvSpPr>
          <p:cNvPr id="11" name="kpi-2-value"/>
          <p:cNvSpPr txBox="1"/>
          <p:nvPr/>
        </p:nvSpPr>
        <p:spPr>
          <a:xfrm>
            <a:off x="3533775" y="1809750"/>
            <a:ext cx="2352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312% ▲</a:t>
            </a:r>
          </a:p>
        </p:txBody>
      </p:sp>
      <p:sp>
        <p:nvSpPr>
          <p:cNvPr id="12" name="kpi-2-sub"/>
          <p:cNvSpPr txBox="1"/>
          <p:nvPr/>
        </p:nvSpPr>
        <p:spPr>
          <a:xfrm>
            <a:off x="3533775" y="2190750"/>
            <a:ext cx="2352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vs. 180% industry benchmark</a:t>
            </a:r>
          </a:p>
        </p:txBody>
      </p:sp>
      <p:sp>
        <p:nvSpPr>
          <p:cNvPr id="13" name="kpi-3-bg"/>
          <p:cNvSpPr/>
          <p:nvPr/>
        </p:nvSpPr>
        <p:spPr>
          <a:xfrm>
            <a:off x="6153150" y="1543050"/>
            <a:ext cx="26574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kpi-3-label"/>
          <p:cNvSpPr txBox="1"/>
          <p:nvPr/>
        </p:nvSpPr>
        <p:spPr>
          <a:xfrm>
            <a:off x="6305550" y="1657350"/>
            <a:ext cx="2352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PAYBACK PERIOD</a:t>
            </a:r>
          </a:p>
        </p:txBody>
      </p:sp>
      <p:sp>
        <p:nvSpPr>
          <p:cNvPr id="15" name="kpi-3-value"/>
          <p:cNvSpPr txBox="1"/>
          <p:nvPr/>
        </p:nvSpPr>
        <p:spPr>
          <a:xfrm>
            <a:off x="6305550" y="1809750"/>
            <a:ext cx="2352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FFFFFF"/>
                </a:solidFill>
                <a:latin typeface="Inter"/>
              </a:rPr>
              <a:t>18 mo</a:t>
            </a:r>
          </a:p>
        </p:txBody>
      </p:sp>
      <p:sp>
        <p:nvSpPr>
          <p:cNvPr id="16" name="kpi-3-sub"/>
          <p:cNvSpPr txBox="1"/>
          <p:nvPr/>
        </p:nvSpPr>
        <p:spPr>
          <a:xfrm>
            <a:off x="6305550" y="2190750"/>
            <a:ext cx="2352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Break-even Q2 FY 2028</a:t>
            </a:r>
          </a:p>
        </p:txBody>
      </p:sp>
      <p:sp>
        <p:nvSpPr>
          <p:cNvPr id="17" name="kpi-4-bg"/>
          <p:cNvSpPr/>
          <p:nvPr/>
        </p:nvSpPr>
        <p:spPr>
          <a:xfrm>
            <a:off x="8924925" y="1543050"/>
            <a:ext cx="2657475" cy="9144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kpi-4-label"/>
          <p:cNvSpPr txBox="1"/>
          <p:nvPr/>
        </p:nvSpPr>
        <p:spPr>
          <a:xfrm>
            <a:off x="9077325" y="1657350"/>
            <a:ext cx="23526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NPV (5-YEAR)</a:t>
            </a:r>
          </a:p>
        </p:txBody>
      </p:sp>
      <p:sp>
        <p:nvSpPr>
          <p:cNvPr id="19" name="kpi-4-value"/>
          <p:cNvSpPr txBox="1"/>
          <p:nvPr/>
        </p:nvSpPr>
        <p:spPr>
          <a:xfrm>
            <a:off x="9077325" y="1809750"/>
            <a:ext cx="2352675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C780FF"/>
                </a:solidFill>
                <a:latin typeface="Inter"/>
              </a:rPr>
              <a:t>$38.7M</a:t>
            </a:r>
          </a:p>
        </p:txBody>
      </p:sp>
      <p:sp>
        <p:nvSpPr>
          <p:cNvPr id="20" name="kpi-4-sub"/>
          <p:cNvSpPr txBox="1"/>
          <p:nvPr/>
        </p:nvSpPr>
        <p:spPr>
          <a:xfrm>
            <a:off x="9077325" y="2190750"/>
            <a:ext cx="235267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Discount rate 8%</a:t>
            </a:r>
          </a:p>
        </p:txBody>
      </p:sp>
      <p:sp>
        <p:nvSpPr>
          <p:cNvPr id="21" name="value-card-bg"/>
          <p:cNvSpPr/>
          <p:nvPr/>
        </p:nvSpPr>
        <p:spPr>
          <a:xfrm>
            <a:off x="609600" y="2590800"/>
            <a:ext cx="5410200" cy="27241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value-card-title"/>
          <p:cNvSpPr txBox="1"/>
          <p:nvPr/>
        </p:nvSpPr>
        <p:spPr>
          <a:xfrm>
            <a:off x="781050" y="27241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VALUE DRIVERS</a:t>
            </a:r>
          </a:p>
        </p:txBody>
      </p:sp>
      <p:sp>
        <p:nvSpPr>
          <p:cNvPr id="23" name="value-card-rule"/>
          <p:cNvSpPr/>
          <p:nvPr/>
        </p:nvSpPr>
        <p:spPr>
          <a:xfrm>
            <a:off x="781050" y="2914650"/>
            <a:ext cx="5067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drv-1-title"/>
          <p:cNvSpPr txBox="1"/>
          <p:nvPr/>
        </p:nvSpPr>
        <p:spPr>
          <a:xfrm>
            <a:off x="781050" y="3048000"/>
            <a:ext cx="4171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Operational Cost Reduction</a:t>
            </a:r>
          </a:p>
        </p:txBody>
      </p:sp>
      <p:sp>
        <p:nvSpPr>
          <p:cNvPr id="25" name="drv-1-desc"/>
          <p:cNvSpPr txBox="1"/>
          <p:nvPr/>
        </p:nvSpPr>
        <p:spPr>
          <a:xfrm>
            <a:off x="781050" y="3219450"/>
            <a:ext cx="4171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order-to-cash and procure-to-pay cycles cut FTE hours by 40% across back-office functions</a:t>
            </a:r>
          </a:p>
        </p:txBody>
      </p:sp>
      <p:sp>
        <p:nvSpPr>
          <p:cNvPr id="26" name="drv-1-val"/>
          <p:cNvSpPr txBox="1"/>
          <p:nvPr/>
        </p:nvSpPr>
        <p:spPr>
          <a:xfrm>
            <a:off x="4972050" y="30480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500" b="1" i="0">
                <a:solidFill>
                  <a:srgbClr val="22C55E"/>
                </a:solidFill>
                <a:latin typeface="Inter"/>
              </a:rPr>
              <a:t>$8.4M</a:t>
            </a:r>
          </a:p>
        </p:txBody>
      </p:sp>
      <p:sp>
        <p:nvSpPr>
          <p:cNvPr id="27" name="drv-2-title"/>
          <p:cNvSpPr txBox="1"/>
          <p:nvPr/>
        </p:nvSpPr>
        <p:spPr>
          <a:xfrm>
            <a:off x="781050" y="3771900"/>
            <a:ext cx="4171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Revenue Uplift — Cross-Sell Enablement</a:t>
            </a:r>
          </a:p>
        </p:txBody>
      </p:sp>
      <p:sp>
        <p:nvSpPr>
          <p:cNvPr id="28" name="drv-2-desc"/>
          <p:cNvSpPr txBox="1"/>
          <p:nvPr/>
        </p:nvSpPr>
        <p:spPr>
          <a:xfrm>
            <a:off x="781050" y="3943350"/>
            <a:ext cx="4171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Real-time propensity models surface $220M in addressable cross-sell annually; 12% conversion improvement</a:t>
            </a:r>
          </a:p>
        </p:txBody>
      </p:sp>
      <p:sp>
        <p:nvSpPr>
          <p:cNvPr id="29" name="drv-2-val"/>
          <p:cNvSpPr txBox="1"/>
          <p:nvPr/>
        </p:nvSpPr>
        <p:spPr>
          <a:xfrm>
            <a:off x="4972050" y="37719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500" b="1" i="0">
                <a:solidFill>
                  <a:srgbClr val="22C55E"/>
                </a:solidFill>
                <a:latin typeface="Inter"/>
              </a:rPr>
              <a:t>$26.4M</a:t>
            </a:r>
          </a:p>
        </p:txBody>
      </p:sp>
      <p:sp>
        <p:nvSpPr>
          <p:cNvPr id="30" name="drv-3-title"/>
          <p:cNvSpPr txBox="1"/>
          <p:nvPr/>
        </p:nvSpPr>
        <p:spPr>
          <a:xfrm>
            <a:off x="781050" y="4495800"/>
            <a:ext cx="41719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&amp; Compliance Cost Avoidance</a:t>
            </a:r>
          </a:p>
        </p:txBody>
      </p:sp>
      <p:sp>
        <p:nvSpPr>
          <p:cNvPr id="31" name="drv-3-desc"/>
          <p:cNvSpPr txBox="1"/>
          <p:nvPr/>
        </p:nvSpPr>
        <p:spPr>
          <a:xfrm>
            <a:off x="781050" y="4667250"/>
            <a:ext cx="417195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Automated controls monitoring reduces audit findings and regulatory penalty exposure by 65%</a:t>
            </a:r>
          </a:p>
        </p:txBody>
      </p:sp>
      <p:sp>
        <p:nvSpPr>
          <p:cNvPr id="32" name="drv-3-val"/>
          <p:cNvSpPr txBox="1"/>
          <p:nvPr/>
        </p:nvSpPr>
        <p:spPr>
          <a:xfrm>
            <a:off x="4972050" y="4495800"/>
            <a:ext cx="8763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500" b="1" i="0">
                <a:solidFill>
                  <a:srgbClr val="22C55E"/>
                </a:solidFill>
                <a:latin typeface="Inter"/>
              </a:rPr>
              <a:t>$3.9M</a:t>
            </a:r>
          </a:p>
        </p:txBody>
      </p:sp>
      <p:sp>
        <p:nvSpPr>
          <p:cNvPr id="33" name="risk-card-bg"/>
          <p:cNvSpPr/>
          <p:nvPr/>
        </p:nvSpPr>
        <p:spPr>
          <a:xfrm>
            <a:off x="6172200" y="2590800"/>
            <a:ext cx="5410200" cy="272415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risk-card-title"/>
          <p:cNvSpPr txBox="1"/>
          <p:nvPr/>
        </p:nvSpPr>
        <p:spPr>
          <a:xfrm>
            <a:off x="6343650" y="2724150"/>
            <a:ext cx="50673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RISKS &amp; MITIGATIONS</a:t>
            </a:r>
          </a:p>
        </p:txBody>
      </p:sp>
      <p:sp>
        <p:nvSpPr>
          <p:cNvPr id="35" name="risk-card-rule"/>
          <p:cNvSpPr/>
          <p:nvPr/>
        </p:nvSpPr>
        <p:spPr>
          <a:xfrm>
            <a:off x="6343650" y="2914650"/>
            <a:ext cx="5067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risk-1-label"/>
          <p:cNvSpPr txBox="1"/>
          <p:nvPr/>
        </p:nvSpPr>
        <p:spPr>
          <a:xfrm>
            <a:off x="6343650" y="304800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Change Resistance — Adoption Shortfall</a:t>
            </a:r>
          </a:p>
        </p:txBody>
      </p:sp>
      <p:sp>
        <p:nvSpPr>
          <p:cNvPr id="37" name="risk-1-mit"/>
          <p:cNvSpPr txBox="1"/>
          <p:nvPr/>
        </p:nvSpPr>
        <p:spPr>
          <a:xfrm>
            <a:off x="6343650" y="3219450"/>
            <a:ext cx="50673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Dedicated OCM workstream with embedded change champions; adoption KPIs gated at each phase milestone</a:t>
            </a:r>
          </a:p>
        </p:txBody>
      </p:sp>
      <p:sp>
        <p:nvSpPr>
          <p:cNvPr id="38" name="risk-2-label"/>
          <p:cNvSpPr txBox="1"/>
          <p:nvPr/>
        </p:nvSpPr>
        <p:spPr>
          <a:xfrm>
            <a:off x="6343650" y="377190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Integration Complexity with Legacy ERP</a:t>
            </a:r>
          </a:p>
        </p:txBody>
      </p:sp>
      <p:sp>
        <p:nvSpPr>
          <p:cNvPr id="39" name="risk-2-mit"/>
          <p:cNvSpPr txBox="1"/>
          <p:nvPr/>
        </p:nvSpPr>
        <p:spPr>
          <a:xfrm>
            <a:off x="6343650" y="3943350"/>
            <a:ext cx="50673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API-first middleware layer; phased cutover with parallel-run period; rollback playbook maintained per release</a:t>
            </a:r>
          </a:p>
        </p:txBody>
      </p:sp>
      <p:sp>
        <p:nvSpPr>
          <p:cNvPr id="40" name="risk-3-label"/>
          <p:cNvSpPr txBox="1"/>
          <p:nvPr/>
        </p:nvSpPr>
        <p:spPr>
          <a:xfrm>
            <a:off x="6343650" y="4495800"/>
            <a:ext cx="50673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Benefit Realisation Slippage</a:t>
            </a:r>
          </a:p>
        </p:txBody>
      </p:sp>
      <p:sp>
        <p:nvSpPr>
          <p:cNvPr id="41" name="risk-3-mit"/>
          <p:cNvSpPr txBox="1"/>
          <p:nvPr/>
        </p:nvSpPr>
        <p:spPr>
          <a:xfrm>
            <a:off x="6343650" y="4667250"/>
            <a:ext cx="5067300" cy="476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Benefits locked in value-tracking register; quarterly steering review with go/no-go gates tied to disbursement</a:t>
            </a:r>
          </a:p>
        </p:txBody>
      </p:sp>
      <p:sp>
        <p:nvSpPr>
          <p:cNvPr id="42" name="act-bg"/>
          <p:cNvSpPr/>
          <p:nvPr/>
        </p:nvSpPr>
        <p:spPr>
          <a:xfrm>
            <a:off x="609600" y="5524500"/>
            <a:ext cx="10972800" cy="57150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act-accent"/>
          <p:cNvSpPr/>
          <p:nvPr/>
        </p:nvSpPr>
        <p:spPr>
          <a:xfrm>
            <a:off x="609600" y="5524500"/>
            <a:ext cx="38100" cy="571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act-text"/>
          <p:cNvSpPr txBox="1"/>
          <p:nvPr/>
        </p:nvSpPr>
        <p:spPr>
          <a:xfrm>
            <a:off x="800100" y="5600700"/>
            <a:ext cx="104775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Recommended: </a:t>
            </a:r>
            <a:r>
              <a:rPr sz="1050" b="1" i="0">
                <a:solidFill>
                  <a:srgbClr val="C780FF"/>
                </a:solidFill>
                <a:latin typeface="Inter"/>
              </a:rPr>
              <a:t>Approve Phase 1 ($5.8M) at July board</a:t>
            </a:r>
            <a:r>
              <a:rPr sz="1050" b="0" i="0">
                <a:solidFill>
                  <a:srgbClr val="FFFFFF"/>
                </a:solidFill>
                <a:latin typeface="Inter"/>
              </a:rPr>
              <a:t> — initiate vendor selection and OCM mobilisation immediately</a:t>
            </a:r>
          </a:p>
        </p:txBody>
      </p:sp>
      <p:sp>
        <p:nvSpPr>
          <p:cNvPr id="45" name="act-approval"/>
          <p:cNvSpPr txBox="1"/>
          <p:nvPr/>
        </p:nvSpPr>
        <p:spPr>
          <a:xfrm>
            <a:off x="800100" y="5829300"/>
            <a:ext cx="10477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Requires board approval · Sponsor: Chief Operating Officer</a:t>
            </a:r>
          </a:p>
        </p:txBody>
      </p:sp>
      <p:sp>
        <p:nvSpPr>
          <p:cNvPr id="4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4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4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