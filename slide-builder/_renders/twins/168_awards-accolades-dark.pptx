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Industry </a:t>
            </a:r>
            <a:r>
              <a:rPr sz="1950" b="1" i="0">
                <a:solidFill>
                  <a:srgbClr val="C780FF"/>
                </a:solidFill>
                <a:latin typeface="Inter"/>
              </a:rPr>
              <a:t>Recognition</a:t>
            </a:r>
            <a:r>
              <a:rPr sz="1950" b="1" i="0">
                <a:solidFill>
                  <a:srgbClr val="FFFFFF"/>
                </a:solidFill>
                <a:latin typeface="Inter"/>
              </a:rPr>
              <a:t> &amp;amp; Awards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A track record of excellence, independently validated by leading industry bodies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hero-award-icon"/>
          <p:cNvSpPr txBox="1"/>
          <p:nvPr/>
        </p:nvSpPr>
        <p:spPr>
          <a:xfrm>
            <a:off x="5638800" y="2190750"/>
            <a:ext cx="838200" cy="8382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5550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6" name="hero-award-name"/>
          <p:cNvSpPr txBox="1"/>
          <p:nvPr/>
        </p:nvSpPr>
        <p:spPr>
          <a:xfrm>
            <a:off x="1809750" y="31432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250" b="1" i="0">
                <a:solidFill>
                  <a:srgbClr val="FFFFFF"/>
                </a:solidFill>
                <a:latin typeface="Inter"/>
              </a:rPr>
              <a:t>Global Technology Services Partner of the Year</a:t>
            </a:r>
          </a:p>
        </p:txBody>
      </p:sp>
      <p:sp>
        <p:nvSpPr>
          <p:cNvPr id="7" name="hero-award-body"/>
          <p:cNvSpPr txBox="1"/>
          <p:nvPr/>
        </p:nvSpPr>
        <p:spPr>
          <a:xfrm>
            <a:off x="2762250" y="37147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125" b="0" i="0">
                <a:solidFill>
                  <a:srgbClr val="C7B8DD"/>
                </a:solidFill>
                <a:latin typeface="Inter"/>
              </a:rPr>
              <a:t>Forrester Wave — Enterprise Technology &amp; Consulting</a:t>
            </a:r>
          </a:p>
        </p:txBody>
      </p:sp>
      <p:sp>
        <p:nvSpPr>
          <p:cNvPr id="8" name="hero-award-year"/>
          <p:cNvSpPr txBox="1"/>
          <p:nvPr/>
        </p:nvSpPr>
        <p:spPr>
          <a:xfrm>
            <a:off x="5143500" y="39433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2026</a:t>
            </a:r>
          </a:p>
        </p:txBody>
      </p:sp>
      <p:sp>
        <p:nvSpPr>
          <p:cNvPr id="9" name="section-divider-rule-left"/>
          <p:cNvSpPr/>
          <p:nvPr/>
        </p:nvSpPr>
        <p:spPr>
          <a:xfrm>
            <a:off x="1905000" y="4314825"/>
            <a:ext cx="33337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section-divider-rule-right"/>
          <p:cNvSpPr/>
          <p:nvPr/>
        </p:nvSpPr>
        <p:spPr>
          <a:xfrm>
            <a:off x="6953250" y="4314825"/>
            <a:ext cx="33337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section-divider-label"/>
          <p:cNvSpPr txBox="1"/>
          <p:nvPr/>
        </p:nvSpPr>
        <p:spPr>
          <a:xfrm>
            <a:off x="5143500" y="42481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ALSO RECOGNIZED</a:t>
            </a:r>
          </a:p>
        </p:txBody>
      </p:sp>
      <p:sp>
        <p:nvSpPr>
          <p:cNvPr id="12" name="award-1-icon"/>
          <p:cNvSpPr txBox="1"/>
          <p:nvPr/>
        </p:nvSpPr>
        <p:spPr>
          <a:xfrm>
            <a:off x="3086100" y="45529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025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13" name="award-1-name"/>
          <p:cNvSpPr txBox="1"/>
          <p:nvPr/>
        </p:nvSpPr>
        <p:spPr>
          <a:xfrm>
            <a:off x="2400300" y="49149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Leader in Digital Transformation</a:t>
            </a:r>
          </a:p>
        </p:txBody>
      </p:sp>
      <p:sp>
        <p:nvSpPr>
          <p:cNvPr id="14" name="award-1-year"/>
          <p:cNvSpPr txBox="1"/>
          <p:nvPr/>
        </p:nvSpPr>
        <p:spPr>
          <a:xfrm>
            <a:off x="2400300" y="5238750"/>
            <a:ext cx="1676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Gartner MQ · 2025</a:t>
            </a:r>
          </a:p>
        </p:txBody>
      </p:sp>
      <p:sp>
        <p:nvSpPr>
          <p:cNvPr id="15" name="award-2-icon"/>
          <p:cNvSpPr txBox="1"/>
          <p:nvPr/>
        </p:nvSpPr>
        <p:spPr>
          <a:xfrm>
            <a:off x="4991100" y="45529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025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16" name="award-2-name"/>
          <p:cNvSpPr txBox="1"/>
          <p:nvPr/>
        </p:nvSpPr>
        <p:spPr>
          <a:xfrm>
            <a:off x="4305300" y="49149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Best Managed Services Provider</a:t>
            </a:r>
          </a:p>
        </p:txBody>
      </p:sp>
      <p:sp>
        <p:nvSpPr>
          <p:cNvPr id="17" name="award-2-year"/>
          <p:cNvSpPr txBox="1"/>
          <p:nvPr/>
        </p:nvSpPr>
        <p:spPr>
          <a:xfrm>
            <a:off x="4305300" y="5238750"/>
            <a:ext cx="1676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IDC MarketScape · 2025</a:t>
            </a:r>
          </a:p>
        </p:txBody>
      </p:sp>
      <p:sp>
        <p:nvSpPr>
          <p:cNvPr id="18" name="award-2-divider"/>
          <p:cNvSpPr/>
          <p:nvPr/>
        </p:nvSpPr>
        <p:spPr>
          <a:xfrm>
            <a:off x="4191000" y="4705350"/>
            <a:ext cx="9525" cy="666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award-3-icon"/>
          <p:cNvSpPr txBox="1"/>
          <p:nvPr/>
        </p:nvSpPr>
        <p:spPr>
          <a:xfrm>
            <a:off x="6896100" y="45529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025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20" name="award-3-name"/>
          <p:cNvSpPr txBox="1"/>
          <p:nvPr/>
        </p:nvSpPr>
        <p:spPr>
          <a:xfrm>
            <a:off x="6210300" y="49149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Top AI &amp; Data Consultancy</a:t>
            </a:r>
          </a:p>
        </p:txBody>
      </p:sp>
      <p:sp>
        <p:nvSpPr>
          <p:cNvPr id="21" name="award-3-year"/>
          <p:cNvSpPr txBox="1"/>
          <p:nvPr/>
        </p:nvSpPr>
        <p:spPr>
          <a:xfrm>
            <a:off x="6210300" y="5238750"/>
            <a:ext cx="1676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HFS Research · 2024</a:t>
            </a:r>
          </a:p>
        </p:txBody>
      </p:sp>
      <p:sp>
        <p:nvSpPr>
          <p:cNvPr id="22" name="award-3-divider"/>
          <p:cNvSpPr/>
          <p:nvPr/>
        </p:nvSpPr>
        <p:spPr>
          <a:xfrm>
            <a:off x="6096000" y="4705350"/>
            <a:ext cx="9525" cy="666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award-4-icon"/>
          <p:cNvSpPr txBox="1"/>
          <p:nvPr/>
        </p:nvSpPr>
        <p:spPr>
          <a:xfrm>
            <a:off x="8801100" y="45529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025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24" name="award-4-name"/>
          <p:cNvSpPr txBox="1"/>
          <p:nvPr/>
        </p:nvSpPr>
        <p:spPr>
          <a:xfrm>
            <a:off x="8115300" y="49149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Excellence in Sustainability</a:t>
            </a:r>
          </a:p>
        </p:txBody>
      </p:sp>
      <p:sp>
        <p:nvSpPr>
          <p:cNvPr id="25" name="award-4-year"/>
          <p:cNvSpPr txBox="1"/>
          <p:nvPr/>
        </p:nvSpPr>
        <p:spPr>
          <a:xfrm>
            <a:off x="8115300" y="5238750"/>
            <a:ext cx="1676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World Economic Forum · 2024</a:t>
            </a:r>
          </a:p>
        </p:txBody>
      </p:sp>
      <p:sp>
        <p:nvSpPr>
          <p:cNvPr id="26" name="award-4-divider"/>
          <p:cNvSpPr/>
          <p:nvPr/>
        </p:nvSpPr>
        <p:spPr>
          <a:xfrm>
            <a:off x="8001000" y="4705350"/>
            <a:ext cx="9525" cy="666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