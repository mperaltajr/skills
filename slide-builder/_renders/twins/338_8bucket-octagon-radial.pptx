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Eight strategic workstreams,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one core ambition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10134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Each bucket connects to the centre — progress on any node strengthens the whole system.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239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cxnSp>
        <p:nvCxnSpPr>
          <p:cNvPr id="5" name="spoke-1"/>
          <p:cNvCxnSpPr/>
          <p:nvPr/>
        </p:nvCxnSpPr>
        <p:spPr>
          <a:xfrm>
            <a:off x="3028950" y="2638425"/>
            <a:ext cx="0" cy="1524000"/>
          </a:xfrm>
          <a:prstGeom prst="line">
            <a:avLst/>
          </a:prstGeom>
          <a:ln w="1270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poke-2"/>
          <p:cNvCxnSpPr/>
          <p:nvPr/>
        </p:nvCxnSpPr>
        <p:spPr>
          <a:xfrm flipH="1">
            <a:off x="3028950" y="3084794"/>
            <a:ext cx="1077630" cy="1077631"/>
          </a:xfrm>
          <a:prstGeom prst="line">
            <a:avLst/>
          </a:prstGeom>
          <a:ln w="1270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poke-3"/>
          <p:cNvCxnSpPr/>
          <p:nvPr/>
        </p:nvCxnSpPr>
        <p:spPr>
          <a:xfrm flipH="1">
            <a:off x="3028950" y="4162425"/>
            <a:ext cx="1524000" cy="0"/>
          </a:xfrm>
          <a:prstGeom prst="line">
            <a:avLst/>
          </a:prstGeom>
          <a:ln w="1270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poke-4"/>
          <p:cNvCxnSpPr/>
          <p:nvPr/>
        </p:nvCxnSpPr>
        <p:spPr>
          <a:xfrm flipH="1" flipV="1">
            <a:off x="3028950" y="4162425"/>
            <a:ext cx="1077630" cy="1077630"/>
          </a:xfrm>
          <a:prstGeom prst="line">
            <a:avLst/>
          </a:prstGeom>
          <a:ln w="1270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poke-5"/>
          <p:cNvCxnSpPr/>
          <p:nvPr/>
        </p:nvCxnSpPr>
        <p:spPr>
          <a:xfrm flipV="1">
            <a:off x="3028950" y="4162425"/>
            <a:ext cx="0" cy="1524000"/>
          </a:xfrm>
          <a:prstGeom prst="line">
            <a:avLst/>
          </a:prstGeom>
          <a:ln w="1270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poke-6"/>
          <p:cNvCxnSpPr/>
          <p:nvPr/>
        </p:nvCxnSpPr>
        <p:spPr>
          <a:xfrm flipV="1">
            <a:off x="1951319" y="4162425"/>
            <a:ext cx="1077631" cy="1077630"/>
          </a:xfrm>
          <a:prstGeom prst="line">
            <a:avLst/>
          </a:prstGeom>
          <a:ln w="1270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poke-7"/>
          <p:cNvCxnSpPr/>
          <p:nvPr/>
        </p:nvCxnSpPr>
        <p:spPr>
          <a:xfrm>
            <a:off x="1504950" y="4162425"/>
            <a:ext cx="1524000" cy="0"/>
          </a:xfrm>
          <a:prstGeom prst="line">
            <a:avLst/>
          </a:prstGeom>
          <a:ln w="1270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poke-8"/>
          <p:cNvCxnSpPr/>
          <p:nvPr/>
        </p:nvCxnSpPr>
        <p:spPr>
          <a:xfrm>
            <a:off x="1951319" y="3084794"/>
            <a:ext cx="1077631" cy="1077631"/>
          </a:xfrm>
          <a:prstGeom prst="line">
            <a:avLst/>
          </a:prstGeom>
          <a:ln w="12700">
            <a:solidFill>
              <a:srgbClr val="C7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octagon-edge-1"/>
          <p:cNvCxnSpPr/>
          <p:nvPr/>
        </p:nvCxnSpPr>
        <p:spPr>
          <a:xfrm>
            <a:off x="3028950" y="2638425"/>
            <a:ext cx="1077630" cy="446369"/>
          </a:xfrm>
          <a:prstGeom prst="line">
            <a:avLst/>
          </a:prstGeom>
          <a:ln w="9525">
            <a:solidFill>
              <a:srgbClr val="EC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octagon-edge-2"/>
          <p:cNvCxnSpPr/>
          <p:nvPr/>
        </p:nvCxnSpPr>
        <p:spPr>
          <a:xfrm>
            <a:off x="4106580" y="3084794"/>
            <a:ext cx="446370" cy="1077631"/>
          </a:xfrm>
          <a:prstGeom prst="line">
            <a:avLst/>
          </a:prstGeom>
          <a:ln w="9525">
            <a:solidFill>
              <a:srgbClr val="EC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octagon-edge-3"/>
          <p:cNvCxnSpPr/>
          <p:nvPr/>
        </p:nvCxnSpPr>
        <p:spPr>
          <a:xfrm flipH="1">
            <a:off x="4106580" y="4162425"/>
            <a:ext cx="446370" cy="1077630"/>
          </a:xfrm>
          <a:prstGeom prst="line">
            <a:avLst/>
          </a:prstGeom>
          <a:ln w="9525">
            <a:solidFill>
              <a:srgbClr val="EC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octagon-edge-4"/>
          <p:cNvCxnSpPr/>
          <p:nvPr/>
        </p:nvCxnSpPr>
        <p:spPr>
          <a:xfrm flipH="1">
            <a:off x="3028950" y="5240055"/>
            <a:ext cx="1077630" cy="446370"/>
          </a:xfrm>
          <a:prstGeom prst="line">
            <a:avLst/>
          </a:prstGeom>
          <a:ln w="9525">
            <a:solidFill>
              <a:srgbClr val="EC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octagon-edge-5"/>
          <p:cNvCxnSpPr/>
          <p:nvPr/>
        </p:nvCxnSpPr>
        <p:spPr>
          <a:xfrm flipH="1" flipV="1">
            <a:off x="1951319" y="5240055"/>
            <a:ext cx="1077631" cy="446370"/>
          </a:xfrm>
          <a:prstGeom prst="line">
            <a:avLst/>
          </a:prstGeom>
          <a:ln w="9525">
            <a:solidFill>
              <a:srgbClr val="EC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octagon-edge-6"/>
          <p:cNvCxnSpPr/>
          <p:nvPr/>
        </p:nvCxnSpPr>
        <p:spPr>
          <a:xfrm flipH="1" flipV="1">
            <a:off x="1504950" y="4162425"/>
            <a:ext cx="446369" cy="1077630"/>
          </a:xfrm>
          <a:prstGeom prst="line">
            <a:avLst/>
          </a:prstGeom>
          <a:ln w="9525">
            <a:solidFill>
              <a:srgbClr val="EC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octagon-edge-7"/>
          <p:cNvCxnSpPr/>
          <p:nvPr/>
        </p:nvCxnSpPr>
        <p:spPr>
          <a:xfrm flipV="1">
            <a:off x="1504950" y="3084794"/>
            <a:ext cx="446369" cy="1077631"/>
          </a:xfrm>
          <a:prstGeom prst="line">
            <a:avLst/>
          </a:prstGeom>
          <a:ln w="9525">
            <a:solidFill>
              <a:srgbClr val="EC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octagon-edge-8"/>
          <p:cNvCxnSpPr/>
          <p:nvPr/>
        </p:nvCxnSpPr>
        <p:spPr>
          <a:xfrm flipV="1">
            <a:off x="1951319" y="2638425"/>
            <a:ext cx="1077631" cy="446369"/>
          </a:xfrm>
          <a:prstGeom prst="line">
            <a:avLst/>
          </a:prstGeom>
          <a:ln w="9525">
            <a:solidFill>
              <a:srgbClr val="ECE0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node-1-bg"/>
          <p:cNvSpPr/>
          <p:nvPr/>
        </p:nvSpPr>
        <p:spPr>
          <a:xfrm>
            <a:off x="2800350" y="2409825"/>
            <a:ext cx="457200" cy="45720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node-1-text"/>
          <p:cNvSpPr txBox="1"/>
          <p:nvPr/>
        </p:nvSpPr>
        <p:spPr>
          <a:xfrm>
            <a:off x="2800350" y="2409825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23" name="node-1-label"/>
          <p:cNvSpPr txBox="1"/>
          <p:nvPr/>
        </p:nvSpPr>
        <p:spPr>
          <a:xfrm>
            <a:off x="2505075" y="2200275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Vision</a:t>
            </a:r>
          </a:p>
        </p:txBody>
      </p:sp>
      <p:sp>
        <p:nvSpPr>
          <p:cNvPr id="24" name="node-2-bg"/>
          <p:cNvSpPr/>
          <p:nvPr/>
        </p:nvSpPr>
        <p:spPr>
          <a:xfrm>
            <a:off x="3877980" y="2856194"/>
            <a:ext cx="457200" cy="45720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node-2-text"/>
          <p:cNvSpPr txBox="1"/>
          <p:nvPr/>
        </p:nvSpPr>
        <p:spPr>
          <a:xfrm>
            <a:off x="3877980" y="285619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6" name="node-2-label"/>
          <p:cNvSpPr txBox="1"/>
          <p:nvPr/>
        </p:nvSpPr>
        <p:spPr>
          <a:xfrm>
            <a:off x="3581400" y="2638425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Strategy</a:t>
            </a:r>
          </a:p>
        </p:txBody>
      </p:sp>
      <p:sp>
        <p:nvSpPr>
          <p:cNvPr id="27" name="node-3-bg"/>
          <p:cNvSpPr/>
          <p:nvPr/>
        </p:nvSpPr>
        <p:spPr>
          <a:xfrm>
            <a:off x="4324350" y="3933825"/>
            <a:ext cx="457200" cy="45720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node-3-text"/>
          <p:cNvSpPr txBox="1"/>
          <p:nvPr/>
        </p:nvSpPr>
        <p:spPr>
          <a:xfrm>
            <a:off x="4324350" y="3933825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9" name="node-3-label"/>
          <p:cNvSpPr txBox="1"/>
          <p:nvPr/>
        </p:nvSpPr>
        <p:spPr>
          <a:xfrm>
            <a:off x="4029075" y="4429125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Operations</a:t>
            </a:r>
          </a:p>
        </p:txBody>
      </p:sp>
      <p:sp>
        <p:nvSpPr>
          <p:cNvPr id="30" name="node-4-bg"/>
          <p:cNvSpPr/>
          <p:nvPr/>
        </p:nvSpPr>
        <p:spPr>
          <a:xfrm>
            <a:off x="3877980" y="5011455"/>
            <a:ext cx="457200" cy="45720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node-4-text"/>
          <p:cNvSpPr txBox="1"/>
          <p:nvPr/>
        </p:nvSpPr>
        <p:spPr>
          <a:xfrm>
            <a:off x="3877980" y="5011455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32" name="node-4-label"/>
          <p:cNvSpPr txBox="1"/>
          <p:nvPr/>
        </p:nvSpPr>
        <p:spPr>
          <a:xfrm>
            <a:off x="3581400" y="5505450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Technology</a:t>
            </a:r>
          </a:p>
        </p:txBody>
      </p:sp>
      <p:sp>
        <p:nvSpPr>
          <p:cNvPr id="33" name="node-5-bg"/>
          <p:cNvSpPr/>
          <p:nvPr/>
        </p:nvSpPr>
        <p:spPr>
          <a:xfrm>
            <a:off x="2800350" y="5457825"/>
            <a:ext cx="457200" cy="45720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node-5-text"/>
          <p:cNvSpPr txBox="1"/>
          <p:nvPr/>
        </p:nvSpPr>
        <p:spPr>
          <a:xfrm>
            <a:off x="2800350" y="5457825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35" name="node-5-label"/>
          <p:cNvSpPr txBox="1"/>
          <p:nvPr/>
        </p:nvSpPr>
        <p:spPr>
          <a:xfrm>
            <a:off x="2505075" y="5953125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Talent</a:t>
            </a:r>
          </a:p>
        </p:txBody>
      </p:sp>
      <p:sp>
        <p:nvSpPr>
          <p:cNvPr id="36" name="node-6-bg"/>
          <p:cNvSpPr/>
          <p:nvPr/>
        </p:nvSpPr>
        <p:spPr>
          <a:xfrm>
            <a:off x="1722719" y="5011455"/>
            <a:ext cx="457200" cy="45720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node-6-text"/>
          <p:cNvSpPr txBox="1"/>
          <p:nvPr/>
        </p:nvSpPr>
        <p:spPr>
          <a:xfrm>
            <a:off x="1722719" y="5011455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6</a:t>
            </a:r>
          </a:p>
        </p:txBody>
      </p:sp>
      <p:sp>
        <p:nvSpPr>
          <p:cNvPr id="38" name="node-6-label"/>
          <p:cNvSpPr txBox="1"/>
          <p:nvPr/>
        </p:nvSpPr>
        <p:spPr>
          <a:xfrm>
            <a:off x="1419225" y="5505450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Culture</a:t>
            </a:r>
          </a:p>
        </p:txBody>
      </p:sp>
      <p:sp>
        <p:nvSpPr>
          <p:cNvPr id="39" name="node-7-bg"/>
          <p:cNvSpPr/>
          <p:nvPr/>
        </p:nvSpPr>
        <p:spPr>
          <a:xfrm>
            <a:off x="1276350" y="3933825"/>
            <a:ext cx="457200" cy="45720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node-7-text"/>
          <p:cNvSpPr txBox="1"/>
          <p:nvPr/>
        </p:nvSpPr>
        <p:spPr>
          <a:xfrm>
            <a:off x="1276350" y="3933825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7</a:t>
            </a:r>
          </a:p>
        </p:txBody>
      </p:sp>
      <p:sp>
        <p:nvSpPr>
          <p:cNvPr id="41" name="node-7-label"/>
          <p:cNvSpPr txBox="1"/>
          <p:nvPr/>
        </p:nvSpPr>
        <p:spPr>
          <a:xfrm>
            <a:off x="981075" y="4429125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Governance</a:t>
            </a:r>
          </a:p>
        </p:txBody>
      </p:sp>
      <p:sp>
        <p:nvSpPr>
          <p:cNvPr id="42" name="node-8-bg"/>
          <p:cNvSpPr/>
          <p:nvPr/>
        </p:nvSpPr>
        <p:spPr>
          <a:xfrm>
            <a:off x="1722719" y="2856194"/>
            <a:ext cx="457200" cy="45720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node-8-text"/>
          <p:cNvSpPr txBox="1"/>
          <p:nvPr/>
        </p:nvSpPr>
        <p:spPr>
          <a:xfrm>
            <a:off x="1722719" y="285619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8</a:t>
            </a:r>
          </a:p>
        </p:txBody>
      </p:sp>
      <p:sp>
        <p:nvSpPr>
          <p:cNvPr id="44" name="node-8-label"/>
          <p:cNvSpPr txBox="1"/>
          <p:nvPr/>
        </p:nvSpPr>
        <p:spPr>
          <a:xfrm>
            <a:off x="1419225" y="2638425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Customers</a:t>
            </a:r>
          </a:p>
        </p:txBody>
      </p:sp>
      <p:sp>
        <p:nvSpPr>
          <p:cNvPr id="45" name="core-bg"/>
          <p:cNvSpPr/>
          <p:nvPr/>
        </p:nvSpPr>
        <p:spPr>
          <a:xfrm>
            <a:off x="2628900" y="3762375"/>
            <a:ext cx="800100" cy="8001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core-text"/>
          <p:cNvSpPr txBox="1"/>
          <p:nvPr/>
        </p:nvSpPr>
        <p:spPr>
          <a:xfrm>
            <a:off x="2628900" y="3762375"/>
            <a:ext cx="800100" cy="800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CORE</a:t>
            </a:r>
          </a:p>
        </p:txBody>
      </p:sp>
      <p:sp>
        <p:nvSpPr>
          <p:cNvPr id="47" name="core-sub"/>
          <p:cNvSpPr txBox="1"/>
          <p:nvPr/>
        </p:nvSpPr>
        <p:spPr>
          <a:xfrm>
            <a:off x="2628900" y="4219575"/>
            <a:ext cx="800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ambition</a:t>
            </a:r>
          </a:p>
        </p:txBody>
      </p:sp>
      <p:sp>
        <p:nvSpPr>
          <p:cNvPr id="48" name="index-header"/>
          <p:cNvSpPr txBox="1"/>
          <p:nvPr/>
        </p:nvSpPr>
        <p:spPr>
          <a:xfrm>
            <a:off x="5829300" y="1943100"/>
            <a:ext cx="5905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WORKSTREAM INDEX</a:t>
            </a:r>
          </a:p>
        </p:txBody>
      </p:sp>
      <p:sp>
        <p:nvSpPr>
          <p:cNvPr id="49" name="index-rule"/>
          <p:cNvSpPr/>
          <p:nvPr/>
        </p:nvSpPr>
        <p:spPr>
          <a:xfrm>
            <a:off x="5829300" y="2114550"/>
            <a:ext cx="59055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ann-1-num-bg"/>
          <p:cNvSpPr/>
          <p:nvPr/>
        </p:nvSpPr>
        <p:spPr>
          <a:xfrm>
            <a:off x="5829300" y="2362200"/>
            <a:ext cx="209550" cy="20955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ann-1-num-text"/>
          <p:cNvSpPr txBox="1"/>
          <p:nvPr/>
        </p:nvSpPr>
        <p:spPr>
          <a:xfrm>
            <a:off x="5829300" y="23622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52" name="ann-1-title"/>
          <p:cNvSpPr txBox="1"/>
          <p:nvPr/>
        </p:nvSpPr>
        <p:spPr>
          <a:xfrm>
            <a:off x="6134100" y="2247900"/>
            <a:ext cx="114300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Vision</a:t>
            </a:r>
          </a:p>
        </p:txBody>
      </p:sp>
      <p:sp>
        <p:nvSpPr>
          <p:cNvPr id="53" name="ann-1-desc"/>
          <p:cNvSpPr txBox="1"/>
          <p:nvPr/>
        </p:nvSpPr>
        <p:spPr>
          <a:xfrm>
            <a:off x="7353300" y="2247900"/>
            <a:ext cx="430530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Define and socialise the north star that anchors all decisions.</a:t>
            </a:r>
          </a:p>
        </p:txBody>
      </p:sp>
      <p:sp>
        <p:nvSpPr>
          <p:cNvPr id="54" name="ann-2-num-bg"/>
          <p:cNvSpPr/>
          <p:nvPr/>
        </p:nvSpPr>
        <p:spPr>
          <a:xfrm>
            <a:off x="5829300" y="2886075"/>
            <a:ext cx="209550" cy="20955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ann-2-num-text"/>
          <p:cNvSpPr txBox="1"/>
          <p:nvPr/>
        </p:nvSpPr>
        <p:spPr>
          <a:xfrm>
            <a:off x="5829300" y="2886075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56" name="ann-2-title"/>
          <p:cNvSpPr txBox="1"/>
          <p:nvPr/>
        </p:nvSpPr>
        <p:spPr>
          <a:xfrm>
            <a:off x="6134100" y="2771775"/>
            <a:ext cx="114300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Strategy</a:t>
            </a:r>
          </a:p>
        </p:txBody>
      </p:sp>
      <p:sp>
        <p:nvSpPr>
          <p:cNvPr id="57" name="ann-2-desc"/>
          <p:cNvSpPr txBox="1"/>
          <p:nvPr/>
        </p:nvSpPr>
        <p:spPr>
          <a:xfrm>
            <a:off x="7353300" y="2771775"/>
            <a:ext cx="430530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Set clear choices on where to play and how to win.</a:t>
            </a:r>
          </a:p>
        </p:txBody>
      </p:sp>
      <p:sp>
        <p:nvSpPr>
          <p:cNvPr id="58" name="ann-3-num-bg"/>
          <p:cNvSpPr/>
          <p:nvPr/>
        </p:nvSpPr>
        <p:spPr>
          <a:xfrm>
            <a:off x="5829300" y="3409950"/>
            <a:ext cx="209550" cy="20955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ann-3-num-text"/>
          <p:cNvSpPr txBox="1"/>
          <p:nvPr/>
        </p:nvSpPr>
        <p:spPr>
          <a:xfrm>
            <a:off x="5829300" y="34099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60" name="ann-3-title"/>
          <p:cNvSpPr txBox="1"/>
          <p:nvPr/>
        </p:nvSpPr>
        <p:spPr>
          <a:xfrm>
            <a:off x="6134100" y="3295650"/>
            <a:ext cx="114300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Operations</a:t>
            </a:r>
          </a:p>
        </p:txBody>
      </p:sp>
      <p:sp>
        <p:nvSpPr>
          <p:cNvPr id="61" name="ann-3-desc"/>
          <p:cNvSpPr txBox="1"/>
          <p:nvPr/>
        </p:nvSpPr>
        <p:spPr>
          <a:xfrm>
            <a:off x="7353300" y="3295650"/>
            <a:ext cx="430530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Streamline processes that deliver day-to-day value.</a:t>
            </a:r>
          </a:p>
        </p:txBody>
      </p:sp>
      <p:sp>
        <p:nvSpPr>
          <p:cNvPr id="62" name="ann-4-num-bg"/>
          <p:cNvSpPr/>
          <p:nvPr/>
        </p:nvSpPr>
        <p:spPr>
          <a:xfrm>
            <a:off x="5829300" y="3933825"/>
            <a:ext cx="209550" cy="20955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ann-4-num-text"/>
          <p:cNvSpPr txBox="1"/>
          <p:nvPr/>
        </p:nvSpPr>
        <p:spPr>
          <a:xfrm>
            <a:off x="5829300" y="3933825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64" name="ann-4-title"/>
          <p:cNvSpPr txBox="1"/>
          <p:nvPr/>
        </p:nvSpPr>
        <p:spPr>
          <a:xfrm>
            <a:off x="6134100" y="3819525"/>
            <a:ext cx="114300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Technology</a:t>
            </a:r>
          </a:p>
        </p:txBody>
      </p:sp>
      <p:sp>
        <p:nvSpPr>
          <p:cNvPr id="65" name="ann-4-desc"/>
          <p:cNvSpPr txBox="1"/>
          <p:nvPr/>
        </p:nvSpPr>
        <p:spPr>
          <a:xfrm>
            <a:off x="7353300" y="3819525"/>
            <a:ext cx="430530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Build the platforms and data backbone for scale.</a:t>
            </a:r>
          </a:p>
        </p:txBody>
      </p:sp>
      <p:sp>
        <p:nvSpPr>
          <p:cNvPr id="66" name="ann-5-num-bg"/>
          <p:cNvSpPr/>
          <p:nvPr/>
        </p:nvSpPr>
        <p:spPr>
          <a:xfrm>
            <a:off x="5829300" y="4457700"/>
            <a:ext cx="209550" cy="20955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ann-5-num-text"/>
          <p:cNvSpPr txBox="1"/>
          <p:nvPr/>
        </p:nvSpPr>
        <p:spPr>
          <a:xfrm>
            <a:off x="5829300" y="44577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68" name="ann-5-title"/>
          <p:cNvSpPr txBox="1"/>
          <p:nvPr/>
        </p:nvSpPr>
        <p:spPr>
          <a:xfrm>
            <a:off x="6134100" y="4343400"/>
            <a:ext cx="114300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Talent</a:t>
            </a:r>
          </a:p>
        </p:txBody>
      </p:sp>
      <p:sp>
        <p:nvSpPr>
          <p:cNvPr id="69" name="ann-5-desc"/>
          <p:cNvSpPr txBox="1"/>
          <p:nvPr/>
        </p:nvSpPr>
        <p:spPr>
          <a:xfrm>
            <a:off x="7353300" y="4343400"/>
            <a:ext cx="430530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Attract, grow, and retain the capabilities needed.</a:t>
            </a:r>
          </a:p>
        </p:txBody>
      </p:sp>
      <p:sp>
        <p:nvSpPr>
          <p:cNvPr id="70" name="ann-6-num-bg"/>
          <p:cNvSpPr/>
          <p:nvPr/>
        </p:nvSpPr>
        <p:spPr>
          <a:xfrm>
            <a:off x="5829300" y="4981575"/>
            <a:ext cx="209550" cy="20955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1" name="ann-6-num-text"/>
          <p:cNvSpPr txBox="1"/>
          <p:nvPr/>
        </p:nvSpPr>
        <p:spPr>
          <a:xfrm>
            <a:off x="5829300" y="4981575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6</a:t>
            </a:r>
          </a:p>
        </p:txBody>
      </p:sp>
      <p:sp>
        <p:nvSpPr>
          <p:cNvPr id="72" name="ann-6-title"/>
          <p:cNvSpPr txBox="1"/>
          <p:nvPr/>
        </p:nvSpPr>
        <p:spPr>
          <a:xfrm>
            <a:off x="6134100" y="4867275"/>
            <a:ext cx="114300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Culture</a:t>
            </a:r>
          </a:p>
        </p:txBody>
      </p:sp>
      <p:sp>
        <p:nvSpPr>
          <p:cNvPr id="73" name="ann-6-desc"/>
          <p:cNvSpPr txBox="1"/>
          <p:nvPr/>
        </p:nvSpPr>
        <p:spPr>
          <a:xfrm>
            <a:off x="7353300" y="4867275"/>
            <a:ext cx="430530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Shape the behaviours and norms that make change stick.</a:t>
            </a:r>
          </a:p>
        </p:txBody>
      </p:sp>
      <p:sp>
        <p:nvSpPr>
          <p:cNvPr id="74" name="ann-7-num-bg"/>
          <p:cNvSpPr/>
          <p:nvPr/>
        </p:nvSpPr>
        <p:spPr>
          <a:xfrm>
            <a:off x="5829300" y="5505450"/>
            <a:ext cx="209550" cy="20955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" name="ann-7-num-text"/>
          <p:cNvSpPr txBox="1"/>
          <p:nvPr/>
        </p:nvSpPr>
        <p:spPr>
          <a:xfrm>
            <a:off x="5829300" y="55054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7</a:t>
            </a:r>
          </a:p>
        </p:txBody>
      </p:sp>
      <p:sp>
        <p:nvSpPr>
          <p:cNvPr id="76" name="ann-7-title"/>
          <p:cNvSpPr txBox="1"/>
          <p:nvPr/>
        </p:nvSpPr>
        <p:spPr>
          <a:xfrm>
            <a:off x="6134100" y="5391150"/>
            <a:ext cx="114300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Governance</a:t>
            </a:r>
          </a:p>
        </p:txBody>
      </p:sp>
      <p:sp>
        <p:nvSpPr>
          <p:cNvPr id="77" name="ann-7-desc"/>
          <p:cNvSpPr txBox="1"/>
          <p:nvPr/>
        </p:nvSpPr>
        <p:spPr>
          <a:xfrm>
            <a:off x="7353300" y="5391150"/>
            <a:ext cx="430530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Establish accountabilities and decision-making authority.</a:t>
            </a:r>
          </a:p>
        </p:txBody>
      </p:sp>
      <p:sp>
        <p:nvSpPr>
          <p:cNvPr id="78" name="ann-8-num-bg"/>
          <p:cNvSpPr/>
          <p:nvPr/>
        </p:nvSpPr>
        <p:spPr>
          <a:xfrm>
            <a:off x="5829300" y="6029325"/>
            <a:ext cx="209550" cy="209550"/>
          </a:xfrm>
          <a:prstGeom prst="ellipse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" name="ann-8-num-text"/>
          <p:cNvSpPr txBox="1"/>
          <p:nvPr/>
        </p:nvSpPr>
        <p:spPr>
          <a:xfrm>
            <a:off x="5829300" y="6029325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8</a:t>
            </a:r>
          </a:p>
        </p:txBody>
      </p:sp>
      <p:sp>
        <p:nvSpPr>
          <p:cNvPr id="80" name="ann-8-title"/>
          <p:cNvSpPr txBox="1"/>
          <p:nvPr/>
        </p:nvSpPr>
        <p:spPr>
          <a:xfrm>
            <a:off x="6134100" y="5915025"/>
            <a:ext cx="114300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Customers</a:t>
            </a:r>
          </a:p>
        </p:txBody>
      </p:sp>
      <p:sp>
        <p:nvSpPr>
          <p:cNvPr id="81" name="ann-8-desc"/>
          <p:cNvSpPr txBox="1"/>
          <p:nvPr/>
        </p:nvSpPr>
        <p:spPr>
          <a:xfrm>
            <a:off x="7353300" y="5915025"/>
            <a:ext cx="4305300" cy="4476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Keep the end-user experience at the centre of every choice.</a:t>
            </a:r>
          </a:p>
        </p:txBody>
      </p:sp>
      <p:sp>
        <p:nvSpPr>
          <p:cNvPr id="82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83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84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338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