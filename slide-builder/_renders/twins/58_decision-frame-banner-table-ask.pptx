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457200" y="533400"/>
            <a:ext cx="8572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DECISION REQUIRED · HTR INITIATIVES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723900"/>
            <a:ext cx="990600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1A1A2E"/>
                </a:solidFill>
                <a:latin typeface="Inter"/>
              </a:rPr>
              <a:t>Accenture rolls off May 31 — </a:t>
            </a:r>
            <a:r>
              <a:rPr sz="1650" b="1" i="0">
                <a:solidFill>
                  <a:srgbClr val="2D0A4E"/>
                </a:solidFill>
                <a:latin typeface="Inter"/>
              </a:rPr>
              <a:t>Finance readiness on HTR initiatives</a:t>
            </a:r>
            <a:r>
              <a:rPr sz="1650" b="1" i="0">
                <a:solidFill>
                  <a:srgbClr val="1A1A2E"/>
                </a:solidFill>
                <a:latin typeface="Inter"/>
              </a:rPr>
              <a:t> determines coverage risk.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457200" y="1371600"/>
            <a:ext cx="99060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Event up top, status in the middle, the binary ask at the bottom. Owner column makes the handoff explicit; Harvey balls show current progress.</a:t>
            </a:r>
          </a:p>
        </p:txBody>
      </p:sp>
      <p:sp>
        <p:nvSpPr>
          <p:cNvPr id="5" name="brand-rule"/>
          <p:cNvSpPr/>
          <p:nvPr/>
        </p:nvSpPr>
        <p:spPr>
          <a:xfrm>
            <a:off x="457200" y="1771650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legend-bg"/>
          <p:cNvSpPr/>
          <p:nvPr/>
        </p:nvSpPr>
        <p:spPr>
          <a:xfrm>
            <a:off x="8858250" y="2190750"/>
            <a:ext cx="29527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legend-title"/>
          <p:cNvSpPr txBox="1"/>
          <p:nvPr/>
        </p:nvSpPr>
        <p:spPr>
          <a:xfrm>
            <a:off x="8953500" y="2190750"/>
            <a:ext cx="55245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PROGRESS</a:t>
            </a:r>
          </a:p>
        </p:txBody>
      </p:sp>
      <p:sp>
        <p:nvSpPr>
          <p:cNvPr id="8" name="legend-divider"/>
          <p:cNvSpPr/>
          <p:nvPr/>
        </p:nvSpPr>
        <p:spPr>
          <a:xfrm>
            <a:off x="9505950" y="2266950"/>
            <a:ext cx="9525" cy="2095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legend-1-ball-base"/>
          <p:cNvSpPr/>
          <p:nvPr/>
        </p:nvSpPr>
        <p:spPr>
          <a:xfrm>
            <a:off x="9601200" y="2305050"/>
            <a:ext cx="133350" cy="1333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C2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legend-1-lbl"/>
          <p:cNvSpPr txBox="1"/>
          <p:nvPr/>
        </p:nvSpPr>
        <p:spPr>
          <a:xfrm>
            <a:off x="9753600" y="2305050"/>
            <a:ext cx="2667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0%</a:t>
            </a:r>
          </a:p>
        </p:txBody>
      </p:sp>
      <p:sp>
        <p:nvSpPr>
          <p:cNvPr id="11" name="legend-2-ball-base"/>
          <p:cNvSpPr/>
          <p:nvPr/>
        </p:nvSpPr>
        <p:spPr>
          <a:xfrm>
            <a:off x="10039350" y="2305050"/>
            <a:ext cx="133350" cy="1333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C2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legend-2-ball-fill"/>
          <p:cNvSpPr/>
          <p:nvPr/>
        </p:nvSpPr>
        <p:spPr>
          <a:xfrm>
            <a:off x="10058400" y="2324100"/>
            <a:ext cx="95250" cy="95250"/>
          </a:xfrm>
          <a:prstGeom prst="pi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legend-2-lbl"/>
          <p:cNvSpPr txBox="1"/>
          <p:nvPr/>
        </p:nvSpPr>
        <p:spPr>
          <a:xfrm>
            <a:off x="10191750" y="2305050"/>
            <a:ext cx="2667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~25%</a:t>
            </a:r>
          </a:p>
        </p:txBody>
      </p:sp>
      <p:sp>
        <p:nvSpPr>
          <p:cNvPr id="14" name="legend-3-ball-base"/>
          <p:cNvSpPr/>
          <p:nvPr/>
        </p:nvSpPr>
        <p:spPr>
          <a:xfrm>
            <a:off x="10477500" y="2305050"/>
            <a:ext cx="133350" cy="1333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C2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legend-3-ball-fill"/>
          <p:cNvSpPr/>
          <p:nvPr/>
        </p:nvSpPr>
        <p:spPr>
          <a:xfrm>
            <a:off x="10496550" y="2324100"/>
            <a:ext cx="95250" cy="95250"/>
          </a:xfrm>
          <a:prstGeom prst="pi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legend-3-lbl"/>
          <p:cNvSpPr txBox="1"/>
          <p:nvPr/>
        </p:nvSpPr>
        <p:spPr>
          <a:xfrm>
            <a:off x="10629900" y="2305050"/>
            <a:ext cx="2667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~50%</a:t>
            </a:r>
          </a:p>
        </p:txBody>
      </p:sp>
      <p:sp>
        <p:nvSpPr>
          <p:cNvPr id="17" name="legend-4-ball-base"/>
          <p:cNvSpPr/>
          <p:nvPr/>
        </p:nvSpPr>
        <p:spPr>
          <a:xfrm>
            <a:off x="10915650" y="2305050"/>
            <a:ext cx="133350" cy="1333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C2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legend-4-ball-fill"/>
          <p:cNvSpPr/>
          <p:nvPr/>
        </p:nvSpPr>
        <p:spPr>
          <a:xfrm>
            <a:off x="10934700" y="2324100"/>
            <a:ext cx="95250" cy="95250"/>
          </a:xfrm>
          <a:prstGeom prst="pi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legend-4-lbl"/>
          <p:cNvSpPr txBox="1"/>
          <p:nvPr/>
        </p:nvSpPr>
        <p:spPr>
          <a:xfrm>
            <a:off x="11068050" y="2305050"/>
            <a:ext cx="2667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~75%</a:t>
            </a:r>
          </a:p>
        </p:txBody>
      </p:sp>
      <p:sp>
        <p:nvSpPr>
          <p:cNvPr id="20" name="legend-5-ball-base"/>
          <p:cNvSpPr/>
          <p:nvPr/>
        </p:nvSpPr>
        <p:spPr>
          <a:xfrm>
            <a:off x="11353800" y="2305050"/>
            <a:ext cx="133350" cy="133350"/>
          </a:xfrm>
          <a:prstGeom prst="ellipse">
            <a:avLst/>
          </a:prstGeom>
          <a:solidFill>
            <a:srgbClr val="5C2D87"/>
          </a:solidFill>
          <a:ln w="19050">
            <a:solidFill>
              <a:srgbClr val="5C2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legend-5-lbl"/>
          <p:cNvSpPr txBox="1"/>
          <p:nvPr/>
        </p:nvSpPr>
        <p:spPr>
          <a:xfrm>
            <a:off x="11506200" y="2305050"/>
            <a:ext cx="2667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Done</a:t>
            </a:r>
          </a:p>
        </p:txBody>
      </p:sp>
      <p:sp>
        <p:nvSpPr>
          <p:cNvPr id="22" name="event-banner-bg"/>
          <p:cNvSpPr/>
          <p:nvPr/>
        </p:nvSpPr>
        <p:spPr>
          <a:xfrm>
            <a:off x="457200" y="2647950"/>
            <a:ext cx="11277600" cy="4762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event-banner-accent"/>
          <p:cNvSpPr/>
          <p:nvPr/>
        </p:nvSpPr>
        <p:spPr>
          <a:xfrm>
            <a:off x="457200" y="2647950"/>
            <a:ext cx="38100" cy="4762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event-flag"/>
          <p:cNvSpPr txBox="1"/>
          <p:nvPr/>
        </p:nvSpPr>
        <p:spPr>
          <a:xfrm>
            <a:off x="666750" y="2647950"/>
            <a:ext cx="19050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⚑ PROJECT ROLLOFF</a:t>
            </a:r>
          </a:p>
        </p:txBody>
      </p:sp>
      <p:sp>
        <p:nvSpPr>
          <p:cNvPr id="25" name="event-date"/>
          <p:cNvSpPr txBox="1"/>
          <p:nvPr/>
        </p:nvSpPr>
        <p:spPr>
          <a:xfrm>
            <a:off x="2667000" y="2647950"/>
            <a:ext cx="20955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FFFFFF"/>
                </a:solidFill>
                <a:latin typeface="Inter"/>
              </a:rPr>
              <a:t>May 31, 2026</a:t>
            </a:r>
          </a:p>
        </p:txBody>
      </p:sp>
      <p:sp>
        <p:nvSpPr>
          <p:cNvPr id="26" name="event-note"/>
          <p:cNvSpPr txBox="1"/>
          <p:nvPr/>
        </p:nvSpPr>
        <p:spPr>
          <a:xfrm>
            <a:off x="6858000" y="2647950"/>
            <a:ext cx="43815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Finance committed to own remaining HTR initiatives post-rolloff</a:t>
            </a:r>
          </a:p>
        </p:txBody>
      </p:sp>
      <p:sp>
        <p:nvSpPr>
          <p:cNvPr id="27" name="table-header-bg"/>
          <p:cNvSpPr/>
          <p:nvPr/>
        </p:nvSpPr>
        <p:spPr>
          <a:xfrm>
            <a:off x="457200" y="3219450"/>
            <a:ext cx="11277600" cy="3048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table-header-1"/>
          <p:cNvSpPr txBox="1"/>
          <p:nvPr/>
        </p:nvSpPr>
        <p:spPr>
          <a:xfrm>
            <a:off x="571500" y="3219450"/>
            <a:ext cx="382905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Initiative</a:t>
            </a:r>
          </a:p>
        </p:txBody>
      </p:sp>
      <p:sp>
        <p:nvSpPr>
          <p:cNvPr id="29" name="table-header-2"/>
          <p:cNvSpPr txBox="1"/>
          <p:nvPr/>
        </p:nvSpPr>
        <p:spPr>
          <a:xfrm>
            <a:off x="4629150" y="3219450"/>
            <a:ext cx="1800225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Owner</a:t>
            </a:r>
          </a:p>
        </p:txBody>
      </p:sp>
      <p:sp>
        <p:nvSpPr>
          <p:cNvPr id="30" name="table-header-3"/>
          <p:cNvSpPr txBox="1"/>
          <p:nvPr/>
        </p:nvSpPr>
        <p:spPr>
          <a:xfrm>
            <a:off x="6657975" y="3219450"/>
            <a:ext cx="112395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Status</a:t>
            </a:r>
          </a:p>
        </p:txBody>
      </p:sp>
      <p:sp>
        <p:nvSpPr>
          <p:cNvPr id="31" name="table-header-4"/>
          <p:cNvSpPr txBox="1"/>
          <p:nvPr/>
        </p:nvSpPr>
        <p:spPr>
          <a:xfrm>
            <a:off x="8010525" y="3219450"/>
            <a:ext cx="360045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Comments</a:t>
            </a:r>
          </a:p>
        </p:txBody>
      </p:sp>
      <p:sp>
        <p:nvSpPr>
          <p:cNvPr id="32" name="table-row-1-bg"/>
          <p:cNvSpPr/>
          <p:nvPr/>
        </p:nvSpPr>
        <p:spPr>
          <a:xfrm>
            <a:off x="457200" y="3524250"/>
            <a:ext cx="112776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table-row-1-rule"/>
          <p:cNvSpPr/>
          <p:nvPr/>
        </p:nvSpPr>
        <p:spPr>
          <a:xfrm>
            <a:off x="457200" y="3905250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table-row-1-init"/>
          <p:cNvSpPr txBox="1"/>
          <p:nvPr/>
        </p:nvSpPr>
        <p:spPr>
          <a:xfrm>
            <a:off x="571500" y="3524250"/>
            <a:ext cx="382905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Background Checks Cost Reduction</a:t>
            </a:r>
          </a:p>
        </p:txBody>
      </p:sp>
      <p:sp>
        <p:nvSpPr>
          <p:cNvPr id="35" name="table-row-1-owner"/>
          <p:cNvSpPr txBox="1"/>
          <p:nvPr/>
        </p:nvSpPr>
        <p:spPr>
          <a:xfrm>
            <a:off x="4629150" y="3524250"/>
            <a:ext cx="1800225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Client Finance</a:t>
            </a:r>
          </a:p>
        </p:txBody>
      </p:sp>
      <p:sp>
        <p:nvSpPr>
          <p:cNvPr id="36" name="table-row-1-ball-base"/>
          <p:cNvSpPr/>
          <p:nvPr/>
        </p:nvSpPr>
        <p:spPr>
          <a:xfrm>
            <a:off x="7143750" y="3600450"/>
            <a:ext cx="152400" cy="152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C2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table-row-1-ball-fill"/>
          <p:cNvSpPr/>
          <p:nvPr/>
        </p:nvSpPr>
        <p:spPr>
          <a:xfrm>
            <a:off x="7162800" y="3619500"/>
            <a:ext cx="114300" cy="114300"/>
          </a:xfrm>
          <a:prstGeom prst="pi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table-row-1-status-label"/>
          <p:cNvSpPr txBox="1"/>
          <p:nvPr/>
        </p:nvSpPr>
        <p:spPr>
          <a:xfrm>
            <a:off x="6543675" y="3771900"/>
            <a:ext cx="1352550" cy="95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~25%</a:t>
            </a:r>
          </a:p>
        </p:txBody>
      </p:sp>
      <p:sp>
        <p:nvSpPr>
          <p:cNvPr id="39" name="table-row-1-comment"/>
          <p:cNvSpPr txBox="1"/>
          <p:nvPr/>
        </p:nvSpPr>
        <p:spPr>
          <a:xfrm>
            <a:off x="8010525" y="3524250"/>
            <a:ext cx="360045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Vendor RFP issued; awaiting bids</a:t>
            </a:r>
          </a:p>
        </p:txBody>
      </p:sp>
      <p:sp>
        <p:nvSpPr>
          <p:cNvPr id="40" name="table-row-2-bg"/>
          <p:cNvSpPr/>
          <p:nvPr/>
        </p:nvSpPr>
        <p:spPr>
          <a:xfrm>
            <a:off x="457200" y="3905250"/>
            <a:ext cx="11277600" cy="381000"/>
          </a:xfrm>
          <a:prstGeom prst="rect">
            <a:avLst/>
          </a:prstGeom>
          <a:solidFill>
            <a:srgbClr val="FA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table-row-2-rule"/>
          <p:cNvSpPr/>
          <p:nvPr/>
        </p:nvSpPr>
        <p:spPr>
          <a:xfrm>
            <a:off x="457200" y="4286250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table-row-2-init"/>
          <p:cNvSpPr txBox="1"/>
          <p:nvPr/>
        </p:nvSpPr>
        <p:spPr>
          <a:xfrm>
            <a:off x="571500" y="3905250"/>
            <a:ext cx="382905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Cost Per Hire Optimization</a:t>
            </a:r>
          </a:p>
        </p:txBody>
      </p:sp>
      <p:sp>
        <p:nvSpPr>
          <p:cNvPr id="43" name="table-row-2-owner"/>
          <p:cNvSpPr txBox="1"/>
          <p:nvPr/>
        </p:nvSpPr>
        <p:spPr>
          <a:xfrm>
            <a:off x="4629150" y="3905250"/>
            <a:ext cx="1800225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Client Finance</a:t>
            </a:r>
          </a:p>
        </p:txBody>
      </p:sp>
      <p:sp>
        <p:nvSpPr>
          <p:cNvPr id="44" name="table-row-2-ball-base"/>
          <p:cNvSpPr/>
          <p:nvPr/>
        </p:nvSpPr>
        <p:spPr>
          <a:xfrm>
            <a:off x="7143750" y="3981450"/>
            <a:ext cx="152400" cy="152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C2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table-row-2-status-label"/>
          <p:cNvSpPr txBox="1"/>
          <p:nvPr/>
        </p:nvSpPr>
        <p:spPr>
          <a:xfrm>
            <a:off x="6543675" y="4152900"/>
            <a:ext cx="1352550" cy="95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NOT STARTED</a:t>
            </a:r>
          </a:p>
        </p:txBody>
      </p:sp>
      <p:sp>
        <p:nvSpPr>
          <p:cNvPr id="46" name="table-row-2-comment"/>
          <p:cNvSpPr txBox="1"/>
          <p:nvPr/>
        </p:nvSpPr>
        <p:spPr>
          <a:xfrm>
            <a:off x="8010525" y="3905250"/>
            <a:ext cx="360045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Owner unconfirmed — needs assignment</a:t>
            </a:r>
          </a:p>
        </p:txBody>
      </p:sp>
      <p:sp>
        <p:nvSpPr>
          <p:cNvPr id="47" name="table-row-3-bg"/>
          <p:cNvSpPr/>
          <p:nvPr/>
        </p:nvSpPr>
        <p:spPr>
          <a:xfrm>
            <a:off x="457200" y="4286250"/>
            <a:ext cx="112776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table-row-3-rule"/>
          <p:cNvSpPr/>
          <p:nvPr/>
        </p:nvSpPr>
        <p:spPr>
          <a:xfrm>
            <a:off x="457200" y="4667250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table-row-3-init"/>
          <p:cNvSpPr txBox="1"/>
          <p:nvPr/>
        </p:nvSpPr>
        <p:spPr>
          <a:xfrm>
            <a:off x="571500" y="4286250"/>
            <a:ext cx="382905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Sourcing channel rationalization</a:t>
            </a:r>
          </a:p>
        </p:txBody>
      </p:sp>
      <p:sp>
        <p:nvSpPr>
          <p:cNvPr id="50" name="table-row-3-owner"/>
          <p:cNvSpPr txBox="1"/>
          <p:nvPr/>
        </p:nvSpPr>
        <p:spPr>
          <a:xfrm>
            <a:off x="4629150" y="4286250"/>
            <a:ext cx="1800225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Client Finance</a:t>
            </a:r>
          </a:p>
        </p:txBody>
      </p:sp>
      <p:sp>
        <p:nvSpPr>
          <p:cNvPr id="51" name="table-row-3-ball-base"/>
          <p:cNvSpPr/>
          <p:nvPr/>
        </p:nvSpPr>
        <p:spPr>
          <a:xfrm>
            <a:off x="7143750" y="4362450"/>
            <a:ext cx="152400" cy="152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C2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table-row-3-ball-fill"/>
          <p:cNvSpPr/>
          <p:nvPr/>
        </p:nvSpPr>
        <p:spPr>
          <a:xfrm>
            <a:off x="7162800" y="4381500"/>
            <a:ext cx="114300" cy="114300"/>
          </a:xfrm>
          <a:prstGeom prst="pi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" name="table-row-3-status-label"/>
          <p:cNvSpPr txBox="1"/>
          <p:nvPr/>
        </p:nvSpPr>
        <p:spPr>
          <a:xfrm>
            <a:off x="6543675" y="4533900"/>
            <a:ext cx="1352550" cy="95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~50%</a:t>
            </a:r>
          </a:p>
        </p:txBody>
      </p:sp>
      <p:sp>
        <p:nvSpPr>
          <p:cNvPr id="54" name="table-row-3-comment"/>
          <p:cNvSpPr txBox="1"/>
          <p:nvPr/>
        </p:nvSpPr>
        <p:spPr>
          <a:xfrm>
            <a:off x="8010525" y="4286250"/>
            <a:ext cx="360045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Pilot underway in 2 regions</a:t>
            </a:r>
          </a:p>
        </p:txBody>
      </p:sp>
      <p:sp>
        <p:nvSpPr>
          <p:cNvPr id="55" name="table-row-4-bg"/>
          <p:cNvSpPr/>
          <p:nvPr/>
        </p:nvSpPr>
        <p:spPr>
          <a:xfrm>
            <a:off x="457200" y="4667250"/>
            <a:ext cx="11277600" cy="381000"/>
          </a:xfrm>
          <a:prstGeom prst="rect">
            <a:avLst/>
          </a:prstGeom>
          <a:solidFill>
            <a:srgbClr val="FA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" name="table-row-4-rule"/>
          <p:cNvSpPr/>
          <p:nvPr/>
        </p:nvSpPr>
        <p:spPr>
          <a:xfrm>
            <a:off x="457200" y="5048250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table-row-4-init"/>
          <p:cNvSpPr txBox="1"/>
          <p:nvPr/>
        </p:nvSpPr>
        <p:spPr>
          <a:xfrm>
            <a:off x="571500" y="4667250"/>
            <a:ext cx="382905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Onboarding automation</a:t>
            </a:r>
          </a:p>
        </p:txBody>
      </p:sp>
      <p:sp>
        <p:nvSpPr>
          <p:cNvPr id="58" name="table-row-4-owner"/>
          <p:cNvSpPr txBox="1"/>
          <p:nvPr/>
        </p:nvSpPr>
        <p:spPr>
          <a:xfrm>
            <a:off x="4629150" y="4667250"/>
            <a:ext cx="1800225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Client Finance</a:t>
            </a:r>
          </a:p>
        </p:txBody>
      </p:sp>
      <p:sp>
        <p:nvSpPr>
          <p:cNvPr id="59" name="table-row-4-ball-base"/>
          <p:cNvSpPr/>
          <p:nvPr/>
        </p:nvSpPr>
        <p:spPr>
          <a:xfrm>
            <a:off x="7143750" y="4743450"/>
            <a:ext cx="152400" cy="152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C2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" name="table-row-4-status-label"/>
          <p:cNvSpPr txBox="1"/>
          <p:nvPr/>
        </p:nvSpPr>
        <p:spPr>
          <a:xfrm>
            <a:off x="6543675" y="4914900"/>
            <a:ext cx="1352550" cy="95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NOT STARTED</a:t>
            </a:r>
          </a:p>
        </p:txBody>
      </p:sp>
      <p:sp>
        <p:nvSpPr>
          <p:cNvPr id="61" name="table-row-4-comment"/>
          <p:cNvSpPr txBox="1"/>
          <p:nvPr/>
        </p:nvSpPr>
        <p:spPr>
          <a:xfrm>
            <a:off x="8010525" y="4667250"/>
            <a:ext cx="360045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Awaiting tool selection</a:t>
            </a:r>
          </a:p>
        </p:txBody>
      </p:sp>
      <p:sp>
        <p:nvSpPr>
          <p:cNvPr id="62" name="table-row-5-bg"/>
          <p:cNvSpPr/>
          <p:nvPr/>
        </p:nvSpPr>
        <p:spPr>
          <a:xfrm>
            <a:off x="457200" y="5048250"/>
            <a:ext cx="112776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" name="table-row-5-rule"/>
          <p:cNvSpPr/>
          <p:nvPr/>
        </p:nvSpPr>
        <p:spPr>
          <a:xfrm>
            <a:off x="457200" y="5429250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" name="table-row-5-init"/>
          <p:cNvSpPr txBox="1"/>
          <p:nvPr/>
        </p:nvSpPr>
        <p:spPr>
          <a:xfrm>
            <a:off x="571500" y="5048250"/>
            <a:ext cx="382905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Vendor consolidation (Tier 2)</a:t>
            </a:r>
          </a:p>
        </p:txBody>
      </p:sp>
      <p:sp>
        <p:nvSpPr>
          <p:cNvPr id="65" name="table-row-5-owner"/>
          <p:cNvSpPr txBox="1"/>
          <p:nvPr/>
        </p:nvSpPr>
        <p:spPr>
          <a:xfrm>
            <a:off x="4629150" y="5048250"/>
            <a:ext cx="1800225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Client Finance</a:t>
            </a:r>
          </a:p>
        </p:txBody>
      </p:sp>
      <p:sp>
        <p:nvSpPr>
          <p:cNvPr id="66" name="table-row-5-ball-base"/>
          <p:cNvSpPr/>
          <p:nvPr/>
        </p:nvSpPr>
        <p:spPr>
          <a:xfrm>
            <a:off x="7143750" y="5124450"/>
            <a:ext cx="152400" cy="152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C2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" name="table-row-5-ball-fill"/>
          <p:cNvSpPr/>
          <p:nvPr/>
        </p:nvSpPr>
        <p:spPr>
          <a:xfrm>
            <a:off x="7162800" y="5143500"/>
            <a:ext cx="114300" cy="114300"/>
          </a:xfrm>
          <a:prstGeom prst="pi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table-row-5-status-label"/>
          <p:cNvSpPr txBox="1"/>
          <p:nvPr/>
        </p:nvSpPr>
        <p:spPr>
          <a:xfrm>
            <a:off x="6543675" y="5295900"/>
            <a:ext cx="1352550" cy="95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~25%</a:t>
            </a:r>
          </a:p>
        </p:txBody>
      </p:sp>
      <p:sp>
        <p:nvSpPr>
          <p:cNvPr id="69" name="table-row-5-comment"/>
          <p:cNvSpPr txBox="1"/>
          <p:nvPr/>
        </p:nvSpPr>
        <p:spPr>
          <a:xfrm>
            <a:off x="8010525" y="5048250"/>
            <a:ext cx="360045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Inventory complete; negotiation pending</a:t>
            </a:r>
          </a:p>
        </p:txBody>
      </p:sp>
      <p:sp>
        <p:nvSpPr>
          <p:cNvPr id="70" name="ask-strip-bg"/>
          <p:cNvSpPr/>
          <p:nvPr/>
        </p:nvSpPr>
        <p:spPr>
          <a:xfrm>
            <a:off x="457200" y="5524500"/>
            <a:ext cx="11277600" cy="533400"/>
          </a:xfrm>
          <a:prstGeom prst="rect">
            <a:avLst/>
          </a:prstGeom>
          <a:solidFill>
            <a:srgbClr val="FBF8FE"/>
          </a:solidFill>
          <a:ln w="19050">
            <a:solidFill>
              <a:srgbClr val="2D0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1" name="ask-label"/>
          <p:cNvSpPr txBox="1"/>
          <p:nvPr/>
        </p:nvSpPr>
        <p:spPr>
          <a:xfrm>
            <a:off x="628650" y="5524500"/>
            <a:ext cx="1143000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DIRECTION NEEDED</a:t>
            </a:r>
          </a:p>
        </p:txBody>
      </p:sp>
      <p:sp>
        <p:nvSpPr>
          <p:cNvPr id="72" name="ask-option-1-bg"/>
          <p:cNvSpPr/>
          <p:nvPr/>
        </p:nvSpPr>
        <p:spPr>
          <a:xfrm>
            <a:off x="1885950" y="5619750"/>
            <a:ext cx="4581525" cy="342900"/>
          </a:xfrm>
          <a:prstGeom prst="rect">
            <a:avLst/>
          </a:prstGeom>
          <a:solidFill>
            <a:srgbClr val="FFFFFF"/>
          </a:solidFill>
          <a:ln w="19050">
            <a:solidFill>
              <a:srgbClr val="2D0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3" name="ask-option-1-title"/>
          <p:cNvSpPr txBox="1"/>
          <p:nvPr/>
        </p:nvSpPr>
        <p:spPr>
          <a:xfrm>
            <a:off x="1962150" y="5657850"/>
            <a:ext cx="44291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Continue Accenture support past May 31</a:t>
            </a:r>
          </a:p>
        </p:txBody>
      </p:sp>
      <p:sp>
        <p:nvSpPr>
          <p:cNvPr id="74" name="ask-option-1-sub"/>
          <p:cNvSpPr txBox="1"/>
          <p:nvPr/>
        </p:nvSpPr>
        <p:spPr>
          <a:xfrm>
            <a:off x="1962150" y="5829300"/>
            <a:ext cx="44291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Define scope · duration · revised SOW</a:t>
            </a:r>
          </a:p>
        </p:txBody>
      </p:sp>
      <p:sp>
        <p:nvSpPr>
          <p:cNvPr id="75" name="or-divider"/>
          <p:cNvSpPr txBox="1"/>
          <p:nvPr/>
        </p:nvSpPr>
        <p:spPr>
          <a:xfrm>
            <a:off x="6467475" y="5524500"/>
            <a:ext cx="381000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OR</a:t>
            </a:r>
          </a:p>
        </p:txBody>
      </p:sp>
      <p:sp>
        <p:nvSpPr>
          <p:cNvPr id="76" name="ask-option-2-bg"/>
          <p:cNvSpPr/>
          <p:nvPr/>
        </p:nvSpPr>
        <p:spPr>
          <a:xfrm>
            <a:off x="6848475" y="5619750"/>
            <a:ext cx="4581525" cy="342900"/>
          </a:xfrm>
          <a:prstGeom prst="rect">
            <a:avLst/>
          </a:prstGeom>
          <a:solidFill>
            <a:srgbClr val="FAF7FD"/>
          </a:solidFill>
          <a:ln w="19050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7" name="ask-option-2-title"/>
          <p:cNvSpPr txBox="1"/>
          <p:nvPr/>
        </p:nvSpPr>
        <p:spPr>
          <a:xfrm>
            <a:off x="6924675" y="5657850"/>
            <a:ext cx="44291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Transition to Finance as planned</a:t>
            </a:r>
          </a:p>
        </p:txBody>
      </p:sp>
      <p:sp>
        <p:nvSpPr>
          <p:cNvPr id="78" name="ask-option-2-sub"/>
          <p:cNvSpPr txBox="1"/>
          <p:nvPr/>
        </p:nvSpPr>
        <p:spPr>
          <a:xfrm>
            <a:off x="6924675" y="5829300"/>
            <a:ext cx="44291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Confirm Finance readiness by May 31</a:t>
            </a:r>
          </a:p>
        </p:txBody>
      </p:sp>
      <p:sp>
        <p:nvSpPr>
          <p:cNvPr id="79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80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81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58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