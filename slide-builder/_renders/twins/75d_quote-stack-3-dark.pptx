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What the pilot team is saying — three voices, one pattern.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Different roles, different decks, same shift: the unlock was sharper thinking before building, not faster building.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5334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quote-1-card"/>
          <p:cNvSpPr/>
          <p:nvPr/>
        </p:nvSpPr>
        <p:spPr>
          <a:xfrm>
            <a:off x="609600" y="2095500"/>
            <a:ext cx="3524250" cy="36195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quote-1-mark"/>
          <p:cNvSpPr txBox="1"/>
          <p:nvPr/>
        </p:nvSpPr>
        <p:spPr>
          <a:xfrm>
            <a:off x="819150" y="2266950"/>
            <a:ext cx="5715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200" b="0" i="0">
                <a:solidFill>
                  <a:srgbClr val="C780FF"/>
                </a:solidFill>
                <a:latin typeface="Georgia"/>
              </a:rPr>
              <a:t>“</a:t>
            </a:r>
          </a:p>
        </p:txBody>
      </p:sp>
      <p:sp>
        <p:nvSpPr>
          <p:cNvPr id="7" name="quote-1-text"/>
          <p:cNvSpPr txBox="1"/>
          <p:nvPr/>
        </p:nvSpPr>
        <p:spPr>
          <a:xfrm>
            <a:off x="819150" y="2819400"/>
            <a:ext cx="3105150" cy="1905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1">
                <a:solidFill>
                  <a:srgbClr val="FFFFFF"/>
                </a:solidFill>
                <a:latin typeface="Inter"/>
              </a:rPr>
              <a:t>I spend more time on slide structure than slide content. That's backwards.</a:t>
            </a:r>
          </a:p>
        </p:txBody>
      </p:sp>
      <p:sp>
        <p:nvSpPr>
          <p:cNvPr id="8" name="quote-1-rule"/>
          <p:cNvSpPr/>
          <p:nvPr/>
        </p:nvSpPr>
        <p:spPr>
          <a:xfrm>
            <a:off x="819150" y="4876800"/>
            <a:ext cx="4572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quote-1-attribution-name"/>
          <p:cNvSpPr txBox="1"/>
          <p:nvPr/>
        </p:nvSpPr>
        <p:spPr>
          <a:xfrm>
            <a:off x="819150" y="5048250"/>
            <a:ext cx="31051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Sarah Kim</a:t>
            </a:r>
          </a:p>
        </p:txBody>
      </p:sp>
      <p:sp>
        <p:nvSpPr>
          <p:cNvPr id="10" name="quote-1-attribution-role"/>
          <p:cNvSpPr txBox="1"/>
          <p:nvPr/>
        </p:nvSpPr>
        <p:spPr>
          <a:xfrm>
            <a:off x="819150" y="5257800"/>
            <a:ext cx="3105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Senior Manager</a:t>
            </a:r>
          </a:p>
        </p:txBody>
      </p:sp>
      <p:sp>
        <p:nvSpPr>
          <p:cNvPr id="11" name="quote-2-card"/>
          <p:cNvSpPr/>
          <p:nvPr/>
        </p:nvSpPr>
        <p:spPr>
          <a:xfrm>
            <a:off x="4324350" y="2095500"/>
            <a:ext cx="3524250" cy="36195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quote-2-mark"/>
          <p:cNvSpPr txBox="1"/>
          <p:nvPr/>
        </p:nvSpPr>
        <p:spPr>
          <a:xfrm>
            <a:off x="4533900" y="2266950"/>
            <a:ext cx="5715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200" b="0" i="0">
                <a:solidFill>
                  <a:srgbClr val="C780FF"/>
                </a:solidFill>
                <a:latin typeface="Georgia"/>
              </a:rPr>
              <a:t>“</a:t>
            </a:r>
          </a:p>
        </p:txBody>
      </p:sp>
      <p:sp>
        <p:nvSpPr>
          <p:cNvPr id="13" name="quote-2-text"/>
          <p:cNvSpPr txBox="1"/>
          <p:nvPr/>
        </p:nvSpPr>
        <p:spPr>
          <a:xfrm>
            <a:off x="4533900" y="2819400"/>
            <a:ext cx="3105150" cy="1905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1">
                <a:solidFill>
                  <a:srgbClr val="FFFFFF"/>
                </a:solidFill>
                <a:latin typeface="Inter"/>
              </a:rPr>
              <a:t>The first time the model pushed back on my own thinking. That moment was the unlock.</a:t>
            </a:r>
          </a:p>
        </p:txBody>
      </p:sp>
      <p:sp>
        <p:nvSpPr>
          <p:cNvPr id="14" name="quote-2-rule"/>
          <p:cNvSpPr/>
          <p:nvPr/>
        </p:nvSpPr>
        <p:spPr>
          <a:xfrm>
            <a:off x="4533900" y="4876800"/>
            <a:ext cx="4572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quote-2-attribution-name"/>
          <p:cNvSpPr txBox="1"/>
          <p:nvPr/>
        </p:nvSpPr>
        <p:spPr>
          <a:xfrm>
            <a:off x="4533900" y="5048250"/>
            <a:ext cx="31051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David Chen</a:t>
            </a:r>
          </a:p>
        </p:txBody>
      </p:sp>
      <p:sp>
        <p:nvSpPr>
          <p:cNvPr id="16" name="quote-2-attribution-role"/>
          <p:cNvSpPr txBox="1"/>
          <p:nvPr/>
        </p:nvSpPr>
        <p:spPr>
          <a:xfrm>
            <a:off x="4533900" y="5257800"/>
            <a:ext cx="3105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Partner</a:t>
            </a:r>
          </a:p>
        </p:txBody>
      </p:sp>
      <p:sp>
        <p:nvSpPr>
          <p:cNvPr id="17" name="quote-3-card"/>
          <p:cNvSpPr/>
          <p:nvPr/>
        </p:nvSpPr>
        <p:spPr>
          <a:xfrm>
            <a:off x="8039100" y="2095500"/>
            <a:ext cx="3524250" cy="36195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quote-3-mark"/>
          <p:cNvSpPr txBox="1"/>
          <p:nvPr/>
        </p:nvSpPr>
        <p:spPr>
          <a:xfrm>
            <a:off x="8248650" y="2266950"/>
            <a:ext cx="5715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200" b="0" i="0">
                <a:solidFill>
                  <a:srgbClr val="C780FF"/>
                </a:solidFill>
                <a:latin typeface="Georgia"/>
              </a:rPr>
              <a:t>“</a:t>
            </a:r>
          </a:p>
        </p:txBody>
      </p:sp>
      <p:sp>
        <p:nvSpPr>
          <p:cNvPr id="19" name="quote-3-text"/>
          <p:cNvSpPr txBox="1"/>
          <p:nvPr/>
        </p:nvSpPr>
        <p:spPr>
          <a:xfrm>
            <a:off x="8248650" y="2819400"/>
            <a:ext cx="3105150" cy="1905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1">
                <a:solidFill>
                  <a:srgbClr val="FFFFFF"/>
                </a:solidFill>
                <a:latin typeface="Inter"/>
              </a:rPr>
              <a:t>My junior built a partner-ready deck in week 2 — that didn't used to happen.</a:t>
            </a:r>
          </a:p>
        </p:txBody>
      </p:sp>
      <p:sp>
        <p:nvSpPr>
          <p:cNvPr id="20" name="quote-3-rule"/>
          <p:cNvSpPr/>
          <p:nvPr/>
        </p:nvSpPr>
        <p:spPr>
          <a:xfrm>
            <a:off x="8248650" y="4876800"/>
            <a:ext cx="4572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quote-3-attribution-name"/>
          <p:cNvSpPr txBox="1"/>
          <p:nvPr/>
        </p:nvSpPr>
        <p:spPr>
          <a:xfrm>
            <a:off x="8248650" y="5048250"/>
            <a:ext cx="31051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Maria Rivera</a:t>
            </a:r>
          </a:p>
        </p:txBody>
      </p:sp>
      <p:sp>
        <p:nvSpPr>
          <p:cNvPr id="22" name="quote-3-attribution-role"/>
          <p:cNvSpPr txBox="1"/>
          <p:nvPr/>
        </p:nvSpPr>
        <p:spPr>
          <a:xfrm>
            <a:off x="8248650" y="5257800"/>
            <a:ext cx="3105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Director</a:t>
            </a:r>
          </a:p>
        </p:txBody>
      </p:sp>
      <p:sp>
        <p:nvSpPr>
          <p:cNvPr id="23" name="convergence-bg"/>
          <p:cNvSpPr/>
          <p:nvPr/>
        </p:nvSpPr>
        <p:spPr>
          <a:xfrm>
            <a:off x="609600" y="5791200"/>
            <a:ext cx="10972800" cy="4000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convergence"/>
          <p:cNvSpPr txBox="1"/>
          <p:nvPr/>
        </p:nvSpPr>
        <p:spPr>
          <a:xfrm>
            <a:off x="609600" y="57912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The pattern across all three: structure-first work is what the tool unlocked — speed is the side effect.</a:t>
            </a:r>
          </a:p>
        </p:txBody>
      </p:sp>
      <p:sp>
        <p:nvSpPr>
          <p:cNvPr id="25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6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75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