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Our mission — sharp thinking, every time.</a:t>
            </a:r>
          </a:p>
        </p:txBody>
      </p:sp>
      <p:sp>
        <p:nvSpPr>
          <p:cNvPr id="3" name="brand-rule"/>
          <p:cNvSpPr/>
          <p:nvPr/>
        </p:nvSpPr>
        <p:spPr>
          <a:xfrm>
            <a:off x="5334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hero-statement-label"/>
          <p:cNvSpPr txBox="1"/>
          <p:nvPr/>
        </p:nvSpPr>
        <p:spPr>
          <a:xfrm>
            <a:off x="533400" y="2286000"/>
            <a:ext cx="11125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MISSION</a:t>
            </a:r>
          </a:p>
        </p:txBody>
      </p:sp>
      <p:sp>
        <p:nvSpPr>
          <p:cNvPr id="5" name="hero-statement"/>
          <p:cNvSpPr txBox="1"/>
          <p:nvPr/>
        </p:nvSpPr>
        <p:spPr>
          <a:xfrm>
            <a:off x="1295400" y="2762250"/>
            <a:ext cx="96012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600" b="0" i="0">
                <a:solidFill>
                  <a:srgbClr val="FFFFFF"/>
                </a:solidFill>
                <a:latin typeface="Inter"/>
              </a:rPr>
              <a:t>Make structured thinking the default for every consulting deck.</a:t>
            </a:r>
          </a:p>
        </p:txBody>
      </p:sp>
      <p:sp>
        <p:nvSpPr>
          <p:cNvPr id="6" name="hero-rule"/>
          <p:cNvSpPr/>
          <p:nvPr/>
        </p:nvSpPr>
        <p:spPr>
          <a:xfrm>
            <a:off x="5524500" y="4476750"/>
            <a:ext cx="1143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hero-sub-1-label"/>
          <p:cNvSpPr txBox="1"/>
          <p:nvPr/>
        </p:nvSpPr>
        <p:spPr>
          <a:xfrm>
            <a:off x="1428750" y="4895850"/>
            <a:ext cx="4362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 DO THIS BY</a:t>
            </a:r>
          </a:p>
        </p:txBody>
      </p:sp>
      <p:sp>
        <p:nvSpPr>
          <p:cNvPr id="8" name="hero-sub-1-text"/>
          <p:cNvSpPr txBox="1"/>
          <p:nvPr/>
        </p:nvSpPr>
        <p:spPr>
          <a:xfrm>
            <a:off x="1428750" y="5105400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Locking the argument in a coached storyline session before any slide is built.</a:t>
            </a:r>
          </a:p>
        </p:txBody>
      </p:sp>
      <p:sp>
        <p:nvSpPr>
          <p:cNvPr id="9" name="hero-sub-divider"/>
          <p:cNvSpPr/>
          <p:nvPr/>
        </p:nvSpPr>
        <p:spPr>
          <a:xfrm>
            <a:off x="6096000" y="4895850"/>
            <a:ext cx="9525" cy="7620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hero-sub-2-label"/>
          <p:cNvSpPr txBox="1"/>
          <p:nvPr/>
        </p:nvSpPr>
        <p:spPr>
          <a:xfrm>
            <a:off x="6400800" y="4895850"/>
            <a:ext cx="4362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 MEASURE IT BY</a:t>
            </a:r>
          </a:p>
        </p:txBody>
      </p:sp>
      <p:sp>
        <p:nvSpPr>
          <p:cNvPr id="11" name="hero-sub-2-text"/>
          <p:cNvSpPr txBox="1"/>
          <p:nvPr/>
        </p:nvSpPr>
        <p:spPr>
          <a:xfrm>
            <a:off x="6400800" y="5105400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Deck cycle time and first-review partner sign-off rate.</a:t>
            </a:r>
          </a:p>
        </p:txBody>
      </p:sp>
      <p:sp>
        <p:nvSpPr>
          <p:cNvPr id="1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