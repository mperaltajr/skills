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Portfolio Performance Digest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Q2 2026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Executive Summary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Cross-stream financials, delivery velocity, and strategic inflection signals — one-slide view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zone-1-bg"/>
          <p:cNvSpPr/>
          <p:nvPr/>
        </p:nvSpPr>
        <p:spPr>
          <a:xfrm>
            <a:off x="457200" y="1428750"/>
            <a:ext cx="4276725" cy="48196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zone-1-header"/>
          <p:cNvSpPr txBox="1"/>
          <p:nvPr/>
        </p:nvSpPr>
        <p:spPr>
          <a:xfrm>
            <a:off x="590550" y="1543050"/>
            <a:ext cx="4010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FINANCIAL &amp; DELIVERY SCORECARD</a:t>
            </a:r>
          </a:p>
        </p:txBody>
      </p:sp>
      <p:sp>
        <p:nvSpPr>
          <p:cNvPr id="7" name="zone-1-header-rule"/>
          <p:cNvSpPr/>
          <p:nvPr/>
        </p:nvSpPr>
        <p:spPr>
          <a:xfrm>
            <a:off x="590550" y="1771650"/>
            <a:ext cx="40100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h-stream"/>
          <p:cNvSpPr txBox="1"/>
          <p:nvPr/>
        </p:nvSpPr>
        <p:spPr>
          <a:xfrm>
            <a:off x="590550" y="1847850"/>
            <a:ext cx="1200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STREAM</a:t>
            </a:r>
          </a:p>
        </p:txBody>
      </p:sp>
      <p:sp>
        <p:nvSpPr>
          <p:cNvPr id="9" name="th-budget"/>
          <p:cNvSpPr txBox="1"/>
          <p:nvPr/>
        </p:nvSpPr>
        <p:spPr>
          <a:xfrm>
            <a:off x="1790700" y="184785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BUDGET ($M)</a:t>
            </a:r>
          </a:p>
        </p:txBody>
      </p:sp>
      <p:sp>
        <p:nvSpPr>
          <p:cNvPr id="10" name="th-actual"/>
          <p:cNvSpPr txBox="1"/>
          <p:nvPr/>
        </p:nvSpPr>
        <p:spPr>
          <a:xfrm>
            <a:off x="2667000" y="184785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ACTUAL ($M)</a:t>
            </a:r>
          </a:p>
        </p:txBody>
      </p:sp>
      <p:sp>
        <p:nvSpPr>
          <p:cNvPr id="11" name="th-delta"/>
          <p:cNvSpPr txBox="1"/>
          <p:nvPr/>
        </p:nvSpPr>
        <p:spPr>
          <a:xfrm>
            <a:off x="3543300" y="1847850"/>
            <a:ext cx="10572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Δ VS PLAN</a:t>
            </a:r>
          </a:p>
        </p:txBody>
      </p:sp>
      <p:sp>
        <p:nvSpPr>
          <p:cNvPr id="12" name="th-rule"/>
          <p:cNvSpPr/>
          <p:nvPr/>
        </p:nvSpPr>
        <p:spPr>
          <a:xfrm>
            <a:off x="590550" y="2019300"/>
            <a:ext cx="4010025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ow-1-stream"/>
          <p:cNvSpPr txBox="1"/>
          <p:nvPr/>
        </p:nvSpPr>
        <p:spPr>
          <a:xfrm>
            <a:off x="628650" y="2076450"/>
            <a:ext cx="116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Cloud Infra</a:t>
            </a:r>
          </a:p>
        </p:txBody>
      </p:sp>
      <p:sp>
        <p:nvSpPr>
          <p:cNvPr id="14" name="row-1-budget"/>
          <p:cNvSpPr txBox="1"/>
          <p:nvPr/>
        </p:nvSpPr>
        <p:spPr>
          <a:xfrm>
            <a:off x="1790700" y="2076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42.0</a:t>
            </a:r>
          </a:p>
        </p:txBody>
      </p:sp>
      <p:sp>
        <p:nvSpPr>
          <p:cNvPr id="15" name="row-1-actual"/>
          <p:cNvSpPr txBox="1"/>
          <p:nvPr/>
        </p:nvSpPr>
        <p:spPr>
          <a:xfrm>
            <a:off x="2667000" y="2076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38.7</a:t>
            </a:r>
          </a:p>
        </p:txBody>
      </p:sp>
      <p:sp>
        <p:nvSpPr>
          <p:cNvPr id="16" name="row-1-delta"/>
          <p:cNvSpPr txBox="1"/>
          <p:nvPr/>
        </p:nvSpPr>
        <p:spPr>
          <a:xfrm>
            <a:off x="3543300" y="2076450"/>
            <a:ext cx="10191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+8.3%</a:t>
            </a:r>
          </a:p>
        </p:txBody>
      </p:sp>
      <p:sp>
        <p:nvSpPr>
          <p:cNvPr id="17" name="row-1-rule"/>
          <p:cNvSpPr/>
          <p:nvPr/>
        </p:nvSpPr>
        <p:spPr>
          <a:xfrm>
            <a:off x="590550" y="2362200"/>
            <a:ext cx="40100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ow-2-stream"/>
          <p:cNvSpPr txBox="1"/>
          <p:nvPr/>
        </p:nvSpPr>
        <p:spPr>
          <a:xfrm>
            <a:off x="628650" y="2362200"/>
            <a:ext cx="116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&amp; AI</a:t>
            </a:r>
          </a:p>
        </p:txBody>
      </p:sp>
      <p:sp>
        <p:nvSpPr>
          <p:cNvPr id="19" name="row-2-budget"/>
          <p:cNvSpPr txBox="1"/>
          <p:nvPr/>
        </p:nvSpPr>
        <p:spPr>
          <a:xfrm>
            <a:off x="1790700" y="236220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31.5</a:t>
            </a:r>
          </a:p>
        </p:txBody>
      </p:sp>
      <p:sp>
        <p:nvSpPr>
          <p:cNvPr id="20" name="row-2-actual"/>
          <p:cNvSpPr txBox="1"/>
          <p:nvPr/>
        </p:nvSpPr>
        <p:spPr>
          <a:xfrm>
            <a:off x="2667000" y="236220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33.9</a:t>
            </a:r>
          </a:p>
        </p:txBody>
      </p:sp>
      <p:sp>
        <p:nvSpPr>
          <p:cNvPr id="21" name="row-2-delta"/>
          <p:cNvSpPr txBox="1"/>
          <p:nvPr/>
        </p:nvSpPr>
        <p:spPr>
          <a:xfrm>
            <a:off x="3543300" y="2362200"/>
            <a:ext cx="10191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−7.6%</a:t>
            </a:r>
          </a:p>
        </p:txBody>
      </p:sp>
      <p:sp>
        <p:nvSpPr>
          <p:cNvPr id="22" name="row-2-rule"/>
          <p:cNvSpPr/>
          <p:nvPr/>
        </p:nvSpPr>
        <p:spPr>
          <a:xfrm>
            <a:off x="590550" y="2647950"/>
            <a:ext cx="40100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ow-3-stream"/>
          <p:cNvSpPr txBox="1"/>
          <p:nvPr/>
        </p:nvSpPr>
        <p:spPr>
          <a:xfrm>
            <a:off x="628650" y="2647950"/>
            <a:ext cx="116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Cyber</a:t>
            </a:r>
          </a:p>
        </p:txBody>
      </p:sp>
      <p:sp>
        <p:nvSpPr>
          <p:cNvPr id="24" name="row-3-budget"/>
          <p:cNvSpPr txBox="1"/>
          <p:nvPr/>
        </p:nvSpPr>
        <p:spPr>
          <a:xfrm>
            <a:off x="1790700" y="26479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18.0</a:t>
            </a:r>
          </a:p>
        </p:txBody>
      </p:sp>
      <p:sp>
        <p:nvSpPr>
          <p:cNvPr id="25" name="row-3-actual"/>
          <p:cNvSpPr txBox="1"/>
          <p:nvPr/>
        </p:nvSpPr>
        <p:spPr>
          <a:xfrm>
            <a:off x="2667000" y="26479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16.4</a:t>
            </a:r>
          </a:p>
        </p:txBody>
      </p:sp>
      <p:sp>
        <p:nvSpPr>
          <p:cNvPr id="26" name="row-3-delta"/>
          <p:cNvSpPr txBox="1"/>
          <p:nvPr/>
        </p:nvSpPr>
        <p:spPr>
          <a:xfrm>
            <a:off x="3543300" y="2647950"/>
            <a:ext cx="10191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+8.9%</a:t>
            </a:r>
          </a:p>
        </p:txBody>
      </p:sp>
      <p:sp>
        <p:nvSpPr>
          <p:cNvPr id="27" name="row-3-rule"/>
          <p:cNvSpPr/>
          <p:nvPr/>
        </p:nvSpPr>
        <p:spPr>
          <a:xfrm>
            <a:off x="590550" y="2933700"/>
            <a:ext cx="40100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4-bg"/>
          <p:cNvSpPr/>
          <p:nvPr/>
        </p:nvSpPr>
        <p:spPr>
          <a:xfrm>
            <a:off x="590550" y="2933700"/>
            <a:ext cx="4010025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ow-4-stream"/>
          <p:cNvSpPr txBox="1"/>
          <p:nvPr/>
        </p:nvSpPr>
        <p:spPr>
          <a:xfrm>
            <a:off x="628650" y="2933700"/>
            <a:ext cx="11620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Total Portfolio</a:t>
            </a:r>
          </a:p>
        </p:txBody>
      </p:sp>
      <p:sp>
        <p:nvSpPr>
          <p:cNvPr id="30" name="row-4-budget"/>
          <p:cNvSpPr txBox="1"/>
          <p:nvPr/>
        </p:nvSpPr>
        <p:spPr>
          <a:xfrm>
            <a:off x="1790700" y="293370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91.5</a:t>
            </a:r>
          </a:p>
        </p:txBody>
      </p:sp>
      <p:sp>
        <p:nvSpPr>
          <p:cNvPr id="31" name="row-4-actual"/>
          <p:cNvSpPr txBox="1"/>
          <p:nvPr/>
        </p:nvSpPr>
        <p:spPr>
          <a:xfrm>
            <a:off x="2667000" y="293370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89.0</a:t>
            </a:r>
          </a:p>
        </p:txBody>
      </p:sp>
      <p:sp>
        <p:nvSpPr>
          <p:cNvPr id="32" name="row-4-delta"/>
          <p:cNvSpPr txBox="1"/>
          <p:nvPr/>
        </p:nvSpPr>
        <p:spPr>
          <a:xfrm>
            <a:off x="3543300" y="2933700"/>
            <a:ext cx="10191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−2.7%</a:t>
            </a:r>
          </a:p>
        </p:txBody>
      </p:sp>
      <p:sp>
        <p:nvSpPr>
          <p:cNvPr id="33" name="table-footnote"/>
          <p:cNvSpPr txBox="1"/>
          <p:nvPr/>
        </p:nvSpPr>
        <p:spPr>
          <a:xfrm>
            <a:off x="590550" y="6000750"/>
            <a:ext cx="4010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Budget = approved Q2 baseline · Actuals as of 2026-05-16</a:t>
            </a:r>
          </a:p>
        </p:txBody>
      </p:sp>
      <p:sp>
        <p:nvSpPr>
          <p:cNvPr id="34" name="zone-2-bg"/>
          <p:cNvSpPr/>
          <p:nvPr/>
        </p:nvSpPr>
        <p:spPr>
          <a:xfrm>
            <a:off x="4733925" y="1428750"/>
            <a:ext cx="3600450" cy="48196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zone-2-header"/>
          <p:cNvSpPr txBox="1"/>
          <p:nvPr/>
        </p:nvSpPr>
        <p:spPr>
          <a:xfrm>
            <a:off x="4867275" y="1543050"/>
            <a:ext cx="3333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BUDGET VS ACTUAL ($M)</a:t>
            </a:r>
          </a:p>
        </p:txBody>
      </p:sp>
      <p:sp>
        <p:nvSpPr>
          <p:cNvPr id="36" name="zone-2-header-rule"/>
          <p:cNvSpPr/>
          <p:nvPr/>
        </p:nvSpPr>
        <p:spPr>
          <a:xfrm>
            <a:off x="4867275" y="1771650"/>
            <a:ext cx="33337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hart-legend-1-swatch"/>
          <p:cNvSpPr/>
          <p:nvPr/>
        </p:nvSpPr>
        <p:spPr>
          <a:xfrm>
            <a:off x="4867275" y="1876425"/>
            <a:ext cx="76200" cy="762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hart-legend-1-label"/>
          <p:cNvSpPr txBox="1"/>
          <p:nvPr/>
        </p:nvSpPr>
        <p:spPr>
          <a:xfrm>
            <a:off x="4981575" y="184785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Budget</a:t>
            </a:r>
          </a:p>
        </p:txBody>
      </p:sp>
      <p:sp>
        <p:nvSpPr>
          <p:cNvPr id="39" name="chart-legend-2-swatch"/>
          <p:cNvSpPr/>
          <p:nvPr/>
        </p:nvSpPr>
        <p:spPr>
          <a:xfrm>
            <a:off x="5534025" y="1876425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hart-legend-2-label"/>
          <p:cNvSpPr txBox="1"/>
          <p:nvPr/>
        </p:nvSpPr>
        <p:spPr>
          <a:xfrm>
            <a:off x="5648325" y="1847850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Actual</a:t>
            </a:r>
          </a:p>
        </p:txBody>
      </p:sp>
      <p:sp>
        <p:nvSpPr>
          <p:cNvPr id="41" name="chart-canvas"/>
          <p:cNvSpPr/>
          <p:nvPr/>
        </p:nvSpPr>
        <p:spPr>
          <a:xfrm>
            <a:off x="4867275" y="2076450"/>
            <a:ext cx="3333750" cy="39624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zone-3-bg"/>
          <p:cNvSpPr/>
          <p:nvPr/>
        </p:nvSpPr>
        <p:spPr>
          <a:xfrm>
            <a:off x="8334375" y="1428750"/>
            <a:ext cx="3400425" cy="48196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zone-3-header"/>
          <p:cNvSpPr txBox="1"/>
          <p:nvPr/>
        </p:nvSpPr>
        <p:spPr>
          <a:xfrm>
            <a:off x="8467725" y="1543050"/>
            <a:ext cx="3133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FINDINGS</a:t>
            </a:r>
          </a:p>
        </p:txBody>
      </p:sp>
      <p:sp>
        <p:nvSpPr>
          <p:cNvPr id="44" name="zone-3-header-rule"/>
          <p:cNvSpPr/>
          <p:nvPr/>
        </p:nvSpPr>
        <p:spPr>
          <a:xfrm>
            <a:off x="8467725" y="1771650"/>
            <a:ext cx="31337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insight-1-marker"/>
          <p:cNvSpPr/>
          <p:nvPr/>
        </p:nvSpPr>
        <p:spPr>
          <a:xfrm>
            <a:off x="8467725" y="19621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insight-1"/>
          <p:cNvSpPr txBox="1"/>
          <p:nvPr/>
        </p:nvSpPr>
        <p:spPr>
          <a:xfrm>
            <a:off x="8582025" y="1905000"/>
            <a:ext cx="301942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Cloud Infra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running 8% under budget — unspent capacity signals delivery slowdown or scope deferral requiring PMO review before Q3.</a:t>
            </a:r>
          </a:p>
        </p:txBody>
      </p:sp>
      <p:sp>
        <p:nvSpPr>
          <p:cNvPr id="47" name="insight-2-marker"/>
          <p:cNvSpPr/>
          <p:nvPr/>
        </p:nvSpPr>
        <p:spPr>
          <a:xfrm>
            <a:off x="8467725" y="24955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insight-2"/>
          <p:cNvSpPr txBox="1"/>
          <p:nvPr/>
        </p:nvSpPr>
        <p:spPr>
          <a:xfrm>
            <a:off x="8582025" y="2438400"/>
            <a:ext cx="301942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&amp; AI overrun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of $2.4M driven by vendor escalations; mitigation plan due by 30 May with executive sign-off.</a:t>
            </a:r>
          </a:p>
        </p:txBody>
      </p:sp>
      <p:sp>
        <p:nvSpPr>
          <p:cNvPr id="49" name="insight-3-marker"/>
          <p:cNvSpPr/>
          <p:nvPr/>
        </p:nvSpPr>
        <p:spPr>
          <a:xfrm>
            <a:off x="8467725" y="30289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insight-3"/>
          <p:cNvSpPr txBox="1"/>
          <p:nvPr/>
        </p:nvSpPr>
        <p:spPr>
          <a:xfrm>
            <a:off x="8582025" y="2971800"/>
            <a:ext cx="301942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Cyber</a:t>
            </a:r>
            <a:r>
              <a:rPr sz="1050" b="0" i="0">
                <a:solidFill>
                  <a:srgbClr val="1A1A2E"/>
                </a:solidFill>
                <a:latin typeface="Inter"/>
              </a:rPr>
              <a:t> tracking favorably; savings of $1.6M available for reallocation to offset Data &amp; AI exposure.</a:t>
            </a:r>
          </a:p>
        </p:txBody>
      </p:sp>
      <p:sp>
        <p:nvSpPr>
          <p:cNvPr id="51" name="callout-bg"/>
          <p:cNvSpPr/>
          <p:nvPr/>
        </p:nvSpPr>
        <p:spPr>
          <a:xfrm>
            <a:off x="8467725" y="5391150"/>
            <a:ext cx="3133725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allout-label"/>
          <p:cNvSpPr txBox="1"/>
          <p:nvPr/>
        </p:nvSpPr>
        <p:spPr>
          <a:xfrm>
            <a:off x="8562975" y="5486400"/>
            <a:ext cx="2943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NET PORTFOLIO VARIANCE</a:t>
            </a:r>
          </a:p>
        </p:txBody>
      </p:sp>
      <p:sp>
        <p:nvSpPr>
          <p:cNvPr id="53" name="callout-value"/>
          <p:cNvSpPr txBox="1"/>
          <p:nvPr/>
        </p:nvSpPr>
        <p:spPr>
          <a:xfrm>
            <a:off x="8562975" y="5619750"/>
            <a:ext cx="29432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−$2.5M</a:t>
            </a:r>
          </a:p>
        </p:txBody>
      </p:sp>
      <p:sp>
        <p:nvSpPr>
          <p:cNvPr id="54" name="callout-sub"/>
          <p:cNvSpPr txBox="1"/>
          <p:nvPr/>
        </p:nvSpPr>
        <p:spPr>
          <a:xfrm>
            <a:off x="8562975" y="5962650"/>
            <a:ext cx="2943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vs $91.5M baseline · within 3% tolerance threshold · escalation not yet required</a:t>
            </a:r>
          </a:p>
        </p:txBody>
      </p:sp>
      <p:sp>
        <p:nvSpPr>
          <p:cNvPr id="5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