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9600" y="266700"/>
            <a:ext cx="9525000" cy="685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1A1A2E"/>
                </a:solidFill>
                <a:latin typeface="Inter"/>
              </a:rPr>
              <a:t>Pilot </a:t>
            </a:r>
            <a:r>
              <a:rPr sz="2400" b="1" i="0">
                <a:solidFill>
                  <a:srgbClr val="2D0A4E"/>
                </a:solidFill>
                <a:latin typeface="Inter"/>
              </a:rPr>
              <a:t>Results</a:t>
            </a:r>
            <a:r>
              <a:rPr sz="2400" b="1" i="0">
                <a:solidFill>
                  <a:srgbClr val="1A1A2E"/>
                </a:solidFill>
                <a:latin typeface="Inter"/>
              </a:rPr>
              <a:t> Summary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09600" y="666750"/>
            <a:ext cx="83820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Performance outcomes, qualitative findings, and lessons learned from the field pilot</a:t>
            </a:r>
          </a:p>
        </p:txBody>
      </p:sp>
      <p:sp>
        <p:nvSpPr>
          <p:cNvPr id="4" name="brand-rule"/>
          <p:cNvSpPr/>
          <p:nvPr/>
        </p:nvSpPr>
        <p:spPr>
          <a:xfrm>
            <a:off x="609600" y="876300"/>
            <a:ext cx="6096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pilot-strip-label"/>
          <p:cNvSpPr txBox="1"/>
          <p:nvPr/>
        </p:nvSpPr>
        <p:spPr>
          <a:xfrm>
            <a:off x="609600" y="1562100"/>
            <a:ext cx="104775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PILOT OVERVIEW</a:t>
            </a:r>
          </a:p>
        </p:txBody>
      </p:sp>
      <p:sp>
        <p:nvSpPr>
          <p:cNvPr id="6" name="pilot-meta-1-chip"/>
          <p:cNvSpPr/>
          <p:nvPr/>
        </p:nvSpPr>
        <p:spPr>
          <a:xfrm>
            <a:off x="1752600" y="1524000"/>
            <a:ext cx="3048000" cy="22860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pilot-meta-1-label"/>
          <p:cNvSpPr txBox="1"/>
          <p:nvPr/>
        </p:nvSpPr>
        <p:spPr>
          <a:xfrm>
            <a:off x="1866900" y="1571625"/>
            <a:ext cx="6667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Location</a:t>
            </a:r>
          </a:p>
        </p:txBody>
      </p:sp>
      <p:sp>
        <p:nvSpPr>
          <p:cNvPr id="8" name="pilot-meta-1-value"/>
          <p:cNvSpPr txBox="1"/>
          <p:nvPr/>
        </p:nvSpPr>
        <p:spPr>
          <a:xfrm>
            <a:off x="2552700" y="1571625"/>
            <a:ext cx="21336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Northeast Region — 4 Sites</a:t>
            </a:r>
          </a:p>
        </p:txBody>
      </p:sp>
      <p:sp>
        <p:nvSpPr>
          <p:cNvPr id="9" name="pilot-meta-2-chip"/>
          <p:cNvSpPr/>
          <p:nvPr/>
        </p:nvSpPr>
        <p:spPr>
          <a:xfrm>
            <a:off x="4876800" y="1524000"/>
            <a:ext cx="3048000" cy="22860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" name="pilot-meta-2-label"/>
          <p:cNvSpPr txBox="1"/>
          <p:nvPr/>
        </p:nvSpPr>
        <p:spPr>
          <a:xfrm>
            <a:off x="4991100" y="1571625"/>
            <a:ext cx="6667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Duration</a:t>
            </a:r>
          </a:p>
        </p:txBody>
      </p:sp>
      <p:sp>
        <p:nvSpPr>
          <p:cNvPr id="11" name="pilot-meta-2-value"/>
          <p:cNvSpPr txBox="1"/>
          <p:nvPr/>
        </p:nvSpPr>
        <p:spPr>
          <a:xfrm>
            <a:off x="5676900" y="1571625"/>
            <a:ext cx="21336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8 Weeks (Mar – May 2026)</a:t>
            </a:r>
          </a:p>
        </p:txBody>
      </p:sp>
      <p:sp>
        <p:nvSpPr>
          <p:cNvPr id="12" name="pilot-meta-3-chip"/>
          <p:cNvSpPr/>
          <p:nvPr/>
        </p:nvSpPr>
        <p:spPr>
          <a:xfrm>
            <a:off x="8001000" y="1524000"/>
            <a:ext cx="3048000" cy="22860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" name="pilot-meta-3-label"/>
          <p:cNvSpPr txBox="1"/>
          <p:nvPr/>
        </p:nvSpPr>
        <p:spPr>
          <a:xfrm>
            <a:off x="8115300" y="1571625"/>
            <a:ext cx="6667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Participants</a:t>
            </a:r>
          </a:p>
        </p:txBody>
      </p:sp>
      <p:sp>
        <p:nvSpPr>
          <p:cNvPr id="14" name="pilot-meta-3-value"/>
          <p:cNvSpPr txBox="1"/>
          <p:nvPr/>
        </p:nvSpPr>
        <p:spPr>
          <a:xfrm>
            <a:off x="8801100" y="1571625"/>
            <a:ext cx="21336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142 End Users · 6 Admins</a:t>
            </a:r>
          </a:p>
        </p:txBody>
      </p:sp>
      <p:sp>
        <p:nvSpPr>
          <p:cNvPr id="15" name="col-1-header"/>
          <p:cNvSpPr txBox="1"/>
          <p:nvPr/>
        </p:nvSpPr>
        <p:spPr>
          <a:xfrm>
            <a:off x="609600" y="1905000"/>
            <a:ext cx="355282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QUANTITATIVE RESULTS</a:t>
            </a:r>
          </a:p>
        </p:txBody>
      </p:sp>
      <p:sp>
        <p:nvSpPr>
          <p:cNvPr id="16" name="col-1-rule"/>
          <p:cNvSpPr/>
          <p:nvPr/>
        </p:nvSpPr>
        <p:spPr>
          <a:xfrm>
            <a:off x="609600" y="2095500"/>
            <a:ext cx="3552825" cy="190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7" name="metric-1-bg"/>
          <p:cNvSpPr/>
          <p:nvPr/>
        </p:nvSpPr>
        <p:spPr>
          <a:xfrm>
            <a:off x="609600" y="2247900"/>
            <a:ext cx="3552825" cy="53340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8" name="metric-1-label"/>
          <p:cNvSpPr txBox="1"/>
          <p:nvPr/>
        </p:nvSpPr>
        <p:spPr>
          <a:xfrm>
            <a:off x="704850" y="2343150"/>
            <a:ext cx="2028825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Process Cycle Time</a:t>
            </a:r>
          </a:p>
        </p:txBody>
      </p:sp>
      <p:sp>
        <p:nvSpPr>
          <p:cNvPr id="19" name="metric-1-before"/>
          <p:cNvSpPr txBox="1"/>
          <p:nvPr/>
        </p:nvSpPr>
        <p:spPr>
          <a:xfrm>
            <a:off x="2733675" y="2324100"/>
            <a:ext cx="762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14.2 days</a:t>
            </a:r>
          </a:p>
        </p:txBody>
      </p:sp>
      <p:sp>
        <p:nvSpPr>
          <p:cNvPr id="20" name="metric-1-value"/>
          <p:cNvSpPr txBox="1"/>
          <p:nvPr/>
        </p:nvSpPr>
        <p:spPr>
          <a:xfrm>
            <a:off x="2733675" y="2457450"/>
            <a:ext cx="762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8.7 days</a:t>
            </a:r>
          </a:p>
        </p:txBody>
      </p:sp>
      <p:sp>
        <p:nvSpPr>
          <p:cNvPr id="21" name="metric-1-delta"/>
          <p:cNvSpPr txBox="1"/>
          <p:nvPr/>
        </p:nvSpPr>
        <p:spPr>
          <a:xfrm>
            <a:off x="3590925" y="2419350"/>
            <a:ext cx="495300" cy="15240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txBody>
          <a:bodyPr wrap="square" tIns="19050" rIns="38100" bIns="19050" lIns="381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166534"/>
                </a:solidFill>
                <a:latin typeface="Inter"/>
              </a:rPr>
              <a:t>▲ 39%</a:t>
            </a:r>
          </a:p>
        </p:txBody>
      </p:sp>
      <p:sp>
        <p:nvSpPr>
          <p:cNvPr id="22" name="metric-2-bg"/>
          <p:cNvSpPr/>
          <p:nvPr/>
        </p:nvSpPr>
        <p:spPr>
          <a:xfrm>
            <a:off x="609600" y="2857500"/>
            <a:ext cx="3552825" cy="53340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3" name="metric-2-label"/>
          <p:cNvSpPr txBox="1"/>
          <p:nvPr/>
        </p:nvSpPr>
        <p:spPr>
          <a:xfrm>
            <a:off x="704850" y="2952750"/>
            <a:ext cx="2028825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Error Rate (per 1,000 transactions)</a:t>
            </a:r>
          </a:p>
        </p:txBody>
      </p:sp>
      <p:sp>
        <p:nvSpPr>
          <p:cNvPr id="24" name="metric-2-before"/>
          <p:cNvSpPr txBox="1"/>
          <p:nvPr/>
        </p:nvSpPr>
        <p:spPr>
          <a:xfrm>
            <a:off x="2733675" y="2933700"/>
            <a:ext cx="762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23.1</a:t>
            </a:r>
          </a:p>
        </p:txBody>
      </p:sp>
      <p:sp>
        <p:nvSpPr>
          <p:cNvPr id="25" name="metric-2-value"/>
          <p:cNvSpPr txBox="1"/>
          <p:nvPr/>
        </p:nvSpPr>
        <p:spPr>
          <a:xfrm>
            <a:off x="2733675" y="3067050"/>
            <a:ext cx="762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9.4</a:t>
            </a:r>
          </a:p>
        </p:txBody>
      </p:sp>
      <p:sp>
        <p:nvSpPr>
          <p:cNvPr id="26" name="metric-2-delta"/>
          <p:cNvSpPr txBox="1"/>
          <p:nvPr/>
        </p:nvSpPr>
        <p:spPr>
          <a:xfrm>
            <a:off x="3590925" y="3028950"/>
            <a:ext cx="495300" cy="15240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txBody>
          <a:bodyPr wrap="square" tIns="19050" rIns="38100" bIns="19050" lIns="381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166534"/>
                </a:solidFill>
                <a:latin typeface="Inter"/>
              </a:rPr>
              <a:t>▲ 59%</a:t>
            </a:r>
          </a:p>
        </p:txBody>
      </p:sp>
      <p:sp>
        <p:nvSpPr>
          <p:cNvPr id="27" name="metric-3-bg"/>
          <p:cNvSpPr/>
          <p:nvPr/>
        </p:nvSpPr>
        <p:spPr>
          <a:xfrm>
            <a:off x="609600" y="3467100"/>
            <a:ext cx="3552825" cy="53340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8" name="metric-3-label"/>
          <p:cNvSpPr txBox="1"/>
          <p:nvPr/>
        </p:nvSpPr>
        <p:spPr>
          <a:xfrm>
            <a:off x="704850" y="3562350"/>
            <a:ext cx="2028825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User Satisfaction Score (NPS)</a:t>
            </a:r>
          </a:p>
        </p:txBody>
      </p:sp>
      <p:sp>
        <p:nvSpPr>
          <p:cNvPr id="29" name="metric-3-before"/>
          <p:cNvSpPr txBox="1"/>
          <p:nvPr/>
        </p:nvSpPr>
        <p:spPr>
          <a:xfrm>
            <a:off x="2733675" y="3543300"/>
            <a:ext cx="762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+18</a:t>
            </a:r>
          </a:p>
        </p:txBody>
      </p:sp>
      <p:sp>
        <p:nvSpPr>
          <p:cNvPr id="30" name="metric-3-value"/>
          <p:cNvSpPr txBox="1"/>
          <p:nvPr/>
        </p:nvSpPr>
        <p:spPr>
          <a:xfrm>
            <a:off x="2733675" y="3676650"/>
            <a:ext cx="762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+54</a:t>
            </a:r>
          </a:p>
        </p:txBody>
      </p:sp>
      <p:sp>
        <p:nvSpPr>
          <p:cNvPr id="31" name="metric-3-delta"/>
          <p:cNvSpPr txBox="1"/>
          <p:nvPr/>
        </p:nvSpPr>
        <p:spPr>
          <a:xfrm>
            <a:off x="3590925" y="3638550"/>
            <a:ext cx="495300" cy="15240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txBody>
          <a:bodyPr wrap="square" tIns="19050" rIns="38100" bIns="19050" lIns="381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166534"/>
                </a:solidFill>
                <a:latin typeface="Inter"/>
              </a:rPr>
              <a:t>▲ 200%</a:t>
            </a:r>
          </a:p>
        </p:txBody>
      </p:sp>
      <p:sp>
        <p:nvSpPr>
          <p:cNvPr id="32" name="col-2-header"/>
          <p:cNvSpPr txBox="1"/>
          <p:nvPr/>
        </p:nvSpPr>
        <p:spPr>
          <a:xfrm>
            <a:off x="4314825" y="1905000"/>
            <a:ext cx="355282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QUALITATIVE FINDINGS</a:t>
            </a:r>
          </a:p>
        </p:txBody>
      </p:sp>
      <p:sp>
        <p:nvSpPr>
          <p:cNvPr id="33" name="col-2-rule"/>
          <p:cNvSpPr/>
          <p:nvPr/>
        </p:nvSpPr>
        <p:spPr>
          <a:xfrm>
            <a:off x="4314825" y="2095500"/>
            <a:ext cx="3552825" cy="190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4" name="qual-1-bg"/>
          <p:cNvSpPr/>
          <p:nvPr/>
        </p:nvSpPr>
        <p:spPr>
          <a:xfrm>
            <a:off x="4314825" y="2247900"/>
            <a:ext cx="3552825" cy="53340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5" name="qual-1-icon"/>
          <p:cNvSpPr txBox="1"/>
          <p:nvPr/>
        </p:nvSpPr>
        <p:spPr>
          <a:xfrm>
            <a:off x="4391025" y="2324100"/>
            <a:ext cx="1905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✓</a:t>
            </a:r>
          </a:p>
        </p:txBody>
      </p:sp>
      <p:sp>
        <p:nvSpPr>
          <p:cNvPr id="36" name="qual-1-text"/>
          <p:cNvSpPr txBox="1"/>
          <p:nvPr/>
        </p:nvSpPr>
        <p:spPr>
          <a:xfrm>
            <a:off x="4619625" y="2305050"/>
            <a:ext cx="3171825" cy="457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Frontline staff found the redesigned workflow significantly easier to navigate — onboarding time dropped by half in observed sessions.</a:t>
            </a:r>
          </a:p>
        </p:txBody>
      </p:sp>
      <p:sp>
        <p:nvSpPr>
          <p:cNvPr id="37" name="qual-2-bg"/>
          <p:cNvSpPr/>
          <p:nvPr/>
        </p:nvSpPr>
        <p:spPr>
          <a:xfrm>
            <a:off x="4314825" y="2857500"/>
            <a:ext cx="3552825" cy="53340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8" name="qual-2-icon"/>
          <p:cNvSpPr txBox="1"/>
          <p:nvPr/>
        </p:nvSpPr>
        <p:spPr>
          <a:xfrm>
            <a:off x="4391025" y="2933700"/>
            <a:ext cx="1905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✓</a:t>
            </a:r>
          </a:p>
        </p:txBody>
      </p:sp>
      <p:sp>
        <p:nvSpPr>
          <p:cNvPr id="39" name="qual-2-text"/>
          <p:cNvSpPr txBox="1"/>
          <p:nvPr/>
        </p:nvSpPr>
        <p:spPr>
          <a:xfrm>
            <a:off x="4619625" y="2914650"/>
            <a:ext cx="3171825" cy="457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Integration with existing ERP required minimal rework; IT teams rated the deployment complexity as "lower than expected" in exit interviews.</a:t>
            </a:r>
          </a:p>
        </p:txBody>
      </p:sp>
      <p:sp>
        <p:nvSpPr>
          <p:cNvPr id="40" name="qual-3-bg"/>
          <p:cNvSpPr/>
          <p:nvPr/>
        </p:nvSpPr>
        <p:spPr>
          <a:xfrm>
            <a:off x="4314825" y="3467100"/>
            <a:ext cx="3552825" cy="53340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1" name="qual-3-icon"/>
          <p:cNvSpPr txBox="1"/>
          <p:nvPr/>
        </p:nvSpPr>
        <p:spPr>
          <a:xfrm>
            <a:off x="4391025" y="3543300"/>
            <a:ext cx="1905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△</a:t>
            </a:r>
          </a:p>
        </p:txBody>
      </p:sp>
      <p:sp>
        <p:nvSpPr>
          <p:cNvPr id="42" name="qual-3-text"/>
          <p:cNvSpPr txBox="1"/>
          <p:nvPr/>
        </p:nvSpPr>
        <p:spPr>
          <a:xfrm>
            <a:off x="4619625" y="3524250"/>
            <a:ext cx="3171825" cy="457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Exception-handling for edge cases (legacy vendor codes) required manual intervention in ~7% of transactions — volume is manageable but warrants automation.</a:t>
            </a:r>
          </a:p>
        </p:txBody>
      </p:sp>
      <p:sp>
        <p:nvSpPr>
          <p:cNvPr id="43" name="col-3-header"/>
          <p:cNvSpPr txBox="1"/>
          <p:nvPr/>
        </p:nvSpPr>
        <p:spPr>
          <a:xfrm>
            <a:off x="8020050" y="1905000"/>
            <a:ext cx="355282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LESSONS LEARNED</a:t>
            </a:r>
          </a:p>
        </p:txBody>
      </p:sp>
      <p:sp>
        <p:nvSpPr>
          <p:cNvPr id="44" name="col-3-rule"/>
          <p:cNvSpPr/>
          <p:nvPr/>
        </p:nvSpPr>
        <p:spPr>
          <a:xfrm>
            <a:off x="8020050" y="2095500"/>
            <a:ext cx="3552825" cy="190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5" name="lesson-1-bg"/>
          <p:cNvSpPr/>
          <p:nvPr/>
        </p:nvSpPr>
        <p:spPr>
          <a:xfrm>
            <a:off x="8020050" y="2247900"/>
            <a:ext cx="3552825" cy="533400"/>
          </a:xfrm>
          <a:prstGeom prst="rect">
            <a:avLst/>
          </a:prstGeom>
          <a:solidFill>
            <a:srgbClr val="F0FDF4"/>
          </a:solidFill>
          <a:ln w="9525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6" name="lesson-1-badge"/>
          <p:cNvSpPr txBox="1"/>
          <p:nvPr/>
        </p:nvSpPr>
        <p:spPr>
          <a:xfrm>
            <a:off x="8115300" y="2324100"/>
            <a:ext cx="819150" cy="133350"/>
          </a:xfrm>
          <a:prstGeom prst="rect">
            <a:avLst/>
          </a:prstGeom>
          <a:solidFill>
            <a:srgbClr val="BBF7D0"/>
          </a:solidFill>
          <a:ln>
            <a:noFill/>
          </a:ln>
        </p:spPr>
        <p:txBody>
          <a:bodyPr wrap="square" tIns="19050" rIns="38100" bIns="19050" lIns="381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14532D"/>
                </a:solidFill>
                <a:latin typeface="Inter"/>
              </a:rPr>
              <a:t>WHAT WORKED</a:t>
            </a:r>
          </a:p>
        </p:txBody>
      </p:sp>
      <p:sp>
        <p:nvSpPr>
          <p:cNvPr id="47" name="lesson-1-text"/>
          <p:cNvSpPr txBox="1"/>
          <p:nvPr/>
        </p:nvSpPr>
        <p:spPr>
          <a:xfrm>
            <a:off x="8115300" y="2514600"/>
            <a:ext cx="3362325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Dedicated change-champion network accelerated adoption in sites 2 and 3 by mobilising peer-to-peer coaching.</a:t>
            </a:r>
          </a:p>
        </p:txBody>
      </p:sp>
      <p:sp>
        <p:nvSpPr>
          <p:cNvPr id="48" name="lesson-2-bg"/>
          <p:cNvSpPr/>
          <p:nvPr/>
        </p:nvSpPr>
        <p:spPr>
          <a:xfrm>
            <a:off x="8020050" y="2857500"/>
            <a:ext cx="3552825" cy="533400"/>
          </a:xfrm>
          <a:prstGeom prst="rect">
            <a:avLst/>
          </a:prstGeom>
          <a:solidFill>
            <a:srgbClr val="F0FDF4"/>
          </a:solidFill>
          <a:ln w="9525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9" name="lesson-2-badge"/>
          <p:cNvSpPr txBox="1"/>
          <p:nvPr/>
        </p:nvSpPr>
        <p:spPr>
          <a:xfrm>
            <a:off x="8115300" y="2933700"/>
            <a:ext cx="819150" cy="133350"/>
          </a:xfrm>
          <a:prstGeom prst="rect">
            <a:avLst/>
          </a:prstGeom>
          <a:solidFill>
            <a:srgbClr val="BBF7D0"/>
          </a:solidFill>
          <a:ln>
            <a:noFill/>
          </a:ln>
        </p:spPr>
        <p:txBody>
          <a:bodyPr wrap="square" tIns="19050" rIns="38100" bIns="19050" lIns="381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14532D"/>
                </a:solidFill>
                <a:latin typeface="Inter"/>
              </a:rPr>
              <a:t>WHAT WORKED</a:t>
            </a:r>
          </a:p>
        </p:txBody>
      </p:sp>
      <p:sp>
        <p:nvSpPr>
          <p:cNvPr id="50" name="lesson-2-text"/>
          <p:cNvSpPr txBox="1"/>
          <p:nvPr/>
        </p:nvSpPr>
        <p:spPr>
          <a:xfrm>
            <a:off x="8115300" y="3124200"/>
            <a:ext cx="3362325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Phased data migration reduced go-live risk; zero critical data-loss incidents recorded across all four sites.</a:t>
            </a:r>
          </a:p>
        </p:txBody>
      </p:sp>
      <p:sp>
        <p:nvSpPr>
          <p:cNvPr id="51" name="lesson-3-bg"/>
          <p:cNvSpPr/>
          <p:nvPr/>
        </p:nvSpPr>
        <p:spPr>
          <a:xfrm>
            <a:off x="8020050" y="3467100"/>
            <a:ext cx="3552825" cy="533400"/>
          </a:xfrm>
          <a:prstGeom prst="rect">
            <a:avLst/>
          </a:prstGeom>
          <a:solidFill>
            <a:srgbClr val="FFFBEB"/>
          </a:solidFill>
          <a:ln w="9525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2" name="lesson-3-badge"/>
          <p:cNvSpPr txBox="1"/>
          <p:nvPr/>
        </p:nvSpPr>
        <p:spPr>
          <a:xfrm>
            <a:off x="8115300" y="3543300"/>
            <a:ext cx="819150" cy="133350"/>
          </a:xfrm>
          <a:prstGeom prst="rect">
            <a:avLst/>
          </a:prstGeom>
          <a:solidFill>
            <a:srgbClr val="FDE68A"/>
          </a:solidFill>
          <a:ln>
            <a:noFill/>
          </a:ln>
        </p:spPr>
        <p:txBody>
          <a:bodyPr wrap="square" tIns="19050" rIns="38100" bIns="19050" lIns="381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78350F"/>
                </a:solidFill>
                <a:latin typeface="Inter"/>
              </a:rPr>
              <a:t>TO IMPROVE</a:t>
            </a:r>
          </a:p>
        </p:txBody>
      </p:sp>
      <p:sp>
        <p:nvSpPr>
          <p:cNvPr id="53" name="lesson-3-text"/>
          <p:cNvSpPr txBox="1"/>
          <p:nvPr/>
        </p:nvSpPr>
        <p:spPr>
          <a:xfrm>
            <a:off x="8115300" y="3733800"/>
            <a:ext cx="3362325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Expand exception-rule library before full rollout to reduce manual overrides; assign a dedicated triage owner per region.</a:t>
            </a:r>
          </a:p>
        </p:txBody>
      </p:sp>
      <p:sp>
        <p:nvSpPr>
          <p:cNvPr id="54" name="convergence-bg"/>
          <p:cNvSpPr/>
          <p:nvPr/>
        </p:nvSpPr>
        <p:spPr>
          <a:xfrm>
            <a:off x="609600" y="5257800"/>
            <a:ext cx="10972800" cy="36195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5" name="convergence-accent"/>
          <p:cNvSpPr/>
          <p:nvPr/>
        </p:nvSpPr>
        <p:spPr>
          <a:xfrm>
            <a:off x="609600" y="5257800"/>
            <a:ext cx="38100" cy="3619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6" name="convergence-mark"/>
          <p:cNvSpPr txBox="1"/>
          <p:nvPr/>
        </p:nvSpPr>
        <p:spPr>
          <a:xfrm>
            <a:off x="742950" y="5295900"/>
            <a:ext cx="1143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RECOMMENDATION</a:t>
            </a:r>
          </a:p>
        </p:txBody>
      </p:sp>
      <p:sp>
        <p:nvSpPr>
          <p:cNvPr id="57" name="convergence"/>
          <p:cNvSpPr txBox="1"/>
          <p:nvPr/>
        </p:nvSpPr>
        <p:spPr>
          <a:xfrm>
            <a:off x="1905000" y="5295900"/>
            <a:ext cx="96774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Proceed to full rollout — pilot results meet all success thresholds. Incorporate 2 modifications before scale-up.</a:t>
            </a:r>
          </a:p>
        </p:txBody>
      </p:sp>
      <p:sp>
        <p:nvSpPr>
          <p:cNvPr id="58" name="rec-mod-1"/>
          <p:cNvSpPr txBox="1"/>
          <p:nvPr/>
        </p:nvSpPr>
        <p:spPr>
          <a:xfrm>
            <a:off x="1905000" y="5448300"/>
            <a:ext cx="5143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• Automate legacy vendor-code exception handling prior to Wave 2 launch</a:t>
            </a:r>
          </a:p>
        </p:txBody>
      </p:sp>
      <p:sp>
        <p:nvSpPr>
          <p:cNvPr id="59" name="rec-mod-2"/>
          <p:cNvSpPr txBox="1"/>
          <p:nvPr/>
        </p:nvSpPr>
        <p:spPr>
          <a:xfrm>
            <a:off x="7143750" y="5448300"/>
            <a:ext cx="4191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• Replicate change-champion model across all remaining regions</a:t>
            </a:r>
          </a:p>
        </p:txBody>
      </p:sp>
      <p:sp>
        <p:nvSpPr>
          <p:cNvPr id="60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61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62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196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