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Product A momentum accelerates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as competitors retreat and pricing resets.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Customer satisfaction index (0–100) by quarter, Q1 2024–Q4 2026 — three product lines with annotated market events.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legend-A-swatch"/>
          <p:cNvSpPr/>
          <p:nvPr/>
        </p:nvSpPr>
        <p:spPr>
          <a:xfrm>
            <a:off x="8191500" y="2266950"/>
            <a:ext cx="1524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legend-A-label"/>
          <p:cNvSpPr txBox="1"/>
          <p:nvPr/>
        </p:nvSpPr>
        <p:spPr>
          <a:xfrm>
            <a:off x="8382000" y="2209800"/>
            <a:ext cx="762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Product A</a:t>
            </a:r>
          </a:p>
        </p:txBody>
      </p:sp>
      <p:sp>
        <p:nvSpPr>
          <p:cNvPr id="7" name="legend-B-swatch"/>
          <p:cNvSpPr/>
          <p:nvPr/>
        </p:nvSpPr>
        <p:spPr>
          <a:xfrm>
            <a:off x="9239250" y="2266950"/>
            <a:ext cx="152400" cy="381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legend-B-label"/>
          <p:cNvSpPr txBox="1"/>
          <p:nvPr/>
        </p:nvSpPr>
        <p:spPr>
          <a:xfrm>
            <a:off x="9429750" y="2209800"/>
            <a:ext cx="762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Product B</a:t>
            </a:r>
          </a:p>
        </p:txBody>
      </p:sp>
      <p:sp>
        <p:nvSpPr>
          <p:cNvPr id="9" name="legend-C-swatch"/>
          <p:cNvSpPr/>
          <p:nvPr/>
        </p:nvSpPr>
        <p:spPr>
          <a:xfrm>
            <a:off x="10287000" y="2266950"/>
            <a:ext cx="152400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legend-C-label"/>
          <p:cNvSpPr txBox="1"/>
          <p:nvPr/>
        </p:nvSpPr>
        <p:spPr>
          <a:xfrm>
            <a:off x="10477500" y="2209800"/>
            <a:ext cx="1333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Product C (dashed)</a:t>
            </a:r>
          </a:p>
        </p:txBody>
      </p:sp>
      <p:sp>
        <p:nvSpPr>
          <p:cNvPr id="11" name="chart-canvas"/>
          <p:cNvSpPr/>
          <p:nvPr/>
        </p:nvSpPr>
        <p:spPr>
          <a:xfrm>
            <a:off x="457200" y="2552700"/>
            <a:ext cx="7667625" cy="34956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y-axis-title"/>
          <p:cNvSpPr txBox="1"/>
          <p:nvPr/>
        </p:nvSpPr>
        <p:spPr>
          <a:xfrm>
            <a:off x="495300" y="4219575"/>
            <a:ext cx="381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NPS INDEX</a:t>
            </a:r>
          </a:p>
        </p:txBody>
      </p:sp>
      <p:sp>
        <p:nvSpPr>
          <p:cNvPr id="13" name="y-tick-0"/>
          <p:cNvSpPr txBox="1"/>
          <p:nvPr/>
        </p:nvSpPr>
        <p:spPr>
          <a:xfrm>
            <a:off x="628650" y="5600700"/>
            <a:ext cx="228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0</a:t>
            </a:r>
          </a:p>
        </p:txBody>
      </p:sp>
      <p:sp>
        <p:nvSpPr>
          <p:cNvPr id="15" name="y-tick-20"/>
          <p:cNvSpPr txBox="1"/>
          <p:nvPr/>
        </p:nvSpPr>
        <p:spPr>
          <a:xfrm>
            <a:off x="628650" y="5057775"/>
            <a:ext cx="228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20</a:t>
            </a:r>
          </a:p>
        </p:txBody>
      </p:sp>
      <p:sp>
        <p:nvSpPr>
          <p:cNvPr id="16" name="y-grid-20"/>
          <p:cNvSpPr/>
          <p:nvPr/>
        </p:nvSpPr>
        <p:spPr>
          <a:xfrm>
            <a:off x="876300" y="5124450"/>
            <a:ext cx="70199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y-tick-40"/>
          <p:cNvSpPr txBox="1"/>
          <p:nvPr/>
        </p:nvSpPr>
        <p:spPr>
          <a:xfrm>
            <a:off x="628650" y="4514850"/>
            <a:ext cx="228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40</a:t>
            </a:r>
          </a:p>
        </p:txBody>
      </p:sp>
      <p:sp>
        <p:nvSpPr>
          <p:cNvPr id="18" name="y-grid-40"/>
          <p:cNvSpPr/>
          <p:nvPr/>
        </p:nvSpPr>
        <p:spPr>
          <a:xfrm>
            <a:off x="876300" y="4581525"/>
            <a:ext cx="70199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y-tick-60"/>
          <p:cNvSpPr txBox="1"/>
          <p:nvPr/>
        </p:nvSpPr>
        <p:spPr>
          <a:xfrm>
            <a:off x="628650" y="3962400"/>
            <a:ext cx="228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60</a:t>
            </a:r>
          </a:p>
        </p:txBody>
      </p:sp>
      <p:sp>
        <p:nvSpPr>
          <p:cNvPr id="20" name="y-grid-60"/>
          <p:cNvSpPr/>
          <p:nvPr/>
        </p:nvSpPr>
        <p:spPr>
          <a:xfrm>
            <a:off x="876300" y="4029075"/>
            <a:ext cx="70199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y-tick-80"/>
          <p:cNvSpPr txBox="1"/>
          <p:nvPr/>
        </p:nvSpPr>
        <p:spPr>
          <a:xfrm>
            <a:off x="628650" y="3419475"/>
            <a:ext cx="228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80</a:t>
            </a:r>
          </a:p>
        </p:txBody>
      </p:sp>
      <p:sp>
        <p:nvSpPr>
          <p:cNvPr id="22" name="y-grid-80"/>
          <p:cNvSpPr/>
          <p:nvPr/>
        </p:nvSpPr>
        <p:spPr>
          <a:xfrm>
            <a:off x="876300" y="3486150"/>
            <a:ext cx="70199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y-tick-100"/>
          <p:cNvSpPr txBox="1"/>
          <p:nvPr/>
        </p:nvSpPr>
        <p:spPr>
          <a:xfrm>
            <a:off x="628650" y="2867025"/>
            <a:ext cx="228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100</a:t>
            </a:r>
          </a:p>
        </p:txBody>
      </p:sp>
      <p:sp>
        <p:nvSpPr>
          <p:cNvPr id="24" name="y-grid-100"/>
          <p:cNvSpPr/>
          <p:nvPr/>
        </p:nvSpPr>
        <p:spPr>
          <a:xfrm>
            <a:off x="876300" y="2933700"/>
            <a:ext cx="70199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x-tick-1"/>
          <p:cNvSpPr txBox="1"/>
          <p:nvPr/>
        </p:nvSpPr>
        <p:spPr>
          <a:xfrm>
            <a:off x="742950" y="5705475"/>
            <a:ext cx="2667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Q1</a:t>
            </a:r>
          </a:p>
        </p:txBody>
      </p:sp>
      <p:sp>
        <p:nvSpPr>
          <p:cNvPr id="27" name="x-year-1"/>
          <p:cNvSpPr txBox="1"/>
          <p:nvPr/>
        </p:nvSpPr>
        <p:spPr>
          <a:xfrm>
            <a:off x="742950" y="5819775"/>
            <a:ext cx="2667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'24</a:t>
            </a:r>
          </a:p>
        </p:txBody>
      </p:sp>
      <p:sp>
        <p:nvSpPr>
          <p:cNvPr id="28" name="x-tick-2"/>
          <p:cNvSpPr txBox="1"/>
          <p:nvPr/>
        </p:nvSpPr>
        <p:spPr>
          <a:xfrm>
            <a:off x="1381125" y="5705475"/>
            <a:ext cx="2667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Q2</a:t>
            </a:r>
          </a:p>
        </p:txBody>
      </p:sp>
      <p:sp>
        <p:nvSpPr>
          <p:cNvPr id="29" name="x-tick-3"/>
          <p:cNvSpPr txBox="1"/>
          <p:nvPr/>
        </p:nvSpPr>
        <p:spPr>
          <a:xfrm>
            <a:off x="2019300" y="5705475"/>
            <a:ext cx="2667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Q3</a:t>
            </a:r>
          </a:p>
        </p:txBody>
      </p:sp>
      <p:sp>
        <p:nvSpPr>
          <p:cNvPr id="30" name="x-tick-4"/>
          <p:cNvSpPr txBox="1"/>
          <p:nvPr/>
        </p:nvSpPr>
        <p:spPr>
          <a:xfrm>
            <a:off x="2657475" y="5705475"/>
            <a:ext cx="2667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Q4</a:t>
            </a:r>
          </a:p>
        </p:txBody>
      </p:sp>
      <p:sp>
        <p:nvSpPr>
          <p:cNvPr id="31" name="x-tick-5"/>
          <p:cNvSpPr txBox="1"/>
          <p:nvPr/>
        </p:nvSpPr>
        <p:spPr>
          <a:xfrm>
            <a:off x="3295650" y="5705475"/>
            <a:ext cx="2667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Q1</a:t>
            </a:r>
          </a:p>
        </p:txBody>
      </p:sp>
      <p:sp>
        <p:nvSpPr>
          <p:cNvPr id="32" name="x-year-5"/>
          <p:cNvSpPr txBox="1"/>
          <p:nvPr/>
        </p:nvSpPr>
        <p:spPr>
          <a:xfrm>
            <a:off x="3295650" y="5819775"/>
            <a:ext cx="2667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'25</a:t>
            </a:r>
          </a:p>
        </p:txBody>
      </p:sp>
      <p:sp>
        <p:nvSpPr>
          <p:cNvPr id="33" name="x-tick-6"/>
          <p:cNvSpPr txBox="1"/>
          <p:nvPr/>
        </p:nvSpPr>
        <p:spPr>
          <a:xfrm>
            <a:off x="3933825" y="5705475"/>
            <a:ext cx="2667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Q2</a:t>
            </a:r>
          </a:p>
        </p:txBody>
      </p:sp>
      <p:sp>
        <p:nvSpPr>
          <p:cNvPr id="34" name="x-tick-7"/>
          <p:cNvSpPr txBox="1"/>
          <p:nvPr/>
        </p:nvSpPr>
        <p:spPr>
          <a:xfrm>
            <a:off x="4572000" y="5705475"/>
            <a:ext cx="2667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Q3</a:t>
            </a:r>
          </a:p>
        </p:txBody>
      </p:sp>
      <p:sp>
        <p:nvSpPr>
          <p:cNvPr id="35" name="x-tick-8"/>
          <p:cNvSpPr txBox="1"/>
          <p:nvPr/>
        </p:nvSpPr>
        <p:spPr>
          <a:xfrm>
            <a:off x="5210175" y="5705475"/>
            <a:ext cx="2667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Q4</a:t>
            </a:r>
          </a:p>
        </p:txBody>
      </p:sp>
      <p:sp>
        <p:nvSpPr>
          <p:cNvPr id="36" name="x-tick-9"/>
          <p:cNvSpPr txBox="1"/>
          <p:nvPr/>
        </p:nvSpPr>
        <p:spPr>
          <a:xfrm>
            <a:off x="5848350" y="5705475"/>
            <a:ext cx="2667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Q1</a:t>
            </a:r>
          </a:p>
        </p:txBody>
      </p:sp>
      <p:sp>
        <p:nvSpPr>
          <p:cNvPr id="37" name="x-year-9"/>
          <p:cNvSpPr txBox="1"/>
          <p:nvPr/>
        </p:nvSpPr>
        <p:spPr>
          <a:xfrm>
            <a:off x="5848350" y="5819775"/>
            <a:ext cx="2667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'26</a:t>
            </a:r>
          </a:p>
        </p:txBody>
      </p:sp>
      <p:sp>
        <p:nvSpPr>
          <p:cNvPr id="38" name="x-tick-10"/>
          <p:cNvSpPr txBox="1"/>
          <p:nvPr/>
        </p:nvSpPr>
        <p:spPr>
          <a:xfrm>
            <a:off x="6486525" y="5705475"/>
            <a:ext cx="2667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Q2</a:t>
            </a:r>
          </a:p>
        </p:txBody>
      </p:sp>
      <p:sp>
        <p:nvSpPr>
          <p:cNvPr id="39" name="x-tick-11"/>
          <p:cNvSpPr txBox="1"/>
          <p:nvPr/>
        </p:nvSpPr>
        <p:spPr>
          <a:xfrm>
            <a:off x="7124700" y="5705475"/>
            <a:ext cx="2667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Q3</a:t>
            </a:r>
          </a:p>
        </p:txBody>
      </p:sp>
      <p:sp>
        <p:nvSpPr>
          <p:cNvPr id="40" name="x-tick-12"/>
          <p:cNvSpPr txBox="1"/>
          <p:nvPr/>
        </p:nvSpPr>
        <p:spPr>
          <a:xfrm>
            <a:off x="7762875" y="5705475"/>
            <a:ext cx="2667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Q4</a:t>
            </a:r>
          </a:p>
        </p:txBody>
      </p:sp>
      <p:sp>
        <p:nvSpPr>
          <p:cNvPr id="41" name="event-1-line"/>
          <p:cNvSpPr/>
          <p:nvPr/>
        </p:nvSpPr>
        <p:spPr>
          <a:xfrm>
            <a:off x="2152650" y="2933700"/>
            <a:ext cx="9525" cy="273367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event-1-flag"/>
          <p:cNvSpPr/>
          <p:nvPr/>
        </p:nvSpPr>
        <p:spPr>
          <a:xfrm>
            <a:off x="1628775" y="2952750"/>
            <a:ext cx="1047750" cy="1714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event-1-flag-text"/>
          <p:cNvSpPr txBox="1"/>
          <p:nvPr/>
        </p:nvSpPr>
        <p:spPr>
          <a:xfrm>
            <a:off x="1628775" y="2952750"/>
            <a:ext cx="1047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Product A relaunch</a:t>
            </a:r>
          </a:p>
        </p:txBody>
      </p:sp>
      <p:sp>
        <p:nvSpPr>
          <p:cNvPr id="44" name="event-2-line"/>
          <p:cNvSpPr/>
          <p:nvPr/>
        </p:nvSpPr>
        <p:spPr>
          <a:xfrm>
            <a:off x="3429000" y="2933700"/>
            <a:ext cx="9525" cy="273367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event-2-flag"/>
          <p:cNvSpPr/>
          <p:nvPr/>
        </p:nvSpPr>
        <p:spPr>
          <a:xfrm>
            <a:off x="2905125" y="2952750"/>
            <a:ext cx="1047750" cy="1714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event-2-flag-text"/>
          <p:cNvSpPr txBox="1"/>
          <p:nvPr/>
        </p:nvSpPr>
        <p:spPr>
          <a:xfrm>
            <a:off x="2905125" y="2952750"/>
            <a:ext cx="1047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Competitor exit</a:t>
            </a:r>
          </a:p>
        </p:txBody>
      </p:sp>
      <p:sp>
        <p:nvSpPr>
          <p:cNvPr id="47" name="event-3-line"/>
          <p:cNvSpPr/>
          <p:nvPr/>
        </p:nvSpPr>
        <p:spPr>
          <a:xfrm>
            <a:off x="4705350" y="2933700"/>
            <a:ext cx="9525" cy="273367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event-3-flag"/>
          <p:cNvSpPr/>
          <p:nvPr/>
        </p:nvSpPr>
        <p:spPr>
          <a:xfrm>
            <a:off x="4181475" y="2952750"/>
            <a:ext cx="1047750" cy="1714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event-3-flag-text"/>
          <p:cNvSpPr txBox="1"/>
          <p:nvPr/>
        </p:nvSpPr>
        <p:spPr>
          <a:xfrm>
            <a:off x="4181475" y="2952750"/>
            <a:ext cx="1047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Price reduction — B</a:t>
            </a:r>
          </a:p>
        </p:txBody>
      </p:sp>
      <p:cxnSp>
        <p:nvCxnSpPr>
          <p:cNvPr id="50" name="Connector 49"/>
          <p:cNvCxnSpPr/>
          <p:nvPr/>
        </p:nvCxnSpPr>
        <p:spPr>
          <a:xfrm flipV="1">
            <a:off x="876300" y="4305300"/>
            <a:ext cx="638175" cy="0"/>
          </a:xfrm>
          <a:prstGeom prst="line">
            <a:avLst/>
          </a:prstGeom>
          <a:ln w="19050">
            <a:solidFill>
              <a:srgbClr val="64748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514475" y="4248150"/>
            <a:ext cx="638175" cy="57150"/>
          </a:xfrm>
          <a:prstGeom prst="line">
            <a:avLst/>
          </a:prstGeom>
          <a:ln w="19050">
            <a:solidFill>
              <a:srgbClr val="64748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2152650" y="4219575"/>
            <a:ext cx="638175" cy="28575"/>
          </a:xfrm>
          <a:prstGeom prst="line">
            <a:avLst/>
          </a:prstGeom>
          <a:ln w="19050">
            <a:solidFill>
              <a:srgbClr val="64748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790825" y="4171950"/>
            <a:ext cx="638175" cy="47625"/>
          </a:xfrm>
          <a:prstGeom prst="line">
            <a:avLst/>
          </a:prstGeom>
          <a:ln w="19050">
            <a:solidFill>
              <a:srgbClr val="64748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429000" y="4114800"/>
            <a:ext cx="638175" cy="57150"/>
          </a:xfrm>
          <a:prstGeom prst="line">
            <a:avLst/>
          </a:prstGeom>
          <a:ln w="19050">
            <a:solidFill>
              <a:srgbClr val="64748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4067175" y="4086225"/>
            <a:ext cx="638175" cy="28575"/>
          </a:xfrm>
          <a:prstGeom prst="line">
            <a:avLst/>
          </a:prstGeom>
          <a:ln w="19050">
            <a:solidFill>
              <a:srgbClr val="64748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4705350" y="4029075"/>
            <a:ext cx="638175" cy="57150"/>
          </a:xfrm>
          <a:prstGeom prst="line">
            <a:avLst/>
          </a:prstGeom>
          <a:ln w="19050">
            <a:solidFill>
              <a:srgbClr val="64748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343525" y="3981450"/>
            <a:ext cx="638175" cy="47625"/>
          </a:xfrm>
          <a:prstGeom prst="line">
            <a:avLst/>
          </a:prstGeom>
          <a:ln w="19050">
            <a:solidFill>
              <a:srgbClr val="64748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981700" y="3952875"/>
            <a:ext cx="638175" cy="28575"/>
          </a:xfrm>
          <a:prstGeom prst="line">
            <a:avLst/>
          </a:prstGeom>
          <a:ln w="19050">
            <a:solidFill>
              <a:srgbClr val="64748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6619875" y="3895725"/>
            <a:ext cx="638175" cy="57150"/>
          </a:xfrm>
          <a:prstGeom prst="line">
            <a:avLst/>
          </a:prstGeom>
          <a:ln w="19050">
            <a:solidFill>
              <a:srgbClr val="64748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7258050" y="3838575"/>
            <a:ext cx="638175" cy="57150"/>
          </a:xfrm>
          <a:prstGeom prst="line">
            <a:avLst/>
          </a:prstGeom>
          <a:ln w="19050">
            <a:solidFill>
              <a:srgbClr val="64748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876300" y="3895725"/>
            <a:ext cx="638175" cy="57150"/>
          </a:xfrm>
          <a:prstGeom prst="line">
            <a:avLst/>
          </a:prstGeom>
          <a:ln w="25400">
            <a:solidFill>
              <a:srgbClr val="5C2D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514475" y="3952875"/>
            <a:ext cx="638175" cy="76200"/>
          </a:xfrm>
          <a:prstGeom prst="line">
            <a:avLst/>
          </a:prstGeom>
          <a:ln w="25400">
            <a:solidFill>
              <a:srgbClr val="5C2D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152650" y="4029075"/>
            <a:ext cx="638175" cy="57150"/>
          </a:xfrm>
          <a:prstGeom prst="line">
            <a:avLst/>
          </a:prstGeom>
          <a:ln w="25400">
            <a:solidFill>
              <a:srgbClr val="5C2D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790825" y="4086225"/>
            <a:ext cx="638175" cy="85725"/>
          </a:xfrm>
          <a:prstGeom prst="line">
            <a:avLst/>
          </a:prstGeom>
          <a:ln w="25400">
            <a:solidFill>
              <a:srgbClr val="5C2D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3429000" y="4171950"/>
            <a:ext cx="638175" cy="76200"/>
          </a:xfrm>
          <a:prstGeom prst="line">
            <a:avLst/>
          </a:prstGeom>
          <a:ln w="25400">
            <a:solidFill>
              <a:srgbClr val="5C2D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067175" y="4248150"/>
            <a:ext cx="638175" cy="57150"/>
          </a:xfrm>
          <a:prstGeom prst="line">
            <a:avLst/>
          </a:prstGeom>
          <a:ln w="25400">
            <a:solidFill>
              <a:srgbClr val="5C2D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705350" y="4305300"/>
            <a:ext cx="638175" cy="57150"/>
          </a:xfrm>
          <a:prstGeom prst="line">
            <a:avLst/>
          </a:prstGeom>
          <a:ln w="25400">
            <a:solidFill>
              <a:srgbClr val="5C2D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5343525" y="4362450"/>
            <a:ext cx="638175" cy="28575"/>
          </a:xfrm>
          <a:prstGeom prst="line">
            <a:avLst/>
          </a:prstGeom>
          <a:ln w="25400">
            <a:solidFill>
              <a:srgbClr val="5C2D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5981700" y="4391025"/>
            <a:ext cx="638175" cy="19050"/>
          </a:xfrm>
          <a:prstGeom prst="line">
            <a:avLst/>
          </a:prstGeom>
          <a:ln w="25400">
            <a:solidFill>
              <a:srgbClr val="5C2D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6619875" y="4410075"/>
            <a:ext cx="638175" cy="28575"/>
          </a:xfrm>
          <a:prstGeom prst="line">
            <a:avLst/>
          </a:prstGeom>
          <a:ln w="25400">
            <a:solidFill>
              <a:srgbClr val="5C2D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7258050" y="4438650"/>
            <a:ext cx="638175" cy="28575"/>
          </a:xfrm>
          <a:prstGeom prst="line">
            <a:avLst/>
          </a:prstGeom>
          <a:ln w="25400">
            <a:solidFill>
              <a:srgbClr val="5C2D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876300" y="4362450"/>
            <a:ext cx="638175" cy="161925"/>
          </a:xfrm>
          <a:prstGeom prst="line">
            <a:avLst/>
          </a:prstGeom>
          <a:ln w="25400">
            <a:solidFill>
              <a:srgbClr val="A1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514475" y="4276725"/>
            <a:ext cx="638175" cy="85725"/>
          </a:xfrm>
          <a:prstGeom prst="line">
            <a:avLst/>
          </a:prstGeom>
          <a:ln w="25400">
            <a:solidFill>
              <a:srgbClr val="A1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2152650" y="4171950"/>
            <a:ext cx="638175" cy="104775"/>
          </a:xfrm>
          <a:prstGeom prst="line">
            <a:avLst/>
          </a:prstGeom>
          <a:ln w="25400">
            <a:solidFill>
              <a:srgbClr val="A1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2790825" y="4086225"/>
            <a:ext cx="638175" cy="85725"/>
          </a:xfrm>
          <a:prstGeom prst="line">
            <a:avLst/>
          </a:prstGeom>
          <a:ln w="25400">
            <a:solidFill>
              <a:srgbClr val="A1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3429000" y="3981450"/>
            <a:ext cx="638175" cy="104775"/>
          </a:xfrm>
          <a:prstGeom prst="line">
            <a:avLst/>
          </a:prstGeom>
          <a:ln w="25400">
            <a:solidFill>
              <a:srgbClr val="A1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4067175" y="3838575"/>
            <a:ext cx="638175" cy="142875"/>
          </a:xfrm>
          <a:prstGeom prst="line">
            <a:avLst/>
          </a:prstGeom>
          <a:ln w="25400">
            <a:solidFill>
              <a:srgbClr val="A1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4705350" y="3733800"/>
            <a:ext cx="638175" cy="104775"/>
          </a:xfrm>
          <a:prstGeom prst="line">
            <a:avLst/>
          </a:prstGeom>
          <a:ln w="25400">
            <a:solidFill>
              <a:srgbClr val="A1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5343525" y="3648075"/>
            <a:ext cx="638175" cy="85725"/>
          </a:xfrm>
          <a:prstGeom prst="line">
            <a:avLst/>
          </a:prstGeom>
          <a:ln w="25400">
            <a:solidFill>
              <a:srgbClr val="A1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5981700" y="3543300"/>
            <a:ext cx="638175" cy="104775"/>
          </a:xfrm>
          <a:prstGeom prst="line">
            <a:avLst/>
          </a:prstGeom>
          <a:ln w="25400">
            <a:solidFill>
              <a:srgbClr val="A1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6619875" y="3457575"/>
            <a:ext cx="638175" cy="85725"/>
          </a:xfrm>
          <a:prstGeom prst="line">
            <a:avLst/>
          </a:prstGeom>
          <a:ln w="25400">
            <a:solidFill>
              <a:srgbClr val="A1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258050" y="3352800"/>
            <a:ext cx="638175" cy="104775"/>
          </a:xfrm>
          <a:prstGeom prst="line">
            <a:avLst/>
          </a:prstGeom>
          <a:ln w="25400">
            <a:solidFill>
              <a:srgbClr val="A1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dot-C-1"/>
          <p:cNvSpPr/>
          <p:nvPr/>
        </p:nvSpPr>
        <p:spPr>
          <a:xfrm>
            <a:off x="847725" y="4276725"/>
            <a:ext cx="57150" cy="5715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4" name="dot-C-2"/>
          <p:cNvSpPr/>
          <p:nvPr/>
        </p:nvSpPr>
        <p:spPr>
          <a:xfrm>
            <a:off x="1485900" y="4276725"/>
            <a:ext cx="57150" cy="5715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5" name="dot-C-3"/>
          <p:cNvSpPr/>
          <p:nvPr/>
        </p:nvSpPr>
        <p:spPr>
          <a:xfrm>
            <a:off x="2124075" y="4219575"/>
            <a:ext cx="57150" cy="5715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6" name="dot-C-4"/>
          <p:cNvSpPr/>
          <p:nvPr/>
        </p:nvSpPr>
        <p:spPr>
          <a:xfrm>
            <a:off x="2762250" y="4191000"/>
            <a:ext cx="57150" cy="5715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7" name="dot-C-5"/>
          <p:cNvSpPr/>
          <p:nvPr/>
        </p:nvSpPr>
        <p:spPr>
          <a:xfrm>
            <a:off x="3400425" y="4143375"/>
            <a:ext cx="57150" cy="5715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8" name="dot-C-6"/>
          <p:cNvSpPr/>
          <p:nvPr/>
        </p:nvSpPr>
        <p:spPr>
          <a:xfrm>
            <a:off x="4038600" y="4086225"/>
            <a:ext cx="57150" cy="5715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9" name="dot-C-7"/>
          <p:cNvSpPr/>
          <p:nvPr/>
        </p:nvSpPr>
        <p:spPr>
          <a:xfrm>
            <a:off x="4676775" y="4057650"/>
            <a:ext cx="57150" cy="5715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0" name="dot-C-8"/>
          <p:cNvSpPr/>
          <p:nvPr/>
        </p:nvSpPr>
        <p:spPr>
          <a:xfrm>
            <a:off x="5314950" y="4000500"/>
            <a:ext cx="57150" cy="5715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1" name="dot-C-9"/>
          <p:cNvSpPr/>
          <p:nvPr/>
        </p:nvSpPr>
        <p:spPr>
          <a:xfrm>
            <a:off x="5953125" y="3952875"/>
            <a:ext cx="57150" cy="5715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2" name="dot-C-10"/>
          <p:cNvSpPr/>
          <p:nvPr/>
        </p:nvSpPr>
        <p:spPr>
          <a:xfrm>
            <a:off x="6591300" y="3924300"/>
            <a:ext cx="57150" cy="5715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3" name="dot-C-11"/>
          <p:cNvSpPr/>
          <p:nvPr/>
        </p:nvSpPr>
        <p:spPr>
          <a:xfrm>
            <a:off x="7229475" y="3867150"/>
            <a:ext cx="57150" cy="5715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4" name="dot-C-12"/>
          <p:cNvSpPr/>
          <p:nvPr/>
        </p:nvSpPr>
        <p:spPr>
          <a:xfrm>
            <a:off x="7867650" y="3810000"/>
            <a:ext cx="57150" cy="5715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5" name="dot-B-1"/>
          <p:cNvSpPr/>
          <p:nvPr/>
        </p:nvSpPr>
        <p:spPr>
          <a:xfrm>
            <a:off x="847725" y="3867150"/>
            <a:ext cx="57150" cy="571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6" name="dot-B-2"/>
          <p:cNvSpPr/>
          <p:nvPr/>
        </p:nvSpPr>
        <p:spPr>
          <a:xfrm>
            <a:off x="1485900" y="3924300"/>
            <a:ext cx="57150" cy="571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7" name="dot-B-3"/>
          <p:cNvSpPr/>
          <p:nvPr/>
        </p:nvSpPr>
        <p:spPr>
          <a:xfrm>
            <a:off x="2124075" y="4000500"/>
            <a:ext cx="57150" cy="571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8" name="dot-B-4"/>
          <p:cNvSpPr/>
          <p:nvPr/>
        </p:nvSpPr>
        <p:spPr>
          <a:xfrm>
            <a:off x="2762250" y="4057650"/>
            <a:ext cx="57150" cy="571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9" name="dot-B-5"/>
          <p:cNvSpPr/>
          <p:nvPr/>
        </p:nvSpPr>
        <p:spPr>
          <a:xfrm>
            <a:off x="3400425" y="4143375"/>
            <a:ext cx="57150" cy="571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0" name="dot-B-6"/>
          <p:cNvSpPr/>
          <p:nvPr/>
        </p:nvSpPr>
        <p:spPr>
          <a:xfrm>
            <a:off x="4038600" y="4219575"/>
            <a:ext cx="57150" cy="571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1" name="dot-B-7"/>
          <p:cNvSpPr/>
          <p:nvPr/>
        </p:nvSpPr>
        <p:spPr>
          <a:xfrm>
            <a:off x="4676775" y="4276725"/>
            <a:ext cx="57150" cy="571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2" name="dot-B-8"/>
          <p:cNvSpPr/>
          <p:nvPr/>
        </p:nvSpPr>
        <p:spPr>
          <a:xfrm>
            <a:off x="5314950" y="4333875"/>
            <a:ext cx="57150" cy="571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3" name="dot-B-9"/>
          <p:cNvSpPr/>
          <p:nvPr/>
        </p:nvSpPr>
        <p:spPr>
          <a:xfrm>
            <a:off x="5953125" y="4362450"/>
            <a:ext cx="57150" cy="571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4" name="dot-B-10"/>
          <p:cNvSpPr/>
          <p:nvPr/>
        </p:nvSpPr>
        <p:spPr>
          <a:xfrm>
            <a:off x="6591300" y="4381500"/>
            <a:ext cx="57150" cy="571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5" name="dot-B-11"/>
          <p:cNvSpPr/>
          <p:nvPr/>
        </p:nvSpPr>
        <p:spPr>
          <a:xfrm>
            <a:off x="7229475" y="4410075"/>
            <a:ext cx="57150" cy="571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6" name="dot-B-12"/>
          <p:cNvSpPr/>
          <p:nvPr/>
        </p:nvSpPr>
        <p:spPr>
          <a:xfrm>
            <a:off x="7867650" y="4438650"/>
            <a:ext cx="57150" cy="571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7" name="dot-A-1"/>
          <p:cNvSpPr/>
          <p:nvPr/>
        </p:nvSpPr>
        <p:spPr>
          <a:xfrm>
            <a:off x="847725" y="4495800"/>
            <a:ext cx="57150" cy="571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8" name="dot-A-2"/>
          <p:cNvSpPr/>
          <p:nvPr/>
        </p:nvSpPr>
        <p:spPr>
          <a:xfrm>
            <a:off x="1485900" y="4333875"/>
            <a:ext cx="57150" cy="571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9" name="dot-A-3"/>
          <p:cNvSpPr/>
          <p:nvPr/>
        </p:nvSpPr>
        <p:spPr>
          <a:xfrm>
            <a:off x="2124075" y="4248150"/>
            <a:ext cx="57150" cy="571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0" name="dot-A-4"/>
          <p:cNvSpPr/>
          <p:nvPr/>
        </p:nvSpPr>
        <p:spPr>
          <a:xfrm>
            <a:off x="2762250" y="4143375"/>
            <a:ext cx="57150" cy="571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1" name="dot-A-5"/>
          <p:cNvSpPr/>
          <p:nvPr/>
        </p:nvSpPr>
        <p:spPr>
          <a:xfrm>
            <a:off x="3400425" y="4057650"/>
            <a:ext cx="57150" cy="571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2" name="dot-A-6"/>
          <p:cNvSpPr/>
          <p:nvPr/>
        </p:nvSpPr>
        <p:spPr>
          <a:xfrm>
            <a:off x="4038600" y="3952875"/>
            <a:ext cx="57150" cy="571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3" name="dot-A-7"/>
          <p:cNvSpPr/>
          <p:nvPr/>
        </p:nvSpPr>
        <p:spPr>
          <a:xfrm>
            <a:off x="4676775" y="3810000"/>
            <a:ext cx="57150" cy="571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4" name="dot-A-8"/>
          <p:cNvSpPr/>
          <p:nvPr/>
        </p:nvSpPr>
        <p:spPr>
          <a:xfrm>
            <a:off x="5314950" y="3705225"/>
            <a:ext cx="57150" cy="571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5" name="dot-A-9"/>
          <p:cNvSpPr/>
          <p:nvPr/>
        </p:nvSpPr>
        <p:spPr>
          <a:xfrm>
            <a:off x="5953125" y="3619500"/>
            <a:ext cx="57150" cy="571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6" name="dot-A-10"/>
          <p:cNvSpPr/>
          <p:nvPr/>
        </p:nvSpPr>
        <p:spPr>
          <a:xfrm>
            <a:off x="6591300" y="3514725"/>
            <a:ext cx="57150" cy="571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7" name="dot-A-11"/>
          <p:cNvSpPr/>
          <p:nvPr/>
        </p:nvSpPr>
        <p:spPr>
          <a:xfrm>
            <a:off x="7229475" y="3429000"/>
            <a:ext cx="57150" cy="571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8" name="dot-A-12"/>
          <p:cNvSpPr/>
          <p:nvPr/>
        </p:nvSpPr>
        <p:spPr>
          <a:xfrm>
            <a:off x="7867650" y="3324225"/>
            <a:ext cx="57150" cy="571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9" name="insight-panel"/>
          <p:cNvSpPr/>
          <p:nvPr/>
        </p:nvSpPr>
        <p:spPr>
          <a:xfrm>
            <a:off x="8296275" y="2552700"/>
            <a:ext cx="3438525" cy="3495675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0" name="panel-header"/>
          <p:cNvSpPr txBox="1"/>
          <p:nvPr/>
        </p:nvSpPr>
        <p:spPr>
          <a:xfrm>
            <a:off x="8467725" y="2705100"/>
            <a:ext cx="30956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TREND INSIGHTS</a:t>
            </a:r>
          </a:p>
        </p:txBody>
      </p:sp>
      <p:sp>
        <p:nvSpPr>
          <p:cNvPr id="121" name="panel-headline"/>
          <p:cNvSpPr txBox="1"/>
          <p:nvPr/>
        </p:nvSpPr>
        <p:spPr>
          <a:xfrm>
            <a:off x="8467725" y="2895600"/>
            <a:ext cx="3095625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Product A is the clear beneficiary of every market disruption over the period.</a:t>
            </a:r>
          </a:p>
        </p:txBody>
      </p:sp>
      <p:sp>
        <p:nvSpPr>
          <p:cNvPr id="122" name="bullet-1-marker"/>
          <p:cNvSpPr txBox="1"/>
          <p:nvPr/>
        </p:nvSpPr>
        <p:spPr>
          <a:xfrm>
            <a:off x="8467725" y="3733800"/>
            <a:ext cx="114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■</a:t>
            </a:r>
          </a:p>
        </p:txBody>
      </p:sp>
      <p:sp>
        <p:nvSpPr>
          <p:cNvPr id="123" name="bullet-1"/>
          <p:cNvSpPr txBox="1"/>
          <p:nvPr/>
        </p:nvSpPr>
        <p:spPr>
          <a:xfrm>
            <a:off x="8620125" y="3714750"/>
            <a:ext cx="2943225" cy="561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The Q3 2024 relaunch inflected A's curve sharply upward — adding 16 index points in the following four quarters alone.</a:t>
            </a:r>
          </a:p>
        </p:txBody>
      </p:sp>
      <p:sp>
        <p:nvSpPr>
          <p:cNvPr id="124" name="bullet-2-marker"/>
          <p:cNvSpPr txBox="1"/>
          <p:nvPr/>
        </p:nvSpPr>
        <p:spPr>
          <a:xfrm>
            <a:off x="8467725" y="4352925"/>
            <a:ext cx="114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■</a:t>
            </a:r>
          </a:p>
        </p:txBody>
      </p:sp>
      <p:sp>
        <p:nvSpPr>
          <p:cNvPr id="125" name="bullet-2"/>
          <p:cNvSpPr txBox="1"/>
          <p:nvPr/>
        </p:nvSpPr>
        <p:spPr>
          <a:xfrm>
            <a:off x="8620125" y="4333875"/>
            <a:ext cx="2943225" cy="561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Product B's Q3 2025 price cut slowed share erosion but has not reversed it — the gap to A now stands at 41 points.</a:t>
            </a:r>
          </a:p>
        </p:txBody>
      </p:sp>
      <p:sp>
        <p:nvSpPr>
          <p:cNvPr id="126" name="bullet-3-marker"/>
          <p:cNvSpPr txBox="1"/>
          <p:nvPr/>
        </p:nvSpPr>
        <p:spPr>
          <a:xfrm>
            <a:off x="8467725" y="4972050"/>
            <a:ext cx="114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■</a:t>
            </a:r>
          </a:p>
        </p:txBody>
      </p:sp>
      <p:sp>
        <p:nvSpPr>
          <p:cNvPr id="127" name="bullet-3"/>
          <p:cNvSpPr txBox="1"/>
          <p:nvPr/>
        </p:nvSpPr>
        <p:spPr>
          <a:xfrm>
            <a:off x="8620125" y="4953000"/>
            <a:ext cx="2943225" cy="561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Product C tracks a stable mid-market position; absent a catalyst it will remain a credible floor but not a growth driver.</a:t>
            </a:r>
          </a:p>
        </p:txBody>
      </p:sp>
      <p:sp>
        <p:nvSpPr>
          <p:cNvPr id="128" name="panel-source"/>
          <p:cNvSpPr txBox="1"/>
          <p:nvPr/>
        </p:nvSpPr>
        <p:spPr>
          <a:xfrm>
            <a:off x="8467725" y="5705475"/>
            <a:ext cx="3095625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80FF"/>
                </a:solidFill>
                <a:latin typeface="Inter"/>
              </a:rPr>
              <a:t>Source: Internal VoC, n=1,200/quarter. Index rebased to Q1 2024.</a:t>
            </a:r>
          </a:p>
        </p:txBody>
      </p:sp>
      <p:sp>
        <p:nvSpPr>
          <p:cNvPr id="129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130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131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262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