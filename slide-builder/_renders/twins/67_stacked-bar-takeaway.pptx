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Where deck time goes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composition shift from rework to storyline.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100% stacked view, pilot baseline through week 4 — mix tilts toward the work that matters.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sw-1"/>
          <p:cNvSpPr/>
          <p:nvPr/>
        </p:nvSpPr>
        <p:spPr>
          <a:xfrm>
            <a:off x="8153400" y="2238375"/>
            <a:ext cx="11430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lbl-1"/>
          <p:cNvSpPr txBox="1"/>
          <p:nvPr/>
        </p:nvSpPr>
        <p:spPr>
          <a:xfrm>
            <a:off x="8305800" y="22098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Storyline</a:t>
            </a:r>
          </a:p>
        </p:txBody>
      </p:sp>
      <p:sp>
        <p:nvSpPr>
          <p:cNvPr id="7" name="legend-sw-2"/>
          <p:cNvSpPr/>
          <p:nvPr/>
        </p:nvSpPr>
        <p:spPr>
          <a:xfrm>
            <a:off x="9010650" y="2238375"/>
            <a:ext cx="114300" cy="1143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lbl-2"/>
          <p:cNvSpPr txBox="1"/>
          <p:nvPr/>
        </p:nvSpPr>
        <p:spPr>
          <a:xfrm>
            <a:off x="9163050" y="22098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Building</a:t>
            </a:r>
          </a:p>
        </p:txBody>
      </p:sp>
      <p:sp>
        <p:nvSpPr>
          <p:cNvPr id="9" name="legend-sw-3"/>
          <p:cNvSpPr/>
          <p:nvPr/>
        </p:nvSpPr>
        <p:spPr>
          <a:xfrm>
            <a:off x="9867900" y="2238375"/>
            <a:ext cx="114300" cy="114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lbl-3"/>
          <p:cNvSpPr txBox="1"/>
          <p:nvPr/>
        </p:nvSpPr>
        <p:spPr>
          <a:xfrm>
            <a:off x="10020300" y="22098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Reviewing</a:t>
            </a:r>
          </a:p>
        </p:txBody>
      </p:sp>
      <p:sp>
        <p:nvSpPr>
          <p:cNvPr id="11" name="legend-sw-4"/>
          <p:cNvSpPr/>
          <p:nvPr/>
        </p:nvSpPr>
        <p:spPr>
          <a:xfrm>
            <a:off x="10725150" y="2238375"/>
            <a:ext cx="114300" cy="11430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lbl-4"/>
          <p:cNvSpPr txBox="1"/>
          <p:nvPr/>
        </p:nvSpPr>
        <p:spPr>
          <a:xfrm>
            <a:off x="10877550" y="22098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Reworking</a:t>
            </a:r>
          </a:p>
        </p:txBody>
      </p:sp>
      <p:sp>
        <p:nvSpPr>
          <p:cNvPr id="13" name="chart-axis-label"/>
          <p:cNvSpPr txBox="1"/>
          <p:nvPr/>
        </p:nvSpPr>
        <p:spPr>
          <a:xfrm>
            <a:off x="609600" y="25527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SHARE OF DECK-HOURS · % OF TOTAL</a:t>
            </a:r>
          </a:p>
        </p:txBody>
      </p:sp>
      <p:sp>
        <p:nvSpPr>
          <p:cNvPr id="14" name="y-label-1"/>
          <p:cNvSpPr txBox="1"/>
          <p:nvPr/>
        </p:nvSpPr>
        <p:spPr>
          <a:xfrm>
            <a:off x="609600" y="276225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100%</a:t>
            </a:r>
          </a:p>
        </p:txBody>
      </p:sp>
      <p:sp>
        <p:nvSpPr>
          <p:cNvPr id="15" name="y-grid-1"/>
          <p:cNvSpPr/>
          <p:nvPr/>
        </p:nvSpPr>
        <p:spPr>
          <a:xfrm>
            <a:off x="952500" y="2838450"/>
            <a:ext cx="71723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y-label-2"/>
          <p:cNvSpPr txBox="1"/>
          <p:nvPr/>
        </p:nvSpPr>
        <p:spPr>
          <a:xfrm>
            <a:off x="609600" y="329565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75%</a:t>
            </a:r>
          </a:p>
        </p:txBody>
      </p:sp>
      <p:sp>
        <p:nvSpPr>
          <p:cNvPr id="17" name="y-grid-2"/>
          <p:cNvSpPr/>
          <p:nvPr/>
        </p:nvSpPr>
        <p:spPr>
          <a:xfrm>
            <a:off x="952500" y="3371850"/>
            <a:ext cx="71723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y-label-3"/>
          <p:cNvSpPr txBox="1"/>
          <p:nvPr/>
        </p:nvSpPr>
        <p:spPr>
          <a:xfrm>
            <a:off x="609600" y="38385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50%</a:t>
            </a:r>
          </a:p>
        </p:txBody>
      </p:sp>
      <p:sp>
        <p:nvSpPr>
          <p:cNvPr id="19" name="y-grid-3"/>
          <p:cNvSpPr/>
          <p:nvPr/>
        </p:nvSpPr>
        <p:spPr>
          <a:xfrm>
            <a:off x="952500" y="3914775"/>
            <a:ext cx="71723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y-label-4"/>
          <p:cNvSpPr txBox="1"/>
          <p:nvPr/>
        </p:nvSpPr>
        <p:spPr>
          <a:xfrm>
            <a:off x="609600" y="437197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25%</a:t>
            </a:r>
          </a:p>
        </p:txBody>
      </p:sp>
      <p:sp>
        <p:nvSpPr>
          <p:cNvPr id="21" name="y-grid-4"/>
          <p:cNvSpPr/>
          <p:nvPr/>
        </p:nvSpPr>
        <p:spPr>
          <a:xfrm>
            <a:off x="952500" y="4448175"/>
            <a:ext cx="71723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y-label-5"/>
          <p:cNvSpPr txBox="1"/>
          <p:nvPr/>
        </p:nvSpPr>
        <p:spPr>
          <a:xfrm>
            <a:off x="609600" y="49149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0%</a:t>
            </a:r>
          </a:p>
        </p:txBody>
      </p:sp>
      <p:sp>
        <p:nvSpPr>
          <p:cNvPr id="23" name="y-grid-5"/>
          <p:cNvSpPr/>
          <p:nvPr/>
        </p:nvSpPr>
        <p:spPr>
          <a:xfrm>
            <a:off x="952500" y="4991100"/>
            <a:ext cx="71723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ar-1-rework"/>
          <p:cNvSpPr/>
          <p:nvPr/>
        </p:nvSpPr>
        <p:spPr>
          <a:xfrm>
            <a:off x="1638300" y="3486150"/>
            <a:ext cx="609600" cy="15049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ar-1-review"/>
          <p:cNvSpPr/>
          <p:nvPr/>
        </p:nvSpPr>
        <p:spPr>
          <a:xfrm>
            <a:off x="1638300" y="3314700"/>
            <a:ext cx="609600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1-build"/>
          <p:cNvSpPr/>
          <p:nvPr/>
        </p:nvSpPr>
        <p:spPr>
          <a:xfrm>
            <a:off x="1638300" y="3057525"/>
            <a:ext cx="609600" cy="2571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ar-1-story"/>
          <p:cNvSpPr/>
          <p:nvPr/>
        </p:nvSpPr>
        <p:spPr>
          <a:xfrm>
            <a:off x="1638300" y="2847975"/>
            <a:ext cx="6096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ar-1-rework-lbl"/>
          <p:cNvSpPr txBox="1"/>
          <p:nvPr/>
        </p:nvSpPr>
        <p:spPr>
          <a:xfrm>
            <a:off x="1638300" y="3486150"/>
            <a:ext cx="609600" cy="1504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70%</a:t>
            </a:r>
          </a:p>
        </p:txBody>
      </p:sp>
      <p:sp>
        <p:nvSpPr>
          <p:cNvPr id="29" name="bar-1-cat"/>
          <p:cNvSpPr txBox="1"/>
          <p:nvPr/>
        </p:nvSpPr>
        <p:spPr>
          <a:xfrm>
            <a:off x="1543050" y="514350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Baseline</a:t>
            </a:r>
          </a:p>
        </p:txBody>
      </p:sp>
      <p:sp>
        <p:nvSpPr>
          <p:cNvPr id="30" name="bar-1-sub"/>
          <p:cNvSpPr txBox="1"/>
          <p:nvPr/>
        </p:nvSpPr>
        <p:spPr>
          <a:xfrm>
            <a:off x="1543050" y="5295900"/>
            <a:ext cx="800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pre-pilot</a:t>
            </a:r>
          </a:p>
        </p:txBody>
      </p:sp>
      <p:sp>
        <p:nvSpPr>
          <p:cNvPr id="31" name="bar-2-rework"/>
          <p:cNvSpPr/>
          <p:nvPr/>
        </p:nvSpPr>
        <p:spPr>
          <a:xfrm>
            <a:off x="2933700" y="3876675"/>
            <a:ext cx="609600" cy="1114425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ar-2-review"/>
          <p:cNvSpPr/>
          <p:nvPr/>
        </p:nvSpPr>
        <p:spPr>
          <a:xfrm>
            <a:off x="2933700" y="3619500"/>
            <a:ext cx="609600" cy="257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ar-2-build"/>
          <p:cNvSpPr/>
          <p:nvPr/>
        </p:nvSpPr>
        <p:spPr>
          <a:xfrm>
            <a:off x="2933700" y="3238500"/>
            <a:ext cx="609600" cy="3810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ar-2-story"/>
          <p:cNvSpPr/>
          <p:nvPr/>
        </p:nvSpPr>
        <p:spPr>
          <a:xfrm>
            <a:off x="2933700" y="2857500"/>
            <a:ext cx="60960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ar-2-rework-lbl"/>
          <p:cNvSpPr txBox="1"/>
          <p:nvPr/>
        </p:nvSpPr>
        <p:spPr>
          <a:xfrm>
            <a:off x="2933700" y="3876675"/>
            <a:ext cx="609600" cy="1114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52%</a:t>
            </a:r>
          </a:p>
        </p:txBody>
      </p:sp>
      <p:sp>
        <p:nvSpPr>
          <p:cNvPr id="36" name="bar-2-build-lbl"/>
          <p:cNvSpPr txBox="1"/>
          <p:nvPr/>
        </p:nvSpPr>
        <p:spPr>
          <a:xfrm>
            <a:off x="2933700" y="32385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37" name="bar-2-story-lbl"/>
          <p:cNvSpPr txBox="1"/>
          <p:nvPr/>
        </p:nvSpPr>
        <p:spPr>
          <a:xfrm>
            <a:off x="2933700" y="28575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38" name="bar-2-cat"/>
          <p:cNvSpPr txBox="1"/>
          <p:nvPr/>
        </p:nvSpPr>
        <p:spPr>
          <a:xfrm>
            <a:off x="2838450" y="514350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Week 1</a:t>
            </a:r>
          </a:p>
        </p:txBody>
      </p:sp>
      <p:sp>
        <p:nvSpPr>
          <p:cNvPr id="39" name="bar-3-rework"/>
          <p:cNvSpPr/>
          <p:nvPr/>
        </p:nvSpPr>
        <p:spPr>
          <a:xfrm>
            <a:off x="4229100" y="4219575"/>
            <a:ext cx="609600" cy="771525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ar-3-review"/>
          <p:cNvSpPr/>
          <p:nvPr/>
        </p:nvSpPr>
        <p:spPr>
          <a:xfrm>
            <a:off x="4229100" y="3924300"/>
            <a:ext cx="609600" cy="295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ar-3-build"/>
          <p:cNvSpPr/>
          <p:nvPr/>
        </p:nvSpPr>
        <p:spPr>
          <a:xfrm>
            <a:off x="4229100" y="3457575"/>
            <a:ext cx="609600" cy="4667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ar-3-story"/>
          <p:cNvSpPr/>
          <p:nvPr/>
        </p:nvSpPr>
        <p:spPr>
          <a:xfrm>
            <a:off x="4229100" y="2857500"/>
            <a:ext cx="609600" cy="6000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bar-3-rework-lbl"/>
          <p:cNvSpPr txBox="1"/>
          <p:nvPr/>
        </p:nvSpPr>
        <p:spPr>
          <a:xfrm>
            <a:off x="4229100" y="4219575"/>
            <a:ext cx="609600" cy="771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36%</a:t>
            </a:r>
          </a:p>
        </p:txBody>
      </p:sp>
      <p:sp>
        <p:nvSpPr>
          <p:cNvPr id="44" name="bar-3-build-lbl"/>
          <p:cNvSpPr txBox="1"/>
          <p:nvPr/>
        </p:nvSpPr>
        <p:spPr>
          <a:xfrm>
            <a:off x="4229100" y="3457575"/>
            <a:ext cx="609600" cy="4667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22%</a:t>
            </a:r>
          </a:p>
        </p:txBody>
      </p:sp>
      <p:sp>
        <p:nvSpPr>
          <p:cNvPr id="45" name="bar-3-story-lbl"/>
          <p:cNvSpPr txBox="1"/>
          <p:nvPr/>
        </p:nvSpPr>
        <p:spPr>
          <a:xfrm>
            <a:off x="4229100" y="2857500"/>
            <a:ext cx="609600" cy="6000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28%</a:t>
            </a:r>
          </a:p>
        </p:txBody>
      </p:sp>
      <p:sp>
        <p:nvSpPr>
          <p:cNvPr id="46" name="bar-3-cat"/>
          <p:cNvSpPr txBox="1"/>
          <p:nvPr/>
        </p:nvSpPr>
        <p:spPr>
          <a:xfrm>
            <a:off x="4133850" y="514350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Week 2</a:t>
            </a:r>
          </a:p>
        </p:txBody>
      </p:sp>
      <p:sp>
        <p:nvSpPr>
          <p:cNvPr id="47" name="bar-4-rework"/>
          <p:cNvSpPr/>
          <p:nvPr/>
        </p:nvSpPr>
        <p:spPr>
          <a:xfrm>
            <a:off x="5524500" y="4562475"/>
            <a:ext cx="609600" cy="428625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ar-4-review"/>
          <p:cNvSpPr/>
          <p:nvPr/>
        </p:nvSpPr>
        <p:spPr>
          <a:xfrm>
            <a:off x="5524500" y="4219575"/>
            <a:ext cx="609600" cy="342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bar-4-build"/>
          <p:cNvSpPr/>
          <p:nvPr/>
        </p:nvSpPr>
        <p:spPr>
          <a:xfrm>
            <a:off x="5524500" y="3705225"/>
            <a:ext cx="609600" cy="5143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bar-4-story"/>
          <p:cNvSpPr/>
          <p:nvPr/>
        </p:nvSpPr>
        <p:spPr>
          <a:xfrm>
            <a:off x="5524500" y="2847975"/>
            <a:ext cx="609600" cy="857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ar-4-rework-lbl"/>
          <p:cNvSpPr txBox="1"/>
          <p:nvPr/>
        </p:nvSpPr>
        <p:spPr>
          <a:xfrm>
            <a:off x="5524500" y="4562475"/>
            <a:ext cx="609600" cy="428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20%</a:t>
            </a:r>
          </a:p>
        </p:txBody>
      </p:sp>
      <p:sp>
        <p:nvSpPr>
          <p:cNvPr id="52" name="bar-4-review-lbl"/>
          <p:cNvSpPr txBox="1"/>
          <p:nvPr/>
        </p:nvSpPr>
        <p:spPr>
          <a:xfrm>
            <a:off x="5524500" y="4219575"/>
            <a:ext cx="609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16%</a:t>
            </a:r>
          </a:p>
        </p:txBody>
      </p:sp>
      <p:sp>
        <p:nvSpPr>
          <p:cNvPr id="53" name="bar-4-build-lbl"/>
          <p:cNvSpPr txBox="1"/>
          <p:nvPr/>
        </p:nvSpPr>
        <p:spPr>
          <a:xfrm>
            <a:off x="5524500" y="3705225"/>
            <a:ext cx="6096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24%</a:t>
            </a:r>
          </a:p>
        </p:txBody>
      </p:sp>
      <p:sp>
        <p:nvSpPr>
          <p:cNvPr id="54" name="bar-4-story-lbl"/>
          <p:cNvSpPr txBox="1"/>
          <p:nvPr/>
        </p:nvSpPr>
        <p:spPr>
          <a:xfrm>
            <a:off x="5524500" y="2847975"/>
            <a:ext cx="60960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40%</a:t>
            </a:r>
          </a:p>
        </p:txBody>
      </p:sp>
      <p:sp>
        <p:nvSpPr>
          <p:cNvPr id="55" name="bar-4-cat"/>
          <p:cNvSpPr txBox="1"/>
          <p:nvPr/>
        </p:nvSpPr>
        <p:spPr>
          <a:xfrm>
            <a:off x="5429250" y="514350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Week 3</a:t>
            </a:r>
          </a:p>
        </p:txBody>
      </p:sp>
      <p:sp>
        <p:nvSpPr>
          <p:cNvPr id="56" name="bar-5-rework"/>
          <p:cNvSpPr/>
          <p:nvPr/>
        </p:nvSpPr>
        <p:spPr>
          <a:xfrm>
            <a:off x="6819900" y="4781550"/>
            <a:ext cx="609600" cy="2095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bar-5-review"/>
          <p:cNvSpPr/>
          <p:nvPr/>
        </p:nvSpPr>
        <p:spPr>
          <a:xfrm>
            <a:off x="6819900" y="4486275"/>
            <a:ext cx="609600" cy="295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bar-5-build"/>
          <p:cNvSpPr/>
          <p:nvPr/>
        </p:nvSpPr>
        <p:spPr>
          <a:xfrm>
            <a:off x="6819900" y="3933825"/>
            <a:ext cx="609600" cy="552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bar-5-story"/>
          <p:cNvSpPr/>
          <p:nvPr/>
        </p:nvSpPr>
        <p:spPr>
          <a:xfrm>
            <a:off x="6819900" y="2857500"/>
            <a:ext cx="609600" cy="10763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bar-5-ring"/>
          <p:cNvSpPr/>
          <p:nvPr/>
        </p:nvSpPr>
        <p:spPr>
          <a:xfrm>
            <a:off x="6791325" y="2828925"/>
            <a:ext cx="666750" cy="2190750"/>
          </a:xfrm>
          <a:prstGeom prst="rect">
            <a:avLst/>
          </a:prstGeom>
          <a:noFill/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ar-5-build-lbl"/>
          <p:cNvSpPr txBox="1"/>
          <p:nvPr/>
        </p:nvSpPr>
        <p:spPr>
          <a:xfrm>
            <a:off x="6819900" y="3933825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26%</a:t>
            </a:r>
          </a:p>
        </p:txBody>
      </p:sp>
      <p:sp>
        <p:nvSpPr>
          <p:cNvPr id="62" name="bar-5-story-lbl"/>
          <p:cNvSpPr txBox="1"/>
          <p:nvPr/>
        </p:nvSpPr>
        <p:spPr>
          <a:xfrm>
            <a:off x="6819900" y="2857500"/>
            <a:ext cx="609600" cy="1076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50%</a:t>
            </a:r>
          </a:p>
        </p:txBody>
      </p:sp>
      <p:sp>
        <p:nvSpPr>
          <p:cNvPr id="63" name="bar-5-cat"/>
          <p:cNvSpPr txBox="1"/>
          <p:nvPr/>
        </p:nvSpPr>
        <p:spPr>
          <a:xfrm>
            <a:off x="6724650" y="5143500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Week 4</a:t>
            </a:r>
          </a:p>
        </p:txBody>
      </p:sp>
      <p:sp>
        <p:nvSpPr>
          <p:cNvPr id="64" name="bar-5-sub"/>
          <p:cNvSpPr txBox="1"/>
          <p:nvPr/>
        </p:nvSpPr>
        <p:spPr>
          <a:xfrm>
            <a:off x="6724650" y="5295900"/>
            <a:ext cx="8001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current</a:t>
            </a:r>
          </a:p>
        </p:txBody>
      </p:sp>
      <p:sp>
        <p:nvSpPr>
          <p:cNvPr id="65" name="annotation-bg"/>
          <p:cNvSpPr/>
          <p:nvPr/>
        </p:nvSpPr>
        <p:spPr>
          <a:xfrm>
            <a:off x="8353425" y="2552700"/>
            <a:ext cx="3228975" cy="29718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annotation-accent"/>
          <p:cNvSpPr/>
          <p:nvPr/>
        </p:nvSpPr>
        <p:spPr>
          <a:xfrm>
            <a:off x="8353425" y="2552700"/>
            <a:ext cx="28575" cy="2971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annot-tag"/>
          <p:cNvSpPr txBox="1"/>
          <p:nvPr/>
        </p:nvSpPr>
        <p:spPr>
          <a:xfrm>
            <a:off x="8562975" y="2743200"/>
            <a:ext cx="2809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KEY TAKEAWAY</a:t>
            </a:r>
          </a:p>
        </p:txBody>
      </p:sp>
      <p:sp>
        <p:nvSpPr>
          <p:cNvPr id="68" name="annot-headline"/>
          <p:cNvSpPr txBox="1"/>
          <p:nvPr/>
        </p:nvSpPr>
        <p:spPr>
          <a:xfrm>
            <a:off x="8562975" y="29337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Time shifts from rework to storyline — </a:t>
            </a:r>
            <a:r>
              <a:rPr sz="1050" b="1" i="0">
                <a:solidFill>
                  <a:srgbClr val="A100FF"/>
                </a:solidFill>
                <a:latin typeface="Inter"/>
              </a:rPr>
              <a:t>that's the unlock.</a:t>
            </a:r>
          </a:p>
        </p:txBody>
      </p:sp>
      <p:sp>
        <p:nvSpPr>
          <p:cNvPr id="69" name="annot-bullet-1-marker"/>
          <p:cNvSpPr txBox="1"/>
          <p:nvPr/>
        </p:nvSpPr>
        <p:spPr>
          <a:xfrm>
            <a:off x="8562975" y="35052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70" name="annot-bullet-1"/>
          <p:cNvSpPr txBox="1"/>
          <p:nvPr/>
        </p:nvSpPr>
        <p:spPr>
          <a:xfrm>
            <a:off x="8734425" y="3505200"/>
            <a:ext cx="26574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Rework collapses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from 70% of deck-hours to 10% in four weeks.</a:t>
            </a:r>
          </a:p>
        </p:txBody>
      </p:sp>
      <p:sp>
        <p:nvSpPr>
          <p:cNvPr id="71" name="annot-bullet-2-marker"/>
          <p:cNvSpPr txBox="1"/>
          <p:nvPr/>
        </p:nvSpPr>
        <p:spPr>
          <a:xfrm>
            <a:off x="8562975" y="39814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72" name="annot-bullet-2"/>
          <p:cNvSpPr txBox="1"/>
          <p:nvPr/>
        </p:nvSpPr>
        <p:spPr>
          <a:xfrm>
            <a:off x="8734425" y="3981450"/>
            <a:ext cx="26574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Storyline rises 5×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— from 10% to 50% — as the dominant activity.</a:t>
            </a:r>
          </a:p>
        </p:txBody>
      </p:sp>
      <p:sp>
        <p:nvSpPr>
          <p:cNvPr id="73" name="annot-bullet-3-marker"/>
          <p:cNvSpPr txBox="1"/>
          <p:nvPr/>
        </p:nvSpPr>
        <p:spPr>
          <a:xfrm>
            <a:off x="8562975" y="44577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74" name="annot-bullet-3"/>
          <p:cNvSpPr txBox="1"/>
          <p:nvPr/>
        </p:nvSpPr>
        <p:spPr>
          <a:xfrm>
            <a:off x="8734425" y="4457700"/>
            <a:ext cx="26574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Building and reviewing stay </a:t>
            </a:r>
            <a:r>
              <a:rPr sz="1050" b="1" i="0">
                <a:solidFill>
                  <a:srgbClr val="2D0A4E"/>
                </a:solidFill>
                <a:latin typeface="Inter"/>
              </a:rPr>
              <a:t>roughly flat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— the mix change is real, not a volume artifact.</a:t>
            </a:r>
          </a:p>
        </p:txBody>
      </p:sp>
      <p:sp>
        <p:nvSpPr>
          <p:cNvPr id="75" name="annot-source-rule"/>
          <p:cNvSpPr/>
          <p:nvPr/>
        </p:nvSpPr>
        <p:spPr>
          <a:xfrm>
            <a:off x="8562975" y="5257800"/>
            <a:ext cx="28098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annot-source"/>
          <p:cNvSpPr txBox="1"/>
          <p:nvPr/>
        </p:nvSpPr>
        <p:spPr>
          <a:xfrm>
            <a:off x="8562975" y="5314950"/>
            <a:ext cx="28098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Source: pilot timesheets, n=12 consultants, 5 weeks.</a:t>
            </a:r>
          </a:p>
        </p:txBody>
      </p:sp>
      <p:sp>
        <p:nvSpPr>
          <p:cNvPr id="77" name="convergence"/>
          <p:cNvSpPr txBox="1"/>
          <p:nvPr/>
        </p:nvSpPr>
        <p:spPr>
          <a:xfrm>
            <a:off x="609600" y="57150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2D0A4E"/>
                </a:solidFill>
                <a:latin typeface="Inter"/>
              </a:rPr>
              <a:t>When storyline lands first, </a:t>
            </a:r>
            <a:r>
              <a:rPr sz="1050" b="1" i="1">
                <a:solidFill>
                  <a:srgbClr val="A100FF"/>
                </a:solidFill>
                <a:latin typeface="Inter"/>
              </a:rPr>
              <a:t>rework stops being the job</a:t>
            </a:r>
            <a:r>
              <a:rPr sz="1050" b="0" i="1">
                <a:solidFill>
                  <a:srgbClr val="2D0A4E"/>
                </a:solidFill>
                <a:latin typeface="Inter"/>
              </a:rPr>
              <a:t> — the mix tells the story before the metrics do.</a:t>
            </a:r>
          </a:p>
        </p:txBody>
      </p:sp>
      <p:sp>
        <p:nvSpPr>
          <p:cNvPr id="7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