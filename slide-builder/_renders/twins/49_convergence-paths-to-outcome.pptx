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Two parallel paths feed one outcome — together they produce influence plus credibility.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763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lane runs independently from source to result. Both lines converge at the right-edge outcome — either alone gets you halfway.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0490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533400" y="1809750"/>
            <a:ext cx="11125200" cy="34290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ane-1-tag"/>
          <p:cNvSpPr txBox="1"/>
          <p:nvPr/>
        </p:nvSpPr>
        <p:spPr>
          <a:xfrm>
            <a:off x="533400" y="22860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PRONG 1</a:t>
            </a:r>
          </a:p>
        </p:txBody>
      </p:sp>
      <p:sp>
        <p:nvSpPr>
          <p:cNvPr id="7" name="lane-1-tag-sub"/>
          <p:cNvSpPr txBox="1"/>
          <p:nvPr/>
        </p:nvSpPr>
        <p:spPr>
          <a:xfrm>
            <a:off x="533400" y="24384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Mindset shift</a:t>
            </a:r>
          </a:p>
        </p:txBody>
      </p:sp>
      <p:sp>
        <p:nvSpPr>
          <p:cNvPr id="8" name="lane-1-node-1"/>
          <p:cNvSpPr/>
          <p:nvPr/>
        </p:nvSpPr>
        <p:spPr>
          <a:xfrm>
            <a:off x="1695450" y="2066925"/>
            <a:ext cx="2390775" cy="914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ane-1-node-1-name"/>
          <p:cNvSpPr txBox="1"/>
          <p:nvPr/>
        </p:nvSpPr>
        <p:spPr>
          <a:xfrm>
            <a:off x="1809750" y="223837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Mindset shift</a:t>
            </a:r>
          </a:p>
        </p:txBody>
      </p:sp>
      <p:sp>
        <p:nvSpPr>
          <p:cNvPr id="10" name="lane-1-node-1-desc"/>
          <p:cNvSpPr txBox="1"/>
          <p:nvPr/>
        </p:nvSpPr>
        <p:spPr>
          <a:xfrm>
            <a:off x="1809750" y="242887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How we think and operate.</a:t>
            </a:r>
          </a:p>
        </p:txBody>
      </p:sp>
      <p:sp>
        <p:nvSpPr>
          <p:cNvPr id="11" name="lane-1-chev-1"/>
          <p:cNvSpPr txBox="1"/>
          <p:nvPr/>
        </p:nvSpPr>
        <p:spPr>
          <a:xfrm>
            <a:off x="4124325" y="2409825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›</a:t>
            </a:r>
          </a:p>
        </p:txBody>
      </p:sp>
      <p:sp>
        <p:nvSpPr>
          <p:cNvPr id="12" name="lane-1-node-2"/>
          <p:cNvSpPr/>
          <p:nvPr/>
        </p:nvSpPr>
        <p:spPr>
          <a:xfrm>
            <a:off x="4333875" y="2066925"/>
            <a:ext cx="23907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ane-1-node-2-name"/>
          <p:cNvSpPr txBox="1"/>
          <p:nvPr/>
        </p:nvSpPr>
        <p:spPr>
          <a:xfrm>
            <a:off x="4448175" y="223837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Trusted relationships</a:t>
            </a:r>
          </a:p>
        </p:txBody>
      </p:sp>
      <p:sp>
        <p:nvSpPr>
          <p:cNvPr id="14" name="lane-1-node-2-desc"/>
          <p:cNvSpPr txBox="1"/>
          <p:nvPr/>
        </p:nvSpPr>
        <p:spPr>
          <a:xfrm>
            <a:off x="4448175" y="242887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Teams frame problems and engage at the right level.</a:t>
            </a:r>
          </a:p>
        </p:txBody>
      </p:sp>
      <p:sp>
        <p:nvSpPr>
          <p:cNvPr id="15" name="lane-1-chev-2"/>
          <p:cNvSpPr txBox="1"/>
          <p:nvPr/>
        </p:nvSpPr>
        <p:spPr>
          <a:xfrm>
            <a:off x="6762750" y="2409825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›</a:t>
            </a:r>
          </a:p>
        </p:txBody>
      </p:sp>
      <p:sp>
        <p:nvSpPr>
          <p:cNvPr id="16" name="lane-1-node-3"/>
          <p:cNvSpPr/>
          <p:nvPr/>
        </p:nvSpPr>
        <p:spPr>
          <a:xfrm>
            <a:off x="6972300" y="2066925"/>
            <a:ext cx="23907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ane-1-node-3-name"/>
          <p:cNvSpPr txBox="1"/>
          <p:nvPr/>
        </p:nvSpPr>
        <p:spPr>
          <a:xfrm>
            <a:off x="7086600" y="223837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Influence</a:t>
            </a:r>
          </a:p>
        </p:txBody>
      </p:sp>
      <p:sp>
        <p:nvSpPr>
          <p:cNvPr id="18" name="lane-1-node-3-desc"/>
          <p:cNvSpPr txBox="1"/>
          <p:nvPr/>
        </p:nvSpPr>
        <p:spPr>
          <a:xfrm>
            <a:off x="7086600" y="242887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We shape decisions before they are made.</a:t>
            </a:r>
          </a:p>
        </p:txBody>
      </p:sp>
      <p:sp>
        <p:nvSpPr>
          <p:cNvPr id="19" name="lane-2-tag"/>
          <p:cNvSpPr txBox="1"/>
          <p:nvPr/>
        </p:nvSpPr>
        <p:spPr>
          <a:xfrm>
            <a:off x="533400" y="42862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PRONG 2</a:t>
            </a:r>
          </a:p>
        </p:txBody>
      </p:sp>
      <p:sp>
        <p:nvSpPr>
          <p:cNvPr id="20" name="lane-2-tag-sub"/>
          <p:cNvSpPr txBox="1"/>
          <p:nvPr/>
        </p:nvSpPr>
        <p:spPr>
          <a:xfrm>
            <a:off x="533400" y="4438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Ops engine</a:t>
            </a:r>
          </a:p>
        </p:txBody>
      </p:sp>
      <p:sp>
        <p:nvSpPr>
          <p:cNvPr id="21" name="lane-2-node-1"/>
          <p:cNvSpPr/>
          <p:nvPr/>
        </p:nvSpPr>
        <p:spPr>
          <a:xfrm>
            <a:off x="1695450" y="4067175"/>
            <a:ext cx="23907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lane-2-node-1-name"/>
          <p:cNvSpPr txBox="1"/>
          <p:nvPr/>
        </p:nvSpPr>
        <p:spPr>
          <a:xfrm>
            <a:off x="1809750" y="423862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Ops intelligence engine</a:t>
            </a:r>
          </a:p>
        </p:txBody>
      </p:sp>
      <p:sp>
        <p:nvSpPr>
          <p:cNvPr id="23" name="lane-2-node-1-desc"/>
          <p:cNvSpPr txBox="1"/>
          <p:nvPr/>
        </p:nvSpPr>
        <p:spPr>
          <a:xfrm>
            <a:off x="1809750" y="442912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we know and deliver.</a:t>
            </a:r>
          </a:p>
        </p:txBody>
      </p:sp>
      <p:sp>
        <p:nvSpPr>
          <p:cNvPr id="24" name="lane-2-chev-1"/>
          <p:cNvSpPr txBox="1"/>
          <p:nvPr/>
        </p:nvSpPr>
        <p:spPr>
          <a:xfrm>
            <a:off x="4124325" y="4410075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›</a:t>
            </a:r>
          </a:p>
        </p:txBody>
      </p:sp>
      <p:sp>
        <p:nvSpPr>
          <p:cNvPr id="25" name="lane-2-node-2"/>
          <p:cNvSpPr/>
          <p:nvPr/>
        </p:nvSpPr>
        <p:spPr>
          <a:xfrm>
            <a:off x="4333875" y="4067175"/>
            <a:ext cx="23907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lane-2-node-2-name"/>
          <p:cNvSpPr txBox="1"/>
          <p:nvPr/>
        </p:nvSpPr>
        <p:spPr>
          <a:xfrm>
            <a:off x="4448175" y="423862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Insights</a:t>
            </a:r>
          </a:p>
        </p:txBody>
      </p:sp>
      <p:sp>
        <p:nvSpPr>
          <p:cNvPr id="27" name="lane-2-node-2-desc"/>
          <p:cNvSpPr txBox="1"/>
          <p:nvPr/>
        </p:nvSpPr>
        <p:spPr>
          <a:xfrm>
            <a:off x="4448175" y="442912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Grounded in how the business actually makes money.</a:t>
            </a:r>
          </a:p>
        </p:txBody>
      </p:sp>
      <p:sp>
        <p:nvSpPr>
          <p:cNvPr id="28" name="lane-2-chev-2"/>
          <p:cNvSpPr txBox="1"/>
          <p:nvPr/>
        </p:nvSpPr>
        <p:spPr>
          <a:xfrm>
            <a:off x="6762750" y="4410075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›</a:t>
            </a:r>
          </a:p>
        </p:txBody>
      </p:sp>
      <p:sp>
        <p:nvSpPr>
          <p:cNvPr id="29" name="lane-2-node-3"/>
          <p:cNvSpPr/>
          <p:nvPr/>
        </p:nvSpPr>
        <p:spPr>
          <a:xfrm>
            <a:off x="6972300" y="4067175"/>
            <a:ext cx="23907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lane-2-node-3-name"/>
          <p:cNvSpPr txBox="1"/>
          <p:nvPr/>
        </p:nvSpPr>
        <p:spPr>
          <a:xfrm>
            <a:off x="7086600" y="423862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Credibility</a:t>
            </a:r>
          </a:p>
        </p:txBody>
      </p:sp>
      <p:sp>
        <p:nvSpPr>
          <p:cNvPr id="31" name="lane-2-node-3-desc"/>
          <p:cNvSpPr txBox="1"/>
          <p:nvPr/>
        </p:nvSpPr>
        <p:spPr>
          <a:xfrm>
            <a:off x="7086600" y="4429125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Teams identify, quantify, and capture value.</a:t>
            </a:r>
          </a:p>
        </p:txBody>
      </p:sp>
      <p:sp>
        <p:nvSpPr>
          <p:cNvPr id="32" name="outcome"/>
          <p:cNvSpPr/>
          <p:nvPr/>
        </p:nvSpPr>
        <p:spPr>
          <a:xfrm>
            <a:off x="9563100" y="1809750"/>
            <a:ext cx="2095500" cy="3429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utcome-label"/>
          <p:cNvSpPr txBox="1"/>
          <p:nvPr/>
        </p:nvSpPr>
        <p:spPr>
          <a:xfrm>
            <a:off x="9753600" y="2857500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TOGETHER</a:t>
            </a:r>
          </a:p>
        </p:txBody>
      </p:sp>
      <p:sp>
        <p:nvSpPr>
          <p:cNvPr id="34" name="outcome-name"/>
          <p:cNvSpPr txBox="1"/>
          <p:nvPr/>
        </p:nvSpPr>
        <p:spPr>
          <a:xfrm>
            <a:off x="9753600" y="304800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New and expanded opportunities</a:t>
            </a:r>
          </a:p>
        </p:txBody>
      </p:sp>
      <p:sp>
        <p:nvSpPr>
          <p:cNvPr id="35" name="outcome-body"/>
          <p:cNvSpPr txBox="1"/>
          <p:nvPr/>
        </p:nvSpPr>
        <p:spPr>
          <a:xfrm>
            <a:off x="9753600" y="3695700"/>
            <a:ext cx="1714500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Influence + credibility drive new work won and expansion of existing engagements — durable, structural success.</a:t>
            </a:r>
          </a:p>
        </p:txBody>
      </p:sp>
      <p:sp>
        <p:nvSpPr>
          <p:cNvPr id="36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Without both prongs we leave value on the table — where we are today.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