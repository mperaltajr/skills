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Eight dimensions of </a:t>
            </a:r>
            <a:r>
              <a:rPr sz="2100" b="1" i="0">
                <a:solidFill>
                  <a:srgbClr val="C780FF"/>
                </a:solidFill>
                <a:latin typeface="Inter"/>
              </a:rPr>
              <a:t>strategic impact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 structured view across capabilities, delivery, and outcomes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273367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top"/>
          <p:cNvSpPr/>
          <p:nvPr/>
        </p:nvSpPr>
        <p:spPr>
          <a:xfrm>
            <a:off x="457200" y="1905000"/>
            <a:ext cx="27336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bucket-1-num"/>
          <p:cNvSpPr txBox="1"/>
          <p:nvPr/>
        </p:nvSpPr>
        <p:spPr>
          <a:xfrm>
            <a:off x="571500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8" name="bucket-1-title"/>
          <p:cNvSpPr txBox="1"/>
          <p:nvPr/>
        </p:nvSpPr>
        <p:spPr>
          <a:xfrm>
            <a:off x="571500" y="21717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Strategic Alignment</a:t>
            </a:r>
          </a:p>
        </p:txBody>
      </p:sp>
      <p:sp>
        <p:nvSpPr>
          <p:cNvPr id="9" name="bucket-1-bullet-1"/>
          <p:cNvSpPr txBox="1"/>
          <p:nvPr/>
        </p:nvSpPr>
        <p:spPr>
          <a:xfrm>
            <a:off x="571500" y="24765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Anchored to executive priorities</a:t>
            </a:r>
          </a:p>
        </p:txBody>
      </p:sp>
      <p:sp>
        <p:nvSpPr>
          <p:cNvPr id="10" name="bucket-1-bullet-2"/>
          <p:cNvSpPr txBox="1"/>
          <p:nvPr/>
        </p:nvSpPr>
        <p:spPr>
          <a:xfrm>
            <a:off x="571500" y="27051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Mapped to value drivers</a:t>
            </a:r>
          </a:p>
        </p:txBody>
      </p:sp>
      <p:sp>
        <p:nvSpPr>
          <p:cNvPr id="11" name="bucket-2-card"/>
          <p:cNvSpPr/>
          <p:nvPr/>
        </p:nvSpPr>
        <p:spPr>
          <a:xfrm>
            <a:off x="3305175" y="1905000"/>
            <a:ext cx="273367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bucket-2-top"/>
          <p:cNvSpPr/>
          <p:nvPr/>
        </p:nvSpPr>
        <p:spPr>
          <a:xfrm>
            <a:off x="3305175" y="1905000"/>
            <a:ext cx="27336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bucket-2-num"/>
          <p:cNvSpPr txBox="1"/>
          <p:nvPr/>
        </p:nvSpPr>
        <p:spPr>
          <a:xfrm>
            <a:off x="3419475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4" name="bucket-2-title"/>
          <p:cNvSpPr txBox="1"/>
          <p:nvPr/>
        </p:nvSpPr>
        <p:spPr>
          <a:xfrm>
            <a:off x="3419475" y="21717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Operating Model</a:t>
            </a:r>
          </a:p>
        </p:txBody>
      </p:sp>
      <p:sp>
        <p:nvSpPr>
          <p:cNvPr id="15" name="bucket-2-bullet-1"/>
          <p:cNvSpPr txBox="1"/>
          <p:nvPr/>
        </p:nvSpPr>
        <p:spPr>
          <a:xfrm>
            <a:off x="3419475" y="24765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Roles and accountability clarity</a:t>
            </a:r>
          </a:p>
        </p:txBody>
      </p:sp>
      <p:sp>
        <p:nvSpPr>
          <p:cNvPr id="16" name="bucket-2-bullet-2"/>
          <p:cNvSpPr txBox="1"/>
          <p:nvPr/>
        </p:nvSpPr>
        <p:spPr>
          <a:xfrm>
            <a:off x="3419475" y="27051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Cross-functional integration</a:t>
            </a:r>
          </a:p>
        </p:txBody>
      </p:sp>
      <p:sp>
        <p:nvSpPr>
          <p:cNvPr id="17" name="bucket-3-card"/>
          <p:cNvSpPr/>
          <p:nvPr/>
        </p:nvSpPr>
        <p:spPr>
          <a:xfrm>
            <a:off x="6153150" y="1905000"/>
            <a:ext cx="273367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bucket-3-top"/>
          <p:cNvSpPr/>
          <p:nvPr/>
        </p:nvSpPr>
        <p:spPr>
          <a:xfrm>
            <a:off x="6153150" y="1905000"/>
            <a:ext cx="27336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bucket-3-num"/>
          <p:cNvSpPr txBox="1"/>
          <p:nvPr/>
        </p:nvSpPr>
        <p:spPr>
          <a:xfrm>
            <a:off x="6267450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20" name="bucket-3-title"/>
          <p:cNvSpPr txBox="1"/>
          <p:nvPr/>
        </p:nvSpPr>
        <p:spPr>
          <a:xfrm>
            <a:off x="6267450" y="21717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 Foundation</a:t>
            </a:r>
          </a:p>
        </p:txBody>
      </p:sp>
      <p:sp>
        <p:nvSpPr>
          <p:cNvPr id="21" name="bucket-3-bullet-1"/>
          <p:cNvSpPr txBox="1"/>
          <p:nvPr/>
        </p:nvSpPr>
        <p:spPr>
          <a:xfrm>
            <a:off x="6267450" y="24765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Core platform modernisation</a:t>
            </a:r>
          </a:p>
        </p:txBody>
      </p:sp>
      <p:sp>
        <p:nvSpPr>
          <p:cNvPr id="22" name="bucket-3-bullet-2"/>
          <p:cNvSpPr txBox="1"/>
          <p:nvPr/>
        </p:nvSpPr>
        <p:spPr>
          <a:xfrm>
            <a:off x="6267450" y="27051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API-first architecture</a:t>
            </a:r>
          </a:p>
        </p:txBody>
      </p:sp>
      <p:sp>
        <p:nvSpPr>
          <p:cNvPr id="23" name="bucket-4-card"/>
          <p:cNvSpPr/>
          <p:nvPr/>
        </p:nvSpPr>
        <p:spPr>
          <a:xfrm>
            <a:off x="9001125" y="1905000"/>
            <a:ext cx="273367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bucket-4-top"/>
          <p:cNvSpPr/>
          <p:nvPr/>
        </p:nvSpPr>
        <p:spPr>
          <a:xfrm>
            <a:off x="9001125" y="1905000"/>
            <a:ext cx="27336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ucket-4-num"/>
          <p:cNvSpPr txBox="1"/>
          <p:nvPr/>
        </p:nvSpPr>
        <p:spPr>
          <a:xfrm>
            <a:off x="9115425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26" name="bucket-4-title"/>
          <p:cNvSpPr txBox="1"/>
          <p:nvPr/>
        </p:nvSpPr>
        <p:spPr>
          <a:xfrm>
            <a:off x="9115425" y="21717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&amp; Intelligence</a:t>
            </a:r>
          </a:p>
        </p:txBody>
      </p:sp>
      <p:sp>
        <p:nvSpPr>
          <p:cNvPr id="27" name="bucket-4-bullet-1"/>
          <p:cNvSpPr txBox="1"/>
          <p:nvPr/>
        </p:nvSpPr>
        <p:spPr>
          <a:xfrm>
            <a:off x="9115425" y="24765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Governed data products</a:t>
            </a:r>
          </a:p>
        </p:txBody>
      </p:sp>
      <p:sp>
        <p:nvSpPr>
          <p:cNvPr id="28" name="bucket-4-bullet-2"/>
          <p:cNvSpPr txBox="1"/>
          <p:nvPr/>
        </p:nvSpPr>
        <p:spPr>
          <a:xfrm>
            <a:off x="9115425" y="2705100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Real-time decision signals</a:t>
            </a:r>
          </a:p>
        </p:txBody>
      </p:sp>
      <p:sp>
        <p:nvSpPr>
          <p:cNvPr id="29" name="bucket-5-card"/>
          <p:cNvSpPr/>
          <p:nvPr/>
        </p:nvSpPr>
        <p:spPr>
          <a:xfrm>
            <a:off x="457200" y="4219575"/>
            <a:ext cx="273367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bucket-5-top"/>
          <p:cNvSpPr/>
          <p:nvPr/>
        </p:nvSpPr>
        <p:spPr>
          <a:xfrm>
            <a:off x="457200" y="4219575"/>
            <a:ext cx="27336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ucket-5-num"/>
          <p:cNvSpPr txBox="1"/>
          <p:nvPr/>
        </p:nvSpPr>
        <p:spPr>
          <a:xfrm>
            <a:off x="571500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32" name="bucket-5-title"/>
          <p:cNvSpPr txBox="1"/>
          <p:nvPr/>
        </p:nvSpPr>
        <p:spPr>
          <a:xfrm>
            <a:off x="571500" y="44862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Talent &amp; Capability</a:t>
            </a:r>
          </a:p>
        </p:txBody>
      </p:sp>
      <p:sp>
        <p:nvSpPr>
          <p:cNvPr id="33" name="bucket-5-bullet-1"/>
          <p:cNvSpPr txBox="1"/>
          <p:nvPr/>
        </p:nvSpPr>
        <p:spPr>
          <a:xfrm>
            <a:off x="571500" y="47910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Skills gap remediation</a:t>
            </a:r>
          </a:p>
        </p:txBody>
      </p:sp>
      <p:sp>
        <p:nvSpPr>
          <p:cNvPr id="34" name="bucket-5-bullet-2"/>
          <p:cNvSpPr txBox="1"/>
          <p:nvPr/>
        </p:nvSpPr>
        <p:spPr>
          <a:xfrm>
            <a:off x="571500" y="50196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Continuous learning culture</a:t>
            </a:r>
          </a:p>
        </p:txBody>
      </p:sp>
      <p:sp>
        <p:nvSpPr>
          <p:cNvPr id="35" name="bucket-6-card"/>
          <p:cNvSpPr/>
          <p:nvPr/>
        </p:nvSpPr>
        <p:spPr>
          <a:xfrm>
            <a:off x="3305175" y="4219575"/>
            <a:ext cx="273367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bucket-6-top"/>
          <p:cNvSpPr/>
          <p:nvPr/>
        </p:nvSpPr>
        <p:spPr>
          <a:xfrm>
            <a:off x="3305175" y="4219575"/>
            <a:ext cx="27336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bucket-6-num"/>
          <p:cNvSpPr txBox="1"/>
          <p:nvPr/>
        </p:nvSpPr>
        <p:spPr>
          <a:xfrm>
            <a:off x="3419475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38" name="bucket-6-title"/>
          <p:cNvSpPr txBox="1"/>
          <p:nvPr/>
        </p:nvSpPr>
        <p:spPr>
          <a:xfrm>
            <a:off x="3419475" y="44862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 &amp; Adoption</a:t>
            </a:r>
          </a:p>
        </p:txBody>
      </p:sp>
      <p:sp>
        <p:nvSpPr>
          <p:cNvPr id="39" name="bucket-6-bullet-1"/>
          <p:cNvSpPr txBox="1"/>
          <p:nvPr/>
        </p:nvSpPr>
        <p:spPr>
          <a:xfrm>
            <a:off x="3419475" y="47910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Stakeholder engagement plan</a:t>
            </a:r>
          </a:p>
        </p:txBody>
      </p:sp>
      <p:sp>
        <p:nvSpPr>
          <p:cNvPr id="40" name="bucket-6-bullet-2"/>
          <p:cNvSpPr txBox="1"/>
          <p:nvPr/>
        </p:nvSpPr>
        <p:spPr>
          <a:xfrm>
            <a:off x="3419475" y="50196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Adoption metrics tracked</a:t>
            </a:r>
          </a:p>
        </p:txBody>
      </p:sp>
      <p:sp>
        <p:nvSpPr>
          <p:cNvPr id="41" name="bucket-7-card"/>
          <p:cNvSpPr/>
          <p:nvPr/>
        </p:nvSpPr>
        <p:spPr>
          <a:xfrm>
            <a:off x="6153150" y="4219575"/>
            <a:ext cx="273367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bucket-7-top"/>
          <p:cNvSpPr/>
          <p:nvPr/>
        </p:nvSpPr>
        <p:spPr>
          <a:xfrm>
            <a:off x="6153150" y="4219575"/>
            <a:ext cx="27336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bucket-7-num"/>
          <p:cNvSpPr txBox="1"/>
          <p:nvPr/>
        </p:nvSpPr>
        <p:spPr>
          <a:xfrm>
            <a:off x="6267450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07</a:t>
            </a:r>
          </a:p>
        </p:txBody>
      </p:sp>
      <p:sp>
        <p:nvSpPr>
          <p:cNvPr id="44" name="bucket-7-title"/>
          <p:cNvSpPr txBox="1"/>
          <p:nvPr/>
        </p:nvSpPr>
        <p:spPr>
          <a:xfrm>
            <a:off x="6267450" y="44862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Risk &amp; Compliance</a:t>
            </a:r>
          </a:p>
        </p:txBody>
      </p:sp>
      <p:sp>
        <p:nvSpPr>
          <p:cNvPr id="45" name="bucket-7-bullet-1"/>
          <p:cNvSpPr txBox="1"/>
          <p:nvPr/>
        </p:nvSpPr>
        <p:spPr>
          <a:xfrm>
            <a:off x="6267450" y="47910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Regulatory control mapping</a:t>
            </a:r>
          </a:p>
        </p:txBody>
      </p:sp>
      <p:sp>
        <p:nvSpPr>
          <p:cNvPr id="46" name="bucket-7-bullet-2"/>
          <p:cNvSpPr txBox="1"/>
          <p:nvPr/>
        </p:nvSpPr>
        <p:spPr>
          <a:xfrm>
            <a:off x="6267450" y="50196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Proactive issue escalation</a:t>
            </a:r>
          </a:p>
        </p:txBody>
      </p:sp>
      <p:sp>
        <p:nvSpPr>
          <p:cNvPr id="47" name="bucket-8-card"/>
          <p:cNvSpPr/>
          <p:nvPr/>
        </p:nvSpPr>
        <p:spPr>
          <a:xfrm>
            <a:off x="9001125" y="4219575"/>
            <a:ext cx="273367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bucket-8-top"/>
          <p:cNvSpPr/>
          <p:nvPr/>
        </p:nvSpPr>
        <p:spPr>
          <a:xfrm>
            <a:off x="9001125" y="4219575"/>
            <a:ext cx="27336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bucket-8-num"/>
          <p:cNvSpPr txBox="1"/>
          <p:nvPr/>
        </p:nvSpPr>
        <p:spPr>
          <a:xfrm>
            <a:off x="9115425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08</a:t>
            </a:r>
          </a:p>
        </p:txBody>
      </p:sp>
      <p:sp>
        <p:nvSpPr>
          <p:cNvPr id="50" name="bucket-8-title"/>
          <p:cNvSpPr txBox="1"/>
          <p:nvPr/>
        </p:nvSpPr>
        <p:spPr>
          <a:xfrm>
            <a:off x="9115425" y="44862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Value Realisation</a:t>
            </a:r>
          </a:p>
        </p:txBody>
      </p:sp>
      <p:sp>
        <p:nvSpPr>
          <p:cNvPr id="51" name="bucket-8-bullet-1"/>
          <p:cNvSpPr txBox="1"/>
          <p:nvPr/>
        </p:nvSpPr>
        <p:spPr>
          <a:xfrm>
            <a:off x="9115425" y="47910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Benefits tracked to baseline</a:t>
            </a:r>
          </a:p>
        </p:txBody>
      </p:sp>
      <p:sp>
        <p:nvSpPr>
          <p:cNvPr id="52" name="bucket-8-bullet-2"/>
          <p:cNvSpPr txBox="1"/>
          <p:nvPr/>
        </p:nvSpPr>
        <p:spPr>
          <a:xfrm>
            <a:off x="9115425" y="5019675"/>
            <a:ext cx="25050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Steering-ready dashboards</a:t>
            </a:r>
          </a:p>
        </p:txBody>
      </p:sp>
      <p:sp>
        <p:nvSpPr>
          <p:cNvPr id="5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