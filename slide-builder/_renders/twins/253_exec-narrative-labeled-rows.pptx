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Procurement Transformation —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Strategic Narrative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Executive summary across context, challenge, insight, recommendation and next steps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row-1-bg"/>
          <p:cNvSpPr/>
          <p:nvPr/>
        </p:nvSpPr>
        <p:spPr>
          <a:xfrm>
            <a:off x="457200" y="2190750"/>
            <a:ext cx="11277600" cy="7143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row-1-pill"/>
          <p:cNvSpPr/>
          <p:nvPr/>
        </p:nvSpPr>
        <p:spPr>
          <a:xfrm>
            <a:off x="609600" y="2419350"/>
            <a:ext cx="1333500" cy="2476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row-1-pill-text"/>
          <p:cNvSpPr txBox="1"/>
          <p:nvPr/>
        </p:nvSpPr>
        <p:spPr>
          <a:xfrm>
            <a:off x="609600" y="2419350"/>
            <a:ext cx="133350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CONTEXT</a:t>
            </a:r>
          </a:p>
        </p:txBody>
      </p:sp>
      <p:sp>
        <p:nvSpPr>
          <p:cNvPr id="8" name="row-1-text"/>
          <p:cNvSpPr txBox="1"/>
          <p:nvPr/>
        </p:nvSpPr>
        <p:spPr>
          <a:xfrm>
            <a:off x="2114550" y="2190750"/>
            <a:ext cx="9467850" cy="7143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Global procurement costs have risen 23% since 2023, driven by supply chain volatility and inflationary pressure on key input categories.</a:t>
            </a:r>
          </a:p>
        </p:txBody>
      </p:sp>
      <p:sp>
        <p:nvSpPr>
          <p:cNvPr id="9" name="row-2-bg"/>
          <p:cNvSpPr/>
          <p:nvPr/>
        </p:nvSpPr>
        <p:spPr>
          <a:xfrm>
            <a:off x="457200" y="2981325"/>
            <a:ext cx="11277600" cy="7143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row-2-pill"/>
          <p:cNvSpPr/>
          <p:nvPr/>
        </p:nvSpPr>
        <p:spPr>
          <a:xfrm>
            <a:off x="609600" y="3209925"/>
            <a:ext cx="1333500" cy="247650"/>
          </a:xfrm>
          <a:prstGeom prst="rect">
            <a:avLst/>
          </a:prstGeom>
          <a:solidFill>
            <a:srgbClr val="C25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row-2-pill-text"/>
          <p:cNvSpPr txBox="1"/>
          <p:nvPr/>
        </p:nvSpPr>
        <p:spPr>
          <a:xfrm>
            <a:off x="609600" y="3209925"/>
            <a:ext cx="133350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CHALLENGE</a:t>
            </a:r>
          </a:p>
        </p:txBody>
      </p:sp>
      <p:sp>
        <p:nvSpPr>
          <p:cNvPr id="12" name="row-2-text"/>
          <p:cNvSpPr txBox="1"/>
          <p:nvPr/>
        </p:nvSpPr>
        <p:spPr>
          <a:xfrm>
            <a:off x="2114550" y="2981325"/>
            <a:ext cx="9467850" cy="7143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Current category management practices are fragmented across 14 business units with no unified sourcing strategy or shared vendor panel.</a:t>
            </a:r>
          </a:p>
        </p:txBody>
      </p:sp>
      <p:sp>
        <p:nvSpPr>
          <p:cNvPr id="13" name="row-3-bg"/>
          <p:cNvSpPr/>
          <p:nvPr/>
        </p:nvSpPr>
        <p:spPr>
          <a:xfrm>
            <a:off x="457200" y="3771900"/>
            <a:ext cx="11277600" cy="7143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row-3-pill"/>
          <p:cNvSpPr/>
          <p:nvPr/>
        </p:nvSpPr>
        <p:spPr>
          <a:xfrm>
            <a:off x="609600" y="4000500"/>
            <a:ext cx="1333500" cy="2476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row-3-pill-text"/>
          <p:cNvSpPr txBox="1"/>
          <p:nvPr/>
        </p:nvSpPr>
        <p:spPr>
          <a:xfrm>
            <a:off x="609600" y="4000500"/>
            <a:ext cx="133350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INSIGHT</a:t>
            </a:r>
          </a:p>
        </p:txBody>
      </p:sp>
      <p:sp>
        <p:nvSpPr>
          <p:cNvPr id="16" name="row-3-text"/>
          <p:cNvSpPr txBox="1"/>
          <p:nvPr/>
        </p:nvSpPr>
        <p:spPr>
          <a:xfrm>
            <a:off x="2114550" y="3771900"/>
            <a:ext cx="9467850" cy="7143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Analysis of $2.4B in annual spend reveals 60% concentration in 8 categories where consolidation alone could yield $180M in savings.</a:t>
            </a:r>
          </a:p>
        </p:txBody>
      </p:sp>
      <p:sp>
        <p:nvSpPr>
          <p:cNvPr id="17" name="row-4-bg"/>
          <p:cNvSpPr/>
          <p:nvPr/>
        </p:nvSpPr>
        <p:spPr>
          <a:xfrm>
            <a:off x="457200" y="4562475"/>
            <a:ext cx="11277600" cy="7143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row-4-pill"/>
          <p:cNvSpPr/>
          <p:nvPr/>
        </p:nvSpPr>
        <p:spPr>
          <a:xfrm>
            <a:off x="609600" y="4791075"/>
            <a:ext cx="1333500" cy="2476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row-4-pill-text"/>
          <p:cNvSpPr txBox="1"/>
          <p:nvPr/>
        </p:nvSpPr>
        <p:spPr>
          <a:xfrm>
            <a:off x="609600" y="4791075"/>
            <a:ext cx="133350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RECOMMENDATION</a:t>
            </a:r>
          </a:p>
        </p:txBody>
      </p:sp>
      <p:sp>
        <p:nvSpPr>
          <p:cNvPr id="20" name="row-4-text"/>
          <p:cNvSpPr txBox="1"/>
          <p:nvPr/>
        </p:nvSpPr>
        <p:spPr>
          <a:xfrm>
            <a:off x="2114550" y="4562475"/>
            <a:ext cx="9467850" cy="7143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Establish a Centre-Led Procurement model with category ownership, shared supplier contracts, and analytics capability by Q3 2026.</a:t>
            </a:r>
          </a:p>
        </p:txBody>
      </p:sp>
      <p:sp>
        <p:nvSpPr>
          <p:cNvPr id="21" name="row-5-bg"/>
          <p:cNvSpPr/>
          <p:nvPr/>
        </p:nvSpPr>
        <p:spPr>
          <a:xfrm>
            <a:off x="457200" y="5353050"/>
            <a:ext cx="11277600" cy="7143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row-5-pill"/>
          <p:cNvSpPr/>
          <p:nvPr/>
        </p:nvSpPr>
        <p:spPr>
          <a:xfrm>
            <a:off x="609600" y="5581650"/>
            <a:ext cx="1333500" cy="24765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row-5-pill-text"/>
          <p:cNvSpPr txBox="1"/>
          <p:nvPr/>
        </p:nvSpPr>
        <p:spPr>
          <a:xfrm>
            <a:off x="609600" y="5581650"/>
            <a:ext cx="133350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NEXT STEPS</a:t>
            </a:r>
          </a:p>
        </p:txBody>
      </p:sp>
      <p:sp>
        <p:nvSpPr>
          <p:cNvPr id="24" name="row-5-text"/>
          <p:cNvSpPr txBox="1"/>
          <p:nvPr/>
        </p:nvSpPr>
        <p:spPr>
          <a:xfrm>
            <a:off x="2114550" y="5353050"/>
            <a:ext cx="9467850" cy="7143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Approve business case (week 1), appoint Category Leads (week 3), launch supplier renegotiation pilots in top 3 categories (week 8).</a:t>
            </a:r>
          </a:p>
        </p:txBody>
      </p:sp>
      <p:sp>
        <p:nvSpPr>
          <p:cNvPr id="25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26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27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253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