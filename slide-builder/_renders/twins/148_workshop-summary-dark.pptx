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Five decisions made, zero deferred</a:t>
            </a:r>
            <a:r>
              <a:rPr sz="1650" b="1" i="0">
                <a:solidFill>
                  <a:srgbClr val="FFFFFF"/>
                </a:solidFill>
                <a:latin typeface="Inter"/>
              </a:rPr>
              <a:t> — fastest design sprint in the program; Phase 2 scope now locked.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Phase 2 Design Sprint · May 15, 2026 · 14 attendees · 6 hours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workshop-bar"/>
          <p:cNvSpPr/>
          <p:nvPr/>
        </p:nvSpPr>
        <p:spPr>
          <a:xfrm>
            <a:off x="457200" y="2095500"/>
            <a:ext cx="11277600" cy="3048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workshop-date"/>
          <p:cNvSpPr txBox="1"/>
          <p:nvPr/>
        </p:nvSpPr>
        <p:spPr>
          <a:xfrm>
            <a:off x="609600" y="2171700"/>
            <a:ext cx="1333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May 15, 2026</a:t>
            </a:r>
          </a:p>
        </p:txBody>
      </p:sp>
      <p:sp>
        <p:nvSpPr>
          <p:cNvPr id="7" name="workshop-name"/>
          <p:cNvSpPr txBox="1"/>
          <p:nvPr/>
        </p:nvSpPr>
        <p:spPr>
          <a:xfrm>
            <a:off x="2152650" y="21717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Phase 2 Design Sprint</a:t>
            </a:r>
          </a:p>
        </p:txBody>
      </p:sp>
      <p:sp>
        <p:nvSpPr>
          <p:cNvPr id="8" name="panel-1-bg"/>
          <p:cNvSpPr/>
          <p:nvPr/>
        </p:nvSpPr>
        <p:spPr>
          <a:xfrm>
            <a:off x="457200" y="2514600"/>
            <a:ext cx="3667125" cy="32385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panel-1-accent"/>
          <p:cNvSpPr/>
          <p:nvPr/>
        </p:nvSpPr>
        <p:spPr>
          <a:xfrm>
            <a:off x="457200" y="2514600"/>
            <a:ext cx="38100" cy="3238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panel-1-heading"/>
          <p:cNvSpPr txBox="1"/>
          <p:nvPr/>
        </p:nvSpPr>
        <p:spPr>
          <a:xfrm>
            <a:off x="590550" y="2628900"/>
            <a:ext cx="34004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WHAT WE DID</a:t>
            </a:r>
          </a:p>
        </p:txBody>
      </p:sp>
      <p:sp>
        <p:nvSpPr>
          <p:cNvPr id="11" name="panel-1-body"/>
          <p:cNvSpPr txBox="1"/>
          <p:nvPr/>
        </p:nvSpPr>
        <p:spPr>
          <a:xfrm>
            <a:off x="590550" y="2876550"/>
            <a:ext cx="3400425" cy="2743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1. Aligned on data architecture principles
2. Reviewed 3 integration options
3. Completed stakeholder impact mapping
4. Ran friction log review (47 items)
5. Prioritized backlog top-20</a:t>
            </a:r>
          </a:p>
        </p:txBody>
      </p:sp>
      <p:sp>
        <p:nvSpPr>
          <p:cNvPr id="12" name="panel-2-bg"/>
          <p:cNvSpPr/>
          <p:nvPr/>
        </p:nvSpPr>
        <p:spPr>
          <a:xfrm>
            <a:off x="4257675" y="2514600"/>
            <a:ext cx="3667125" cy="32385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panel-2-accent"/>
          <p:cNvSpPr/>
          <p:nvPr/>
        </p:nvSpPr>
        <p:spPr>
          <a:xfrm>
            <a:off x="4257675" y="2514600"/>
            <a:ext cx="38100" cy="3238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panel-2-heading"/>
          <p:cNvSpPr txBox="1"/>
          <p:nvPr/>
        </p:nvSpPr>
        <p:spPr>
          <a:xfrm>
            <a:off x="4391025" y="2628900"/>
            <a:ext cx="34004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WHAT WE DECIDED</a:t>
            </a:r>
          </a:p>
        </p:txBody>
      </p:sp>
      <p:sp>
        <p:nvSpPr>
          <p:cNvPr id="15" name="panel-2-body"/>
          <p:cNvSpPr txBox="1"/>
          <p:nvPr/>
        </p:nvSpPr>
        <p:spPr>
          <a:xfrm>
            <a:off x="4391025" y="2876550"/>
            <a:ext cx="3400425" cy="2743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1. Adopt API-first integration pattern
2. Defer mobile app to Phase 3
3. Appoint Change Lead (Maya Chen)
4. Extend sprint by 2 weeks for QA
5. Approve $320K contingency draw</a:t>
            </a:r>
          </a:p>
        </p:txBody>
      </p:sp>
      <p:sp>
        <p:nvSpPr>
          <p:cNvPr id="16" name="panel-3-bg"/>
          <p:cNvSpPr/>
          <p:nvPr/>
        </p:nvSpPr>
        <p:spPr>
          <a:xfrm>
            <a:off x="8058150" y="2514600"/>
            <a:ext cx="3667125" cy="32385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panel-3-accent"/>
          <p:cNvSpPr/>
          <p:nvPr/>
        </p:nvSpPr>
        <p:spPr>
          <a:xfrm>
            <a:off x="8058150" y="2514600"/>
            <a:ext cx="38100" cy="3238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panel-3-heading"/>
          <p:cNvSpPr txBox="1"/>
          <p:nvPr/>
        </p:nvSpPr>
        <p:spPr>
          <a:xfrm>
            <a:off x="8191500" y="2628900"/>
            <a:ext cx="34004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WHAT'S NEXT</a:t>
            </a:r>
          </a:p>
        </p:txBody>
      </p:sp>
      <p:sp>
        <p:nvSpPr>
          <p:cNvPr id="19" name="panel-3-body"/>
          <p:cNvSpPr txBox="1"/>
          <p:nvPr/>
        </p:nvSpPr>
        <p:spPr>
          <a:xfrm>
            <a:off x="8191500" y="2876550"/>
            <a:ext cx="3400425" cy="2743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1. Architecture design review (May 22)
2. Vendor kickoff — DataCo (May 24)
3. User story grooming (May 28)
4. Steering committee update (June 2)
5. Phase 3 planning begins (June 15)</a:t>
            </a:r>
          </a:p>
        </p:txBody>
      </p:sp>
      <p:sp>
        <p:nvSpPr>
          <p:cNvPr id="20" name="convergence-bg"/>
          <p:cNvSpPr/>
          <p:nvPr/>
        </p:nvSpPr>
        <p:spPr>
          <a:xfrm>
            <a:off x="457200" y="5810250"/>
            <a:ext cx="11277600" cy="304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convergence-accent"/>
          <p:cNvSpPr/>
          <p:nvPr/>
        </p:nvSpPr>
        <p:spPr>
          <a:xfrm>
            <a:off x="457200" y="5810250"/>
            <a:ext cx="38100" cy="3048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convergence"/>
          <p:cNvSpPr txBox="1"/>
          <p:nvPr/>
        </p:nvSpPr>
        <p:spPr>
          <a:xfrm>
            <a:off x="590550" y="5810250"/>
            <a:ext cx="110109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Phase 2 scope locked. Five decisions taken in one session — no deferrals, no escalations. Next hard gate: architecture review May 22.</a:t>
            </a:r>
          </a:p>
        </p:txBody>
      </p:sp>
      <p:sp>
        <p:nvSpPr>
          <p:cNvPr id="23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4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