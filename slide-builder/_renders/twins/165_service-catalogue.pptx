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266700"/>
            <a:ext cx="95250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Enterprise </a:t>
            </a:r>
            <a:r>
              <a:rPr sz="2400" b="1" i="0">
                <a:solidFill>
                  <a:srgbClr val="2D0A4E"/>
                </a:solidFill>
                <a:latin typeface="Inter"/>
              </a:rPr>
              <a:t>Service Catalogue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666750"/>
            <a:ext cx="83820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Consolidated view of active services, ownership, and operational status across all delivery domains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876300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table-col-1-header"/>
          <p:cNvSpPr txBox="1"/>
          <p:nvPr/>
        </p:nvSpPr>
        <p:spPr>
          <a:xfrm>
            <a:off x="571500" y="1485900"/>
            <a:ext cx="23622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SERVICE NAME</a:t>
            </a:r>
          </a:p>
        </p:txBody>
      </p:sp>
      <p:sp>
        <p:nvSpPr>
          <p:cNvPr id="6" name="table-col-2-header"/>
          <p:cNvSpPr txBox="1"/>
          <p:nvPr/>
        </p:nvSpPr>
        <p:spPr>
          <a:xfrm>
            <a:off x="3048000" y="1485900"/>
            <a:ext cx="52959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DESCRIPTION</a:t>
            </a:r>
          </a:p>
        </p:txBody>
      </p:sp>
      <p:sp>
        <p:nvSpPr>
          <p:cNvPr id="7" name="table-col-3-header"/>
          <p:cNvSpPr txBox="1"/>
          <p:nvPr/>
        </p:nvSpPr>
        <p:spPr>
          <a:xfrm>
            <a:off x="8458200" y="1485900"/>
            <a:ext cx="32766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OWNER / SLA STATUS</a:t>
            </a:r>
          </a:p>
        </p:txBody>
      </p:sp>
      <p:sp>
        <p:nvSpPr>
          <p:cNvPr id="8" name="table-header-rule"/>
          <p:cNvSpPr/>
          <p:nvPr/>
        </p:nvSpPr>
        <p:spPr>
          <a:xfrm>
            <a:off x="457200" y="1714500"/>
            <a:ext cx="11277600" cy="190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cat-1-bg"/>
          <p:cNvSpPr/>
          <p:nvPr/>
        </p:nvSpPr>
        <p:spPr>
          <a:xfrm>
            <a:off x="457200" y="1752600"/>
            <a:ext cx="11277600" cy="2095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cat-1-header"/>
          <p:cNvSpPr txBox="1"/>
          <p:nvPr/>
        </p:nvSpPr>
        <p:spPr>
          <a:xfrm>
            <a:off x="571500" y="1752600"/>
            <a:ext cx="11049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INFRASTRUCTURE &amp; PLATFORM SERVICES</a:t>
            </a:r>
          </a:p>
        </p:txBody>
      </p:sp>
      <p:sp>
        <p:nvSpPr>
          <p:cNvPr id="11" name="svc-1-name"/>
          <p:cNvSpPr txBox="1"/>
          <p:nvPr/>
        </p:nvSpPr>
        <p:spPr>
          <a:xfrm>
            <a:off x="571500" y="2000250"/>
            <a:ext cx="22479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Cloud Provisioning</a:t>
            </a:r>
          </a:p>
        </p:txBody>
      </p:sp>
      <p:sp>
        <p:nvSpPr>
          <p:cNvPr id="12" name="svc-1-desc"/>
          <p:cNvSpPr txBox="1"/>
          <p:nvPr/>
        </p:nvSpPr>
        <p:spPr>
          <a:xfrm>
            <a:off x="3048000" y="2000250"/>
            <a:ext cx="51816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Automated VM and container provisioning across Azure and AWS environments</a:t>
            </a:r>
          </a:p>
        </p:txBody>
      </p:sp>
      <p:sp>
        <p:nvSpPr>
          <p:cNvPr id="13" name="svc-1-owner"/>
          <p:cNvSpPr txBox="1"/>
          <p:nvPr/>
        </p:nvSpPr>
        <p:spPr>
          <a:xfrm>
            <a:off x="8458200" y="2000250"/>
            <a:ext cx="762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R. Santos</a:t>
            </a:r>
          </a:p>
        </p:txBody>
      </p:sp>
      <p:sp>
        <p:nvSpPr>
          <p:cNvPr id="14" name="svc-1-status-pill-bg"/>
          <p:cNvSpPr/>
          <p:nvPr/>
        </p:nvSpPr>
        <p:spPr>
          <a:xfrm>
            <a:off x="9315450" y="2085975"/>
            <a:ext cx="762000" cy="15240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svc-1-status-pill"/>
          <p:cNvSpPr txBox="1"/>
          <p:nvPr/>
        </p:nvSpPr>
        <p:spPr>
          <a:xfrm>
            <a:off x="9315450" y="2085975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065F46"/>
                </a:solidFill>
                <a:latin typeface="Inter"/>
              </a:rPr>
              <a:t>Active</a:t>
            </a:r>
          </a:p>
        </p:txBody>
      </p:sp>
      <p:sp>
        <p:nvSpPr>
          <p:cNvPr id="16" name="svc-1-rule"/>
          <p:cNvSpPr/>
          <p:nvPr/>
        </p:nvSpPr>
        <p:spPr>
          <a:xfrm>
            <a:off x="457200" y="2352675"/>
            <a:ext cx="112776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svc-2-row-bg"/>
          <p:cNvSpPr/>
          <p:nvPr/>
        </p:nvSpPr>
        <p:spPr>
          <a:xfrm>
            <a:off x="457200" y="2362200"/>
            <a:ext cx="11277600" cy="4000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svc-2-name"/>
          <p:cNvSpPr txBox="1"/>
          <p:nvPr/>
        </p:nvSpPr>
        <p:spPr>
          <a:xfrm>
            <a:off x="571500" y="2400300"/>
            <a:ext cx="22479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Network Operations</a:t>
            </a:r>
          </a:p>
        </p:txBody>
      </p:sp>
      <p:sp>
        <p:nvSpPr>
          <p:cNvPr id="19" name="svc-2-desc"/>
          <p:cNvSpPr txBox="1"/>
          <p:nvPr/>
        </p:nvSpPr>
        <p:spPr>
          <a:xfrm>
            <a:off x="3048000" y="2400300"/>
            <a:ext cx="51816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End-to-end network configuration, monitoring and incident management for all regions</a:t>
            </a:r>
          </a:p>
        </p:txBody>
      </p:sp>
      <p:sp>
        <p:nvSpPr>
          <p:cNvPr id="20" name="svc-2-owner"/>
          <p:cNvSpPr txBox="1"/>
          <p:nvPr/>
        </p:nvSpPr>
        <p:spPr>
          <a:xfrm>
            <a:off x="8458200" y="2400300"/>
            <a:ext cx="762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T. Okonkwo</a:t>
            </a:r>
          </a:p>
        </p:txBody>
      </p:sp>
      <p:sp>
        <p:nvSpPr>
          <p:cNvPr id="21" name="svc-2-status-pill-bg"/>
          <p:cNvSpPr/>
          <p:nvPr/>
        </p:nvSpPr>
        <p:spPr>
          <a:xfrm>
            <a:off x="9315450" y="2486025"/>
            <a:ext cx="762000" cy="15240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svc-2-status-pill"/>
          <p:cNvSpPr txBox="1"/>
          <p:nvPr/>
        </p:nvSpPr>
        <p:spPr>
          <a:xfrm>
            <a:off x="9315450" y="2486025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065F46"/>
                </a:solidFill>
                <a:latin typeface="Inter"/>
              </a:rPr>
              <a:t>Active</a:t>
            </a:r>
          </a:p>
        </p:txBody>
      </p:sp>
      <p:sp>
        <p:nvSpPr>
          <p:cNvPr id="23" name="svc-2-rule"/>
          <p:cNvSpPr/>
          <p:nvPr/>
        </p:nvSpPr>
        <p:spPr>
          <a:xfrm>
            <a:off x="457200" y="2752725"/>
            <a:ext cx="112776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svc-3-name"/>
          <p:cNvSpPr txBox="1"/>
          <p:nvPr/>
        </p:nvSpPr>
        <p:spPr>
          <a:xfrm>
            <a:off x="571500" y="2800350"/>
            <a:ext cx="22479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Identity &amp; Access Mgmt</a:t>
            </a:r>
          </a:p>
        </p:txBody>
      </p:sp>
      <p:sp>
        <p:nvSpPr>
          <p:cNvPr id="25" name="svc-3-desc"/>
          <p:cNvSpPr txBox="1"/>
          <p:nvPr/>
        </p:nvSpPr>
        <p:spPr>
          <a:xfrm>
            <a:off x="3048000" y="2800350"/>
            <a:ext cx="51816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SSO, MFA, and role-based access control for enterprise applications and data assets</a:t>
            </a:r>
          </a:p>
        </p:txBody>
      </p:sp>
      <p:sp>
        <p:nvSpPr>
          <p:cNvPr id="26" name="svc-3-owner"/>
          <p:cNvSpPr txBox="1"/>
          <p:nvPr/>
        </p:nvSpPr>
        <p:spPr>
          <a:xfrm>
            <a:off x="8458200" y="2800350"/>
            <a:ext cx="762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A. Mehra</a:t>
            </a:r>
          </a:p>
        </p:txBody>
      </p:sp>
      <p:sp>
        <p:nvSpPr>
          <p:cNvPr id="27" name="svc-3-status-pill-bg"/>
          <p:cNvSpPr/>
          <p:nvPr/>
        </p:nvSpPr>
        <p:spPr>
          <a:xfrm>
            <a:off x="9315450" y="2886075"/>
            <a:ext cx="762000" cy="1524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svc-3-status-pill"/>
          <p:cNvSpPr txBox="1"/>
          <p:nvPr/>
        </p:nvSpPr>
        <p:spPr>
          <a:xfrm>
            <a:off x="9315450" y="2886075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2400E"/>
                </a:solidFill>
                <a:latin typeface="Inter"/>
              </a:rPr>
              <a:t>Review</a:t>
            </a:r>
          </a:p>
        </p:txBody>
      </p:sp>
      <p:sp>
        <p:nvSpPr>
          <p:cNvPr id="29" name="svc-3-rule"/>
          <p:cNvSpPr/>
          <p:nvPr/>
        </p:nvSpPr>
        <p:spPr>
          <a:xfrm>
            <a:off x="457200" y="3152775"/>
            <a:ext cx="112776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svc-4-row-bg"/>
          <p:cNvSpPr/>
          <p:nvPr/>
        </p:nvSpPr>
        <p:spPr>
          <a:xfrm>
            <a:off x="457200" y="3162300"/>
            <a:ext cx="11277600" cy="4000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svc-4-name"/>
          <p:cNvSpPr txBox="1"/>
          <p:nvPr/>
        </p:nvSpPr>
        <p:spPr>
          <a:xfrm>
            <a:off x="571500" y="3200400"/>
            <a:ext cx="22479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Storage &amp; Backup</a:t>
            </a:r>
          </a:p>
        </p:txBody>
      </p:sp>
      <p:sp>
        <p:nvSpPr>
          <p:cNvPr id="32" name="svc-4-desc"/>
          <p:cNvSpPr txBox="1"/>
          <p:nvPr/>
        </p:nvSpPr>
        <p:spPr>
          <a:xfrm>
            <a:off x="3048000" y="3200400"/>
            <a:ext cx="51816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Tiered object and block storage with automated daily backup and retention policies</a:t>
            </a:r>
          </a:p>
        </p:txBody>
      </p:sp>
      <p:sp>
        <p:nvSpPr>
          <p:cNvPr id="33" name="svc-4-owner"/>
          <p:cNvSpPr txBox="1"/>
          <p:nvPr/>
        </p:nvSpPr>
        <p:spPr>
          <a:xfrm>
            <a:off x="8458200" y="3200400"/>
            <a:ext cx="762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L. Ferreira</a:t>
            </a:r>
          </a:p>
        </p:txBody>
      </p:sp>
      <p:sp>
        <p:nvSpPr>
          <p:cNvPr id="34" name="svc-4-status-pill-bg"/>
          <p:cNvSpPr/>
          <p:nvPr/>
        </p:nvSpPr>
        <p:spPr>
          <a:xfrm>
            <a:off x="9315450" y="3286125"/>
            <a:ext cx="762000" cy="15240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" name="svc-4-status-pill"/>
          <p:cNvSpPr txBox="1"/>
          <p:nvPr/>
        </p:nvSpPr>
        <p:spPr>
          <a:xfrm>
            <a:off x="9315450" y="3286125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91B1B"/>
                </a:solidFill>
                <a:latin typeface="Inter"/>
              </a:rPr>
              <a:t>Deprecated</a:t>
            </a:r>
          </a:p>
        </p:txBody>
      </p:sp>
      <p:sp>
        <p:nvSpPr>
          <p:cNvPr id="36" name="svc-4-rule"/>
          <p:cNvSpPr/>
          <p:nvPr/>
        </p:nvSpPr>
        <p:spPr>
          <a:xfrm>
            <a:off x="457200" y="3552825"/>
            <a:ext cx="112776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" name="cat-2-bg"/>
          <p:cNvSpPr/>
          <p:nvPr/>
        </p:nvSpPr>
        <p:spPr>
          <a:xfrm>
            <a:off x="457200" y="3562350"/>
            <a:ext cx="11277600" cy="2095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" name="cat-2-header"/>
          <p:cNvSpPr txBox="1"/>
          <p:nvPr/>
        </p:nvSpPr>
        <p:spPr>
          <a:xfrm>
            <a:off x="571500" y="3562350"/>
            <a:ext cx="11049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APPLICATION &amp; DATA SERVICES</a:t>
            </a:r>
          </a:p>
        </p:txBody>
      </p:sp>
      <p:sp>
        <p:nvSpPr>
          <p:cNvPr id="39" name="svc-5-name"/>
          <p:cNvSpPr txBox="1"/>
          <p:nvPr/>
        </p:nvSpPr>
        <p:spPr>
          <a:xfrm>
            <a:off x="571500" y="3810000"/>
            <a:ext cx="22479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API Gateway</a:t>
            </a:r>
          </a:p>
        </p:txBody>
      </p:sp>
      <p:sp>
        <p:nvSpPr>
          <p:cNvPr id="40" name="svc-5-desc"/>
          <p:cNvSpPr txBox="1"/>
          <p:nvPr/>
        </p:nvSpPr>
        <p:spPr>
          <a:xfrm>
            <a:off x="3048000" y="3810000"/>
            <a:ext cx="51816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Centralised API management, rate limiting, and analytics for internal and external consumers</a:t>
            </a:r>
          </a:p>
        </p:txBody>
      </p:sp>
      <p:sp>
        <p:nvSpPr>
          <p:cNvPr id="41" name="svc-5-owner"/>
          <p:cNvSpPr txBox="1"/>
          <p:nvPr/>
        </p:nvSpPr>
        <p:spPr>
          <a:xfrm>
            <a:off x="8458200" y="3810000"/>
            <a:ext cx="762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P. Nguyen</a:t>
            </a:r>
          </a:p>
        </p:txBody>
      </p:sp>
      <p:sp>
        <p:nvSpPr>
          <p:cNvPr id="42" name="svc-5-status-pill-bg"/>
          <p:cNvSpPr/>
          <p:nvPr/>
        </p:nvSpPr>
        <p:spPr>
          <a:xfrm>
            <a:off x="9315450" y="3895725"/>
            <a:ext cx="762000" cy="15240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" name="svc-5-status-pill"/>
          <p:cNvSpPr txBox="1"/>
          <p:nvPr/>
        </p:nvSpPr>
        <p:spPr>
          <a:xfrm>
            <a:off x="9315450" y="3895725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065F46"/>
                </a:solidFill>
                <a:latin typeface="Inter"/>
              </a:rPr>
              <a:t>Active</a:t>
            </a:r>
          </a:p>
        </p:txBody>
      </p:sp>
      <p:sp>
        <p:nvSpPr>
          <p:cNvPr id="44" name="svc-5-rule"/>
          <p:cNvSpPr/>
          <p:nvPr/>
        </p:nvSpPr>
        <p:spPr>
          <a:xfrm>
            <a:off x="457200" y="4162425"/>
            <a:ext cx="112776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5" name="svc-6-row-bg"/>
          <p:cNvSpPr/>
          <p:nvPr/>
        </p:nvSpPr>
        <p:spPr>
          <a:xfrm>
            <a:off x="457200" y="4171950"/>
            <a:ext cx="11277600" cy="4000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" name="svc-6-name"/>
          <p:cNvSpPr txBox="1"/>
          <p:nvPr/>
        </p:nvSpPr>
        <p:spPr>
          <a:xfrm>
            <a:off x="571500" y="4210050"/>
            <a:ext cx="22479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Data Warehouse</a:t>
            </a:r>
          </a:p>
        </p:txBody>
      </p:sp>
      <p:sp>
        <p:nvSpPr>
          <p:cNvPr id="47" name="svc-6-desc"/>
          <p:cNvSpPr txBox="1"/>
          <p:nvPr/>
        </p:nvSpPr>
        <p:spPr>
          <a:xfrm>
            <a:off x="3048000" y="4210050"/>
            <a:ext cx="51816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Governed enterprise data lake and warehouse with self-service BI connectivity</a:t>
            </a:r>
          </a:p>
        </p:txBody>
      </p:sp>
      <p:sp>
        <p:nvSpPr>
          <p:cNvPr id="48" name="svc-6-owner"/>
          <p:cNvSpPr txBox="1"/>
          <p:nvPr/>
        </p:nvSpPr>
        <p:spPr>
          <a:xfrm>
            <a:off x="8458200" y="4210050"/>
            <a:ext cx="762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C. Balogun</a:t>
            </a:r>
          </a:p>
        </p:txBody>
      </p:sp>
      <p:sp>
        <p:nvSpPr>
          <p:cNvPr id="49" name="svc-6-status-pill-bg"/>
          <p:cNvSpPr/>
          <p:nvPr/>
        </p:nvSpPr>
        <p:spPr>
          <a:xfrm>
            <a:off x="9315450" y="4295775"/>
            <a:ext cx="762000" cy="15240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" name="svc-6-status-pill"/>
          <p:cNvSpPr txBox="1"/>
          <p:nvPr/>
        </p:nvSpPr>
        <p:spPr>
          <a:xfrm>
            <a:off x="9315450" y="4295775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065F46"/>
                </a:solidFill>
                <a:latin typeface="Inter"/>
              </a:rPr>
              <a:t>Active</a:t>
            </a:r>
          </a:p>
        </p:txBody>
      </p:sp>
      <p:sp>
        <p:nvSpPr>
          <p:cNvPr id="51" name="svc-6-rule"/>
          <p:cNvSpPr/>
          <p:nvPr/>
        </p:nvSpPr>
        <p:spPr>
          <a:xfrm>
            <a:off x="457200" y="4562475"/>
            <a:ext cx="112776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" name="svc-7-name"/>
          <p:cNvSpPr txBox="1"/>
          <p:nvPr/>
        </p:nvSpPr>
        <p:spPr>
          <a:xfrm>
            <a:off x="571500" y="4610100"/>
            <a:ext cx="22479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CI/CD Pipeline</a:t>
            </a:r>
          </a:p>
        </p:txBody>
      </p:sp>
      <p:sp>
        <p:nvSpPr>
          <p:cNvPr id="53" name="svc-7-desc"/>
          <p:cNvSpPr txBox="1"/>
          <p:nvPr/>
        </p:nvSpPr>
        <p:spPr>
          <a:xfrm>
            <a:off x="3048000" y="4610100"/>
            <a:ext cx="51816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Automated build, test, and deployment pipeline supporting microservices and monoliths</a:t>
            </a:r>
          </a:p>
        </p:txBody>
      </p:sp>
      <p:sp>
        <p:nvSpPr>
          <p:cNvPr id="54" name="svc-7-owner"/>
          <p:cNvSpPr txBox="1"/>
          <p:nvPr/>
        </p:nvSpPr>
        <p:spPr>
          <a:xfrm>
            <a:off x="8458200" y="4610100"/>
            <a:ext cx="762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S. Johansson</a:t>
            </a:r>
          </a:p>
        </p:txBody>
      </p:sp>
      <p:sp>
        <p:nvSpPr>
          <p:cNvPr id="55" name="svc-7-status-pill-bg"/>
          <p:cNvSpPr/>
          <p:nvPr/>
        </p:nvSpPr>
        <p:spPr>
          <a:xfrm>
            <a:off x="9315450" y="4695825"/>
            <a:ext cx="762000" cy="1524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6" name="svc-7-status-pill"/>
          <p:cNvSpPr txBox="1"/>
          <p:nvPr/>
        </p:nvSpPr>
        <p:spPr>
          <a:xfrm>
            <a:off x="9315450" y="4695825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2400E"/>
                </a:solidFill>
                <a:latin typeface="Inter"/>
              </a:rPr>
              <a:t>Review</a:t>
            </a:r>
          </a:p>
        </p:txBody>
      </p:sp>
      <p:sp>
        <p:nvSpPr>
          <p:cNvPr id="57" name="svc-7-rule"/>
          <p:cNvSpPr/>
          <p:nvPr/>
        </p:nvSpPr>
        <p:spPr>
          <a:xfrm>
            <a:off x="457200" y="4962525"/>
            <a:ext cx="112776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8" name="svc-8-row-bg"/>
          <p:cNvSpPr/>
          <p:nvPr/>
        </p:nvSpPr>
        <p:spPr>
          <a:xfrm>
            <a:off x="457200" y="4972050"/>
            <a:ext cx="11277600" cy="4000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9" name="svc-8-name"/>
          <p:cNvSpPr txBox="1"/>
          <p:nvPr/>
        </p:nvSpPr>
        <p:spPr>
          <a:xfrm>
            <a:off x="571500" y="5010150"/>
            <a:ext cx="22479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Observability Platform</a:t>
            </a:r>
          </a:p>
        </p:txBody>
      </p:sp>
      <p:sp>
        <p:nvSpPr>
          <p:cNvPr id="60" name="svc-8-desc"/>
          <p:cNvSpPr txBox="1"/>
          <p:nvPr/>
        </p:nvSpPr>
        <p:spPr>
          <a:xfrm>
            <a:off x="3048000" y="5010150"/>
            <a:ext cx="51816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Unified logging, tracing, and alerting stack across all production workloads</a:t>
            </a:r>
          </a:p>
        </p:txBody>
      </p:sp>
      <p:sp>
        <p:nvSpPr>
          <p:cNvPr id="61" name="svc-8-owner"/>
          <p:cNvSpPr txBox="1"/>
          <p:nvPr/>
        </p:nvSpPr>
        <p:spPr>
          <a:xfrm>
            <a:off x="8458200" y="5010150"/>
            <a:ext cx="762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M. Al-Rashid</a:t>
            </a:r>
          </a:p>
        </p:txBody>
      </p:sp>
      <p:sp>
        <p:nvSpPr>
          <p:cNvPr id="62" name="svc-8-status-pill-bg"/>
          <p:cNvSpPr/>
          <p:nvPr/>
        </p:nvSpPr>
        <p:spPr>
          <a:xfrm>
            <a:off x="9315450" y="5095875"/>
            <a:ext cx="762000" cy="15240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3" name="svc-8-status-pill"/>
          <p:cNvSpPr txBox="1"/>
          <p:nvPr/>
        </p:nvSpPr>
        <p:spPr>
          <a:xfrm>
            <a:off x="9315450" y="5095875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065F46"/>
                </a:solidFill>
                <a:latin typeface="Inter"/>
              </a:rPr>
              <a:t>Active</a:t>
            </a:r>
          </a:p>
        </p:txBody>
      </p:sp>
      <p:sp>
        <p:nvSpPr>
          <p:cNvPr id="64" name="svc-8-rule"/>
          <p:cNvSpPr/>
          <p:nvPr/>
        </p:nvSpPr>
        <p:spPr>
          <a:xfrm>
            <a:off x="457200" y="5362575"/>
            <a:ext cx="112776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5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66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67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165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