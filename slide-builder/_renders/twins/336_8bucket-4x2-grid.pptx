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Eight dimensions of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strategic 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structured view across capability domains — each bucket maps to a discrete workstream and owner.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top"/>
          <p:cNvSpPr/>
          <p:nvPr/>
        </p:nvSpPr>
        <p:spPr>
          <a:xfrm>
            <a:off x="457200" y="1905000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num"/>
          <p:cNvSpPr txBox="1"/>
          <p:nvPr/>
        </p:nvSpPr>
        <p:spPr>
          <a:xfrm>
            <a:off x="57150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bucket-1-title"/>
          <p:cNvSpPr txBox="1"/>
          <p:nvPr/>
        </p:nvSpPr>
        <p:spPr>
          <a:xfrm>
            <a:off x="571500" y="21717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Operating Model</a:t>
            </a:r>
          </a:p>
        </p:txBody>
      </p:sp>
      <p:sp>
        <p:nvSpPr>
          <p:cNvPr id="9" name="bucket-1-bullet-1"/>
          <p:cNvSpPr txBox="1"/>
          <p:nvPr/>
        </p:nvSpPr>
        <p:spPr>
          <a:xfrm>
            <a:off x="571500" y="24384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Redesign spans &amp; layers for speed</a:t>
            </a:r>
          </a:p>
        </p:txBody>
      </p:sp>
      <p:sp>
        <p:nvSpPr>
          <p:cNvPr id="10" name="bucket-1-bullet-2"/>
          <p:cNvSpPr txBox="1"/>
          <p:nvPr/>
        </p:nvSpPr>
        <p:spPr>
          <a:xfrm>
            <a:off x="571500" y="264795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Shift from matrix to product pods</a:t>
            </a:r>
          </a:p>
        </p:txBody>
      </p:sp>
      <p:sp>
        <p:nvSpPr>
          <p:cNvPr id="11" name="bucket-1-rule"/>
          <p:cNvSpPr/>
          <p:nvPr/>
        </p:nvSpPr>
        <p:spPr>
          <a:xfrm>
            <a:off x="571500" y="3762375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bucket-1-metric"/>
          <p:cNvSpPr txBox="1"/>
          <p:nvPr/>
        </p:nvSpPr>
        <p:spPr>
          <a:xfrm>
            <a:off x="571500" y="3819525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−22%</a:t>
            </a:r>
          </a:p>
        </p:txBody>
      </p:sp>
      <p:sp>
        <p:nvSpPr>
          <p:cNvPr id="13" name="bucket-1-metric-label"/>
          <p:cNvSpPr txBox="1"/>
          <p:nvPr/>
        </p:nvSpPr>
        <p:spPr>
          <a:xfrm>
            <a:off x="1238250" y="383857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decision latency</a:t>
            </a:r>
          </a:p>
        </p:txBody>
      </p:sp>
      <p:sp>
        <p:nvSpPr>
          <p:cNvPr id="14" name="bucket-2-card"/>
          <p:cNvSpPr/>
          <p:nvPr/>
        </p:nvSpPr>
        <p:spPr>
          <a:xfrm>
            <a:off x="3305175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2-top"/>
          <p:cNvSpPr/>
          <p:nvPr/>
        </p:nvSpPr>
        <p:spPr>
          <a:xfrm>
            <a:off x="3305175" y="1905000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2-num"/>
          <p:cNvSpPr txBox="1"/>
          <p:nvPr/>
        </p:nvSpPr>
        <p:spPr>
          <a:xfrm>
            <a:off x="3419475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7" name="bucket-2-title"/>
          <p:cNvSpPr txBox="1"/>
          <p:nvPr/>
        </p:nvSpPr>
        <p:spPr>
          <a:xfrm>
            <a:off x="3419475" y="21717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Skills</a:t>
            </a:r>
          </a:p>
        </p:txBody>
      </p:sp>
      <p:sp>
        <p:nvSpPr>
          <p:cNvPr id="18" name="bucket-2-bullet-1"/>
          <p:cNvSpPr txBox="1"/>
          <p:nvPr/>
        </p:nvSpPr>
        <p:spPr>
          <a:xfrm>
            <a:off x="3419475" y="24384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Reskill 40% of workforce by Q4</a:t>
            </a:r>
          </a:p>
        </p:txBody>
      </p:sp>
      <p:sp>
        <p:nvSpPr>
          <p:cNvPr id="19" name="bucket-2-bullet-2"/>
          <p:cNvSpPr txBox="1"/>
          <p:nvPr/>
        </p:nvSpPr>
        <p:spPr>
          <a:xfrm>
            <a:off x="3419475" y="264795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AI-fluency baseline for all roles</a:t>
            </a:r>
          </a:p>
        </p:txBody>
      </p:sp>
      <p:sp>
        <p:nvSpPr>
          <p:cNvPr id="20" name="bucket-2-rule"/>
          <p:cNvSpPr/>
          <p:nvPr/>
        </p:nvSpPr>
        <p:spPr>
          <a:xfrm>
            <a:off x="3419475" y="3762375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2-metric"/>
          <p:cNvSpPr txBox="1"/>
          <p:nvPr/>
        </p:nvSpPr>
        <p:spPr>
          <a:xfrm>
            <a:off x="3419475" y="3819525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3,400</a:t>
            </a:r>
          </a:p>
        </p:txBody>
      </p:sp>
      <p:sp>
        <p:nvSpPr>
          <p:cNvPr id="22" name="bucket-2-metric-label"/>
          <p:cNvSpPr txBox="1"/>
          <p:nvPr/>
        </p:nvSpPr>
        <p:spPr>
          <a:xfrm>
            <a:off x="4086225" y="383857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FTEs in scope</a:t>
            </a:r>
          </a:p>
        </p:txBody>
      </p:sp>
      <p:sp>
        <p:nvSpPr>
          <p:cNvPr id="23" name="bucket-3-card"/>
          <p:cNvSpPr/>
          <p:nvPr/>
        </p:nvSpPr>
        <p:spPr>
          <a:xfrm>
            <a:off x="6153150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3-top"/>
          <p:cNvSpPr/>
          <p:nvPr/>
        </p:nvSpPr>
        <p:spPr>
          <a:xfrm>
            <a:off x="6153150" y="1905000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cket-3-num"/>
          <p:cNvSpPr txBox="1"/>
          <p:nvPr/>
        </p:nvSpPr>
        <p:spPr>
          <a:xfrm>
            <a:off x="626745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6" name="bucket-3-title"/>
          <p:cNvSpPr txBox="1"/>
          <p:nvPr/>
        </p:nvSpPr>
        <p:spPr>
          <a:xfrm>
            <a:off x="6267450" y="21717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Analytics</a:t>
            </a:r>
          </a:p>
        </p:txBody>
      </p:sp>
      <p:sp>
        <p:nvSpPr>
          <p:cNvPr id="27" name="bucket-3-bullet-1"/>
          <p:cNvSpPr txBox="1"/>
          <p:nvPr/>
        </p:nvSpPr>
        <p:spPr>
          <a:xfrm>
            <a:off x="6267450" y="24384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Unified data mesh across 6 domains</a:t>
            </a:r>
          </a:p>
        </p:txBody>
      </p:sp>
      <p:sp>
        <p:nvSpPr>
          <p:cNvPr id="28" name="bucket-3-bullet-2"/>
          <p:cNvSpPr txBox="1"/>
          <p:nvPr/>
        </p:nvSpPr>
        <p:spPr>
          <a:xfrm>
            <a:off x="6267450" y="264795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Self-serve BI for senior leadership</a:t>
            </a:r>
          </a:p>
        </p:txBody>
      </p:sp>
      <p:sp>
        <p:nvSpPr>
          <p:cNvPr id="29" name="bucket-3-rule"/>
          <p:cNvSpPr/>
          <p:nvPr/>
        </p:nvSpPr>
        <p:spPr>
          <a:xfrm>
            <a:off x="6267450" y="3762375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cket-3-metric"/>
          <p:cNvSpPr txBox="1"/>
          <p:nvPr/>
        </p:nvSpPr>
        <p:spPr>
          <a:xfrm>
            <a:off x="6267450" y="3819525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85%</a:t>
            </a:r>
          </a:p>
        </p:txBody>
      </p:sp>
      <p:sp>
        <p:nvSpPr>
          <p:cNvPr id="31" name="bucket-3-metric-label"/>
          <p:cNvSpPr txBox="1"/>
          <p:nvPr/>
        </p:nvSpPr>
        <p:spPr>
          <a:xfrm>
            <a:off x="6934200" y="383857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data trust score</a:t>
            </a:r>
          </a:p>
        </p:txBody>
      </p:sp>
      <p:sp>
        <p:nvSpPr>
          <p:cNvPr id="32" name="bucket-4-card"/>
          <p:cNvSpPr/>
          <p:nvPr/>
        </p:nvSpPr>
        <p:spPr>
          <a:xfrm>
            <a:off x="9001125" y="1905000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cket-4-top"/>
          <p:cNvSpPr/>
          <p:nvPr/>
        </p:nvSpPr>
        <p:spPr>
          <a:xfrm>
            <a:off x="9001125" y="1905000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ucket-4-num"/>
          <p:cNvSpPr txBox="1"/>
          <p:nvPr/>
        </p:nvSpPr>
        <p:spPr>
          <a:xfrm>
            <a:off x="9115425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35" name="bucket-4-title"/>
          <p:cNvSpPr txBox="1"/>
          <p:nvPr/>
        </p:nvSpPr>
        <p:spPr>
          <a:xfrm>
            <a:off x="9115425" y="21717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Core</a:t>
            </a:r>
          </a:p>
        </p:txBody>
      </p:sp>
      <p:sp>
        <p:nvSpPr>
          <p:cNvPr id="36" name="bucket-4-bullet-1"/>
          <p:cNvSpPr txBox="1"/>
          <p:nvPr/>
        </p:nvSpPr>
        <p:spPr>
          <a:xfrm>
            <a:off x="9115425" y="243840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Migrate 70% workloads to cloud</a:t>
            </a:r>
          </a:p>
        </p:txBody>
      </p:sp>
      <p:sp>
        <p:nvSpPr>
          <p:cNvPr id="37" name="bucket-4-bullet-2"/>
          <p:cNvSpPr txBox="1"/>
          <p:nvPr/>
        </p:nvSpPr>
        <p:spPr>
          <a:xfrm>
            <a:off x="9115425" y="2647950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Decommission 14 legacy systems</a:t>
            </a:r>
          </a:p>
        </p:txBody>
      </p:sp>
      <p:sp>
        <p:nvSpPr>
          <p:cNvPr id="38" name="bucket-4-rule"/>
          <p:cNvSpPr/>
          <p:nvPr/>
        </p:nvSpPr>
        <p:spPr>
          <a:xfrm>
            <a:off x="9115425" y="3762375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4-metric"/>
          <p:cNvSpPr txBox="1"/>
          <p:nvPr/>
        </p:nvSpPr>
        <p:spPr>
          <a:xfrm>
            <a:off x="9115425" y="3819525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$18M</a:t>
            </a:r>
          </a:p>
        </p:txBody>
      </p:sp>
      <p:sp>
        <p:nvSpPr>
          <p:cNvPr id="40" name="bucket-4-metric-label"/>
          <p:cNvSpPr txBox="1"/>
          <p:nvPr/>
        </p:nvSpPr>
        <p:spPr>
          <a:xfrm>
            <a:off x="9782175" y="383857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run-rate savings</a:t>
            </a:r>
          </a:p>
        </p:txBody>
      </p:sp>
      <p:sp>
        <p:nvSpPr>
          <p:cNvPr id="41" name="bucket-5-card"/>
          <p:cNvSpPr/>
          <p:nvPr/>
        </p:nvSpPr>
        <p:spPr>
          <a:xfrm>
            <a:off x="457200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ucket-5-top"/>
          <p:cNvSpPr/>
          <p:nvPr/>
        </p:nvSpPr>
        <p:spPr>
          <a:xfrm>
            <a:off x="457200" y="4219575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bucket-5-num"/>
          <p:cNvSpPr txBox="1"/>
          <p:nvPr/>
        </p:nvSpPr>
        <p:spPr>
          <a:xfrm>
            <a:off x="57150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44" name="bucket-5-title"/>
          <p:cNvSpPr txBox="1"/>
          <p:nvPr/>
        </p:nvSpPr>
        <p:spPr>
          <a:xfrm>
            <a:off x="571500" y="44862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 Experience</a:t>
            </a:r>
          </a:p>
        </p:txBody>
      </p:sp>
      <p:sp>
        <p:nvSpPr>
          <p:cNvPr id="45" name="bucket-5-bullet-1"/>
          <p:cNvSpPr txBox="1"/>
          <p:nvPr/>
        </p:nvSpPr>
        <p:spPr>
          <a:xfrm>
            <a:off x="571500" y="47529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Omnichannel journey re-architecture</a:t>
            </a:r>
          </a:p>
        </p:txBody>
      </p:sp>
      <p:sp>
        <p:nvSpPr>
          <p:cNvPr id="46" name="bucket-5-bullet-2"/>
          <p:cNvSpPr txBox="1"/>
          <p:nvPr/>
        </p:nvSpPr>
        <p:spPr>
          <a:xfrm>
            <a:off x="571500" y="496252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Personalisation engine at scale</a:t>
            </a:r>
          </a:p>
        </p:txBody>
      </p:sp>
      <p:sp>
        <p:nvSpPr>
          <p:cNvPr id="47" name="bucket-5-rule"/>
          <p:cNvSpPr/>
          <p:nvPr/>
        </p:nvSpPr>
        <p:spPr>
          <a:xfrm>
            <a:off x="571500" y="6076950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bucket-5-metric"/>
          <p:cNvSpPr txBox="1"/>
          <p:nvPr/>
        </p:nvSpPr>
        <p:spPr>
          <a:xfrm>
            <a:off x="571500" y="6134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+14pt</a:t>
            </a:r>
          </a:p>
        </p:txBody>
      </p:sp>
      <p:sp>
        <p:nvSpPr>
          <p:cNvPr id="49" name="bucket-5-metric-label"/>
          <p:cNvSpPr txBox="1"/>
          <p:nvPr/>
        </p:nvSpPr>
        <p:spPr>
          <a:xfrm>
            <a:off x="1238250" y="6153150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NPS improvement</a:t>
            </a:r>
          </a:p>
        </p:txBody>
      </p:sp>
      <p:sp>
        <p:nvSpPr>
          <p:cNvPr id="50" name="bucket-6-card"/>
          <p:cNvSpPr/>
          <p:nvPr/>
        </p:nvSpPr>
        <p:spPr>
          <a:xfrm>
            <a:off x="3305175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bucket-6-top"/>
          <p:cNvSpPr/>
          <p:nvPr/>
        </p:nvSpPr>
        <p:spPr>
          <a:xfrm>
            <a:off x="3305175" y="4219575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bucket-6-num"/>
          <p:cNvSpPr txBox="1"/>
          <p:nvPr/>
        </p:nvSpPr>
        <p:spPr>
          <a:xfrm>
            <a:off x="3419475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53" name="bucket-6-title"/>
          <p:cNvSpPr txBox="1"/>
          <p:nvPr/>
        </p:nvSpPr>
        <p:spPr>
          <a:xfrm>
            <a:off x="3419475" y="44862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Excellence</a:t>
            </a:r>
          </a:p>
        </p:txBody>
      </p:sp>
      <p:sp>
        <p:nvSpPr>
          <p:cNvPr id="54" name="bucket-6-bullet-1"/>
          <p:cNvSpPr txBox="1"/>
          <p:nvPr/>
        </p:nvSpPr>
        <p:spPr>
          <a:xfrm>
            <a:off x="3419475" y="47529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Automate 60% of back-office tasks</a:t>
            </a:r>
          </a:p>
        </p:txBody>
      </p:sp>
      <p:sp>
        <p:nvSpPr>
          <p:cNvPr id="55" name="bucket-6-bullet-2"/>
          <p:cNvSpPr txBox="1"/>
          <p:nvPr/>
        </p:nvSpPr>
        <p:spPr>
          <a:xfrm>
            <a:off x="3419475" y="496252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Lean Six Sigma wave 2 rollout</a:t>
            </a:r>
          </a:p>
        </p:txBody>
      </p:sp>
      <p:sp>
        <p:nvSpPr>
          <p:cNvPr id="56" name="bucket-6-rule"/>
          <p:cNvSpPr/>
          <p:nvPr/>
        </p:nvSpPr>
        <p:spPr>
          <a:xfrm>
            <a:off x="3419475" y="6076950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bucket-6-metric"/>
          <p:cNvSpPr txBox="1"/>
          <p:nvPr/>
        </p:nvSpPr>
        <p:spPr>
          <a:xfrm>
            <a:off x="3419475" y="6134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−31%</a:t>
            </a:r>
          </a:p>
        </p:txBody>
      </p:sp>
      <p:sp>
        <p:nvSpPr>
          <p:cNvPr id="58" name="bucket-6-metric-label"/>
          <p:cNvSpPr txBox="1"/>
          <p:nvPr/>
        </p:nvSpPr>
        <p:spPr>
          <a:xfrm>
            <a:off x="4086225" y="6153150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cycle time</a:t>
            </a:r>
          </a:p>
        </p:txBody>
      </p:sp>
      <p:sp>
        <p:nvSpPr>
          <p:cNvPr id="59" name="bucket-7-card"/>
          <p:cNvSpPr/>
          <p:nvPr/>
        </p:nvSpPr>
        <p:spPr>
          <a:xfrm>
            <a:off x="6153150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bucket-7-top"/>
          <p:cNvSpPr/>
          <p:nvPr/>
        </p:nvSpPr>
        <p:spPr>
          <a:xfrm>
            <a:off x="6153150" y="4219575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ucket-7-num"/>
          <p:cNvSpPr txBox="1"/>
          <p:nvPr/>
        </p:nvSpPr>
        <p:spPr>
          <a:xfrm>
            <a:off x="626745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62" name="bucket-7-title"/>
          <p:cNvSpPr txBox="1"/>
          <p:nvPr/>
        </p:nvSpPr>
        <p:spPr>
          <a:xfrm>
            <a:off x="6267450" y="44862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 &amp; Compliance</a:t>
            </a:r>
          </a:p>
        </p:txBody>
      </p:sp>
      <p:sp>
        <p:nvSpPr>
          <p:cNvPr id="63" name="bucket-7-bullet-1"/>
          <p:cNvSpPr txBox="1"/>
          <p:nvPr/>
        </p:nvSpPr>
        <p:spPr>
          <a:xfrm>
            <a:off x="6267450" y="47529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Real-time controls monitoring layer</a:t>
            </a:r>
          </a:p>
        </p:txBody>
      </p:sp>
      <p:sp>
        <p:nvSpPr>
          <p:cNvPr id="64" name="bucket-7-bullet-2"/>
          <p:cNvSpPr txBox="1"/>
          <p:nvPr/>
        </p:nvSpPr>
        <p:spPr>
          <a:xfrm>
            <a:off x="6267450" y="496252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Regulatory change mgmt. playbook</a:t>
            </a:r>
          </a:p>
        </p:txBody>
      </p:sp>
      <p:sp>
        <p:nvSpPr>
          <p:cNvPr id="65" name="bucket-7-rule"/>
          <p:cNvSpPr/>
          <p:nvPr/>
        </p:nvSpPr>
        <p:spPr>
          <a:xfrm>
            <a:off x="6267450" y="6076950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bucket-7-metric"/>
          <p:cNvSpPr txBox="1"/>
          <p:nvPr/>
        </p:nvSpPr>
        <p:spPr>
          <a:xfrm>
            <a:off x="6267450" y="6134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</a:t>
            </a:r>
          </a:p>
        </p:txBody>
      </p:sp>
      <p:sp>
        <p:nvSpPr>
          <p:cNvPr id="67" name="bucket-7-metric-label"/>
          <p:cNvSpPr txBox="1"/>
          <p:nvPr/>
        </p:nvSpPr>
        <p:spPr>
          <a:xfrm>
            <a:off x="6934200" y="6153150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material findings</a:t>
            </a:r>
          </a:p>
        </p:txBody>
      </p:sp>
      <p:sp>
        <p:nvSpPr>
          <p:cNvPr id="68" name="bucket-8-card"/>
          <p:cNvSpPr/>
          <p:nvPr/>
        </p:nvSpPr>
        <p:spPr>
          <a:xfrm>
            <a:off x="9001125" y="4219575"/>
            <a:ext cx="2733675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bucket-8-top"/>
          <p:cNvSpPr/>
          <p:nvPr/>
        </p:nvSpPr>
        <p:spPr>
          <a:xfrm>
            <a:off x="9001125" y="4219575"/>
            <a:ext cx="27336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bucket-8-num"/>
          <p:cNvSpPr txBox="1"/>
          <p:nvPr/>
        </p:nvSpPr>
        <p:spPr>
          <a:xfrm>
            <a:off x="9115425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08</a:t>
            </a:r>
          </a:p>
        </p:txBody>
      </p:sp>
      <p:sp>
        <p:nvSpPr>
          <p:cNvPr id="71" name="bucket-8-title"/>
          <p:cNvSpPr txBox="1"/>
          <p:nvPr/>
        </p:nvSpPr>
        <p:spPr>
          <a:xfrm>
            <a:off x="9115425" y="44862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Innovation Pipeline</a:t>
            </a:r>
          </a:p>
        </p:txBody>
      </p:sp>
      <p:sp>
        <p:nvSpPr>
          <p:cNvPr id="72" name="bucket-8-bullet-1"/>
          <p:cNvSpPr txBox="1"/>
          <p:nvPr/>
        </p:nvSpPr>
        <p:spPr>
          <a:xfrm>
            <a:off x="9115425" y="475297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Venture studio: 12 concepts in flight</a:t>
            </a:r>
          </a:p>
        </p:txBody>
      </p:sp>
      <p:sp>
        <p:nvSpPr>
          <p:cNvPr id="73" name="bucket-8-bullet-2"/>
          <p:cNvSpPr txBox="1"/>
          <p:nvPr/>
        </p:nvSpPr>
        <p:spPr>
          <a:xfrm>
            <a:off x="9115425" y="4962525"/>
            <a:ext cx="2505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– IP portfolio review &amp; spin-out options</a:t>
            </a:r>
          </a:p>
        </p:txBody>
      </p:sp>
      <p:sp>
        <p:nvSpPr>
          <p:cNvPr id="74" name="bucket-8-rule"/>
          <p:cNvSpPr/>
          <p:nvPr/>
        </p:nvSpPr>
        <p:spPr>
          <a:xfrm>
            <a:off x="9115425" y="6076950"/>
            <a:ext cx="25050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bucket-8-metric"/>
          <p:cNvSpPr txBox="1"/>
          <p:nvPr/>
        </p:nvSpPr>
        <p:spPr>
          <a:xfrm>
            <a:off x="9115425" y="613410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×2.4</a:t>
            </a:r>
          </a:p>
        </p:txBody>
      </p:sp>
      <p:sp>
        <p:nvSpPr>
          <p:cNvPr id="76" name="bucket-8-metric-label"/>
          <p:cNvSpPr txBox="1"/>
          <p:nvPr/>
        </p:nvSpPr>
        <p:spPr>
          <a:xfrm>
            <a:off x="9782175" y="6153150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R&amp;D yield target</a:t>
            </a:r>
          </a:p>
        </p:txBody>
      </p:sp>
      <p:sp>
        <p:nvSpPr>
          <p:cNvPr id="7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