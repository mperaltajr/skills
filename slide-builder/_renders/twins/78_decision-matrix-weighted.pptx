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WEIGHTED DECISION MATRIX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1A1A2E"/>
                </a:solidFill>
                <a:latin typeface="Inter"/>
              </a:rPr>
              <a:t>Three rollout options, scored — Option B wins on weighted total.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12395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Five criteria, weighted by strategic importance. Each option scored 1–5 on raw merit; weighted scores roll up to a single comparable total.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5049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bg"/>
          <p:cNvSpPr/>
          <p:nvPr/>
        </p:nvSpPr>
        <p:spPr>
          <a:xfrm>
            <a:off x="8191500" y="2190750"/>
            <a:ext cx="3619500" cy="381000"/>
          </a:xfrm>
          <a:prstGeom prst="rect">
            <a:avLst/>
          </a:prstGeom>
          <a:solidFill>
            <a:srgbClr val="FBFAFD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8286750" y="219075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RAW SCORE</a:t>
            </a:r>
          </a:p>
        </p:txBody>
      </p:sp>
      <p:sp>
        <p:nvSpPr>
          <p:cNvPr id="8" name="legend-pip-1"/>
          <p:cNvSpPr/>
          <p:nvPr/>
        </p:nvSpPr>
        <p:spPr>
          <a:xfrm>
            <a:off x="9372600" y="2286000"/>
            <a:ext cx="190500" cy="19050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pip-1-text"/>
          <p:cNvSpPr txBox="1"/>
          <p:nvPr/>
        </p:nvSpPr>
        <p:spPr>
          <a:xfrm>
            <a:off x="9372600" y="22860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</a:t>
            </a:r>
          </a:p>
        </p:txBody>
      </p:sp>
      <p:sp>
        <p:nvSpPr>
          <p:cNvPr id="10" name="legend-pip-2"/>
          <p:cNvSpPr/>
          <p:nvPr/>
        </p:nvSpPr>
        <p:spPr>
          <a:xfrm>
            <a:off x="9591675" y="2286000"/>
            <a:ext cx="190500" cy="19050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pip-2-text"/>
          <p:cNvSpPr txBox="1"/>
          <p:nvPr/>
        </p:nvSpPr>
        <p:spPr>
          <a:xfrm>
            <a:off x="9591675" y="22860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12" name="legend-pip-3"/>
          <p:cNvSpPr/>
          <p:nvPr/>
        </p:nvSpPr>
        <p:spPr>
          <a:xfrm>
            <a:off x="9810750" y="2286000"/>
            <a:ext cx="190500" cy="19050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pip-3-text"/>
          <p:cNvSpPr txBox="1"/>
          <p:nvPr/>
        </p:nvSpPr>
        <p:spPr>
          <a:xfrm>
            <a:off x="9810750" y="22860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14" name="legend-pip-4"/>
          <p:cNvSpPr/>
          <p:nvPr/>
        </p:nvSpPr>
        <p:spPr>
          <a:xfrm>
            <a:off x="10029825" y="2286000"/>
            <a:ext cx="190500" cy="19050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egend-pip-4-text"/>
          <p:cNvSpPr txBox="1"/>
          <p:nvPr/>
        </p:nvSpPr>
        <p:spPr>
          <a:xfrm>
            <a:off x="10029825" y="22860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16" name="legend-pip-5"/>
          <p:cNvSpPr/>
          <p:nvPr/>
        </p:nvSpPr>
        <p:spPr>
          <a:xfrm>
            <a:off x="10248900" y="2286000"/>
            <a:ext cx="190500" cy="19050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egend-pip-5-text"/>
          <p:cNvSpPr txBox="1"/>
          <p:nvPr/>
        </p:nvSpPr>
        <p:spPr>
          <a:xfrm>
            <a:off x="10248900" y="22860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5</a:t>
            </a:r>
          </a:p>
        </p:txBody>
      </p:sp>
      <p:sp>
        <p:nvSpPr>
          <p:cNvPr id="18" name="legend-anchor-low"/>
          <p:cNvSpPr txBox="1"/>
          <p:nvPr/>
        </p:nvSpPr>
        <p:spPr>
          <a:xfrm>
            <a:off x="8896350" y="2190750"/>
            <a:ext cx="2857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POOR</a:t>
            </a:r>
          </a:p>
        </p:txBody>
      </p:sp>
      <p:sp>
        <p:nvSpPr>
          <p:cNvPr id="19" name="legend-anchor-high"/>
          <p:cNvSpPr txBox="1"/>
          <p:nvPr/>
        </p:nvSpPr>
        <p:spPr>
          <a:xfrm>
            <a:off x="10858500" y="2190750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EXCELLENT</a:t>
            </a:r>
          </a:p>
        </p:txBody>
      </p:sp>
      <p:sp>
        <p:nvSpPr>
          <p:cNvPr id="20" name="table-header-bg"/>
          <p:cNvSpPr/>
          <p:nvPr/>
        </p:nvSpPr>
        <p:spPr>
          <a:xfrm>
            <a:off x="457200" y="2667000"/>
            <a:ext cx="112776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l-header-1"/>
          <p:cNvSpPr txBox="1"/>
          <p:nvPr/>
        </p:nvSpPr>
        <p:spPr>
          <a:xfrm>
            <a:off x="571500" y="2705100"/>
            <a:ext cx="3152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CRITERIA</a:t>
            </a:r>
          </a:p>
        </p:txBody>
      </p:sp>
      <p:sp>
        <p:nvSpPr>
          <p:cNvPr id="22" name="col-header-2"/>
          <p:cNvSpPr txBox="1"/>
          <p:nvPr/>
        </p:nvSpPr>
        <p:spPr>
          <a:xfrm>
            <a:off x="3952875" y="270510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WEIGHT</a:t>
            </a:r>
          </a:p>
        </p:txBody>
      </p:sp>
      <p:sp>
        <p:nvSpPr>
          <p:cNvPr id="23" name="col-subhead-2"/>
          <p:cNvSpPr txBox="1"/>
          <p:nvPr/>
        </p:nvSpPr>
        <p:spPr>
          <a:xfrm>
            <a:off x="3952875" y="2876550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%</a:t>
            </a:r>
          </a:p>
        </p:txBody>
      </p:sp>
      <p:sp>
        <p:nvSpPr>
          <p:cNvPr id="24" name="col-header-3"/>
          <p:cNvSpPr txBox="1"/>
          <p:nvPr/>
        </p:nvSpPr>
        <p:spPr>
          <a:xfrm>
            <a:off x="5076825" y="2705100"/>
            <a:ext cx="2019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OPTION A</a:t>
            </a:r>
          </a:p>
        </p:txBody>
      </p:sp>
      <p:sp>
        <p:nvSpPr>
          <p:cNvPr id="25" name="col-subhead-3"/>
          <p:cNvSpPr txBox="1"/>
          <p:nvPr/>
        </p:nvSpPr>
        <p:spPr>
          <a:xfrm>
            <a:off x="5076825" y="2876550"/>
            <a:ext cx="2019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BIG BANG</a:t>
            </a:r>
          </a:p>
        </p:txBody>
      </p:sp>
      <p:sp>
        <p:nvSpPr>
          <p:cNvPr id="26" name="col-4-winner-bg"/>
          <p:cNvSpPr/>
          <p:nvPr/>
        </p:nvSpPr>
        <p:spPr>
          <a:xfrm>
            <a:off x="7210425" y="2667000"/>
            <a:ext cx="2247900" cy="400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l-4-winner-badge-bg"/>
          <p:cNvSpPr/>
          <p:nvPr/>
        </p:nvSpPr>
        <p:spPr>
          <a:xfrm>
            <a:off x="8924925" y="2705100"/>
            <a:ext cx="4762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l-4-winner-badge"/>
          <p:cNvSpPr txBox="1"/>
          <p:nvPr/>
        </p:nvSpPr>
        <p:spPr>
          <a:xfrm>
            <a:off x="8924925" y="27051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WINNER</a:t>
            </a:r>
          </a:p>
        </p:txBody>
      </p:sp>
      <p:sp>
        <p:nvSpPr>
          <p:cNvPr id="29" name="col-header-4"/>
          <p:cNvSpPr txBox="1"/>
          <p:nvPr/>
        </p:nvSpPr>
        <p:spPr>
          <a:xfrm>
            <a:off x="7324725" y="2705100"/>
            <a:ext cx="2019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OPTION B</a:t>
            </a:r>
          </a:p>
        </p:txBody>
      </p:sp>
      <p:sp>
        <p:nvSpPr>
          <p:cNvPr id="30" name="col-subhead-4"/>
          <p:cNvSpPr txBox="1"/>
          <p:nvPr/>
        </p:nvSpPr>
        <p:spPr>
          <a:xfrm>
            <a:off x="7324725" y="2876550"/>
            <a:ext cx="2019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PHASED ROLLOUT</a:t>
            </a:r>
          </a:p>
        </p:txBody>
      </p:sp>
      <p:sp>
        <p:nvSpPr>
          <p:cNvPr id="31" name="col-header-5"/>
          <p:cNvSpPr txBox="1"/>
          <p:nvPr/>
        </p:nvSpPr>
        <p:spPr>
          <a:xfrm>
            <a:off x="9572625" y="2705100"/>
            <a:ext cx="2019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OPTION C</a:t>
            </a:r>
          </a:p>
        </p:txBody>
      </p:sp>
      <p:sp>
        <p:nvSpPr>
          <p:cNvPr id="32" name="col-subhead-5"/>
          <p:cNvSpPr txBox="1"/>
          <p:nvPr/>
        </p:nvSpPr>
        <p:spPr>
          <a:xfrm>
            <a:off x="9572625" y="2876550"/>
            <a:ext cx="2019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PILOT ONLY</a:t>
            </a:r>
          </a:p>
        </p:txBody>
      </p:sp>
      <p:sp>
        <p:nvSpPr>
          <p:cNvPr id="33" name="row-1-crit-bg"/>
          <p:cNvSpPr/>
          <p:nvPr/>
        </p:nvSpPr>
        <p:spPr>
          <a:xfrm>
            <a:off x="457200" y="3067050"/>
            <a:ext cx="3381375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ow-1-crit-rule-r"/>
          <p:cNvSpPr/>
          <p:nvPr/>
        </p:nvSpPr>
        <p:spPr>
          <a:xfrm>
            <a:off x="3829050" y="3067050"/>
            <a:ext cx="19050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ow-1-crit-num"/>
          <p:cNvSpPr txBox="1"/>
          <p:nvPr/>
        </p:nvSpPr>
        <p:spPr>
          <a:xfrm>
            <a:off x="590550" y="3105150"/>
            <a:ext cx="3114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CRITERION 1</a:t>
            </a:r>
          </a:p>
        </p:txBody>
      </p:sp>
      <p:sp>
        <p:nvSpPr>
          <p:cNvPr id="36" name="row-1-crit-name"/>
          <p:cNvSpPr txBox="1"/>
          <p:nvPr/>
        </p:nvSpPr>
        <p:spPr>
          <a:xfrm>
            <a:off x="590550" y="3238500"/>
            <a:ext cx="3114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Cycle time impact</a:t>
            </a:r>
          </a:p>
        </p:txBody>
      </p:sp>
      <p:sp>
        <p:nvSpPr>
          <p:cNvPr id="37" name="row-1-weight-bg"/>
          <p:cNvSpPr/>
          <p:nvPr/>
        </p:nvSpPr>
        <p:spPr>
          <a:xfrm>
            <a:off x="3838575" y="3067050"/>
            <a:ext cx="1123950" cy="4000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1-weight"/>
          <p:cNvSpPr txBox="1"/>
          <p:nvPr/>
        </p:nvSpPr>
        <p:spPr>
          <a:xfrm>
            <a:off x="3838575" y="3067050"/>
            <a:ext cx="11239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30%</a:t>
            </a:r>
          </a:p>
        </p:txBody>
      </p:sp>
      <p:sp>
        <p:nvSpPr>
          <p:cNvPr id="39" name="row-1-opt-1-bg"/>
          <p:cNvSpPr/>
          <p:nvPr/>
        </p:nvSpPr>
        <p:spPr>
          <a:xfrm>
            <a:off x="4962525" y="306705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ow-1-opt-1-toprule"/>
          <p:cNvSpPr/>
          <p:nvPr/>
        </p:nvSpPr>
        <p:spPr>
          <a:xfrm>
            <a:off x="4962525" y="30670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1-opt-1-raw"/>
          <p:cNvSpPr txBox="1"/>
          <p:nvPr/>
        </p:nvSpPr>
        <p:spPr>
          <a:xfrm>
            <a:off x="4962525" y="31051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3</a:t>
            </a:r>
          </a:p>
        </p:txBody>
      </p:sp>
      <p:sp>
        <p:nvSpPr>
          <p:cNvPr id="42" name="row-1-opt-1-wt"/>
          <p:cNvSpPr txBox="1"/>
          <p:nvPr/>
        </p:nvSpPr>
        <p:spPr>
          <a:xfrm>
            <a:off x="4962525" y="32956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0.90</a:t>
            </a:r>
          </a:p>
        </p:txBody>
      </p:sp>
      <p:sp>
        <p:nvSpPr>
          <p:cNvPr id="43" name="row-1-opt-2-bg"/>
          <p:cNvSpPr/>
          <p:nvPr/>
        </p:nvSpPr>
        <p:spPr>
          <a:xfrm>
            <a:off x="7210425" y="3067050"/>
            <a:ext cx="2247900" cy="400050"/>
          </a:xfrm>
          <a:prstGeom prst="rect">
            <a:avLst/>
          </a:prstGeom>
          <a:solidFill>
            <a:srgbClr val="F7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ow-1-opt-2-left"/>
          <p:cNvSpPr/>
          <p:nvPr/>
        </p:nvSpPr>
        <p:spPr>
          <a:xfrm>
            <a:off x="7210425" y="306705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ow-1-opt-2-right"/>
          <p:cNvSpPr/>
          <p:nvPr/>
        </p:nvSpPr>
        <p:spPr>
          <a:xfrm>
            <a:off x="9439275" y="306705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ow-1-opt-2-toprule"/>
          <p:cNvSpPr/>
          <p:nvPr/>
        </p:nvSpPr>
        <p:spPr>
          <a:xfrm>
            <a:off x="7210425" y="30670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ow-1-opt-2-raw"/>
          <p:cNvSpPr txBox="1"/>
          <p:nvPr/>
        </p:nvSpPr>
        <p:spPr>
          <a:xfrm>
            <a:off x="7210425" y="31051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5</a:t>
            </a:r>
          </a:p>
        </p:txBody>
      </p:sp>
      <p:sp>
        <p:nvSpPr>
          <p:cNvPr id="48" name="row-1-opt-2-wt"/>
          <p:cNvSpPr txBox="1"/>
          <p:nvPr/>
        </p:nvSpPr>
        <p:spPr>
          <a:xfrm>
            <a:off x="7210425" y="32956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1.50</a:t>
            </a:r>
          </a:p>
        </p:txBody>
      </p:sp>
      <p:sp>
        <p:nvSpPr>
          <p:cNvPr id="49" name="row-1-opt-3-bg"/>
          <p:cNvSpPr/>
          <p:nvPr/>
        </p:nvSpPr>
        <p:spPr>
          <a:xfrm>
            <a:off x="9458325" y="306705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ow-1-opt-3-toprule"/>
          <p:cNvSpPr/>
          <p:nvPr/>
        </p:nvSpPr>
        <p:spPr>
          <a:xfrm>
            <a:off x="9458325" y="30670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row-1-opt-3-raw"/>
          <p:cNvSpPr txBox="1"/>
          <p:nvPr/>
        </p:nvSpPr>
        <p:spPr>
          <a:xfrm>
            <a:off x="9458325" y="31051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4</a:t>
            </a:r>
          </a:p>
        </p:txBody>
      </p:sp>
      <p:sp>
        <p:nvSpPr>
          <p:cNvPr id="52" name="row-1-opt-3-wt"/>
          <p:cNvSpPr txBox="1"/>
          <p:nvPr/>
        </p:nvSpPr>
        <p:spPr>
          <a:xfrm>
            <a:off x="9458325" y="32956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1.20</a:t>
            </a:r>
          </a:p>
        </p:txBody>
      </p:sp>
      <p:sp>
        <p:nvSpPr>
          <p:cNvPr id="53" name="row-2-crit-bg"/>
          <p:cNvSpPr/>
          <p:nvPr/>
        </p:nvSpPr>
        <p:spPr>
          <a:xfrm>
            <a:off x="457200" y="3467100"/>
            <a:ext cx="3381375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2-crit-rule-r"/>
          <p:cNvSpPr/>
          <p:nvPr/>
        </p:nvSpPr>
        <p:spPr>
          <a:xfrm>
            <a:off x="3829050" y="3467100"/>
            <a:ext cx="19050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ow-2-crit-num"/>
          <p:cNvSpPr txBox="1"/>
          <p:nvPr/>
        </p:nvSpPr>
        <p:spPr>
          <a:xfrm>
            <a:off x="590550" y="3505200"/>
            <a:ext cx="3114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CRITERION 2</a:t>
            </a:r>
          </a:p>
        </p:txBody>
      </p:sp>
      <p:sp>
        <p:nvSpPr>
          <p:cNvPr id="56" name="row-2-crit-name"/>
          <p:cNvSpPr txBox="1"/>
          <p:nvPr/>
        </p:nvSpPr>
        <p:spPr>
          <a:xfrm>
            <a:off x="590550" y="3638550"/>
            <a:ext cx="3114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Cost</a:t>
            </a:r>
          </a:p>
        </p:txBody>
      </p:sp>
      <p:sp>
        <p:nvSpPr>
          <p:cNvPr id="57" name="row-2-weight-bg"/>
          <p:cNvSpPr/>
          <p:nvPr/>
        </p:nvSpPr>
        <p:spPr>
          <a:xfrm>
            <a:off x="3838575" y="3467100"/>
            <a:ext cx="1123950" cy="4000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ow-2-weight"/>
          <p:cNvSpPr txBox="1"/>
          <p:nvPr/>
        </p:nvSpPr>
        <p:spPr>
          <a:xfrm>
            <a:off x="3838575" y="3467100"/>
            <a:ext cx="11239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20%</a:t>
            </a:r>
          </a:p>
        </p:txBody>
      </p:sp>
      <p:sp>
        <p:nvSpPr>
          <p:cNvPr id="59" name="row-2-opt-1-bg"/>
          <p:cNvSpPr/>
          <p:nvPr/>
        </p:nvSpPr>
        <p:spPr>
          <a:xfrm>
            <a:off x="4962525" y="346710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ow-2-opt-1-toprule"/>
          <p:cNvSpPr/>
          <p:nvPr/>
        </p:nvSpPr>
        <p:spPr>
          <a:xfrm>
            <a:off x="4962525" y="346710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ow-2-opt-1-raw"/>
          <p:cNvSpPr txBox="1"/>
          <p:nvPr/>
        </p:nvSpPr>
        <p:spPr>
          <a:xfrm>
            <a:off x="4962525" y="3505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5</a:t>
            </a:r>
          </a:p>
        </p:txBody>
      </p:sp>
      <p:sp>
        <p:nvSpPr>
          <p:cNvPr id="62" name="row-2-opt-1-wt"/>
          <p:cNvSpPr txBox="1"/>
          <p:nvPr/>
        </p:nvSpPr>
        <p:spPr>
          <a:xfrm>
            <a:off x="4962525" y="36957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1.00</a:t>
            </a:r>
          </a:p>
        </p:txBody>
      </p:sp>
      <p:sp>
        <p:nvSpPr>
          <p:cNvPr id="63" name="row-2-opt-2-bg"/>
          <p:cNvSpPr/>
          <p:nvPr/>
        </p:nvSpPr>
        <p:spPr>
          <a:xfrm>
            <a:off x="7210425" y="3467100"/>
            <a:ext cx="2247900" cy="400050"/>
          </a:xfrm>
          <a:prstGeom prst="rect">
            <a:avLst/>
          </a:prstGeom>
          <a:solidFill>
            <a:srgbClr val="F7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ow-2-opt-2-left"/>
          <p:cNvSpPr/>
          <p:nvPr/>
        </p:nvSpPr>
        <p:spPr>
          <a:xfrm>
            <a:off x="7210425" y="346710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2-opt-2-right"/>
          <p:cNvSpPr/>
          <p:nvPr/>
        </p:nvSpPr>
        <p:spPr>
          <a:xfrm>
            <a:off x="9439275" y="346710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row-2-opt-2-toprule"/>
          <p:cNvSpPr/>
          <p:nvPr/>
        </p:nvSpPr>
        <p:spPr>
          <a:xfrm>
            <a:off x="7210425" y="346710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ow-2-opt-2-raw"/>
          <p:cNvSpPr txBox="1"/>
          <p:nvPr/>
        </p:nvSpPr>
        <p:spPr>
          <a:xfrm>
            <a:off x="7210425" y="3505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68" name="row-2-opt-2-wt"/>
          <p:cNvSpPr txBox="1"/>
          <p:nvPr/>
        </p:nvSpPr>
        <p:spPr>
          <a:xfrm>
            <a:off x="7210425" y="36957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0.60</a:t>
            </a:r>
          </a:p>
        </p:txBody>
      </p:sp>
      <p:sp>
        <p:nvSpPr>
          <p:cNvPr id="69" name="row-2-opt-3-bg"/>
          <p:cNvSpPr/>
          <p:nvPr/>
        </p:nvSpPr>
        <p:spPr>
          <a:xfrm>
            <a:off x="9458325" y="346710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row-2-opt-3-toprule"/>
          <p:cNvSpPr/>
          <p:nvPr/>
        </p:nvSpPr>
        <p:spPr>
          <a:xfrm>
            <a:off x="9458325" y="346710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row-2-opt-3-raw"/>
          <p:cNvSpPr txBox="1"/>
          <p:nvPr/>
        </p:nvSpPr>
        <p:spPr>
          <a:xfrm>
            <a:off x="9458325" y="3505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2</a:t>
            </a:r>
          </a:p>
        </p:txBody>
      </p:sp>
      <p:sp>
        <p:nvSpPr>
          <p:cNvPr id="72" name="row-2-opt-3-wt"/>
          <p:cNvSpPr txBox="1"/>
          <p:nvPr/>
        </p:nvSpPr>
        <p:spPr>
          <a:xfrm>
            <a:off x="9458325" y="36957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0.40</a:t>
            </a:r>
          </a:p>
        </p:txBody>
      </p:sp>
      <p:sp>
        <p:nvSpPr>
          <p:cNvPr id="73" name="row-3-crit-bg"/>
          <p:cNvSpPr/>
          <p:nvPr/>
        </p:nvSpPr>
        <p:spPr>
          <a:xfrm>
            <a:off x="457200" y="3867150"/>
            <a:ext cx="3381375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ow-3-crit-rule-r"/>
          <p:cNvSpPr/>
          <p:nvPr/>
        </p:nvSpPr>
        <p:spPr>
          <a:xfrm>
            <a:off x="3829050" y="3867150"/>
            <a:ext cx="19050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ow-3-crit-num"/>
          <p:cNvSpPr txBox="1"/>
          <p:nvPr/>
        </p:nvSpPr>
        <p:spPr>
          <a:xfrm>
            <a:off x="590550" y="3905250"/>
            <a:ext cx="3114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CRITERION 3</a:t>
            </a:r>
          </a:p>
        </p:txBody>
      </p:sp>
      <p:sp>
        <p:nvSpPr>
          <p:cNvPr id="76" name="row-3-crit-name"/>
          <p:cNvSpPr txBox="1"/>
          <p:nvPr/>
        </p:nvSpPr>
        <p:spPr>
          <a:xfrm>
            <a:off x="590550" y="4038600"/>
            <a:ext cx="3114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Risk</a:t>
            </a:r>
          </a:p>
        </p:txBody>
      </p:sp>
      <p:sp>
        <p:nvSpPr>
          <p:cNvPr id="77" name="row-3-weight-bg"/>
          <p:cNvSpPr/>
          <p:nvPr/>
        </p:nvSpPr>
        <p:spPr>
          <a:xfrm>
            <a:off x="3838575" y="3867150"/>
            <a:ext cx="1123950" cy="4000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ow-3-weight"/>
          <p:cNvSpPr txBox="1"/>
          <p:nvPr/>
        </p:nvSpPr>
        <p:spPr>
          <a:xfrm>
            <a:off x="3838575" y="3867150"/>
            <a:ext cx="11239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20%</a:t>
            </a:r>
          </a:p>
        </p:txBody>
      </p:sp>
      <p:sp>
        <p:nvSpPr>
          <p:cNvPr id="79" name="row-3-opt-1-bg"/>
          <p:cNvSpPr/>
          <p:nvPr/>
        </p:nvSpPr>
        <p:spPr>
          <a:xfrm>
            <a:off x="4962525" y="386715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ow-3-opt-1-toprule"/>
          <p:cNvSpPr/>
          <p:nvPr/>
        </p:nvSpPr>
        <p:spPr>
          <a:xfrm>
            <a:off x="4962525" y="38671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row-3-opt-1-raw"/>
          <p:cNvSpPr txBox="1"/>
          <p:nvPr/>
        </p:nvSpPr>
        <p:spPr>
          <a:xfrm>
            <a:off x="4962525" y="39052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5</a:t>
            </a:r>
          </a:p>
        </p:txBody>
      </p:sp>
      <p:sp>
        <p:nvSpPr>
          <p:cNvPr id="82" name="row-3-opt-1-wt"/>
          <p:cNvSpPr txBox="1"/>
          <p:nvPr/>
        </p:nvSpPr>
        <p:spPr>
          <a:xfrm>
            <a:off x="4962525" y="40957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1.00</a:t>
            </a:r>
          </a:p>
        </p:txBody>
      </p:sp>
      <p:sp>
        <p:nvSpPr>
          <p:cNvPr id="83" name="row-3-opt-2-bg"/>
          <p:cNvSpPr/>
          <p:nvPr/>
        </p:nvSpPr>
        <p:spPr>
          <a:xfrm>
            <a:off x="7210425" y="3867150"/>
            <a:ext cx="2247900" cy="400050"/>
          </a:xfrm>
          <a:prstGeom prst="rect">
            <a:avLst/>
          </a:prstGeom>
          <a:solidFill>
            <a:srgbClr val="F7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ow-3-opt-2-left"/>
          <p:cNvSpPr/>
          <p:nvPr/>
        </p:nvSpPr>
        <p:spPr>
          <a:xfrm>
            <a:off x="7210425" y="386715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ow-3-opt-2-right"/>
          <p:cNvSpPr/>
          <p:nvPr/>
        </p:nvSpPr>
        <p:spPr>
          <a:xfrm>
            <a:off x="9439275" y="386715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ow-3-opt-2-toprule"/>
          <p:cNvSpPr/>
          <p:nvPr/>
        </p:nvSpPr>
        <p:spPr>
          <a:xfrm>
            <a:off x="7210425" y="38671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ow-3-opt-2-raw"/>
          <p:cNvSpPr txBox="1"/>
          <p:nvPr/>
        </p:nvSpPr>
        <p:spPr>
          <a:xfrm>
            <a:off x="7210425" y="39052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88" name="row-3-opt-2-wt"/>
          <p:cNvSpPr txBox="1"/>
          <p:nvPr/>
        </p:nvSpPr>
        <p:spPr>
          <a:xfrm>
            <a:off x="7210425" y="40957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0.80</a:t>
            </a:r>
          </a:p>
        </p:txBody>
      </p:sp>
      <p:sp>
        <p:nvSpPr>
          <p:cNvPr id="89" name="row-3-opt-3-bg"/>
          <p:cNvSpPr/>
          <p:nvPr/>
        </p:nvSpPr>
        <p:spPr>
          <a:xfrm>
            <a:off x="9458325" y="386715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row-3-opt-3-toprule"/>
          <p:cNvSpPr/>
          <p:nvPr/>
        </p:nvSpPr>
        <p:spPr>
          <a:xfrm>
            <a:off x="9458325" y="38671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row-3-opt-3-raw"/>
          <p:cNvSpPr txBox="1"/>
          <p:nvPr/>
        </p:nvSpPr>
        <p:spPr>
          <a:xfrm>
            <a:off x="9458325" y="39052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2</a:t>
            </a:r>
          </a:p>
        </p:txBody>
      </p:sp>
      <p:sp>
        <p:nvSpPr>
          <p:cNvPr id="92" name="row-3-opt-3-wt"/>
          <p:cNvSpPr txBox="1"/>
          <p:nvPr/>
        </p:nvSpPr>
        <p:spPr>
          <a:xfrm>
            <a:off x="9458325" y="40957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0.40</a:t>
            </a:r>
          </a:p>
        </p:txBody>
      </p:sp>
      <p:sp>
        <p:nvSpPr>
          <p:cNvPr id="93" name="row-4-crit-bg"/>
          <p:cNvSpPr/>
          <p:nvPr/>
        </p:nvSpPr>
        <p:spPr>
          <a:xfrm>
            <a:off x="457200" y="4267200"/>
            <a:ext cx="3381375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row-4-crit-rule-r"/>
          <p:cNvSpPr/>
          <p:nvPr/>
        </p:nvSpPr>
        <p:spPr>
          <a:xfrm>
            <a:off x="3829050" y="4267200"/>
            <a:ext cx="19050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ow-4-crit-num"/>
          <p:cNvSpPr txBox="1"/>
          <p:nvPr/>
        </p:nvSpPr>
        <p:spPr>
          <a:xfrm>
            <a:off x="590550" y="4305300"/>
            <a:ext cx="3114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CRITERION 4</a:t>
            </a:r>
          </a:p>
        </p:txBody>
      </p:sp>
      <p:sp>
        <p:nvSpPr>
          <p:cNvPr id="96" name="row-4-crit-name"/>
          <p:cNvSpPr txBox="1"/>
          <p:nvPr/>
        </p:nvSpPr>
        <p:spPr>
          <a:xfrm>
            <a:off x="590550" y="4438650"/>
            <a:ext cx="3114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Strategic optionality</a:t>
            </a:r>
          </a:p>
        </p:txBody>
      </p:sp>
      <p:sp>
        <p:nvSpPr>
          <p:cNvPr id="97" name="row-4-weight-bg"/>
          <p:cNvSpPr/>
          <p:nvPr/>
        </p:nvSpPr>
        <p:spPr>
          <a:xfrm>
            <a:off x="3838575" y="4267200"/>
            <a:ext cx="1123950" cy="4000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row-4-weight"/>
          <p:cNvSpPr txBox="1"/>
          <p:nvPr/>
        </p:nvSpPr>
        <p:spPr>
          <a:xfrm>
            <a:off x="3838575" y="4267200"/>
            <a:ext cx="11239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15%</a:t>
            </a:r>
          </a:p>
        </p:txBody>
      </p:sp>
      <p:sp>
        <p:nvSpPr>
          <p:cNvPr id="99" name="row-4-opt-1-bg"/>
          <p:cNvSpPr/>
          <p:nvPr/>
        </p:nvSpPr>
        <p:spPr>
          <a:xfrm>
            <a:off x="4962525" y="426720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row-4-opt-1-toprule"/>
          <p:cNvSpPr/>
          <p:nvPr/>
        </p:nvSpPr>
        <p:spPr>
          <a:xfrm>
            <a:off x="4962525" y="426720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row-4-opt-1-raw"/>
          <p:cNvSpPr txBox="1"/>
          <p:nvPr/>
        </p:nvSpPr>
        <p:spPr>
          <a:xfrm>
            <a:off x="4962525" y="43053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2</a:t>
            </a:r>
          </a:p>
        </p:txBody>
      </p:sp>
      <p:sp>
        <p:nvSpPr>
          <p:cNvPr id="102" name="row-4-opt-1-wt"/>
          <p:cNvSpPr txBox="1"/>
          <p:nvPr/>
        </p:nvSpPr>
        <p:spPr>
          <a:xfrm>
            <a:off x="4962525" y="44958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0.30</a:t>
            </a:r>
          </a:p>
        </p:txBody>
      </p:sp>
      <p:sp>
        <p:nvSpPr>
          <p:cNvPr id="103" name="row-4-opt-2-bg"/>
          <p:cNvSpPr/>
          <p:nvPr/>
        </p:nvSpPr>
        <p:spPr>
          <a:xfrm>
            <a:off x="7210425" y="4267200"/>
            <a:ext cx="2247900" cy="400050"/>
          </a:xfrm>
          <a:prstGeom prst="rect">
            <a:avLst/>
          </a:prstGeom>
          <a:solidFill>
            <a:srgbClr val="F7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row-4-opt-2-left"/>
          <p:cNvSpPr/>
          <p:nvPr/>
        </p:nvSpPr>
        <p:spPr>
          <a:xfrm>
            <a:off x="7210425" y="426720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row-4-opt-2-right"/>
          <p:cNvSpPr/>
          <p:nvPr/>
        </p:nvSpPr>
        <p:spPr>
          <a:xfrm>
            <a:off x="9439275" y="426720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ow-4-opt-2-toprule"/>
          <p:cNvSpPr/>
          <p:nvPr/>
        </p:nvSpPr>
        <p:spPr>
          <a:xfrm>
            <a:off x="7210425" y="426720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row-4-opt-2-raw"/>
          <p:cNvSpPr txBox="1"/>
          <p:nvPr/>
        </p:nvSpPr>
        <p:spPr>
          <a:xfrm>
            <a:off x="7210425" y="43053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108" name="row-4-opt-2-wt"/>
          <p:cNvSpPr txBox="1"/>
          <p:nvPr/>
        </p:nvSpPr>
        <p:spPr>
          <a:xfrm>
            <a:off x="7210425" y="44958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0.60</a:t>
            </a:r>
          </a:p>
        </p:txBody>
      </p:sp>
      <p:sp>
        <p:nvSpPr>
          <p:cNvPr id="109" name="row-4-opt-3-bg"/>
          <p:cNvSpPr/>
          <p:nvPr/>
        </p:nvSpPr>
        <p:spPr>
          <a:xfrm>
            <a:off x="9458325" y="426720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row-4-opt-3-toprule"/>
          <p:cNvSpPr/>
          <p:nvPr/>
        </p:nvSpPr>
        <p:spPr>
          <a:xfrm>
            <a:off x="9458325" y="426720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row-4-opt-3-raw"/>
          <p:cNvSpPr txBox="1"/>
          <p:nvPr/>
        </p:nvSpPr>
        <p:spPr>
          <a:xfrm>
            <a:off x="9458325" y="43053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3</a:t>
            </a:r>
          </a:p>
        </p:txBody>
      </p:sp>
      <p:sp>
        <p:nvSpPr>
          <p:cNvPr id="112" name="row-4-opt-3-wt"/>
          <p:cNvSpPr txBox="1"/>
          <p:nvPr/>
        </p:nvSpPr>
        <p:spPr>
          <a:xfrm>
            <a:off x="9458325" y="44958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0.45</a:t>
            </a:r>
          </a:p>
        </p:txBody>
      </p:sp>
      <p:sp>
        <p:nvSpPr>
          <p:cNvPr id="113" name="row-5-crit-bg"/>
          <p:cNvSpPr/>
          <p:nvPr/>
        </p:nvSpPr>
        <p:spPr>
          <a:xfrm>
            <a:off x="457200" y="4667250"/>
            <a:ext cx="3381375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row-5-crit-rule-r"/>
          <p:cNvSpPr/>
          <p:nvPr/>
        </p:nvSpPr>
        <p:spPr>
          <a:xfrm>
            <a:off x="3829050" y="4667250"/>
            <a:ext cx="19050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row-5-crit-num"/>
          <p:cNvSpPr txBox="1"/>
          <p:nvPr/>
        </p:nvSpPr>
        <p:spPr>
          <a:xfrm>
            <a:off x="590550" y="4705350"/>
            <a:ext cx="3114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CRITERION 5</a:t>
            </a:r>
          </a:p>
        </p:txBody>
      </p:sp>
      <p:sp>
        <p:nvSpPr>
          <p:cNvPr id="116" name="row-5-crit-name"/>
          <p:cNvSpPr txBox="1"/>
          <p:nvPr/>
        </p:nvSpPr>
        <p:spPr>
          <a:xfrm>
            <a:off x="590550" y="4838700"/>
            <a:ext cx="3114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Time-to-impact</a:t>
            </a:r>
          </a:p>
        </p:txBody>
      </p:sp>
      <p:sp>
        <p:nvSpPr>
          <p:cNvPr id="117" name="row-5-weight-bg"/>
          <p:cNvSpPr/>
          <p:nvPr/>
        </p:nvSpPr>
        <p:spPr>
          <a:xfrm>
            <a:off x="3838575" y="4667250"/>
            <a:ext cx="1123950" cy="4000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row-5-weight"/>
          <p:cNvSpPr txBox="1"/>
          <p:nvPr/>
        </p:nvSpPr>
        <p:spPr>
          <a:xfrm>
            <a:off x="3838575" y="4667250"/>
            <a:ext cx="11239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15%</a:t>
            </a:r>
          </a:p>
        </p:txBody>
      </p:sp>
      <p:sp>
        <p:nvSpPr>
          <p:cNvPr id="119" name="row-5-opt-1-bg"/>
          <p:cNvSpPr/>
          <p:nvPr/>
        </p:nvSpPr>
        <p:spPr>
          <a:xfrm>
            <a:off x="4962525" y="466725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row-5-opt-1-toprule"/>
          <p:cNvSpPr/>
          <p:nvPr/>
        </p:nvSpPr>
        <p:spPr>
          <a:xfrm>
            <a:off x="4962525" y="46672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row-5-opt-1-raw"/>
          <p:cNvSpPr txBox="1"/>
          <p:nvPr/>
        </p:nvSpPr>
        <p:spPr>
          <a:xfrm>
            <a:off x="4962525" y="47053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4</a:t>
            </a:r>
          </a:p>
        </p:txBody>
      </p:sp>
      <p:sp>
        <p:nvSpPr>
          <p:cNvPr id="122" name="row-5-opt-1-wt"/>
          <p:cNvSpPr txBox="1"/>
          <p:nvPr/>
        </p:nvSpPr>
        <p:spPr>
          <a:xfrm>
            <a:off x="4962525" y="48958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0.60</a:t>
            </a:r>
          </a:p>
        </p:txBody>
      </p:sp>
      <p:sp>
        <p:nvSpPr>
          <p:cNvPr id="123" name="row-5-opt-2-bg"/>
          <p:cNvSpPr/>
          <p:nvPr/>
        </p:nvSpPr>
        <p:spPr>
          <a:xfrm>
            <a:off x="7210425" y="4667250"/>
            <a:ext cx="2247900" cy="400050"/>
          </a:xfrm>
          <a:prstGeom prst="rect">
            <a:avLst/>
          </a:prstGeom>
          <a:solidFill>
            <a:srgbClr val="F7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row-5-opt-2-left"/>
          <p:cNvSpPr/>
          <p:nvPr/>
        </p:nvSpPr>
        <p:spPr>
          <a:xfrm>
            <a:off x="7210425" y="466725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5" name="row-5-opt-2-right"/>
          <p:cNvSpPr/>
          <p:nvPr/>
        </p:nvSpPr>
        <p:spPr>
          <a:xfrm>
            <a:off x="9439275" y="4667250"/>
            <a:ext cx="1905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row-5-opt-2-toprule"/>
          <p:cNvSpPr/>
          <p:nvPr/>
        </p:nvSpPr>
        <p:spPr>
          <a:xfrm>
            <a:off x="7210425" y="46672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row-5-opt-2-raw"/>
          <p:cNvSpPr txBox="1"/>
          <p:nvPr/>
        </p:nvSpPr>
        <p:spPr>
          <a:xfrm>
            <a:off x="7210425" y="47053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128" name="row-5-opt-2-wt"/>
          <p:cNvSpPr txBox="1"/>
          <p:nvPr/>
        </p:nvSpPr>
        <p:spPr>
          <a:xfrm>
            <a:off x="7210425" y="48958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0.45</a:t>
            </a:r>
          </a:p>
        </p:txBody>
      </p:sp>
      <p:sp>
        <p:nvSpPr>
          <p:cNvPr id="129" name="row-5-opt-3-bg"/>
          <p:cNvSpPr/>
          <p:nvPr/>
        </p:nvSpPr>
        <p:spPr>
          <a:xfrm>
            <a:off x="9458325" y="4667250"/>
            <a:ext cx="22479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row-5-opt-3-toprule"/>
          <p:cNvSpPr/>
          <p:nvPr/>
        </p:nvSpPr>
        <p:spPr>
          <a:xfrm>
            <a:off x="9458325" y="4667250"/>
            <a:ext cx="22479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row-5-opt-3-raw"/>
          <p:cNvSpPr txBox="1"/>
          <p:nvPr/>
        </p:nvSpPr>
        <p:spPr>
          <a:xfrm>
            <a:off x="9458325" y="470535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2E"/>
                </a:solidFill>
                <a:latin typeface="Inter"/>
              </a:rPr>
              <a:t>2</a:t>
            </a:r>
          </a:p>
        </p:txBody>
      </p:sp>
      <p:sp>
        <p:nvSpPr>
          <p:cNvPr id="132" name="row-5-opt-3-wt"/>
          <p:cNvSpPr txBox="1"/>
          <p:nvPr/>
        </p:nvSpPr>
        <p:spPr>
          <a:xfrm>
            <a:off x="9458325" y="48958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0.30</a:t>
            </a:r>
          </a:p>
        </p:txBody>
      </p:sp>
      <p:sp>
        <p:nvSpPr>
          <p:cNvPr id="133" name="total-label-bg"/>
          <p:cNvSpPr/>
          <p:nvPr/>
        </p:nvSpPr>
        <p:spPr>
          <a:xfrm>
            <a:off x="457200" y="5067300"/>
            <a:ext cx="3381375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4" name="total-label"/>
          <p:cNvSpPr txBox="1"/>
          <p:nvPr/>
        </p:nvSpPr>
        <p:spPr>
          <a:xfrm>
            <a:off x="590550" y="5067300"/>
            <a:ext cx="31146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WEIGHTED TOTAL</a:t>
            </a:r>
          </a:p>
        </p:txBody>
      </p:sp>
      <p:sp>
        <p:nvSpPr>
          <p:cNvPr id="135" name="total-weight-bg"/>
          <p:cNvSpPr/>
          <p:nvPr/>
        </p:nvSpPr>
        <p:spPr>
          <a:xfrm>
            <a:off x="3838575" y="5067300"/>
            <a:ext cx="1123950" cy="400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total-weight"/>
          <p:cNvSpPr txBox="1"/>
          <p:nvPr/>
        </p:nvSpPr>
        <p:spPr>
          <a:xfrm>
            <a:off x="3838575" y="5067300"/>
            <a:ext cx="11239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137" name="total-opt-1-bg"/>
          <p:cNvSpPr/>
          <p:nvPr/>
        </p:nvSpPr>
        <p:spPr>
          <a:xfrm>
            <a:off x="4962525" y="5067300"/>
            <a:ext cx="22479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total-opt-1-val"/>
          <p:cNvSpPr txBox="1"/>
          <p:nvPr/>
        </p:nvSpPr>
        <p:spPr>
          <a:xfrm>
            <a:off x="4962525" y="5067300"/>
            <a:ext cx="20764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3.65</a:t>
            </a:r>
          </a:p>
        </p:txBody>
      </p:sp>
      <p:sp>
        <p:nvSpPr>
          <p:cNvPr id="139" name="total-opt-1-out"/>
          <p:cNvSpPr txBox="1"/>
          <p:nvPr/>
        </p:nvSpPr>
        <p:spPr>
          <a:xfrm>
            <a:off x="6943725" y="520065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/5</a:t>
            </a:r>
          </a:p>
        </p:txBody>
      </p:sp>
      <p:sp>
        <p:nvSpPr>
          <p:cNvPr id="140" name="total-opt-2-bg"/>
          <p:cNvSpPr/>
          <p:nvPr/>
        </p:nvSpPr>
        <p:spPr>
          <a:xfrm>
            <a:off x="7210425" y="5067300"/>
            <a:ext cx="22479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total-opt-2-val"/>
          <p:cNvSpPr txBox="1"/>
          <p:nvPr/>
        </p:nvSpPr>
        <p:spPr>
          <a:xfrm>
            <a:off x="7210425" y="5067300"/>
            <a:ext cx="20764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4.05</a:t>
            </a:r>
          </a:p>
        </p:txBody>
      </p:sp>
      <p:sp>
        <p:nvSpPr>
          <p:cNvPr id="142" name="total-opt-2-out"/>
          <p:cNvSpPr txBox="1"/>
          <p:nvPr/>
        </p:nvSpPr>
        <p:spPr>
          <a:xfrm>
            <a:off x="9191625" y="520065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/5</a:t>
            </a:r>
          </a:p>
        </p:txBody>
      </p:sp>
      <p:sp>
        <p:nvSpPr>
          <p:cNvPr id="143" name="total-opt-3-bg"/>
          <p:cNvSpPr/>
          <p:nvPr/>
        </p:nvSpPr>
        <p:spPr>
          <a:xfrm>
            <a:off x="9458325" y="5067300"/>
            <a:ext cx="22479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4" name="total-opt-3-val"/>
          <p:cNvSpPr txBox="1"/>
          <p:nvPr/>
        </p:nvSpPr>
        <p:spPr>
          <a:xfrm>
            <a:off x="9458325" y="5067300"/>
            <a:ext cx="20764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2.75</a:t>
            </a:r>
          </a:p>
        </p:txBody>
      </p:sp>
      <p:sp>
        <p:nvSpPr>
          <p:cNvPr id="145" name="total-opt-3-out"/>
          <p:cNvSpPr txBox="1"/>
          <p:nvPr/>
        </p:nvSpPr>
        <p:spPr>
          <a:xfrm>
            <a:off x="11439525" y="520065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/5</a:t>
            </a:r>
          </a:p>
        </p:txBody>
      </p:sp>
      <p:sp>
        <p:nvSpPr>
          <p:cNvPr id="146" name="convergence-bg"/>
          <p:cNvSpPr/>
          <p:nvPr/>
        </p:nvSpPr>
        <p:spPr>
          <a:xfrm>
            <a:off x="457200" y="5619750"/>
            <a:ext cx="112776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7" name="convergence-tag-bg"/>
          <p:cNvSpPr/>
          <p:nvPr/>
        </p:nvSpPr>
        <p:spPr>
          <a:xfrm>
            <a:off x="571500" y="5715000"/>
            <a:ext cx="5715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convergence-tag"/>
          <p:cNvSpPr txBox="1"/>
          <p:nvPr/>
        </p:nvSpPr>
        <p:spPr>
          <a:xfrm>
            <a:off x="571500" y="57150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149" name="convergence"/>
          <p:cNvSpPr txBox="1"/>
          <p:nvPr/>
        </p:nvSpPr>
        <p:spPr>
          <a:xfrm>
            <a:off x="1238250" y="5619750"/>
            <a:ext cx="104203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Option B wins on </a:t>
            </a:r>
            <a:r>
              <a:rPr sz="1050" b="1" i="0">
                <a:solidFill>
                  <a:srgbClr val="C780FF"/>
                </a:solidFill>
                <a:latin typeface="Inter"/>
              </a:rPr>
              <a:t>three of five criteria</a:t>
            </a:r>
            <a:r>
              <a:rPr sz="1050" b="0" i="0">
                <a:solidFill>
                  <a:srgbClr val="FFFFFF"/>
                </a:solidFill>
                <a:latin typeface="Inter"/>
              </a:rPr>
              <a:t>, including the heaviest — cycle time impact at 30%. A's cost advantage isn't enough to close the gap.</a:t>
            </a:r>
          </a:p>
        </p:txBody>
      </p:sp>
      <p:sp>
        <p:nvSpPr>
          <p:cNvPr id="15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5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5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