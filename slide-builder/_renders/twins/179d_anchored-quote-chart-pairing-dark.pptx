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Employee trust is the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new performance currency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Survey data shows alignment between leadership sentiment and workforce confidence scores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ote-card"/>
          <p:cNvSpPr/>
          <p:nvPr/>
        </p:nvSpPr>
        <p:spPr>
          <a:xfrm>
            <a:off x="457200" y="2095500"/>
            <a:ext cx="4400550" cy="40767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ote-accent"/>
          <p:cNvSpPr/>
          <p:nvPr/>
        </p:nvSpPr>
        <p:spPr>
          <a:xfrm>
            <a:off x="457200" y="2095500"/>
            <a:ext cx="38100" cy="4076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ote-mark"/>
          <p:cNvSpPr txBox="1"/>
          <p:nvPr/>
        </p:nvSpPr>
        <p:spPr>
          <a:xfrm>
            <a:off x="685800" y="22098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C780FF"/>
                </a:solidFill>
                <a:latin typeface="Georgia"/>
              </a:rPr>
              <a:t>“</a:t>
            </a:r>
          </a:p>
        </p:txBody>
      </p:sp>
      <p:sp>
        <p:nvSpPr>
          <p:cNvPr id="8" name="quote-text"/>
          <p:cNvSpPr txBox="1"/>
          <p:nvPr/>
        </p:nvSpPr>
        <p:spPr>
          <a:xfrm>
            <a:off x="685800" y="2838450"/>
            <a:ext cx="3943350" cy="2552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0" i="1">
                <a:solidFill>
                  <a:srgbClr val="FFFFFF"/>
                </a:solidFill>
                <a:latin typeface="Inter"/>
              </a:rPr>
              <a:t>When people trust that their leaders are being honest with them, performance outcomes follow naturally. Culture isn't a soft metric — it's the leading indicator every board should be watching.</a:t>
            </a:r>
          </a:p>
        </p:txBody>
      </p:sp>
      <p:sp>
        <p:nvSpPr>
          <p:cNvPr id="9" name="quote-attribution-name"/>
          <p:cNvSpPr txBox="1"/>
          <p:nvPr/>
        </p:nvSpPr>
        <p:spPr>
          <a:xfrm>
            <a:off x="685800" y="5715000"/>
            <a:ext cx="394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Sarah Okonkwo</a:t>
            </a:r>
          </a:p>
        </p:txBody>
      </p:sp>
      <p:sp>
        <p:nvSpPr>
          <p:cNvPr id="10" name="quote-attribution-role"/>
          <p:cNvSpPr txBox="1"/>
          <p:nvPr/>
        </p:nvSpPr>
        <p:spPr>
          <a:xfrm>
            <a:off x="685800" y="5886450"/>
            <a:ext cx="394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Chief People Officer, Global Enterprise Survey 2026</a:t>
            </a:r>
          </a:p>
        </p:txBody>
      </p:sp>
      <p:sp>
        <p:nvSpPr>
          <p:cNvPr id="11" name="chart-title"/>
          <p:cNvSpPr txBox="1"/>
          <p:nvPr/>
        </p:nvSpPr>
        <p:spPr>
          <a:xfrm>
            <a:off x="5124450" y="2095500"/>
            <a:ext cx="661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% Employees who strongly agree — Workforce Confidence Survey 2026 (n = 4,200)</a:t>
            </a:r>
          </a:p>
        </p:txBody>
      </p:sp>
      <p:sp>
        <p:nvSpPr>
          <p:cNvPr id="12" name="bar-1-label"/>
          <p:cNvSpPr txBox="1"/>
          <p:nvPr/>
        </p:nvSpPr>
        <p:spPr>
          <a:xfrm>
            <a:off x="5124450" y="264795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Leadership communicates openly</a:t>
            </a:r>
          </a:p>
        </p:txBody>
      </p:sp>
      <p:sp>
        <p:nvSpPr>
          <p:cNvPr id="13" name="bar-1-track"/>
          <p:cNvSpPr/>
          <p:nvPr/>
        </p:nvSpPr>
        <p:spPr>
          <a:xfrm>
            <a:off x="6838950" y="2647950"/>
            <a:ext cx="4419600" cy="2095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ar-1-bar"/>
          <p:cNvSpPr/>
          <p:nvPr/>
        </p:nvSpPr>
        <p:spPr>
          <a:xfrm>
            <a:off x="6838950" y="2647950"/>
            <a:ext cx="3438525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ar-1-val"/>
          <p:cNvSpPr txBox="1"/>
          <p:nvPr/>
        </p:nvSpPr>
        <p:spPr>
          <a:xfrm>
            <a:off x="10334625" y="26479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78%</a:t>
            </a:r>
          </a:p>
        </p:txBody>
      </p:sp>
      <p:sp>
        <p:nvSpPr>
          <p:cNvPr id="16" name="bar-2-label"/>
          <p:cNvSpPr txBox="1"/>
          <p:nvPr/>
        </p:nvSpPr>
        <p:spPr>
          <a:xfrm>
            <a:off x="5124450" y="335280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 trust my direct manager</a:t>
            </a:r>
          </a:p>
        </p:txBody>
      </p:sp>
      <p:sp>
        <p:nvSpPr>
          <p:cNvPr id="17" name="bar-2-track"/>
          <p:cNvSpPr/>
          <p:nvPr/>
        </p:nvSpPr>
        <p:spPr>
          <a:xfrm>
            <a:off x="6838950" y="3352800"/>
            <a:ext cx="4419600" cy="2095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ar-2-bar"/>
          <p:cNvSpPr/>
          <p:nvPr/>
        </p:nvSpPr>
        <p:spPr>
          <a:xfrm>
            <a:off x="6838950" y="3352800"/>
            <a:ext cx="31337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ar-2-val"/>
          <p:cNvSpPr txBox="1"/>
          <p:nvPr/>
        </p:nvSpPr>
        <p:spPr>
          <a:xfrm>
            <a:off x="10029825" y="335280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71%</a:t>
            </a:r>
          </a:p>
        </p:txBody>
      </p:sp>
      <p:sp>
        <p:nvSpPr>
          <p:cNvPr id="20" name="bar-3-label"/>
          <p:cNvSpPr txBox="1"/>
          <p:nvPr/>
        </p:nvSpPr>
        <p:spPr>
          <a:xfrm>
            <a:off x="5124450" y="405765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Company vision is clear to me</a:t>
            </a:r>
          </a:p>
        </p:txBody>
      </p:sp>
      <p:sp>
        <p:nvSpPr>
          <p:cNvPr id="21" name="bar-3-track"/>
          <p:cNvSpPr/>
          <p:nvPr/>
        </p:nvSpPr>
        <p:spPr>
          <a:xfrm>
            <a:off x="6838950" y="4057650"/>
            <a:ext cx="4419600" cy="2095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ar-3-bar"/>
          <p:cNvSpPr/>
          <p:nvPr/>
        </p:nvSpPr>
        <p:spPr>
          <a:xfrm>
            <a:off x="6838950" y="4057650"/>
            <a:ext cx="28194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3-val"/>
          <p:cNvSpPr txBox="1"/>
          <p:nvPr/>
        </p:nvSpPr>
        <p:spPr>
          <a:xfrm>
            <a:off x="9715500" y="40576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64%</a:t>
            </a:r>
          </a:p>
        </p:txBody>
      </p:sp>
      <p:sp>
        <p:nvSpPr>
          <p:cNvPr id="24" name="bar-4-label"/>
          <p:cNvSpPr txBox="1"/>
          <p:nvPr/>
        </p:nvSpPr>
        <p:spPr>
          <a:xfrm>
            <a:off x="5124450" y="476250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Feedback leads to real change</a:t>
            </a:r>
          </a:p>
        </p:txBody>
      </p:sp>
      <p:sp>
        <p:nvSpPr>
          <p:cNvPr id="25" name="bar-4-track"/>
          <p:cNvSpPr/>
          <p:nvPr/>
        </p:nvSpPr>
        <p:spPr>
          <a:xfrm>
            <a:off x="6838950" y="4762500"/>
            <a:ext cx="4419600" cy="2095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ar-4-bar"/>
          <p:cNvSpPr/>
          <p:nvPr/>
        </p:nvSpPr>
        <p:spPr>
          <a:xfrm>
            <a:off x="6838950" y="4762500"/>
            <a:ext cx="22955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ar-4-val"/>
          <p:cNvSpPr txBox="1"/>
          <p:nvPr/>
        </p:nvSpPr>
        <p:spPr>
          <a:xfrm>
            <a:off x="9191625" y="476250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52%</a:t>
            </a:r>
          </a:p>
        </p:txBody>
      </p:sp>
      <p:sp>
        <p:nvSpPr>
          <p:cNvPr id="28" name="bar-5-label"/>
          <p:cNvSpPr txBox="1"/>
          <p:nvPr/>
        </p:nvSpPr>
        <p:spPr>
          <a:xfrm>
            <a:off x="5124450" y="546735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Senior leadership walks the talk</a:t>
            </a:r>
          </a:p>
        </p:txBody>
      </p:sp>
      <p:sp>
        <p:nvSpPr>
          <p:cNvPr id="29" name="bar-5-track"/>
          <p:cNvSpPr/>
          <p:nvPr/>
        </p:nvSpPr>
        <p:spPr>
          <a:xfrm>
            <a:off x="6838950" y="5467350"/>
            <a:ext cx="4419600" cy="2095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ar-5-bar"/>
          <p:cNvSpPr/>
          <p:nvPr/>
        </p:nvSpPr>
        <p:spPr>
          <a:xfrm>
            <a:off x="6838950" y="5467350"/>
            <a:ext cx="19431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r-5-val"/>
          <p:cNvSpPr txBox="1"/>
          <p:nvPr/>
        </p:nvSpPr>
        <p:spPr>
          <a:xfrm>
            <a:off x="8839200" y="54673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44%</a:t>
            </a:r>
          </a:p>
        </p:txBody>
      </p:sp>
      <p:sp>
        <p:nvSpPr>
          <p:cNvPr id="32" name="x-tick-0"/>
          <p:cNvSpPr txBox="1"/>
          <p:nvPr/>
        </p:nvSpPr>
        <p:spPr>
          <a:xfrm>
            <a:off x="66484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0%</a:t>
            </a:r>
          </a:p>
        </p:txBody>
      </p:sp>
      <p:sp>
        <p:nvSpPr>
          <p:cNvPr id="33" name="x-tick-25"/>
          <p:cNvSpPr txBox="1"/>
          <p:nvPr/>
        </p:nvSpPr>
        <p:spPr>
          <a:xfrm>
            <a:off x="77533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25%</a:t>
            </a:r>
          </a:p>
        </p:txBody>
      </p:sp>
      <p:sp>
        <p:nvSpPr>
          <p:cNvPr id="34" name="x-tick-50"/>
          <p:cNvSpPr txBox="1"/>
          <p:nvPr/>
        </p:nvSpPr>
        <p:spPr>
          <a:xfrm>
            <a:off x="88582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50%</a:t>
            </a:r>
          </a:p>
        </p:txBody>
      </p:sp>
      <p:sp>
        <p:nvSpPr>
          <p:cNvPr id="35" name="x-tick-75"/>
          <p:cNvSpPr txBox="1"/>
          <p:nvPr/>
        </p:nvSpPr>
        <p:spPr>
          <a:xfrm>
            <a:off x="99631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75%</a:t>
            </a:r>
          </a:p>
        </p:txBody>
      </p:sp>
      <p:sp>
        <p:nvSpPr>
          <p:cNvPr id="36" name="x-tick-100"/>
          <p:cNvSpPr txBox="1"/>
          <p:nvPr/>
        </p:nvSpPr>
        <p:spPr>
          <a:xfrm>
            <a:off x="110680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100%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