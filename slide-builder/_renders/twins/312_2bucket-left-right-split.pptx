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Two perspectives,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one clear picture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Side-by-side comparison of two strategic dimensions or workstreams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panel"/>
          <p:cNvSpPr/>
          <p:nvPr/>
        </p:nvSpPr>
        <p:spPr>
          <a:xfrm>
            <a:off x="457200" y="1905000"/>
            <a:ext cx="558165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strip"/>
          <p:cNvSpPr/>
          <p:nvPr/>
        </p:nvSpPr>
        <p:spPr>
          <a:xfrm>
            <a:off x="457200" y="1905000"/>
            <a:ext cx="558165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strip-title"/>
          <p:cNvSpPr txBox="1"/>
          <p:nvPr/>
        </p:nvSpPr>
        <p:spPr>
          <a:xfrm>
            <a:off x="609600" y="1905000"/>
            <a:ext cx="52768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Bucket A</a:t>
            </a:r>
          </a:p>
        </p:txBody>
      </p:sp>
      <p:sp>
        <p:nvSpPr>
          <p:cNvPr id="8" name="bucket-1-heading"/>
          <p:cNvSpPr txBox="1"/>
          <p:nvPr/>
        </p:nvSpPr>
        <p:spPr>
          <a:xfrm>
            <a:off x="647700" y="2495550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Primary heading or theme for this section</a:t>
            </a:r>
          </a:p>
        </p:txBody>
      </p:sp>
      <p:sp>
        <p:nvSpPr>
          <p:cNvPr id="9" name="bucket-1-bullet-1-dot"/>
          <p:cNvSpPr/>
          <p:nvPr/>
        </p:nvSpPr>
        <p:spPr>
          <a:xfrm>
            <a:off x="647700" y="30194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bucket-1-bullet-1-text"/>
          <p:cNvSpPr txBox="1"/>
          <p:nvPr/>
        </p:nvSpPr>
        <p:spPr>
          <a:xfrm>
            <a:off x="762000" y="2952750"/>
            <a:ext cx="50863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First supporting point that elaborates on the bucket theme</a:t>
            </a:r>
          </a:p>
        </p:txBody>
      </p:sp>
      <p:sp>
        <p:nvSpPr>
          <p:cNvPr id="11" name="bucket-1-bullet-2-dot"/>
          <p:cNvSpPr/>
          <p:nvPr/>
        </p:nvSpPr>
        <p:spPr>
          <a:xfrm>
            <a:off x="647700" y="33623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bucket-1-bullet-2-text"/>
          <p:cNvSpPr txBox="1"/>
          <p:nvPr/>
        </p:nvSpPr>
        <p:spPr>
          <a:xfrm>
            <a:off x="762000" y="3295650"/>
            <a:ext cx="50863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Second key insight or finding relevant to this dimension</a:t>
            </a:r>
          </a:p>
        </p:txBody>
      </p:sp>
      <p:sp>
        <p:nvSpPr>
          <p:cNvPr id="13" name="bucket-1-bullet-3-dot"/>
          <p:cNvSpPr/>
          <p:nvPr/>
        </p:nvSpPr>
        <p:spPr>
          <a:xfrm>
            <a:off x="647700" y="37052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ucket-1-bullet-3-text"/>
          <p:cNvSpPr txBox="1"/>
          <p:nvPr/>
        </p:nvSpPr>
        <p:spPr>
          <a:xfrm>
            <a:off x="762000" y="3638550"/>
            <a:ext cx="50863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Third data point or recommendation tied to the argument</a:t>
            </a:r>
          </a:p>
        </p:txBody>
      </p:sp>
      <p:sp>
        <p:nvSpPr>
          <p:cNvPr id="15" name="bucket-1-bullet-4-dot"/>
          <p:cNvSpPr/>
          <p:nvPr/>
        </p:nvSpPr>
        <p:spPr>
          <a:xfrm>
            <a:off x="647700" y="40481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bucket-1-bullet-4-text"/>
          <p:cNvSpPr txBox="1"/>
          <p:nvPr/>
        </p:nvSpPr>
        <p:spPr>
          <a:xfrm>
            <a:off x="762000" y="3981450"/>
            <a:ext cx="50863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Fourth point closing the narrative for this bucket</a:t>
            </a:r>
          </a:p>
        </p:txBody>
      </p:sp>
      <p:sp>
        <p:nvSpPr>
          <p:cNvPr id="17" name="bucket-1-metric-bg"/>
          <p:cNvSpPr/>
          <p:nvPr/>
        </p:nvSpPr>
        <p:spPr>
          <a:xfrm>
            <a:off x="647700" y="5638800"/>
            <a:ext cx="52006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bucket-1-metric-value"/>
          <p:cNvSpPr txBox="1"/>
          <p:nvPr/>
        </p:nvSpPr>
        <p:spPr>
          <a:xfrm>
            <a:off x="647700" y="5695950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400" b="1" i="0">
                <a:solidFill>
                  <a:srgbClr val="A100FF"/>
                </a:solidFill>
                <a:latin typeface="Inter"/>
              </a:rPr>
              <a:t>00%</a:t>
            </a:r>
          </a:p>
        </p:txBody>
      </p:sp>
      <p:sp>
        <p:nvSpPr>
          <p:cNvPr id="19" name="bucket-1-metric-label"/>
          <p:cNvSpPr txBox="1"/>
          <p:nvPr/>
        </p:nvSpPr>
        <p:spPr>
          <a:xfrm>
            <a:off x="647700" y="6038850"/>
            <a:ext cx="5200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METRIC OR KPI LABEL</a:t>
            </a:r>
          </a:p>
        </p:txBody>
      </p:sp>
      <p:sp>
        <p:nvSpPr>
          <p:cNvPr id="20" name="bucket-2-panel"/>
          <p:cNvSpPr/>
          <p:nvPr/>
        </p:nvSpPr>
        <p:spPr>
          <a:xfrm>
            <a:off x="6153150" y="1905000"/>
            <a:ext cx="558165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ucket-2-strip"/>
          <p:cNvSpPr/>
          <p:nvPr/>
        </p:nvSpPr>
        <p:spPr>
          <a:xfrm>
            <a:off x="6153150" y="1905000"/>
            <a:ext cx="5581650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ucket-2-strip-title"/>
          <p:cNvSpPr txBox="1"/>
          <p:nvPr/>
        </p:nvSpPr>
        <p:spPr>
          <a:xfrm>
            <a:off x="6305550" y="1905000"/>
            <a:ext cx="52768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Bucket B</a:t>
            </a:r>
          </a:p>
        </p:txBody>
      </p:sp>
      <p:sp>
        <p:nvSpPr>
          <p:cNvPr id="23" name="bucket-2-heading"/>
          <p:cNvSpPr txBox="1"/>
          <p:nvPr/>
        </p:nvSpPr>
        <p:spPr>
          <a:xfrm>
            <a:off x="6343650" y="2495550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Primary heading or theme for this section</a:t>
            </a:r>
          </a:p>
        </p:txBody>
      </p:sp>
      <p:sp>
        <p:nvSpPr>
          <p:cNvPr id="24" name="bucket-2-bullet-1-dot"/>
          <p:cNvSpPr/>
          <p:nvPr/>
        </p:nvSpPr>
        <p:spPr>
          <a:xfrm>
            <a:off x="6343650" y="30194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ucket-2-bullet-1-text"/>
          <p:cNvSpPr txBox="1"/>
          <p:nvPr/>
        </p:nvSpPr>
        <p:spPr>
          <a:xfrm>
            <a:off x="6457950" y="2952750"/>
            <a:ext cx="50863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First supporting point that elaborates on the bucket theme</a:t>
            </a:r>
          </a:p>
        </p:txBody>
      </p:sp>
      <p:sp>
        <p:nvSpPr>
          <p:cNvPr id="26" name="bucket-2-bullet-2-dot"/>
          <p:cNvSpPr/>
          <p:nvPr/>
        </p:nvSpPr>
        <p:spPr>
          <a:xfrm>
            <a:off x="6343650" y="33623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ucket-2-bullet-2-text"/>
          <p:cNvSpPr txBox="1"/>
          <p:nvPr/>
        </p:nvSpPr>
        <p:spPr>
          <a:xfrm>
            <a:off x="6457950" y="3295650"/>
            <a:ext cx="50863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Second key insight or finding relevant to this dimension</a:t>
            </a:r>
          </a:p>
        </p:txBody>
      </p:sp>
      <p:sp>
        <p:nvSpPr>
          <p:cNvPr id="28" name="bucket-2-bullet-3-dot"/>
          <p:cNvSpPr/>
          <p:nvPr/>
        </p:nvSpPr>
        <p:spPr>
          <a:xfrm>
            <a:off x="6343650" y="37052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bucket-2-bullet-3-text"/>
          <p:cNvSpPr txBox="1"/>
          <p:nvPr/>
        </p:nvSpPr>
        <p:spPr>
          <a:xfrm>
            <a:off x="6457950" y="3638550"/>
            <a:ext cx="50863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Third data point or recommendation tied to the argument</a:t>
            </a:r>
          </a:p>
        </p:txBody>
      </p:sp>
      <p:sp>
        <p:nvSpPr>
          <p:cNvPr id="30" name="bucket-2-bullet-4-dot"/>
          <p:cNvSpPr/>
          <p:nvPr/>
        </p:nvSpPr>
        <p:spPr>
          <a:xfrm>
            <a:off x="6343650" y="40481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ucket-2-bullet-4-text"/>
          <p:cNvSpPr txBox="1"/>
          <p:nvPr/>
        </p:nvSpPr>
        <p:spPr>
          <a:xfrm>
            <a:off x="6457950" y="3981450"/>
            <a:ext cx="50863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Fourth point closing the narrative for this bucket</a:t>
            </a:r>
          </a:p>
        </p:txBody>
      </p:sp>
      <p:sp>
        <p:nvSpPr>
          <p:cNvPr id="32" name="bucket-2-metric-bg"/>
          <p:cNvSpPr/>
          <p:nvPr/>
        </p:nvSpPr>
        <p:spPr>
          <a:xfrm>
            <a:off x="6343650" y="5638800"/>
            <a:ext cx="52006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ucket-2-metric-value"/>
          <p:cNvSpPr txBox="1"/>
          <p:nvPr/>
        </p:nvSpPr>
        <p:spPr>
          <a:xfrm>
            <a:off x="6343650" y="5695950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400" b="1" i="0">
                <a:solidFill>
                  <a:srgbClr val="A100FF"/>
                </a:solidFill>
                <a:latin typeface="Inter"/>
              </a:rPr>
              <a:t>00%</a:t>
            </a:r>
          </a:p>
        </p:txBody>
      </p:sp>
      <p:sp>
        <p:nvSpPr>
          <p:cNvPr id="34" name="bucket-2-metric-label"/>
          <p:cNvSpPr txBox="1"/>
          <p:nvPr/>
        </p:nvSpPr>
        <p:spPr>
          <a:xfrm>
            <a:off x="6343650" y="6038850"/>
            <a:ext cx="5200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METRIC OR KPI LABEL</a:t>
            </a:r>
          </a:p>
        </p:txBody>
      </p:sp>
      <p:sp>
        <p:nvSpPr>
          <p:cNvPr id="3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