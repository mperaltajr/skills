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266700"/>
            <a:ext cx="10477500" cy="685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2100" b="1" i="0">
                <a:solidFill>
                  <a:srgbClr val="1A1A2E"/>
                </a:solidFill>
                <a:latin typeface="Inter"/>
              </a:rPr>
              <a:t>Slide Lab architecture — five layers, two cross-cutting concerns.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933450"/>
            <a:ext cx="104775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Layered reference architecture, top to bottom. Brand theming and QC engine apply at every layer.</a:t>
            </a:r>
          </a:p>
        </p:txBody>
      </p:sp>
      <p:sp>
        <p:nvSpPr>
          <p:cNvPr id="4" name="brand-rule"/>
          <p:cNvSpPr/>
          <p:nvPr/>
        </p:nvSpPr>
        <p:spPr>
          <a:xfrm>
            <a:off x="609600" y="1352550"/>
            <a:ext cx="5334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tier-1-shape"/>
          <p:cNvSpPr/>
          <p:nvPr/>
        </p:nvSpPr>
        <p:spPr>
          <a:xfrm>
            <a:off x="609600" y="1752600"/>
            <a:ext cx="8743950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tier-1-header"/>
          <p:cNvSpPr/>
          <p:nvPr/>
        </p:nvSpPr>
        <p:spPr>
          <a:xfrm>
            <a:off x="609600" y="1752600"/>
            <a:ext cx="1333500" cy="7810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tier-1-label"/>
          <p:cNvSpPr txBox="1"/>
          <p:nvPr/>
        </p:nvSpPr>
        <p:spPr>
          <a:xfrm>
            <a:off x="723900" y="1866900"/>
            <a:ext cx="11049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LAYER 1</a:t>
            </a:r>
          </a:p>
        </p:txBody>
      </p:sp>
      <p:sp>
        <p:nvSpPr>
          <p:cNvPr id="8" name="tier-1-name"/>
          <p:cNvSpPr txBox="1"/>
          <p:nvPr/>
        </p:nvSpPr>
        <p:spPr>
          <a:xfrm>
            <a:off x="723900" y="2019300"/>
            <a:ext cx="11049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PRESENTATION</a:t>
            </a:r>
          </a:p>
        </p:txBody>
      </p:sp>
      <p:sp>
        <p:nvSpPr>
          <p:cNvPr id="9" name="tier-1-component-1"/>
          <p:cNvSpPr/>
          <p:nvPr/>
        </p:nvSpPr>
        <p:spPr>
          <a:xfrm>
            <a:off x="2076450" y="1847850"/>
            <a:ext cx="2324100" cy="590550"/>
          </a:xfrm>
          <a:prstGeom prst="rect">
            <a:avLst/>
          </a:prstGeom>
          <a:solidFill>
            <a:srgbClr val="FBF8FE"/>
          </a:solidFill>
          <a:ln w="9525">
            <a:solidFill>
              <a:srgbClr val="C7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" name="tier-1-component-1-name"/>
          <p:cNvSpPr txBox="1"/>
          <p:nvPr/>
        </p:nvSpPr>
        <p:spPr>
          <a:xfrm>
            <a:off x="2114550" y="1924050"/>
            <a:ext cx="22479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Claude Code UI</a:t>
            </a:r>
          </a:p>
        </p:txBody>
      </p:sp>
      <p:sp>
        <p:nvSpPr>
          <p:cNvPr id="11" name="tier-1-component-1-meta"/>
          <p:cNvSpPr txBox="1"/>
          <p:nvPr/>
        </p:nvSpPr>
        <p:spPr>
          <a:xfrm>
            <a:off x="2114550" y="2114550"/>
            <a:ext cx="22479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PRIMARY SURFACE</a:t>
            </a:r>
          </a:p>
        </p:txBody>
      </p:sp>
      <p:sp>
        <p:nvSpPr>
          <p:cNvPr id="12" name="tier-1-component-2"/>
          <p:cNvSpPr/>
          <p:nvPr/>
        </p:nvSpPr>
        <p:spPr>
          <a:xfrm>
            <a:off x="4476750" y="1847850"/>
            <a:ext cx="2324100" cy="590550"/>
          </a:xfrm>
          <a:prstGeom prst="rect">
            <a:avLst/>
          </a:prstGeom>
          <a:solidFill>
            <a:srgbClr val="FBF8FE"/>
          </a:solidFill>
          <a:ln w="9525">
            <a:solidFill>
              <a:srgbClr val="C7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" name="tier-1-component-2-name"/>
          <p:cNvSpPr txBox="1"/>
          <p:nvPr/>
        </p:nvSpPr>
        <p:spPr>
          <a:xfrm>
            <a:off x="4514850" y="1924050"/>
            <a:ext cx="22479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VS Code</a:t>
            </a:r>
          </a:p>
        </p:txBody>
      </p:sp>
      <p:sp>
        <p:nvSpPr>
          <p:cNvPr id="14" name="tier-1-component-2-meta"/>
          <p:cNvSpPr txBox="1"/>
          <p:nvPr/>
        </p:nvSpPr>
        <p:spPr>
          <a:xfrm>
            <a:off x="4514850" y="2114550"/>
            <a:ext cx="22479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AUTHOR IDE</a:t>
            </a:r>
          </a:p>
        </p:txBody>
      </p:sp>
      <p:sp>
        <p:nvSpPr>
          <p:cNvPr id="15" name="tier-1-component-3"/>
          <p:cNvSpPr/>
          <p:nvPr/>
        </p:nvSpPr>
        <p:spPr>
          <a:xfrm>
            <a:off x="6877050" y="1847850"/>
            <a:ext cx="2324100" cy="590550"/>
          </a:xfrm>
          <a:prstGeom prst="rect">
            <a:avLst/>
          </a:prstGeom>
          <a:solidFill>
            <a:srgbClr val="FBF8FE"/>
          </a:solidFill>
          <a:ln w="9525">
            <a:solidFill>
              <a:srgbClr val="C7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tier-1-component-3-name"/>
          <p:cNvSpPr txBox="1"/>
          <p:nvPr/>
        </p:nvSpPr>
        <p:spPr>
          <a:xfrm>
            <a:off x="6915150" y="1924050"/>
            <a:ext cx="22479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Web preview</a:t>
            </a:r>
          </a:p>
        </p:txBody>
      </p:sp>
      <p:sp>
        <p:nvSpPr>
          <p:cNvPr id="17" name="tier-1-component-3-meta"/>
          <p:cNvSpPr txBox="1"/>
          <p:nvPr/>
        </p:nvSpPr>
        <p:spPr>
          <a:xfrm>
            <a:off x="6915150" y="2114550"/>
            <a:ext cx="22479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HTML RENDER</a:t>
            </a:r>
          </a:p>
        </p:txBody>
      </p:sp>
      <p:sp>
        <p:nvSpPr>
          <p:cNvPr id="18" name="tier-2-shape"/>
          <p:cNvSpPr/>
          <p:nvPr/>
        </p:nvSpPr>
        <p:spPr>
          <a:xfrm>
            <a:off x="609600" y="2609850"/>
            <a:ext cx="8743950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9" name="tier-2-header"/>
          <p:cNvSpPr/>
          <p:nvPr/>
        </p:nvSpPr>
        <p:spPr>
          <a:xfrm>
            <a:off x="609600" y="2609850"/>
            <a:ext cx="1333500" cy="7810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0" name="tier-2-label"/>
          <p:cNvSpPr txBox="1"/>
          <p:nvPr/>
        </p:nvSpPr>
        <p:spPr>
          <a:xfrm>
            <a:off x="723900" y="2724150"/>
            <a:ext cx="11049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LAYER 2</a:t>
            </a:r>
          </a:p>
        </p:txBody>
      </p:sp>
      <p:sp>
        <p:nvSpPr>
          <p:cNvPr id="21" name="tier-2-name"/>
          <p:cNvSpPr txBox="1"/>
          <p:nvPr/>
        </p:nvSpPr>
        <p:spPr>
          <a:xfrm>
            <a:off x="723900" y="2876550"/>
            <a:ext cx="11049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SKILLS</a:t>
            </a:r>
          </a:p>
        </p:txBody>
      </p:sp>
      <p:sp>
        <p:nvSpPr>
          <p:cNvPr id="22" name="tier-2-component-1"/>
          <p:cNvSpPr/>
          <p:nvPr/>
        </p:nvSpPr>
        <p:spPr>
          <a:xfrm>
            <a:off x="2076450" y="2705100"/>
            <a:ext cx="1724025" cy="590550"/>
          </a:xfrm>
          <a:prstGeom prst="rect">
            <a:avLst/>
          </a:prstGeom>
          <a:solidFill>
            <a:srgbClr val="FBF8FE"/>
          </a:solidFill>
          <a:ln w="9525">
            <a:solidFill>
              <a:srgbClr val="C7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3" name="tier-2-component-1-name"/>
          <p:cNvSpPr txBox="1"/>
          <p:nvPr/>
        </p:nvSpPr>
        <p:spPr>
          <a:xfrm>
            <a:off x="2114550" y="2781300"/>
            <a:ext cx="164782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storyline-helper</a:t>
            </a:r>
          </a:p>
        </p:txBody>
      </p:sp>
      <p:sp>
        <p:nvSpPr>
          <p:cNvPr id="24" name="tier-2-component-1-meta"/>
          <p:cNvSpPr txBox="1"/>
          <p:nvPr/>
        </p:nvSpPr>
        <p:spPr>
          <a:xfrm>
            <a:off x="2114550" y="2971800"/>
            <a:ext cx="164782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NARRATIVE</a:t>
            </a:r>
          </a:p>
        </p:txBody>
      </p:sp>
      <p:sp>
        <p:nvSpPr>
          <p:cNvPr id="25" name="tier-2-component-2"/>
          <p:cNvSpPr/>
          <p:nvPr/>
        </p:nvSpPr>
        <p:spPr>
          <a:xfrm>
            <a:off x="3876675" y="2705100"/>
            <a:ext cx="1724025" cy="590550"/>
          </a:xfrm>
          <a:prstGeom prst="rect">
            <a:avLst/>
          </a:prstGeom>
          <a:solidFill>
            <a:srgbClr val="FBF8FE"/>
          </a:solidFill>
          <a:ln w="9525">
            <a:solidFill>
              <a:srgbClr val="C7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6" name="tier-2-component-2-name"/>
          <p:cNvSpPr txBox="1"/>
          <p:nvPr/>
        </p:nvSpPr>
        <p:spPr>
          <a:xfrm>
            <a:off x="3914775" y="2781300"/>
            <a:ext cx="164782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slide-builder</a:t>
            </a:r>
          </a:p>
        </p:txBody>
      </p:sp>
      <p:sp>
        <p:nvSpPr>
          <p:cNvPr id="27" name="tier-2-component-2-meta"/>
          <p:cNvSpPr txBox="1"/>
          <p:nvPr/>
        </p:nvSpPr>
        <p:spPr>
          <a:xfrm>
            <a:off x="3914775" y="2971800"/>
            <a:ext cx="164782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BUILD</a:t>
            </a:r>
          </a:p>
        </p:txBody>
      </p:sp>
      <p:sp>
        <p:nvSpPr>
          <p:cNvPr id="28" name="tier-2-component-3"/>
          <p:cNvSpPr/>
          <p:nvPr/>
        </p:nvSpPr>
        <p:spPr>
          <a:xfrm>
            <a:off x="5676900" y="2705100"/>
            <a:ext cx="1724025" cy="590550"/>
          </a:xfrm>
          <a:prstGeom prst="rect">
            <a:avLst/>
          </a:prstGeom>
          <a:solidFill>
            <a:srgbClr val="FBF8FE"/>
          </a:solidFill>
          <a:ln w="9525">
            <a:solidFill>
              <a:srgbClr val="C7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9" name="tier-2-component-3-name"/>
          <p:cNvSpPr txBox="1"/>
          <p:nvPr/>
        </p:nvSpPr>
        <p:spPr>
          <a:xfrm>
            <a:off x="5715000" y="2781300"/>
            <a:ext cx="164782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slide-helper</a:t>
            </a:r>
          </a:p>
        </p:txBody>
      </p:sp>
      <p:sp>
        <p:nvSpPr>
          <p:cNvPr id="30" name="tier-2-component-3-meta"/>
          <p:cNvSpPr txBox="1"/>
          <p:nvPr/>
        </p:nvSpPr>
        <p:spPr>
          <a:xfrm>
            <a:off x="5715000" y="2971800"/>
            <a:ext cx="164782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ASSIST</a:t>
            </a:r>
          </a:p>
        </p:txBody>
      </p:sp>
      <p:sp>
        <p:nvSpPr>
          <p:cNvPr id="31" name="tier-2-component-4"/>
          <p:cNvSpPr/>
          <p:nvPr/>
        </p:nvSpPr>
        <p:spPr>
          <a:xfrm>
            <a:off x="7477125" y="2705100"/>
            <a:ext cx="1724025" cy="590550"/>
          </a:xfrm>
          <a:prstGeom prst="rect">
            <a:avLst/>
          </a:prstGeom>
          <a:solidFill>
            <a:srgbClr val="FBF8FE"/>
          </a:solidFill>
          <a:ln w="9525">
            <a:solidFill>
              <a:srgbClr val="C7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2" name="tier-2-component-4-name"/>
          <p:cNvSpPr txBox="1"/>
          <p:nvPr/>
        </p:nvSpPr>
        <p:spPr>
          <a:xfrm>
            <a:off x="7515225" y="2781300"/>
            <a:ext cx="164782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slide-qc</a:t>
            </a:r>
          </a:p>
        </p:txBody>
      </p:sp>
      <p:sp>
        <p:nvSpPr>
          <p:cNvPr id="33" name="tier-2-component-4-meta"/>
          <p:cNvSpPr txBox="1"/>
          <p:nvPr/>
        </p:nvSpPr>
        <p:spPr>
          <a:xfrm>
            <a:off x="7515225" y="2971800"/>
            <a:ext cx="164782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REVIEW</a:t>
            </a:r>
          </a:p>
        </p:txBody>
      </p:sp>
      <p:sp>
        <p:nvSpPr>
          <p:cNvPr id="34" name="tier-3-shape"/>
          <p:cNvSpPr/>
          <p:nvPr/>
        </p:nvSpPr>
        <p:spPr>
          <a:xfrm>
            <a:off x="609600" y="3467100"/>
            <a:ext cx="8743950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5" name="tier-3-header"/>
          <p:cNvSpPr/>
          <p:nvPr/>
        </p:nvSpPr>
        <p:spPr>
          <a:xfrm>
            <a:off x="609600" y="3467100"/>
            <a:ext cx="1333500" cy="781050"/>
          </a:xfrm>
          <a:prstGeom prst="rect">
            <a:avLst/>
          </a:prstGeom>
          <a:solidFill>
            <a:srgbClr val="7E3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6" name="tier-3-label"/>
          <p:cNvSpPr txBox="1"/>
          <p:nvPr/>
        </p:nvSpPr>
        <p:spPr>
          <a:xfrm>
            <a:off x="723900" y="3581400"/>
            <a:ext cx="11049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LAYER 3</a:t>
            </a:r>
          </a:p>
        </p:txBody>
      </p:sp>
      <p:sp>
        <p:nvSpPr>
          <p:cNvPr id="37" name="tier-3-name"/>
          <p:cNvSpPr txBox="1"/>
          <p:nvPr/>
        </p:nvSpPr>
        <p:spPr>
          <a:xfrm>
            <a:off x="723900" y="3733800"/>
            <a:ext cx="11049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PATTERN LIBRARY</a:t>
            </a:r>
          </a:p>
        </p:txBody>
      </p:sp>
      <p:sp>
        <p:nvSpPr>
          <p:cNvPr id="38" name="tier-3-component-1"/>
          <p:cNvSpPr/>
          <p:nvPr/>
        </p:nvSpPr>
        <p:spPr>
          <a:xfrm>
            <a:off x="2076450" y="3562350"/>
            <a:ext cx="2324100" cy="590550"/>
          </a:xfrm>
          <a:prstGeom prst="rect">
            <a:avLst/>
          </a:prstGeom>
          <a:solidFill>
            <a:srgbClr val="FBF8FE"/>
          </a:solidFill>
          <a:ln w="9525">
            <a:solidFill>
              <a:srgbClr val="C7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9" name="tier-3-component-1-name"/>
          <p:cNvSpPr txBox="1"/>
          <p:nvPr/>
        </p:nvSpPr>
        <p:spPr>
          <a:xfrm>
            <a:off x="2114550" y="3638550"/>
            <a:ext cx="22479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100+ HTML patterns</a:t>
            </a:r>
          </a:p>
        </p:txBody>
      </p:sp>
      <p:sp>
        <p:nvSpPr>
          <p:cNvPr id="40" name="tier-3-component-1-meta"/>
          <p:cNvSpPr txBox="1"/>
          <p:nvPr/>
        </p:nvSpPr>
        <p:spPr>
          <a:xfrm>
            <a:off x="2114550" y="3829050"/>
            <a:ext cx="22479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MOCKUPS</a:t>
            </a:r>
          </a:p>
        </p:txBody>
      </p:sp>
      <p:sp>
        <p:nvSpPr>
          <p:cNvPr id="41" name="tier-3-component-2"/>
          <p:cNvSpPr/>
          <p:nvPr/>
        </p:nvSpPr>
        <p:spPr>
          <a:xfrm>
            <a:off x="4476750" y="3562350"/>
            <a:ext cx="2324100" cy="590550"/>
          </a:xfrm>
          <a:prstGeom prst="rect">
            <a:avLst/>
          </a:prstGeom>
          <a:solidFill>
            <a:srgbClr val="FBF8FE"/>
          </a:solidFill>
          <a:ln w="9525">
            <a:solidFill>
              <a:srgbClr val="C7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2" name="tier-3-component-2-name"/>
          <p:cNvSpPr txBox="1"/>
          <p:nvPr/>
        </p:nvSpPr>
        <p:spPr>
          <a:xfrm>
            <a:off x="4514850" y="3638550"/>
            <a:ext cx="22479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Theme variables</a:t>
            </a:r>
          </a:p>
        </p:txBody>
      </p:sp>
      <p:sp>
        <p:nvSpPr>
          <p:cNvPr id="43" name="tier-3-component-2-meta"/>
          <p:cNvSpPr txBox="1"/>
          <p:nvPr/>
        </p:nvSpPr>
        <p:spPr>
          <a:xfrm>
            <a:off x="4514850" y="3829050"/>
            <a:ext cx="22479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CSS TOKENS</a:t>
            </a:r>
          </a:p>
        </p:txBody>
      </p:sp>
      <p:sp>
        <p:nvSpPr>
          <p:cNvPr id="44" name="tier-3-component-3"/>
          <p:cNvSpPr/>
          <p:nvPr/>
        </p:nvSpPr>
        <p:spPr>
          <a:xfrm>
            <a:off x="6877050" y="3562350"/>
            <a:ext cx="2324100" cy="590550"/>
          </a:xfrm>
          <a:prstGeom prst="rect">
            <a:avLst/>
          </a:prstGeom>
          <a:solidFill>
            <a:srgbClr val="FBF8FE"/>
          </a:solidFill>
          <a:ln w="9525">
            <a:solidFill>
              <a:srgbClr val="C7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5" name="tier-3-component-3-name"/>
          <p:cNvSpPr txBox="1"/>
          <p:nvPr/>
        </p:nvSpPr>
        <p:spPr>
          <a:xfrm>
            <a:off x="6915150" y="3638550"/>
            <a:ext cx="22479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QC rules</a:t>
            </a:r>
          </a:p>
        </p:txBody>
      </p:sp>
      <p:sp>
        <p:nvSpPr>
          <p:cNvPr id="46" name="tier-3-component-3-meta"/>
          <p:cNvSpPr txBox="1"/>
          <p:nvPr/>
        </p:nvSpPr>
        <p:spPr>
          <a:xfrm>
            <a:off x="6915150" y="3829050"/>
            <a:ext cx="22479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STANDARDS</a:t>
            </a:r>
          </a:p>
        </p:txBody>
      </p:sp>
      <p:sp>
        <p:nvSpPr>
          <p:cNvPr id="47" name="tier-4-shape"/>
          <p:cNvSpPr/>
          <p:nvPr/>
        </p:nvSpPr>
        <p:spPr>
          <a:xfrm>
            <a:off x="609600" y="4324350"/>
            <a:ext cx="8743950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8" name="tier-4-header"/>
          <p:cNvSpPr/>
          <p:nvPr/>
        </p:nvSpPr>
        <p:spPr>
          <a:xfrm>
            <a:off x="609600" y="4324350"/>
            <a:ext cx="1333500" cy="781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9" name="tier-4-label"/>
          <p:cNvSpPr txBox="1"/>
          <p:nvPr/>
        </p:nvSpPr>
        <p:spPr>
          <a:xfrm>
            <a:off x="723900" y="4438650"/>
            <a:ext cx="11049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LAYER 4</a:t>
            </a:r>
          </a:p>
        </p:txBody>
      </p:sp>
      <p:sp>
        <p:nvSpPr>
          <p:cNvPr id="50" name="tier-4-name"/>
          <p:cNvSpPr txBox="1"/>
          <p:nvPr/>
        </p:nvSpPr>
        <p:spPr>
          <a:xfrm>
            <a:off x="723900" y="4591050"/>
            <a:ext cx="11049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BUILD ENGINE</a:t>
            </a:r>
          </a:p>
        </p:txBody>
      </p:sp>
      <p:sp>
        <p:nvSpPr>
          <p:cNvPr id="51" name="tier-4-component-1"/>
          <p:cNvSpPr/>
          <p:nvPr/>
        </p:nvSpPr>
        <p:spPr>
          <a:xfrm>
            <a:off x="2076450" y="4419600"/>
            <a:ext cx="2324100" cy="590550"/>
          </a:xfrm>
          <a:prstGeom prst="rect">
            <a:avLst/>
          </a:prstGeom>
          <a:solidFill>
            <a:srgbClr val="FBF8FE"/>
          </a:solidFill>
          <a:ln w="9525">
            <a:solidFill>
              <a:srgbClr val="C7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2" name="tier-4-component-1-name"/>
          <p:cNvSpPr txBox="1"/>
          <p:nvPr/>
        </p:nvSpPr>
        <p:spPr>
          <a:xfrm>
            <a:off x="2114550" y="4495800"/>
            <a:ext cx="22479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HTML to PPTX</a:t>
            </a:r>
          </a:p>
        </p:txBody>
      </p:sp>
      <p:sp>
        <p:nvSpPr>
          <p:cNvPr id="53" name="tier-4-component-1-meta"/>
          <p:cNvSpPr txBox="1"/>
          <p:nvPr/>
        </p:nvSpPr>
        <p:spPr>
          <a:xfrm>
            <a:off x="2114550" y="4686300"/>
            <a:ext cx="22479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TRANSLATOR</a:t>
            </a:r>
          </a:p>
        </p:txBody>
      </p:sp>
      <p:sp>
        <p:nvSpPr>
          <p:cNvPr id="54" name="tier-4-component-2"/>
          <p:cNvSpPr/>
          <p:nvPr/>
        </p:nvSpPr>
        <p:spPr>
          <a:xfrm>
            <a:off x="4476750" y="4419600"/>
            <a:ext cx="2324100" cy="590550"/>
          </a:xfrm>
          <a:prstGeom prst="rect">
            <a:avLst/>
          </a:prstGeom>
          <a:solidFill>
            <a:srgbClr val="FBF8FE"/>
          </a:solidFill>
          <a:ln w="9525">
            <a:solidFill>
              <a:srgbClr val="C7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5" name="tier-4-component-2-name"/>
          <p:cNvSpPr txBox="1"/>
          <p:nvPr/>
        </p:nvSpPr>
        <p:spPr>
          <a:xfrm>
            <a:off x="4514850" y="4495800"/>
            <a:ext cx="22479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python-pptx</a:t>
            </a:r>
          </a:p>
        </p:txBody>
      </p:sp>
      <p:sp>
        <p:nvSpPr>
          <p:cNvPr id="56" name="tier-4-component-2-meta"/>
          <p:cNvSpPr txBox="1"/>
          <p:nvPr/>
        </p:nvSpPr>
        <p:spPr>
          <a:xfrm>
            <a:off x="4514850" y="4686300"/>
            <a:ext cx="22479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CORE LIB</a:t>
            </a:r>
          </a:p>
        </p:txBody>
      </p:sp>
      <p:sp>
        <p:nvSpPr>
          <p:cNvPr id="57" name="tier-4-component-3"/>
          <p:cNvSpPr/>
          <p:nvPr/>
        </p:nvSpPr>
        <p:spPr>
          <a:xfrm>
            <a:off x="6877050" y="4419600"/>
            <a:ext cx="2324100" cy="590550"/>
          </a:xfrm>
          <a:prstGeom prst="rect">
            <a:avLst/>
          </a:prstGeom>
          <a:solidFill>
            <a:srgbClr val="FBF8FE"/>
          </a:solidFill>
          <a:ln w="9525">
            <a:solidFill>
              <a:srgbClr val="C7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8" name="tier-4-component-3-name"/>
          <p:cNvSpPr txBox="1"/>
          <p:nvPr/>
        </p:nvSpPr>
        <p:spPr>
          <a:xfrm>
            <a:off x="6915150" y="4495800"/>
            <a:ext cx="22479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Template integration</a:t>
            </a:r>
          </a:p>
        </p:txBody>
      </p:sp>
      <p:sp>
        <p:nvSpPr>
          <p:cNvPr id="59" name="tier-4-component-3-meta"/>
          <p:cNvSpPr txBox="1"/>
          <p:nvPr/>
        </p:nvSpPr>
        <p:spPr>
          <a:xfrm>
            <a:off x="6915150" y="4686300"/>
            <a:ext cx="22479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LAYOUTS</a:t>
            </a:r>
          </a:p>
        </p:txBody>
      </p:sp>
      <p:sp>
        <p:nvSpPr>
          <p:cNvPr id="60" name="tier-5-shape"/>
          <p:cNvSpPr/>
          <p:nvPr/>
        </p:nvSpPr>
        <p:spPr>
          <a:xfrm>
            <a:off x="609600" y="5181600"/>
            <a:ext cx="8743950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1" name="tier-5-header"/>
          <p:cNvSpPr/>
          <p:nvPr/>
        </p:nvSpPr>
        <p:spPr>
          <a:xfrm>
            <a:off x="609600" y="5181600"/>
            <a:ext cx="1333500" cy="781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2" name="tier-5-label"/>
          <p:cNvSpPr txBox="1"/>
          <p:nvPr/>
        </p:nvSpPr>
        <p:spPr>
          <a:xfrm>
            <a:off x="723900" y="5295900"/>
            <a:ext cx="11049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LAYER 5</a:t>
            </a:r>
          </a:p>
        </p:txBody>
      </p:sp>
      <p:sp>
        <p:nvSpPr>
          <p:cNvPr id="63" name="tier-5-name"/>
          <p:cNvSpPr txBox="1"/>
          <p:nvPr/>
        </p:nvSpPr>
        <p:spPr>
          <a:xfrm>
            <a:off x="723900" y="5448300"/>
            <a:ext cx="11049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TEMPLATES</a:t>
            </a:r>
          </a:p>
        </p:txBody>
      </p:sp>
      <p:sp>
        <p:nvSpPr>
          <p:cNvPr id="64" name="tier-5-component-1"/>
          <p:cNvSpPr/>
          <p:nvPr/>
        </p:nvSpPr>
        <p:spPr>
          <a:xfrm>
            <a:off x="2076450" y="5276850"/>
            <a:ext cx="2324100" cy="590550"/>
          </a:xfrm>
          <a:prstGeom prst="rect">
            <a:avLst/>
          </a:prstGeom>
          <a:solidFill>
            <a:srgbClr val="FBF8FE"/>
          </a:solidFill>
          <a:ln w="9525">
            <a:solidFill>
              <a:srgbClr val="C7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5" name="tier-5-component-1-name"/>
          <p:cNvSpPr txBox="1"/>
          <p:nvPr/>
        </p:nvSpPr>
        <p:spPr>
          <a:xfrm>
            <a:off x="2114550" y="5353050"/>
            <a:ext cx="22479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Accenture</a:t>
            </a:r>
          </a:p>
        </p:txBody>
      </p:sp>
      <p:sp>
        <p:nvSpPr>
          <p:cNvPr id="66" name="tier-5-component-1-meta"/>
          <p:cNvSpPr txBox="1"/>
          <p:nvPr/>
        </p:nvSpPr>
        <p:spPr>
          <a:xfrm>
            <a:off x="2114550" y="5543550"/>
            <a:ext cx="22479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BRAND DECK</a:t>
            </a:r>
          </a:p>
        </p:txBody>
      </p:sp>
      <p:sp>
        <p:nvSpPr>
          <p:cNvPr id="67" name="tier-5-component-2"/>
          <p:cNvSpPr/>
          <p:nvPr/>
        </p:nvSpPr>
        <p:spPr>
          <a:xfrm>
            <a:off x="4476750" y="5276850"/>
            <a:ext cx="2324100" cy="590550"/>
          </a:xfrm>
          <a:prstGeom prst="rect">
            <a:avLst/>
          </a:prstGeom>
          <a:solidFill>
            <a:srgbClr val="FBF8FE"/>
          </a:solidFill>
          <a:ln w="9525">
            <a:solidFill>
              <a:srgbClr val="C7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8" name="tier-5-component-2-name"/>
          <p:cNvSpPr txBox="1"/>
          <p:nvPr/>
        </p:nvSpPr>
        <p:spPr>
          <a:xfrm>
            <a:off x="4514850" y="5353050"/>
            <a:ext cx="22479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FedEx</a:t>
            </a:r>
          </a:p>
        </p:txBody>
      </p:sp>
      <p:sp>
        <p:nvSpPr>
          <p:cNvPr id="69" name="tier-5-component-2-meta"/>
          <p:cNvSpPr txBox="1"/>
          <p:nvPr/>
        </p:nvSpPr>
        <p:spPr>
          <a:xfrm>
            <a:off x="4514850" y="5543550"/>
            <a:ext cx="22479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CLIENT DECK</a:t>
            </a:r>
          </a:p>
        </p:txBody>
      </p:sp>
      <p:sp>
        <p:nvSpPr>
          <p:cNvPr id="70" name="tier-5-component-3"/>
          <p:cNvSpPr/>
          <p:nvPr/>
        </p:nvSpPr>
        <p:spPr>
          <a:xfrm>
            <a:off x="6877050" y="5276850"/>
            <a:ext cx="2324100" cy="590550"/>
          </a:xfrm>
          <a:prstGeom prst="rect">
            <a:avLst/>
          </a:prstGeom>
          <a:solidFill>
            <a:srgbClr val="FBF8FE"/>
          </a:solidFill>
          <a:ln w="9525">
            <a:solidFill>
              <a:srgbClr val="C7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1" name="tier-5-component-3-name"/>
          <p:cNvSpPr txBox="1"/>
          <p:nvPr/>
        </p:nvSpPr>
        <p:spPr>
          <a:xfrm>
            <a:off x="6915150" y="5353050"/>
            <a:ext cx="22479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Generic</a:t>
            </a:r>
          </a:p>
        </p:txBody>
      </p:sp>
      <p:sp>
        <p:nvSpPr>
          <p:cNvPr id="72" name="tier-5-component-3-meta"/>
          <p:cNvSpPr txBox="1"/>
          <p:nvPr/>
        </p:nvSpPr>
        <p:spPr>
          <a:xfrm>
            <a:off x="6915150" y="5543550"/>
            <a:ext cx="22479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FALLBACK</a:t>
            </a:r>
          </a:p>
        </p:txBody>
      </p:sp>
      <p:sp>
        <p:nvSpPr>
          <p:cNvPr id="73" name="cross-cutting-1-shape"/>
          <p:cNvSpPr/>
          <p:nvPr/>
        </p:nvSpPr>
        <p:spPr>
          <a:xfrm>
            <a:off x="9486900" y="1752600"/>
            <a:ext cx="1000125" cy="422910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4" name="cross-cutting-1-tag"/>
          <p:cNvSpPr txBox="1"/>
          <p:nvPr/>
        </p:nvSpPr>
        <p:spPr>
          <a:xfrm>
            <a:off x="9486900" y="1847850"/>
            <a:ext cx="100012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SPANS ALL LAYERS</a:t>
            </a:r>
          </a:p>
        </p:txBody>
      </p:sp>
      <p:sp>
        <p:nvSpPr>
          <p:cNvPr id="75" name="cross-cutting-1-label"/>
          <p:cNvSpPr txBox="1"/>
          <p:nvPr/>
        </p:nvSpPr>
        <p:spPr>
          <a:xfrm>
            <a:off x="9486900" y="3752850"/>
            <a:ext cx="1000125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BRAND THEMING</a:t>
            </a:r>
          </a:p>
        </p:txBody>
      </p:sp>
      <p:sp>
        <p:nvSpPr>
          <p:cNvPr id="76" name="cross-cutting-2-shape"/>
          <p:cNvSpPr/>
          <p:nvPr/>
        </p:nvSpPr>
        <p:spPr>
          <a:xfrm>
            <a:off x="10582275" y="1752600"/>
            <a:ext cx="1000125" cy="42291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7" name="cross-cutting-2-tag"/>
          <p:cNvSpPr txBox="1"/>
          <p:nvPr/>
        </p:nvSpPr>
        <p:spPr>
          <a:xfrm>
            <a:off x="10582275" y="1847850"/>
            <a:ext cx="100012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SPANS ALL LAYERS</a:t>
            </a:r>
          </a:p>
        </p:txBody>
      </p:sp>
      <p:sp>
        <p:nvSpPr>
          <p:cNvPr id="78" name="cross-cutting-2-label"/>
          <p:cNvSpPr txBox="1"/>
          <p:nvPr/>
        </p:nvSpPr>
        <p:spPr>
          <a:xfrm>
            <a:off x="10582275" y="3752850"/>
            <a:ext cx="1000125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QC ENGINE</a:t>
            </a:r>
          </a:p>
        </p:txBody>
      </p:sp>
      <p:sp>
        <p:nvSpPr>
          <p:cNvPr id="79" name="convergence-bg"/>
          <p:cNvSpPr/>
          <p:nvPr/>
        </p:nvSpPr>
        <p:spPr>
          <a:xfrm>
            <a:off x="609600" y="6076950"/>
            <a:ext cx="10972800" cy="41910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0" name="convergence"/>
          <p:cNvSpPr txBox="1"/>
          <p:nvPr/>
        </p:nvSpPr>
        <p:spPr>
          <a:xfrm>
            <a:off x="819150" y="6076950"/>
            <a:ext cx="1055370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FFFFFF"/>
                </a:solidFill>
                <a:latin typeface="Inter"/>
              </a:rPr>
              <a:t>Five layers stacked top-to-bottom; brand theming and QC engine cut across every layer, end to end.</a:t>
            </a:r>
          </a:p>
        </p:txBody>
      </p:sp>
      <p:sp>
        <p:nvSpPr>
          <p:cNvPr id="81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82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83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71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