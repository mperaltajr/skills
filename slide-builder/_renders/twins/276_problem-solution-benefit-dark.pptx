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81000" y="190500"/>
            <a:ext cx="11430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From </a:t>
            </a:r>
            <a:r>
              <a:rPr sz="1650" b="1" i="0">
                <a:solidFill>
                  <a:srgbClr val="C780FF"/>
                </a:solidFill>
                <a:latin typeface="Inter"/>
              </a:rPr>
              <a:t>Problem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to Solution — and Measurable Benefit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381000" y="1028700"/>
            <a:ext cx="11430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How structural data fragmentation is being resolved — and what it returns</a:t>
            </a:r>
          </a:p>
        </p:txBody>
      </p:sp>
      <p:sp>
        <p:nvSpPr>
          <p:cNvPr id="4" name="brand-rule"/>
          <p:cNvSpPr/>
          <p:nvPr/>
        </p:nvSpPr>
        <p:spPr>
          <a:xfrm>
            <a:off x="3810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1-bg"/>
          <p:cNvSpPr/>
          <p:nvPr/>
        </p:nvSpPr>
        <p:spPr>
          <a:xfrm>
            <a:off x="381000" y="2095500"/>
            <a:ext cx="3524250" cy="4191000"/>
          </a:xfrm>
          <a:prstGeom prst="rect">
            <a:avLst/>
          </a:prstGeom>
          <a:solidFill>
            <a:srgbClr val="55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anel-1-top"/>
          <p:cNvSpPr/>
          <p:nvPr/>
        </p:nvSpPr>
        <p:spPr>
          <a:xfrm>
            <a:off x="381000" y="2095500"/>
            <a:ext cx="3524250" cy="28575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anel-1-eyebrow"/>
          <p:cNvSpPr txBox="1"/>
          <p:nvPr/>
        </p:nvSpPr>
        <p:spPr>
          <a:xfrm>
            <a:off x="552450" y="2247900"/>
            <a:ext cx="3181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53E3E"/>
                </a:solidFill>
                <a:latin typeface="Inter"/>
              </a:rPr>
              <a:t>⚠ THE PROBLEM</a:t>
            </a:r>
          </a:p>
        </p:txBody>
      </p:sp>
      <p:sp>
        <p:nvSpPr>
          <p:cNvPr id="8" name="panel-1-heading"/>
          <p:cNvSpPr txBox="1"/>
          <p:nvPr/>
        </p:nvSpPr>
        <p:spPr>
          <a:xfrm>
            <a:off x="552450" y="2438400"/>
            <a:ext cx="31813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Fragmented data across 23 systems generating $8M in annual reconciliation cost</a:t>
            </a:r>
          </a:p>
        </p:txBody>
      </p:sp>
      <p:sp>
        <p:nvSpPr>
          <p:cNvPr id="9" name="panel-1-bullet-1"/>
          <p:cNvSpPr txBox="1"/>
          <p:nvPr/>
        </p:nvSpPr>
        <p:spPr>
          <a:xfrm>
            <a:off x="552450" y="3333750"/>
            <a:ext cx="3181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No single source of truth across finance, ops and supply chain platforms</a:t>
            </a:r>
          </a:p>
        </p:txBody>
      </p:sp>
      <p:sp>
        <p:nvSpPr>
          <p:cNvPr id="10" name="panel-1-bullet-2"/>
          <p:cNvSpPr txBox="1"/>
          <p:nvPr/>
        </p:nvSpPr>
        <p:spPr>
          <a:xfrm>
            <a:off x="552450" y="4000500"/>
            <a:ext cx="3181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Manual reconciliation consuming 1,200 FTE-hours per month</a:t>
            </a:r>
          </a:p>
        </p:txBody>
      </p:sp>
      <p:sp>
        <p:nvSpPr>
          <p:cNvPr id="11" name="panel-1-bullet-3"/>
          <p:cNvSpPr txBox="1"/>
          <p:nvPr/>
        </p:nvSpPr>
        <p:spPr>
          <a:xfrm>
            <a:off x="552450" y="4667250"/>
            <a:ext cx="3181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Reporting latency of 48+ hours causing missed decision windows</a:t>
            </a:r>
          </a:p>
        </p:txBody>
      </p:sp>
      <p:sp>
        <p:nvSpPr>
          <p:cNvPr id="12" name="panel-1-rule"/>
          <p:cNvSpPr/>
          <p:nvPr/>
        </p:nvSpPr>
        <p:spPr>
          <a:xfrm>
            <a:off x="552450" y="5562600"/>
            <a:ext cx="31813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anel-1-stat-number"/>
          <p:cNvSpPr txBox="1"/>
          <p:nvPr/>
        </p:nvSpPr>
        <p:spPr>
          <a:xfrm>
            <a:off x="552450" y="5657850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8A8A"/>
                </a:solidFill>
                <a:latin typeface="Inter"/>
              </a:rPr>
              <a:t>$8M / year</a:t>
            </a:r>
          </a:p>
        </p:txBody>
      </p:sp>
      <p:sp>
        <p:nvSpPr>
          <p:cNvPr id="14" name="panel-1-stat-label"/>
          <p:cNvSpPr txBox="1"/>
          <p:nvPr/>
        </p:nvSpPr>
        <p:spPr>
          <a:xfrm>
            <a:off x="552450" y="5981700"/>
            <a:ext cx="31813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ESTIMATED ANNUAL RECONCILIATION COST</a:t>
            </a:r>
          </a:p>
        </p:txBody>
      </p:sp>
      <p:sp>
        <p:nvSpPr>
          <p:cNvPr id="15" name="arrow-1"/>
          <p:cNvSpPr txBox="1"/>
          <p:nvPr/>
        </p:nvSpPr>
        <p:spPr>
          <a:xfrm>
            <a:off x="3905250" y="4000500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800" b="0" i="0">
                <a:solidFill>
                  <a:srgbClr val="C780FF"/>
                </a:solidFill>
                <a:latin typeface="Inter"/>
              </a:rPr>
              <a:t>→</a:t>
            </a:r>
          </a:p>
        </p:txBody>
      </p:sp>
      <p:sp>
        <p:nvSpPr>
          <p:cNvPr id="16" name="panel-2-bg"/>
          <p:cNvSpPr/>
          <p:nvPr/>
        </p:nvSpPr>
        <p:spPr>
          <a:xfrm>
            <a:off x="4324350" y="2095500"/>
            <a:ext cx="3524250" cy="4191000"/>
          </a:xfrm>
          <a:prstGeom prst="rect">
            <a:avLst/>
          </a:prstGeom>
          <a:solidFill>
            <a:srgbClr val="552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anel-2-top"/>
          <p:cNvSpPr/>
          <p:nvPr/>
        </p:nvSpPr>
        <p:spPr>
          <a:xfrm>
            <a:off x="4324350" y="2095500"/>
            <a:ext cx="35242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anel-2-eyebrow"/>
          <p:cNvSpPr txBox="1"/>
          <p:nvPr/>
        </p:nvSpPr>
        <p:spPr>
          <a:xfrm>
            <a:off x="4495800" y="2247900"/>
            <a:ext cx="3181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✦ THE SOLUTION</a:t>
            </a:r>
          </a:p>
        </p:txBody>
      </p:sp>
      <p:sp>
        <p:nvSpPr>
          <p:cNvPr id="19" name="panel-2-heading"/>
          <p:cNvSpPr txBox="1"/>
          <p:nvPr/>
        </p:nvSpPr>
        <p:spPr>
          <a:xfrm>
            <a:off x="4495800" y="2438400"/>
            <a:ext cx="31813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Unified data platform with single master record and automated reconciliation</a:t>
            </a:r>
          </a:p>
        </p:txBody>
      </p:sp>
      <p:sp>
        <p:nvSpPr>
          <p:cNvPr id="20" name="panel-2-bullet-1"/>
          <p:cNvSpPr txBox="1"/>
          <p:nvPr/>
        </p:nvSpPr>
        <p:spPr>
          <a:xfrm>
            <a:off x="4495800" y="3333750"/>
            <a:ext cx="3181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Cloud-native data lakehouse consolidating all 23 source systems</a:t>
            </a:r>
          </a:p>
        </p:txBody>
      </p:sp>
      <p:sp>
        <p:nvSpPr>
          <p:cNvPr id="21" name="panel-2-bullet-2"/>
          <p:cNvSpPr txBox="1"/>
          <p:nvPr/>
        </p:nvSpPr>
        <p:spPr>
          <a:xfrm>
            <a:off x="4495800" y="4000500"/>
            <a:ext cx="3181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Automated reconciliation engine with rule-based exception handling</a:t>
            </a:r>
          </a:p>
        </p:txBody>
      </p:sp>
      <p:sp>
        <p:nvSpPr>
          <p:cNvPr id="22" name="panel-2-bullet-3"/>
          <p:cNvSpPr txBox="1"/>
          <p:nvPr/>
        </p:nvSpPr>
        <p:spPr>
          <a:xfrm>
            <a:off x="4495800" y="4667250"/>
            <a:ext cx="3181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Real-time data streaming with sub-minute latency to all consumers</a:t>
            </a:r>
          </a:p>
        </p:txBody>
      </p:sp>
      <p:sp>
        <p:nvSpPr>
          <p:cNvPr id="23" name="panel-2-rule"/>
          <p:cNvSpPr/>
          <p:nvPr/>
        </p:nvSpPr>
        <p:spPr>
          <a:xfrm>
            <a:off x="4495800" y="5562600"/>
            <a:ext cx="31813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anel-2-stat-number"/>
          <p:cNvSpPr txBox="1"/>
          <p:nvPr/>
        </p:nvSpPr>
        <p:spPr>
          <a:xfrm>
            <a:off x="4495800" y="5657850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6-month implementation</a:t>
            </a:r>
          </a:p>
        </p:txBody>
      </p:sp>
      <p:sp>
        <p:nvSpPr>
          <p:cNvPr id="25" name="panel-2-stat-label"/>
          <p:cNvSpPr txBox="1"/>
          <p:nvPr/>
        </p:nvSpPr>
        <p:spPr>
          <a:xfrm>
            <a:off x="4495800" y="5981700"/>
            <a:ext cx="31813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PHASED DELIVERY WITH ZERO BUSINESS DISRUPTION</a:t>
            </a:r>
          </a:p>
        </p:txBody>
      </p:sp>
      <p:sp>
        <p:nvSpPr>
          <p:cNvPr id="26" name="arrow-2"/>
          <p:cNvSpPr txBox="1"/>
          <p:nvPr/>
        </p:nvSpPr>
        <p:spPr>
          <a:xfrm>
            <a:off x="7848600" y="4000500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800" b="0" i="0">
                <a:solidFill>
                  <a:srgbClr val="C780FF"/>
                </a:solidFill>
                <a:latin typeface="Inter"/>
              </a:rPr>
              <a:t>→</a:t>
            </a:r>
          </a:p>
        </p:txBody>
      </p:sp>
      <p:sp>
        <p:nvSpPr>
          <p:cNvPr id="27" name="panel-3-bg"/>
          <p:cNvSpPr/>
          <p:nvPr/>
        </p:nvSpPr>
        <p:spPr>
          <a:xfrm>
            <a:off x="8267700" y="2095500"/>
            <a:ext cx="3524250" cy="4191000"/>
          </a:xfrm>
          <a:prstGeom prst="rect">
            <a:avLst/>
          </a:prstGeom>
          <a:solidFill>
            <a:srgbClr val="1D4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anel-3-top"/>
          <p:cNvSpPr/>
          <p:nvPr/>
        </p:nvSpPr>
        <p:spPr>
          <a:xfrm>
            <a:off x="8267700" y="2095500"/>
            <a:ext cx="3524250" cy="2857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anel-3-eyebrow"/>
          <p:cNvSpPr txBox="1"/>
          <p:nvPr/>
        </p:nvSpPr>
        <p:spPr>
          <a:xfrm>
            <a:off x="8439150" y="2247900"/>
            <a:ext cx="3181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38A169"/>
                </a:solidFill>
                <a:latin typeface="Inter"/>
              </a:rPr>
              <a:t>✓ THE BENEFIT</a:t>
            </a:r>
          </a:p>
        </p:txBody>
      </p:sp>
      <p:sp>
        <p:nvSpPr>
          <p:cNvPr id="30" name="panel-3-heading"/>
          <p:cNvSpPr txBox="1"/>
          <p:nvPr/>
        </p:nvSpPr>
        <p:spPr>
          <a:xfrm>
            <a:off x="8439150" y="2438400"/>
            <a:ext cx="31813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$11M recovered, data latency reduced from 48 hours to real-time</a:t>
            </a:r>
          </a:p>
        </p:txBody>
      </p:sp>
      <p:sp>
        <p:nvSpPr>
          <p:cNvPr id="31" name="panel-3-bullet-1"/>
          <p:cNvSpPr txBox="1"/>
          <p:nvPr/>
        </p:nvSpPr>
        <p:spPr>
          <a:xfrm>
            <a:off x="8439150" y="3333750"/>
            <a:ext cx="3181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$11M in annual cost recovery including $8M reconciliation and $3M in error rework</a:t>
            </a:r>
          </a:p>
        </p:txBody>
      </p:sp>
      <p:sp>
        <p:nvSpPr>
          <p:cNvPr id="32" name="panel-3-bullet-2"/>
          <p:cNvSpPr txBox="1"/>
          <p:nvPr/>
        </p:nvSpPr>
        <p:spPr>
          <a:xfrm>
            <a:off x="8439150" y="4000500"/>
            <a:ext cx="3181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Real-time reporting enabling same-day executive decision-making</a:t>
            </a:r>
          </a:p>
        </p:txBody>
      </p:sp>
      <p:sp>
        <p:nvSpPr>
          <p:cNvPr id="33" name="panel-3-bullet-3"/>
          <p:cNvSpPr txBox="1"/>
          <p:nvPr/>
        </p:nvSpPr>
        <p:spPr>
          <a:xfrm>
            <a:off x="8439150" y="4667250"/>
            <a:ext cx="3181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1,200 FTE-hours per month redeployed to higher-value analysis</a:t>
            </a:r>
          </a:p>
        </p:txBody>
      </p:sp>
      <p:sp>
        <p:nvSpPr>
          <p:cNvPr id="34" name="panel-3-rule"/>
          <p:cNvSpPr/>
          <p:nvPr/>
        </p:nvSpPr>
        <p:spPr>
          <a:xfrm>
            <a:off x="8439150" y="5562600"/>
            <a:ext cx="31813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panel-3-stat-number"/>
          <p:cNvSpPr txBox="1"/>
          <p:nvPr/>
        </p:nvSpPr>
        <p:spPr>
          <a:xfrm>
            <a:off x="8439150" y="5657850"/>
            <a:ext cx="31813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6ED89A"/>
                </a:solidFill>
                <a:latin typeface="Inter"/>
              </a:rPr>
              <a:t>3.2× ROI</a:t>
            </a:r>
          </a:p>
        </p:txBody>
      </p:sp>
      <p:sp>
        <p:nvSpPr>
          <p:cNvPr id="36" name="panel-3-stat-label"/>
          <p:cNvSpPr txBox="1"/>
          <p:nvPr/>
        </p:nvSpPr>
        <p:spPr>
          <a:xfrm>
            <a:off x="8439150" y="5981700"/>
            <a:ext cx="31813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RETURN ON TOTAL PLATFORM INVESTMENT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