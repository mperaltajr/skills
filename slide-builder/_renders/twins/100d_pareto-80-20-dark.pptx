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Where rework comes from — three sources cause 80% of it.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Hours of deck rework in Q1 by root cause, sorted descending, with cumulative share.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zone"/>
          <p:cNvSpPr/>
          <p:nvPr/>
        </p:nvSpPr>
        <p:spPr>
          <a:xfrm>
            <a:off x="609600" y="2095500"/>
            <a:ext cx="7696200" cy="3409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title"/>
          <p:cNvSpPr txBox="1"/>
          <p:nvPr/>
        </p:nvSpPr>
        <p:spPr>
          <a:xfrm>
            <a:off x="800100" y="2228850"/>
            <a:ext cx="4648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SOURCES OF DECK REWORK · Q1 HOURS, N=100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5353050" y="2266950"/>
            <a:ext cx="114300" cy="114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5505450" y="22288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Hours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6305550" y="2324100"/>
            <a:ext cx="1333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6496050" y="222885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Cumulative %</a:t>
            </a:r>
          </a:p>
        </p:txBody>
      </p:sp>
      <p:sp>
        <p:nvSpPr>
          <p:cNvPr id="11" name="legend-3-swatch"/>
          <p:cNvSpPr/>
          <p:nvPr/>
        </p:nvSpPr>
        <p:spPr>
          <a:xfrm>
            <a:off x="7448550" y="2324100"/>
            <a:ext cx="1333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3-label"/>
          <p:cNvSpPr txBox="1"/>
          <p:nvPr/>
        </p:nvSpPr>
        <p:spPr>
          <a:xfrm>
            <a:off x="7639050" y="22288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80% threshold</a:t>
            </a:r>
          </a:p>
        </p:txBody>
      </p:sp>
      <p:sp>
        <p:nvSpPr>
          <p:cNvPr id="13" name="chart-canvas"/>
          <p:cNvSpPr/>
          <p:nvPr/>
        </p:nvSpPr>
        <p:spPr>
          <a:xfrm>
            <a:off x="800100" y="2514600"/>
            <a:ext cx="7315200" cy="2800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hart-canvas-placeholder"/>
          <p:cNvSpPr txBox="1"/>
          <p:nvPr/>
        </p:nvSpPr>
        <p:spPr>
          <a:xfrm>
            <a:off x="800100" y="2514600"/>
            <a:ext cx="7315200" cy="2800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[ PARETO CHART — 8 bars descending + cumulative % line + 80% threshold ]</a:t>
            </a:r>
          </a:p>
        </p:txBody>
      </p:sp>
      <p:sp>
        <p:nvSpPr>
          <p:cNvPr id="15" name="annot-panel"/>
          <p:cNvSpPr/>
          <p:nvPr/>
        </p:nvSpPr>
        <p:spPr>
          <a:xfrm>
            <a:off x="8534400" y="2095500"/>
            <a:ext cx="3048000" cy="3409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annot-header"/>
          <p:cNvSpPr txBox="1"/>
          <p:nvPr/>
        </p:nvSpPr>
        <p:spPr>
          <a:xfrm>
            <a:off x="8743950" y="2305050"/>
            <a:ext cx="2628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WHERE TO FOCUS</a:t>
            </a:r>
          </a:p>
        </p:txBody>
      </p:sp>
      <p:sp>
        <p:nvSpPr>
          <p:cNvPr id="17" name="annot-sub"/>
          <p:cNvSpPr txBox="1"/>
          <p:nvPr/>
        </p:nvSpPr>
        <p:spPr>
          <a:xfrm>
            <a:off x="8743950" y="249555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Top 3 categories drive 80% — focus there.</a:t>
            </a:r>
          </a:p>
        </p:txBody>
      </p:sp>
      <p:sp>
        <p:nvSpPr>
          <p:cNvPr id="18" name="annot-1-marker"/>
          <p:cNvSpPr/>
          <p:nvPr/>
        </p:nvSpPr>
        <p:spPr>
          <a:xfrm>
            <a:off x="8743950" y="30861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annot-1-body"/>
          <p:cNvSpPr txBox="1"/>
          <p:nvPr/>
        </p:nvSpPr>
        <p:spPr>
          <a:xfrm>
            <a:off x="8877300" y="3048000"/>
            <a:ext cx="24955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Late stakeholder adds (35%). Lock the reviewer list at kickoff; freeze content at T-3 days.</a:t>
            </a:r>
          </a:p>
        </p:txBody>
      </p:sp>
      <p:sp>
        <p:nvSpPr>
          <p:cNvPr id="20" name="annot-2-marker"/>
          <p:cNvSpPr/>
          <p:nvPr/>
        </p:nvSpPr>
        <p:spPr>
          <a:xfrm>
            <a:off x="8743950" y="37338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annot-2-body"/>
          <p:cNvSpPr txBox="1"/>
          <p:nvPr/>
        </p:nvSpPr>
        <p:spPr>
          <a:xfrm>
            <a:off x="8877300" y="3695700"/>
            <a:ext cx="24955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Storyline drift (28%). Run the narrative gate before any slide is built — not after.</a:t>
            </a:r>
          </a:p>
        </p:txBody>
      </p:sp>
      <p:sp>
        <p:nvSpPr>
          <p:cNvPr id="22" name="annot-3-marker"/>
          <p:cNvSpPr/>
          <p:nvPr/>
        </p:nvSpPr>
        <p:spPr>
          <a:xfrm>
            <a:off x="8743950" y="43815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annot-3-body"/>
          <p:cNvSpPr txBox="1"/>
          <p:nvPr/>
        </p:nvSpPr>
        <p:spPr>
          <a:xfrm>
            <a:off x="8877300" y="4343400"/>
            <a:ext cx="24955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Brand template mismatch (17%). Start every deck from the approved skeleton library, not a copy-paste.</a:t>
            </a:r>
          </a:p>
        </p:txBody>
      </p:sp>
      <p:sp>
        <p:nvSpPr>
          <p:cNvPr id="24" name="annot-4-marker"/>
          <p:cNvSpPr/>
          <p:nvPr/>
        </p:nvSpPr>
        <p:spPr>
          <a:xfrm>
            <a:off x="8743950" y="50292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annot-4-body"/>
          <p:cNvSpPr txBox="1"/>
          <p:nvPr/>
        </p:nvSpPr>
        <p:spPr>
          <a:xfrm>
            <a:off x="8877300" y="4991100"/>
            <a:ext cx="24955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The remaining five causes share only 20% — defer them until the vital few are fixed.</a:t>
            </a:r>
          </a:p>
        </p:txBody>
      </p:sp>
      <p:sp>
        <p:nvSpPr>
          <p:cNvPr id="26" name="convergence-bg"/>
          <p:cNvSpPr/>
          <p:nvPr/>
        </p:nvSpPr>
        <p:spPr>
          <a:xfrm>
            <a:off x="609600" y="5638800"/>
            <a:ext cx="109728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nvergence"/>
          <p:cNvSpPr txBox="1"/>
          <p:nvPr/>
        </p:nvSpPr>
        <p:spPr>
          <a:xfrm>
            <a:off x="781050" y="5638800"/>
            <a:ext cx="106299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Fix the three vital causes and Q2 rework drops by an estimated 64 hours — one full deck cycle reclaimed every month.</a:t>
            </a:r>
          </a:p>
        </p:txBody>
      </p:sp>
      <p:sp>
        <p:nvSpPr>
          <p:cNvPr id="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