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477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Three rollout options — pros and cons, with our recommendation.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9525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Pick option B — the cons are addressable; the pros are not replaceable.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mpare-col-1-header"/>
          <p:cNvSpPr txBox="1"/>
          <p:nvPr/>
        </p:nvSpPr>
        <p:spPr>
          <a:xfrm>
            <a:off x="666750" y="1790700"/>
            <a:ext cx="25336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OPTION</a:t>
            </a:r>
          </a:p>
        </p:txBody>
      </p:sp>
      <p:sp>
        <p:nvSpPr>
          <p:cNvPr id="6" name="compare-col-2-header"/>
          <p:cNvSpPr txBox="1"/>
          <p:nvPr/>
        </p:nvSpPr>
        <p:spPr>
          <a:xfrm>
            <a:off x="3429000" y="179070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6EE09E"/>
                </a:solidFill>
                <a:latin typeface="Inter"/>
              </a:rPr>
              <a:t>PROS</a:t>
            </a:r>
          </a:p>
        </p:txBody>
      </p:sp>
      <p:sp>
        <p:nvSpPr>
          <p:cNvPr id="7" name="compare-col-3-header"/>
          <p:cNvSpPr txBox="1"/>
          <p:nvPr/>
        </p:nvSpPr>
        <p:spPr>
          <a:xfrm>
            <a:off x="6896100" y="1790700"/>
            <a:ext cx="3238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8A82"/>
                </a:solidFill>
                <a:latin typeface="Inter"/>
              </a:rPr>
              <a:t>CONS</a:t>
            </a:r>
          </a:p>
        </p:txBody>
      </p:sp>
      <p:sp>
        <p:nvSpPr>
          <p:cNvPr id="8" name="compare-col-4-header"/>
          <p:cNvSpPr txBox="1"/>
          <p:nvPr/>
        </p:nvSpPr>
        <p:spPr>
          <a:xfrm>
            <a:off x="10229850" y="1790700"/>
            <a:ext cx="14287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RECOMMENDATION</a:t>
            </a:r>
          </a:p>
        </p:txBody>
      </p:sp>
      <p:sp>
        <p:nvSpPr>
          <p:cNvPr id="9" name="row-1-opt-bg"/>
          <p:cNvSpPr/>
          <p:nvPr/>
        </p:nvSpPr>
        <p:spPr>
          <a:xfrm>
            <a:off x="533400" y="2038350"/>
            <a:ext cx="2667000" cy="1123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row-1-opt-stripe"/>
          <p:cNvSpPr/>
          <p:nvPr/>
        </p:nvSpPr>
        <p:spPr>
          <a:xfrm>
            <a:off x="533400" y="2038350"/>
            <a:ext cx="38100" cy="11239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ompare-row-1-letter"/>
          <p:cNvSpPr txBox="1"/>
          <p:nvPr/>
        </p:nvSpPr>
        <p:spPr>
          <a:xfrm>
            <a:off x="666750" y="215265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OPTION A</a:t>
            </a:r>
          </a:p>
        </p:txBody>
      </p:sp>
      <p:sp>
        <p:nvSpPr>
          <p:cNvPr id="12" name="compare-row-1-label"/>
          <p:cNvSpPr txBox="1"/>
          <p:nvPr/>
        </p:nvSpPr>
        <p:spPr>
          <a:xfrm>
            <a:off x="666750" y="2305050"/>
            <a:ext cx="2400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INTERNAL PILOT</a:t>
            </a:r>
          </a:p>
        </p:txBody>
      </p:sp>
      <p:sp>
        <p:nvSpPr>
          <p:cNvPr id="13" name="compare-row-1-desc"/>
          <p:cNvSpPr txBox="1"/>
          <p:nvPr/>
        </p:nvSpPr>
        <p:spPr>
          <a:xfrm>
            <a:off x="666750" y="255270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Run inside one practice; stay quiet externally.</a:t>
            </a:r>
          </a:p>
        </p:txBody>
      </p:sp>
      <p:sp>
        <p:nvSpPr>
          <p:cNvPr id="14" name="row-1-pros-bg"/>
          <p:cNvSpPr/>
          <p:nvPr/>
        </p:nvSpPr>
        <p:spPr>
          <a:xfrm>
            <a:off x="3295650" y="2038350"/>
            <a:ext cx="3371850" cy="1123950"/>
          </a:xfrm>
          <a:prstGeom prst="rect">
            <a:avLst/>
          </a:prstGeom>
          <a:solidFill>
            <a:srgbClr val="104A28"/>
          </a:solidFill>
          <a:ln w="9525">
            <a:solidFill>
              <a:srgbClr val="6EE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ompare-row-1-pros-item-1"/>
          <p:cNvSpPr txBox="1"/>
          <p:nvPr/>
        </p:nvSpPr>
        <p:spPr>
          <a:xfrm>
            <a:off x="3429000" y="21336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B4F0C9"/>
                </a:solidFill>
                <a:latin typeface="Inter"/>
              </a:rPr>
              <a:t>✓  Low risk, reversible</a:t>
            </a:r>
          </a:p>
        </p:txBody>
      </p:sp>
      <p:sp>
        <p:nvSpPr>
          <p:cNvPr id="16" name="compare-row-1-pros-item-2"/>
          <p:cNvSpPr txBox="1"/>
          <p:nvPr/>
        </p:nvSpPr>
        <p:spPr>
          <a:xfrm>
            <a:off x="3429000" y="24384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B4F0C9"/>
                </a:solidFill>
                <a:latin typeface="Inter"/>
              </a:rPr>
              <a:t>✓  Internal-only — no external exposure</a:t>
            </a:r>
          </a:p>
        </p:txBody>
      </p:sp>
      <p:sp>
        <p:nvSpPr>
          <p:cNvPr id="17" name="compare-row-1-pros-item-3"/>
          <p:cNvSpPr txBox="1"/>
          <p:nvPr/>
        </p:nvSpPr>
        <p:spPr>
          <a:xfrm>
            <a:off x="3429000" y="27432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B4F0C9"/>
                </a:solidFill>
                <a:latin typeface="Inter"/>
              </a:rPr>
              <a:t>✓  Cheap to start</a:t>
            </a:r>
          </a:p>
        </p:txBody>
      </p:sp>
      <p:sp>
        <p:nvSpPr>
          <p:cNvPr id="18" name="row-1-cons-bg"/>
          <p:cNvSpPr/>
          <p:nvPr/>
        </p:nvSpPr>
        <p:spPr>
          <a:xfrm>
            <a:off x="6762750" y="2038350"/>
            <a:ext cx="3371850" cy="1123950"/>
          </a:xfrm>
          <a:prstGeom prst="rect">
            <a:avLst/>
          </a:prstGeom>
          <a:solidFill>
            <a:srgbClr val="661A15"/>
          </a:solidFill>
          <a:ln w="9525">
            <a:solidFill>
              <a:srgbClr val="FF8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ompare-row-1-cons-item-1"/>
          <p:cNvSpPr txBox="1"/>
          <p:nvPr/>
        </p:nvSpPr>
        <p:spPr>
          <a:xfrm>
            <a:off x="6896100" y="21336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C9C4"/>
                </a:solidFill>
                <a:latin typeface="Inter"/>
              </a:rPr>
              <a:t>✕  Limited learning — small sample</a:t>
            </a:r>
          </a:p>
        </p:txBody>
      </p:sp>
      <p:sp>
        <p:nvSpPr>
          <p:cNvPr id="20" name="compare-row-1-cons-item-2"/>
          <p:cNvSpPr txBox="1"/>
          <p:nvPr/>
        </p:nvSpPr>
        <p:spPr>
          <a:xfrm>
            <a:off x="6896100" y="24384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C9C4"/>
                </a:solidFill>
                <a:latin typeface="Inter"/>
              </a:rPr>
              <a:t>✕  Slow ramp to firm-wide value</a:t>
            </a:r>
          </a:p>
        </p:txBody>
      </p:sp>
      <p:sp>
        <p:nvSpPr>
          <p:cNvPr id="21" name="compare-row-1-cons-item-3"/>
          <p:cNvSpPr txBox="1"/>
          <p:nvPr/>
        </p:nvSpPr>
        <p:spPr>
          <a:xfrm>
            <a:off x="6896100" y="27432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C9C4"/>
                </a:solidFill>
                <a:latin typeface="Inter"/>
              </a:rPr>
              <a:t>✕  No firm-wide signal of commitment</a:t>
            </a:r>
          </a:p>
        </p:txBody>
      </p:sp>
      <p:sp>
        <p:nvSpPr>
          <p:cNvPr id="22" name="compare-row-1-rec"/>
          <p:cNvSpPr/>
          <p:nvPr/>
        </p:nvSpPr>
        <p:spPr>
          <a:xfrm>
            <a:off x="10229850" y="2038350"/>
            <a:ext cx="1428750" cy="1123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ompare-row-1-rec-mark"/>
          <p:cNvSpPr txBox="1"/>
          <p:nvPr/>
        </p:nvSpPr>
        <p:spPr>
          <a:xfrm>
            <a:off x="10229850" y="21526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9C88B8"/>
                </a:solidFill>
                <a:latin typeface="Inter"/>
              </a:rPr>
              <a:t>—</a:t>
            </a:r>
          </a:p>
        </p:txBody>
      </p:sp>
      <p:sp>
        <p:nvSpPr>
          <p:cNvPr id="24" name="compare-row-1-rec-note"/>
          <p:cNvSpPr txBox="1"/>
          <p:nvPr/>
        </p:nvSpPr>
        <p:spPr>
          <a:xfrm>
            <a:off x="10306050" y="2495550"/>
            <a:ext cx="127635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Too small to learn from</a:t>
            </a:r>
          </a:p>
        </p:txBody>
      </p:sp>
      <p:sp>
        <p:nvSpPr>
          <p:cNvPr id="25" name="row-2-opt-bg"/>
          <p:cNvSpPr/>
          <p:nvPr/>
        </p:nvSpPr>
        <p:spPr>
          <a:xfrm>
            <a:off x="533400" y="3238500"/>
            <a:ext cx="2667000" cy="1123950"/>
          </a:xfrm>
          <a:prstGeom prst="rect">
            <a:avLst/>
          </a:prstGeom>
          <a:solidFill>
            <a:srgbClr val="3C1F5C"/>
          </a:solidFill>
          <a:ln w="2540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row-2-opt-stripe"/>
          <p:cNvSpPr/>
          <p:nvPr/>
        </p:nvSpPr>
        <p:spPr>
          <a:xfrm>
            <a:off x="533400" y="3238500"/>
            <a:ext cx="38100" cy="11239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mpare-row-2-letter"/>
          <p:cNvSpPr txBox="1"/>
          <p:nvPr/>
        </p:nvSpPr>
        <p:spPr>
          <a:xfrm>
            <a:off x="666750" y="335280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OPTION B · RECOMMENDED</a:t>
            </a:r>
          </a:p>
        </p:txBody>
      </p:sp>
      <p:sp>
        <p:nvSpPr>
          <p:cNvPr id="28" name="compare-row-2-label"/>
          <p:cNvSpPr txBox="1"/>
          <p:nvPr/>
        </p:nvSpPr>
        <p:spPr>
          <a:xfrm>
            <a:off x="666750" y="3505200"/>
            <a:ext cx="2400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FULL PRACTICE ROLLOUT</a:t>
            </a:r>
          </a:p>
        </p:txBody>
      </p:sp>
      <p:sp>
        <p:nvSpPr>
          <p:cNvPr id="29" name="compare-row-2-desc"/>
          <p:cNvSpPr txBox="1"/>
          <p:nvPr/>
        </p:nvSpPr>
        <p:spPr>
          <a:xfrm>
            <a:off x="666750" y="375285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Ship to the whole practice; measure and publish.</a:t>
            </a:r>
          </a:p>
        </p:txBody>
      </p:sp>
      <p:sp>
        <p:nvSpPr>
          <p:cNvPr id="30" name="row-2-pros-bg"/>
          <p:cNvSpPr/>
          <p:nvPr/>
        </p:nvSpPr>
        <p:spPr>
          <a:xfrm>
            <a:off x="3295650" y="3238500"/>
            <a:ext cx="3371850" cy="1123950"/>
          </a:xfrm>
          <a:prstGeom prst="rect">
            <a:avLst/>
          </a:prstGeom>
          <a:solidFill>
            <a:srgbClr val="104A28"/>
          </a:solidFill>
          <a:ln w="9525">
            <a:solidFill>
              <a:srgbClr val="6EE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compare-row-2-pros-item-1"/>
          <p:cNvSpPr txBox="1"/>
          <p:nvPr/>
        </p:nvSpPr>
        <p:spPr>
          <a:xfrm>
            <a:off x="3429000" y="33337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B4F0C9"/>
                </a:solidFill>
                <a:latin typeface="Inter"/>
              </a:rPr>
              <a:t>✓  Real measurement at meaningful N</a:t>
            </a:r>
          </a:p>
        </p:txBody>
      </p:sp>
      <p:sp>
        <p:nvSpPr>
          <p:cNvPr id="32" name="compare-row-2-pros-item-2"/>
          <p:cNvSpPr txBox="1"/>
          <p:nvPr/>
        </p:nvSpPr>
        <p:spPr>
          <a:xfrm>
            <a:off x="3429000" y="36385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B4F0C9"/>
                </a:solidFill>
                <a:latin typeface="Inter"/>
              </a:rPr>
              <a:t>✓  Builds the case for firm-wide scale</a:t>
            </a:r>
          </a:p>
        </p:txBody>
      </p:sp>
      <p:sp>
        <p:nvSpPr>
          <p:cNvPr id="33" name="compare-row-2-pros-item-3"/>
          <p:cNvSpPr txBox="1"/>
          <p:nvPr/>
        </p:nvSpPr>
        <p:spPr>
          <a:xfrm>
            <a:off x="3429000" y="39433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B4F0C9"/>
                </a:solidFill>
                <a:latin typeface="Inter"/>
              </a:rPr>
              <a:t>✓  Demonstrates leadership commitment</a:t>
            </a:r>
          </a:p>
        </p:txBody>
      </p:sp>
      <p:sp>
        <p:nvSpPr>
          <p:cNvPr id="34" name="row-2-cons-bg"/>
          <p:cNvSpPr/>
          <p:nvPr/>
        </p:nvSpPr>
        <p:spPr>
          <a:xfrm>
            <a:off x="6762750" y="3238500"/>
            <a:ext cx="3371850" cy="1123950"/>
          </a:xfrm>
          <a:prstGeom prst="rect">
            <a:avLst/>
          </a:prstGeom>
          <a:solidFill>
            <a:srgbClr val="661A15"/>
          </a:solidFill>
          <a:ln w="9525">
            <a:solidFill>
              <a:srgbClr val="FF8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ompare-row-2-cons-item-1"/>
          <p:cNvSpPr txBox="1"/>
          <p:nvPr/>
        </p:nvSpPr>
        <p:spPr>
          <a:xfrm>
            <a:off x="6896100" y="33337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C9C4"/>
                </a:solidFill>
                <a:latin typeface="Inter"/>
              </a:rPr>
              <a:t>✕  Higher initial investment</a:t>
            </a:r>
          </a:p>
        </p:txBody>
      </p:sp>
      <p:sp>
        <p:nvSpPr>
          <p:cNvPr id="36" name="compare-row-2-cons-item-2"/>
          <p:cNvSpPr txBox="1"/>
          <p:nvPr/>
        </p:nvSpPr>
        <p:spPr>
          <a:xfrm>
            <a:off x="6896100" y="36385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C9C4"/>
                </a:solidFill>
                <a:latin typeface="Inter"/>
              </a:rPr>
              <a:t>✕  Exposes early failure visibly</a:t>
            </a:r>
          </a:p>
        </p:txBody>
      </p:sp>
      <p:sp>
        <p:nvSpPr>
          <p:cNvPr id="37" name="compare-row-2-cons-item-3"/>
          <p:cNvSpPr txBox="1"/>
          <p:nvPr/>
        </p:nvSpPr>
        <p:spPr>
          <a:xfrm>
            <a:off x="6896100" y="394335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C9C4"/>
                </a:solidFill>
                <a:latin typeface="Inter"/>
              </a:rPr>
              <a:t>✕  Requires onboarding bandwidth</a:t>
            </a:r>
          </a:p>
        </p:txBody>
      </p:sp>
      <p:sp>
        <p:nvSpPr>
          <p:cNvPr id="38" name="compare-row-2-rec"/>
          <p:cNvSpPr/>
          <p:nvPr/>
        </p:nvSpPr>
        <p:spPr>
          <a:xfrm>
            <a:off x="10229850" y="3238500"/>
            <a:ext cx="1428750" cy="11239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compare-row-2-rec-mark"/>
          <p:cNvSpPr txBox="1"/>
          <p:nvPr/>
        </p:nvSpPr>
        <p:spPr>
          <a:xfrm>
            <a:off x="10229850" y="335280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350" b="1" i="0">
                <a:solidFill>
                  <a:srgbClr val="FFFFFF"/>
                </a:solidFill>
                <a:latin typeface="Inter"/>
              </a:rPr>
              <a:t>PICK</a:t>
            </a:r>
          </a:p>
        </p:txBody>
      </p:sp>
      <p:sp>
        <p:nvSpPr>
          <p:cNvPr id="40" name="compare-row-2-rec-note"/>
          <p:cNvSpPr txBox="1"/>
          <p:nvPr/>
        </p:nvSpPr>
        <p:spPr>
          <a:xfrm>
            <a:off x="10306050" y="3695700"/>
            <a:ext cx="127635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Best risk-adjusted learning</a:t>
            </a:r>
          </a:p>
        </p:txBody>
      </p:sp>
      <p:sp>
        <p:nvSpPr>
          <p:cNvPr id="41" name="row-3-opt-bg"/>
          <p:cNvSpPr/>
          <p:nvPr/>
        </p:nvSpPr>
        <p:spPr>
          <a:xfrm>
            <a:off x="533400" y="4438650"/>
            <a:ext cx="2667000" cy="1123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row-3-opt-stripe"/>
          <p:cNvSpPr/>
          <p:nvPr/>
        </p:nvSpPr>
        <p:spPr>
          <a:xfrm>
            <a:off x="533400" y="4438650"/>
            <a:ext cx="38100" cy="11239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mpare-row-3-letter"/>
          <p:cNvSpPr txBox="1"/>
          <p:nvPr/>
        </p:nvSpPr>
        <p:spPr>
          <a:xfrm>
            <a:off x="666750" y="4552950"/>
            <a:ext cx="24003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OPTION C</a:t>
            </a:r>
          </a:p>
        </p:txBody>
      </p:sp>
      <p:sp>
        <p:nvSpPr>
          <p:cNvPr id="44" name="compare-row-3-label"/>
          <p:cNvSpPr txBox="1"/>
          <p:nvPr/>
        </p:nvSpPr>
        <p:spPr>
          <a:xfrm>
            <a:off x="666750" y="4705350"/>
            <a:ext cx="24003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FIRM-WIDE LICENSE</a:t>
            </a:r>
          </a:p>
        </p:txBody>
      </p:sp>
      <p:sp>
        <p:nvSpPr>
          <p:cNvPr id="45" name="compare-row-3-desc"/>
          <p:cNvSpPr txBox="1"/>
          <p:nvPr/>
        </p:nvSpPr>
        <p:spPr>
          <a:xfrm>
            <a:off x="666750" y="4953000"/>
            <a:ext cx="2400300" cy="514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Buy a vendor product; deploy everywhere.</a:t>
            </a:r>
          </a:p>
        </p:txBody>
      </p:sp>
      <p:sp>
        <p:nvSpPr>
          <p:cNvPr id="46" name="row-3-pros-bg"/>
          <p:cNvSpPr/>
          <p:nvPr/>
        </p:nvSpPr>
        <p:spPr>
          <a:xfrm>
            <a:off x="3295650" y="4438650"/>
            <a:ext cx="3371850" cy="1123950"/>
          </a:xfrm>
          <a:prstGeom prst="rect">
            <a:avLst/>
          </a:prstGeom>
          <a:solidFill>
            <a:srgbClr val="104A28"/>
          </a:solidFill>
          <a:ln w="9525">
            <a:solidFill>
              <a:srgbClr val="6EE0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compare-row-3-pros-item-1"/>
          <p:cNvSpPr txBox="1"/>
          <p:nvPr/>
        </p:nvSpPr>
        <p:spPr>
          <a:xfrm>
            <a:off x="3429000" y="45339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B4F0C9"/>
                </a:solidFill>
                <a:latin typeface="Inter"/>
              </a:rPr>
              <a:t>✓  Vendor support out of the box</a:t>
            </a:r>
          </a:p>
        </p:txBody>
      </p:sp>
      <p:sp>
        <p:nvSpPr>
          <p:cNvPr id="48" name="compare-row-3-pros-item-2"/>
          <p:cNvSpPr txBox="1"/>
          <p:nvPr/>
        </p:nvSpPr>
        <p:spPr>
          <a:xfrm>
            <a:off x="3429000" y="48387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B4F0C9"/>
                </a:solidFill>
                <a:latin typeface="Inter"/>
              </a:rPr>
              <a:t>✓  Scale is immediate</a:t>
            </a:r>
          </a:p>
        </p:txBody>
      </p:sp>
      <p:sp>
        <p:nvSpPr>
          <p:cNvPr id="49" name="compare-row-3-pros-item-3"/>
          <p:cNvSpPr txBox="1"/>
          <p:nvPr/>
        </p:nvSpPr>
        <p:spPr>
          <a:xfrm>
            <a:off x="3429000" y="51435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B4F0C9"/>
                </a:solidFill>
                <a:latin typeface="Inter"/>
              </a:rPr>
              <a:t>✓  Predictable cost line</a:t>
            </a:r>
          </a:p>
        </p:txBody>
      </p:sp>
      <p:sp>
        <p:nvSpPr>
          <p:cNvPr id="50" name="row-3-cons-bg"/>
          <p:cNvSpPr/>
          <p:nvPr/>
        </p:nvSpPr>
        <p:spPr>
          <a:xfrm>
            <a:off x="6762750" y="4438650"/>
            <a:ext cx="3371850" cy="1123950"/>
          </a:xfrm>
          <a:prstGeom prst="rect">
            <a:avLst/>
          </a:prstGeom>
          <a:solidFill>
            <a:srgbClr val="661A15"/>
          </a:solidFill>
          <a:ln w="9525">
            <a:solidFill>
              <a:srgbClr val="FF8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ompare-row-3-cons-item-1"/>
          <p:cNvSpPr txBox="1"/>
          <p:nvPr/>
        </p:nvSpPr>
        <p:spPr>
          <a:xfrm>
            <a:off x="6896100" y="45339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C9C4"/>
                </a:solidFill>
                <a:latin typeface="Inter"/>
              </a:rPr>
              <a:t>✕  No internal IP — nothing proprietary</a:t>
            </a:r>
          </a:p>
        </p:txBody>
      </p:sp>
      <p:sp>
        <p:nvSpPr>
          <p:cNvPr id="52" name="compare-row-3-cons-item-2"/>
          <p:cNvSpPr txBox="1"/>
          <p:nvPr/>
        </p:nvSpPr>
        <p:spPr>
          <a:xfrm>
            <a:off x="6896100" y="48387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C9C4"/>
                </a:solidFill>
                <a:latin typeface="Inter"/>
              </a:rPr>
              <a:t>✕  Vendor lock-in on roadmap &amp; price</a:t>
            </a:r>
          </a:p>
        </p:txBody>
      </p:sp>
      <p:sp>
        <p:nvSpPr>
          <p:cNvPr id="53" name="compare-row-3-cons-item-3"/>
          <p:cNvSpPr txBox="1"/>
          <p:nvPr/>
        </p:nvSpPr>
        <p:spPr>
          <a:xfrm>
            <a:off x="6896100" y="5143500"/>
            <a:ext cx="310515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C9C4"/>
                </a:solidFill>
                <a:latin typeface="Inter"/>
              </a:rPr>
              <a:t>✕  Can't tune to our taste or templates</a:t>
            </a:r>
          </a:p>
        </p:txBody>
      </p:sp>
      <p:sp>
        <p:nvSpPr>
          <p:cNvPr id="54" name="compare-row-3-rec"/>
          <p:cNvSpPr/>
          <p:nvPr/>
        </p:nvSpPr>
        <p:spPr>
          <a:xfrm>
            <a:off x="10229850" y="4438650"/>
            <a:ext cx="1428750" cy="11239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ompare-row-3-rec-mark"/>
          <p:cNvSpPr txBox="1"/>
          <p:nvPr/>
        </p:nvSpPr>
        <p:spPr>
          <a:xfrm>
            <a:off x="10229850" y="4552950"/>
            <a:ext cx="14287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9C88B8"/>
                </a:solidFill>
                <a:latin typeface="Inter"/>
              </a:rPr>
              <a:t>—</a:t>
            </a:r>
          </a:p>
        </p:txBody>
      </p:sp>
      <p:sp>
        <p:nvSpPr>
          <p:cNvPr id="56" name="compare-row-3-rec-note"/>
          <p:cNvSpPr txBox="1"/>
          <p:nvPr/>
        </p:nvSpPr>
        <p:spPr>
          <a:xfrm>
            <a:off x="10306050" y="4895850"/>
            <a:ext cx="1276350" cy="552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Surrenders the IP advantage</a:t>
            </a:r>
          </a:p>
        </p:txBody>
      </p:sp>
      <p:sp>
        <p:nvSpPr>
          <p:cNvPr id="57" name="convergence-bg"/>
          <p:cNvSpPr/>
          <p:nvPr/>
        </p:nvSpPr>
        <p:spPr>
          <a:xfrm>
            <a:off x="533400" y="5600700"/>
            <a:ext cx="11125200" cy="36195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onvergence-accent"/>
          <p:cNvSpPr/>
          <p:nvPr/>
        </p:nvSpPr>
        <p:spPr>
          <a:xfrm>
            <a:off x="533400" y="5600700"/>
            <a:ext cx="28575" cy="3619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convergence"/>
          <p:cNvSpPr txBox="1"/>
          <p:nvPr/>
        </p:nvSpPr>
        <p:spPr>
          <a:xfrm>
            <a:off x="742950" y="5600700"/>
            <a:ext cx="10706100" cy="361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Pick option B — the cons are addressable; the pros are not replaceable.</a:t>
            </a:r>
          </a:p>
        </p:txBody>
      </p:sp>
      <p:sp>
        <p:nvSpPr>
          <p:cNvPr id="60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1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2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