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ure-tag"/>
          <p:cNvSpPr txBox="1"/>
          <p:nvPr/>
        </p:nvSpPr>
        <p:spPr>
          <a:xfrm>
            <a:off x="228600" y="2286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ACCENTURE INTERNAL</a:t>
            </a:r>
          </a:p>
        </p:txBody>
      </p:sp>
      <p:sp>
        <p:nvSpPr>
          <p:cNvPr id="3" name="draft-badge"/>
          <p:cNvSpPr txBox="1"/>
          <p:nvPr/>
        </p:nvSpPr>
        <p:spPr>
          <a:xfrm>
            <a:off x="5772150" y="190500"/>
            <a:ext cx="647700" cy="17145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71C1C"/>
                </a:solidFill>
                <a:latin typeface="Inter"/>
              </a:rPr>
              <a:t>DRAFT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Tailored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key messages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for every audience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609600" y="99060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Right message, right person, right channel — driving aligned action across the organisation</a:t>
            </a:r>
          </a:p>
        </p:txBody>
      </p:sp>
      <p:sp>
        <p:nvSpPr>
          <p:cNvPr id="6" name="brand-rule"/>
          <p:cNvSpPr/>
          <p:nvPr/>
        </p:nvSpPr>
        <p:spPr>
          <a:xfrm>
            <a:off x="609600" y="14287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illar-1-bg"/>
          <p:cNvSpPr/>
          <p:nvPr/>
        </p:nvSpPr>
        <p:spPr>
          <a:xfrm>
            <a:off x="609600" y="1543050"/>
            <a:ext cx="2667000" cy="44005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pillar-1-accent"/>
          <p:cNvSpPr/>
          <p:nvPr/>
        </p:nvSpPr>
        <p:spPr>
          <a:xfrm>
            <a:off x="609600" y="1543050"/>
            <a:ext cx="38100" cy="4400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pillar-1-header-bg"/>
          <p:cNvSpPr/>
          <p:nvPr/>
        </p:nvSpPr>
        <p:spPr>
          <a:xfrm>
            <a:off x="609600" y="1543050"/>
            <a:ext cx="266700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pillar-1-name"/>
          <p:cNvSpPr txBox="1"/>
          <p:nvPr/>
        </p:nvSpPr>
        <p:spPr>
          <a:xfrm>
            <a:off x="704850" y="1600200"/>
            <a:ext cx="247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BOARD</a:t>
            </a:r>
          </a:p>
        </p:txBody>
      </p:sp>
      <p:sp>
        <p:nvSpPr>
          <p:cNvPr id="11" name="pillar-1-tag"/>
          <p:cNvSpPr txBox="1"/>
          <p:nvPr/>
        </p:nvSpPr>
        <p:spPr>
          <a:xfrm>
            <a:off x="704850" y="192405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Governance, risk &amp; fiduciary duty</a:t>
            </a:r>
          </a:p>
        </p:txBody>
      </p:sp>
      <p:sp>
        <p:nvSpPr>
          <p:cNvPr id="12" name="pillar-1-message"/>
          <p:cNvSpPr txBox="1"/>
          <p:nvPr/>
        </p:nvSpPr>
        <p:spPr>
          <a:xfrm>
            <a:off x="704850" y="2228850"/>
            <a:ext cx="24765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This initiative protects enterprise value and strengthens our strategic position</a:t>
            </a:r>
          </a:p>
        </p:txBody>
      </p:sp>
      <p:sp>
        <p:nvSpPr>
          <p:cNvPr id="13" name="pillar-1-body"/>
          <p:cNvSpPr txBox="1"/>
          <p:nvPr/>
        </p:nvSpPr>
        <p:spPr>
          <a:xfrm>
            <a:off x="704850" y="3009900"/>
            <a:ext cx="2476500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Reduces regulatory exposure by an estimated 40%
• Aligns with approved 3-year strategy
• ROI positive within 18 months
• Independent assurance every 6 months</a:t>
            </a:r>
          </a:p>
        </p:txBody>
      </p:sp>
      <p:sp>
        <p:nvSpPr>
          <p:cNvPr id="14" name="pillar-1-cta"/>
          <p:cNvSpPr txBox="1"/>
          <p:nvPr/>
        </p:nvSpPr>
        <p:spPr>
          <a:xfrm>
            <a:off x="704850" y="537210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A100FF"/>
                </a:solidFill>
                <a:latin typeface="Inter"/>
              </a:rPr>
              <a:t>Approve programme charter at next board meeting</a:t>
            </a:r>
          </a:p>
        </p:txBody>
      </p:sp>
      <p:sp>
        <p:nvSpPr>
          <p:cNvPr id="15" name="pillar-1-channel-rule"/>
          <p:cNvSpPr/>
          <p:nvPr/>
        </p:nvSpPr>
        <p:spPr>
          <a:xfrm>
            <a:off x="704850" y="5676900"/>
            <a:ext cx="24765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pillar-1-channel"/>
          <p:cNvSpPr txBox="1"/>
          <p:nvPr/>
        </p:nvSpPr>
        <p:spPr>
          <a:xfrm>
            <a:off x="704850" y="573405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TOWN HALL / BOARD PACK</a:t>
            </a:r>
          </a:p>
        </p:txBody>
      </p:sp>
      <p:sp>
        <p:nvSpPr>
          <p:cNvPr id="17" name="pillar-2-bg"/>
          <p:cNvSpPr/>
          <p:nvPr/>
        </p:nvSpPr>
        <p:spPr>
          <a:xfrm>
            <a:off x="3371850" y="1543050"/>
            <a:ext cx="2667000" cy="44005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pillar-2-accent"/>
          <p:cNvSpPr/>
          <p:nvPr/>
        </p:nvSpPr>
        <p:spPr>
          <a:xfrm>
            <a:off x="3371850" y="1543050"/>
            <a:ext cx="38100" cy="4400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pillar-2-header-bg"/>
          <p:cNvSpPr/>
          <p:nvPr/>
        </p:nvSpPr>
        <p:spPr>
          <a:xfrm>
            <a:off x="3371850" y="1543050"/>
            <a:ext cx="266700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pillar-2-name"/>
          <p:cNvSpPr txBox="1"/>
          <p:nvPr/>
        </p:nvSpPr>
        <p:spPr>
          <a:xfrm>
            <a:off x="3467100" y="1600200"/>
            <a:ext cx="247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C-SUITE</a:t>
            </a:r>
          </a:p>
        </p:txBody>
      </p:sp>
      <p:sp>
        <p:nvSpPr>
          <p:cNvPr id="21" name="pillar-2-tag"/>
          <p:cNvSpPr txBox="1"/>
          <p:nvPr/>
        </p:nvSpPr>
        <p:spPr>
          <a:xfrm>
            <a:off x="3467100" y="192405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P&amp;L impact, cross-function alignment</a:t>
            </a:r>
          </a:p>
        </p:txBody>
      </p:sp>
      <p:sp>
        <p:nvSpPr>
          <p:cNvPr id="22" name="pillar-2-message"/>
          <p:cNvSpPr txBox="1"/>
          <p:nvPr/>
        </p:nvSpPr>
        <p:spPr>
          <a:xfrm>
            <a:off x="3467100" y="2228850"/>
            <a:ext cx="24765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We gain competitive advantage while meeting our cost and growth targets</a:t>
            </a:r>
          </a:p>
        </p:txBody>
      </p:sp>
      <p:sp>
        <p:nvSpPr>
          <p:cNvPr id="23" name="pillar-2-body"/>
          <p:cNvSpPr txBox="1"/>
          <p:nvPr/>
        </p:nvSpPr>
        <p:spPr>
          <a:xfrm>
            <a:off x="3467100" y="3009900"/>
            <a:ext cx="2476500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$12M efficiency target in Year 1
• Removes the top 3 cross-unit bottlenecks
• Enables new revenue stream by Q3
• Funded within existing capex envelope</a:t>
            </a:r>
          </a:p>
        </p:txBody>
      </p:sp>
      <p:sp>
        <p:nvSpPr>
          <p:cNvPr id="24" name="pillar-2-cta"/>
          <p:cNvSpPr txBox="1"/>
          <p:nvPr/>
        </p:nvSpPr>
        <p:spPr>
          <a:xfrm>
            <a:off x="3467100" y="537210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A100FF"/>
                </a:solidFill>
                <a:latin typeface="Inter"/>
              </a:rPr>
              <a:t>Champion the change within your function by Week 2</a:t>
            </a:r>
          </a:p>
        </p:txBody>
      </p:sp>
      <p:sp>
        <p:nvSpPr>
          <p:cNvPr id="25" name="pillar-2-channel-rule"/>
          <p:cNvSpPr/>
          <p:nvPr/>
        </p:nvSpPr>
        <p:spPr>
          <a:xfrm>
            <a:off x="3467100" y="5676900"/>
            <a:ext cx="24765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pillar-2-channel"/>
          <p:cNvSpPr txBox="1"/>
          <p:nvPr/>
        </p:nvSpPr>
        <p:spPr>
          <a:xfrm>
            <a:off x="3467100" y="573405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LEADERSHIP OFFSITE / EMAIL</a:t>
            </a:r>
          </a:p>
        </p:txBody>
      </p:sp>
      <p:sp>
        <p:nvSpPr>
          <p:cNvPr id="27" name="pillar-3-bg"/>
          <p:cNvSpPr/>
          <p:nvPr/>
        </p:nvSpPr>
        <p:spPr>
          <a:xfrm>
            <a:off x="6134100" y="1543050"/>
            <a:ext cx="2667000" cy="44005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pillar-3-accent"/>
          <p:cNvSpPr/>
          <p:nvPr/>
        </p:nvSpPr>
        <p:spPr>
          <a:xfrm>
            <a:off x="6134100" y="1543050"/>
            <a:ext cx="38100" cy="4400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pillar-3-header-bg"/>
          <p:cNvSpPr/>
          <p:nvPr/>
        </p:nvSpPr>
        <p:spPr>
          <a:xfrm>
            <a:off x="6134100" y="1543050"/>
            <a:ext cx="266700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pillar-3-name"/>
          <p:cNvSpPr txBox="1"/>
          <p:nvPr/>
        </p:nvSpPr>
        <p:spPr>
          <a:xfrm>
            <a:off x="6229350" y="1600200"/>
            <a:ext cx="247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OPERATIONS</a:t>
            </a:r>
          </a:p>
        </p:txBody>
      </p:sp>
      <p:sp>
        <p:nvSpPr>
          <p:cNvPr id="31" name="pillar-3-tag"/>
          <p:cNvSpPr txBox="1"/>
          <p:nvPr/>
        </p:nvSpPr>
        <p:spPr>
          <a:xfrm>
            <a:off x="6229350" y="192405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Process reliability, KPIs &amp; workload</a:t>
            </a:r>
          </a:p>
        </p:txBody>
      </p:sp>
      <p:sp>
        <p:nvSpPr>
          <p:cNvPr id="32" name="pillar-3-message"/>
          <p:cNvSpPr txBox="1"/>
          <p:nvPr/>
        </p:nvSpPr>
        <p:spPr>
          <a:xfrm>
            <a:off x="6229350" y="2228850"/>
            <a:ext cx="24765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The new process reduces manual steps and makes hitting your SLAs easier</a:t>
            </a:r>
          </a:p>
        </p:txBody>
      </p:sp>
      <p:sp>
        <p:nvSpPr>
          <p:cNvPr id="33" name="pillar-3-body"/>
          <p:cNvSpPr txBox="1"/>
          <p:nvPr/>
        </p:nvSpPr>
        <p:spPr>
          <a:xfrm>
            <a:off x="6229350" y="3009900"/>
            <a:ext cx="2476500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Cuts average handling time by 25%
• Single system of record — no dual entry
• Dedicated support desk during go-live
• Phased rollout — no big-bang risk</a:t>
            </a:r>
          </a:p>
        </p:txBody>
      </p:sp>
      <p:sp>
        <p:nvSpPr>
          <p:cNvPr id="34" name="pillar-3-cta"/>
          <p:cNvSpPr txBox="1"/>
          <p:nvPr/>
        </p:nvSpPr>
        <p:spPr>
          <a:xfrm>
            <a:off x="6229350" y="537210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A100FF"/>
                </a:solidFill>
                <a:latin typeface="Inter"/>
              </a:rPr>
              <a:t>Complete training module and certify by [date]</a:t>
            </a:r>
          </a:p>
        </p:txBody>
      </p:sp>
      <p:sp>
        <p:nvSpPr>
          <p:cNvPr id="35" name="pillar-3-channel-rule"/>
          <p:cNvSpPr/>
          <p:nvPr/>
        </p:nvSpPr>
        <p:spPr>
          <a:xfrm>
            <a:off x="6229350" y="5676900"/>
            <a:ext cx="24765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pillar-3-channel"/>
          <p:cNvSpPr txBox="1"/>
          <p:nvPr/>
        </p:nvSpPr>
        <p:spPr>
          <a:xfrm>
            <a:off x="6229350" y="573405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MANAGER BRIEFING / INTRANET</a:t>
            </a:r>
          </a:p>
        </p:txBody>
      </p:sp>
      <p:sp>
        <p:nvSpPr>
          <p:cNvPr id="37" name="pillar-4-bg"/>
          <p:cNvSpPr/>
          <p:nvPr/>
        </p:nvSpPr>
        <p:spPr>
          <a:xfrm>
            <a:off x="8896350" y="1543050"/>
            <a:ext cx="2667000" cy="44005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pillar-4-accent"/>
          <p:cNvSpPr/>
          <p:nvPr/>
        </p:nvSpPr>
        <p:spPr>
          <a:xfrm>
            <a:off x="8896350" y="1543050"/>
            <a:ext cx="38100" cy="4400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pillar-4-header-bg"/>
          <p:cNvSpPr/>
          <p:nvPr/>
        </p:nvSpPr>
        <p:spPr>
          <a:xfrm>
            <a:off x="8896350" y="1543050"/>
            <a:ext cx="266700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pillar-4-name"/>
          <p:cNvSpPr txBox="1"/>
          <p:nvPr/>
        </p:nvSpPr>
        <p:spPr>
          <a:xfrm>
            <a:off x="8991600" y="1600200"/>
            <a:ext cx="247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FRONT-LINE</a:t>
            </a:r>
          </a:p>
        </p:txBody>
      </p:sp>
      <p:sp>
        <p:nvSpPr>
          <p:cNvPr id="41" name="pillar-4-tag"/>
          <p:cNvSpPr txBox="1"/>
          <p:nvPr/>
        </p:nvSpPr>
        <p:spPr>
          <a:xfrm>
            <a:off x="8991600" y="192405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Day-to-day ease, job security &amp; clarity</a:t>
            </a:r>
          </a:p>
        </p:txBody>
      </p:sp>
      <p:sp>
        <p:nvSpPr>
          <p:cNvPr id="42" name="pillar-4-message"/>
          <p:cNvSpPr txBox="1"/>
          <p:nvPr/>
        </p:nvSpPr>
        <p:spPr>
          <a:xfrm>
            <a:off x="8991600" y="2228850"/>
            <a:ext cx="24765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This change makes your daily work simpler — and your team will be fully supported</a:t>
            </a:r>
          </a:p>
        </p:txBody>
      </p:sp>
      <p:sp>
        <p:nvSpPr>
          <p:cNvPr id="43" name="pillar-4-body"/>
          <p:cNvSpPr txBox="1"/>
          <p:nvPr/>
        </p:nvSpPr>
        <p:spPr>
          <a:xfrm>
            <a:off x="8991600" y="3009900"/>
            <a:ext cx="2476500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New tool trained in under 2 hours
• No role eliminations in scope
• Peer champions on every team
• Hyper-care hotline for first 30 days</a:t>
            </a:r>
          </a:p>
        </p:txBody>
      </p:sp>
      <p:sp>
        <p:nvSpPr>
          <p:cNvPr id="44" name="pillar-4-cta"/>
          <p:cNvSpPr txBox="1"/>
          <p:nvPr/>
        </p:nvSpPr>
        <p:spPr>
          <a:xfrm>
            <a:off x="8991600" y="537210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A100FF"/>
                </a:solidFill>
                <a:latin typeface="Inter"/>
              </a:rPr>
              <a:t>Attend your team's kick-off session this week</a:t>
            </a:r>
          </a:p>
        </p:txBody>
      </p:sp>
      <p:sp>
        <p:nvSpPr>
          <p:cNvPr id="45" name="pillar-4-channel-rule"/>
          <p:cNvSpPr/>
          <p:nvPr/>
        </p:nvSpPr>
        <p:spPr>
          <a:xfrm>
            <a:off x="8991600" y="5676900"/>
            <a:ext cx="24765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pillar-4-channel"/>
          <p:cNvSpPr txBox="1"/>
          <p:nvPr/>
        </p:nvSpPr>
        <p:spPr>
          <a:xfrm>
            <a:off x="8991600" y="573405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TEAM HUDDLE / SMS ALERT</a:t>
            </a:r>
          </a:p>
        </p:txBody>
      </p:sp>
      <p:sp>
        <p:nvSpPr>
          <p:cNvPr id="48" name="footer-left"/>
          <p:cNvSpPr txBox="1"/>
          <p:nvPr/>
        </p:nvSpPr>
        <p:spPr>
          <a:xfrm>
            <a:off x="228600" y="66103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Inter"/>
              </a:rPr>
              <a:t>CONFIDENTIAL — ACCENTURE INTERNAL</a:t>
            </a:r>
          </a:p>
        </p:txBody>
      </p:sp>
      <p:sp>
        <p:nvSpPr>
          <p:cNvPr id="49" name="footer-right"/>
          <p:cNvSpPr txBox="1"/>
          <p:nvPr/>
        </p:nvSpPr>
        <p:spPr>
          <a:xfrm>
            <a:off x="10058400" y="6600825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Slide Lab · 2026 · 194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