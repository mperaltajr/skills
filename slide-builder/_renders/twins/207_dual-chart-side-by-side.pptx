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7810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Two charts, one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clear story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Volume trend and segment share displayed side by side for instant comparison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8572500" y="657225"/>
            <a:ext cx="133350" cy="285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8782050" y="6096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Series A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8572500" y="828675"/>
            <a:ext cx="1333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8782050" y="78105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Series B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8572500" y="1000125"/>
            <a:ext cx="1333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8782050" y="9525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Highlighted segment</a:t>
            </a:r>
          </a:p>
        </p:txBody>
      </p:sp>
      <p:sp>
        <p:nvSpPr>
          <p:cNvPr id="11" name="chart-1-title"/>
          <p:cNvSpPr txBox="1"/>
          <p:nvPr/>
        </p:nvSpPr>
        <p:spPr>
          <a:xfrm>
            <a:off x="609600" y="1619250"/>
            <a:ext cx="5372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Volume Trend</a:t>
            </a:r>
          </a:p>
        </p:txBody>
      </p:sp>
      <p:sp>
        <p:nvSpPr>
          <p:cNvPr id="12" name="chart-1-title-rule"/>
          <p:cNvSpPr/>
          <p:nvPr/>
        </p:nvSpPr>
        <p:spPr>
          <a:xfrm>
            <a:off x="609600" y="1828800"/>
            <a:ext cx="5372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hart-1-canvas"/>
          <p:cNvSpPr/>
          <p:nvPr/>
        </p:nvSpPr>
        <p:spPr>
          <a:xfrm>
            <a:off x="609600" y="1924050"/>
            <a:ext cx="537210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hart-1-caption"/>
          <p:cNvSpPr txBox="1"/>
          <p:nvPr/>
        </p:nvSpPr>
        <p:spPr>
          <a:xfrm>
            <a:off x="609600" y="5410200"/>
            <a:ext cx="53721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Both series indexed to 0 at Q1. Series B shows faster acceleration from Q3 onward.</a:t>
            </a:r>
          </a:p>
        </p:txBody>
      </p:sp>
      <p:sp>
        <p:nvSpPr>
          <p:cNvPr id="15" name="divider-line"/>
          <p:cNvSpPr/>
          <p:nvPr/>
        </p:nvSpPr>
        <p:spPr>
          <a:xfrm>
            <a:off x="6096000" y="1695450"/>
            <a:ext cx="19050" cy="394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hart-2-title"/>
          <p:cNvSpPr txBox="1"/>
          <p:nvPr/>
        </p:nvSpPr>
        <p:spPr>
          <a:xfrm>
            <a:off x="6210300" y="1619250"/>
            <a:ext cx="5372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Top Segments by Share</a:t>
            </a:r>
          </a:p>
        </p:txBody>
      </p:sp>
      <p:sp>
        <p:nvSpPr>
          <p:cNvPr id="17" name="chart-2-title-rule"/>
          <p:cNvSpPr/>
          <p:nvPr/>
        </p:nvSpPr>
        <p:spPr>
          <a:xfrm>
            <a:off x="6210300" y="1828800"/>
            <a:ext cx="5372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hart-2-canvas"/>
          <p:cNvSpPr/>
          <p:nvPr/>
        </p:nvSpPr>
        <p:spPr>
          <a:xfrm>
            <a:off x="6210300" y="1924050"/>
            <a:ext cx="5372100" cy="3429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hart-2-caption"/>
          <p:cNvSpPr txBox="1"/>
          <p:nvPr/>
        </p:nvSpPr>
        <p:spPr>
          <a:xfrm>
            <a:off x="6210300" y="5410200"/>
            <a:ext cx="53721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Health leads all segments at 91 index points — 7 pts above nearest peer (Retail at 85).</a:t>
            </a:r>
          </a:p>
        </p:txBody>
      </p:sp>
      <p:sp>
        <p:nvSpPr>
          <p:cNvPr id="2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