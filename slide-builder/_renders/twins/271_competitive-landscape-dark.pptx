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81000" y="190500"/>
            <a:ext cx="11430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Competitive Landscape · </a:t>
            </a:r>
            <a:r>
              <a:rPr sz="1500" b="1" i="0">
                <a:solidFill>
                  <a:srgbClr val="C780FF"/>
                </a:solidFill>
                <a:latin typeface="Inter"/>
              </a:rPr>
              <a:t>Where we stand and where we win.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381000" y="1028700"/>
            <a:ext cx="11430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Market context, our position, and the three competitors shaping the field — as of Q2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3810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divider-1"/>
          <p:cNvSpPr/>
          <p:nvPr/>
        </p:nvSpPr>
        <p:spPr>
          <a:xfrm>
            <a:off x="4010025" y="2095500"/>
            <a:ext cx="9525" cy="42862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divider-2"/>
          <p:cNvSpPr/>
          <p:nvPr/>
        </p:nvSpPr>
        <p:spPr>
          <a:xfrm>
            <a:off x="8172450" y="2095500"/>
            <a:ext cx="9525" cy="42862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market-label"/>
          <p:cNvSpPr txBox="1"/>
          <p:nvPr/>
        </p:nvSpPr>
        <p:spPr>
          <a:xfrm>
            <a:off x="381000" y="2095500"/>
            <a:ext cx="35337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MARKET CONTEXT</a:t>
            </a:r>
          </a:p>
        </p:txBody>
      </p:sp>
      <p:sp>
        <p:nvSpPr>
          <p:cNvPr id="8" name="context-p1"/>
          <p:cNvSpPr txBox="1"/>
          <p:nvPr/>
        </p:nvSpPr>
        <p:spPr>
          <a:xfrm>
            <a:off x="381000" y="2305050"/>
            <a:ext cx="353377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The managed services market is consolidating rapidly. Buyers are reducing vendor panels and demanding deeper integration capability, sector expertise, and outcome-based commercials.</a:t>
            </a:r>
          </a:p>
        </p:txBody>
      </p:sp>
      <p:sp>
        <p:nvSpPr>
          <p:cNvPr id="9" name="context-p2"/>
          <p:cNvSpPr txBox="1"/>
          <p:nvPr/>
        </p:nvSpPr>
        <p:spPr>
          <a:xfrm>
            <a:off x="381000" y="3562350"/>
            <a:ext cx="353377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Cloud-native challengers have compressed margins in the mid-market, forcing tier-1 competitors to pivot upmarket. This creates an acquisition window in the large-enterprise segment.</a:t>
            </a:r>
          </a:p>
        </p:txBody>
      </p:sp>
      <p:sp>
        <p:nvSpPr>
          <p:cNvPr id="10" name="stat-block-bg"/>
          <p:cNvSpPr/>
          <p:nvPr/>
        </p:nvSpPr>
        <p:spPr>
          <a:xfrm>
            <a:off x="381000" y="5524500"/>
            <a:ext cx="3533775" cy="857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stat-block-accent"/>
          <p:cNvSpPr/>
          <p:nvPr/>
        </p:nvSpPr>
        <p:spPr>
          <a:xfrm>
            <a:off x="381000" y="5524500"/>
            <a:ext cx="38100" cy="857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at-figure"/>
          <p:cNvSpPr txBox="1"/>
          <p:nvPr/>
        </p:nvSpPr>
        <p:spPr>
          <a:xfrm>
            <a:off x="533400" y="5657850"/>
            <a:ext cx="330517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$18.4B</a:t>
            </a:r>
          </a:p>
        </p:txBody>
      </p:sp>
      <p:sp>
        <p:nvSpPr>
          <p:cNvPr id="13" name="stat-label"/>
          <p:cNvSpPr txBox="1"/>
          <p:nvPr/>
        </p:nvSpPr>
        <p:spPr>
          <a:xfrm>
            <a:off x="533400" y="6000750"/>
            <a:ext cx="33051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TOTAL ADDRESSABLE MARKET · GROWING 14% CAGR</a:t>
            </a:r>
          </a:p>
        </p:txBody>
      </p:sp>
      <p:sp>
        <p:nvSpPr>
          <p:cNvPr id="14" name="position-label"/>
          <p:cNvSpPr txBox="1"/>
          <p:nvPr/>
        </p:nvSpPr>
        <p:spPr>
          <a:xfrm>
            <a:off x="4105275" y="2095500"/>
            <a:ext cx="39719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OUR POSITION</a:t>
            </a:r>
          </a:p>
        </p:txBody>
      </p:sp>
      <p:sp>
        <p:nvSpPr>
          <p:cNvPr id="15" name="our-position-card-bg"/>
          <p:cNvSpPr/>
          <p:nvPr/>
        </p:nvSpPr>
        <p:spPr>
          <a:xfrm>
            <a:off x="4105275" y="2305050"/>
            <a:ext cx="3971925" cy="4076700"/>
          </a:xfrm>
          <a:prstGeom prst="rect">
            <a:avLst/>
          </a:prstGeom>
          <a:solidFill>
            <a:srgbClr val="52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our-position-border"/>
          <p:cNvSpPr/>
          <p:nvPr/>
        </p:nvSpPr>
        <p:spPr>
          <a:xfrm>
            <a:off x="4105275" y="2305050"/>
            <a:ext cx="39719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osition-headline"/>
          <p:cNvSpPr txBox="1"/>
          <p:nvPr/>
        </p:nvSpPr>
        <p:spPr>
          <a:xfrm>
            <a:off x="4276725" y="2457450"/>
            <a:ext cx="362902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3rd in revenue,
#1 in client satisfaction.</a:t>
            </a:r>
          </a:p>
        </p:txBody>
      </p:sp>
      <p:sp>
        <p:nvSpPr>
          <p:cNvPr id="18" name="strength-1-dot"/>
          <p:cNvSpPr/>
          <p:nvPr/>
        </p:nvSpPr>
        <p:spPr>
          <a:xfrm>
            <a:off x="4276725" y="320040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strength-1"/>
          <p:cNvSpPr txBox="1"/>
          <p:nvPr/>
        </p:nvSpPr>
        <p:spPr>
          <a:xfrm>
            <a:off x="4410075" y="3143250"/>
            <a:ext cx="35147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Highest NPS in the sector for 3 consecutive years — clients renew at 91% rate</a:t>
            </a:r>
          </a:p>
        </p:txBody>
      </p:sp>
      <p:sp>
        <p:nvSpPr>
          <p:cNvPr id="20" name="strength-2-dot"/>
          <p:cNvSpPr/>
          <p:nvPr/>
        </p:nvSpPr>
        <p:spPr>
          <a:xfrm>
            <a:off x="4276725" y="365760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trength-2"/>
          <p:cNvSpPr txBox="1"/>
          <p:nvPr/>
        </p:nvSpPr>
        <p:spPr>
          <a:xfrm>
            <a:off x="4410075" y="3600450"/>
            <a:ext cx="35147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Fastest time-to-value: avg 6-week onboarding vs. 14-week industry norm</a:t>
            </a:r>
          </a:p>
        </p:txBody>
      </p:sp>
      <p:sp>
        <p:nvSpPr>
          <p:cNvPr id="22" name="strength-3-dot"/>
          <p:cNvSpPr/>
          <p:nvPr/>
        </p:nvSpPr>
        <p:spPr>
          <a:xfrm>
            <a:off x="4276725" y="4114800"/>
            <a:ext cx="5715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strength-3"/>
          <p:cNvSpPr txBox="1"/>
          <p:nvPr/>
        </p:nvSpPr>
        <p:spPr>
          <a:xfrm>
            <a:off x="4410075" y="4057650"/>
            <a:ext cx="35147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Only competitor with FedRAMP Moderate + ISO 27001 across all delivery regions</a:t>
            </a:r>
          </a:p>
        </p:txBody>
      </p:sp>
      <p:sp>
        <p:nvSpPr>
          <p:cNvPr id="24" name="win-rate-bg"/>
          <p:cNvSpPr/>
          <p:nvPr/>
        </p:nvSpPr>
        <p:spPr>
          <a:xfrm>
            <a:off x="4238625" y="5695950"/>
            <a:ext cx="3705225" cy="533400"/>
          </a:xfrm>
          <a:prstGeom prst="rect">
            <a:avLst/>
          </a:prstGeom>
          <a:solidFill>
            <a:srgbClr val="6B2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win-rate-number"/>
          <p:cNvSpPr txBox="1"/>
          <p:nvPr/>
        </p:nvSpPr>
        <p:spPr>
          <a:xfrm>
            <a:off x="4314825" y="577215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64%</a:t>
            </a:r>
          </a:p>
        </p:txBody>
      </p:sp>
      <p:sp>
        <p:nvSpPr>
          <p:cNvPr id="26" name="win-rate-label"/>
          <p:cNvSpPr txBox="1"/>
          <p:nvPr/>
        </p:nvSpPr>
        <p:spPr>
          <a:xfrm>
            <a:off x="5133975" y="5772150"/>
            <a:ext cx="2733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COMPETITIVE
WIN RATE</a:t>
            </a:r>
          </a:p>
        </p:txBody>
      </p:sp>
      <p:sp>
        <p:nvSpPr>
          <p:cNvPr id="27" name="field-label"/>
          <p:cNvSpPr txBox="1"/>
          <p:nvPr/>
        </p:nvSpPr>
        <p:spPr>
          <a:xfrm>
            <a:off x="8267700" y="2095500"/>
            <a:ext cx="3543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COMPETITIVE FIELD</a:t>
            </a:r>
          </a:p>
        </p:txBody>
      </p:sp>
      <p:sp>
        <p:nvSpPr>
          <p:cNvPr id="28" name="comp-1-bg"/>
          <p:cNvSpPr/>
          <p:nvPr/>
        </p:nvSpPr>
        <p:spPr>
          <a:xfrm>
            <a:off x="8267700" y="2305050"/>
            <a:ext cx="3543300" cy="1266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omp-1-name"/>
          <p:cNvSpPr txBox="1"/>
          <p:nvPr/>
        </p:nvSpPr>
        <p:spPr>
          <a:xfrm>
            <a:off x="8401050" y="2419350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Apex Global Services</a:t>
            </a:r>
          </a:p>
        </p:txBody>
      </p:sp>
      <p:sp>
        <p:nvSpPr>
          <p:cNvPr id="30" name="comp-1-pill"/>
          <p:cNvSpPr/>
          <p:nvPr/>
        </p:nvSpPr>
        <p:spPr>
          <a:xfrm>
            <a:off x="11258550" y="241935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omp-1-threat"/>
          <p:cNvSpPr txBox="1"/>
          <p:nvPr/>
        </p:nvSpPr>
        <p:spPr>
          <a:xfrm>
            <a:off x="11258550" y="241935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6B6B"/>
                </a:solidFill>
                <a:latin typeface="Inter"/>
              </a:rPr>
              <a:t>HIGH</a:t>
            </a:r>
          </a:p>
        </p:txBody>
      </p:sp>
      <p:sp>
        <p:nvSpPr>
          <p:cNvPr id="32" name="comp-1-desc"/>
          <p:cNvSpPr txBox="1"/>
          <p:nvPr/>
        </p:nvSpPr>
        <p:spPr>
          <a:xfrm>
            <a:off x="8401050" y="2628900"/>
            <a:ext cx="3276600" cy="885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Market revenue leader; strong in FSI and public sector. Pursuing aggressive M&amp;A. Primary displacement risk above $50M TCV.</a:t>
            </a:r>
          </a:p>
        </p:txBody>
      </p:sp>
      <p:sp>
        <p:nvSpPr>
          <p:cNvPr id="33" name="comp-2-bg"/>
          <p:cNvSpPr/>
          <p:nvPr/>
        </p:nvSpPr>
        <p:spPr>
          <a:xfrm>
            <a:off x="8267700" y="3705225"/>
            <a:ext cx="3543300" cy="1266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mp-2-name"/>
          <p:cNvSpPr txBox="1"/>
          <p:nvPr/>
        </p:nvSpPr>
        <p:spPr>
          <a:xfrm>
            <a:off x="8401050" y="3819525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Northfield Digital</a:t>
            </a:r>
          </a:p>
        </p:txBody>
      </p:sp>
      <p:sp>
        <p:nvSpPr>
          <p:cNvPr id="35" name="comp-2-pill"/>
          <p:cNvSpPr/>
          <p:nvPr/>
        </p:nvSpPr>
        <p:spPr>
          <a:xfrm>
            <a:off x="11258550" y="3819525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mp-2-threat"/>
          <p:cNvSpPr txBox="1"/>
          <p:nvPr/>
        </p:nvSpPr>
        <p:spPr>
          <a:xfrm>
            <a:off x="11258550" y="381952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4A623"/>
                </a:solidFill>
                <a:latin typeface="Inter"/>
              </a:rPr>
              <a:t>MED</a:t>
            </a:r>
          </a:p>
        </p:txBody>
      </p:sp>
      <p:sp>
        <p:nvSpPr>
          <p:cNvPr id="37" name="comp-2-desc"/>
          <p:cNvSpPr txBox="1"/>
          <p:nvPr/>
        </p:nvSpPr>
        <p:spPr>
          <a:xfrm>
            <a:off x="8401050" y="4029075"/>
            <a:ext cx="3276600" cy="885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Cloud-native challenger with strong APAC presence. Competitive on price and speed but thin on compliance and global scale.</a:t>
            </a:r>
          </a:p>
        </p:txBody>
      </p:sp>
      <p:sp>
        <p:nvSpPr>
          <p:cNvPr id="38" name="comp-3-bg"/>
          <p:cNvSpPr/>
          <p:nvPr/>
        </p:nvSpPr>
        <p:spPr>
          <a:xfrm>
            <a:off x="8267700" y="5105400"/>
            <a:ext cx="3543300" cy="1266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omp-3-name"/>
          <p:cNvSpPr txBox="1"/>
          <p:nvPr/>
        </p:nvSpPr>
        <p:spPr>
          <a:xfrm>
            <a:off x="8401050" y="5219700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Meridian Solutions</a:t>
            </a:r>
          </a:p>
        </p:txBody>
      </p:sp>
      <p:sp>
        <p:nvSpPr>
          <p:cNvPr id="40" name="comp-3-pill"/>
          <p:cNvSpPr/>
          <p:nvPr/>
        </p:nvSpPr>
        <p:spPr>
          <a:xfrm>
            <a:off x="11258550" y="5219700"/>
            <a:ext cx="4191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omp-3-threat"/>
          <p:cNvSpPr txBox="1"/>
          <p:nvPr/>
        </p:nvSpPr>
        <p:spPr>
          <a:xfrm>
            <a:off x="11258550" y="52197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LOW</a:t>
            </a:r>
          </a:p>
        </p:txBody>
      </p:sp>
      <p:sp>
        <p:nvSpPr>
          <p:cNvPr id="42" name="comp-3-desc"/>
          <p:cNvSpPr txBox="1"/>
          <p:nvPr/>
        </p:nvSpPr>
        <p:spPr>
          <a:xfrm>
            <a:off x="8401050" y="5429250"/>
            <a:ext cx="3276600" cy="885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Niche player in retail and CPG verticals. Strong product but no global delivery; rarely seen in cross-sector enterprise bids.</a:t>
            </a:r>
          </a:p>
        </p:txBody>
      </p:sp>
      <p:sp>
        <p:nvSpPr>
          <p:cNvPr id="4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