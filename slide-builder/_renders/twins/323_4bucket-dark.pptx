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Four pillars of </a:t>
            </a:r>
            <a:r>
              <a:rPr sz="1800" b="1" i="0">
                <a:solidFill>
                  <a:srgbClr val="C780FF"/>
                </a:solidFill>
                <a:latin typeface="Inter"/>
              </a:rPr>
              <a:t>operational excellence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structured framework across strategy, execution, talent, and measurement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2705100" cy="422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2705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number"/>
          <p:cNvSpPr/>
          <p:nvPr/>
        </p:nvSpPr>
        <p:spPr>
          <a:xfrm>
            <a:off x="647700" y="2286000"/>
            <a:ext cx="323850" cy="323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number-text"/>
          <p:cNvSpPr txBox="1"/>
          <p:nvPr/>
        </p:nvSpPr>
        <p:spPr>
          <a:xfrm>
            <a:off x="647700" y="22860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card-1-title"/>
          <p:cNvSpPr txBox="1"/>
          <p:nvPr/>
        </p:nvSpPr>
        <p:spPr>
          <a:xfrm>
            <a:off x="647700" y="2743200"/>
            <a:ext cx="2324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Strategic Alignment</a:t>
            </a:r>
          </a:p>
        </p:txBody>
      </p:sp>
      <p:sp>
        <p:nvSpPr>
          <p:cNvPr id="10" name="card-1-bullet-1"/>
          <p:cNvSpPr txBox="1"/>
          <p:nvPr/>
        </p:nvSpPr>
        <p:spPr>
          <a:xfrm>
            <a:off x="647700" y="32956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Link portfolio goals to enterprise priorities</a:t>
            </a:r>
          </a:p>
        </p:txBody>
      </p:sp>
      <p:sp>
        <p:nvSpPr>
          <p:cNvPr id="11" name="card-1-bullet-2"/>
          <p:cNvSpPr txBox="1"/>
          <p:nvPr/>
        </p:nvSpPr>
        <p:spPr>
          <a:xfrm>
            <a:off x="647700" y="38290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Quarterly OKR review cadence</a:t>
            </a:r>
          </a:p>
        </p:txBody>
      </p:sp>
      <p:sp>
        <p:nvSpPr>
          <p:cNvPr id="12" name="card-1-bullet-3"/>
          <p:cNvSpPr txBox="1"/>
          <p:nvPr/>
        </p:nvSpPr>
        <p:spPr>
          <a:xfrm>
            <a:off x="647700" y="43624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Executive sponsorship confirmed</a:t>
            </a:r>
          </a:p>
        </p:txBody>
      </p:sp>
      <p:sp>
        <p:nvSpPr>
          <p:cNvPr id="13" name="card-1-metric"/>
          <p:cNvSpPr txBox="1"/>
          <p:nvPr/>
        </p:nvSpPr>
        <p:spPr>
          <a:xfrm>
            <a:off x="647700" y="5848350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94% aligned</a:t>
            </a:r>
          </a:p>
        </p:txBody>
      </p:sp>
      <p:sp>
        <p:nvSpPr>
          <p:cNvPr id="14" name="card-2-bg"/>
          <p:cNvSpPr/>
          <p:nvPr/>
        </p:nvSpPr>
        <p:spPr>
          <a:xfrm>
            <a:off x="3314700" y="2095500"/>
            <a:ext cx="2705100" cy="422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accent"/>
          <p:cNvSpPr/>
          <p:nvPr/>
        </p:nvSpPr>
        <p:spPr>
          <a:xfrm>
            <a:off x="3314700" y="2095500"/>
            <a:ext cx="2705100" cy="38100"/>
          </a:xfrm>
          <a:prstGeom prst="rect">
            <a:avLst/>
          </a:prstGeom>
          <a:solidFill>
            <a:srgbClr val="777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number"/>
          <p:cNvSpPr/>
          <p:nvPr/>
        </p:nvSpPr>
        <p:spPr>
          <a:xfrm>
            <a:off x="3505200" y="2286000"/>
            <a:ext cx="323850" cy="323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number-text"/>
          <p:cNvSpPr txBox="1"/>
          <p:nvPr/>
        </p:nvSpPr>
        <p:spPr>
          <a:xfrm>
            <a:off x="3505200" y="22860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card-2-title"/>
          <p:cNvSpPr txBox="1"/>
          <p:nvPr/>
        </p:nvSpPr>
        <p:spPr>
          <a:xfrm>
            <a:off x="3505200" y="2743200"/>
            <a:ext cx="2324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Delivery Execution</a:t>
            </a:r>
          </a:p>
        </p:txBody>
      </p:sp>
      <p:sp>
        <p:nvSpPr>
          <p:cNvPr id="19" name="card-2-bullet-1"/>
          <p:cNvSpPr txBox="1"/>
          <p:nvPr/>
        </p:nvSpPr>
        <p:spPr>
          <a:xfrm>
            <a:off x="3505200" y="32956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Agile-at-scale across 12 squads</a:t>
            </a:r>
          </a:p>
        </p:txBody>
      </p:sp>
      <p:sp>
        <p:nvSpPr>
          <p:cNvPr id="20" name="card-2-bullet-2"/>
          <p:cNvSpPr txBox="1"/>
          <p:nvPr/>
        </p:nvSpPr>
        <p:spPr>
          <a:xfrm>
            <a:off x="3505200" y="38290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Automated CI/CD pipeline in place</a:t>
            </a:r>
          </a:p>
        </p:txBody>
      </p:sp>
      <p:sp>
        <p:nvSpPr>
          <p:cNvPr id="21" name="card-2-bullet-3"/>
          <p:cNvSpPr txBox="1"/>
          <p:nvPr/>
        </p:nvSpPr>
        <p:spPr>
          <a:xfrm>
            <a:off x="3505200" y="43624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Incident SLA &lt;2 hr P1 resolution</a:t>
            </a:r>
          </a:p>
        </p:txBody>
      </p:sp>
      <p:sp>
        <p:nvSpPr>
          <p:cNvPr id="22" name="card-2-metric"/>
          <p:cNvSpPr txBox="1"/>
          <p:nvPr/>
        </p:nvSpPr>
        <p:spPr>
          <a:xfrm>
            <a:off x="3505200" y="5848350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↑ 18% velocity</a:t>
            </a:r>
          </a:p>
        </p:txBody>
      </p:sp>
      <p:sp>
        <p:nvSpPr>
          <p:cNvPr id="23" name="card-3-bg"/>
          <p:cNvSpPr/>
          <p:nvPr/>
        </p:nvSpPr>
        <p:spPr>
          <a:xfrm>
            <a:off x="6172200" y="2095500"/>
            <a:ext cx="2705100" cy="422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accent"/>
          <p:cNvSpPr/>
          <p:nvPr/>
        </p:nvSpPr>
        <p:spPr>
          <a:xfrm>
            <a:off x="6172200" y="2095500"/>
            <a:ext cx="2705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3-number"/>
          <p:cNvSpPr/>
          <p:nvPr/>
        </p:nvSpPr>
        <p:spPr>
          <a:xfrm>
            <a:off x="6362700" y="2286000"/>
            <a:ext cx="323850" cy="323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3-number-text"/>
          <p:cNvSpPr txBox="1"/>
          <p:nvPr/>
        </p:nvSpPr>
        <p:spPr>
          <a:xfrm>
            <a:off x="6362700" y="22860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7" name="card-3-title"/>
          <p:cNvSpPr txBox="1"/>
          <p:nvPr/>
        </p:nvSpPr>
        <p:spPr>
          <a:xfrm>
            <a:off x="6362700" y="2743200"/>
            <a:ext cx="2324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&amp; Capability</a:t>
            </a:r>
          </a:p>
        </p:txBody>
      </p:sp>
      <p:sp>
        <p:nvSpPr>
          <p:cNvPr id="28" name="card-3-bullet-1"/>
          <p:cNvSpPr txBox="1"/>
          <p:nvPr/>
        </p:nvSpPr>
        <p:spPr>
          <a:xfrm>
            <a:off x="6362700" y="32956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Skills matrix refreshed bi-annually</a:t>
            </a:r>
          </a:p>
        </p:txBody>
      </p:sp>
      <p:sp>
        <p:nvSpPr>
          <p:cNvPr id="29" name="card-3-bullet-2"/>
          <p:cNvSpPr txBox="1"/>
          <p:nvPr/>
        </p:nvSpPr>
        <p:spPr>
          <a:xfrm>
            <a:off x="6362700" y="38290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Internal mobility rate above benchmark</a:t>
            </a:r>
          </a:p>
        </p:txBody>
      </p:sp>
      <p:sp>
        <p:nvSpPr>
          <p:cNvPr id="30" name="card-3-bullet-3"/>
          <p:cNvSpPr txBox="1"/>
          <p:nvPr/>
        </p:nvSpPr>
        <p:spPr>
          <a:xfrm>
            <a:off x="6362700" y="43624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AI upskilling for 800+ practitioners</a:t>
            </a:r>
          </a:p>
        </p:txBody>
      </p:sp>
      <p:sp>
        <p:nvSpPr>
          <p:cNvPr id="31" name="card-3-metric"/>
          <p:cNvSpPr txBox="1"/>
          <p:nvPr/>
        </p:nvSpPr>
        <p:spPr>
          <a:xfrm>
            <a:off x="6362700" y="5848350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82 NPS score</a:t>
            </a:r>
          </a:p>
        </p:txBody>
      </p:sp>
      <p:sp>
        <p:nvSpPr>
          <p:cNvPr id="32" name="card-4-bg"/>
          <p:cNvSpPr/>
          <p:nvPr/>
        </p:nvSpPr>
        <p:spPr>
          <a:xfrm>
            <a:off x="9029700" y="2095500"/>
            <a:ext cx="2705100" cy="422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ard-4-accent"/>
          <p:cNvSpPr/>
          <p:nvPr/>
        </p:nvSpPr>
        <p:spPr>
          <a:xfrm>
            <a:off x="9029700" y="2095500"/>
            <a:ext cx="2705100" cy="38100"/>
          </a:xfrm>
          <a:prstGeom prst="rect">
            <a:avLst/>
          </a:prstGeom>
          <a:solidFill>
            <a:srgbClr val="777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4-number"/>
          <p:cNvSpPr/>
          <p:nvPr/>
        </p:nvSpPr>
        <p:spPr>
          <a:xfrm>
            <a:off x="9220200" y="2286000"/>
            <a:ext cx="323850" cy="323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4-number-text"/>
          <p:cNvSpPr txBox="1"/>
          <p:nvPr/>
        </p:nvSpPr>
        <p:spPr>
          <a:xfrm>
            <a:off x="9220200" y="22860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6" name="card-4-title"/>
          <p:cNvSpPr txBox="1"/>
          <p:nvPr/>
        </p:nvSpPr>
        <p:spPr>
          <a:xfrm>
            <a:off x="9220200" y="2743200"/>
            <a:ext cx="2324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Performance Measurement</a:t>
            </a:r>
          </a:p>
        </p:txBody>
      </p:sp>
      <p:sp>
        <p:nvSpPr>
          <p:cNvPr id="37" name="card-4-bullet-1"/>
          <p:cNvSpPr txBox="1"/>
          <p:nvPr/>
        </p:nvSpPr>
        <p:spPr>
          <a:xfrm>
            <a:off x="9220200" y="32956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Real-time dashboard for all KPIs</a:t>
            </a:r>
          </a:p>
        </p:txBody>
      </p:sp>
      <p:sp>
        <p:nvSpPr>
          <p:cNvPr id="38" name="card-4-bullet-2"/>
          <p:cNvSpPr txBox="1"/>
          <p:nvPr/>
        </p:nvSpPr>
        <p:spPr>
          <a:xfrm>
            <a:off x="9220200" y="38290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Monthly steering committee review</a:t>
            </a:r>
          </a:p>
        </p:txBody>
      </p:sp>
      <p:sp>
        <p:nvSpPr>
          <p:cNvPr id="39" name="card-4-bullet-3"/>
          <p:cNvSpPr txBox="1"/>
          <p:nvPr/>
        </p:nvSpPr>
        <p:spPr>
          <a:xfrm>
            <a:off x="9220200" y="4362450"/>
            <a:ext cx="23241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Value tracking from day one</a:t>
            </a:r>
          </a:p>
        </p:txBody>
      </p:sp>
      <p:sp>
        <p:nvSpPr>
          <p:cNvPr id="40" name="card-4-metric"/>
          <p:cNvSpPr txBox="1"/>
          <p:nvPr/>
        </p:nvSpPr>
        <p:spPr>
          <a:xfrm>
            <a:off x="9220200" y="5848350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$4.2M tracked</a:t>
            </a:r>
          </a:p>
        </p:txBody>
      </p:sp>
      <p:sp>
        <p:nvSpPr>
          <p:cNvPr id="4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