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Project Charter — </a:t>
            </a:r>
            <a:r>
              <a:rPr sz="2100" b="1" i="0">
                <a:solidFill>
                  <a:srgbClr val="C780FF"/>
                </a:solidFill>
                <a:latin typeface="Inter"/>
              </a:rPr>
              <a:t>Digital Supply Chain Transformation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One-page charter for executive alignment and project initiation approval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meta-bg"/>
          <p:cNvSpPr/>
          <p:nvPr/>
        </p:nvSpPr>
        <p:spPr>
          <a:xfrm>
            <a:off x="609600" y="1428750"/>
            <a:ext cx="10972800" cy="4191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meta-1-lbl"/>
          <p:cNvSpPr txBox="1"/>
          <p:nvPr/>
        </p:nvSpPr>
        <p:spPr>
          <a:xfrm>
            <a:off x="723900" y="14859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PROJECT NAME</a:t>
            </a:r>
          </a:p>
        </p:txBody>
      </p:sp>
      <p:sp>
        <p:nvSpPr>
          <p:cNvPr id="7" name="meta-1-val"/>
          <p:cNvSpPr txBox="1"/>
          <p:nvPr/>
        </p:nvSpPr>
        <p:spPr>
          <a:xfrm>
            <a:off x="723900" y="1619250"/>
            <a:ext cx="1676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Supply Chain Digital Twin</a:t>
            </a:r>
          </a:p>
        </p:txBody>
      </p:sp>
      <p:sp>
        <p:nvSpPr>
          <p:cNvPr id="8" name="meta-1-div"/>
          <p:cNvSpPr/>
          <p:nvPr/>
        </p:nvSpPr>
        <p:spPr>
          <a:xfrm>
            <a:off x="2428875" y="1504950"/>
            <a:ext cx="9525" cy="2667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meta-2-lbl"/>
          <p:cNvSpPr txBox="1"/>
          <p:nvPr/>
        </p:nvSpPr>
        <p:spPr>
          <a:xfrm>
            <a:off x="2552700" y="14859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SPONSOR</a:t>
            </a:r>
          </a:p>
        </p:txBody>
      </p:sp>
      <p:sp>
        <p:nvSpPr>
          <p:cNvPr id="10" name="meta-2-val"/>
          <p:cNvSpPr txBox="1"/>
          <p:nvPr/>
        </p:nvSpPr>
        <p:spPr>
          <a:xfrm>
            <a:off x="2552700" y="1619250"/>
            <a:ext cx="1676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R.J. (CFO)</a:t>
            </a:r>
          </a:p>
        </p:txBody>
      </p:sp>
      <p:sp>
        <p:nvSpPr>
          <p:cNvPr id="11" name="meta-2-div"/>
          <p:cNvSpPr/>
          <p:nvPr/>
        </p:nvSpPr>
        <p:spPr>
          <a:xfrm>
            <a:off x="4257675" y="1504950"/>
            <a:ext cx="9525" cy="2667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meta-3-lbl"/>
          <p:cNvSpPr txBox="1"/>
          <p:nvPr/>
        </p:nvSpPr>
        <p:spPr>
          <a:xfrm>
            <a:off x="4381500" y="14859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PROJECT MANAGER</a:t>
            </a:r>
          </a:p>
        </p:txBody>
      </p:sp>
      <p:sp>
        <p:nvSpPr>
          <p:cNvPr id="13" name="meta-3-val"/>
          <p:cNvSpPr txBox="1"/>
          <p:nvPr/>
        </p:nvSpPr>
        <p:spPr>
          <a:xfrm>
            <a:off x="4381500" y="1619250"/>
            <a:ext cx="1676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M.P. (Delivery Lead)</a:t>
            </a:r>
          </a:p>
        </p:txBody>
      </p:sp>
      <p:sp>
        <p:nvSpPr>
          <p:cNvPr id="14" name="meta-3-div"/>
          <p:cNvSpPr/>
          <p:nvPr/>
        </p:nvSpPr>
        <p:spPr>
          <a:xfrm>
            <a:off x="6086475" y="1504950"/>
            <a:ext cx="9525" cy="2667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meta-4-lbl"/>
          <p:cNvSpPr txBox="1"/>
          <p:nvPr/>
        </p:nvSpPr>
        <p:spPr>
          <a:xfrm>
            <a:off x="6210300" y="14859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START DATE</a:t>
            </a:r>
          </a:p>
        </p:txBody>
      </p:sp>
      <p:sp>
        <p:nvSpPr>
          <p:cNvPr id="16" name="meta-4-val"/>
          <p:cNvSpPr txBox="1"/>
          <p:nvPr/>
        </p:nvSpPr>
        <p:spPr>
          <a:xfrm>
            <a:off x="6210300" y="1619250"/>
            <a:ext cx="1676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01 Jun 2026</a:t>
            </a:r>
          </a:p>
        </p:txBody>
      </p:sp>
      <p:sp>
        <p:nvSpPr>
          <p:cNvPr id="17" name="meta-4-div"/>
          <p:cNvSpPr/>
          <p:nvPr/>
        </p:nvSpPr>
        <p:spPr>
          <a:xfrm>
            <a:off x="7915275" y="1504950"/>
            <a:ext cx="9525" cy="2667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meta-5-lbl"/>
          <p:cNvSpPr txBox="1"/>
          <p:nvPr/>
        </p:nvSpPr>
        <p:spPr>
          <a:xfrm>
            <a:off x="8039100" y="14859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END DATE</a:t>
            </a:r>
          </a:p>
        </p:txBody>
      </p:sp>
      <p:sp>
        <p:nvSpPr>
          <p:cNvPr id="19" name="meta-5-val"/>
          <p:cNvSpPr txBox="1"/>
          <p:nvPr/>
        </p:nvSpPr>
        <p:spPr>
          <a:xfrm>
            <a:off x="8039100" y="1619250"/>
            <a:ext cx="1676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28 Feb 2027</a:t>
            </a:r>
          </a:p>
        </p:txBody>
      </p:sp>
      <p:sp>
        <p:nvSpPr>
          <p:cNvPr id="20" name="meta-5-div"/>
          <p:cNvSpPr/>
          <p:nvPr/>
        </p:nvSpPr>
        <p:spPr>
          <a:xfrm>
            <a:off x="9744075" y="1504950"/>
            <a:ext cx="9525" cy="2667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meta-6-lbl"/>
          <p:cNvSpPr txBox="1"/>
          <p:nvPr/>
        </p:nvSpPr>
        <p:spPr>
          <a:xfrm>
            <a:off x="9867900" y="14859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STATUS</a:t>
            </a:r>
          </a:p>
        </p:txBody>
      </p:sp>
      <p:sp>
        <p:nvSpPr>
          <p:cNvPr id="22" name="meta-6-val"/>
          <p:cNvSpPr txBox="1"/>
          <p:nvPr/>
        </p:nvSpPr>
        <p:spPr>
          <a:xfrm>
            <a:off x="9867900" y="1619250"/>
            <a:ext cx="1676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Initiation</a:t>
            </a:r>
          </a:p>
        </p:txBody>
      </p:sp>
      <p:sp>
        <p:nvSpPr>
          <p:cNvPr id="23" name="card-Objectives-bg"/>
          <p:cNvSpPr/>
          <p:nvPr/>
        </p:nvSpPr>
        <p:spPr>
          <a:xfrm>
            <a:off x="609600" y="1943100"/>
            <a:ext cx="3590925" cy="21240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Objectives-title"/>
          <p:cNvSpPr txBox="1"/>
          <p:nvPr/>
        </p:nvSpPr>
        <p:spPr>
          <a:xfrm>
            <a:off x="742950" y="2038350"/>
            <a:ext cx="33242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OBJECTIVES</a:t>
            </a:r>
          </a:p>
        </p:txBody>
      </p:sp>
      <p:sp>
        <p:nvSpPr>
          <p:cNvPr id="25" name="card-Objectives-rule"/>
          <p:cNvSpPr/>
          <p:nvPr/>
        </p:nvSpPr>
        <p:spPr>
          <a:xfrm>
            <a:off x="742950" y="2209800"/>
            <a:ext cx="2667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obj-1-num-bg"/>
          <p:cNvSpPr/>
          <p:nvPr/>
        </p:nvSpPr>
        <p:spPr>
          <a:xfrm>
            <a:off x="742950" y="2343150"/>
            <a:ext cx="171450" cy="1714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obj-1-num"/>
          <p:cNvSpPr txBox="1"/>
          <p:nvPr/>
        </p:nvSpPr>
        <p:spPr>
          <a:xfrm>
            <a:off x="742950" y="23431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8" name="obj-1-text"/>
          <p:cNvSpPr txBox="1"/>
          <p:nvPr/>
        </p:nvSpPr>
        <p:spPr>
          <a:xfrm>
            <a:off x="971550" y="2324100"/>
            <a:ext cx="3095625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Establish a real-time digital twin of end-to-end supply chain operations across 12 distribution centres</a:t>
            </a:r>
          </a:p>
        </p:txBody>
      </p:sp>
      <p:sp>
        <p:nvSpPr>
          <p:cNvPr id="29" name="obj-2-num-bg"/>
          <p:cNvSpPr/>
          <p:nvPr/>
        </p:nvSpPr>
        <p:spPr>
          <a:xfrm>
            <a:off x="742950" y="2886075"/>
            <a:ext cx="171450" cy="1714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obj-2-num"/>
          <p:cNvSpPr txBox="1"/>
          <p:nvPr/>
        </p:nvSpPr>
        <p:spPr>
          <a:xfrm>
            <a:off x="742950" y="2886075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1" name="obj-2-text"/>
          <p:cNvSpPr txBox="1"/>
          <p:nvPr/>
        </p:nvSpPr>
        <p:spPr>
          <a:xfrm>
            <a:off x="971550" y="2867025"/>
            <a:ext cx="3095625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Reduce inventory holding costs by 18% through AI-driven demand sensing and replenishment automation</a:t>
            </a:r>
          </a:p>
        </p:txBody>
      </p:sp>
      <p:sp>
        <p:nvSpPr>
          <p:cNvPr id="32" name="obj-3-num-bg"/>
          <p:cNvSpPr/>
          <p:nvPr/>
        </p:nvSpPr>
        <p:spPr>
          <a:xfrm>
            <a:off x="742950" y="3429000"/>
            <a:ext cx="171450" cy="1714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obj-3-num"/>
          <p:cNvSpPr txBox="1"/>
          <p:nvPr/>
        </p:nvSpPr>
        <p:spPr>
          <a:xfrm>
            <a:off x="742950" y="34290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4" name="obj-3-text"/>
          <p:cNvSpPr txBox="1"/>
          <p:nvPr/>
        </p:nvSpPr>
        <p:spPr>
          <a:xfrm>
            <a:off x="971550" y="3409950"/>
            <a:ext cx="3095625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Enable executive-level supply risk visibility with a configurable tier-2 supplier monitoring dashboard</a:t>
            </a:r>
          </a:p>
        </p:txBody>
      </p:sp>
      <p:sp>
        <p:nvSpPr>
          <p:cNvPr id="35" name="card-Scope-bg"/>
          <p:cNvSpPr/>
          <p:nvPr/>
        </p:nvSpPr>
        <p:spPr>
          <a:xfrm>
            <a:off x="4295775" y="1943100"/>
            <a:ext cx="3590925" cy="21240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ard-Scope-title"/>
          <p:cNvSpPr txBox="1"/>
          <p:nvPr/>
        </p:nvSpPr>
        <p:spPr>
          <a:xfrm>
            <a:off x="4429125" y="2038350"/>
            <a:ext cx="33242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SCOPE</a:t>
            </a:r>
          </a:p>
        </p:txBody>
      </p:sp>
      <p:sp>
        <p:nvSpPr>
          <p:cNvPr id="37" name="card-Scope-rule"/>
          <p:cNvSpPr/>
          <p:nvPr/>
        </p:nvSpPr>
        <p:spPr>
          <a:xfrm>
            <a:off x="4429125" y="2209800"/>
            <a:ext cx="2667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scope-in-lbl"/>
          <p:cNvSpPr txBox="1"/>
          <p:nvPr/>
        </p:nvSpPr>
        <p:spPr>
          <a:xfrm>
            <a:off x="4429125" y="2324100"/>
            <a:ext cx="33242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2C55E"/>
                </a:solidFill>
                <a:latin typeface="Inter"/>
              </a:rPr>
              <a:t>IN SCOPE</a:t>
            </a:r>
          </a:p>
        </p:txBody>
      </p:sp>
      <p:sp>
        <p:nvSpPr>
          <p:cNvPr id="39" name="sc-in-1-dot"/>
          <p:cNvSpPr/>
          <p:nvPr/>
        </p:nvSpPr>
        <p:spPr>
          <a:xfrm>
            <a:off x="4429125" y="2524125"/>
            <a:ext cx="762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sc-in-1-text"/>
          <p:cNvSpPr txBox="1"/>
          <p:nvPr/>
        </p:nvSpPr>
        <p:spPr>
          <a:xfrm>
            <a:off x="4562475" y="2476500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SAP ERP integration and real-time data pipeline (12 DCs)</a:t>
            </a:r>
          </a:p>
        </p:txBody>
      </p:sp>
      <p:sp>
        <p:nvSpPr>
          <p:cNvPr id="41" name="sc-in-2-dot"/>
          <p:cNvSpPr/>
          <p:nvPr/>
        </p:nvSpPr>
        <p:spPr>
          <a:xfrm>
            <a:off x="4429125" y="2733675"/>
            <a:ext cx="762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sc-in-2-text"/>
          <p:cNvSpPr txBox="1"/>
          <p:nvPr/>
        </p:nvSpPr>
        <p:spPr>
          <a:xfrm>
            <a:off x="4562475" y="2686050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AI demand-sensing model training, validation and deployment</a:t>
            </a:r>
          </a:p>
        </p:txBody>
      </p:sp>
      <p:sp>
        <p:nvSpPr>
          <p:cNvPr id="43" name="sc-in-3-dot"/>
          <p:cNvSpPr/>
          <p:nvPr/>
        </p:nvSpPr>
        <p:spPr>
          <a:xfrm>
            <a:off x="4429125" y="2943225"/>
            <a:ext cx="762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sc-in-3-text"/>
          <p:cNvSpPr txBox="1"/>
          <p:nvPr/>
        </p:nvSpPr>
        <p:spPr>
          <a:xfrm>
            <a:off x="4562475" y="2895600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Executive risk dashboard (Power BI) with tier-1 and tier-2 supplier data</a:t>
            </a:r>
          </a:p>
        </p:txBody>
      </p:sp>
      <p:sp>
        <p:nvSpPr>
          <p:cNvPr id="45" name="scope-out-lbl"/>
          <p:cNvSpPr txBox="1"/>
          <p:nvPr/>
        </p:nvSpPr>
        <p:spPr>
          <a:xfrm>
            <a:off x="4429125" y="3162300"/>
            <a:ext cx="33242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F4444"/>
                </a:solidFill>
                <a:latin typeface="Inter"/>
              </a:rPr>
              <a:t>OUT OF SCOPE</a:t>
            </a:r>
          </a:p>
        </p:txBody>
      </p:sp>
      <p:sp>
        <p:nvSpPr>
          <p:cNvPr id="46" name="sc-out-1-dot"/>
          <p:cNvSpPr/>
          <p:nvPr/>
        </p:nvSpPr>
        <p:spPr>
          <a:xfrm>
            <a:off x="4429125" y="3362325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sc-out-1-text"/>
          <p:cNvSpPr txBox="1"/>
          <p:nvPr/>
        </p:nvSpPr>
        <p:spPr>
          <a:xfrm>
            <a:off x="4562475" y="3314700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Manufacturing execution system (MES) integration</a:t>
            </a:r>
          </a:p>
        </p:txBody>
      </p:sp>
      <p:sp>
        <p:nvSpPr>
          <p:cNvPr id="48" name="sc-out-2-dot"/>
          <p:cNvSpPr/>
          <p:nvPr/>
        </p:nvSpPr>
        <p:spPr>
          <a:xfrm>
            <a:off x="4429125" y="3571875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sc-out-2-text"/>
          <p:cNvSpPr txBox="1"/>
          <p:nvPr/>
        </p:nvSpPr>
        <p:spPr>
          <a:xfrm>
            <a:off x="4562475" y="3524250"/>
            <a:ext cx="3190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Retail point-of-sale feed and last-mile logistics optimisation</a:t>
            </a:r>
          </a:p>
        </p:txBody>
      </p:sp>
      <p:sp>
        <p:nvSpPr>
          <p:cNvPr id="50" name="card-Success Criteria-bg"/>
          <p:cNvSpPr/>
          <p:nvPr/>
        </p:nvSpPr>
        <p:spPr>
          <a:xfrm>
            <a:off x="7981950" y="1943100"/>
            <a:ext cx="3590925" cy="21240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ard-Success Criteria-title"/>
          <p:cNvSpPr txBox="1"/>
          <p:nvPr/>
        </p:nvSpPr>
        <p:spPr>
          <a:xfrm>
            <a:off x="8115300" y="2038350"/>
            <a:ext cx="33242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SUCCESS CRITERIA</a:t>
            </a:r>
          </a:p>
        </p:txBody>
      </p:sp>
      <p:sp>
        <p:nvSpPr>
          <p:cNvPr id="52" name="card-Success Criteria-rule"/>
          <p:cNvSpPr/>
          <p:nvPr/>
        </p:nvSpPr>
        <p:spPr>
          <a:xfrm>
            <a:off x="8115300" y="2209800"/>
            <a:ext cx="2667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rit-1-cb"/>
          <p:cNvSpPr/>
          <p:nvPr/>
        </p:nvSpPr>
        <p:spPr>
          <a:xfrm>
            <a:off x="8115300" y="2362200"/>
            <a:ext cx="114300" cy="114300"/>
          </a:xfrm>
          <a:prstGeom prst="rect">
            <a:avLst/>
          </a:prstGeom>
          <a:solidFill>
            <a:srgbClr val="3C1F5C"/>
          </a:solidFill>
          <a:ln w="12700">
            <a:solidFill>
              <a:srgbClr val="9C8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rit-1-text"/>
          <p:cNvSpPr txBox="1"/>
          <p:nvPr/>
        </p:nvSpPr>
        <p:spPr>
          <a:xfrm>
            <a:off x="8286750" y="2324100"/>
            <a:ext cx="25431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Inventory holding cost reduction</a:t>
            </a:r>
          </a:p>
        </p:txBody>
      </p:sp>
      <p:sp>
        <p:nvSpPr>
          <p:cNvPr id="55" name="crit-1-target"/>
          <p:cNvSpPr txBox="1"/>
          <p:nvPr/>
        </p:nvSpPr>
        <p:spPr>
          <a:xfrm>
            <a:off x="10829925" y="2324100"/>
            <a:ext cx="609600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≥ 18%</a:t>
            </a:r>
          </a:p>
        </p:txBody>
      </p:sp>
      <p:sp>
        <p:nvSpPr>
          <p:cNvPr id="56" name="crit-2-cb"/>
          <p:cNvSpPr/>
          <p:nvPr/>
        </p:nvSpPr>
        <p:spPr>
          <a:xfrm>
            <a:off x="8115300" y="2771775"/>
            <a:ext cx="114300" cy="114300"/>
          </a:xfrm>
          <a:prstGeom prst="rect">
            <a:avLst/>
          </a:prstGeom>
          <a:solidFill>
            <a:srgbClr val="3C1F5C"/>
          </a:solidFill>
          <a:ln w="12700">
            <a:solidFill>
              <a:srgbClr val="9C8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rit-2-text"/>
          <p:cNvSpPr txBox="1"/>
          <p:nvPr/>
        </p:nvSpPr>
        <p:spPr>
          <a:xfrm>
            <a:off x="8286750" y="2733675"/>
            <a:ext cx="25431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Order fulfilment accuracy rate</a:t>
            </a:r>
          </a:p>
        </p:txBody>
      </p:sp>
      <p:sp>
        <p:nvSpPr>
          <p:cNvPr id="58" name="crit-2-target"/>
          <p:cNvSpPr txBox="1"/>
          <p:nvPr/>
        </p:nvSpPr>
        <p:spPr>
          <a:xfrm>
            <a:off x="10829925" y="2733675"/>
            <a:ext cx="609600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≥ 99.2%</a:t>
            </a:r>
          </a:p>
        </p:txBody>
      </p:sp>
      <p:sp>
        <p:nvSpPr>
          <p:cNvPr id="59" name="crit-3-cb"/>
          <p:cNvSpPr/>
          <p:nvPr/>
        </p:nvSpPr>
        <p:spPr>
          <a:xfrm>
            <a:off x="8115300" y="3181350"/>
            <a:ext cx="114300" cy="114300"/>
          </a:xfrm>
          <a:prstGeom prst="rect">
            <a:avLst/>
          </a:prstGeom>
          <a:solidFill>
            <a:srgbClr val="3C1F5C"/>
          </a:solidFill>
          <a:ln w="12700">
            <a:solidFill>
              <a:srgbClr val="9C8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crit-3-text"/>
          <p:cNvSpPr txBox="1"/>
          <p:nvPr/>
        </p:nvSpPr>
        <p:spPr>
          <a:xfrm>
            <a:off x="8286750" y="3143250"/>
            <a:ext cx="25431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Dashboard adoption (weekly active users)</a:t>
            </a:r>
          </a:p>
        </p:txBody>
      </p:sp>
      <p:sp>
        <p:nvSpPr>
          <p:cNvPr id="61" name="crit-3-target"/>
          <p:cNvSpPr txBox="1"/>
          <p:nvPr/>
        </p:nvSpPr>
        <p:spPr>
          <a:xfrm>
            <a:off x="10829925" y="3143250"/>
            <a:ext cx="609600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≥ 85%</a:t>
            </a:r>
          </a:p>
        </p:txBody>
      </p:sp>
      <p:sp>
        <p:nvSpPr>
          <p:cNvPr id="62" name="crit-4-cb"/>
          <p:cNvSpPr/>
          <p:nvPr/>
        </p:nvSpPr>
        <p:spPr>
          <a:xfrm>
            <a:off x="8115300" y="3590925"/>
            <a:ext cx="114300" cy="114300"/>
          </a:xfrm>
          <a:prstGeom prst="rect">
            <a:avLst/>
          </a:prstGeom>
          <a:solidFill>
            <a:srgbClr val="3C1F5C"/>
          </a:solidFill>
          <a:ln w="12700">
            <a:solidFill>
              <a:srgbClr val="9C8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rit-4-text"/>
          <p:cNvSpPr txBox="1"/>
          <p:nvPr/>
        </p:nvSpPr>
        <p:spPr>
          <a:xfrm>
            <a:off x="8286750" y="3552825"/>
            <a:ext cx="25431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System uptime SLA (production environment)</a:t>
            </a:r>
          </a:p>
        </p:txBody>
      </p:sp>
      <p:sp>
        <p:nvSpPr>
          <p:cNvPr id="64" name="crit-4-target"/>
          <p:cNvSpPr txBox="1"/>
          <p:nvPr/>
        </p:nvSpPr>
        <p:spPr>
          <a:xfrm>
            <a:off x="10829925" y="3552825"/>
            <a:ext cx="609600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99.5%</a:t>
            </a:r>
          </a:p>
        </p:txBody>
      </p:sp>
      <p:sp>
        <p:nvSpPr>
          <p:cNvPr id="65" name="card-Key Stakeholders-bg"/>
          <p:cNvSpPr/>
          <p:nvPr/>
        </p:nvSpPr>
        <p:spPr>
          <a:xfrm>
            <a:off x="609600" y="4162425"/>
            <a:ext cx="3590925" cy="21240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card-Key Stakeholders-title"/>
          <p:cNvSpPr txBox="1"/>
          <p:nvPr/>
        </p:nvSpPr>
        <p:spPr>
          <a:xfrm>
            <a:off x="742950" y="4257675"/>
            <a:ext cx="33242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STAKEHOLDERS</a:t>
            </a:r>
          </a:p>
        </p:txBody>
      </p:sp>
      <p:sp>
        <p:nvSpPr>
          <p:cNvPr id="67" name="card-Key Stakeholders-rule"/>
          <p:cNvSpPr/>
          <p:nvPr/>
        </p:nvSpPr>
        <p:spPr>
          <a:xfrm>
            <a:off x="742950" y="4429125"/>
            <a:ext cx="2667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sh-1-ic"/>
          <p:cNvSpPr/>
          <p:nvPr/>
        </p:nvSpPr>
        <p:spPr>
          <a:xfrm>
            <a:off x="742950" y="4581525"/>
            <a:ext cx="247650" cy="2476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sh-1-init"/>
          <p:cNvSpPr txBox="1"/>
          <p:nvPr/>
        </p:nvSpPr>
        <p:spPr>
          <a:xfrm>
            <a:off x="742950" y="458152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RJ</a:t>
            </a:r>
          </a:p>
        </p:txBody>
      </p:sp>
      <p:sp>
        <p:nvSpPr>
          <p:cNvPr id="70" name="sh-1-name"/>
          <p:cNvSpPr txBox="1"/>
          <p:nvPr/>
        </p:nvSpPr>
        <p:spPr>
          <a:xfrm>
            <a:off x="1066800" y="4562475"/>
            <a:ext cx="30194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Rachel Jensen</a:t>
            </a:r>
          </a:p>
        </p:txBody>
      </p:sp>
      <p:sp>
        <p:nvSpPr>
          <p:cNvPr id="71" name="sh-1-role"/>
          <p:cNvSpPr txBox="1"/>
          <p:nvPr/>
        </p:nvSpPr>
        <p:spPr>
          <a:xfrm>
            <a:off x="1066800" y="4714875"/>
            <a:ext cx="3019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Executive Sponsor · CFO</a:t>
            </a:r>
          </a:p>
        </p:txBody>
      </p:sp>
      <p:sp>
        <p:nvSpPr>
          <p:cNvPr id="72" name="sh-2-ic"/>
          <p:cNvSpPr/>
          <p:nvPr/>
        </p:nvSpPr>
        <p:spPr>
          <a:xfrm>
            <a:off x="742950" y="4991100"/>
            <a:ext cx="247650" cy="2476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sh-2-init"/>
          <p:cNvSpPr txBox="1"/>
          <p:nvPr/>
        </p:nvSpPr>
        <p:spPr>
          <a:xfrm>
            <a:off x="742950" y="49911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MP</a:t>
            </a:r>
          </a:p>
        </p:txBody>
      </p:sp>
      <p:sp>
        <p:nvSpPr>
          <p:cNvPr id="74" name="sh-2-name"/>
          <p:cNvSpPr txBox="1"/>
          <p:nvPr/>
        </p:nvSpPr>
        <p:spPr>
          <a:xfrm>
            <a:off x="1066800" y="4972050"/>
            <a:ext cx="30194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Mario Peralta</a:t>
            </a:r>
          </a:p>
        </p:txBody>
      </p:sp>
      <p:sp>
        <p:nvSpPr>
          <p:cNvPr id="75" name="sh-2-role"/>
          <p:cNvSpPr txBox="1"/>
          <p:nvPr/>
        </p:nvSpPr>
        <p:spPr>
          <a:xfrm>
            <a:off x="1066800" y="5124450"/>
            <a:ext cx="3019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Project Manager · Delivery Lead</a:t>
            </a:r>
          </a:p>
        </p:txBody>
      </p:sp>
      <p:sp>
        <p:nvSpPr>
          <p:cNvPr id="76" name="sh-3-ic"/>
          <p:cNvSpPr/>
          <p:nvPr/>
        </p:nvSpPr>
        <p:spPr>
          <a:xfrm>
            <a:off x="742950" y="5400675"/>
            <a:ext cx="247650" cy="2476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sh-3-init"/>
          <p:cNvSpPr txBox="1"/>
          <p:nvPr/>
        </p:nvSpPr>
        <p:spPr>
          <a:xfrm>
            <a:off x="742950" y="54006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</a:t>
            </a:r>
          </a:p>
        </p:txBody>
      </p:sp>
      <p:sp>
        <p:nvSpPr>
          <p:cNvPr id="78" name="sh-3-name"/>
          <p:cNvSpPr txBox="1"/>
          <p:nvPr/>
        </p:nvSpPr>
        <p:spPr>
          <a:xfrm>
            <a:off x="1066800" y="5381625"/>
            <a:ext cx="30194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Sandra Okonkwo</a:t>
            </a:r>
          </a:p>
        </p:txBody>
      </p:sp>
      <p:sp>
        <p:nvSpPr>
          <p:cNvPr id="79" name="sh-3-role"/>
          <p:cNvSpPr txBox="1"/>
          <p:nvPr/>
        </p:nvSpPr>
        <p:spPr>
          <a:xfrm>
            <a:off x="1066800" y="5534025"/>
            <a:ext cx="3019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Business Owner · VP Supply Chain</a:t>
            </a:r>
          </a:p>
        </p:txBody>
      </p:sp>
      <p:sp>
        <p:nvSpPr>
          <p:cNvPr id="80" name="sh-4-ic"/>
          <p:cNvSpPr/>
          <p:nvPr/>
        </p:nvSpPr>
        <p:spPr>
          <a:xfrm>
            <a:off x="742950" y="5810250"/>
            <a:ext cx="247650" cy="2476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sh-4-init"/>
          <p:cNvSpPr txBox="1"/>
          <p:nvPr/>
        </p:nvSpPr>
        <p:spPr>
          <a:xfrm>
            <a:off x="742950" y="58102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TK</a:t>
            </a:r>
          </a:p>
        </p:txBody>
      </p:sp>
      <p:sp>
        <p:nvSpPr>
          <p:cNvPr id="82" name="sh-4-name"/>
          <p:cNvSpPr txBox="1"/>
          <p:nvPr/>
        </p:nvSpPr>
        <p:spPr>
          <a:xfrm>
            <a:off x="1066800" y="5791200"/>
            <a:ext cx="30194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Thomas Krause</a:t>
            </a:r>
          </a:p>
        </p:txBody>
      </p:sp>
      <p:sp>
        <p:nvSpPr>
          <p:cNvPr id="83" name="sh-4-role"/>
          <p:cNvSpPr txBox="1"/>
          <p:nvPr/>
        </p:nvSpPr>
        <p:spPr>
          <a:xfrm>
            <a:off x="1066800" y="5943600"/>
            <a:ext cx="3019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Tech Lead · Enterprise Architecture</a:t>
            </a:r>
          </a:p>
        </p:txBody>
      </p:sp>
      <p:sp>
        <p:nvSpPr>
          <p:cNvPr id="84" name="card-Key Milestones-bg"/>
          <p:cNvSpPr/>
          <p:nvPr/>
        </p:nvSpPr>
        <p:spPr>
          <a:xfrm>
            <a:off x="4295775" y="4162425"/>
            <a:ext cx="3590925" cy="21240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card-Key Milestones-title"/>
          <p:cNvSpPr txBox="1"/>
          <p:nvPr/>
        </p:nvSpPr>
        <p:spPr>
          <a:xfrm>
            <a:off x="4429125" y="4257675"/>
            <a:ext cx="33242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MILESTONES</a:t>
            </a:r>
          </a:p>
        </p:txBody>
      </p:sp>
      <p:sp>
        <p:nvSpPr>
          <p:cNvPr id="86" name="card-Key Milestones-rule"/>
          <p:cNvSpPr/>
          <p:nvPr/>
        </p:nvSpPr>
        <p:spPr>
          <a:xfrm>
            <a:off x="4429125" y="4429125"/>
            <a:ext cx="2667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mile-1-pill"/>
          <p:cNvSpPr/>
          <p:nvPr/>
        </p:nvSpPr>
        <p:spPr>
          <a:xfrm>
            <a:off x="4429125" y="4581525"/>
            <a:ext cx="723900" cy="171450"/>
          </a:xfrm>
          <a:prstGeom prst="rect">
            <a:avLst/>
          </a:prstGeom>
          <a:solidFill>
            <a:srgbClr val="5C2D87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mile-1-date"/>
          <p:cNvSpPr txBox="1"/>
          <p:nvPr/>
        </p:nvSpPr>
        <p:spPr>
          <a:xfrm>
            <a:off x="4429125" y="4581525"/>
            <a:ext cx="723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01 Jun 26</a:t>
            </a:r>
          </a:p>
        </p:txBody>
      </p:sp>
      <p:sp>
        <p:nvSpPr>
          <p:cNvPr id="89" name="mile-1-name"/>
          <p:cNvSpPr txBox="1"/>
          <p:nvPr/>
        </p:nvSpPr>
        <p:spPr>
          <a:xfrm>
            <a:off x="5248275" y="4543425"/>
            <a:ext cx="25050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Project kick-off and team onboarding complete</a:t>
            </a:r>
          </a:p>
        </p:txBody>
      </p:sp>
      <p:sp>
        <p:nvSpPr>
          <p:cNvPr id="90" name="mile-2-pill"/>
          <p:cNvSpPr/>
          <p:nvPr/>
        </p:nvSpPr>
        <p:spPr>
          <a:xfrm>
            <a:off x="4429125" y="4991100"/>
            <a:ext cx="723900" cy="171450"/>
          </a:xfrm>
          <a:prstGeom prst="rect">
            <a:avLst/>
          </a:prstGeom>
          <a:solidFill>
            <a:srgbClr val="5C2D87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mile-2-date"/>
          <p:cNvSpPr txBox="1"/>
          <p:nvPr/>
        </p:nvSpPr>
        <p:spPr>
          <a:xfrm>
            <a:off x="4429125" y="4991100"/>
            <a:ext cx="723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15 Aug 26</a:t>
            </a:r>
          </a:p>
        </p:txBody>
      </p:sp>
      <p:sp>
        <p:nvSpPr>
          <p:cNvPr id="92" name="mile-2-name"/>
          <p:cNvSpPr txBox="1"/>
          <p:nvPr/>
        </p:nvSpPr>
        <p:spPr>
          <a:xfrm>
            <a:off x="5248275" y="4953000"/>
            <a:ext cx="25050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SAP data pipeline live across all 12 distribution centres</a:t>
            </a:r>
          </a:p>
        </p:txBody>
      </p:sp>
      <p:sp>
        <p:nvSpPr>
          <p:cNvPr id="93" name="mile-3-pill"/>
          <p:cNvSpPr/>
          <p:nvPr/>
        </p:nvSpPr>
        <p:spPr>
          <a:xfrm>
            <a:off x="4429125" y="5400675"/>
            <a:ext cx="723900" cy="171450"/>
          </a:xfrm>
          <a:prstGeom prst="rect">
            <a:avLst/>
          </a:prstGeom>
          <a:solidFill>
            <a:srgbClr val="5C2D87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mile-3-date"/>
          <p:cNvSpPr txBox="1"/>
          <p:nvPr/>
        </p:nvSpPr>
        <p:spPr>
          <a:xfrm>
            <a:off x="4429125" y="5400675"/>
            <a:ext cx="723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30 Oct 26</a:t>
            </a:r>
          </a:p>
        </p:txBody>
      </p:sp>
      <p:sp>
        <p:nvSpPr>
          <p:cNvPr id="95" name="mile-3-name"/>
          <p:cNvSpPr txBox="1"/>
          <p:nvPr/>
        </p:nvSpPr>
        <p:spPr>
          <a:xfrm>
            <a:off x="5248275" y="5362575"/>
            <a:ext cx="25050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AI demand model validated and deployed to staging</a:t>
            </a:r>
          </a:p>
        </p:txBody>
      </p:sp>
      <p:sp>
        <p:nvSpPr>
          <p:cNvPr id="96" name="mile-4-pill"/>
          <p:cNvSpPr/>
          <p:nvPr/>
        </p:nvSpPr>
        <p:spPr>
          <a:xfrm>
            <a:off x="4429125" y="5810250"/>
            <a:ext cx="723900" cy="171450"/>
          </a:xfrm>
          <a:prstGeom prst="rect">
            <a:avLst/>
          </a:prstGeom>
          <a:solidFill>
            <a:srgbClr val="5C2D87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mile-4-date"/>
          <p:cNvSpPr txBox="1"/>
          <p:nvPr/>
        </p:nvSpPr>
        <p:spPr>
          <a:xfrm>
            <a:off x="4429125" y="5810250"/>
            <a:ext cx="723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28 Feb 27</a:t>
            </a:r>
          </a:p>
        </p:txBody>
      </p:sp>
      <p:sp>
        <p:nvSpPr>
          <p:cNvPr id="98" name="mile-4-name"/>
          <p:cNvSpPr txBox="1"/>
          <p:nvPr/>
        </p:nvSpPr>
        <p:spPr>
          <a:xfrm>
            <a:off x="5248275" y="5772150"/>
            <a:ext cx="2505075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Full platform go-live and hypercare period ends</a:t>
            </a:r>
          </a:p>
        </p:txBody>
      </p:sp>
      <p:sp>
        <p:nvSpPr>
          <p:cNvPr id="99" name="card-Budget-bg"/>
          <p:cNvSpPr/>
          <p:nvPr/>
        </p:nvSpPr>
        <p:spPr>
          <a:xfrm>
            <a:off x="7981950" y="4162425"/>
            <a:ext cx="3590925" cy="21240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card-Budget-title"/>
          <p:cNvSpPr txBox="1"/>
          <p:nvPr/>
        </p:nvSpPr>
        <p:spPr>
          <a:xfrm>
            <a:off x="8115300" y="4257675"/>
            <a:ext cx="33242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BUDGET</a:t>
            </a:r>
          </a:p>
        </p:txBody>
      </p:sp>
      <p:sp>
        <p:nvSpPr>
          <p:cNvPr id="101" name="card-Budget-rule"/>
          <p:cNvSpPr/>
          <p:nvPr/>
        </p:nvSpPr>
        <p:spPr>
          <a:xfrm>
            <a:off x="8115300" y="4429125"/>
            <a:ext cx="2667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bud-1-lbl"/>
          <p:cNvSpPr txBox="1"/>
          <p:nvPr/>
        </p:nvSpPr>
        <p:spPr>
          <a:xfrm>
            <a:off x="8115300" y="4543425"/>
            <a:ext cx="23526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Technology &amp; Licensing</a:t>
            </a:r>
          </a:p>
        </p:txBody>
      </p:sp>
      <p:sp>
        <p:nvSpPr>
          <p:cNvPr id="103" name="bud-1-amt"/>
          <p:cNvSpPr txBox="1"/>
          <p:nvPr/>
        </p:nvSpPr>
        <p:spPr>
          <a:xfrm>
            <a:off x="10334625" y="4543425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$620,000</a:t>
            </a:r>
          </a:p>
        </p:txBody>
      </p:sp>
      <p:sp>
        <p:nvSpPr>
          <p:cNvPr id="104" name="bud-2-lbl"/>
          <p:cNvSpPr txBox="1"/>
          <p:nvPr/>
        </p:nvSpPr>
        <p:spPr>
          <a:xfrm>
            <a:off x="8115300" y="4829175"/>
            <a:ext cx="23526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Professional Services</a:t>
            </a:r>
          </a:p>
        </p:txBody>
      </p:sp>
      <p:sp>
        <p:nvSpPr>
          <p:cNvPr id="105" name="bud-2-amt"/>
          <p:cNvSpPr txBox="1"/>
          <p:nvPr/>
        </p:nvSpPr>
        <p:spPr>
          <a:xfrm>
            <a:off x="10334625" y="4829175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$1,140,000</a:t>
            </a:r>
          </a:p>
        </p:txBody>
      </p:sp>
      <p:sp>
        <p:nvSpPr>
          <p:cNvPr id="106" name="bud-3-lbl"/>
          <p:cNvSpPr txBox="1"/>
          <p:nvPr/>
        </p:nvSpPr>
        <p:spPr>
          <a:xfrm>
            <a:off x="8115300" y="5114925"/>
            <a:ext cx="23526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Change Management &amp; Training</a:t>
            </a:r>
          </a:p>
        </p:txBody>
      </p:sp>
      <p:sp>
        <p:nvSpPr>
          <p:cNvPr id="107" name="bud-3-amt"/>
          <p:cNvSpPr txBox="1"/>
          <p:nvPr/>
        </p:nvSpPr>
        <p:spPr>
          <a:xfrm>
            <a:off x="10334625" y="5114925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$185,000</a:t>
            </a:r>
          </a:p>
        </p:txBody>
      </p:sp>
      <p:sp>
        <p:nvSpPr>
          <p:cNvPr id="108" name="bud-total-rule"/>
          <p:cNvSpPr/>
          <p:nvPr/>
        </p:nvSpPr>
        <p:spPr>
          <a:xfrm>
            <a:off x="8115300" y="5438775"/>
            <a:ext cx="3324225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bud-total-lbl"/>
          <p:cNvSpPr txBox="1"/>
          <p:nvPr/>
        </p:nvSpPr>
        <p:spPr>
          <a:xfrm>
            <a:off x="8115300" y="5476875"/>
            <a:ext cx="23526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TOTAL BUDGET</a:t>
            </a:r>
          </a:p>
        </p:txBody>
      </p:sp>
      <p:sp>
        <p:nvSpPr>
          <p:cNvPr id="110" name="bud-total-amt"/>
          <p:cNvSpPr txBox="1"/>
          <p:nvPr/>
        </p:nvSpPr>
        <p:spPr>
          <a:xfrm>
            <a:off x="10334625" y="5476875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$1,945,000</a:t>
            </a:r>
          </a:p>
        </p:txBody>
      </p:sp>
      <p:sp>
        <p:nvSpPr>
          <p:cNvPr id="11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1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