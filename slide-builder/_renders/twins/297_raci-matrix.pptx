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Project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RACI Matrix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— Roles &amp; Accountability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Who is Responsible, Accountable, Consulted, and Informed across key activities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4953000" y="2228850"/>
            <a:ext cx="6858000" cy="342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label"/>
          <p:cNvSpPr txBox="1"/>
          <p:nvPr/>
        </p:nvSpPr>
        <p:spPr>
          <a:xfrm>
            <a:off x="5067300" y="222885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LEGEND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695950" y="2305050"/>
            <a:ext cx="190500" cy="1905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etter"/>
          <p:cNvSpPr txBox="1"/>
          <p:nvPr/>
        </p:nvSpPr>
        <p:spPr>
          <a:xfrm>
            <a:off x="5695950" y="23050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9" name="legend-1-label"/>
          <p:cNvSpPr txBox="1"/>
          <p:nvPr/>
        </p:nvSpPr>
        <p:spPr>
          <a:xfrm>
            <a:off x="5943600" y="2266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Responsible</a:t>
            </a:r>
          </a:p>
        </p:txBody>
      </p:sp>
      <p:sp>
        <p:nvSpPr>
          <p:cNvPr id="10" name="legend-1-desc"/>
          <p:cNvSpPr txBox="1"/>
          <p:nvPr/>
        </p:nvSpPr>
        <p:spPr>
          <a:xfrm>
            <a:off x="5943600" y="24003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does the work</a:t>
            </a:r>
          </a:p>
        </p:txBody>
      </p:sp>
      <p:sp>
        <p:nvSpPr>
          <p:cNvPr id="11" name="legend-2-swatch"/>
          <p:cNvSpPr/>
          <p:nvPr/>
        </p:nvSpPr>
        <p:spPr>
          <a:xfrm>
            <a:off x="7200900" y="2305050"/>
            <a:ext cx="190500" cy="1905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2-letter"/>
          <p:cNvSpPr txBox="1"/>
          <p:nvPr/>
        </p:nvSpPr>
        <p:spPr>
          <a:xfrm>
            <a:off x="7200900" y="23050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3" name="legend-2-label"/>
          <p:cNvSpPr txBox="1"/>
          <p:nvPr/>
        </p:nvSpPr>
        <p:spPr>
          <a:xfrm>
            <a:off x="7448550" y="2266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Accountable</a:t>
            </a:r>
          </a:p>
        </p:txBody>
      </p:sp>
      <p:sp>
        <p:nvSpPr>
          <p:cNvPr id="14" name="legend-2-desc"/>
          <p:cNvSpPr txBox="1"/>
          <p:nvPr/>
        </p:nvSpPr>
        <p:spPr>
          <a:xfrm>
            <a:off x="7448550" y="24003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owns the outcome</a:t>
            </a:r>
          </a:p>
        </p:txBody>
      </p:sp>
      <p:sp>
        <p:nvSpPr>
          <p:cNvPr id="15" name="legend-3-swatch"/>
          <p:cNvSpPr/>
          <p:nvPr/>
        </p:nvSpPr>
        <p:spPr>
          <a:xfrm>
            <a:off x="8705850" y="2305050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egend-3-letter"/>
          <p:cNvSpPr txBox="1"/>
          <p:nvPr/>
        </p:nvSpPr>
        <p:spPr>
          <a:xfrm>
            <a:off x="8705850" y="23050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7" name="legend-3-label"/>
          <p:cNvSpPr txBox="1"/>
          <p:nvPr/>
        </p:nvSpPr>
        <p:spPr>
          <a:xfrm>
            <a:off x="8953500" y="2266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Consulted</a:t>
            </a:r>
          </a:p>
        </p:txBody>
      </p:sp>
      <p:sp>
        <p:nvSpPr>
          <p:cNvPr id="18" name="legend-3-desc"/>
          <p:cNvSpPr txBox="1"/>
          <p:nvPr/>
        </p:nvSpPr>
        <p:spPr>
          <a:xfrm>
            <a:off x="8953500" y="24003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provides input</a:t>
            </a:r>
          </a:p>
        </p:txBody>
      </p:sp>
      <p:sp>
        <p:nvSpPr>
          <p:cNvPr id="19" name="legend-4-swatch"/>
          <p:cNvSpPr/>
          <p:nvPr/>
        </p:nvSpPr>
        <p:spPr>
          <a:xfrm>
            <a:off x="10210800" y="2305050"/>
            <a:ext cx="190500" cy="19050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egend-4-letter"/>
          <p:cNvSpPr txBox="1"/>
          <p:nvPr/>
        </p:nvSpPr>
        <p:spPr>
          <a:xfrm>
            <a:off x="10210800" y="23050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21" name="legend-4-label"/>
          <p:cNvSpPr txBox="1"/>
          <p:nvPr/>
        </p:nvSpPr>
        <p:spPr>
          <a:xfrm>
            <a:off x="10458450" y="2266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Informed</a:t>
            </a:r>
          </a:p>
        </p:txBody>
      </p:sp>
      <p:sp>
        <p:nvSpPr>
          <p:cNvPr id="22" name="legend-4-desc"/>
          <p:cNvSpPr txBox="1"/>
          <p:nvPr/>
        </p:nvSpPr>
        <p:spPr>
          <a:xfrm>
            <a:off x="10458450" y="24003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kept up to date</a:t>
            </a:r>
          </a:p>
        </p:txBody>
      </p:sp>
      <p:sp>
        <p:nvSpPr>
          <p:cNvPr id="23" name="table-head-bg"/>
          <p:cNvSpPr/>
          <p:nvPr/>
        </p:nvSpPr>
        <p:spPr>
          <a:xfrm>
            <a:off x="457200" y="2724150"/>
            <a:ext cx="112776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col-1-header"/>
          <p:cNvSpPr txBox="1"/>
          <p:nvPr/>
        </p:nvSpPr>
        <p:spPr>
          <a:xfrm>
            <a:off x="590550" y="2724150"/>
            <a:ext cx="21526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/ DECISION</a:t>
            </a:r>
          </a:p>
        </p:txBody>
      </p:sp>
      <p:sp>
        <p:nvSpPr>
          <p:cNvPr id="25" name="table-col-2-header"/>
          <p:cNvSpPr txBox="1"/>
          <p:nvPr/>
        </p:nvSpPr>
        <p:spPr>
          <a:xfrm>
            <a:off x="2743200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PROJECT</a:t>
            </a:r>
          </a:p>
        </p:txBody>
      </p:sp>
      <p:sp>
        <p:nvSpPr>
          <p:cNvPr id="26" name="table-col-2-header-line2"/>
          <p:cNvSpPr txBox="1"/>
          <p:nvPr/>
        </p:nvSpPr>
        <p:spPr>
          <a:xfrm>
            <a:off x="2743200" y="2952750"/>
            <a:ext cx="1495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SPONSOR</a:t>
            </a:r>
          </a:p>
        </p:txBody>
      </p:sp>
      <p:sp>
        <p:nvSpPr>
          <p:cNvPr id="27" name="table-col-3-header"/>
          <p:cNvSpPr txBox="1"/>
          <p:nvPr/>
        </p:nvSpPr>
        <p:spPr>
          <a:xfrm>
            <a:off x="4238625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</a:t>
            </a:r>
          </a:p>
        </p:txBody>
      </p:sp>
      <p:sp>
        <p:nvSpPr>
          <p:cNvPr id="28" name="table-col-3-header-line2"/>
          <p:cNvSpPr txBox="1"/>
          <p:nvPr/>
        </p:nvSpPr>
        <p:spPr>
          <a:xfrm>
            <a:off x="4238625" y="2952750"/>
            <a:ext cx="1495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MANAGER</a:t>
            </a:r>
          </a:p>
        </p:txBody>
      </p:sp>
      <p:sp>
        <p:nvSpPr>
          <p:cNvPr id="29" name="table-col-4-header"/>
          <p:cNvSpPr txBox="1"/>
          <p:nvPr/>
        </p:nvSpPr>
        <p:spPr>
          <a:xfrm>
            <a:off x="5734050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30" name="table-col-4-header-line2"/>
          <p:cNvSpPr txBox="1"/>
          <p:nvPr/>
        </p:nvSpPr>
        <p:spPr>
          <a:xfrm>
            <a:off x="5734050" y="2952750"/>
            <a:ext cx="1495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LEAD</a:t>
            </a:r>
          </a:p>
        </p:txBody>
      </p:sp>
      <p:sp>
        <p:nvSpPr>
          <p:cNvPr id="31" name="table-col-5-header"/>
          <p:cNvSpPr txBox="1"/>
          <p:nvPr/>
        </p:nvSpPr>
        <p:spPr>
          <a:xfrm>
            <a:off x="7229475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FINANCE</a:t>
            </a:r>
          </a:p>
        </p:txBody>
      </p:sp>
      <p:sp>
        <p:nvSpPr>
          <p:cNvPr id="32" name="table-col-6-header"/>
          <p:cNvSpPr txBox="1"/>
          <p:nvPr/>
        </p:nvSpPr>
        <p:spPr>
          <a:xfrm>
            <a:off x="8724900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IT</a:t>
            </a:r>
          </a:p>
        </p:txBody>
      </p:sp>
      <p:sp>
        <p:nvSpPr>
          <p:cNvPr id="33" name="table-col-7-header"/>
          <p:cNvSpPr txBox="1"/>
          <p:nvPr/>
        </p:nvSpPr>
        <p:spPr>
          <a:xfrm>
            <a:off x="10220325" y="278130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COMMS</a:t>
            </a:r>
          </a:p>
        </p:txBody>
      </p:sp>
      <p:sp>
        <p:nvSpPr>
          <p:cNvPr id="34" name="row-1-bg"/>
          <p:cNvSpPr/>
          <p:nvPr/>
        </p:nvSpPr>
        <p:spPr>
          <a:xfrm>
            <a:off x="457200" y="31432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able-row-1-label"/>
          <p:cNvSpPr txBox="1"/>
          <p:nvPr/>
        </p:nvSpPr>
        <p:spPr>
          <a:xfrm>
            <a:off x="590550" y="31432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Define scope</a:t>
            </a:r>
          </a:p>
        </p:txBody>
      </p:sp>
      <p:sp>
        <p:nvSpPr>
          <p:cNvPr id="36" name="row-1-act-border"/>
          <p:cNvSpPr/>
          <p:nvPr/>
        </p:nvSpPr>
        <p:spPr>
          <a:xfrm>
            <a:off x="2733675" y="31432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1-cell-2-pill"/>
          <p:cNvSpPr/>
          <p:nvPr/>
        </p:nvSpPr>
        <p:spPr>
          <a:xfrm>
            <a:off x="3362325" y="321945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1-cell-2"/>
          <p:cNvSpPr txBox="1"/>
          <p:nvPr/>
        </p:nvSpPr>
        <p:spPr>
          <a:xfrm>
            <a:off x="3362325" y="3219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39" name="table-row-1-cell-3-pill"/>
          <p:cNvSpPr/>
          <p:nvPr/>
        </p:nvSpPr>
        <p:spPr>
          <a:xfrm>
            <a:off x="4857750" y="321945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1-cell-3"/>
          <p:cNvSpPr txBox="1"/>
          <p:nvPr/>
        </p:nvSpPr>
        <p:spPr>
          <a:xfrm>
            <a:off x="4857750" y="3219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41" name="table-row-1-cell-4-pill"/>
          <p:cNvSpPr/>
          <p:nvPr/>
        </p:nvSpPr>
        <p:spPr>
          <a:xfrm>
            <a:off x="6353175" y="321945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1-cell-4"/>
          <p:cNvSpPr txBox="1"/>
          <p:nvPr/>
        </p:nvSpPr>
        <p:spPr>
          <a:xfrm>
            <a:off x="6353175" y="3219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43" name="table-row-1-cell-5-pill"/>
          <p:cNvSpPr/>
          <p:nvPr/>
        </p:nvSpPr>
        <p:spPr>
          <a:xfrm>
            <a:off x="7848600" y="32194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1-cell-5"/>
          <p:cNvSpPr txBox="1"/>
          <p:nvPr/>
        </p:nvSpPr>
        <p:spPr>
          <a:xfrm>
            <a:off x="7848600" y="3219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45" name="table-row-1-cell-6-pill"/>
          <p:cNvSpPr/>
          <p:nvPr/>
        </p:nvSpPr>
        <p:spPr>
          <a:xfrm>
            <a:off x="9344025" y="32194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1-cell-6"/>
          <p:cNvSpPr txBox="1"/>
          <p:nvPr/>
        </p:nvSpPr>
        <p:spPr>
          <a:xfrm>
            <a:off x="9344025" y="3219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47" name="table-row-1-cell-7"/>
          <p:cNvSpPr/>
          <p:nvPr/>
        </p:nvSpPr>
        <p:spPr>
          <a:xfrm>
            <a:off x="10934700" y="331470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2-bg"/>
          <p:cNvSpPr/>
          <p:nvPr/>
        </p:nvSpPr>
        <p:spPr>
          <a:xfrm>
            <a:off x="457200" y="35433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2-label"/>
          <p:cNvSpPr txBox="1"/>
          <p:nvPr/>
        </p:nvSpPr>
        <p:spPr>
          <a:xfrm>
            <a:off x="590550" y="35433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Approve budget</a:t>
            </a:r>
          </a:p>
        </p:txBody>
      </p:sp>
      <p:sp>
        <p:nvSpPr>
          <p:cNvPr id="50" name="row-2-act-border"/>
          <p:cNvSpPr/>
          <p:nvPr/>
        </p:nvSpPr>
        <p:spPr>
          <a:xfrm>
            <a:off x="2733675" y="35433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2-cell-2-pill"/>
          <p:cNvSpPr/>
          <p:nvPr/>
        </p:nvSpPr>
        <p:spPr>
          <a:xfrm>
            <a:off x="3362325" y="361950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2-cell-2"/>
          <p:cNvSpPr txBox="1"/>
          <p:nvPr/>
        </p:nvSpPr>
        <p:spPr>
          <a:xfrm>
            <a:off x="3362325" y="3619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3" name="table-row-2-cell-3-pill"/>
          <p:cNvSpPr/>
          <p:nvPr/>
        </p:nvSpPr>
        <p:spPr>
          <a:xfrm>
            <a:off x="4857750" y="36195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2-cell-3"/>
          <p:cNvSpPr txBox="1"/>
          <p:nvPr/>
        </p:nvSpPr>
        <p:spPr>
          <a:xfrm>
            <a:off x="4857750" y="3619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55" name="table-row-2-cell-4"/>
          <p:cNvSpPr/>
          <p:nvPr/>
        </p:nvSpPr>
        <p:spPr>
          <a:xfrm>
            <a:off x="6448425" y="37147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2-cell-5-pill"/>
          <p:cNvSpPr/>
          <p:nvPr/>
        </p:nvSpPr>
        <p:spPr>
          <a:xfrm>
            <a:off x="7848600" y="361950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2-cell-5"/>
          <p:cNvSpPr txBox="1"/>
          <p:nvPr/>
        </p:nvSpPr>
        <p:spPr>
          <a:xfrm>
            <a:off x="7848600" y="3619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58" name="table-row-2-cell-6"/>
          <p:cNvSpPr/>
          <p:nvPr/>
        </p:nvSpPr>
        <p:spPr>
          <a:xfrm>
            <a:off x="9439275" y="37147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2-cell-7"/>
          <p:cNvSpPr/>
          <p:nvPr/>
        </p:nvSpPr>
        <p:spPr>
          <a:xfrm>
            <a:off x="10934700" y="37147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ow-3-bg"/>
          <p:cNvSpPr/>
          <p:nvPr/>
        </p:nvSpPr>
        <p:spPr>
          <a:xfrm>
            <a:off x="457200" y="39433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ble-row-3-label"/>
          <p:cNvSpPr txBox="1"/>
          <p:nvPr/>
        </p:nvSpPr>
        <p:spPr>
          <a:xfrm>
            <a:off x="590550" y="39433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Execute delivery</a:t>
            </a:r>
          </a:p>
        </p:txBody>
      </p:sp>
      <p:sp>
        <p:nvSpPr>
          <p:cNvPr id="62" name="row-3-act-border"/>
          <p:cNvSpPr/>
          <p:nvPr/>
        </p:nvSpPr>
        <p:spPr>
          <a:xfrm>
            <a:off x="2733675" y="39433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3-cell-2-pill"/>
          <p:cNvSpPr/>
          <p:nvPr/>
        </p:nvSpPr>
        <p:spPr>
          <a:xfrm>
            <a:off x="3362325" y="40195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3-cell-2"/>
          <p:cNvSpPr txBox="1"/>
          <p:nvPr/>
        </p:nvSpPr>
        <p:spPr>
          <a:xfrm>
            <a:off x="3362325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65" name="table-row-3-cell-3-pill"/>
          <p:cNvSpPr/>
          <p:nvPr/>
        </p:nvSpPr>
        <p:spPr>
          <a:xfrm>
            <a:off x="4857750" y="401955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3-cell-3"/>
          <p:cNvSpPr txBox="1"/>
          <p:nvPr/>
        </p:nvSpPr>
        <p:spPr>
          <a:xfrm>
            <a:off x="4857750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67" name="table-row-3-cell-4-pill"/>
          <p:cNvSpPr/>
          <p:nvPr/>
        </p:nvSpPr>
        <p:spPr>
          <a:xfrm>
            <a:off x="6353175" y="401955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3-cell-4"/>
          <p:cNvSpPr txBox="1"/>
          <p:nvPr/>
        </p:nvSpPr>
        <p:spPr>
          <a:xfrm>
            <a:off x="6353175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69" name="table-row-3-cell-5-pill"/>
          <p:cNvSpPr/>
          <p:nvPr/>
        </p:nvSpPr>
        <p:spPr>
          <a:xfrm>
            <a:off x="7848600" y="40195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3-cell-5"/>
          <p:cNvSpPr txBox="1"/>
          <p:nvPr/>
        </p:nvSpPr>
        <p:spPr>
          <a:xfrm>
            <a:off x="7848600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71" name="table-row-3-cell-6-pill"/>
          <p:cNvSpPr/>
          <p:nvPr/>
        </p:nvSpPr>
        <p:spPr>
          <a:xfrm>
            <a:off x="9344025" y="401955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3-cell-6"/>
          <p:cNvSpPr txBox="1"/>
          <p:nvPr/>
        </p:nvSpPr>
        <p:spPr>
          <a:xfrm>
            <a:off x="9344025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73" name="table-row-3-cell-7"/>
          <p:cNvSpPr/>
          <p:nvPr/>
        </p:nvSpPr>
        <p:spPr>
          <a:xfrm>
            <a:off x="10934700" y="411480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ow-4-bg"/>
          <p:cNvSpPr/>
          <p:nvPr/>
        </p:nvSpPr>
        <p:spPr>
          <a:xfrm>
            <a:off x="457200" y="43434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4-label"/>
          <p:cNvSpPr txBox="1"/>
          <p:nvPr/>
        </p:nvSpPr>
        <p:spPr>
          <a:xfrm>
            <a:off x="590550" y="43434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Manage vendors</a:t>
            </a:r>
          </a:p>
        </p:txBody>
      </p:sp>
      <p:sp>
        <p:nvSpPr>
          <p:cNvPr id="76" name="row-4-act-border"/>
          <p:cNvSpPr/>
          <p:nvPr/>
        </p:nvSpPr>
        <p:spPr>
          <a:xfrm>
            <a:off x="2733675" y="43434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4-cell-2"/>
          <p:cNvSpPr/>
          <p:nvPr/>
        </p:nvSpPr>
        <p:spPr>
          <a:xfrm>
            <a:off x="3457575" y="45148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4-cell-3-pill"/>
          <p:cNvSpPr/>
          <p:nvPr/>
        </p:nvSpPr>
        <p:spPr>
          <a:xfrm>
            <a:off x="4857750" y="441960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4-cell-3"/>
          <p:cNvSpPr txBox="1"/>
          <p:nvPr/>
        </p:nvSpPr>
        <p:spPr>
          <a:xfrm>
            <a:off x="4857750" y="4419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80" name="table-row-4-cell-4-pill"/>
          <p:cNvSpPr/>
          <p:nvPr/>
        </p:nvSpPr>
        <p:spPr>
          <a:xfrm>
            <a:off x="6353175" y="441960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4-cell-4"/>
          <p:cNvSpPr txBox="1"/>
          <p:nvPr/>
        </p:nvSpPr>
        <p:spPr>
          <a:xfrm>
            <a:off x="6353175" y="4419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82" name="table-row-4-cell-5-pill"/>
          <p:cNvSpPr/>
          <p:nvPr/>
        </p:nvSpPr>
        <p:spPr>
          <a:xfrm>
            <a:off x="7848600" y="44196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4-cell-5"/>
          <p:cNvSpPr txBox="1"/>
          <p:nvPr/>
        </p:nvSpPr>
        <p:spPr>
          <a:xfrm>
            <a:off x="7848600" y="4419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84" name="table-row-4-cell-6-pill"/>
          <p:cNvSpPr/>
          <p:nvPr/>
        </p:nvSpPr>
        <p:spPr>
          <a:xfrm>
            <a:off x="9344025" y="44196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4-cell-6"/>
          <p:cNvSpPr txBox="1"/>
          <p:nvPr/>
        </p:nvSpPr>
        <p:spPr>
          <a:xfrm>
            <a:off x="9344025" y="4419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86" name="table-row-4-cell-7"/>
          <p:cNvSpPr/>
          <p:nvPr/>
        </p:nvSpPr>
        <p:spPr>
          <a:xfrm>
            <a:off x="10934700" y="45148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ow-5-bg"/>
          <p:cNvSpPr/>
          <p:nvPr/>
        </p:nvSpPr>
        <p:spPr>
          <a:xfrm>
            <a:off x="457200" y="47434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5-label"/>
          <p:cNvSpPr txBox="1"/>
          <p:nvPr/>
        </p:nvSpPr>
        <p:spPr>
          <a:xfrm>
            <a:off x="590550" y="4743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Report progress</a:t>
            </a:r>
          </a:p>
        </p:txBody>
      </p:sp>
      <p:sp>
        <p:nvSpPr>
          <p:cNvPr id="89" name="row-5-act-border"/>
          <p:cNvSpPr/>
          <p:nvPr/>
        </p:nvSpPr>
        <p:spPr>
          <a:xfrm>
            <a:off x="2733675" y="47434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5-cell-2-pill"/>
          <p:cNvSpPr/>
          <p:nvPr/>
        </p:nvSpPr>
        <p:spPr>
          <a:xfrm>
            <a:off x="3362325" y="48196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5-cell-2"/>
          <p:cNvSpPr txBox="1"/>
          <p:nvPr/>
        </p:nvSpPr>
        <p:spPr>
          <a:xfrm>
            <a:off x="3362325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92" name="table-row-5-cell-3-pill"/>
          <p:cNvSpPr/>
          <p:nvPr/>
        </p:nvSpPr>
        <p:spPr>
          <a:xfrm>
            <a:off x="4857750" y="481965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5-cell-3"/>
          <p:cNvSpPr txBox="1"/>
          <p:nvPr/>
        </p:nvSpPr>
        <p:spPr>
          <a:xfrm>
            <a:off x="4857750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94" name="table-row-5-cell-4-pill"/>
          <p:cNvSpPr/>
          <p:nvPr/>
        </p:nvSpPr>
        <p:spPr>
          <a:xfrm>
            <a:off x="6353175" y="481965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5-cell-4"/>
          <p:cNvSpPr txBox="1"/>
          <p:nvPr/>
        </p:nvSpPr>
        <p:spPr>
          <a:xfrm>
            <a:off x="6353175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96" name="table-row-5-cell-5-pill"/>
          <p:cNvSpPr/>
          <p:nvPr/>
        </p:nvSpPr>
        <p:spPr>
          <a:xfrm>
            <a:off x="7848600" y="48196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table-row-5-cell-5"/>
          <p:cNvSpPr txBox="1"/>
          <p:nvPr/>
        </p:nvSpPr>
        <p:spPr>
          <a:xfrm>
            <a:off x="7848600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98" name="table-row-5-cell-6-pill"/>
          <p:cNvSpPr/>
          <p:nvPr/>
        </p:nvSpPr>
        <p:spPr>
          <a:xfrm>
            <a:off x="9344025" y="48196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row-5-cell-6"/>
          <p:cNvSpPr txBox="1"/>
          <p:nvPr/>
        </p:nvSpPr>
        <p:spPr>
          <a:xfrm>
            <a:off x="9344025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100" name="table-row-5-cell-7-pill"/>
          <p:cNvSpPr/>
          <p:nvPr/>
        </p:nvSpPr>
        <p:spPr>
          <a:xfrm>
            <a:off x="10839450" y="481965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5-cell-7"/>
          <p:cNvSpPr txBox="1"/>
          <p:nvPr/>
        </p:nvSpPr>
        <p:spPr>
          <a:xfrm>
            <a:off x="10839450" y="4819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102" name="row-6-bg"/>
          <p:cNvSpPr/>
          <p:nvPr/>
        </p:nvSpPr>
        <p:spPr>
          <a:xfrm>
            <a:off x="457200" y="51435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able-row-6-label"/>
          <p:cNvSpPr txBox="1"/>
          <p:nvPr/>
        </p:nvSpPr>
        <p:spPr>
          <a:xfrm>
            <a:off x="590550" y="51435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Resolve issues</a:t>
            </a:r>
          </a:p>
        </p:txBody>
      </p:sp>
      <p:sp>
        <p:nvSpPr>
          <p:cNvPr id="104" name="row-6-act-border"/>
          <p:cNvSpPr/>
          <p:nvPr/>
        </p:nvSpPr>
        <p:spPr>
          <a:xfrm>
            <a:off x="2733675" y="51435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6-cell-2-pill"/>
          <p:cNvSpPr/>
          <p:nvPr/>
        </p:nvSpPr>
        <p:spPr>
          <a:xfrm>
            <a:off x="3362325" y="52197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6-cell-2"/>
          <p:cNvSpPr txBox="1"/>
          <p:nvPr/>
        </p:nvSpPr>
        <p:spPr>
          <a:xfrm>
            <a:off x="3362325" y="52197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07" name="table-row-6-cell-3-pill"/>
          <p:cNvSpPr/>
          <p:nvPr/>
        </p:nvSpPr>
        <p:spPr>
          <a:xfrm>
            <a:off x="4857750" y="521970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table-row-6-cell-3"/>
          <p:cNvSpPr txBox="1"/>
          <p:nvPr/>
        </p:nvSpPr>
        <p:spPr>
          <a:xfrm>
            <a:off x="4857750" y="52197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09" name="table-row-6-cell-4-pill"/>
          <p:cNvSpPr/>
          <p:nvPr/>
        </p:nvSpPr>
        <p:spPr>
          <a:xfrm>
            <a:off x="6353175" y="521970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table-row-6-cell-4"/>
          <p:cNvSpPr txBox="1"/>
          <p:nvPr/>
        </p:nvSpPr>
        <p:spPr>
          <a:xfrm>
            <a:off x="6353175" y="52197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111" name="table-row-6-cell-5-pill"/>
          <p:cNvSpPr/>
          <p:nvPr/>
        </p:nvSpPr>
        <p:spPr>
          <a:xfrm>
            <a:off x="7848600" y="52197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table-row-6-cell-5"/>
          <p:cNvSpPr txBox="1"/>
          <p:nvPr/>
        </p:nvSpPr>
        <p:spPr>
          <a:xfrm>
            <a:off x="7848600" y="52197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13" name="table-row-6-cell-6-pill"/>
          <p:cNvSpPr/>
          <p:nvPr/>
        </p:nvSpPr>
        <p:spPr>
          <a:xfrm>
            <a:off x="9344025" y="521970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able-row-6-cell-6"/>
          <p:cNvSpPr txBox="1"/>
          <p:nvPr/>
        </p:nvSpPr>
        <p:spPr>
          <a:xfrm>
            <a:off x="9344025" y="52197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115" name="table-row-6-cell-7"/>
          <p:cNvSpPr/>
          <p:nvPr/>
        </p:nvSpPr>
        <p:spPr>
          <a:xfrm>
            <a:off x="10934700" y="53149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row-7-bg"/>
          <p:cNvSpPr/>
          <p:nvPr/>
        </p:nvSpPr>
        <p:spPr>
          <a:xfrm>
            <a:off x="457200" y="5543550"/>
            <a:ext cx="112776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able-row-7-label"/>
          <p:cNvSpPr txBox="1"/>
          <p:nvPr/>
        </p:nvSpPr>
        <p:spPr>
          <a:xfrm>
            <a:off x="590550" y="55435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Sign-off</a:t>
            </a:r>
          </a:p>
        </p:txBody>
      </p:sp>
      <p:sp>
        <p:nvSpPr>
          <p:cNvPr id="118" name="row-7-act-border"/>
          <p:cNvSpPr/>
          <p:nvPr/>
        </p:nvSpPr>
        <p:spPr>
          <a:xfrm>
            <a:off x="2733675" y="55435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table-row-7-cell-2-pill"/>
          <p:cNvSpPr/>
          <p:nvPr/>
        </p:nvSpPr>
        <p:spPr>
          <a:xfrm>
            <a:off x="3362325" y="561975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table-row-7-cell-2"/>
          <p:cNvSpPr txBox="1"/>
          <p:nvPr/>
        </p:nvSpPr>
        <p:spPr>
          <a:xfrm>
            <a:off x="3362325" y="56197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21" name="table-row-7-cell-3-pill"/>
          <p:cNvSpPr/>
          <p:nvPr/>
        </p:nvSpPr>
        <p:spPr>
          <a:xfrm>
            <a:off x="4857750" y="561975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table-row-7-cell-3"/>
          <p:cNvSpPr txBox="1"/>
          <p:nvPr/>
        </p:nvSpPr>
        <p:spPr>
          <a:xfrm>
            <a:off x="4857750" y="56197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123" name="table-row-7-cell-4-pill"/>
          <p:cNvSpPr/>
          <p:nvPr/>
        </p:nvSpPr>
        <p:spPr>
          <a:xfrm>
            <a:off x="6353175" y="561975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table-row-7-cell-4"/>
          <p:cNvSpPr txBox="1"/>
          <p:nvPr/>
        </p:nvSpPr>
        <p:spPr>
          <a:xfrm>
            <a:off x="6353175" y="56197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25" name="table-row-7-cell-5-pill"/>
          <p:cNvSpPr/>
          <p:nvPr/>
        </p:nvSpPr>
        <p:spPr>
          <a:xfrm>
            <a:off x="7848600" y="561975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table-row-7-cell-5"/>
          <p:cNvSpPr txBox="1"/>
          <p:nvPr/>
        </p:nvSpPr>
        <p:spPr>
          <a:xfrm>
            <a:off x="7848600" y="56197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27" name="table-row-7-cell-6"/>
          <p:cNvSpPr/>
          <p:nvPr/>
        </p:nvSpPr>
        <p:spPr>
          <a:xfrm>
            <a:off x="9439275" y="571500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table-row-7-cell-7"/>
          <p:cNvSpPr/>
          <p:nvPr/>
        </p:nvSpPr>
        <p:spPr>
          <a:xfrm>
            <a:off x="10934700" y="571500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ow-8-bg"/>
          <p:cNvSpPr/>
          <p:nvPr/>
        </p:nvSpPr>
        <p:spPr>
          <a:xfrm>
            <a:off x="457200" y="5943600"/>
            <a:ext cx="112776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table-row-8-label"/>
          <p:cNvSpPr txBox="1"/>
          <p:nvPr/>
        </p:nvSpPr>
        <p:spPr>
          <a:xfrm>
            <a:off x="590550" y="59436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Communicate externally</a:t>
            </a:r>
          </a:p>
        </p:txBody>
      </p:sp>
      <p:sp>
        <p:nvSpPr>
          <p:cNvPr id="131" name="row-8-act-border"/>
          <p:cNvSpPr/>
          <p:nvPr/>
        </p:nvSpPr>
        <p:spPr>
          <a:xfrm>
            <a:off x="2733675" y="59436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table-row-8-cell-2-pill"/>
          <p:cNvSpPr/>
          <p:nvPr/>
        </p:nvSpPr>
        <p:spPr>
          <a:xfrm>
            <a:off x="3362325" y="6019800"/>
            <a:ext cx="247650" cy="2476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table-row-8-cell-2"/>
          <p:cNvSpPr txBox="1"/>
          <p:nvPr/>
        </p:nvSpPr>
        <p:spPr>
          <a:xfrm>
            <a:off x="3362325" y="60198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34" name="table-row-8-cell-3-pill"/>
          <p:cNvSpPr/>
          <p:nvPr/>
        </p:nvSpPr>
        <p:spPr>
          <a:xfrm>
            <a:off x="4857750" y="6019800"/>
            <a:ext cx="247650" cy="2476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5" name="table-row-8-cell-3"/>
          <p:cNvSpPr txBox="1"/>
          <p:nvPr/>
        </p:nvSpPr>
        <p:spPr>
          <a:xfrm>
            <a:off x="4857750" y="60198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00"/>
                </a:solidFill>
                <a:latin typeface="Inter"/>
              </a:rPr>
              <a:t>C</a:t>
            </a:r>
          </a:p>
        </p:txBody>
      </p:sp>
      <p:sp>
        <p:nvSpPr>
          <p:cNvPr id="136" name="table-row-8-cell-4-pill"/>
          <p:cNvSpPr/>
          <p:nvPr/>
        </p:nvSpPr>
        <p:spPr>
          <a:xfrm>
            <a:off x="6353175" y="6019800"/>
            <a:ext cx="247650" cy="247650"/>
          </a:xfrm>
          <a:prstGeom prst="ellipse">
            <a:avLst/>
          </a:prstGeom>
          <a:solidFill>
            <a:srgbClr val="FBF8FE"/>
          </a:solidFill>
          <a:ln w="1270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table-row-8-cell-4"/>
          <p:cNvSpPr txBox="1"/>
          <p:nvPr/>
        </p:nvSpPr>
        <p:spPr>
          <a:xfrm>
            <a:off x="6353175" y="60198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</a:t>
            </a:r>
          </a:p>
        </p:txBody>
      </p:sp>
      <p:sp>
        <p:nvSpPr>
          <p:cNvPr id="138" name="table-row-8-cell-5"/>
          <p:cNvSpPr/>
          <p:nvPr/>
        </p:nvSpPr>
        <p:spPr>
          <a:xfrm>
            <a:off x="7943850" y="61150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table-row-8-cell-6"/>
          <p:cNvSpPr/>
          <p:nvPr/>
        </p:nvSpPr>
        <p:spPr>
          <a:xfrm>
            <a:off x="9439275" y="6115050"/>
            <a:ext cx="5715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table-row-8-cell-7-pill"/>
          <p:cNvSpPr/>
          <p:nvPr/>
        </p:nvSpPr>
        <p:spPr>
          <a:xfrm>
            <a:off x="10839450" y="6019800"/>
            <a:ext cx="247650" cy="2476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table-row-8-cell-7"/>
          <p:cNvSpPr txBox="1"/>
          <p:nvPr/>
        </p:nvSpPr>
        <p:spPr>
          <a:xfrm>
            <a:off x="10839450" y="60198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1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