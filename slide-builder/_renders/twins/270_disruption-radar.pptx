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Disruption radar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where exposure is rising fastest over the next three years.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Six disruption vectors scored 0–100; competitive and technological axes carry the highest current and forecast exposure.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current-swatch"/>
          <p:cNvSpPr/>
          <p:nvPr/>
        </p:nvSpPr>
        <p:spPr>
          <a:xfrm>
            <a:off x="8191500" y="225742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current"/>
          <p:cNvSpPr txBox="1"/>
          <p:nvPr/>
        </p:nvSpPr>
        <p:spPr>
          <a:xfrm>
            <a:off x="8343900" y="2209800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Current Exposure</a:t>
            </a:r>
          </a:p>
        </p:txBody>
      </p:sp>
      <p:sp>
        <p:nvSpPr>
          <p:cNvPr id="7" name="legend-forecast-swatch"/>
          <p:cNvSpPr/>
          <p:nvPr/>
        </p:nvSpPr>
        <p:spPr>
          <a:xfrm>
            <a:off x="9715500" y="2257425"/>
            <a:ext cx="95250" cy="95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forecast"/>
          <p:cNvSpPr txBox="1"/>
          <p:nvPr/>
        </p:nvSpPr>
        <p:spPr>
          <a:xfrm>
            <a:off x="9867900" y="2209800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3-Year Forecast</a:t>
            </a:r>
          </a:p>
        </p:txBody>
      </p:sp>
      <p:sp>
        <p:nvSpPr>
          <p:cNvPr id="9" name="chart-canvas"/>
          <p:cNvSpPr/>
          <p:nvPr/>
        </p:nvSpPr>
        <p:spPr>
          <a:xfrm>
            <a:off x="457200" y="2552700"/>
            <a:ext cx="6534150" cy="34956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cxnSp>
        <p:nvCxnSpPr>
          <p:cNvPr id="10" name="Connector 9"/>
          <p:cNvCxnSpPr/>
          <p:nvPr/>
        </p:nvCxnSpPr>
        <p:spPr>
          <a:xfrm>
            <a:off x="3724275" y="3895725"/>
            <a:ext cx="263964" cy="152400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988239" y="4048125"/>
            <a:ext cx="0" cy="304800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724275" y="4352925"/>
            <a:ext cx="263964" cy="152400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3460310" y="4352925"/>
            <a:ext cx="263965" cy="152400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460310" y="4048125"/>
            <a:ext cx="0" cy="304800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60310" y="3895725"/>
            <a:ext cx="263965" cy="152400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24275" y="3581400"/>
            <a:ext cx="536177" cy="309562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260452" y="3890962"/>
            <a:ext cx="0" cy="619125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724275" y="4510087"/>
            <a:ext cx="536177" cy="309563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3188097" y="4510087"/>
            <a:ext cx="536178" cy="309563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188097" y="3890962"/>
            <a:ext cx="0" cy="619125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188097" y="3581400"/>
            <a:ext cx="536178" cy="309562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24275" y="3276600"/>
            <a:ext cx="800142" cy="461962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524417" y="3738562"/>
            <a:ext cx="0" cy="923925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724275" y="4662487"/>
            <a:ext cx="800142" cy="461963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924132" y="4662487"/>
            <a:ext cx="800143" cy="461963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924132" y="3738562"/>
            <a:ext cx="0" cy="923925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924132" y="3276600"/>
            <a:ext cx="800143" cy="461962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24275" y="2962275"/>
            <a:ext cx="1072355" cy="619125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4796630" y="3581400"/>
            <a:ext cx="0" cy="1238250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724275" y="4819650"/>
            <a:ext cx="1072355" cy="619125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651919" y="4819650"/>
            <a:ext cx="1072356" cy="619125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651919" y="3581400"/>
            <a:ext cx="0" cy="1238250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651919" y="2962275"/>
            <a:ext cx="1072356" cy="619125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3724275" y="2962275"/>
            <a:ext cx="0" cy="1238250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724275" y="3581400"/>
            <a:ext cx="1072355" cy="619125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724275" y="4200525"/>
            <a:ext cx="1072355" cy="619125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3724275" y="4200525"/>
            <a:ext cx="0" cy="1238250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2651919" y="4200525"/>
            <a:ext cx="1072356" cy="619125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2651919" y="3581400"/>
            <a:ext cx="1072356" cy="619125"/>
          </a:xfrm>
          <a:prstGeom prst="line">
            <a:avLst/>
          </a:prstGeom>
          <a:ln w="6350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724275" y="3185160"/>
            <a:ext cx="729202" cy="59436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453477" y="3779520"/>
            <a:ext cx="182300" cy="947261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724275" y="4726781"/>
            <a:ext cx="911502" cy="352901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3134479" y="4541043"/>
            <a:ext cx="589796" cy="538639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3059414" y="3816667"/>
            <a:ext cx="75065" cy="724376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059414" y="3185160"/>
            <a:ext cx="664861" cy="631507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dot-forecast-0"/>
          <p:cNvSpPr/>
          <p:nvPr/>
        </p:nvSpPr>
        <p:spPr>
          <a:xfrm>
            <a:off x="3686175" y="3147060"/>
            <a:ext cx="76200" cy="76200"/>
          </a:xfrm>
          <a:prstGeom prst="ellips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dot-forecast-1"/>
          <p:cNvSpPr/>
          <p:nvPr/>
        </p:nvSpPr>
        <p:spPr>
          <a:xfrm>
            <a:off x="4415377" y="3741420"/>
            <a:ext cx="76200" cy="76200"/>
          </a:xfrm>
          <a:prstGeom prst="ellips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dot-forecast-2"/>
          <p:cNvSpPr/>
          <p:nvPr/>
        </p:nvSpPr>
        <p:spPr>
          <a:xfrm>
            <a:off x="4597677" y="4688681"/>
            <a:ext cx="76200" cy="76200"/>
          </a:xfrm>
          <a:prstGeom prst="ellips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dot-forecast-3"/>
          <p:cNvSpPr/>
          <p:nvPr/>
        </p:nvSpPr>
        <p:spPr>
          <a:xfrm>
            <a:off x="3686175" y="5041582"/>
            <a:ext cx="76200" cy="76200"/>
          </a:xfrm>
          <a:prstGeom prst="ellips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dot-forecast-4"/>
          <p:cNvSpPr/>
          <p:nvPr/>
        </p:nvSpPr>
        <p:spPr>
          <a:xfrm>
            <a:off x="3096379" y="4502943"/>
            <a:ext cx="76200" cy="76200"/>
          </a:xfrm>
          <a:prstGeom prst="ellips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dot-forecast-5"/>
          <p:cNvSpPr/>
          <p:nvPr/>
        </p:nvSpPr>
        <p:spPr>
          <a:xfrm>
            <a:off x="3021314" y="3778567"/>
            <a:ext cx="76200" cy="76200"/>
          </a:xfrm>
          <a:prstGeom prst="ellips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cxnSp>
        <p:nvCxnSpPr>
          <p:cNvPr id="52" name="Connector 51"/>
          <p:cNvCxnSpPr/>
          <p:nvPr/>
        </p:nvCxnSpPr>
        <p:spPr>
          <a:xfrm>
            <a:off x="3724275" y="3395662"/>
            <a:ext cx="482560" cy="526256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06835" y="3921918"/>
            <a:ext cx="289536" cy="724377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3724275" y="4646295"/>
            <a:ext cx="772096" cy="272415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3284609" y="4454366"/>
            <a:ext cx="439666" cy="464344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284609" y="3965257"/>
            <a:ext cx="32170" cy="489109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316779" y="3395662"/>
            <a:ext cx="407496" cy="569595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ot-current-0"/>
          <p:cNvSpPr/>
          <p:nvPr/>
        </p:nvSpPr>
        <p:spPr>
          <a:xfrm>
            <a:off x="3676650" y="3348037"/>
            <a:ext cx="95250" cy="952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dot-current-1"/>
          <p:cNvSpPr/>
          <p:nvPr/>
        </p:nvSpPr>
        <p:spPr>
          <a:xfrm>
            <a:off x="4159210" y="3874293"/>
            <a:ext cx="95250" cy="952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dot-current-2"/>
          <p:cNvSpPr/>
          <p:nvPr/>
        </p:nvSpPr>
        <p:spPr>
          <a:xfrm>
            <a:off x="4448746" y="4598670"/>
            <a:ext cx="95250" cy="952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dot-current-3"/>
          <p:cNvSpPr/>
          <p:nvPr/>
        </p:nvSpPr>
        <p:spPr>
          <a:xfrm>
            <a:off x="3676650" y="4871085"/>
            <a:ext cx="95250" cy="952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dot-current-4"/>
          <p:cNvSpPr/>
          <p:nvPr/>
        </p:nvSpPr>
        <p:spPr>
          <a:xfrm>
            <a:off x="3236984" y="4406741"/>
            <a:ext cx="95250" cy="952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dot-current-5"/>
          <p:cNvSpPr/>
          <p:nvPr/>
        </p:nvSpPr>
        <p:spPr>
          <a:xfrm>
            <a:off x="3269154" y="3917632"/>
            <a:ext cx="95250" cy="952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label-0"/>
          <p:cNvSpPr txBox="1"/>
          <p:nvPr/>
        </p:nvSpPr>
        <p:spPr>
          <a:xfrm>
            <a:off x="3248025" y="2714625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Technological</a:t>
            </a:r>
          </a:p>
        </p:txBody>
      </p:sp>
      <p:sp>
        <p:nvSpPr>
          <p:cNvPr id="65" name="label-1"/>
          <p:cNvSpPr txBox="1"/>
          <p:nvPr/>
        </p:nvSpPr>
        <p:spPr>
          <a:xfrm>
            <a:off x="4468861" y="3419475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Regulatory</a:t>
            </a:r>
          </a:p>
        </p:txBody>
      </p:sp>
      <p:sp>
        <p:nvSpPr>
          <p:cNvPr id="66" name="label-2"/>
          <p:cNvSpPr txBox="1"/>
          <p:nvPr/>
        </p:nvSpPr>
        <p:spPr>
          <a:xfrm>
            <a:off x="4468861" y="4829175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Competitive</a:t>
            </a:r>
          </a:p>
        </p:txBody>
      </p:sp>
      <p:sp>
        <p:nvSpPr>
          <p:cNvPr id="67" name="label-3"/>
          <p:cNvSpPr txBox="1"/>
          <p:nvPr/>
        </p:nvSpPr>
        <p:spPr>
          <a:xfrm>
            <a:off x="3248025" y="5534025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Customer</a:t>
            </a:r>
          </a:p>
        </p:txBody>
      </p:sp>
      <p:sp>
        <p:nvSpPr>
          <p:cNvPr id="68" name="label-4"/>
          <p:cNvSpPr txBox="1"/>
          <p:nvPr/>
        </p:nvSpPr>
        <p:spPr>
          <a:xfrm>
            <a:off x="2027188" y="4829175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Operational</a:t>
            </a:r>
          </a:p>
        </p:txBody>
      </p:sp>
      <p:sp>
        <p:nvSpPr>
          <p:cNvPr id="69" name="label-5"/>
          <p:cNvSpPr txBox="1"/>
          <p:nvPr/>
        </p:nvSpPr>
        <p:spPr>
          <a:xfrm>
            <a:off x="2027188" y="3419475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Economic</a:t>
            </a:r>
          </a:p>
        </p:txBody>
      </p:sp>
      <p:sp>
        <p:nvSpPr>
          <p:cNvPr id="70" name="risk-panel"/>
          <p:cNvSpPr/>
          <p:nvPr/>
        </p:nvSpPr>
        <p:spPr>
          <a:xfrm>
            <a:off x="7162800" y="2552700"/>
            <a:ext cx="4572000" cy="349567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panel-header"/>
          <p:cNvSpPr txBox="1"/>
          <p:nvPr/>
        </p:nvSpPr>
        <p:spPr>
          <a:xfrm>
            <a:off x="7334250" y="2705100"/>
            <a:ext cx="4229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TOP DISRUPTION RISKS</a:t>
            </a:r>
          </a:p>
        </p:txBody>
      </p:sp>
      <p:sp>
        <p:nvSpPr>
          <p:cNvPr id="72" name="risk-card-1"/>
          <p:cNvSpPr/>
          <p:nvPr/>
        </p:nvSpPr>
        <p:spPr>
          <a:xfrm>
            <a:off x="7296150" y="2990850"/>
            <a:ext cx="4305300" cy="9048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risk-1-stripe"/>
          <p:cNvSpPr/>
          <p:nvPr/>
        </p:nvSpPr>
        <p:spPr>
          <a:xfrm>
            <a:off x="7296150" y="2990850"/>
            <a:ext cx="38100" cy="904875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risk-1-axis"/>
          <p:cNvSpPr txBox="1"/>
          <p:nvPr/>
        </p:nvSpPr>
        <p:spPr>
          <a:xfrm>
            <a:off x="7391400" y="3086100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COMPETITIVE</a:t>
            </a:r>
          </a:p>
        </p:txBody>
      </p:sp>
      <p:sp>
        <p:nvSpPr>
          <p:cNvPr id="75" name="risk-1-score"/>
          <p:cNvSpPr txBox="1"/>
          <p:nvPr/>
        </p:nvSpPr>
        <p:spPr>
          <a:xfrm>
            <a:off x="10782300" y="30861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72 → 85</a:t>
            </a:r>
          </a:p>
        </p:txBody>
      </p:sp>
      <p:sp>
        <p:nvSpPr>
          <p:cNvPr id="76" name="risk-1-desc"/>
          <p:cNvSpPr txBox="1"/>
          <p:nvPr/>
        </p:nvSpPr>
        <p:spPr>
          <a:xfrm>
            <a:off x="7391400" y="3276600"/>
            <a:ext cx="4095750" cy="561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AI-native entrants gaining SMB share at 3× our speed</a:t>
            </a:r>
          </a:p>
        </p:txBody>
      </p:sp>
      <p:sp>
        <p:nvSpPr>
          <p:cNvPr id="77" name="risk-card-2"/>
          <p:cNvSpPr/>
          <p:nvPr/>
        </p:nvSpPr>
        <p:spPr>
          <a:xfrm>
            <a:off x="7296150" y="3990975"/>
            <a:ext cx="4305300" cy="9048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risk-2-stripe"/>
          <p:cNvSpPr/>
          <p:nvPr/>
        </p:nvSpPr>
        <p:spPr>
          <a:xfrm>
            <a:off x="7296150" y="3990975"/>
            <a:ext cx="38100" cy="9048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risk-2-axis"/>
          <p:cNvSpPr txBox="1"/>
          <p:nvPr/>
        </p:nvSpPr>
        <p:spPr>
          <a:xfrm>
            <a:off x="7391400" y="408622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TECHNOLOGICAL</a:t>
            </a:r>
          </a:p>
        </p:txBody>
      </p:sp>
      <p:sp>
        <p:nvSpPr>
          <p:cNvPr id="80" name="risk-2-score"/>
          <p:cNvSpPr txBox="1"/>
          <p:nvPr/>
        </p:nvSpPr>
        <p:spPr>
          <a:xfrm>
            <a:off x="10782300" y="4086225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65 → 82</a:t>
            </a:r>
          </a:p>
        </p:txBody>
      </p:sp>
      <p:sp>
        <p:nvSpPr>
          <p:cNvPr id="81" name="risk-2-desc"/>
          <p:cNvSpPr txBox="1"/>
          <p:nvPr/>
        </p:nvSpPr>
        <p:spPr>
          <a:xfrm>
            <a:off x="7391400" y="4276725"/>
            <a:ext cx="4095750" cy="561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Generative AI reshapes product delivery economics</a:t>
            </a:r>
          </a:p>
        </p:txBody>
      </p:sp>
      <p:sp>
        <p:nvSpPr>
          <p:cNvPr id="82" name="risk-card-3"/>
          <p:cNvSpPr/>
          <p:nvPr/>
        </p:nvSpPr>
        <p:spPr>
          <a:xfrm>
            <a:off x="7296150" y="4991100"/>
            <a:ext cx="4305300" cy="9048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risk-3-stripe"/>
          <p:cNvSpPr/>
          <p:nvPr/>
        </p:nvSpPr>
        <p:spPr>
          <a:xfrm>
            <a:off x="7296150" y="4991100"/>
            <a:ext cx="38100" cy="9048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risk-3-axis"/>
          <p:cNvSpPr txBox="1"/>
          <p:nvPr/>
        </p:nvSpPr>
        <p:spPr>
          <a:xfrm>
            <a:off x="7391400" y="5086350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REGULATORY</a:t>
            </a:r>
          </a:p>
        </p:txBody>
      </p:sp>
      <p:sp>
        <p:nvSpPr>
          <p:cNvPr id="85" name="risk-3-score"/>
          <p:cNvSpPr txBox="1"/>
          <p:nvPr/>
        </p:nvSpPr>
        <p:spPr>
          <a:xfrm>
            <a:off x="10782300" y="50863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45 → 68</a:t>
            </a:r>
          </a:p>
        </p:txBody>
      </p:sp>
      <p:sp>
        <p:nvSpPr>
          <p:cNvPr id="86" name="risk-3-desc"/>
          <p:cNvSpPr txBox="1"/>
          <p:nvPr/>
        </p:nvSpPr>
        <p:spPr>
          <a:xfrm>
            <a:off x="7391400" y="5276850"/>
            <a:ext cx="4095750" cy="561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EU AI Act compliance requirements from Q4 2026</a:t>
            </a:r>
          </a:p>
        </p:txBody>
      </p:sp>
      <p:sp>
        <p:nvSpPr>
          <p:cNvPr id="8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