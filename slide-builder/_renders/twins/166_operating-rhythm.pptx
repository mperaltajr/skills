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Cadence of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Operating Rhythm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Structured meetings and rituals that keep teams aligned and accountable across every horizon.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9105900" y="2219325"/>
            <a:ext cx="76200" cy="7620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9239250" y="21907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LEADERSHIP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10058400" y="2219325"/>
            <a:ext cx="76200" cy="76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10191750" y="21907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OPERATIONS</a:t>
            </a:r>
          </a:p>
        </p:txBody>
      </p:sp>
      <p:sp>
        <p:nvSpPr>
          <p:cNvPr id="9" name="legend-3-swatch"/>
          <p:cNvSpPr/>
          <p:nvPr/>
        </p:nvSpPr>
        <p:spPr>
          <a:xfrm>
            <a:off x="11010900" y="2219325"/>
            <a:ext cx="76200" cy="76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11144250" y="21907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PLANNING</a:t>
            </a:r>
          </a:p>
        </p:txBody>
      </p:sp>
      <p:sp>
        <p:nvSpPr>
          <p:cNvPr id="11" name="col-1-header-bg"/>
          <p:cNvSpPr/>
          <p:nvPr/>
        </p:nvSpPr>
        <p:spPr>
          <a:xfrm>
            <a:off x="457200" y="2400300"/>
            <a:ext cx="27336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l-1-accent"/>
          <p:cNvSpPr/>
          <p:nvPr/>
        </p:nvSpPr>
        <p:spPr>
          <a:xfrm>
            <a:off x="457200" y="2400300"/>
            <a:ext cx="27336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1-name"/>
          <p:cNvSpPr txBox="1"/>
          <p:nvPr/>
        </p:nvSpPr>
        <p:spPr>
          <a:xfrm>
            <a:off x="552450" y="2457450"/>
            <a:ext cx="25431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DAILY</a:t>
            </a:r>
          </a:p>
        </p:txBody>
      </p:sp>
      <p:sp>
        <p:nvSpPr>
          <p:cNvPr id="14" name="col-1-desc"/>
          <p:cNvSpPr txBox="1"/>
          <p:nvPr/>
        </p:nvSpPr>
        <p:spPr>
          <a:xfrm>
            <a:off x="552450" y="2609850"/>
            <a:ext cx="2543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CCCDD"/>
                </a:solidFill>
                <a:latin typeface="Inter"/>
              </a:rPr>
              <a:t>Every business day</a:t>
            </a:r>
          </a:p>
        </p:txBody>
      </p:sp>
      <p:sp>
        <p:nvSpPr>
          <p:cNvPr id="15" name="meeting-1-bg"/>
          <p:cNvSpPr/>
          <p:nvPr/>
        </p:nvSpPr>
        <p:spPr>
          <a:xfrm>
            <a:off x="457200" y="28194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meeting-1-border"/>
          <p:cNvSpPr/>
          <p:nvPr/>
        </p:nvSpPr>
        <p:spPr>
          <a:xfrm>
            <a:off x="457200" y="28194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meeting-1-name"/>
          <p:cNvSpPr txBox="1"/>
          <p:nvPr/>
        </p:nvSpPr>
        <p:spPr>
          <a:xfrm>
            <a:off x="552450" y="28765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Stand-up Sync</a:t>
            </a:r>
          </a:p>
        </p:txBody>
      </p:sp>
      <p:sp>
        <p:nvSpPr>
          <p:cNvPr id="18" name="meeting-1-pill-bg"/>
          <p:cNvSpPr/>
          <p:nvPr/>
        </p:nvSpPr>
        <p:spPr>
          <a:xfrm>
            <a:off x="2676525" y="28765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meeting-1-duration"/>
          <p:cNvSpPr txBox="1"/>
          <p:nvPr/>
        </p:nvSpPr>
        <p:spPr>
          <a:xfrm>
            <a:off x="2676525" y="28765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15 min</a:t>
            </a:r>
          </a:p>
        </p:txBody>
      </p:sp>
      <p:sp>
        <p:nvSpPr>
          <p:cNvPr id="20" name="meeting-1-participants"/>
          <p:cNvSpPr txBox="1"/>
          <p:nvPr/>
        </p:nvSpPr>
        <p:spPr>
          <a:xfrm>
            <a:off x="552450" y="30480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Delivery team · Scrum Master</a:t>
            </a:r>
          </a:p>
        </p:txBody>
      </p:sp>
      <p:sp>
        <p:nvSpPr>
          <p:cNvPr id="21" name="meeting-2-bg"/>
          <p:cNvSpPr/>
          <p:nvPr/>
        </p:nvSpPr>
        <p:spPr>
          <a:xfrm>
            <a:off x="457200" y="33528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meeting-2-border"/>
          <p:cNvSpPr/>
          <p:nvPr/>
        </p:nvSpPr>
        <p:spPr>
          <a:xfrm>
            <a:off x="457200" y="33528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meeting-2-name"/>
          <p:cNvSpPr txBox="1"/>
          <p:nvPr/>
        </p:nvSpPr>
        <p:spPr>
          <a:xfrm>
            <a:off x="552450" y="34099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Blocker Triage</a:t>
            </a:r>
          </a:p>
        </p:txBody>
      </p:sp>
      <p:sp>
        <p:nvSpPr>
          <p:cNvPr id="24" name="meeting-2-pill-bg"/>
          <p:cNvSpPr/>
          <p:nvPr/>
        </p:nvSpPr>
        <p:spPr>
          <a:xfrm>
            <a:off x="2676525" y="34099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meeting-2-duration"/>
          <p:cNvSpPr txBox="1"/>
          <p:nvPr/>
        </p:nvSpPr>
        <p:spPr>
          <a:xfrm>
            <a:off x="2676525" y="3409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10 min</a:t>
            </a:r>
          </a:p>
        </p:txBody>
      </p:sp>
      <p:sp>
        <p:nvSpPr>
          <p:cNvPr id="26" name="meeting-2-participants"/>
          <p:cNvSpPr txBox="1"/>
          <p:nvPr/>
        </p:nvSpPr>
        <p:spPr>
          <a:xfrm>
            <a:off x="552450" y="35814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Tech Lead · PM</a:t>
            </a:r>
          </a:p>
        </p:txBody>
      </p:sp>
      <p:sp>
        <p:nvSpPr>
          <p:cNvPr id="27" name="meeting-3-bg"/>
          <p:cNvSpPr/>
          <p:nvPr/>
        </p:nvSpPr>
        <p:spPr>
          <a:xfrm>
            <a:off x="457200" y="3886200"/>
            <a:ext cx="2733675" cy="4762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meeting-3-border"/>
          <p:cNvSpPr/>
          <p:nvPr/>
        </p:nvSpPr>
        <p:spPr>
          <a:xfrm>
            <a:off x="457200" y="3886200"/>
            <a:ext cx="28575" cy="4762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meeting-3-name"/>
          <p:cNvSpPr txBox="1"/>
          <p:nvPr/>
        </p:nvSpPr>
        <p:spPr>
          <a:xfrm>
            <a:off x="552450" y="39433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Exec Pulse Check</a:t>
            </a:r>
          </a:p>
        </p:txBody>
      </p:sp>
      <p:sp>
        <p:nvSpPr>
          <p:cNvPr id="30" name="meeting-3-pill-bg"/>
          <p:cNvSpPr/>
          <p:nvPr/>
        </p:nvSpPr>
        <p:spPr>
          <a:xfrm>
            <a:off x="2676525" y="3943350"/>
            <a:ext cx="457200" cy="1333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meeting-3-duration"/>
          <p:cNvSpPr txBox="1"/>
          <p:nvPr/>
        </p:nvSpPr>
        <p:spPr>
          <a:xfrm>
            <a:off x="2676525" y="39433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min</a:t>
            </a:r>
          </a:p>
        </p:txBody>
      </p:sp>
      <p:sp>
        <p:nvSpPr>
          <p:cNvPr id="32" name="meeting-3-participants"/>
          <p:cNvSpPr txBox="1"/>
          <p:nvPr/>
        </p:nvSpPr>
        <p:spPr>
          <a:xfrm>
            <a:off x="552450" y="41148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Engagement Lead · Client Sponsor</a:t>
            </a:r>
          </a:p>
        </p:txBody>
      </p:sp>
      <p:sp>
        <p:nvSpPr>
          <p:cNvPr id="33" name="meeting-4-bg"/>
          <p:cNvSpPr/>
          <p:nvPr/>
        </p:nvSpPr>
        <p:spPr>
          <a:xfrm>
            <a:off x="457200" y="44196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meeting-4-border"/>
          <p:cNvSpPr/>
          <p:nvPr/>
        </p:nvSpPr>
        <p:spPr>
          <a:xfrm>
            <a:off x="457200" y="44196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meeting-4-name"/>
          <p:cNvSpPr txBox="1"/>
          <p:nvPr/>
        </p:nvSpPr>
        <p:spPr>
          <a:xfrm>
            <a:off x="552450" y="44767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EOD Handoff</a:t>
            </a:r>
          </a:p>
        </p:txBody>
      </p:sp>
      <p:sp>
        <p:nvSpPr>
          <p:cNvPr id="36" name="meeting-4-pill-bg"/>
          <p:cNvSpPr/>
          <p:nvPr/>
        </p:nvSpPr>
        <p:spPr>
          <a:xfrm>
            <a:off x="2676525" y="44767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meeting-4-duration"/>
          <p:cNvSpPr txBox="1"/>
          <p:nvPr/>
        </p:nvSpPr>
        <p:spPr>
          <a:xfrm>
            <a:off x="2676525" y="44767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10 min</a:t>
            </a:r>
          </a:p>
        </p:txBody>
      </p:sp>
      <p:sp>
        <p:nvSpPr>
          <p:cNvPr id="38" name="meeting-4-participants"/>
          <p:cNvSpPr txBox="1"/>
          <p:nvPr/>
        </p:nvSpPr>
        <p:spPr>
          <a:xfrm>
            <a:off x="552450" y="46482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Delivery team · Offshore Lead</a:t>
            </a:r>
          </a:p>
        </p:txBody>
      </p:sp>
      <p:sp>
        <p:nvSpPr>
          <p:cNvPr id="39" name="meeting-5-bg"/>
          <p:cNvSpPr/>
          <p:nvPr/>
        </p:nvSpPr>
        <p:spPr>
          <a:xfrm>
            <a:off x="457200" y="4953000"/>
            <a:ext cx="2733675" cy="4762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meeting-5-border"/>
          <p:cNvSpPr/>
          <p:nvPr/>
        </p:nvSpPr>
        <p:spPr>
          <a:xfrm>
            <a:off x="457200" y="4953000"/>
            <a:ext cx="28575" cy="4762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meeting-5-name"/>
          <p:cNvSpPr txBox="1"/>
          <p:nvPr/>
        </p:nvSpPr>
        <p:spPr>
          <a:xfrm>
            <a:off x="552450" y="50101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Tomorrow's Priorities</a:t>
            </a:r>
          </a:p>
        </p:txBody>
      </p:sp>
      <p:sp>
        <p:nvSpPr>
          <p:cNvPr id="42" name="meeting-5-pill-bg"/>
          <p:cNvSpPr/>
          <p:nvPr/>
        </p:nvSpPr>
        <p:spPr>
          <a:xfrm>
            <a:off x="2676525" y="5010150"/>
            <a:ext cx="457200" cy="1333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meeting-5-duration"/>
          <p:cNvSpPr txBox="1"/>
          <p:nvPr/>
        </p:nvSpPr>
        <p:spPr>
          <a:xfrm>
            <a:off x="2676525" y="50101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 min</a:t>
            </a:r>
          </a:p>
        </p:txBody>
      </p:sp>
      <p:sp>
        <p:nvSpPr>
          <p:cNvPr id="44" name="meeting-5-participants"/>
          <p:cNvSpPr txBox="1"/>
          <p:nvPr/>
        </p:nvSpPr>
        <p:spPr>
          <a:xfrm>
            <a:off x="552450" y="51816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PM · Workstream Leads</a:t>
            </a:r>
          </a:p>
        </p:txBody>
      </p:sp>
      <p:sp>
        <p:nvSpPr>
          <p:cNvPr id="45" name="col-2-header-bg"/>
          <p:cNvSpPr/>
          <p:nvPr/>
        </p:nvSpPr>
        <p:spPr>
          <a:xfrm>
            <a:off x="3305175" y="2400300"/>
            <a:ext cx="27336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l-2-accent"/>
          <p:cNvSpPr/>
          <p:nvPr/>
        </p:nvSpPr>
        <p:spPr>
          <a:xfrm>
            <a:off x="3305175" y="2400300"/>
            <a:ext cx="2733675" cy="28575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l-2-name"/>
          <p:cNvSpPr txBox="1"/>
          <p:nvPr/>
        </p:nvSpPr>
        <p:spPr>
          <a:xfrm>
            <a:off x="3400425" y="2457450"/>
            <a:ext cx="25431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WEEKLY</a:t>
            </a:r>
          </a:p>
        </p:txBody>
      </p:sp>
      <p:sp>
        <p:nvSpPr>
          <p:cNvPr id="48" name="col-2-desc"/>
          <p:cNvSpPr txBox="1"/>
          <p:nvPr/>
        </p:nvSpPr>
        <p:spPr>
          <a:xfrm>
            <a:off x="3400425" y="2609850"/>
            <a:ext cx="2543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CCCDD"/>
                </a:solidFill>
                <a:latin typeface="Inter"/>
              </a:rPr>
              <a:t>Every Monday &amp; Friday</a:t>
            </a:r>
          </a:p>
        </p:txBody>
      </p:sp>
      <p:sp>
        <p:nvSpPr>
          <p:cNvPr id="49" name="meeting-6-bg"/>
          <p:cNvSpPr/>
          <p:nvPr/>
        </p:nvSpPr>
        <p:spPr>
          <a:xfrm>
            <a:off x="3305175" y="2819400"/>
            <a:ext cx="2733675" cy="4762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meeting-6-border"/>
          <p:cNvSpPr/>
          <p:nvPr/>
        </p:nvSpPr>
        <p:spPr>
          <a:xfrm>
            <a:off x="3305175" y="2819400"/>
            <a:ext cx="28575" cy="4762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meeting-6-name"/>
          <p:cNvSpPr txBox="1"/>
          <p:nvPr/>
        </p:nvSpPr>
        <p:spPr>
          <a:xfrm>
            <a:off x="3400425" y="28765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Steering Committee</a:t>
            </a:r>
          </a:p>
        </p:txBody>
      </p:sp>
      <p:sp>
        <p:nvSpPr>
          <p:cNvPr id="52" name="meeting-6-pill-bg"/>
          <p:cNvSpPr/>
          <p:nvPr/>
        </p:nvSpPr>
        <p:spPr>
          <a:xfrm>
            <a:off x="5524500" y="2876550"/>
            <a:ext cx="457200" cy="1333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meeting-6-duration"/>
          <p:cNvSpPr txBox="1"/>
          <p:nvPr/>
        </p:nvSpPr>
        <p:spPr>
          <a:xfrm>
            <a:off x="5524500" y="28765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60 min</a:t>
            </a:r>
          </a:p>
        </p:txBody>
      </p:sp>
      <p:sp>
        <p:nvSpPr>
          <p:cNvPr id="54" name="meeting-6-participants"/>
          <p:cNvSpPr txBox="1"/>
          <p:nvPr/>
        </p:nvSpPr>
        <p:spPr>
          <a:xfrm>
            <a:off x="3400425" y="30480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Sponsors · Program Lead · Workstream Leads</a:t>
            </a:r>
          </a:p>
        </p:txBody>
      </p:sp>
      <p:sp>
        <p:nvSpPr>
          <p:cNvPr id="55" name="meeting-7-bg"/>
          <p:cNvSpPr/>
          <p:nvPr/>
        </p:nvSpPr>
        <p:spPr>
          <a:xfrm>
            <a:off x="3305175" y="33528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meeting-7-border"/>
          <p:cNvSpPr/>
          <p:nvPr/>
        </p:nvSpPr>
        <p:spPr>
          <a:xfrm>
            <a:off x="3305175" y="33528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meeting-7-name"/>
          <p:cNvSpPr txBox="1"/>
          <p:nvPr/>
        </p:nvSpPr>
        <p:spPr>
          <a:xfrm>
            <a:off x="3400425" y="34099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Status &amp; Risk Review</a:t>
            </a:r>
          </a:p>
        </p:txBody>
      </p:sp>
      <p:sp>
        <p:nvSpPr>
          <p:cNvPr id="58" name="meeting-7-pill-bg"/>
          <p:cNvSpPr/>
          <p:nvPr/>
        </p:nvSpPr>
        <p:spPr>
          <a:xfrm>
            <a:off x="5524500" y="34099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meeting-7-duration"/>
          <p:cNvSpPr txBox="1"/>
          <p:nvPr/>
        </p:nvSpPr>
        <p:spPr>
          <a:xfrm>
            <a:off x="5524500" y="3409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30 min</a:t>
            </a:r>
          </a:p>
        </p:txBody>
      </p:sp>
      <p:sp>
        <p:nvSpPr>
          <p:cNvPr id="60" name="meeting-7-participants"/>
          <p:cNvSpPr txBox="1"/>
          <p:nvPr/>
        </p:nvSpPr>
        <p:spPr>
          <a:xfrm>
            <a:off x="3400425" y="35814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PM · Tech Lead · QA Lead</a:t>
            </a:r>
          </a:p>
        </p:txBody>
      </p:sp>
      <p:sp>
        <p:nvSpPr>
          <p:cNvPr id="61" name="meeting-8-bg"/>
          <p:cNvSpPr/>
          <p:nvPr/>
        </p:nvSpPr>
        <p:spPr>
          <a:xfrm>
            <a:off x="3305175" y="3886200"/>
            <a:ext cx="2733675" cy="4762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meeting-8-border"/>
          <p:cNvSpPr/>
          <p:nvPr/>
        </p:nvSpPr>
        <p:spPr>
          <a:xfrm>
            <a:off x="3305175" y="3886200"/>
            <a:ext cx="28575" cy="4762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meeting-8-name"/>
          <p:cNvSpPr txBox="1"/>
          <p:nvPr/>
        </p:nvSpPr>
        <p:spPr>
          <a:xfrm>
            <a:off x="3400425" y="39433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Sprint Planning</a:t>
            </a:r>
          </a:p>
        </p:txBody>
      </p:sp>
      <p:sp>
        <p:nvSpPr>
          <p:cNvPr id="64" name="meeting-8-pill-bg"/>
          <p:cNvSpPr/>
          <p:nvPr/>
        </p:nvSpPr>
        <p:spPr>
          <a:xfrm>
            <a:off x="5524500" y="3943350"/>
            <a:ext cx="457200" cy="1333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meeting-8-duration"/>
          <p:cNvSpPr txBox="1"/>
          <p:nvPr/>
        </p:nvSpPr>
        <p:spPr>
          <a:xfrm>
            <a:off x="5524500" y="39433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45 min</a:t>
            </a:r>
          </a:p>
        </p:txBody>
      </p:sp>
      <p:sp>
        <p:nvSpPr>
          <p:cNvPr id="66" name="meeting-8-participants"/>
          <p:cNvSpPr txBox="1"/>
          <p:nvPr/>
        </p:nvSpPr>
        <p:spPr>
          <a:xfrm>
            <a:off x="3400425" y="41148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Delivery team · Product Owner</a:t>
            </a:r>
          </a:p>
        </p:txBody>
      </p:sp>
      <p:sp>
        <p:nvSpPr>
          <p:cNvPr id="67" name="meeting-9-bg"/>
          <p:cNvSpPr/>
          <p:nvPr/>
        </p:nvSpPr>
        <p:spPr>
          <a:xfrm>
            <a:off x="3305175" y="44196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meeting-9-border"/>
          <p:cNvSpPr/>
          <p:nvPr/>
        </p:nvSpPr>
        <p:spPr>
          <a:xfrm>
            <a:off x="3305175" y="44196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meeting-9-name"/>
          <p:cNvSpPr txBox="1"/>
          <p:nvPr/>
        </p:nvSpPr>
        <p:spPr>
          <a:xfrm>
            <a:off x="3400425" y="44767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Retrospective</a:t>
            </a:r>
          </a:p>
        </p:txBody>
      </p:sp>
      <p:sp>
        <p:nvSpPr>
          <p:cNvPr id="70" name="meeting-9-pill-bg"/>
          <p:cNvSpPr/>
          <p:nvPr/>
        </p:nvSpPr>
        <p:spPr>
          <a:xfrm>
            <a:off x="5524500" y="44767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meeting-9-duration"/>
          <p:cNvSpPr txBox="1"/>
          <p:nvPr/>
        </p:nvSpPr>
        <p:spPr>
          <a:xfrm>
            <a:off x="5524500" y="44767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30 min</a:t>
            </a:r>
          </a:p>
        </p:txBody>
      </p:sp>
      <p:sp>
        <p:nvSpPr>
          <p:cNvPr id="72" name="meeting-9-participants"/>
          <p:cNvSpPr txBox="1"/>
          <p:nvPr/>
        </p:nvSpPr>
        <p:spPr>
          <a:xfrm>
            <a:off x="3400425" y="46482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Delivery team</a:t>
            </a:r>
          </a:p>
        </p:txBody>
      </p:sp>
      <p:sp>
        <p:nvSpPr>
          <p:cNvPr id="73" name="meeting-10-bg"/>
          <p:cNvSpPr/>
          <p:nvPr/>
        </p:nvSpPr>
        <p:spPr>
          <a:xfrm>
            <a:off x="3305175" y="4953000"/>
            <a:ext cx="2733675" cy="4762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meeting-10-border"/>
          <p:cNvSpPr/>
          <p:nvPr/>
        </p:nvSpPr>
        <p:spPr>
          <a:xfrm>
            <a:off x="3305175" y="4953000"/>
            <a:ext cx="28575" cy="4762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meeting-10-name"/>
          <p:cNvSpPr txBox="1"/>
          <p:nvPr/>
        </p:nvSpPr>
        <p:spPr>
          <a:xfrm>
            <a:off x="3400425" y="50101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Client Check-in</a:t>
            </a:r>
          </a:p>
        </p:txBody>
      </p:sp>
      <p:sp>
        <p:nvSpPr>
          <p:cNvPr id="76" name="meeting-10-pill-bg"/>
          <p:cNvSpPr/>
          <p:nvPr/>
        </p:nvSpPr>
        <p:spPr>
          <a:xfrm>
            <a:off x="5524500" y="5010150"/>
            <a:ext cx="457200" cy="1333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meeting-10-duration"/>
          <p:cNvSpPr txBox="1"/>
          <p:nvPr/>
        </p:nvSpPr>
        <p:spPr>
          <a:xfrm>
            <a:off x="5524500" y="50101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30 min</a:t>
            </a:r>
          </a:p>
        </p:txBody>
      </p:sp>
      <p:sp>
        <p:nvSpPr>
          <p:cNvPr id="78" name="meeting-10-participants"/>
          <p:cNvSpPr txBox="1"/>
          <p:nvPr/>
        </p:nvSpPr>
        <p:spPr>
          <a:xfrm>
            <a:off x="3400425" y="51816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Engagement Lead · Client Sponsor</a:t>
            </a:r>
          </a:p>
        </p:txBody>
      </p:sp>
      <p:sp>
        <p:nvSpPr>
          <p:cNvPr id="79" name="col-3-header-bg"/>
          <p:cNvSpPr/>
          <p:nvPr/>
        </p:nvSpPr>
        <p:spPr>
          <a:xfrm>
            <a:off x="6153150" y="2400300"/>
            <a:ext cx="27336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ol-3-accent"/>
          <p:cNvSpPr/>
          <p:nvPr/>
        </p:nvSpPr>
        <p:spPr>
          <a:xfrm>
            <a:off x="6153150" y="2400300"/>
            <a:ext cx="2733675" cy="285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col-3-name"/>
          <p:cNvSpPr txBox="1"/>
          <p:nvPr/>
        </p:nvSpPr>
        <p:spPr>
          <a:xfrm>
            <a:off x="6248400" y="2457450"/>
            <a:ext cx="25431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MONTHLY</a:t>
            </a:r>
          </a:p>
        </p:txBody>
      </p:sp>
      <p:sp>
        <p:nvSpPr>
          <p:cNvPr id="82" name="col-3-desc"/>
          <p:cNvSpPr txBox="1"/>
          <p:nvPr/>
        </p:nvSpPr>
        <p:spPr>
          <a:xfrm>
            <a:off x="6248400" y="2609850"/>
            <a:ext cx="2543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CCCDD"/>
                </a:solidFill>
                <a:latin typeface="Inter"/>
              </a:rPr>
              <a:t>1st week of each month</a:t>
            </a:r>
          </a:p>
        </p:txBody>
      </p:sp>
      <p:sp>
        <p:nvSpPr>
          <p:cNvPr id="83" name="meeting-11-bg"/>
          <p:cNvSpPr/>
          <p:nvPr/>
        </p:nvSpPr>
        <p:spPr>
          <a:xfrm>
            <a:off x="6153150" y="2819400"/>
            <a:ext cx="2733675" cy="4762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meeting-11-border"/>
          <p:cNvSpPr/>
          <p:nvPr/>
        </p:nvSpPr>
        <p:spPr>
          <a:xfrm>
            <a:off x="6153150" y="2819400"/>
            <a:ext cx="28575" cy="4762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meeting-11-name"/>
          <p:cNvSpPr txBox="1"/>
          <p:nvPr/>
        </p:nvSpPr>
        <p:spPr>
          <a:xfrm>
            <a:off x="6248400" y="28765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Program Board Review</a:t>
            </a:r>
          </a:p>
        </p:txBody>
      </p:sp>
      <p:sp>
        <p:nvSpPr>
          <p:cNvPr id="86" name="meeting-11-pill-bg"/>
          <p:cNvSpPr/>
          <p:nvPr/>
        </p:nvSpPr>
        <p:spPr>
          <a:xfrm>
            <a:off x="8372475" y="2876550"/>
            <a:ext cx="457200" cy="1333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meeting-11-duration"/>
          <p:cNvSpPr txBox="1"/>
          <p:nvPr/>
        </p:nvSpPr>
        <p:spPr>
          <a:xfrm>
            <a:off x="8372475" y="28765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90 min</a:t>
            </a:r>
          </a:p>
        </p:txBody>
      </p:sp>
      <p:sp>
        <p:nvSpPr>
          <p:cNvPr id="88" name="meeting-11-participants"/>
          <p:cNvSpPr txBox="1"/>
          <p:nvPr/>
        </p:nvSpPr>
        <p:spPr>
          <a:xfrm>
            <a:off x="6248400" y="30480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 workstream leads · Exec sponsor</a:t>
            </a:r>
          </a:p>
        </p:txBody>
      </p:sp>
      <p:sp>
        <p:nvSpPr>
          <p:cNvPr id="89" name="meeting-12-bg"/>
          <p:cNvSpPr/>
          <p:nvPr/>
        </p:nvSpPr>
        <p:spPr>
          <a:xfrm>
            <a:off x="6153150" y="3352800"/>
            <a:ext cx="2733675" cy="4762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meeting-12-border"/>
          <p:cNvSpPr/>
          <p:nvPr/>
        </p:nvSpPr>
        <p:spPr>
          <a:xfrm>
            <a:off x="6153150" y="3352800"/>
            <a:ext cx="28575" cy="4762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meeting-12-name"/>
          <p:cNvSpPr txBox="1"/>
          <p:nvPr/>
        </p:nvSpPr>
        <p:spPr>
          <a:xfrm>
            <a:off x="6248400" y="34099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Milestone &amp; Roadmap Check</a:t>
            </a:r>
          </a:p>
        </p:txBody>
      </p:sp>
      <p:sp>
        <p:nvSpPr>
          <p:cNvPr id="92" name="meeting-12-pill-bg"/>
          <p:cNvSpPr/>
          <p:nvPr/>
        </p:nvSpPr>
        <p:spPr>
          <a:xfrm>
            <a:off x="8372475" y="3409950"/>
            <a:ext cx="457200" cy="1333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meeting-12-duration"/>
          <p:cNvSpPr txBox="1"/>
          <p:nvPr/>
        </p:nvSpPr>
        <p:spPr>
          <a:xfrm>
            <a:off x="8372475" y="3409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60 min</a:t>
            </a:r>
          </a:p>
        </p:txBody>
      </p:sp>
      <p:sp>
        <p:nvSpPr>
          <p:cNvPr id="94" name="meeting-12-participants"/>
          <p:cNvSpPr txBox="1"/>
          <p:nvPr/>
        </p:nvSpPr>
        <p:spPr>
          <a:xfrm>
            <a:off x="6248400" y="35814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PM · Client PMO · Architects</a:t>
            </a:r>
          </a:p>
        </p:txBody>
      </p:sp>
      <p:sp>
        <p:nvSpPr>
          <p:cNvPr id="95" name="meeting-13-bg"/>
          <p:cNvSpPr/>
          <p:nvPr/>
        </p:nvSpPr>
        <p:spPr>
          <a:xfrm>
            <a:off x="6153150" y="38862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meeting-13-border"/>
          <p:cNvSpPr/>
          <p:nvPr/>
        </p:nvSpPr>
        <p:spPr>
          <a:xfrm>
            <a:off x="6153150" y="38862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meeting-13-name"/>
          <p:cNvSpPr txBox="1"/>
          <p:nvPr/>
        </p:nvSpPr>
        <p:spPr>
          <a:xfrm>
            <a:off x="6248400" y="39433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Budget &amp; Resource Review</a:t>
            </a:r>
          </a:p>
        </p:txBody>
      </p:sp>
      <p:sp>
        <p:nvSpPr>
          <p:cNvPr id="98" name="meeting-13-pill-bg"/>
          <p:cNvSpPr/>
          <p:nvPr/>
        </p:nvSpPr>
        <p:spPr>
          <a:xfrm>
            <a:off x="8372475" y="39433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meeting-13-duration"/>
          <p:cNvSpPr txBox="1"/>
          <p:nvPr/>
        </p:nvSpPr>
        <p:spPr>
          <a:xfrm>
            <a:off x="8372475" y="39433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45 min</a:t>
            </a:r>
          </a:p>
        </p:txBody>
      </p:sp>
      <p:sp>
        <p:nvSpPr>
          <p:cNvPr id="100" name="meeting-13-participants"/>
          <p:cNvSpPr txBox="1"/>
          <p:nvPr/>
        </p:nvSpPr>
        <p:spPr>
          <a:xfrm>
            <a:off x="6248400" y="41148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Engagement Lead · Finance Lead</a:t>
            </a:r>
          </a:p>
        </p:txBody>
      </p:sp>
      <p:sp>
        <p:nvSpPr>
          <p:cNvPr id="101" name="meeting-14-bg"/>
          <p:cNvSpPr/>
          <p:nvPr/>
        </p:nvSpPr>
        <p:spPr>
          <a:xfrm>
            <a:off x="6153150" y="44196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meeting-14-border"/>
          <p:cNvSpPr/>
          <p:nvPr/>
        </p:nvSpPr>
        <p:spPr>
          <a:xfrm>
            <a:off x="6153150" y="44196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meeting-14-name"/>
          <p:cNvSpPr txBox="1"/>
          <p:nvPr/>
        </p:nvSpPr>
        <p:spPr>
          <a:xfrm>
            <a:off x="6248400" y="44767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Quality &amp; Defect Trends</a:t>
            </a:r>
          </a:p>
        </p:txBody>
      </p:sp>
      <p:sp>
        <p:nvSpPr>
          <p:cNvPr id="104" name="meeting-14-pill-bg"/>
          <p:cNvSpPr/>
          <p:nvPr/>
        </p:nvSpPr>
        <p:spPr>
          <a:xfrm>
            <a:off x="8372475" y="44767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meeting-14-duration"/>
          <p:cNvSpPr txBox="1"/>
          <p:nvPr/>
        </p:nvSpPr>
        <p:spPr>
          <a:xfrm>
            <a:off x="8372475" y="44767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45 min</a:t>
            </a:r>
          </a:p>
        </p:txBody>
      </p:sp>
      <p:sp>
        <p:nvSpPr>
          <p:cNvPr id="106" name="meeting-14-participants"/>
          <p:cNvSpPr txBox="1"/>
          <p:nvPr/>
        </p:nvSpPr>
        <p:spPr>
          <a:xfrm>
            <a:off x="6248400" y="46482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QA Lead · Tech Lead</a:t>
            </a:r>
          </a:p>
        </p:txBody>
      </p:sp>
      <p:sp>
        <p:nvSpPr>
          <p:cNvPr id="107" name="meeting-15-bg"/>
          <p:cNvSpPr/>
          <p:nvPr/>
        </p:nvSpPr>
        <p:spPr>
          <a:xfrm>
            <a:off x="6153150" y="4953000"/>
            <a:ext cx="2733675" cy="4762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meeting-15-border"/>
          <p:cNvSpPr/>
          <p:nvPr/>
        </p:nvSpPr>
        <p:spPr>
          <a:xfrm>
            <a:off x="6153150" y="4953000"/>
            <a:ext cx="28575" cy="4762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meeting-15-name"/>
          <p:cNvSpPr txBox="1"/>
          <p:nvPr/>
        </p:nvSpPr>
        <p:spPr>
          <a:xfrm>
            <a:off x="6248400" y="50101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Capacity Forecast</a:t>
            </a:r>
          </a:p>
        </p:txBody>
      </p:sp>
      <p:sp>
        <p:nvSpPr>
          <p:cNvPr id="110" name="meeting-15-pill-bg"/>
          <p:cNvSpPr/>
          <p:nvPr/>
        </p:nvSpPr>
        <p:spPr>
          <a:xfrm>
            <a:off x="8372475" y="5010150"/>
            <a:ext cx="457200" cy="1333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meeting-15-duration"/>
          <p:cNvSpPr txBox="1"/>
          <p:nvPr/>
        </p:nvSpPr>
        <p:spPr>
          <a:xfrm>
            <a:off x="8372475" y="50101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30 min</a:t>
            </a:r>
          </a:p>
        </p:txBody>
      </p:sp>
      <p:sp>
        <p:nvSpPr>
          <p:cNvPr id="112" name="meeting-15-participants"/>
          <p:cNvSpPr txBox="1"/>
          <p:nvPr/>
        </p:nvSpPr>
        <p:spPr>
          <a:xfrm>
            <a:off x="6248400" y="51816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PMO · Resource Manager</a:t>
            </a:r>
          </a:p>
        </p:txBody>
      </p:sp>
      <p:sp>
        <p:nvSpPr>
          <p:cNvPr id="113" name="col-4-header-bg"/>
          <p:cNvSpPr/>
          <p:nvPr/>
        </p:nvSpPr>
        <p:spPr>
          <a:xfrm>
            <a:off x="9001125" y="2400300"/>
            <a:ext cx="2733675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col-4-accent"/>
          <p:cNvSpPr/>
          <p:nvPr/>
        </p:nvSpPr>
        <p:spPr>
          <a:xfrm>
            <a:off x="9001125" y="2400300"/>
            <a:ext cx="2733675" cy="285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col-4-name"/>
          <p:cNvSpPr txBox="1"/>
          <p:nvPr/>
        </p:nvSpPr>
        <p:spPr>
          <a:xfrm>
            <a:off x="9096375" y="2457450"/>
            <a:ext cx="25431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QUARTERLY</a:t>
            </a:r>
          </a:p>
        </p:txBody>
      </p:sp>
      <p:sp>
        <p:nvSpPr>
          <p:cNvPr id="116" name="col-4-desc"/>
          <p:cNvSpPr txBox="1"/>
          <p:nvPr/>
        </p:nvSpPr>
        <p:spPr>
          <a:xfrm>
            <a:off x="9096375" y="2609850"/>
            <a:ext cx="2543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CCCDD"/>
                </a:solidFill>
                <a:latin typeface="Inter"/>
              </a:rPr>
              <a:t>End of each quarter</a:t>
            </a:r>
          </a:p>
        </p:txBody>
      </p:sp>
      <p:sp>
        <p:nvSpPr>
          <p:cNvPr id="117" name="meeting-16-bg"/>
          <p:cNvSpPr/>
          <p:nvPr/>
        </p:nvSpPr>
        <p:spPr>
          <a:xfrm>
            <a:off x="9001125" y="2819400"/>
            <a:ext cx="2733675" cy="4762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meeting-16-border"/>
          <p:cNvSpPr/>
          <p:nvPr/>
        </p:nvSpPr>
        <p:spPr>
          <a:xfrm>
            <a:off x="9001125" y="2819400"/>
            <a:ext cx="28575" cy="4762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meeting-16-name"/>
          <p:cNvSpPr txBox="1"/>
          <p:nvPr/>
        </p:nvSpPr>
        <p:spPr>
          <a:xfrm>
            <a:off x="9096375" y="28765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Quarterly Business Review</a:t>
            </a:r>
          </a:p>
        </p:txBody>
      </p:sp>
      <p:sp>
        <p:nvSpPr>
          <p:cNvPr id="120" name="meeting-16-pill-bg"/>
          <p:cNvSpPr/>
          <p:nvPr/>
        </p:nvSpPr>
        <p:spPr>
          <a:xfrm>
            <a:off x="11220450" y="2876550"/>
            <a:ext cx="457200" cy="1333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meeting-16-duration"/>
          <p:cNvSpPr txBox="1"/>
          <p:nvPr/>
        </p:nvSpPr>
        <p:spPr>
          <a:xfrm>
            <a:off x="11220450" y="28765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Half-day</a:t>
            </a:r>
          </a:p>
        </p:txBody>
      </p:sp>
      <p:sp>
        <p:nvSpPr>
          <p:cNvPr id="122" name="meeting-16-participants"/>
          <p:cNvSpPr txBox="1"/>
          <p:nvPr/>
        </p:nvSpPr>
        <p:spPr>
          <a:xfrm>
            <a:off x="9096375" y="30480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C-suite · Engagement Lead · PMO</a:t>
            </a:r>
          </a:p>
        </p:txBody>
      </p:sp>
      <p:sp>
        <p:nvSpPr>
          <p:cNvPr id="123" name="meeting-17-bg"/>
          <p:cNvSpPr/>
          <p:nvPr/>
        </p:nvSpPr>
        <p:spPr>
          <a:xfrm>
            <a:off x="9001125" y="3352800"/>
            <a:ext cx="2733675" cy="4762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meeting-17-border"/>
          <p:cNvSpPr/>
          <p:nvPr/>
        </p:nvSpPr>
        <p:spPr>
          <a:xfrm>
            <a:off x="9001125" y="3352800"/>
            <a:ext cx="28575" cy="4762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meeting-17-name"/>
          <p:cNvSpPr txBox="1"/>
          <p:nvPr/>
        </p:nvSpPr>
        <p:spPr>
          <a:xfrm>
            <a:off x="9096375" y="34099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Strategic Alignment Session</a:t>
            </a:r>
          </a:p>
        </p:txBody>
      </p:sp>
      <p:sp>
        <p:nvSpPr>
          <p:cNvPr id="126" name="meeting-17-pill-bg"/>
          <p:cNvSpPr/>
          <p:nvPr/>
        </p:nvSpPr>
        <p:spPr>
          <a:xfrm>
            <a:off x="11220450" y="3409950"/>
            <a:ext cx="457200" cy="1333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meeting-17-duration"/>
          <p:cNvSpPr txBox="1"/>
          <p:nvPr/>
        </p:nvSpPr>
        <p:spPr>
          <a:xfrm>
            <a:off x="11220450" y="3409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hrs</a:t>
            </a:r>
          </a:p>
        </p:txBody>
      </p:sp>
      <p:sp>
        <p:nvSpPr>
          <p:cNvPr id="128" name="meeting-17-participants"/>
          <p:cNvSpPr txBox="1"/>
          <p:nvPr/>
        </p:nvSpPr>
        <p:spPr>
          <a:xfrm>
            <a:off x="9096375" y="35814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Program Sponsor · Architecture Board</a:t>
            </a:r>
          </a:p>
        </p:txBody>
      </p:sp>
      <p:sp>
        <p:nvSpPr>
          <p:cNvPr id="129" name="meeting-18-bg"/>
          <p:cNvSpPr/>
          <p:nvPr/>
        </p:nvSpPr>
        <p:spPr>
          <a:xfrm>
            <a:off x="9001125" y="3886200"/>
            <a:ext cx="2733675" cy="47625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meeting-18-border"/>
          <p:cNvSpPr/>
          <p:nvPr/>
        </p:nvSpPr>
        <p:spPr>
          <a:xfrm>
            <a:off x="9001125" y="3886200"/>
            <a:ext cx="28575" cy="4762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meeting-18-name"/>
          <p:cNvSpPr txBox="1"/>
          <p:nvPr/>
        </p:nvSpPr>
        <p:spPr>
          <a:xfrm>
            <a:off x="9096375" y="39433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OKR &amp; Goal Reset</a:t>
            </a:r>
          </a:p>
        </p:txBody>
      </p:sp>
      <p:sp>
        <p:nvSpPr>
          <p:cNvPr id="132" name="meeting-18-pill-bg"/>
          <p:cNvSpPr/>
          <p:nvPr/>
        </p:nvSpPr>
        <p:spPr>
          <a:xfrm>
            <a:off x="11220450" y="3943350"/>
            <a:ext cx="457200" cy="13335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meeting-18-duration"/>
          <p:cNvSpPr txBox="1"/>
          <p:nvPr/>
        </p:nvSpPr>
        <p:spPr>
          <a:xfrm>
            <a:off x="11220450" y="39433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 hrs</a:t>
            </a:r>
          </a:p>
        </p:txBody>
      </p:sp>
      <p:sp>
        <p:nvSpPr>
          <p:cNvPr id="134" name="meeting-18-participants"/>
          <p:cNvSpPr txBox="1"/>
          <p:nvPr/>
        </p:nvSpPr>
        <p:spPr>
          <a:xfrm>
            <a:off x="9096375" y="41148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 leads · Strategy team</a:t>
            </a:r>
          </a:p>
        </p:txBody>
      </p:sp>
      <p:sp>
        <p:nvSpPr>
          <p:cNvPr id="135" name="meeting-19-bg"/>
          <p:cNvSpPr/>
          <p:nvPr/>
        </p:nvSpPr>
        <p:spPr>
          <a:xfrm>
            <a:off x="9001125" y="4419600"/>
            <a:ext cx="2733675" cy="47625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meeting-19-border"/>
          <p:cNvSpPr/>
          <p:nvPr/>
        </p:nvSpPr>
        <p:spPr>
          <a:xfrm>
            <a:off x="9001125" y="4419600"/>
            <a:ext cx="28575" cy="4762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meeting-19-name"/>
          <p:cNvSpPr txBox="1"/>
          <p:nvPr/>
        </p:nvSpPr>
        <p:spPr>
          <a:xfrm>
            <a:off x="9096375" y="44767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 &amp; Partner Review</a:t>
            </a:r>
          </a:p>
        </p:txBody>
      </p:sp>
      <p:sp>
        <p:nvSpPr>
          <p:cNvPr id="138" name="meeting-19-pill-bg"/>
          <p:cNvSpPr/>
          <p:nvPr/>
        </p:nvSpPr>
        <p:spPr>
          <a:xfrm>
            <a:off x="11220450" y="4476750"/>
            <a:ext cx="457200" cy="1333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meeting-19-duration"/>
          <p:cNvSpPr txBox="1"/>
          <p:nvPr/>
        </p:nvSpPr>
        <p:spPr>
          <a:xfrm>
            <a:off x="11220450" y="44767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90 min</a:t>
            </a:r>
          </a:p>
        </p:txBody>
      </p:sp>
      <p:sp>
        <p:nvSpPr>
          <p:cNvPr id="140" name="meeting-19-participants"/>
          <p:cNvSpPr txBox="1"/>
          <p:nvPr/>
        </p:nvSpPr>
        <p:spPr>
          <a:xfrm>
            <a:off x="9096375" y="46482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Procurement · Engagement Lead</a:t>
            </a:r>
          </a:p>
        </p:txBody>
      </p:sp>
      <p:sp>
        <p:nvSpPr>
          <p:cNvPr id="141" name="meeting-20-bg"/>
          <p:cNvSpPr/>
          <p:nvPr/>
        </p:nvSpPr>
        <p:spPr>
          <a:xfrm>
            <a:off x="9001125" y="4953000"/>
            <a:ext cx="2733675" cy="4762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meeting-20-border"/>
          <p:cNvSpPr/>
          <p:nvPr/>
        </p:nvSpPr>
        <p:spPr>
          <a:xfrm>
            <a:off x="9001125" y="4953000"/>
            <a:ext cx="28575" cy="4762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meeting-20-name"/>
          <p:cNvSpPr txBox="1"/>
          <p:nvPr/>
        </p:nvSpPr>
        <p:spPr>
          <a:xfrm>
            <a:off x="9096375" y="5010150"/>
            <a:ext cx="21621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Talent &amp; Succession</a:t>
            </a:r>
          </a:p>
        </p:txBody>
      </p:sp>
      <p:sp>
        <p:nvSpPr>
          <p:cNvPr id="144" name="meeting-20-pill-bg"/>
          <p:cNvSpPr/>
          <p:nvPr/>
        </p:nvSpPr>
        <p:spPr>
          <a:xfrm>
            <a:off x="11220450" y="5010150"/>
            <a:ext cx="457200" cy="133350"/>
          </a:xfrm>
          <a:prstGeom prst="rect">
            <a:avLst/>
          </a:prstGeom>
          <a:solidFill>
            <a:srgbClr val="9C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5" name="meeting-20-duration"/>
          <p:cNvSpPr txBox="1"/>
          <p:nvPr/>
        </p:nvSpPr>
        <p:spPr>
          <a:xfrm>
            <a:off x="11220450" y="50101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 hrs</a:t>
            </a:r>
          </a:p>
        </p:txBody>
      </p:sp>
      <p:sp>
        <p:nvSpPr>
          <p:cNvPr id="146" name="meeting-20-participants"/>
          <p:cNvSpPr txBox="1"/>
          <p:nvPr/>
        </p:nvSpPr>
        <p:spPr>
          <a:xfrm>
            <a:off x="9096375" y="5181600"/>
            <a:ext cx="25812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HR Lead · Program Sponsor</a:t>
            </a:r>
          </a:p>
        </p:txBody>
      </p:sp>
      <p:sp>
        <p:nvSpPr>
          <p:cNvPr id="147" name="convergence-bg"/>
          <p:cNvSpPr/>
          <p:nvPr/>
        </p:nvSpPr>
        <p:spPr>
          <a:xfrm>
            <a:off x="457200" y="5867400"/>
            <a:ext cx="112776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convergence"/>
          <p:cNvSpPr txBox="1"/>
          <p:nvPr/>
        </p:nvSpPr>
        <p:spPr>
          <a:xfrm>
            <a:off x="457200" y="5867400"/>
            <a:ext cx="112776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RHYTHM DRIVES ACCOUNTABILITY — EVERY CADENCE TIES TO A DECISION, AN ACTION, OR A COMMITMENT.</a:t>
            </a:r>
          </a:p>
        </p:txBody>
      </p:sp>
      <p:sp>
        <p:nvSpPr>
          <p:cNvPr id="1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