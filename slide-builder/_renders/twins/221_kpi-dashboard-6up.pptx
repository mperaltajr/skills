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Performance at a Glance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KPI Dashboard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FY2026 · Q2  |  As of May 2026 · All figures consolidated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ric-1-tile"/>
          <p:cNvSpPr/>
          <p:nvPr/>
        </p:nvSpPr>
        <p:spPr>
          <a:xfrm>
            <a:off x="457200" y="146685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ric-1-status"/>
          <p:cNvSpPr/>
          <p:nvPr/>
        </p:nvSpPr>
        <p:spPr>
          <a:xfrm>
            <a:off x="3895725" y="1581150"/>
            <a:ext cx="9525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metric-1-label"/>
          <p:cNvSpPr txBox="1"/>
          <p:nvPr/>
        </p:nvSpPr>
        <p:spPr>
          <a:xfrm>
            <a:off x="609600" y="16002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REVENUE</a:t>
            </a:r>
          </a:p>
        </p:txBody>
      </p:sp>
      <p:sp>
        <p:nvSpPr>
          <p:cNvPr id="8" name="metric-1-value"/>
          <p:cNvSpPr txBox="1"/>
          <p:nvPr/>
        </p:nvSpPr>
        <p:spPr>
          <a:xfrm>
            <a:off x="609600" y="194310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$2.4</a:t>
            </a:r>
          </a:p>
        </p:txBody>
      </p:sp>
      <p:sp>
        <p:nvSpPr>
          <p:cNvPr id="9" name="metric-1-unit"/>
          <p:cNvSpPr txBox="1"/>
          <p:nvPr/>
        </p:nvSpPr>
        <p:spPr>
          <a:xfrm>
            <a:off x="609600" y="241935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</a:t>
            </a:r>
          </a:p>
        </p:txBody>
      </p:sp>
      <p:sp>
        <p:nvSpPr>
          <p:cNvPr id="10" name="metric-1-sublabel"/>
          <p:cNvSpPr txBox="1"/>
          <p:nvPr/>
        </p:nvSpPr>
        <p:spPr>
          <a:xfrm>
            <a:off x="609600" y="27813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$2.3B</a:t>
            </a:r>
          </a:p>
        </p:txBody>
      </p:sp>
      <p:sp>
        <p:nvSpPr>
          <p:cNvPr id="11" name="metric-1-delta"/>
          <p:cNvSpPr txBox="1"/>
          <p:nvPr/>
        </p:nvSpPr>
        <p:spPr>
          <a:xfrm>
            <a:off x="609600" y="297180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+4.3% vs Q1</a:t>
            </a:r>
          </a:p>
        </p:txBody>
      </p:sp>
      <p:sp>
        <p:nvSpPr>
          <p:cNvPr id="12" name="metric-1-progress-bg"/>
          <p:cNvSpPr/>
          <p:nvPr/>
        </p:nvSpPr>
        <p:spPr>
          <a:xfrm>
            <a:off x="457200" y="370522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metric-1-progress"/>
          <p:cNvSpPr/>
          <p:nvPr/>
        </p:nvSpPr>
        <p:spPr>
          <a:xfrm>
            <a:off x="457200" y="3705225"/>
            <a:ext cx="3667125" cy="476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metric-2-tile"/>
          <p:cNvSpPr/>
          <p:nvPr/>
        </p:nvSpPr>
        <p:spPr>
          <a:xfrm>
            <a:off x="4257675" y="146685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metric-2-status"/>
          <p:cNvSpPr/>
          <p:nvPr/>
        </p:nvSpPr>
        <p:spPr>
          <a:xfrm>
            <a:off x="7696200" y="1581150"/>
            <a:ext cx="95250" cy="95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metric-2-label"/>
          <p:cNvSpPr txBox="1"/>
          <p:nvPr/>
        </p:nvSpPr>
        <p:spPr>
          <a:xfrm>
            <a:off x="4410075" y="16002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EBITDA</a:t>
            </a:r>
          </a:p>
        </p:txBody>
      </p:sp>
      <p:sp>
        <p:nvSpPr>
          <p:cNvPr id="17" name="metric-2-value"/>
          <p:cNvSpPr txBox="1"/>
          <p:nvPr/>
        </p:nvSpPr>
        <p:spPr>
          <a:xfrm>
            <a:off x="4410075" y="194310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18.2</a:t>
            </a:r>
          </a:p>
        </p:txBody>
      </p:sp>
      <p:sp>
        <p:nvSpPr>
          <p:cNvPr id="18" name="metric-2-unit"/>
          <p:cNvSpPr txBox="1"/>
          <p:nvPr/>
        </p:nvSpPr>
        <p:spPr>
          <a:xfrm>
            <a:off x="4410075" y="241935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%</a:t>
            </a:r>
          </a:p>
        </p:txBody>
      </p:sp>
      <p:sp>
        <p:nvSpPr>
          <p:cNvPr id="19" name="metric-2-sublabel"/>
          <p:cNvSpPr txBox="1"/>
          <p:nvPr/>
        </p:nvSpPr>
        <p:spPr>
          <a:xfrm>
            <a:off x="4410075" y="27813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20.0%</a:t>
            </a:r>
          </a:p>
        </p:txBody>
      </p:sp>
      <p:sp>
        <p:nvSpPr>
          <p:cNvPr id="20" name="metric-2-delta"/>
          <p:cNvSpPr txBox="1"/>
          <p:nvPr/>
        </p:nvSpPr>
        <p:spPr>
          <a:xfrm>
            <a:off x="4410075" y="297180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−1.8pp vs Q1</a:t>
            </a:r>
          </a:p>
        </p:txBody>
      </p:sp>
      <p:sp>
        <p:nvSpPr>
          <p:cNvPr id="21" name="metric-2-progress-bg"/>
          <p:cNvSpPr/>
          <p:nvPr/>
        </p:nvSpPr>
        <p:spPr>
          <a:xfrm>
            <a:off x="4257675" y="370522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tric-2-progress"/>
          <p:cNvSpPr/>
          <p:nvPr/>
        </p:nvSpPr>
        <p:spPr>
          <a:xfrm>
            <a:off x="4257675" y="3705225"/>
            <a:ext cx="3333750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metric-3-tile"/>
          <p:cNvSpPr/>
          <p:nvPr/>
        </p:nvSpPr>
        <p:spPr>
          <a:xfrm>
            <a:off x="8058150" y="146685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metric-3-status"/>
          <p:cNvSpPr/>
          <p:nvPr/>
        </p:nvSpPr>
        <p:spPr>
          <a:xfrm>
            <a:off x="11496675" y="1581150"/>
            <a:ext cx="9525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metric-3-label"/>
          <p:cNvSpPr txBox="1"/>
          <p:nvPr/>
        </p:nvSpPr>
        <p:spPr>
          <a:xfrm>
            <a:off x="8210550" y="16002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NPS</a:t>
            </a:r>
          </a:p>
        </p:txBody>
      </p:sp>
      <p:sp>
        <p:nvSpPr>
          <p:cNvPr id="26" name="metric-3-value"/>
          <p:cNvSpPr txBox="1"/>
          <p:nvPr/>
        </p:nvSpPr>
        <p:spPr>
          <a:xfrm>
            <a:off x="8210550" y="194310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67</a:t>
            </a:r>
          </a:p>
        </p:txBody>
      </p:sp>
      <p:sp>
        <p:nvSpPr>
          <p:cNvPr id="27" name="metric-3-unit"/>
          <p:cNvSpPr txBox="1"/>
          <p:nvPr/>
        </p:nvSpPr>
        <p:spPr>
          <a:xfrm>
            <a:off x="8210550" y="241935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pts</a:t>
            </a:r>
          </a:p>
        </p:txBody>
      </p:sp>
      <p:sp>
        <p:nvSpPr>
          <p:cNvPr id="28" name="metric-3-sublabel"/>
          <p:cNvSpPr txBox="1"/>
          <p:nvPr/>
        </p:nvSpPr>
        <p:spPr>
          <a:xfrm>
            <a:off x="8210550" y="278130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60 pts</a:t>
            </a:r>
          </a:p>
        </p:txBody>
      </p:sp>
      <p:sp>
        <p:nvSpPr>
          <p:cNvPr id="29" name="metric-3-delta"/>
          <p:cNvSpPr txBox="1"/>
          <p:nvPr/>
        </p:nvSpPr>
        <p:spPr>
          <a:xfrm>
            <a:off x="8210550" y="297180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+5 pts vs Q1</a:t>
            </a:r>
          </a:p>
        </p:txBody>
      </p:sp>
      <p:sp>
        <p:nvSpPr>
          <p:cNvPr id="30" name="metric-3-progress-bg"/>
          <p:cNvSpPr/>
          <p:nvPr/>
        </p:nvSpPr>
        <p:spPr>
          <a:xfrm>
            <a:off x="8058150" y="370522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metric-3-progress"/>
          <p:cNvSpPr/>
          <p:nvPr/>
        </p:nvSpPr>
        <p:spPr>
          <a:xfrm>
            <a:off x="8058150" y="3705225"/>
            <a:ext cx="3667125" cy="476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metric-4-tile"/>
          <p:cNvSpPr/>
          <p:nvPr/>
        </p:nvSpPr>
        <p:spPr>
          <a:xfrm>
            <a:off x="457200" y="388620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metric-4-status"/>
          <p:cNvSpPr/>
          <p:nvPr/>
        </p:nvSpPr>
        <p:spPr>
          <a:xfrm>
            <a:off x="3895725" y="4000500"/>
            <a:ext cx="9525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metric-4-label"/>
          <p:cNvSpPr txBox="1"/>
          <p:nvPr/>
        </p:nvSpPr>
        <p:spPr>
          <a:xfrm>
            <a:off x="609600" y="40195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SLA UPTIME</a:t>
            </a:r>
          </a:p>
        </p:txBody>
      </p:sp>
      <p:sp>
        <p:nvSpPr>
          <p:cNvPr id="35" name="metric-4-value"/>
          <p:cNvSpPr txBox="1"/>
          <p:nvPr/>
        </p:nvSpPr>
        <p:spPr>
          <a:xfrm>
            <a:off x="609600" y="436245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99.7</a:t>
            </a:r>
          </a:p>
        </p:txBody>
      </p:sp>
      <p:sp>
        <p:nvSpPr>
          <p:cNvPr id="36" name="metric-4-unit"/>
          <p:cNvSpPr txBox="1"/>
          <p:nvPr/>
        </p:nvSpPr>
        <p:spPr>
          <a:xfrm>
            <a:off x="609600" y="483870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%</a:t>
            </a:r>
          </a:p>
        </p:txBody>
      </p:sp>
      <p:sp>
        <p:nvSpPr>
          <p:cNvPr id="37" name="metric-4-sublabel"/>
          <p:cNvSpPr txBox="1"/>
          <p:nvPr/>
        </p:nvSpPr>
        <p:spPr>
          <a:xfrm>
            <a:off x="609600" y="52006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99.5%</a:t>
            </a:r>
          </a:p>
        </p:txBody>
      </p:sp>
      <p:sp>
        <p:nvSpPr>
          <p:cNvPr id="38" name="metric-4-delta"/>
          <p:cNvSpPr txBox="1"/>
          <p:nvPr/>
        </p:nvSpPr>
        <p:spPr>
          <a:xfrm>
            <a:off x="609600" y="539115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▲ +0.2pp vs Q1</a:t>
            </a:r>
          </a:p>
        </p:txBody>
      </p:sp>
      <p:sp>
        <p:nvSpPr>
          <p:cNvPr id="39" name="metric-4-progress-bg"/>
          <p:cNvSpPr/>
          <p:nvPr/>
        </p:nvSpPr>
        <p:spPr>
          <a:xfrm>
            <a:off x="457200" y="612457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metric-4-progress"/>
          <p:cNvSpPr/>
          <p:nvPr/>
        </p:nvSpPr>
        <p:spPr>
          <a:xfrm>
            <a:off x="457200" y="6124575"/>
            <a:ext cx="3667125" cy="476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metric-5-tile"/>
          <p:cNvSpPr/>
          <p:nvPr/>
        </p:nvSpPr>
        <p:spPr>
          <a:xfrm>
            <a:off x="4257675" y="388620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metric-5-status"/>
          <p:cNvSpPr/>
          <p:nvPr/>
        </p:nvSpPr>
        <p:spPr>
          <a:xfrm>
            <a:off x="7696200" y="4000500"/>
            <a:ext cx="95250" cy="952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metric-5-label"/>
          <p:cNvSpPr txBox="1"/>
          <p:nvPr/>
        </p:nvSpPr>
        <p:spPr>
          <a:xfrm>
            <a:off x="4410075" y="40195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HEADCOUNT</a:t>
            </a:r>
          </a:p>
        </p:txBody>
      </p:sp>
      <p:sp>
        <p:nvSpPr>
          <p:cNvPr id="44" name="metric-5-value"/>
          <p:cNvSpPr txBox="1"/>
          <p:nvPr/>
        </p:nvSpPr>
        <p:spPr>
          <a:xfrm>
            <a:off x="4410075" y="436245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4,812</a:t>
            </a:r>
          </a:p>
        </p:txBody>
      </p:sp>
      <p:sp>
        <p:nvSpPr>
          <p:cNvPr id="45" name="metric-5-unit"/>
          <p:cNvSpPr txBox="1"/>
          <p:nvPr/>
        </p:nvSpPr>
        <p:spPr>
          <a:xfrm>
            <a:off x="4410075" y="483870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FTE</a:t>
            </a:r>
          </a:p>
        </p:txBody>
      </p:sp>
      <p:sp>
        <p:nvSpPr>
          <p:cNvPr id="46" name="metric-5-sublabel"/>
          <p:cNvSpPr txBox="1"/>
          <p:nvPr/>
        </p:nvSpPr>
        <p:spPr>
          <a:xfrm>
            <a:off x="4410075" y="52006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5,000 FTE</a:t>
            </a:r>
          </a:p>
        </p:txBody>
      </p:sp>
      <p:sp>
        <p:nvSpPr>
          <p:cNvPr id="47" name="metric-5-delta"/>
          <p:cNvSpPr txBox="1"/>
          <p:nvPr/>
        </p:nvSpPr>
        <p:spPr>
          <a:xfrm>
            <a:off x="4410075" y="539115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−188 vs target</a:t>
            </a:r>
          </a:p>
        </p:txBody>
      </p:sp>
      <p:sp>
        <p:nvSpPr>
          <p:cNvPr id="48" name="metric-5-progress-bg"/>
          <p:cNvSpPr/>
          <p:nvPr/>
        </p:nvSpPr>
        <p:spPr>
          <a:xfrm>
            <a:off x="4257675" y="612457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metric-5-progress"/>
          <p:cNvSpPr/>
          <p:nvPr/>
        </p:nvSpPr>
        <p:spPr>
          <a:xfrm>
            <a:off x="4257675" y="6124575"/>
            <a:ext cx="3514725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metric-6-tile"/>
          <p:cNvSpPr/>
          <p:nvPr/>
        </p:nvSpPr>
        <p:spPr>
          <a:xfrm>
            <a:off x="8058150" y="3886200"/>
            <a:ext cx="3667125" cy="2286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metric-6-status"/>
          <p:cNvSpPr/>
          <p:nvPr/>
        </p:nvSpPr>
        <p:spPr>
          <a:xfrm>
            <a:off x="11496675" y="4000500"/>
            <a:ext cx="9525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metric-6-label"/>
          <p:cNvSpPr txBox="1"/>
          <p:nvPr/>
        </p:nvSpPr>
        <p:spPr>
          <a:xfrm>
            <a:off x="8210550" y="40195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COST SAVINGS</a:t>
            </a:r>
          </a:p>
        </p:txBody>
      </p:sp>
      <p:sp>
        <p:nvSpPr>
          <p:cNvPr id="53" name="metric-6-value"/>
          <p:cNvSpPr txBox="1"/>
          <p:nvPr/>
        </p:nvSpPr>
        <p:spPr>
          <a:xfrm>
            <a:off x="8210550" y="4362450"/>
            <a:ext cx="3286125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2D0A4E"/>
                </a:solidFill>
                <a:latin typeface="Inter"/>
              </a:rPr>
              <a:t>$38</a:t>
            </a:r>
          </a:p>
        </p:txBody>
      </p:sp>
      <p:sp>
        <p:nvSpPr>
          <p:cNvPr id="54" name="metric-6-unit"/>
          <p:cNvSpPr txBox="1"/>
          <p:nvPr/>
        </p:nvSpPr>
        <p:spPr>
          <a:xfrm>
            <a:off x="8210550" y="4838700"/>
            <a:ext cx="32861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</a:t>
            </a:r>
          </a:p>
        </p:txBody>
      </p:sp>
      <p:sp>
        <p:nvSpPr>
          <p:cNvPr id="55" name="metric-6-sublabel"/>
          <p:cNvSpPr txBox="1"/>
          <p:nvPr/>
        </p:nvSpPr>
        <p:spPr>
          <a:xfrm>
            <a:off x="8210550" y="5200650"/>
            <a:ext cx="3286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Target: $60M</a:t>
            </a:r>
          </a:p>
        </p:txBody>
      </p:sp>
      <p:sp>
        <p:nvSpPr>
          <p:cNvPr id="56" name="metric-6-delta"/>
          <p:cNvSpPr txBox="1"/>
          <p:nvPr/>
        </p:nvSpPr>
        <p:spPr>
          <a:xfrm>
            <a:off x="8210550" y="5391150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▼ −$22M vs target</a:t>
            </a:r>
          </a:p>
        </p:txBody>
      </p:sp>
      <p:sp>
        <p:nvSpPr>
          <p:cNvPr id="57" name="metric-6-progress-bg"/>
          <p:cNvSpPr/>
          <p:nvPr/>
        </p:nvSpPr>
        <p:spPr>
          <a:xfrm>
            <a:off x="8058150" y="6124575"/>
            <a:ext cx="3667125" cy="476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metric-6-progress"/>
          <p:cNvSpPr/>
          <p:nvPr/>
        </p:nvSpPr>
        <p:spPr>
          <a:xfrm>
            <a:off x="8058150" y="6124575"/>
            <a:ext cx="2305050" cy="476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