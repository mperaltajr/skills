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Maturity model — where the practice is today and where it could go.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CMMI-style assessment of deck quality discipline across the team.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5-shape"/>
          <p:cNvSpPr/>
          <p:nvPr/>
        </p:nvSpPr>
        <p:spPr>
          <a:xfrm>
            <a:off x="5048250" y="2095500"/>
            <a:ext cx="2095500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5-label"/>
          <p:cNvSpPr txBox="1"/>
          <p:nvPr/>
        </p:nvSpPr>
        <p:spPr>
          <a:xfrm>
            <a:off x="5048250" y="2171700"/>
            <a:ext cx="2095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5</a:t>
            </a:r>
          </a:p>
        </p:txBody>
      </p:sp>
      <p:sp>
        <p:nvSpPr>
          <p:cNvPr id="7" name="tier-5-name"/>
          <p:cNvSpPr txBox="1"/>
          <p:nvPr/>
        </p:nvSpPr>
        <p:spPr>
          <a:xfrm>
            <a:off x="5048250" y="230505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OPTIMIZING</a:t>
            </a:r>
          </a:p>
        </p:txBody>
      </p:sp>
      <p:sp>
        <p:nvSpPr>
          <p:cNvPr id="8" name="tier-5-desc"/>
          <p:cNvSpPr txBox="1"/>
          <p:nvPr/>
        </p:nvSpPr>
        <p:spPr>
          <a:xfrm>
            <a:off x="9144000" y="21907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Continuous improvement. Patterns harvested across teams.</a:t>
            </a:r>
          </a:p>
        </p:txBody>
      </p:sp>
      <p:sp>
        <p:nvSpPr>
          <p:cNvPr id="9" name="tier-4-shape"/>
          <p:cNvSpPr/>
          <p:nvPr/>
        </p:nvSpPr>
        <p:spPr>
          <a:xfrm>
            <a:off x="4619625" y="2705100"/>
            <a:ext cx="2952750" cy="533400"/>
          </a:xfrm>
          <a:prstGeom prst="rect">
            <a:avLst/>
          </a:prstGeom>
          <a:solidFill>
            <a:srgbClr val="A87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ier-4-label"/>
          <p:cNvSpPr txBox="1"/>
          <p:nvPr/>
        </p:nvSpPr>
        <p:spPr>
          <a:xfrm>
            <a:off x="4619625" y="2781300"/>
            <a:ext cx="2952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4</a:t>
            </a:r>
          </a:p>
        </p:txBody>
      </p:sp>
      <p:sp>
        <p:nvSpPr>
          <p:cNvPr id="11" name="tier-4-name"/>
          <p:cNvSpPr txBox="1"/>
          <p:nvPr/>
        </p:nvSpPr>
        <p:spPr>
          <a:xfrm>
            <a:off x="4619625" y="2914650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QUANTITATIVELY MANAGED</a:t>
            </a:r>
          </a:p>
        </p:txBody>
      </p:sp>
      <p:sp>
        <p:nvSpPr>
          <p:cNvPr id="12" name="tier-4-desc"/>
          <p:cNvSpPr txBox="1"/>
          <p:nvPr/>
        </p:nvSpPr>
        <p:spPr>
          <a:xfrm>
            <a:off x="9144000" y="28003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Measured. Cycle time, edits, quality scores tracked.</a:t>
            </a:r>
          </a:p>
        </p:txBody>
      </p:sp>
      <p:sp>
        <p:nvSpPr>
          <p:cNvPr id="13" name="tier-3-shape"/>
          <p:cNvSpPr/>
          <p:nvPr/>
        </p:nvSpPr>
        <p:spPr>
          <a:xfrm>
            <a:off x="4191000" y="3314700"/>
            <a:ext cx="3810000" cy="533400"/>
          </a:xfrm>
          <a:prstGeom prst="rect">
            <a:avLst/>
          </a:prstGeom>
          <a:solidFill>
            <a:srgbClr val="8B5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ier-3-label"/>
          <p:cNvSpPr txBox="1"/>
          <p:nvPr/>
        </p:nvSpPr>
        <p:spPr>
          <a:xfrm>
            <a:off x="4191000" y="33909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3</a:t>
            </a:r>
          </a:p>
        </p:txBody>
      </p:sp>
      <p:sp>
        <p:nvSpPr>
          <p:cNvPr id="15" name="tier-3-name"/>
          <p:cNvSpPr txBox="1"/>
          <p:nvPr/>
        </p:nvSpPr>
        <p:spPr>
          <a:xfrm>
            <a:off x="4191000" y="3524250"/>
            <a:ext cx="3810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DEFINED</a:t>
            </a:r>
          </a:p>
        </p:txBody>
      </p:sp>
      <p:sp>
        <p:nvSpPr>
          <p:cNvPr id="16" name="tier-3-desc"/>
          <p:cNvSpPr txBox="1"/>
          <p:nvPr/>
        </p:nvSpPr>
        <p:spPr>
          <a:xfrm>
            <a:off x="9144000" y="34099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Standard process followed. Predictable quality.</a:t>
            </a:r>
          </a:p>
        </p:txBody>
      </p:sp>
      <p:sp>
        <p:nvSpPr>
          <p:cNvPr id="17" name="tier-2-shape"/>
          <p:cNvSpPr/>
          <p:nvPr/>
        </p:nvSpPr>
        <p:spPr>
          <a:xfrm>
            <a:off x="3762375" y="3924300"/>
            <a:ext cx="4667250" cy="533400"/>
          </a:xfrm>
          <a:prstGeom prst="rect">
            <a:avLst/>
          </a:prstGeom>
          <a:solidFill>
            <a:srgbClr val="6F4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ier-2-label"/>
          <p:cNvSpPr txBox="1"/>
          <p:nvPr/>
        </p:nvSpPr>
        <p:spPr>
          <a:xfrm>
            <a:off x="3762375" y="4000500"/>
            <a:ext cx="46672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2</a:t>
            </a:r>
          </a:p>
        </p:txBody>
      </p:sp>
      <p:sp>
        <p:nvSpPr>
          <p:cNvPr id="19" name="tier-2-name"/>
          <p:cNvSpPr txBox="1"/>
          <p:nvPr/>
        </p:nvSpPr>
        <p:spPr>
          <a:xfrm>
            <a:off x="3762375" y="4133850"/>
            <a:ext cx="4667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MANAGED</a:t>
            </a:r>
          </a:p>
        </p:txBody>
      </p:sp>
      <p:sp>
        <p:nvSpPr>
          <p:cNvPr id="20" name="tier-2-desc"/>
          <p:cNvSpPr txBox="1"/>
          <p:nvPr/>
        </p:nvSpPr>
        <p:spPr>
          <a:xfrm>
            <a:off x="9144000" y="40195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Templates exist; usage inconsistent across teams.</a:t>
            </a:r>
          </a:p>
        </p:txBody>
      </p:sp>
      <p:sp>
        <p:nvSpPr>
          <p:cNvPr id="21" name="tier-1-shape"/>
          <p:cNvSpPr/>
          <p:nvPr/>
        </p:nvSpPr>
        <p:spPr>
          <a:xfrm>
            <a:off x="3333750" y="4533900"/>
            <a:ext cx="5524500" cy="5334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ier-1-label"/>
          <p:cNvSpPr txBox="1"/>
          <p:nvPr/>
        </p:nvSpPr>
        <p:spPr>
          <a:xfrm>
            <a:off x="3333750" y="4610100"/>
            <a:ext cx="552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LEVEL 1</a:t>
            </a:r>
          </a:p>
        </p:txBody>
      </p:sp>
      <p:sp>
        <p:nvSpPr>
          <p:cNvPr id="23" name="tier-1-name"/>
          <p:cNvSpPr txBox="1"/>
          <p:nvPr/>
        </p:nvSpPr>
        <p:spPr>
          <a:xfrm>
            <a:off x="3333750" y="4743450"/>
            <a:ext cx="5524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INITIAL</a:t>
            </a:r>
          </a:p>
        </p:txBody>
      </p:sp>
      <p:sp>
        <p:nvSpPr>
          <p:cNvPr id="24" name="tier-1-desc"/>
          <p:cNvSpPr txBox="1"/>
          <p:nvPr/>
        </p:nvSpPr>
        <p:spPr>
          <a:xfrm>
            <a:off x="9144000" y="46291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Ad-hoc. No standard. Quality varies by author.</a:t>
            </a:r>
          </a:p>
        </p:txBody>
      </p:sp>
      <p:sp>
        <p:nvSpPr>
          <p:cNvPr id="25" name="tier-current-chip"/>
          <p:cNvSpPr/>
          <p:nvPr/>
        </p:nvSpPr>
        <p:spPr>
          <a:xfrm>
            <a:off x="2524125" y="4086225"/>
            <a:ext cx="10477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ier-current-chip-text"/>
          <p:cNvSpPr txBox="1"/>
          <p:nvPr/>
        </p:nvSpPr>
        <p:spPr>
          <a:xfrm>
            <a:off x="2524125" y="40862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CURRENT STATE</a:t>
            </a:r>
          </a:p>
        </p:txBody>
      </p:sp>
      <p:sp>
        <p:nvSpPr>
          <p:cNvPr id="27" name="tier-current-note"/>
          <p:cNvSpPr txBox="1"/>
          <p:nvPr/>
        </p:nvSpPr>
        <p:spPr>
          <a:xfrm>
            <a:off x="2333625" y="4314825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1">
                <a:solidFill>
                  <a:srgbClr val="C780FF"/>
                </a:solidFill>
                <a:latin typeface="Inter"/>
              </a:rPr>
              <a:t>We're here today</a:t>
            </a:r>
          </a:p>
        </p:txBody>
      </p:sp>
      <p:sp>
        <p:nvSpPr>
          <p:cNvPr id="28" name="tier-current-arrow"/>
          <p:cNvSpPr/>
          <p:nvPr/>
        </p:nvSpPr>
        <p:spPr>
          <a:xfrm>
            <a:off x="3629025" y="4124325"/>
            <a:ext cx="133350" cy="133350"/>
          </a:xfrm>
          <a:prstGeom prst="rtTriangl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We're at Level 2 today. The pilot moves us to Level 3 in four weeks.</a:t>
            </a:r>
          </a:p>
        </p:txBody>
      </p:sp>
      <p:sp>
        <p:nvSpPr>
          <p:cNvPr id="3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