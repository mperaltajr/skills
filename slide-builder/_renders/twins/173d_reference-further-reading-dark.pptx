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References &amp;amp;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Further Reading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Curated sources, frameworks, and internal materials supporting this analysis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-1-header"/>
          <p:cNvSpPr txBox="1"/>
          <p:nvPr/>
        </p:nvSpPr>
        <p:spPr>
          <a:xfrm>
            <a:off x="457200" y="2095500"/>
            <a:ext cx="5543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REPORTS &amp; RESEARCH</a:t>
            </a:r>
          </a:p>
        </p:txBody>
      </p:sp>
      <p:sp>
        <p:nvSpPr>
          <p:cNvPr id="6" name="col-1-header-rule"/>
          <p:cNvSpPr/>
          <p:nvPr/>
        </p:nvSpPr>
        <p:spPr>
          <a:xfrm>
            <a:off x="457200" y="2266950"/>
            <a:ext cx="55435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ref-1-card"/>
          <p:cNvSpPr/>
          <p:nvPr/>
        </p:nvSpPr>
        <p:spPr>
          <a:xfrm>
            <a:off x="457200" y="2362200"/>
            <a:ext cx="55435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ref-1-accent"/>
          <p:cNvSpPr/>
          <p:nvPr/>
        </p:nvSpPr>
        <p:spPr>
          <a:xfrm>
            <a:off x="457200" y="2362200"/>
            <a:ext cx="19050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ref-1-icon"/>
          <p:cNvSpPr txBox="1"/>
          <p:nvPr/>
        </p:nvSpPr>
        <p:spPr>
          <a:xfrm>
            <a:off x="552450" y="2438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C780FF"/>
                </a:solidFill>
                <a:latin typeface="Inter"/>
              </a:rPr>
              <a:t>•</a:t>
            </a:r>
          </a:p>
        </p:txBody>
      </p:sp>
      <p:sp>
        <p:nvSpPr>
          <p:cNvPr id="10" name="ref-1-title"/>
          <p:cNvSpPr txBox="1"/>
          <p:nvPr/>
        </p:nvSpPr>
        <p:spPr>
          <a:xfrm>
            <a:off x="838200" y="24193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 State of AI in Enterprise 2025</a:t>
            </a:r>
          </a:p>
        </p:txBody>
      </p:sp>
      <p:sp>
        <p:nvSpPr>
          <p:cNvPr id="11" name="ref-1-source"/>
          <p:cNvSpPr txBox="1"/>
          <p:nvPr/>
        </p:nvSpPr>
        <p:spPr>
          <a:xfrm>
            <a:off x="838200" y="26098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McKinsey Global Institute</a:t>
            </a:r>
          </a:p>
        </p:txBody>
      </p:sp>
      <p:sp>
        <p:nvSpPr>
          <p:cNvPr id="12" name="ref-1-year"/>
          <p:cNvSpPr txBox="1"/>
          <p:nvPr/>
        </p:nvSpPr>
        <p:spPr>
          <a:xfrm>
            <a:off x="838200" y="27622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2025</a:t>
            </a:r>
          </a:p>
        </p:txBody>
      </p:sp>
      <p:sp>
        <p:nvSpPr>
          <p:cNvPr id="13" name="ref-2-card"/>
          <p:cNvSpPr/>
          <p:nvPr/>
        </p:nvSpPr>
        <p:spPr>
          <a:xfrm>
            <a:off x="457200" y="3048000"/>
            <a:ext cx="55435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ref-2-accent"/>
          <p:cNvSpPr/>
          <p:nvPr/>
        </p:nvSpPr>
        <p:spPr>
          <a:xfrm>
            <a:off x="457200" y="3048000"/>
            <a:ext cx="19050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ref-2-icon"/>
          <p:cNvSpPr txBox="1"/>
          <p:nvPr/>
        </p:nvSpPr>
        <p:spPr>
          <a:xfrm>
            <a:off x="552450" y="3124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C780FF"/>
                </a:solidFill>
                <a:latin typeface="Inter"/>
              </a:rPr>
              <a:t>•</a:t>
            </a:r>
          </a:p>
        </p:txBody>
      </p:sp>
      <p:sp>
        <p:nvSpPr>
          <p:cNvPr id="16" name="ref-2-title"/>
          <p:cNvSpPr txBox="1"/>
          <p:nvPr/>
        </p:nvSpPr>
        <p:spPr>
          <a:xfrm>
            <a:off x="838200" y="31051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Digital Transformation Maturity Index</a:t>
            </a:r>
          </a:p>
        </p:txBody>
      </p:sp>
      <p:sp>
        <p:nvSpPr>
          <p:cNvPr id="17" name="ref-2-source"/>
          <p:cNvSpPr txBox="1"/>
          <p:nvPr/>
        </p:nvSpPr>
        <p:spPr>
          <a:xfrm>
            <a:off x="838200" y="32956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Gartner Research</a:t>
            </a:r>
          </a:p>
        </p:txBody>
      </p:sp>
      <p:sp>
        <p:nvSpPr>
          <p:cNvPr id="18" name="ref-2-year"/>
          <p:cNvSpPr txBox="1"/>
          <p:nvPr/>
        </p:nvSpPr>
        <p:spPr>
          <a:xfrm>
            <a:off x="838200" y="34480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2025</a:t>
            </a:r>
          </a:p>
        </p:txBody>
      </p:sp>
      <p:sp>
        <p:nvSpPr>
          <p:cNvPr id="19" name="ref-3-card"/>
          <p:cNvSpPr/>
          <p:nvPr/>
        </p:nvSpPr>
        <p:spPr>
          <a:xfrm>
            <a:off x="457200" y="3733800"/>
            <a:ext cx="55435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ref-3-accent"/>
          <p:cNvSpPr/>
          <p:nvPr/>
        </p:nvSpPr>
        <p:spPr>
          <a:xfrm>
            <a:off x="457200" y="3733800"/>
            <a:ext cx="19050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ref-3-icon"/>
          <p:cNvSpPr txBox="1"/>
          <p:nvPr/>
        </p:nvSpPr>
        <p:spPr>
          <a:xfrm>
            <a:off x="552450" y="38100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C780FF"/>
                </a:solidFill>
                <a:latin typeface="Inter"/>
              </a:rPr>
              <a:t>•</a:t>
            </a:r>
          </a:p>
        </p:txBody>
      </p:sp>
      <p:sp>
        <p:nvSpPr>
          <p:cNvPr id="22" name="ref-3-title"/>
          <p:cNvSpPr txBox="1"/>
          <p:nvPr/>
        </p:nvSpPr>
        <p:spPr>
          <a:xfrm>
            <a:off x="838200" y="37909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Future of Work: Workforce Reinvention</a:t>
            </a:r>
          </a:p>
        </p:txBody>
      </p:sp>
      <p:sp>
        <p:nvSpPr>
          <p:cNvPr id="23" name="ref-3-source"/>
          <p:cNvSpPr txBox="1"/>
          <p:nvPr/>
        </p:nvSpPr>
        <p:spPr>
          <a:xfrm>
            <a:off x="838200" y="39814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World Economic Forum</a:t>
            </a:r>
          </a:p>
        </p:txBody>
      </p:sp>
      <p:sp>
        <p:nvSpPr>
          <p:cNvPr id="24" name="ref-3-year"/>
          <p:cNvSpPr txBox="1"/>
          <p:nvPr/>
        </p:nvSpPr>
        <p:spPr>
          <a:xfrm>
            <a:off x="838200" y="41338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2024</a:t>
            </a:r>
          </a:p>
        </p:txBody>
      </p:sp>
      <p:sp>
        <p:nvSpPr>
          <p:cNvPr id="25" name="ref-4-card"/>
          <p:cNvSpPr/>
          <p:nvPr/>
        </p:nvSpPr>
        <p:spPr>
          <a:xfrm>
            <a:off x="457200" y="4419600"/>
            <a:ext cx="55435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ef-4-accent"/>
          <p:cNvSpPr/>
          <p:nvPr/>
        </p:nvSpPr>
        <p:spPr>
          <a:xfrm>
            <a:off x="457200" y="4419600"/>
            <a:ext cx="19050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ref-4-icon"/>
          <p:cNvSpPr txBox="1"/>
          <p:nvPr/>
        </p:nvSpPr>
        <p:spPr>
          <a:xfrm>
            <a:off x="552450" y="4495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C780FF"/>
                </a:solidFill>
                <a:latin typeface="Inter"/>
              </a:rPr>
              <a:t>•</a:t>
            </a:r>
          </a:p>
        </p:txBody>
      </p:sp>
      <p:sp>
        <p:nvSpPr>
          <p:cNvPr id="28" name="ref-4-title"/>
          <p:cNvSpPr txBox="1"/>
          <p:nvPr/>
        </p:nvSpPr>
        <p:spPr>
          <a:xfrm>
            <a:off x="838200" y="44767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Technology Vision 2026: Human by Design</a:t>
            </a:r>
          </a:p>
        </p:txBody>
      </p:sp>
      <p:sp>
        <p:nvSpPr>
          <p:cNvPr id="29" name="ref-4-source"/>
          <p:cNvSpPr txBox="1"/>
          <p:nvPr/>
        </p:nvSpPr>
        <p:spPr>
          <a:xfrm>
            <a:off x="838200" y="46672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Accenture Research</a:t>
            </a:r>
          </a:p>
        </p:txBody>
      </p:sp>
      <p:sp>
        <p:nvSpPr>
          <p:cNvPr id="30" name="ref-4-year"/>
          <p:cNvSpPr txBox="1"/>
          <p:nvPr/>
        </p:nvSpPr>
        <p:spPr>
          <a:xfrm>
            <a:off x="838200" y="48196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2026</a:t>
            </a:r>
          </a:p>
        </p:txBody>
      </p:sp>
      <p:sp>
        <p:nvSpPr>
          <p:cNvPr id="31" name="col-2-header"/>
          <p:cNvSpPr txBox="1"/>
          <p:nvPr/>
        </p:nvSpPr>
        <p:spPr>
          <a:xfrm>
            <a:off x="6191250" y="2095500"/>
            <a:ext cx="55435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ARTICLES &amp; FRAMEWORKS</a:t>
            </a:r>
          </a:p>
        </p:txBody>
      </p:sp>
      <p:sp>
        <p:nvSpPr>
          <p:cNvPr id="32" name="col-2-header-rule"/>
          <p:cNvSpPr/>
          <p:nvPr/>
        </p:nvSpPr>
        <p:spPr>
          <a:xfrm>
            <a:off x="6191250" y="2266950"/>
            <a:ext cx="55435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ref-5-card"/>
          <p:cNvSpPr/>
          <p:nvPr/>
        </p:nvSpPr>
        <p:spPr>
          <a:xfrm>
            <a:off x="6191250" y="2362200"/>
            <a:ext cx="55435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ef-5-accent"/>
          <p:cNvSpPr/>
          <p:nvPr/>
        </p:nvSpPr>
        <p:spPr>
          <a:xfrm>
            <a:off x="6191250" y="2362200"/>
            <a:ext cx="19050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ef-5-icon"/>
          <p:cNvSpPr txBox="1"/>
          <p:nvPr/>
        </p:nvSpPr>
        <p:spPr>
          <a:xfrm>
            <a:off x="6286500" y="2438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C780FF"/>
                </a:solidFill>
                <a:latin typeface="Inter"/>
              </a:rPr>
              <a:t>•</a:t>
            </a:r>
          </a:p>
        </p:txBody>
      </p:sp>
      <p:sp>
        <p:nvSpPr>
          <p:cNvPr id="36" name="ref-5-title"/>
          <p:cNvSpPr txBox="1"/>
          <p:nvPr/>
        </p:nvSpPr>
        <p:spPr>
          <a:xfrm>
            <a:off x="6572250" y="24193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Competing on Customer Journeys</a:t>
            </a:r>
          </a:p>
        </p:txBody>
      </p:sp>
      <p:sp>
        <p:nvSpPr>
          <p:cNvPr id="37" name="ref-5-source"/>
          <p:cNvSpPr txBox="1"/>
          <p:nvPr/>
        </p:nvSpPr>
        <p:spPr>
          <a:xfrm>
            <a:off x="6572250" y="26098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Harvard Business Review · David C. Edelman</a:t>
            </a:r>
          </a:p>
        </p:txBody>
      </p:sp>
      <p:sp>
        <p:nvSpPr>
          <p:cNvPr id="38" name="ref-5-year"/>
          <p:cNvSpPr txBox="1"/>
          <p:nvPr/>
        </p:nvSpPr>
        <p:spPr>
          <a:xfrm>
            <a:off x="6572250" y="27622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2024</a:t>
            </a:r>
          </a:p>
        </p:txBody>
      </p:sp>
      <p:sp>
        <p:nvSpPr>
          <p:cNvPr id="39" name="ref-6-card"/>
          <p:cNvSpPr/>
          <p:nvPr/>
        </p:nvSpPr>
        <p:spPr>
          <a:xfrm>
            <a:off x="6191250" y="3048000"/>
            <a:ext cx="55435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ref-6-accent"/>
          <p:cNvSpPr/>
          <p:nvPr/>
        </p:nvSpPr>
        <p:spPr>
          <a:xfrm>
            <a:off x="6191250" y="3048000"/>
            <a:ext cx="19050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ef-6-icon"/>
          <p:cNvSpPr txBox="1"/>
          <p:nvPr/>
        </p:nvSpPr>
        <p:spPr>
          <a:xfrm>
            <a:off x="6286500" y="31242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C780FF"/>
                </a:solidFill>
                <a:latin typeface="Inter"/>
              </a:rPr>
              <a:t>•</a:t>
            </a:r>
          </a:p>
        </p:txBody>
      </p:sp>
      <p:sp>
        <p:nvSpPr>
          <p:cNvPr id="42" name="ref-6-title"/>
          <p:cNvSpPr txBox="1"/>
          <p:nvPr/>
        </p:nvSpPr>
        <p:spPr>
          <a:xfrm>
            <a:off x="6572250" y="31051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Jobs-to-Be-Done Theory: A Primer</a:t>
            </a:r>
          </a:p>
        </p:txBody>
      </p:sp>
      <p:sp>
        <p:nvSpPr>
          <p:cNvPr id="43" name="ref-6-source"/>
          <p:cNvSpPr txBox="1"/>
          <p:nvPr/>
        </p:nvSpPr>
        <p:spPr>
          <a:xfrm>
            <a:off x="6572250" y="32956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Clayton Christensen Institute</a:t>
            </a:r>
          </a:p>
        </p:txBody>
      </p:sp>
      <p:sp>
        <p:nvSpPr>
          <p:cNvPr id="44" name="ref-6-year"/>
          <p:cNvSpPr txBox="1"/>
          <p:nvPr/>
        </p:nvSpPr>
        <p:spPr>
          <a:xfrm>
            <a:off x="6572250" y="34480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2023</a:t>
            </a:r>
          </a:p>
        </p:txBody>
      </p:sp>
      <p:sp>
        <p:nvSpPr>
          <p:cNvPr id="45" name="ref-7-card"/>
          <p:cNvSpPr/>
          <p:nvPr/>
        </p:nvSpPr>
        <p:spPr>
          <a:xfrm>
            <a:off x="6191250" y="3733800"/>
            <a:ext cx="55435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ref-7-accent"/>
          <p:cNvSpPr/>
          <p:nvPr/>
        </p:nvSpPr>
        <p:spPr>
          <a:xfrm>
            <a:off x="6191250" y="3733800"/>
            <a:ext cx="19050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ef-7-icon"/>
          <p:cNvSpPr txBox="1"/>
          <p:nvPr/>
        </p:nvSpPr>
        <p:spPr>
          <a:xfrm>
            <a:off x="6286500" y="38100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C780FF"/>
                </a:solidFill>
                <a:latin typeface="Inter"/>
              </a:rPr>
              <a:t>•</a:t>
            </a:r>
          </a:p>
        </p:txBody>
      </p:sp>
      <p:sp>
        <p:nvSpPr>
          <p:cNvPr id="48" name="ref-7-title"/>
          <p:cNvSpPr txBox="1"/>
          <p:nvPr/>
        </p:nvSpPr>
        <p:spPr>
          <a:xfrm>
            <a:off x="6572250" y="37909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OKR Framework — Measure What Matters</a:t>
            </a:r>
          </a:p>
        </p:txBody>
      </p:sp>
      <p:sp>
        <p:nvSpPr>
          <p:cNvPr id="49" name="ref-7-source"/>
          <p:cNvSpPr txBox="1"/>
          <p:nvPr/>
        </p:nvSpPr>
        <p:spPr>
          <a:xfrm>
            <a:off x="6572250" y="39814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John Doerr · Penguin Business</a:t>
            </a:r>
          </a:p>
        </p:txBody>
      </p:sp>
      <p:sp>
        <p:nvSpPr>
          <p:cNvPr id="50" name="ref-7-year"/>
          <p:cNvSpPr txBox="1"/>
          <p:nvPr/>
        </p:nvSpPr>
        <p:spPr>
          <a:xfrm>
            <a:off x="6572250" y="41338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2023</a:t>
            </a:r>
          </a:p>
        </p:txBody>
      </p:sp>
      <p:sp>
        <p:nvSpPr>
          <p:cNvPr id="51" name="ref-8-card"/>
          <p:cNvSpPr/>
          <p:nvPr/>
        </p:nvSpPr>
        <p:spPr>
          <a:xfrm>
            <a:off x="6191250" y="4419600"/>
            <a:ext cx="5543550" cy="609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ref-8-accent"/>
          <p:cNvSpPr/>
          <p:nvPr/>
        </p:nvSpPr>
        <p:spPr>
          <a:xfrm>
            <a:off x="6191250" y="4419600"/>
            <a:ext cx="19050" cy="6096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ref-8-icon"/>
          <p:cNvSpPr txBox="1"/>
          <p:nvPr/>
        </p:nvSpPr>
        <p:spPr>
          <a:xfrm>
            <a:off x="6286500" y="4495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0" i="0">
                <a:solidFill>
                  <a:srgbClr val="C780FF"/>
                </a:solidFill>
                <a:latin typeface="Inter"/>
              </a:rPr>
              <a:t>•</a:t>
            </a:r>
          </a:p>
        </p:txBody>
      </p:sp>
      <p:sp>
        <p:nvSpPr>
          <p:cNvPr id="54" name="ref-8-title"/>
          <p:cNvSpPr txBox="1"/>
          <p:nvPr/>
        </p:nvSpPr>
        <p:spPr>
          <a:xfrm>
            <a:off x="6572250" y="447675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Platform Strategy Design Principles</a:t>
            </a:r>
          </a:p>
        </p:txBody>
      </p:sp>
      <p:sp>
        <p:nvSpPr>
          <p:cNvPr id="55" name="ref-8-source"/>
          <p:cNvSpPr txBox="1"/>
          <p:nvPr/>
        </p:nvSpPr>
        <p:spPr>
          <a:xfrm>
            <a:off x="6572250" y="46672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MIT Sloan Management Review</a:t>
            </a:r>
          </a:p>
        </p:txBody>
      </p:sp>
      <p:sp>
        <p:nvSpPr>
          <p:cNvPr id="56" name="ref-8-year"/>
          <p:cNvSpPr txBox="1"/>
          <p:nvPr/>
        </p:nvSpPr>
        <p:spPr>
          <a:xfrm>
            <a:off x="6572250" y="48196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2025</a:t>
            </a:r>
          </a:p>
        </p:txBody>
      </p:sp>
      <p:sp>
        <p:nvSpPr>
          <p:cNvPr id="57" name="internal-strip-bg"/>
          <p:cNvSpPr/>
          <p:nvPr/>
        </p:nvSpPr>
        <p:spPr>
          <a:xfrm>
            <a:off x="457200" y="5886450"/>
            <a:ext cx="11277600" cy="3048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internal-strip-label"/>
          <p:cNvSpPr txBox="1"/>
          <p:nvPr/>
        </p:nvSpPr>
        <p:spPr>
          <a:xfrm>
            <a:off x="571500" y="588645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INTERNAL RESOURCES</a:t>
            </a:r>
          </a:p>
        </p:txBody>
      </p:sp>
      <p:sp>
        <p:nvSpPr>
          <p:cNvPr id="59" name="chip-1-bg"/>
          <p:cNvSpPr/>
          <p:nvPr/>
        </p:nvSpPr>
        <p:spPr>
          <a:xfrm>
            <a:off x="2247900" y="5943600"/>
            <a:ext cx="2667000" cy="1905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hip-1-name"/>
          <p:cNvSpPr txBox="1"/>
          <p:nvPr/>
        </p:nvSpPr>
        <p:spPr>
          <a:xfrm>
            <a:off x="2324100" y="5943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AI Readiness Playbook v3</a:t>
            </a:r>
          </a:p>
        </p:txBody>
      </p:sp>
      <p:sp>
        <p:nvSpPr>
          <p:cNvPr id="61" name="chip-1-tag-bg"/>
          <p:cNvSpPr/>
          <p:nvPr/>
        </p:nvSpPr>
        <p:spPr>
          <a:xfrm>
            <a:off x="4381500" y="5972175"/>
            <a:ext cx="476250" cy="1333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hip-1-tag"/>
          <p:cNvSpPr txBox="1"/>
          <p:nvPr/>
        </p:nvSpPr>
        <p:spPr>
          <a:xfrm>
            <a:off x="4381500" y="5972175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INTERNAL</a:t>
            </a:r>
          </a:p>
        </p:txBody>
      </p:sp>
      <p:sp>
        <p:nvSpPr>
          <p:cNvPr id="63" name="chip-2-bg"/>
          <p:cNvSpPr/>
          <p:nvPr/>
        </p:nvSpPr>
        <p:spPr>
          <a:xfrm>
            <a:off x="5010150" y="5943600"/>
            <a:ext cx="2667000" cy="1905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hip-2-name"/>
          <p:cNvSpPr txBox="1"/>
          <p:nvPr/>
        </p:nvSpPr>
        <p:spPr>
          <a:xfrm>
            <a:off x="5086350" y="5943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Client Benchmark Database 2025</a:t>
            </a:r>
          </a:p>
        </p:txBody>
      </p:sp>
      <p:sp>
        <p:nvSpPr>
          <p:cNvPr id="65" name="chip-2-tag-bg"/>
          <p:cNvSpPr/>
          <p:nvPr/>
        </p:nvSpPr>
        <p:spPr>
          <a:xfrm>
            <a:off x="7143750" y="5972175"/>
            <a:ext cx="476250" cy="1333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chip-2-tag"/>
          <p:cNvSpPr txBox="1"/>
          <p:nvPr/>
        </p:nvSpPr>
        <p:spPr>
          <a:xfrm>
            <a:off x="7143750" y="5972175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RESTRICTED</a:t>
            </a:r>
          </a:p>
        </p:txBody>
      </p:sp>
      <p:sp>
        <p:nvSpPr>
          <p:cNvPr id="67" name="chip-3-bg"/>
          <p:cNvSpPr/>
          <p:nvPr/>
        </p:nvSpPr>
        <p:spPr>
          <a:xfrm>
            <a:off x="7772400" y="5943600"/>
            <a:ext cx="2667000" cy="190500"/>
          </a:xfrm>
          <a:prstGeom prst="rect">
            <a:avLst/>
          </a:prstGeom>
          <a:solidFill>
            <a:srgbClr val="2D0A4E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chip-3-name"/>
          <p:cNvSpPr txBox="1"/>
          <p:nvPr/>
        </p:nvSpPr>
        <p:spPr>
          <a:xfrm>
            <a:off x="7848600" y="5943600"/>
            <a:ext cx="2095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Digital Strategy Toolkit — FS</a:t>
            </a:r>
          </a:p>
        </p:txBody>
      </p:sp>
      <p:sp>
        <p:nvSpPr>
          <p:cNvPr id="69" name="chip-3-tag-bg"/>
          <p:cNvSpPr/>
          <p:nvPr/>
        </p:nvSpPr>
        <p:spPr>
          <a:xfrm>
            <a:off x="9906000" y="5972175"/>
            <a:ext cx="476250" cy="1333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chip-3-tag"/>
          <p:cNvSpPr txBox="1"/>
          <p:nvPr/>
        </p:nvSpPr>
        <p:spPr>
          <a:xfrm>
            <a:off x="9906000" y="5972175"/>
            <a:ext cx="476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INTERNAL</a:t>
            </a:r>
          </a:p>
        </p:txBody>
      </p:sp>
      <p:sp>
        <p:nvSpPr>
          <p:cNvPr id="7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