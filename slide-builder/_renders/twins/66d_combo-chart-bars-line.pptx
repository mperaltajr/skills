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00125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025" b="1" i="0">
                <a:solidFill>
                  <a:srgbClr val="FFFFFF"/>
                </a:solidFill>
                <a:latin typeface="Inter"/>
              </a:rPr>
              <a:t>Volume and quality, both rising — the pilot signal.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10001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Weekly decks completed (bars) and average QC score (line), pilot weeks 1-8.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zone-bg"/>
          <p:cNvSpPr/>
          <p:nvPr/>
        </p:nvSpPr>
        <p:spPr>
          <a:xfrm>
            <a:off x="609600" y="2095500"/>
            <a:ext cx="7696200" cy="3619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title"/>
          <p:cNvSpPr txBox="1"/>
          <p:nvPr/>
        </p:nvSpPr>
        <p:spPr>
          <a:xfrm>
            <a:off x="838200" y="2286000"/>
            <a:ext cx="5334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PILOT THROUGHPUT VS QUALITY · W1–W8</a:t>
            </a:r>
          </a:p>
        </p:txBody>
      </p:sp>
      <p:sp>
        <p:nvSpPr>
          <p:cNvPr id="7" name="legend-1-swatch"/>
          <p:cNvSpPr/>
          <p:nvPr/>
        </p:nvSpPr>
        <p:spPr>
          <a:xfrm>
            <a:off x="5829300" y="2324100"/>
            <a:ext cx="114300" cy="114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1-label"/>
          <p:cNvSpPr txBox="1"/>
          <p:nvPr/>
        </p:nvSpPr>
        <p:spPr>
          <a:xfrm>
            <a:off x="5981700" y="23050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Decks completed</a:t>
            </a:r>
          </a:p>
        </p:txBody>
      </p:sp>
      <p:sp>
        <p:nvSpPr>
          <p:cNvPr id="9" name="legend-2-swatch"/>
          <p:cNvSpPr/>
          <p:nvPr/>
        </p:nvSpPr>
        <p:spPr>
          <a:xfrm>
            <a:off x="7067550" y="2371725"/>
            <a:ext cx="1333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2-label"/>
          <p:cNvSpPr txBox="1"/>
          <p:nvPr/>
        </p:nvSpPr>
        <p:spPr>
          <a:xfrm>
            <a:off x="7219950" y="23050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Avg QC score</a:t>
            </a:r>
          </a:p>
        </p:txBody>
      </p:sp>
      <p:sp>
        <p:nvSpPr>
          <p:cNvPr id="11" name="chart-canvas"/>
          <p:cNvSpPr/>
          <p:nvPr/>
        </p:nvSpPr>
        <p:spPr>
          <a:xfrm>
            <a:off x="838200" y="2571750"/>
            <a:ext cx="7239000" cy="2952750"/>
          </a:xfrm>
          <a:prstGeom prst="rect">
            <a:avLst/>
          </a:prstGeom>
          <a:solidFill>
            <a:srgbClr val="42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annot-bg"/>
          <p:cNvSpPr/>
          <p:nvPr/>
        </p:nvSpPr>
        <p:spPr>
          <a:xfrm>
            <a:off x="8534400" y="2095500"/>
            <a:ext cx="3048000" cy="361950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annot-header"/>
          <p:cNvSpPr txBox="1"/>
          <p:nvPr/>
        </p:nvSpPr>
        <p:spPr>
          <a:xfrm>
            <a:off x="8743950" y="2305050"/>
            <a:ext cx="2628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WHAT THE CURVES SAY</a:t>
            </a:r>
          </a:p>
        </p:txBody>
      </p:sp>
      <p:sp>
        <p:nvSpPr>
          <p:cNvPr id="14" name="annot-sub"/>
          <p:cNvSpPr txBox="1"/>
          <p:nvPr/>
        </p:nvSpPr>
        <p:spPr>
          <a:xfrm>
            <a:off x="8743950" y="2495550"/>
            <a:ext cx="26289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Volume more than doubled while QC climbed 25 points.</a:t>
            </a:r>
          </a:p>
        </p:txBody>
      </p:sp>
      <p:sp>
        <p:nvSpPr>
          <p:cNvPr id="15" name="annot-1-marker"/>
          <p:cNvSpPr txBox="1"/>
          <p:nvPr/>
        </p:nvSpPr>
        <p:spPr>
          <a:xfrm>
            <a:off x="8743950" y="3067050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■</a:t>
            </a:r>
          </a:p>
        </p:txBody>
      </p:sp>
      <p:sp>
        <p:nvSpPr>
          <p:cNvPr id="16" name="annot-1-body"/>
          <p:cNvSpPr txBox="1"/>
          <p:nvPr/>
        </p:nvSpPr>
        <p:spPr>
          <a:xfrm>
            <a:off x="8915400" y="3067050"/>
            <a:ext cx="24765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Typical pilot pattern is one-or-the-other — throughput rises, quality slips, or vice versa.</a:t>
            </a:r>
          </a:p>
        </p:txBody>
      </p:sp>
      <p:sp>
        <p:nvSpPr>
          <p:cNvPr id="17" name="annot-2-marker"/>
          <p:cNvSpPr txBox="1"/>
          <p:nvPr/>
        </p:nvSpPr>
        <p:spPr>
          <a:xfrm>
            <a:off x="8743950" y="3924300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■</a:t>
            </a:r>
          </a:p>
        </p:txBody>
      </p:sp>
      <p:sp>
        <p:nvSpPr>
          <p:cNvPr id="18" name="annot-2-body"/>
          <p:cNvSpPr txBox="1"/>
          <p:nvPr/>
        </p:nvSpPr>
        <p:spPr>
          <a:xfrm>
            <a:off x="8915400" y="3924300"/>
            <a:ext cx="24765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Both lines bent up after W3, when skeleton-first rendering shipped.</a:t>
            </a:r>
          </a:p>
        </p:txBody>
      </p:sp>
      <p:sp>
        <p:nvSpPr>
          <p:cNvPr id="19" name="annot-3-marker"/>
          <p:cNvSpPr txBox="1"/>
          <p:nvPr/>
        </p:nvSpPr>
        <p:spPr>
          <a:xfrm>
            <a:off x="8743950" y="4781550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■</a:t>
            </a:r>
          </a:p>
        </p:txBody>
      </p:sp>
      <p:sp>
        <p:nvSpPr>
          <p:cNvPr id="20" name="annot-3-body"/>
          <p:cNvSpPr txBox="1"/>
          <p:nvPr/>
        </p:nvSpPr>
        <p:spPr>
          <a:xfrm>
            <a:off x="8915400" y="4781550"/>
            <a:ext cx="24765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W7–W8 plateau on volume is capacity, not demand — queue is at 11 decks.</a:t>
            </a:r>
          </a:p>
        </p:txBody>
      </p:sp>
      <p:sp>
        <p:nvSpPr>
          <p:cNvPr id="21" name="convergence-bg"/>
          <p:cNvSpPr/>
          <p:nvPr/>
        </p:nvSpPr>
        <p:spPr>
          <a:xfrm>
            <a:off x="609600" y="5772150"/>
            <a:ext cx="10972800" cy="36195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onvergence"/>
          <p:cNvSpPr txBox="1"/>
          <p:nvPr/>
        </p:nvSpPr>
        <p:spPr>
          <a:xfrm>
            <a:off x="819150" y="5772150"/>
            <a:ext cx="10553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FFFFFF"/>
                </a:solidFill>
                <a:latin typeface="Inter"/>
              </a:rPr>
              <a:t>If W9–W10 hold this shape, the pilot clears its gate and we scope a Q3 rollout.</a:t>
            </a:r>
          </a:p>
        </p:txBody>
      </p:sp>
      <p:sp>
        <p:nvSpPr>
          <p:cNvPr id="2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