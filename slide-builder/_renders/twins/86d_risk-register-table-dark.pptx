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19050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RISK REGISTER · PILOT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266700"/>
            <a:ext cx="7810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Risk register — six tracked, two reds with mitigation owners.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028700"/>
            <a:ext cx="7810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Detail backing the heat map: each risk has impact/likelihood, current RAG, owned mitigation, and a single accountable name. Ordered by RAG, reds on top.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276350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rag-legend"/>
          <p:cNvSpPr/>
          <p:nvPr/>
        </p:nvSpPr>
        <p:spPr>
          <a:xfrm>
            <a:off x="8191500" y="2190750"/>
            <a:ext cx="3619500" cy="342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title"/>
          <p:cNvSpPr txBox="1"/>
          <p:nvPr/>
        </p:nvSpPr>
        <p:spPr>
          <a:xfrm>
            <a:off x="8286750" y="2295525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RAG</a:t>
            </a:r>
          </a:p>
        </p:txBody>
      </p:sp>
      <p:sp>
        <p:nvSpPr>
          <p:cNvPr id="8" name="legend-1-swatch"/>
          <p:cNvSpPr/>
          <p:nvPr/>
        </p:nvSpPr>
        <p:spPr>
          <a:xfrm>
            <a:off x="8667750" y="2324100"/>
            <a:ext cx="95250" cy="952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1-label"/>
          <p:cNvSpPr txBox="1"/>
          <p:nvPr/>
        </p:nvSpPr>
        <p:spPr>
          <a:xfrm>
            <a:off x="8820150" y="2295525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GREEN</a:t>
            </a:r>
          </a:p>
        </p:txBody>
      </p:sp>
      <p:sp>
        <p:nvSpPr>
          <p:cNvPr id="10" name="legend-2-swatch"/>
          <p:cNvSpPr/>
          <p:nvPr/>
        </p:nvSpPr>
        <p:spPr>
          <a:xfrm>
            <a:off x="9715500" y="2324100"/>
            <a:ext cx="95250" cy="952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legend-2-label"/>
          <p:cNvSpPr txBox="1"/>
          <p:nvPr/>
        </p:nvSpPr>
        <p:spPr>
          <a:xfrm>
            <a:off x="9867900" y="2295525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AMBER</a:t>
            </a:r>
          </a:p>
        </p:txBody>
      </p:sp>
      <p:sp>
        <p:nvSpPr>
          <p:cNvPr id="12" name="legend-3-swatch"/>
          <p:cNvSpPr/>
          <p:nvPr/>
        </p:nvSpPr>
        <p:spPr>
          <a:xfrm>
            <a:off x="10763250" y="2324100"/>
            <a:ext cx="95250" cy="952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legend-3-label"/>
          <p:cNvSpPr txBox="1"/>
          <p:nvPr/>
        </p:nvSpPr>
        <p:spPr>
          <a:xfrm>
            <a:off x="10915650" y="2295525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RED</a:t>
            </a:r>
          </a:p>
        </p:txBody>
      </p:sp>
      <p:sp>
        <p:nvSpPr>
          <p:cNvPr id="14" name="table-head-bg"/>
          <p:cNvSpPr/>
          <p:nvPr/>
        </p:nvSpPr>
        <p:spPr>
          <a:xfrm>
            <a:off x="457200" y="2628900"/>
            <a:ext cx="11277600" cy="3048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able-col-1-header"/>
          <p:cNvSpPr txBox="1"/>
          <p:nvPr/>
        </p:nvSpPr>
        <p:spPr>
          <a:xfrm>
            <a:off x="533400" y="2705100"/>
            <a:ext cx="295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16" name="table-col-2-header"/>
          <p:cNvSpPr txBox="1"/>
          <p:nvPr/>
        </p:nvSpPr>
        <p:spPr>
          <a:xfrm>
            <a:off x="981075" y="2705100"/>
            <a:ext cx="27717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RISK DESCRIPTION</a:t>
            </a:r>
          </a:p>
        </p:txBody>
      </p:sp>
      <p:sp>
        <p:nvSpPr>
          <p:cNvPr id="17" name="table-col-3-header"/>
          <p:cNvSpPr txBox="1"/>
          <p:nvPr/>
        </p:nvSpPr>
        <p:spPr>
          <a:xfrm>
            <a:off x="3905250" y="2705100"/>
            <a:ext cx="6286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IMPACT</a:t>
            </a:r>
          </a:p>
        </p:txBody>
      </p:sp>
      <p:sp>
        <p:nvSpPr>
          <p:cNvPr id="18" name="table-col-4-header"/>
          <p:cNvSpPr txBox="1"/>
          <p:nvPr/>
        </p:nvSpPr>
        <p:spPr>
          <a:xfrm>
            <a:off x="4686300" y="270510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LIKELIHOOD</a:t>
            </a:r>
          </a:p>
        </p:txBody>
      </p:sp>
      <p:sp>
        <p:nvSpPr>
          <p:cNvPr id="19" name="table-col-5-header"/>
          <p:cNvSpPr txBox="1"/>
          <p:nvPr/>
        </p:nvSpPr>
        <p:spPr>
          <a:xfrm>
            <a:off x="5695950" y="2705100"/>
            <a:ext cx="1085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RAG</a:t>
            </a:r>
          </a:p>
        </p:txBody>
      </p:sp>
      <p:sp>
        <p:nvSpPr>
          <p:cNvPr id="20" name="table-col-6-header"/>
          <p:cNvSpPr txBox="1"/>
          <p:nvPr/>
        </p:nvSpPr>
        <p:spPr>
          <a:xfrm>
            <a:off x="6934200" y="2705100"/>
            <a:ext cx="30003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MITIGATION</a:t>
            </a:r>
          </a:p>
        </p:txBody>
      </p:sp>
      <p:sp>
        <p:nvSpPr>
          <p:cNvPr id="21" name="table-col-7-header"/>
          <p:cNvSpPr txBox="1"/>
          <p:nvPr/>
        </p:nvSpPr>
        <p:spPr>
          <a:xfrm>
            <a:off x="10086975" y="2705100"/>
            <a:ext cx="15716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OWNER</a:t>
            </a:r>
          </a:p>
        </p:txBody>
      </p:sp>
      <p:sp>
        <p:nvSpPr>
          <p:cNvPr id="22" name="table-row-1-bg"/>
          <p:cNvSpPr/>
          <p:nvPr/>
        </p:nvSpPr>
        <p:spPr>
          <a:xfrm>
            <a:off x="457200" y="2933700"/>
            <a:ext cx="11277600" cy="400050"/>
          </a:xfrm>
          <a:prstGeom prst="rect">
            <a:avLst/>
          </a:prstGeom>
          <a:solidFill>
            <a:srgbClr val="4A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able-row-1-flag"/>
          <p:cNvSpPr/>
          <p:nvPr/>
        </p:nvSpPr>
        <p:spPr>
          <a:xfrm>
            <a:off x="457200" y="2933700"/>
            <a:ext cx="28575" cy="4000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able-row-1-divider"/>
          <p:cNvSpPr/>
          <p:nvPr/>
        </p:nvSpPr>
        <p:spPr>
          <a:xfrm>
            <a:off x="457200" y="29337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able-row-1-num"/>
          <p:cNvSpPr txBox="1"/>
          <p:nvPr/>
        </p:nvSpPr>
        <p:spPr>
          <a:xfrm>
            <a:off x="457200" y="302895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R1</a:t>
            </a:r>
          </a:p>
        </p:txBody>
      </p:sp>
      <p:sp>
        <p:nvSpPr>
          <p:cNvPr id="26" name="table-row-1-cell-2"/>
          <p:cNvSpPr txBox="1"/>
          <p:nvPr/>
        </p:nvSpPr>
        <p:spPr>
          <a:xfrm>
            <a:off x="981075" y="3028950"/>
            <a:ext cx="27717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Stakeholder withdrawal mid-pilot</a:t>
            </a:r>
          </a:p>
        </p:txBody>
      </p:sp>
      <p:sp>
        <p:nvSpPr>
          <p:cNvPr id="27" name="table-row-1-cell-3"/>
          <p:cNvSpPr txBox="1"/>
          <p:nvPr/>
        </p:nvSpPr>
        <p:spPr>
          <a:xfrm>
            <a:off x="4067175" y="3048000"/>
            <a:ext cx="304800" cy="171450"/>
          </a:xfrm>
          <a:prstGeom prst="rect">
            <a:avLst/>
          </a:prstGeom>
          <a:solidFill>
            <a:srgbClr val="6B1F2A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A5A5"/>
                </a:solidFill>
                <a:latin typeface="Inter"/>
              </a:rPr>
              <a:t>H</a:t>
            </a:r>
          </a:p>
        </p:txBody>
      </p:sp>
      <p:sp>
        <p:nvSpPr>
          <p:cNvPr id="28" name="table-row-1-cell-4"/>
          <p:cNvSpPr txBox="1"/>
          <p:nvPr/>
        </p:nvSpPr>
        <p:spPr>
          <a:xfrm>
            <a:off x="4962525" y="3048000"/>
            <a:ext cx="304800" cy="171450"/>
          </a:xfrm>
          <a:prstGeom prst="rect">
            <a:avLst/>
          </a:prstGeom>
          <a:solidFill>
            <a:srgbClr val="6B4A12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M</a:t>
            </a:r>
          </a:p>
        </p:txBody>
      </p:sp>
      <p:sp>
        <p:nvSpPr>
          <p:cNvPr id="29" name="table-row-1-status-pill"/>
          <p:cNvSpPr txBox="1"/>
          <p:nvPr/>
        </p:nvSpPr>
        <p:spPr>
          <a:xfrm>
            <a:off x="5857875" y="3048000"/>
            <a:ext cx="762000" cy="171450"/>
          </a:xfrm>
          <a:prstGeom prst="rect">
            <a:avLst/>
          </a:prstGeom>
          <a:solidFill>
            <a:srgbClr val="6B1F2A"/>
          </a:solidFill>
          <a:ln>
            <a:noFill/>
          </a:ln>
        </p:spPr>
        <p:txBody>
          <a:bodyPr wrap="square" tIns="19050" rIns="17145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A5A5"/>
                </a:solidFill>
                <a:latin typeface="Inter"/>
              </a:rPr>
              <a:t>RED</a:t>
            </a:r>
          </a:p>
        </p:txBody>
      </p:sp>
      <p:sp>
        <p:nvSpPr>
          <p:cNvPr id="30" name="table-row-1-rag-dot"/>
          <p:cNvSpPr/>
          <p:nvPr/>
        </p:nvSpPr>
        <p:spPr>
          <a:xfrm>
            <a:off x="5915025" y="3086100"/>
            <a:ext cx="85725" cy="857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able-row-1-cell-6"/>
          <p:cNvSpPr txBox="1"/>
          <p:nvPr/>
        </p:nvSpPr>
        <p:spPr>
          <a:xfrm>
            <a:off x="6934200" y="3048000"/>
            <a:ext cx="30003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“MD weekly check-in”</a:t>
            </a:r>
          </a:p>
        </p:txBody>
      </p:sp>
      <p:sp>
        <p:nvSpPr>
          <p:cNvPr id="32" name="table-row-1-avatar"/>
          <p:cNvSpPr/>
          <p:nvPr/>
        </p:nvSpPr>
        <p:spPr>
          <a:xfrm>
            <a:off x="10086975" y="3028950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able-row-1-avatar-text"/>
          <p:cNvSpPr txBox="1"/>
          <p:nvPr/>
        </p:nvSpPr>
        <p:spPr>
          <a:xfrm>
            <a:off x="10086975" y="30289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MP</a:t>
            </a:r>
          </a:p>
        </p:txBody>
      </p:sp>
      <p:sp>
        <p:nvSpPr>
          <p:cNvPr id="34" name="table-row-1-cell-7"/>
          <p:cNvSpPr txBox="1"/>
          <p:nvPr/>
        </p:nvSpPr>
        <p:spPr>
          <a:xfrm>
            <a:off x="10353675" y="3048000"/>
            <a:ext cx="1304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Mario</a:t>
            </a:r>
          </a:p>
        </p:txBody>
      </p:sp>
      <p:sp>
        <p:nvSpPr>
          <p:cNvPr id="35" name="table-row-2-bg"/>
          <p:cNvSpPr/>
          <p:nvPr/>
        </p:nvSpPr>
        <p:spPr>
          <a:xfrm>
            <a:off x="457200" y="3333750"/>
            <a:ext cx="11277600" cy="400050"/>
          </a:xfrm>
          <a:prstGeom prst="rect">
            <a:avLst/>
          </a:prstGeom>
          <a:solidFill>
            <a:srgbClr val="4A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table-row-2-flag"/>
          <p:cNvSpPr/>
          <p:nvPr/>
        </p:nvSpPr>
        <p:spPr>
          <a:xfrm>
            <a:off x="457200" y="3333750"/>
            <a:ext cx="28575" cy="4000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able-row-2-divider"/>
          <p:cNvSpPr/>
          <p:nvPr/>
        </p:nvSpPr>
        <p:spPr>
          <a:xfrm>
            <a:off x="457200" y="333375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able-row-2-num"/>
          <p:cNvSpPr txBox="1"/>
          <p:nvPr/>
        </p:nvSpPr>
        <p:spPr>
          <a:xfrm>
            <a:off x="457200" y="34290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R2</a:t>
            </a:r>
          </a:p>
        </p:txBody>
      </p:sp>
      <p:sp>
        <p:nvSpPr>
          <p:cNvPr id="39" name="table-row-2-cell-2"/>
          <p:cNvSpPr txBox="1"/>
          <p:nvPr/>
        </p:nvSpPr>
        <p:spPr>
          <a:xfrm>
            <a:off x="981075" y="3429000"/>
            <a:ext cx="27717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Scope creep beyond pilot charter</a:t>
            </a:r>
          </a:p>
        </p:txBody>
      </p:sp>
      <p:sp>
        <p:nvSpPr>
          <p:cNvPr id="40" name="table-row-2-cell-3"/>
          <p:cNvSpPr txBox="1"/>
          <p:nvPr/>
        </p:nvSpPr>
        <p:spPr>
          <a:xfrm>
            <a:off x="4067175" y="3448050"/>
            <a:ext cx="304800" cy="171450"/>
          </a:xfrm>
          <a:prstGeom prst="rect">
            <a:avLst/>
          </a:prstGeom>
          <a:solidFill>
            <a:srgbClr val="6B1F2A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A5A5"/>
                </a:solidFill>
                <a:latin typeface="Inter"/>
              </a:rPr>
              <a:t>H</a:t>
            </a:r>
          </a:p>
        </p:txBody>
      </p:sp>
      <p:sp>
        <p:nvSpPr>
          <p:cNvPr id="41" name="table-row-2-cell-4"/>
          <p:cNvSpPr txBox="1"/>
          <p:nvPr/>
        </p:nvSpPr>
        <p:spPr>
          <a:xfrm>
            <a:off x="4962525" y="3448050"/>
            <a:ext cx="304800" cy="171450"/>
          </a:xfrm>
          <a:prstGeom prst="rect">
            <a:avLst/>
          </a:prstGeom>
          <a:solidFill>
            <a:srgbClr val="6B1F2A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A5A5"/>
                </a:solidFill>
                <a:latin typeface="Inter"/>
              </a:rPr>
              <a:t>H</a:t>
            </a:r>
          </a:p>
        </p:txBody>
      </p:sp>
      <p:sp>
        <p:nvSpPr>
          <p:cNvPr id="42" name="table-row-2-status-pill"/>
          <p:cNvSpPr txBox="1"/>
          <p:nvPr/>
        </p:nvSpPr>
        <p:spPr>
          <a:xfrm>
            <a:off x="5857875" y="3448050"/>
            <a:ext cx="762000" cy="171450"/>
          </a:xfrm>
          <a:prstGeom prst="rect">
            <a:avLst/>
          </a:prstGeom>
          <a:solidFill>
            <a:srgbClr val="6B1F2A"/>
          </a:solidFill>
          <a:ln>
            <a:noFill/>
          </a:ln>
        </p:spPr>
        <p:txBody>
          <a:bodyPr wrap="square" tIns="19050" rIns="17145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A5A5"/>
                </a:solidFill>
                <a:latin typeface="Inter"/>
              </a:rPr>
              <a:t>RED</a:t>
            </a:r>
          </a:p>
        </p:txBody>
      </p:sp>
      <p:sp>
        <p:nvSpPr>
          <p:cNvPr id="43" name="table-row-2-rag-dot"/>
          <p:cNvSpPr/>
          <p:nvPr/>
        </p:nvSpPr>
        <p:spPr>
          <a:xfrm>
            <a:off x="5915025" y="3486150"/>
            <a:ext cx="85725" cy="857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table-row-2-cell-6"/>
          <p:cNvSpPr txBox="1"/>
          <p:nvPr/>
        </p:nvSpPr>
        <p:spPr>
          <a:xfrm>
            <a:off x="6934200" y="3448050"/>
            <a:ext cx="30003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“Charter signed at kickoff”</a:t>
            </a:r>
          </a:p>
        </p:txBody>
      </p:sp>
      <p:sp>
        <p:nvSpPr>
          <p:cNvPr id="45" name="table-row-2-avatar"/>
          <p:cNvSpPr/>
          <p:nvPr/>
        </p:nvSpPr>
        <p:spPr>
          <a:xfrm>
            <a:off x="10086975" y="3429000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table-row-2-avatar-text"/>
          <p:cNvSpPr txBox="1"/>
          <p:nvPr/>
        </p:nvSpPr>
        <p:spPr>
          <a:xfrm>
            <a:off x="10086975" y="34290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MR</a:t>
            </a:r>
          </a:p>
        </p:txBody>
      </p:sp>
      <p:sp>
        <p:nvSpPr>
          <p:cNvPr id="47" name="table-row-2-cell-7"/>
          <p:cNvSpPr txBox="1"/>
          <p:nvPr/>
        </p:nvSpPr>
        <p:spPr>
          <a:xfrm>
            <a:off x="10353675" y="3448050"/>
            <a:ext cx="1304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Maria</a:t>
            </a:r>
          </a:p>
        </p:txBody>
      </p:sp>
      <p:sp>
        <p:nvSpPr>
          <p:cNvPr id="48" name="table-row-3-bg"/>
          <p:cNvSpPr/>
          <p:nvPr/>
        </p:nvSpPr>
        <p:spPr>
          <a:xfrm>
            <a:off x="457200" y="3733800"/>
            <a:ext cx="11277600" cy="4000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able-row-3-divider"/>
          <p:cNvSpPr/>
          <p:nvPr/>
        </p:nvSpPr>
        <p:spPr>
          <a:xfrm>
            <a:off x="457200" y="37338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table-row-3-num"/>
          <p:cNvSpPr txBox="1"/>
          <p:nvPr/>
        </p:nvSpPr>
        <p:spPr>
          <a:xfrm>
            <a:off x="457200" y="382905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R3</a:t>
            </a:r>
          </a:p>
        </p:txBody>
      </p:sp>
      <p:sp>
        <p:nvSpPr>
          <p:cNvPr id="51" name="table-row-3-cell-2"/>
          <p:cNvSpPr txBox="1"/>
          <p:nvPr/>
        </p:nvSpPr>
        <p:spPr>
          <a:xfrm>
            <a:off x="981075" y="3829050"/>
            <a:ext cx="27717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Tooling provisioning delay</a:t>
            </a:r>
          </a:p>
        </p:txBody>
      </p:sp>
      <p:sp>
        <p:nvSpPr>
          <p:cNvPr id="52" name="table-row-3-cell-3"/>
          <p:cNvSpPr txBox="1"/>
          <p:nvPr/>
        </p:nvSpPr>
        <p:spPr>
          <a:xfrm>
            <a:off x="4067175" y="3848100"/>
            <a:ext cx="304800" cy="171450"/>
          </a:xfrm>
          <a:prstGeom prst="rect">
            <a:avLst/>
          </a:prstGeom>
          <a:solidFill>
            <a:srgbClr val="6B4A12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M</a:t>
            </a:r>
          </a:p>
        </p:txBody>
      </p:sp>
      <p:sp>
        <p:nvSpPr>
          <p:cNvPr id="53" name="table-row-3-cell-4"/>
          <p:cNvSpPr txBox="1"/>
          <p:nvPr/>
        </p:nvSpPr>
        <p:spPr>
          <a:xfrm>
            <a:off x="4962525" y="3848100"/>
            <a:ext cx="304800" cy="171450"/>
          </a:xfrm>
          <a:prstGeom prst="rect">
            <a:avLst/>
          </a:prstGeom>
          <a:solidFill>
            <a:srgbClr val="144D2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B7"/>
                </a:solidFill>
                <a:latin typeface="Inter"/>
              </a:rPr>
              <a:t>L</a:t>
            </a:r>
          </a:p>
        </p:txBody>
      </p:sp>
      <p:sp>
        <p:nvSpPr>
          <p:cNvPr id="54" name="table-row-3-status-pill"/>
          <p:cNvSpPr txBox="1"/>
          <p:nvPr/>
        </p:nvSpPr>
        <p:spPr>
          <a:xfrm>
            <a:off x="5857875" y="3848100"/>
            <a:ext cx="762000" cy="171450"/>
          </a:xfrm>
          <a:prstGeom prst="rect">
            <a:avLst/>
          </a:prstGeom>
          <a:solidFill>
            <a:srgbClr val="6B4A12"/>
          </a:solidFill>
          <a:ln>
            <a:noFill/>
          </a:ln>
        </p:spPr>
        <p:txBody>
          <a:bodyPr wrap="square" tIns="19050" rIns="17145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AMBER</a:t>
            </a:r>
          </a:p>
        </p:txBody>
      </p:sp>
      <p:sp>
        <p:nvSpPr>
          <p:cNvPr id="55" name="table-row-3-rag-dot"/>
          <p:cNvSpPr/>
          <p:nvPr/>
        </p:nvSpPr>
        <p:spPr>
          <a:xfrm>
            <a:off x="5915025" y="3886200"/>
            <a:ext cx="85725" cy="85725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table-row-3-cell-6"/>
          <p:cNvSpPr txBox="1"/>
          <p:nvPr/>
        </p:nvSpPr>
        <p:spPr>
          <a:xfrm>
            <a:off x="6934200" y="3848100"/>
            <a:ext cx="30003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“Pre-arranged with IT”</a:t>
            </a:r>
          </a:p>
        </p:txBody>
      </p:sp>
      <p:sp>
        <p:nvSpPr>
          <p:cNvPr id="57" name="table-row-3-avatar"/>
          <p:cNvSpPr/>
          <p:nvPr/>
        </p:nvSpPr>
        <p:spPr>
          <a:xfrm>
            <a:off x="10086975" y="3829050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table-row-3-avatar-text"/>
          <p:cNvSpPr txBox="1"/>
          <p:nvPr/>
        </p:nvSpPr>
        <p:spPr>
          <a:xfrm>
            <a:off x="10086975" y="38290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PM</a:t>
            </a:r>
          </a:p>
        </p:txBody>
      </p:sp>
      <p:sp>
        <p:nvSpPr>
          <p:cNvPr id="59" name="table-row-3-cell-7"/>
          <p:cNvSpPr txBox="1"/>
          <p:nvPr/>
        </p:nvSpPr>
        <p:spPr>
          <a:xfrm>
            <a:off x="10353675" y="3848100"/>
            <a:ext cx="1304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PMO</a:t>
            </a:r>
          </a:p>
        </p:txBody>
      </p:sp>
      <p:sp>
        <p:nvSpPr>
          <p:cNvPr id="60" name="table-row-4-bg"/>
          <p:cNvSpPr/>
          <p:nvPr/>
        </p:nvSpPr>
        <p:spPr>
          <a:xfrm>
            <a:off x="457200" y="4133850"/>
            <a:ext cx="11277600" cy="4000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table-row-4-divider"/>
          <p:cNvSpPr/>
          <p:nvPr/>
        </p:nvSpPr>
        <p:spPr>
          <a:xfrm>
            <a:off x="457200" y="413385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table-row-4-num"/>
          <p:cNvSpPr txBox="1"/>
          <p:nvPr/>
        </p:nvSpPr>
        <p:spPr>
          <a:xfrm>
            <a:off x="457200" y="42291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R4</a:t>
            </a:r>
          </a:p>
        </p:txBody>
      </p:sp>
      <p:sp>
        <p:nvSpPr>
          <p:cNvPr id="63" name="table-row-4-cell-2"/>
          <p:cNvSpPr txBox="1"/>
          <p:nvPr/>
        </p:nvSpPr>
        <p:spPr>
          <a:xfrm>
            <a:off x="981075" y="4229100"/>
            <a:ext cx="27717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Vendor (Claude) outage</a:t>
            </a:r>
          </a:p>
        </p:txBody>
      </p:sp>
      <p:sp>
        <p:nvSpPr>
          <p:cNvPr id="64" name="table-row-4-cell-3"/>
          <p:cNvSpPr txBox="1"/>
          <p:nvPr/>
        </p:nvSpPr>
        <p:spPr>
          <a:xfrm>
            <a:off x="4067175" y="4248150"/>
            <a:ext cx="304800" cy="171450"/>
          </a:xfrm>
          <a:prstGeom prst="rect">
            <a:avLst/>
          </a:prstGeom>
          <a:solidFill>
            <a:srgbClr val="6B1F2A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A5A5"/>
                </a:solidFill>
                <a:latin typeface="Inter"/>
              </a:rPr>
              <a:t>H</a:t>
            </a:r>
          </a:p>
        </p:txBody>
      </p:sp>
      <p:sp>
        <p:nvSpPr>
          <p:cNvPr id="65" name="table-row-4-cell-4"/>
          <p:cNvSpPr txBox="1"/>
          <p:nvPr/>
        </p:nvSpPr>
        <p:spPr>
          <a:xfrm>
            <a:off x="4962525" y="4248150"/>
            <a:ext cx="304800" cy="171450"/>
          </a:xfrm>
          <a:prstGeom prst="rect">
            <a:avLst/>
          </a:prstGeom>
          <a:solidFill>
            <a:srgbClr val="144D2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B7"/>
                </a:solidFill>
                <a:latin typeface="Inter"/>
              </a:rPr>
              <a:t>L</a:t>
            </a:r>
          </a:p>
        </p:txBody>
      </p:sp>
      <p:sp>
        <p:nvSpPr>
          <p:cNvPr id="66" name="table-row-4-status-pill"/>
          <p:cNvSpPr txBox="1"/>
          <p:nvPr/>
        </p:nvSpPr>
        <p:spPr>
          <a:xfrm>
            <a:off x="5857875" y="4248150"/>
            <a:ext cx="762000" cy="171450"/>
          </a:xfrm>
          <a:prstGeom prst="rect">
            <a:avLst/>
          </a:prstGeom>
          <a:solidFill>
            <a:srgbClr val="6B4A12"/>
          </a:solidFill>
          <a:ln>
            <a:noFill/>
          </a:ln>
        </p:spPr>
        <p:txBody>
          <a:bodyPr wrap="square" tIns="19050" rIns="17145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AMBER</a:t>
            </a:r>
          </a:p>
        </p:txBody>
      </p:sp>
      <p:sp>
        <p:nvSpPr>
          <p:cNvPr id="67" name="table-row-4-rag-dot"/>
          <p:cNvSpPr/>
          <p:nvPr/>
        </p:nvSpPr>
        <p:spPr>
          <a:xfrm>
            <a:off x="5915025" y="4286250"/>
            <a:ext cx="85725" cy="85725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table-row-4-cell-6"/>
          <p:cNvSpPr txBox="1"/>
          <p:nvPr/>
        </p:nvSpPr>
        <p:spPr>
          <a:xfrm>
            <a:off x="6934200" y="4248150"/>
            <a:ext cx="30003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“Offline mode for build”</a:t>
            </a:r>
          </a:p>
        </p:txBody>
      </p:sp>
      <p:sp>
        <p:nvSpPr>
          <p:cNvPr id="69" name="table-row-4-avatar"/>
          <p:cNvSpPr/>
          <p:nvPr/>
        </p:nvSpPr>
        <p:spPr>
          <a:xfrm>
            <a:off x="10086975" y="4229100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table-row-4-avatar-text"/>
          <p:cNvSpPr txBox="1"/>
          <p:nvPr/>
        </p:nvSpPr>
        <p:spPr>
          <a:xfrm>
            <a:off x="10086975" y="42291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EN</a:t>
            </a:r>
          </a:p>
        </p:txBody>
      </p:sp>
      <p:sp>
        <p:nvSpPr>
          <p:cNvPr id="71" name="table-row-4-cell-7"/>
          <p:cNvSpPr txBox="1"/>
          <p:nvPr/>
        </p:nvSpPr>
        <p:spPr>
          <a:xfrm>
            <a:off x="10353675" y="4248150"/>
            <a:ext cx="1304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Engineering</a:t>
            </a:r>
          </a:p>
        </p:txBody>
      </p:sp>
      <p:sp>
        <p:nvSpPr>
          <p:cNvPr id="72" name="table-row-5-bg"/>
          <p:cNvSpPr/>
          <p:nvPr/>
        </p:nvSpPr>
        <p:spPr>
          <a:xfrm>
            <a:off x="457200" y="4533900"/>
            <a:ext cx="11277600" cy="4000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table-row-5-divider"/>
          <p:cNvSpPr/>
          <p:nvPr/>
        </p:nvSpPr>
        <p:spPr>
          <a:xfrm>
            <a:off x="457200" y="45339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table-row-5-num"/>
          <p:cNvSpPr txBox="1"/>
          <p:nvPr/>
        </p:nvSpPr>
        <p:spPr>
          <a:xfrm>
            <a:off x="457200" y="462915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R5</a:t>
            </a:r>
          </a:p>
        </p:txBody>
      </p:sp>
      <p:sp>
        <p:nvSpPr>
          <p:cNvPr id="75" name="table-row-5-cell-2"/>
          <p:cNvSpPr txBox="1"/>
          <p:nvPr/>
        </p:nvSpPr>
        <p:spPr>
          <a:xfrm>
            <a:off x="981075" y="4629150"/>
            <a:ext cx="27717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Resistance from senior consultants</a:t>
            </a:r>
          </a:p>
        </p:txBody>
      </p:sp>
      <p:sp>
        <p:nvSpPr>
          <p:cNvPr id="76" name="table-row-5-cell-3"/>
          <p:cNvSpPr txBox="1"/>
          <p:nvPr/>
        </p:nvSpPr>
        <p:spPr>
          <a:xfrm>
            <a:off x="4067175" y="4648200"/>
            <a:ext cx="304800" cy="171450"/>
          </a:xfrm>
          <a:prstGeom prst="rect">
            <a:avLst/>
          </a:prstGeom>
          <a:solidFill>
            <a:srgbClr val="6B4A12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M</a:t>
            </a:r>
          </a:p>
        </p:txBody>
      </p:sp>
      <p:sp>
        <p:nvSpPr>
          <p:cNvPr id="77" name="table-row-5-cell-4"/>
          <p:cNvSpPr txBox="1"/>
          <p:nvPr/>
        </p:nvSpPr>
        <p:spPr>
          <a:xfrm>
            <a:off x="4962525" y="4648200"/>
            <a:ext cx="304800" cy="171450"/>
          </a:xfrm>
          <a:prstGeom prst="rect">
            <a:avLst/>
          </a:prstGeom>
          <a:solidFill>
            <a:srgbClr val="6B4A12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M</a:t>
            </a:r>
          </a:p>
        </p:txBody>
      </p:sp>
      <p:sp>
        <p:nvSpPr>
          <p:cNvPr id="78" name="table-row-5-status-pill"/>
          <p:cNvSpPr txBox="1"/>
          <p:nvPr/>
        </p:nvSpPr>
        <p:spPr>
          <a:xfrm>
            <a:off x="5857875" y="4648200"/>
            <a:ext cx="762000" cy="171450"/>
          </a:xfrm>
          <a:prstGeom prst="rect">
            <a:avLst/>
          </a:prstGeom>
          <a:solidFill>
            <a:srgbClr val="6B4A12"/>
          </a:solidFill>
          <a:ln>
            <a:noFill/>
          </a:ln>
        </p:spPr>
        <p:txBody>
          <a:bodyPr wrap="square" tIns="19050" rIns="17145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AMBER</a:t>
            </a:r>
          </a:p>
        </p:txBody>
      </p:sp>
      <p:sp>
        <p:nvSpPr>
          <p:cNvPr id="79" name="table-row-5-rag-dot"/>
          <p:cNvSpPr/>
          <p:nvPr/>
        </p:nvSpPr>
        <p:spPr>
          <a:xfrm>
            <a:off x="5915025" y="4686300"/>
            <a:ext cx="85725" cy="85725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table-row-5-cell-6"/>
          <p:cNvSpPr txBox="1"/>
          <p:nvPr/>
        </p:nvSpPr>
        <p:spPr>
          <a:xfrm>
            <a:off x="6934200" y="4648200"/>
            <a:ext cx="30003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“Coach pairing”</a:t>
            </a:r>
          </a:p>
        </p:txBody>
      </p:sp>
      <p:sp>
        <p:nvSpPr>
          <p:cNvPr id="81" name="table-row-5-avatar"/>
          <p:cNvSpPr/>
          <p:nvPr/>
        </p:nvSpPr>
        <p:spPr>
          <a:xfrm>
            <a:off x="10086975" y="4629150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table-row-5-avatar-text"/>
          <p:cNvSpPr txBox="1"/>
          <p:nvPr/>
        </p:nvSpPr>
        <p:spPr>
          <a:xfrm>
            <a:off x="10086975" y="46291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MP</a:t>
            </a:r>
          </a:p>
        </p:txBody>
      </p:sp>
      <p:sp>
        <p:nvSpPr>
          <p:cNvPr id="83" name="table-row-5-cell-7"/>
          <p:cNvSpPr txBox="1"/>
          <p:nvPr/>
        </p:nvSpPr>
        <p:spPr>
          <a:xfrm>
            <a:off x="10353675" y="4648200"/>
            <a:ext cx="1304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Mario</a:t>
            </a:r>
          </a:p>
        </p:txBody>
      </p:sp>
      <p:sp>
        <p:nvSpPr>
          <p:cNvPr id="84" name="table-row-6-bg"/>
          <p:cNvSpPr/>
          <p:nvPr/>
        </p:nvSpPr>
        <p:spPr>
          <a:xfrm>
            <a:off x="457200" y="4933950"/>
            <a:ext cx="11277600" cy="4000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table-row-6-divider"/>
          <p:cNvSpPr/>
          <p:nvPr/>
        </p:nvSpPr>
        <p:spPr>
          <a:xfrm>
            <a:off x="457200" y="493395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table-row-6-num"/>
          <p:cNvSpPr txBox="1"/>
          <p:nvPr/>
        </p:nvSpPr>
        <p:spPr>
          <a:xfrm>
            <a:off x="457200" y="50292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R6</a:t>
            </a:r>
          </a:p>
        </p:txBody>
      </p:sp>
      <p:sp>
        <p:nvSpPr>
          <p:cNvPr id="87" name="table-row-6-cell-2"/>
          <p:cNvSpPr txBox="1"/>
          <p:nvPr/>
        </p:nvSpPr>
        <p:spPr>
          <a:xfrm>
            <a:off x="981075" y="5029200"/>
            <a:ext cx="27717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Junior team can't ramp on toolchain</a:t>
            </a:r>
          </a:p>
        </p:txBody>
      </p:sp>
      <p:sp>
        <p:nvSpPr>
          <p:cNvPr id="88" name="table-row-6-cell-3"/>
          <p:cNvSpPr txBox="1"/>
          <p:nvPr/>
        </p:nvSpPr>
        <p:spPr>
          <a:xfrm>
            <a:off x="4067175" y="5048250"/>
            <a:ext cx="304800" cy="171450"/>
          </a:xfrm>
          <a:prstGeom prst="rect">
            <a:avLst/>
          </a:prstGeom>
          <a:solidFill>
            <a:srgbClr val="6B4A12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M</a:t>
            </a:r>
          </a:p>
        </p:txBody>
      </p:sp>
      <p:sp>
        <p:nvSpPr>
          <p:cNvPr id="89" name="table-row-6-cell-4"/>
          <p:cNvSpPr txBox="1"/>
          <p:nvPr/>
        </p:nvSpPr>
        <p:spPr>
          <a:xfrm>
            <a:off x="4962525" y="5048250"/>
            <a:ext cx="304800" cy="171450"/>
          </a:xfrm>
          <a:prstGeom prst="rect">
            <a:avLst/>
          </a:prstGeom>
          <a:solidFill>
            <a:srgbClr val="6B4A12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M</a:t>
            </a:r>
          </a:p>
        </p:txBody>
      </p:sp>
      <p:sp>
        <p:nvSpPr>
          <p:cNvPr id="90" name="table-row-6-status-pill"/>
          <p:cNvSpPr txBox="1"/>
          <p:nvPr/>
        </p:nvSpPr>
        <p:spPr>
          <a:xfrm>
            <a:off x="5857875" y="5048250"/>
            <a:ext cx="762000" cy="171450"/>
          </a:xfrm>
          <a:prstGeom prst="rect">
            <a:avLst/>
          </a:prstGeom>
          <a:solidFill>
            <a:srgbClr val="144D2E"/>
          </a:solidFill>
          <a:ln>
            <a:noFill/>
          </a:ln>
        </p:spPr>
        <p:txBody>
          <a:bodyPr wrap="square" tIns="19050" rIns="17145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B7"/>
                </a:solidFill>
                <a:latin typeface="Inter"/>
              </a:rPr>
              <a:t>GREEN</a:t>
            </a:r>
          </a:p>
        </p:txBody>
      </p:sp>
      <p:sp>
        <p:nvSpPr>
          <p:cNvPr id="91" name="table-row-6-rag-dot"/>
          <p:cNvSpPr/>
          <p:nvPr/>
        </p:nvSpPr>
        <p:spPr>
          <a:xfrm>
            <a:off x="5915025" y="5086350"/>
            <a:ext cx="85725" cy="8572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table-row-6-cell-6"/>
          <p:cNvSpPr txBox="1"/>
          <p:nvPr/>
        </p:nvSpPr>
        <p:spPr>
          <a:xfrm>
            <a:off x="6934200" y="5048250"/>
            <a:ext cx="30003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“Onboarding session run W1”</a:t>
            </a:r>
          </a:p>
        </p:txBody>
      </p:sp>
      <p:sp>
        <p:nvSpPr>
          <p:cNvPr id="93" name="table-row-6-avatar"/>
          <p:cNvSpPr/>
          <p:nvPr/>
        </p:nvSpPr>
        <p:spPr>
          <a:xfrm>
            <a:off x="10086975" y="5029200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table-row-6-avatar-text"/>
          <p:cNvSpPr txBox="1"/>
          <p:nvPr/>
        </p:nvSpPr>
        <p:spPr>
          <a:xfrm>
            <a:off x="10086975" y="50292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CO</a:t>
            </a:r>
          </a:p>
        </p:txBody>
      </p:sp>
      <p:sp>
        <p:nvSpPr>
          <p:cNvPr id="95" name="table-row-6-cell-7"/>
          <p:cNvSpPr txBox="1"/>
          <p:nvPr/>
        </p:nvSpPr>
        <p:spPr>
          <a:xfrm>
            <a:off x="10353675" y="5048250"/>
            <a:ext cx="1304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Coach</a:t>
            </a:r>
          </a:p>
        </p:txBody>
      </p:sp>
      <p:sp>
        <p:nvSpPr>
          <p:cNvPr id="96" name="table-border-top"/>
          <p:cNvSpPr/>
          <p:nvPr/>
        </p:nvSpPr>
        <p:spPr>
          <a:xfrm>
            <a:off x="457200" y="26289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table-border-left"/>
          <p:cNvSpPr/>
          <p:nvPr/>
        </p:nvSpPr>
        <p:spPr>
          <a:xfrm>
            <a:off x="457200" y="2628900"/>
            <a:ext cx="9525" cy="27051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table-border-right"/>
          <p:cNvSpPr/>
          <p:nvPr/>
        </p:nvSpPr>
        <p:spPr>
          <a:xfrm>
            <a:off x="11725275" y="2628900"/>
            <a:ext cx="9525" cy="27051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table-border-bottom"/>
          <p:cNvSpPr/>
          <p:nvPr/>
        </p:nvSpPr>
        <p:spPr>
          <a:xfrm>
            <a:off x="457200" y="53340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convergence-bg"/>
          <p:cNvSpPr/>
          <p:nvPr/>
        </p:nvSpPr>
        <p:spPr>
          <a:xfrm>
            <a:off x="457200" y="5791200"/>
            <a:ext cx="11277600" cy="4762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convergence-mark"/>
          <p:cNvSpPr txBox="1"/>
          <p:nvPr/>
        </p:nvSpPr>
        <p:spPr>
          <a:xfrm>
            <a:off x="590550" y="5924550"/>
            <a:ext cx="762000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28575" rIns="57150" bIns="28575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 WHAT</a:t>
            </a:r>
          </a:p>
        </p:txBody>
      </p:sp>
      <p:sp>
        <p:nvSpPr>
          <p:cNvPr id="102" name="convergence"/>
          <p:cNvSpPr txBox="1"/>
          <p:nvPr/>
        </p:nvSpPr>
        <p:spPr>
          <a:xfrm>
            <a:off x="1504950" y="5791200"/>
            <a:ext cx="100393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Two reds, both with mitigation owners assigned. Watch for week-3 status — if either stays red, escalate to steering.</a:t>
            </a:r>
          </a:p>
        </p:txBody>
      </p:sp>
      <p:sp>
        <p:nvSpPr>
          <p:cNvPr id="10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0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86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