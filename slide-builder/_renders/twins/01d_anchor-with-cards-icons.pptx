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FFFFFF"/>
                </a:solidFill>
                <a:latin typeface="Inter"/>
              </a:rPr>
              <a:t>Consultants rarely lack ideas — they struggle to </a:t>
            </a:r>
            <a:r>
              <a:rPr sz="2400" b="1" i="0">
                <a:solidFill>
                  <a:srgbClr val="C780FF"/>
                </a:solidFill>
                <a:latin typeface="Inter"/>
              </a:rPr>
              <a:t>cut through them</a:t>
            </a:r>
            <a:r>
              <a:rPr sz="2400" b="1" i="0">
                <a:solidFill>
                  <a:srgbClr val="FFFFFF"/>
                </a:solidFill>
                <a:latin typeface="Inter"/>
              </a:rPr>
              <a:t>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Not a knowledge gap. Not a skill deficit. A structural one — and structural problems have structural solutions.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4825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ard-1-body-bg"/>
          <p:cNvSpPr/>
          <p:nvPr/>
        </p:nvSpPr>
        <p:spPr>
          <a:xfrm>
            <a:off x="609600" y="2762250"/>
            <a:ext cx="3505200" cy="19050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card-1-accent"/>
          <p:cNvSpPr/>
          <p:nvPr/>
        </p:nvSpPr>
        <p:spPr>
          <a:xfrm>
            <a:off x="609600" y="2762250"/>
            <a:ext cx="350520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card-1-icon"/>
          <p:cNvSpPr txBox="1"/>
          <p:nvPr/>
        </p:nvSpPr>
        <p:spPr>
          <a:xfrm>
            <a:off x="819150" y="2971800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0" rIns="0" anchor="ctr">
            <a:spAutoFit/>
          </a:bodyPr>
          <a:lstStyle/>
          <a:p>
            <a:pPr algn="ctr">
              <a:defRPr/>
            </a:pPr>
            <a:r>
              <a:rPr sz="1875">
                <a:solidFill>
                  <a:srgbClr val="C780FF"/>
                </a:solidFill>
                <a:latin typeface="Segoe UI Symbol"/>
              </a:rPr>
              <a:t>☰</a:t>
            </a:r>
          </a:p>
        </p:txBody>
      </p:sp>
      <p:sp>
        <p:nvSpPr>
          <p:cNvPr id="8" name="card-1-heading"/>
          <p:cNvSpPr txBox="1"/>
          <p:nvPr/>
        </p:nvSpPr>
        <p:spPr>
          <a:xfrm>
            <a:off x="819150" y="3390900"/>
            <a:ext cx="30861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00" b="1" i="0">
                <a:solidFill>
                  <a:srgbClr val="FFFFFF"/>
                </a:solidFill>
                <a:latin typeface="Inter"/>
              </a:rPr>
              <a:t>Too much to say</a:t>
            </a:r>
          </a:p>
        </p:txBody>
      </p:sp>
      <p:sp>
        <p:nvSpPr>
          <p:cNvPr id="9" name="card-1-body"/>
          <p:cNvSpPr txBox="1"/>
          <p:nvPr/>
        </p:nvSpPr>
        <p:spPr>
          <a:xfrm>
            <a:off x="819150" y="3676650"/>
            <a:ext cx="3086100" cy="781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Knowing what to cut is harder than knowing what to include. Every workstream produces legitimate findings, and not all of them belong on the page.</a:t>
            </a:r>
          </a:p>
        </p:txBody>
      </p:sp>
      <p:sp>
        <p:nvSpPr>
          <p:cNvPr id="10" name="card-2-body-bg"/>
          <p:cNvSpPr/>
          <p:nvPr/>
        </p:nvSpPr>
        <p:spPr>
          <a:xfrm>
            <a:off x="4343400" y="2762250"/>
            <a:ext cx="3505200" cy="19050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card-2-accent"/>
          <p:cNvSpPr/>
          <p:nvPr/>
        </p:nvSpPr>
        <p:spPr>
          <a:xfrm>
            <a:off x="4343400" y="2762250"/>
            <a:ext cx="350520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card-2-icon"/>
          <p:cNvSpPr txBox="1"/>
          <p:nvPr/>
        </p:nvSpPr>
        <p:spPr>
          <a:xfrm>
            <a:off x="4552950" y="2971800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0" rIns="0" anchor="ctr">
            <a:spAutoFit/>
          </a:bodyPr>
          <a:lstStyle/>
          <a:p>
            <a:pPr algn="ctr">
              <a:defRPr/>
            </a:pPr>
            <a:r>
              <a:rPr sz="1875">
                <a:solidFill>
                  <a:srgbClr val="C780FF"/>
                </a:solidFill>
                <a:latin typeface="Segoe UI Symbol"/>
              </a:rPr>
              <a:t>✦</a:t>
            </a:r>
          </a:p>
        </p:txBody>
      </p:sp>
      <p:sp>
        <p:nvSpPr>
          <p:cNvPr id="13" name="card-2-heading"/>
          <p:cNvSpPr txBox="1"/>
          <p:nvPr/>
        </p:nvSpPr>
        <p:spPr>
          <a:xfrm>
            <a:off x="4552950" y="3390900"/>
            <a:ext cx="30861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00" b="1" i="0">
                <a:solidFill>
                  <a:srgbClr val="FFFFFF"/>
                </a:solidFill>
                <a:latin typeface="Inter"/>
              </a:rPr>
              <a:t>Too many cooks</a:t>
            </a:r>
          </a:p>
        </p:txBody>
      </p:sp>
      <p:sp>
        <p:nvSpPr>
          <p:cNvPr id="14" name="card-2-body"/>
          <p:cNvSpPr txBox="1"/>
          <p:nvPr/>
        </p:nvSpPr>
        <p:spPr>
          <a:xfrm>
            <a:off x="4552950" y="3676650"/>
            <a:ext cx="3086100" cy="781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Every collaborator has a view on what belongs on the page. More opinions mean harder choices, not a richer argument.</a:t>
            </a:r>
          </a:p>
        </p:txBody>
      </p:sp>
      <p:sp>
        <p:nvSpPr>
          <p:cNvPr id="15" name="card-3-body-bg"/>
          <p:cNvSpPr/>
          <p:nvPr/>
        </p:nvSpPr>
        <p:spPr>
          <a:xfrm>
            <a:off x="8077200" y="2762250"/>
            <a:ext cx="3505200" cy="19050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card-3-accent"/>
          <p:cNvSpPr/>
          <p:nvPr/>
        </p:nvSpPr>
        <p:spPr>
          <a:xfrm>
            <a:off x="8077200" y="2762250"/>
            <a:ext cx="350520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card-3-icon"/>
          <p:cNvSpPr txBox="1"/>
          <p:nvPr/>
        </p:nvSpPr>
        <p:spPr>
          <a:xfrm>
            <a:off x="8286750" y="2971800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0" rIns="0" anchor="ctr">
            <a:spAutoFit/>
          </a:bodyPr>
          <a:lstStyle/>
          <a:p>
            <a:pPr algn="ctr">
              <a:defRPr/>
            </a:pPr>
            <a:r>
              <a:rPr sz="1875">
                <a:solidFill>
                  <a:srgbClr val="C780FF"/>
                </a:solidFill>
                <a:latin typeface="Segoe UI Symbol"/>
              </a:rPr>
              <a:t>→</a:t>
            </a:r>
          </a:p>
        </p:txBody>
      </p:sp>
      <p:sp>
        <p:nvSpPr>
          <p:cNvPr id="18" name="card-3-heading"/>
          <p:cNvSpPr txBox="1"/>
          <p:nvPr/>
        </p:nvSpPr>
        <p:spPr>
          <a:xfrm>
            <a:off x="8286750" y="3390900"/>
            <a:ext cx="30861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00" b="1" i="0">
                <a:solidFill>
                  <a:srgbClr val="FFFFFF"/>
                </a:solidFill>
                <a:latin typeface="Inter"/>
              </a:rPr>
              <a:t>The audience needs what's next</a:t>
            </a:r>
          </a:p>
        </p:txBody>
      </p:sp>
      <p:sp>
        <p:nvSpPr>
          <p:cNvPr id="19" name="card-3-body"/>
          <p:cNvSpPr txBox="1"/>
          <p:nvPr/>
        </p:nvSpPr>
        <p:spPr>
          <a:xfrm>
            <a:off x="8286750" y="3676650"/>
            <a:ext cx="3086100" cy="781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They don't need to understand all the work. They need to understand the next step — and most decks bury it.</a:t>
            </a:r>
          </a:p>
        </p:txBody>
      </p:sp>
      <p:sp>
        <p:nvSpPr>
          <p:cNvPr id="20" name="convergence-bg"/>
          <p:cNvSpPr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convergence"/>
          <p:cNvSpPr txBox="1"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209550" bIns="0" lIns="20955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The fix is a structured way to think, argue, and build — not another tool that produces slides faster.</a:t>
            </a:r>
          </a:p>
        </p:txBody>
      </p:sp>
      <p:sp>
        <p:nvSpPr>
          <p:cNvPr id="22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23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24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