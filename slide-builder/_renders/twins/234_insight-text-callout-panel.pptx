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findings that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redefine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the operating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Synthesised from 42 stakeholder interviews and benchmarking across 6 peer organisations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divider"/>
          <p:cNvSpPr/>
          <p:nvPr/>
        </p:nvSpPr>
        <p:spPr>
          <a:xfrm>
            <a:off x="7715250" y="1409700"/>
            <a:ext cx="9525" cy="4914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ection-1-num"/>
          <p:cNvSpPr txBox="1"/>
          <p:nvPr/>
        </p:nvSpPr>
        <p:spPr>
          <a:xfrm>
            <a:off x="457200" y="15621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7" name="section-1-name"/>
          <p:cNvSpPr txBox="1"/>
          <p:nvPr/>
        </p:nvSpPr>
        <p:spPr>
          <a:xfrm>
            <a:off x="723900" y="1543050"/>
            <a:ext cx="6610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Decision rights are fragmented across four layers of governance</a:t>
            </a:r>
          </a:p>
        </p:txBody>
      </p:sp>
      <p:sp>
        <p:nvSpPr>
          <p:cNvPr id="8" name="section-1-body"/>
          <p:cNvSpPr txBox="1"/>
          <p:nvPr/>
        </p:nvSpPr>
        <p:spPr>
          <a:xfrm>
            <a:off x="723900" y="1809750"/>
            <a:ext cx="6610350" cy="1162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Approval authority is split between regional, functional, and global leads with no clear escalation path. This creates an average 18-day delay for cross-functional decisions and erodes accountability at every tier.</a:t>
            </a:r>
          </a:p>
        </p:txBody>
      </p:sp>
      <p:sp>
        <p:nvSpPr>
          <p:cNvPr id="9" name="section-2-divider"/>
          <p:cNvSpPr/>
          <p:nvPr/>
        </p:nvSpPr>
        <p:spPr>
          <a:xfrm>
            <a:off x="457200" y="3048000"/>
            <a:ext cx="6877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ection-2-num"/>
          <p:cNvSpPr txBox="1"/>
          <p:nvPr/>
        </p:nvSpPr>
        <p:spPr>
          <a:xfrm>
            <a:off x="457200" y="3200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1" name="section-2-name"/>
          <p:cNvSpPr txBox="1"/>
          <p:nvPr/>
        </p:nvSpPr>
        <p:spPr>
          <a:xfrm>
            <a:off x="723900" y="3181350"/>
            <a:ext cx="6610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flows do not support the speed required for real-time pricing</a:t>
            </a:r>
          </a:p>
        </p:txBody>
      </p:sp>
      <p:sp>
        <p:nvSpPr>
          <p:cNvPr id="12" name="section-2-body"/>
          <p:cNvSpPr txBox="1"/>
          <p:nvPr/>
        </p:nvSpPr>
        <p:spPr>
          <a:xfrm>
            <a:off x="723900" y="3448050"/>
            <a:ext cx="6610350" cy="1162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Core pricing signals reach the commercial team with a 72-hour lag due to batch processing in the legacy ERP. Competitors operating on event-driven architectures reprice 40× faster on average.</a:t>
            </a:r>
          </a:p>
        </p:txBody>
      </p:sp>
      <p:sp>
        <p:nvSpPr>
          <p:cNvPr id="13" name="section-3-divider"/>
          <p:cNvSpPr/>
          <p:nvPr/>
        </p:nvSpPr>
        <p:spPr>
          <a:xfrm>
            <a:off x="457200" y="4686300"/>
            <a:ext cx="6877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ection-3-num"/>
          <p:cNvSpPr txBox="1"/>
          <p:nvPr/>
        </p:nvSpPr>
        <p:spPr>
          <a:xfrm>
            <a:off x="457200" y="48387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15" name="section-3-name"/>
          <p:cNvSpPr txBox="1"/>
          <p:nvPr/>
        </p:nvSpPr>
        <p:spPr>
          <a:xfrm>
            <a:off x="723900" y="4819650"/>
            <a:ext cx="6610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density in analytics is concentrated in one cost centre</a:t>
            </a:r>
          </a:p>
        </p:txBody>
      </p:sp>
      <p:sp>
        <p:nvSpPr>
          <p:cNvPr id="16" name="section-3-body"/>
          <p:cNvSpPr txBox="1"/>
          <p:nvPr/>
        </p:nvSpPr>
        <p:spPr>
          <a:xfrm>
            <a:off x="723900" y="5086350"/>
            <a:ext cx="6610350" cy="1162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82% of qualified data practitioners sit in a single shared-services unit, creating a structural bottleneck. Business units waiting on analytics support report an average queue time of 3.4 weeks per request.</a:t>
            </a:r>
          </a:p>
        </p:txBody>
      </p:sp>
      <p:sp>
        <p:nvSpPr>
          <p:cNvPr id="17" name="annot-panel"/>
          <p:cNvSpPr/>
          <p:nvPr/>
        </p:nvSpPr>
        <p:spPr>
          <a:xfrm>
            <a:off x="7943850" y="1409700"/>
            <a:ext cx="3790950" cy="4914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annot-header"/>
          <p:cNvSpPr txBox="1"/>
          <p:nvPr/>
        </p:nvSpPr>
        <p:spPr>
          <a:xfrm>
            <a:off x="8134350" y="1600200"/>
            <a:ext cx="3409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KEY NUMBERS</a:t>
            </a:r>
          </a:p>
        </p:txBody>
      </p:sp>
      <p:sp>
        <p:nvSpPr>
          <p:cNvPr id="19" name="metric-1-value"/>
          <p:cNvSpPr txBox="1"/>
          <p:nvPr/>
        </p:nvSpPr>
        <p:spPr>
          <a:xfrm>
            <a:off x="8134350" y="1943100"/>
            <a:ext cx="3409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18d</a:t>
            </a:r>
          </a:p>
        </p:txBody>
      </p:sp>
      <p:sp>
        <p:nvSpPr>
          <p:cNvPr id="20" name="metric-1-label"/>
          <p:cNvSpPr txBox="1"/>
          <p:nvPr/>
        </p:nvSpPr>
        <p:spPr>
          <a:xfrm>
            <a:off x="8134350" y="2324100"/>
            <a:ext cx="3409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Average delay on cross-functional decisions</a:t>
            </a:r>
          </a:p>
        </p:txBody>
      </p:sp>
      <p:sp>
        <p:nvSpPr>
          <p:cNvPr id="21" name="metric-1-source"/>
          <p:cNvSpPr txBox="1"/>
          <p:nvPr/>
        </p:nvSpPr>
        <p:spPr>
          <a:xfrm>
            <a:off x="8134350" y="2495550"/>
            <a:ext cx="3409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Governance audit, Q1 2026</a:t>
            </a:r>
          </a:p>
        </p:txBody>
      </p:sp>
      <p:sp>
        <p:nvSpPr>
          <p:cNvPr id="22" name="metric-2-divider"/>
          <p:cNvSpPr/>
          <p:nvPr/>
        </p:nvSpPr>
        <p:spPr>
          <a:xfrm>
            <a:off x="8134350" y="2667000"/>
            <a:ext cx="3409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metric-2-value"/>
          <p:cNvSpPr txBox="1"/>
          <p:nvPr/>
        </p:nvSpPr>
        <p:spPr>
          <a:xfrm>
            <a:off x="8134350" y="2743200"/>
            <a:ext cx="3409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40×</a:t>
            </a:r>
          </a:p>
        </p:txBody>
      </p:sp>
      <p:sp>
        <p:nvSpPr>
          <p:cNvPr id="24" name="metric-2-label"/>
          <p:cNvSpPr txBox="1"/>
          <p:nvPr/>
        </p:nvSpPr>
        <p:spPr>
          <a:xfrm>
            <a:off x="8134350" y="3124200"/>
            <a:ext cx="3409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Faster repricing by event-driven competitors</a:t>
            </a:r>
          </a:p>
        </p:txBody>
      </p:sp>
      <p:sp>
        <p:nvSpPr>
          <p:cNvPr id="25" name="metric-2-source"/>
          <p:cNvSpPr txBox="1"/>
          <p:nvPr/>
        </p:nvSpPr>
        <p:spPr>
          <a:xfrm>
            <a:off x="8134350" y="3295650"/>
            <a:ext cx="3409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Benchmarking study</a:t>
            </a:r>
          </a:p>
        </p:txBody>
      </p:sp>
      <p:sp>
        <p:nvSpPr>
          <p:cNvPr id="26" name="metric-3-divider"/>
          <p:cNvSpPr/>
          <p:nvPr/>
        </p:nvSpPr>
        <p:spPr>
          <a:xfrm>
            <a:off x="8134350" y="3467100"/>
            <a:ext cx="3409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metric-3-value"/>
          <p:cNvSpPr txBox="1"/>
          <p:nvPr/>
        </p:nvSpPr>
        <p:spPr>
          <a:xfrm>
            <a:off x="8134350" y="3543300"/>
            <a:ext cx="3409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82%</a:t>
            </a:r>
          </a:p>
        </p:txBody>
      </p:sp>
      <p:sp>
        <p:nvSpPr>
          <p:cNvPr id="28" name="metric-3-label"/>
          <p:cNvSpPr txBox="1"/>
          <p:nvPr/>
        </p:nvSpPr>
        <p:spPr>
          <a:xfrm>
            <a:off x="8134350" y="3924300"/>
            <a:ext cx="3409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Analytics talent concentrated in one unit</a:t>
            </a:r>
          </a:p>
        </p:txBody>
      </p:sp>
      <p:sp>
        <p:nvSpPr>
          <p:cNvPr id="29" name="metric-3-source"/>
          <p:cNvSpPr txBox="1"/>
          <p:nvPr/>
        </p:nvSpPr>
        <p:spPr>
          <a:xfrm>
            <a:off x="8134350" y="4095750"/>
            <a:ext cx="3409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HR capability mapping, Feb 2026</a:t>
            </a:r>
          </a:p>
        </p:txBody>
      </p:sp>
      <p:sp>
        <p:nvSpPr>
          <p:cNvPr id="30" name="quote-rule"/>
          <p:cNvSpPr/>
          <p:nvPr/>
        </p:nvSpPr>
        <p:spPr>
          <a:xfrm>
            <a:off x="8134350" y="4419600"/>
            <a:ext cx="28575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quote-text"/>
          <p:cNvSpPr txBox="1"/>
          <p:nvPr/>
        </p:nvSpPr>
        <p:spPr>
          <a:xfrm>
            <a:off x="8229600" y="4419600"/>
            <a:ext cx="3314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“Speed is not a technology problem — it is a structural one. The architecture of accountability must change before the data architecture can follow.”</a:t>
            </a:r>
          </a:p>
        </p:txBody>
      </p:sp>
      <p:sp>
        <p:nvSpPr>
          <p:cNvPr id="3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