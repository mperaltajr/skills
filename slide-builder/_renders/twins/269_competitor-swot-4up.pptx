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Competitor landscape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where each rival is vulnerable and where they threaten us.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Threat level reflects likelihood of near-term displacement; SWOT zones flag where to compete and where to avoid.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"/>
          <p:cNvSpPr/>
          <p:nvPr/>
        </p:nvSpPr>
        <p:spPr>
          <a:xfrm>
            <a:off x="457200" y="2190750"/>
            <a:ext cx="5572125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header"/>
          <p:cNvSpPr/>
          <p:nvPr/>
        </p:nvSpPr>
        <p:spPr>
          <a:xfrm>
            <a:off x="457200" y="2190750"/>
            <a:ext cx="5572125" cy="3429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name"/>
          <p:cNvSpPr txBox="1"/>
          <p:nvPr/>
        </p:nvSpPr>
        <p:spPr>
          <a:xfrm>
            <a:off x="590550" y="2190750"/>
            <a:ext cx="43338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CompetitorOne</a:t>
            </a:r>
          </a:p>
        </p:txBody>
      </p:sp>
      <p:sp>
        <p:nvSpPr>
          <p:cNvPr id="8" name="card-1-threat-bg"/>
          <p:cNvSpPr/>
          <p:nvPr/>
        </p:nvSpPr>
        <p:spPr>
          <a:xfrm>
            <a:off x="5133975" y="2266950"/>
            <a:ext cx="762000" cy="190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threat"/>
          <p:cNvSpPr txBox="1"/>
          <p:nvPr/>
        </p:nvSpPr>
        <p:spPr>
          <a:xfrm>
            <a:off x="5133975" y="22669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10" name="card-1-zone-1"/>
          <p:cNvSpPr/>
          <p:nvPr/>
        </p:nvSpPr>
        <p:spPr>
          <a:xfrm>
            <a:off x="552450" y="2628900"/>
            <a:ext cx="2657475" cy="6286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1-zone-1-label"/>
          <p:cNvSpPr txBox="1"/>
          <p:nvPr/>
        </p:nvSpPr>
        <p:spPr>
          <a:xfrm>
            <a:off x="628650" y="26670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STRENGTHS</a:t>
            </a:r>
          </a:p>
        </p:txBody>
      </p:sp>
      <p:sp>
        <p:nvSpPr>
          <p:cNvPr id="12" name="card-1-zone-1-b1"/>
          <p:cNvSpPr txBox="1"/>
          <p:nvPr/>
        </p:nvSpPr>
        <p:spPr>
          <a:xfrm>
            <a:off x="628650" y="28003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Global scale</a:t>
            </a:r>
          </a:p>
        </p:txBody>
      </p:sp>
      <p:sp>
        <p:nvSpPr>
          <p:cNvPr id="13" name="card-1-zone-1-b2"/>
          <p:cNvSpPr txBox="1"/>
          <p:nvPr/>
        </p:nvSpPr>
        <p:spPr>
          <a:xfrm>
            <a:off x="628650" y="29527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Brand recognition</a:t>
            </a:r>
          </a:p>
        </p:txBody>
      </p:sp>
      <p:sp>
        <p:nvSpPr>
          <p:cNvPr id="14" name="card-1-zone-2"/>
          <p:cNvSpPr/>
          <p:nvPr/>
        </p:nvSpPr>
        <p:spPr>
          <a:xfrm>
            <a:off x="3267075" y="2628900"/>
            <a:ext cx="2657475" cy="62865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1-zone-2-label"/>
          <p:cNvSpPr txBox="1"/>
          <p:nvPr/>
        </p:nvSpPr>
        <p:spPr>
          <a:xfrm>
            <a:off x="3343275" y="26670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WEAKNESSES</a:t>
            </a:r>
          </a:p>
        </p:txBody>
      </p:sp>
      <p:sp>
        <p:nvSpPr>
          <p:cNvPr id="16" name="card-1-zone-2-b1"/>
          <p:cNvSpPr txBox="1"/>
          <p:nvPr/>
        </p:nvSpPr>
        <p:spPr>
          <a:xfrm>
            <a:off x="3343275" y="28003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Slow innovation</a:t>
            </a:r>
          </a:p>
        </p:txBody>
      </p:sp>
      <p:sp>
        <p:nvSpPr>
          <p:cNvPr id="17" name="card-1-zone-2-b2"/>
          <p:cNvSpPr txBox="1"/>
          <p:nvPr/>
        </p:nvSpPr>
        <p:spPr>
          <a:xfrm>
            <a:off x="3343275" y="29527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High price</a:t>
            </a:r>
          </a:p>
        </p:txBody>
      </p:sp>
      <p:sp>
        <p:nvSpPr>
          <p:cNvPr id="18" name="card-1-zone-3"/>
          <p:cNvSpPr/>
          <p:nvPr/>
        </p:nvSpPr>
        <p:spPr>
          <a:xfrm>
            <a:off x="552450" y="3314700"/>
            <a:ext cx="2657475" cy="6286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1-zone-3-label"/>
          <p:cNvSpPr txBox="1"/>
          <p:nvPr/>
        </p:nvSpPr>
        <p:spPr>
          <a:xfrm>
            <a:off x="628650" y="33528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E40AF"/>
                </a:solidFill>
                <a:latin typeface="Inter"/>
              </a:rPr>
              <a:t>OPPORTUNITIES</a:t>
            </a:r>
          </a:p>
        </p:txBody>
      </p:sp>
      <p:sp>
        <p:nvSpPr>
          <p:cNvPr id="20" name="card-1-zone-3-b1"/>
          <p:cNvSpPr txBox="1"/>
          <p:nvPr/>
        </p:nvSpPr>
        <p:spPr>
          <a:xfrm>
            <a:off x="628650" y="34861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Mid-market gap</a:t>
            </a:r>
          </a:p>
        </p:txBody>
      </p:sp>
      <p:sp>
        <p:nvSpPr>
          <p:cNvPr id="21" name="card-1-zone-4"/>
          <p:cNvSpPr/>
          <p:nvPr/>
        </p:nvSpPr>
        <p:spPr>
          <a:xfrm>
            <a:off x="3267075" y="3314700"/>
            <a:ext cx="2657475" cy="6286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rd-1-zone-4-label"/>
          <p:cNvSpPr txBox="1"/>
          <p:nvPr/>
        </p:nvSpPr>
        <p:spPr>
          <a:xfrm>
            <a:off x="3343275" y="33528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THREATS</a:t>
            </a:r>
          </a:p>
        </p:txBody>
      </p:sp>
      <p:sp>
        <p:nvSpPr>
          <p:cNvPr id="23" name="card-1-zone-4-b1"/>
          <p:cNvSpPr txBox="1"/>
          <p:nvPr/>
        </p:nvSpPr>
        <p:spPr>
          <a:xfrm>
            <a:off x="3343275" y="34861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Our agility</a:t>
            </a:r>
          </a:p>
        </p:txBody>
      </p:sp>
      <p:sp>
        <p:nvSpPr>
          <p:cNvPr id="24" name="card-2"/>
          <p:cNvSpPr/>
          <p:nvPr/>
        </p:nvSpPr>
        <p:spPr>
          <a:xfrm>
            <a:off x="6162675" y="2190750"/>
            <a:ext cx="5572125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2-header"/>
          <p:cNvSpPr/>
          <p:nvPr/>
        </p:nvSpPr>
        <p:spPr>
          <a:xfrm>
            <a:off x="6162675" y="2190750"/>
            <a:ext cx="5572125" cy="3429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rd-2-name"/>
          <p:cNvSpPr txBox="1"/>
          <p:nvPr/>
        </p:nvSpPr>
        <p:spPr>
          <a:xfrm>
            <a:off x="6296025" y="2190750"/>
            <a:ext cx="43338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CompetitorTwo</a:t>
            </a:r>
          </a:p>
        </p:txBody>
      </p:sp>
      <p:sp>
        <p:nvSpPr>
          <p:cNvPr id="27" name="card-2-threat-bg"/>
          <p:cNvSpPr/>
          <p:nvPr/>
        </p:nvSpPr>
        <p:spPr>
          <a:xfrm>
            <a:off x="10839450" y="2266950"/>
            <a:ext cx="762000" cy="190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2-threat"/>
          <p:cNvSpPr txBox="1"/>
          <p:nvPr/>
        </p:nvSpPr>
        <p:spPr>
          <a:xfrm>
            <a:off x="10839450" y="22669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MEDIUM</a:t>
            </a:r>
          </a:p>
        </p:txBody>
      </p:sp>
      <p:sp>
        <p:nvSpPr>
          <p:cNvPr id="29" name="card-2-zone-1"/>
          <p:cNvSpPr/>
          <p:nvPr/>
        </p:nvSpPr>
        <p:spPr>
          <a:xfrm>
            <a:off x="6257925" y="2628900"/>
            <a:ext cx="2657475" cy="6286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2-zone-1-label"/>
          <p:cNvSpPr txBox="1"/>
          <p:nvPr/>
        </p:nvSpPr>
        <p:spPr>
          <a:xfrm>
            <a:off x="6334125" y="26670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STRENGTHS</a:t>
            </a:r>
          </a:p>
        </p:txBody>
      </p:sp>
      <p:sp>
        <p:nvSpPr>
          <p:cNvPr id="31" name="card-2-zone-1-b1"/>
          <p:cNvSpPr txBox="1"/>
          <p:nvPr/>
        </p:nvSpPr>
        <p:spPr>
          <a:xfrm>
            <a:off x="6334125" y="28003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Tech platform</a:t>
            </a:r>
          </a:p>
        </p:txBody>
      </p:sp>
      <p:sp>
        <p:nvSpPr>
          <p:cNvPr id="32" name="card-2-zone-1-b2"/>
          <p:cNvSpPr txBox="1"/>
          <p:nvPr/>
        </p:nvSpPr>
        <p:spPr>
          <a:xfrm>
            <a:off x="6334125" y="29527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Low cost</a:t>
            </a:r>
          </a:p>
        </p:txBody>
      </p:sp>
      <p:sp>
        <p:nvSpPr>
          <p:cNvPr id="33" name="card-2-zone-2"/>
          <p:cNvSpPr/>
          <p:nvPr/>
        </p:nvSpPr>
        <p:spPr>
          <a:xfrm>
            <a:off x="8972550" y="2628900"/>
            <a:ext cx="2657475" cy="62865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rd-2-zone-2-label"/>
          <p:cNvSpPr txBox="1"/>
          <p:nvPr/>
        </p:nvSpPr>
        <p:spPr>
          <a:xfrm>
            <a:off x="9048750" y="26670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WEAKNESSES</a:t>
            </a:r>
          </a:p>
        </p:txBody>
      </p:sp>
      <p:sp>
        <p:nvSpPr>
          <p:cNvPr id="35" name="card-2-zone-2-b1"/>
          <p:cNvSpPr txBox="1"/>
          <p:nvPr/>
        </p:nvSpPr>
        <p:spPr>
          <a:xfrm>
            <a:off x="9048750" y="28003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No services layer</a:t>
            </a:r>
          </a:p>
        </p:txBody>
      </p:sp>
      <p:sp>
        <p:nvSpPr>
          <p:cNvPr id="36" name="card-2-zone-3"/>
          <p:cNvSpPr/>
          <p:nvPr/>
        </p:nvSpPr>
        <p:spPr>
          <a:xfrm>
            <a:off x="6257925" y="3314700"/>
            <a:ext cx="2657475" cy="6286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2-zone-3-label"/>
          <p:cNvSpPr txBox="1"/>
          <p:nvPr/>
        </p:nvSpPr>
        <p:spPr>
          <a:xfrm>
            <a:off x="6334125" y="33528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E40AF"/>
                </a:solidFill>
                <a:latin typeface="Inter"/>
              </a:rPr>
              <a:t>OPPORTUNITIES</a:t>
            </a:r>
          </a:p>
        </p:txBody>
      </p:sp>
      <p:sp>
        <p:nvSpPr>
          <p:cNvPr id="38" name="card-2-zone-3-b1"/>
          <p:cNvSpPr txBox="1"/>
          <p:nvPr/>
        </p:nvSpPr>
        <p:spPr>
          <a:xfrm>
            <a:off x="6334125" y="34861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Upsell potential</a:t>
            </a:r>
          </a:p>
        </p:txBody>
      </p:sp>
      <p:sp>
        <p:nvSpPr>
          <p:cNvPr id="39" name="card-2-zone-4"/>
          <p:cNvSpPr/>
          <p:nvPr/>
        </p:nvSpPr>
        <p:spPr>
          <a:xfrm>
            <a:off x="8972550" y="3314700"/>
            <a:ext cx="2657475" cy="6286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ard-2-zone-4-label"/>
          <p:cNvSpPr txBox="1"/>
          <p:nvPr/>
        </p:nvSpPr>
        <p:spPr>
          <a:xfrm>
            <a:off x="9048750" y="33528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THREATS</a:t>
            </a:r>
          </a:p>
        </p:txBody>
      </p:sp>
      <p:sp>
        <p:nvSpPr>
          <p:cNvPr id="41" name="card-2-zone-4-b1"/>
          <p:cNvSpPr txBox="1"/>
          <p:nvPr/>
        </p:nvSpPr>
        <p:spPr>
          <a:xfrm>
            <a:off x="9048750" y="34861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Our relationships</a:t>
            </a:r>
          </a:p>
        </p:txBody>
      </p:sp>
      <p:sp>
        <p:nvSpPr>
          <p:cNvPr id="42" name="card-3"/>
          <p:cNvSpPr/>
          <p:nvPr/>
        </p:nvSpPr>
        <p:spPr>
          <a:xfrm>
            <a:off x="457200" y="4171950"/>
            <a:ext cx="5572125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ard-3-header"/>
          <p:cNvSpPr/>
          <p:nvPr/>
        </p:nvSpPr>
        <p:spPr>
          <a:xfrm>
            <a:off x="457200" y="4171950"/>
            <a:ext cx="5572125" cy="3429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3-name"/>
          <p:cNvSpPr txBox="1"/>
          <p:nvPr/>
        </p:nvSpPr>
        <p:spPr>
          <a:xfrm>
            <a:off x="590550" y="4171950"/>
            <a:ext cx="43338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CompetitorThree</a:t>
            </a:r>
          </a:p>
        </p:txBody>
      </p:sp>
      <p:sp>
        <p:nvSpPr>
          <p:cNvPr id="45" name="card-3-threat-bg"/>
          <p:cNvSpPr/>
          <p:nvPr/>
        </p:nvSpPr>
        <p:spPr>
          <a:xfrm>
            <a:off x="5133975" y="4248150"/>
            <a:ext cx="762000" cy="190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3-threat"/>
          <p:cNvSpPr txBox="1"/>
          <p:nvPr/>
        </p:nvSpPr>
        <p:spPr>
          <a:xfrm>
            <a:off x="5133975" y="42481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LOW</a:t>
            </a:r>
          </a:p>
        </p:txBody>
      </p:sp>
      <p:sp>
        <p:nvSpPr>
          <p:cNvPr id="47" name="card-3-zone-1"/>
          <p:cNvSpPr/>
          <p:nvPr/>
        </p:nvSpPr>
        <p:spPr>
          <a:xfrm>
            <a:off x="552450" y="4610100"/>
            <a:ext cx="2657475" cy="6286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ard-3-zone-1-label"/>
          <p:cNvSpPr txBox="1"/>
          <p:nvPr/>
        </p:nvSpPr>
        <p:spPr>
          <a:xfrm>
            <a:off x="628650" y="46482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STRENGTHS</a:t>
            </a:r>
          </a:p>
        </p:txBody>
      </p:sp>
      <p:sp>
        <p:nvSpPr>
          <p:cNvPr id="49" name="card-3-zone-1-b1"/>
          <p:cNvSpPr txBox="1"/>
          <p:nvPr/>
        </p:nvSpPr>
        <p:spPr>
          <a:xfrm>
            <a:off x="628650" y="47815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Niche depth</a:t>
            </a:r>
          </a:p>
        </p:txBody>
      </p:sp>
      <p:sp>
        <p:nvSpPr>
          <p:cNvPr id="50" name="card-3-zone-2"/>
          <p:cNvSpPr/>
          <p:nvPr/>
        </p:nvSpPr>
        <p:spPr>
          <a:xfrm>
            <a:off x="3267075" y="4610100"/>
            <a:ext cx="2657475" cy="62865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ard-3-zone-2-label"/>
          <p:cNvSpPr txBox="1"/>
          <p:nvPr/>
        </p:nvSpPr>
        <p:spPr>
          <a:xfrm>
            <a:off x="3343275" y="46482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WEAKNESSES</a:t>
            </a:r>
          </a:p>
        </p:txBody>
      </p:sp>
      <p:sp>
        <p:nvSpPr>
          <p:cNvPr id="52" name="card-3-zone-2-b1"/>
          <p:cNvSpPr txBox="1"/>
          <p:nvPr/>
        </p:nvSpPr>
        <p:spPr>
          <a:xfrm>
            <a:off x="3343275" y="47815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Single geography</a:t>
            </a:r>
          </a:p>
        </p:txBody>
      </p:sp>
      <p:sp>
        <p:nvSpPr>
          <p:cNvPr id="53" name="card-3-zone-3"/>
          <p:cNvSpPr/>
          <p:nvPr/>
        </p:nvSpPr>
        <p:spPr>
          <a:xfrm>
            <a:off x="552450" y="5295900"/>
            <a:ext cx="2657475" cy="6286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ard-3-zone-3-label"/>
          <p:cNvSpPr txBox="1"/>
          <p:nvPr/>
        </p:nvSpPr>
        <p:spPr>
          <a:xfrm>
            <a:off x="628650" y="53340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E40AF"/>
                </a:solidFill>
                <a:latin typeface="Inter"/>
              </a:rPr>
              <a:t>OPPORTUNITIES</a:t>
            </a:r>
          </a:p>
        </p:txBody>
      </p:sp>
      <p:sp>
        <p:nvSpPr>
          <p:cNvPr id="55" name="card-3-zone-3-b1"/>
          <p:cNvSpPr txBox="1"/>
          <p:nvPr/>
        </p:nvSpPr>
        <p:spPr>
          <a:xfrm>
            <a:off x="628650" y="54673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Partnership</a:t>
            </a:r>
          </a:p>
        </p:txBody>
      </p:sp>
      <p:sp>
        <p:nvSpPr>
          <p:cNvPr id="56" name="card-3-zone-4"/>
          <p:cNvSpPr/>
          <p:nvPr/>
        </p:nvSpPr>
        <p:spPr>
          <a:xfrm>
            <a:off x="3267075" y="5295900"/>
            <a:ext cx="2657475" cy="6286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ard-3-zone-4-label"/>
          <p:cNvSpPr txBox="1"/>
          <p:nvPr/>
        </p:nvSpPr>
        <p:spPr>
          <a:xfrm>
            <a:off x="3343275" y="53340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THREATS</a:t>
            </a:r>
          </a:p>
        </p:txBody>
      </p:sp>
      <p:sp>
        <p:nvSpPr>
          <p:cNvPr id="58" name="card-3-zone-4-b1"/>
          <p:cNvSpPr txBox="1"/>
          <p:nvPr/>
        </p:nvSpPr>
        <p:spPr>
          <a:xfrm>
            <a:off x="3343275" y="54673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Our scale</a:t>
            </a:r>
          </a:p>
        </p:txBody>
      </p:sp>
      <p:sp>
        <p:nvSpPr>
          <p:cNvPr id="59" name="card-4"/>
          <p:cNvSpPr/>
          <p:nvPr/>
        </p:nvSpPr>
        <p:spPr>
          <a:xfrm>
            <a:off x="6162675" y="4171950"/>
            <a:ext cx="5572125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ard-4-header"/>
          <p:cNvSpPr/>
          <p:nvPr/>
        </p:nvSpPr>
        <p:spPr>
          <a:xfrm>
            <a:off x="6162675" y="4171950"/>
            <a:ext cx="5572125" cy="3429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ard-4-name"/>
          <p:cNvSpPr txBox="1"/>
          <p:nvPr/>
        </p:nvSpPr>
        <p:spPr>
          <a:xfrm>
            <a:off x="6296025" y="4171950"/>
            <a:ext cx="43338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CompetitorFour</a:t>
            </a:r>
          </a:p>
        </p:txBody>
      </p:sp>
      <p:sp>
        <p:nvSpPr>
          <p:cNvPr id="62" name="card-4-threat-bg"/>
          <p:cNvSpPr/>
          <p:nvPr/>
        </p:nvSpPr>
        <p:spPr>
          <a:xfrm>
            <a:off x="10839450" y="4248150"/>
            <a:ext cx="762000" cy="190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ard-4-threat"/>
          <p:cNvSpPr txBox="1"/>
          <p:nvPr/>
        </p:nvSpPr>
        <p:spPr>
          <a:xfrm>
            <a:off x="10839450" y="42481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MEDIUM</a:t>
            </a:r>
          </a:p>
        </p:txBody>
      </p:sp>
      <p:sp>
        <p:nvSpPr>
          <p:cNvPr id="64" name="card-4-zone-1"/>
          <p:cNvSpPr/>
          <p:nvPr/>
        </p:nvSpPr>
        <p:spPr>
          <a:xfrm>
            <a:off x="6257925" y="4610100"/>
            <a:ext cx="2657475" cy="6286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ard-4-zone-1-label"/>
          <p:cNvSpPr txBox="1"/>
          <p:nvPr/>
        </p:nvSpPr>
        <p:spPr>
          <a:xfrm>
            <a:off x="6334125" y="46482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STRENGTHS</a:t>
            </a:r>
          </a:p>
        </p:txBody>
      </p:sp>
      <p:sp>
        <p:nvSpPr>
          <p:cNvPr id="66" name="card-4-zone-1-b1"/>
          <p:cNvSpPr txBox="1"/>
          <p:nvPr/>
        </p:nvSpPr>
        <p:spPr>
          <a:xfrm>
            <a:off x="6334125" y="47815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VC-backed</a:t>
            </a:r>
          </a:p>
        </p:txBody>
      </p:sp>
      <p:sp>
        <p:nvSpPr>
          <p:cNvPr id="67" name="card-4-zone-1-b2"/>
          <p:cNvSpPr txBox="1"/>
          <p:nvPr/>
        </p:nvSpPr>
        <p:spPr>
          <a:xfrm>
            <a:off x="6334125" y="49339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Agile</a:t>
            </a:r>
          </a:p>
        </p:txBody>
      </p:sp>
      <p:sp>
        <p:nvSpPr>
          <p:cNvPr id="68" name="card-4-zone-2"/>
          <p:cNvSpPr/>
          <p:nvPr/>
        </p:nvSpPr>
        <p:spPr>
          <a:xfrm>
            <a:off x="8972550" y="4610100"/>
            <a:ext cx="2657475" cy="62865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ard-4-zone-2-label"/>
          <p:cNvSpPr txBox="1"/>
          <p:nvPr/>
        </p:nvSpPr>
        <p:spPr>
          <a:xfrm>
            <a:off x="9048750" y="46482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WEAKNESSES</a:t>
            </a:r>
          </a:p>
        </p:txBody>
      </p:sp>
      <p:sp>
        <p:nvSpPr>
          <p:cNvPr id="70" name="card-4-zone-2-b1"/>
          <p:cNvSpPr txBox="1"/>
          <p:nvPr/>
        </p:nvSpPr>
        <p:spPr>
          <a:xfrm>
            <a:off x="9048750" y="47815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No enterprise refs</a:t>
            </a:r>
          </a:p>
        </p:txBody>
      </p:sp>
      <p:sp>
        <p:nvSpPr>
          <p:cNvPr id="71" name="card-4-zone-3"/>
          <p:cNvSpPr/>
          <p:nvPr/>
        </p:nvSpPr>
        <p:spPr>
          <a:xfrm>
            <a:off x="6257925" y="5295900"/>
            <a:ext cx="2657475" cy="6286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ard-4-zone-3-label"/>
          <p:cNvSpPr txBox="1"/>
          <p:nvPr/>
        </p:nvSpPr>
        <p:spPr>
          <a:xfrm>
            <a:off x="6334125" y="53340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E40AF"/>
                </a:solidFill>
                <a:latin typeface="Inter"/>
              </a:rPr>
              <a:t>OPPORTUNITIES</a:t>
            </a:r>
          </a:p>
        </p:txBody>
      </p:sp>
      <p:sp>
        <p:nvSpPr>
          <p:cNvPr id="73" name="card-4-zone-3-b1"/>
          <p:cNvSpPr txBox="1"/>
          <p:nvPr/>
        </p:nvSpPr>
        <p:spPr>
          <a:xfrm>
            <a:off x="6334125" y="54673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New entrant</a:t>
            </a:r>
          </a:p>
        </p:txBody>
      </p:sp>
      <p:sp>
        <p:nvSpPr>
          <p:cNvPr id="74" name="card-4-zone-4"/>
          <p:cNvSpPr/>
          <p:nvPr/>
        </p:nvSpPr>
        <p:spPr>
          <a:xfrm>
            <a:off x="8972550" y="5295900"/>
            <a:ext cx="2657475" cy="6286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card-4-zone-4-label"/>
          <p:cNvSpPr txBox="1"/>
          <p:nvPr/>
        </p:nvSpPr>
        <p:spPr>
          <a:xfrm>
            <a:off x="9048750" y="5334000"/>
            <a:ext cx="2505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THREATS</a:t>
            </a:r>
          </a:p>
        </p:txBody>
      </p:sp>
      <p:sp>
        <p:nvSpPr>
          <p:cNvPr id="76" name="card-4-zone-4-b1"/>
          <p:cNvSpPr txBox="1"/>
          <p:nvPr/>
        </p:nvSpPr>
        <p:spPr>
          <a:xfrm>
            <a:off x="9048750" y="5467350"/>
            <a:ext cx="2505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Our reputation</a:t>
            </a:r>
          </a:p>
        </p:txBody>
      </p:sp>
      <p:sp>
        <p:nvSpPr>
          <p:cNvPr id="7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