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D0A4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"/>
          <p:cNvSpPr txBox="1"/>
          <p:nvPr/>
        </p:nvSpPr>
        <p:spPr>
          <a:xfrm>
            <a:off x="457200" y="190500"/>
            <a:ext cx="11239500" cy="7620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b">
            <a:spAutoFit/>
          </a:bodyPr>
          <a:lstStyle/>
          <a:p>
            <a:pPr algn="l">
              <a:defRPr/>
            </a:pPr>
            <a:r>
              <a:rPr sz="2400" b="1" i="0">
                <a:solidFill>
                  <a:srgbClr val="FFFFFF"/>
                </a:solidFill>
                <a:latin typeface="Inter"/>
              </a:rPr>
              <a:t>Slide Lab target operating model — six dimensions, one method.</a:t>
            </a:r>
          </a:p>
        </p:txBody>
      </p:sp>
      <p:sp>
        <p:nvSpPr>
          <p:cNvPr id="3" name="subtitle"/>
          <p:cNvSpPr txBox="1"/>
          <p:nvPr/>
        </p:nvSpPr>
        <p:spPr>
          <a:xfrm>
            <a:off x="457200" y="1028700"/>
            <a:ext cx="10096500" cy="3810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0" i="1">
                <a:solidFill>
                  <a:srgbClr val="C7B8DD"/>
                </a:solidFill>
                <a:latin typeface="Inter"/>
              </a:rPr>
              <a:t>A TOM is only useful when every dimension reinforces the others. Six dimensions, each with three to four components, define how Slide Lab runs as the default deck-building method across the practice.</a:t>
            </a:r>
          </a:p>
        </p:txBody>
      </p:sp>
      <p:sp>
        <p:nvSpPr>
          <p:cNvPr id="4" name="brand-rule"/>
          <p:cNvSpPr/>
          <p:nvPr/>
        </p:nvSpPr>
        <p:spPr>
          <a:xfrm>
            <a:off x="457200" y="1447800"/>
            <a:ext cx="533400" cy="28575"/>
          </a:xfrm>
          <a:prstGeom prst="rect">
            <a:avLst/>
          </a:prstGeom>
          <a:solidFill>
            <a:srgbClr val="C78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5" name="card-1-shape"/>
          <p:cNvSpPr/>
          <p:nvPr/>
        </p:nvSpPr>
        <p:spPr>
          <a:xfrm>
            <a:off x="457200" y="2095500"/>
            <a:ext cx="3667125" cy="1771650"/>
          </a:xfrm>
          <a:prstGeom prst="rect">
            <a:avLst/>
          </a:prstGeom>
          <a:solidFill>
            <a:srgbClr val="3C1F5C"/>
          </a:solidFill>
          <a:ln w="9525">
            <a:solidFill>
              <a:srgbClr val="55367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6" name="card-1-accent"/>
          <p:cNvSpPr/>
          <p:nvPr/>
        </p:nvSpPr>
        <p:spPr>
          <a:xfrm>
            <a:off x="457200" y="2095500"/>
            <a:ext cx="3667125" cy="28575"/>
          </a:xfrm>
          <a:prstGeom prst="rect">
            <a:avLst/>
          </a:prstGeom>
          <a:solidFill>
            <a:srgbClr val="C78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7" name="card-1-num"/>
          <p:cNvSpPr txBox="1"/>
          <p:nvPr/>
        </p:nvSpPr>
        <p:spPr>
          <a:xfrm>
            <a:off x="628650" y="2247900"/>
            <a:ext cx="304800" cy="2286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500" b="1" i="0">
                <a:solidFill>
                  <a:srgbClr val="C780FF"/>
                </a:solidFill>
                <a:latin typeface="Inter"/>
              </a:rPr>
              <a:t>01</a:t>
            </a:r>
          </a:p>
        </p:txBody>
      </p:sp>
      <p:sp>
        <p:nvSpPr>
          <p:cNvPr id="8" name="card-1-icon"/>
          <p:cNvSpPr/>
          <p:nvPr/>
        </p:nvSpPr>
        <p:spPr>
          <a:xfrm>
            <a:off x="971550" y="2266950"/>
            <a:ext cx="209550" cy="209550"/>
          </a:xfrm>
          <a:prstGeom prst="rect">
            <a:avLst/>
          </a:prstGeom>
          <a:solidFill>
            <a:srgbClr val="C78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9" name="card-1-heading"/>
          <p:cNvSpPr txBox="1"/>
          <p:nvPr/>
        </p:nvSpPr>
        <p:spPr>
          <a:xfrm>
            <a:off x="1238250" y="2266950"/>
            <a:ext cx="2752725" cy="2095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1" i="0">
                <a:solidFill>
                  <a:srgbClr val="FFFFFF"/>
                </a:solidFill>
                <a:latin typeface="Inter"/>
              </a:rPr>
              <a:t>STRATEGY</a:t>
            </a:r>
          </a:p>
        </p:txBody>
      </p:sp>
      <p:sp>
        <p:nvSpPr>
          <p:cNvPr id="10" name="card-1-tagline"/>
          <p:cNvSpPr txBox="1"/>
          <p:nvPr/>
        </p:nvSpPr>
        <p:spPr>
          <a:xfrm>
            <a:off x="628650" y="2571750"/>
            <a:ext cx="3324225" cy="2095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0" i="1">
                <a:solidFill>
                  <a:srgbClr val="C7B8DD"/>
                </a:solidFill>
                <a:latin typeface="Inter"/>
              </a:rPr>
              <a:t>Vision, priorities, value bundles</a:t>
            </a:r>
          </a:p>
        </p:txBody>
      </p:sp>
      <p:sp>
        <p:nvSpPr>
          <p:cNvPr id="11" name="card-1-component-1-dot"/>
          <p:cNvSpPr/>
          <p:nvPr/>
        </p:nvSpPr>
        <p:spPr>
          <a:xfrm>
            <a:off x="628650" y="2914650"/>
            <a:ext cx="38100" cy="38100"/>
          </a:xfrm>
          <a:prstGeom prst="rect">
            <a:avLst/>
          </a:prstGeom>
          <a:solidFill>
            <a:srgbClr val="C78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12" name="card-1-component-1"/>
          <p:cNvSpPr txBox="1"/>
          <p:nvPr/>
        </p:nvSpPr>
        <p:spPr>
          <a:xfrm>
            <a:off x="723900" y="2838450"/>
            <a:ext cx="3228975" cy="1905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0" i="0">
                <a:solidFill>
                  <a:srgbClr val="FFFFFF"/>
                </a:solidFill>
                <a:latin typeface="Inter"/>
              </a:rPr>
              <a:t>Slide Lab as default method for client work</a:t>
            </a:r>
          </a:p>
        </p:txBody>
      </p:sp>
      <p:sp>
        <p:nvSpPr>
          <p:cNvPr id="13" name="card-1-component-2-dot"/>
          <p:cNvSpPr/>
          <p:nvPr/>
        </p:nvSpPr>
        <p:spPr>
          <a:xfrm>
            <a:off x="628650" y="3124200"/>
            <a:ext cx="38100" cy="38100"/>
          </a:xfrm>
          <a:prstGeom prst="rect">
            <a:avLst/>
          </a:prstGeom>
          <a:solidFill>
            <a:srgbClr val="C78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14" name="card-1-component-2"/>
          <p:cNvSpPr txBox="1"/>
          <p:nvPr/>
        </p:nvSpPr>
        <p:spPr>
          <a:xfrm>
            <a:off x="723900" y="3048000"/>
            <a:ext cx="3228975" cy="1905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0" i="0">
                <a:solidFill>
                  <a:srgbClr val="FFFFFF"/>
                </a:solidFill>
                <a:latin typeface="Inter"/>
              </a:rPr>
              <a:t>Pattern library as practice IP</a:t>
            </a:r>
          </a:p>
        </p:txBody>
      </p:sp>
      <p:sp>
        <p:nvSpPr>
          <p:cNvPr id="15" name="card-1-component-3-dot"/>
          <p:cNvSpPr/>
          <p:nvPr/>
        </p:nvSpPr>
        <p:spPr>
          <a:xfrm>
            <a:off x="628650" y="3333750"/>
            <a:ext cx="38100" cy="38100"/>
          </a:xfrm>
          <a:prstGeom prst="rect">
            <a:avLst/>
          </a:prstGeom>
          <a:solidFill>
            <a:srgbClr val="C78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16" name="card-1-component-3"/>
          <p:cNvSpPr txBox="1"/>
          <p:nvPr/>
        </p:nvSpPr>
        <p:spPr>
          <a:xfrm>
            <a:off x="723900" y="3257550"/>
            <a:ext cx="3228975" cy="1905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0" i="0">
                <a:solidFill>
                  <a:srgbClr val="FFFFFF"/>
                </a:solidFill>
                <a:latin typeface="Inter"/>
              </a:rPr>
              <a:t>Brand portability across client templates</a:t>
            </a:r>
          </a:p>
        </p:txBody>
      </p:sp>
      <p:sp>
        <p:nvSpPr>
          <p:cNvPr id="17" name="card-2-shape"/>
          <p:cNvSpPr/>
          <p:nvPr/>
        </p:nvSpPr>
        <p:spPr>
          <a:xfrm>
            <a:off x="4257675" y="2095500"/>
            <a:ext cx="3667125" cy="1771650"/>
          </a:xfrm>
          <a:prstGeom prst="rect">
            <a:avLst/>
          </a:prstGeom>
          <a:solidFill>
            <a:srgbClr val="3C1F5C"/>
          </a:solidFill>
          <a:ln w="9525">
            <a:solidFill>
              <a:srgbClr val="55367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18" name="card-2-accent"/>
          <p:cNvSpPr/>
          <p:nvPr/>
        </p:nvSpPr>
        <p:spPr>
          <a:xfrm>
            <a:off x="4257675" y="2095500"/>
            <a:ext cx="3667125" cy="28575"/>
          </a:xfrm>
          <a:prstGeom prst="rect">
            <a:avLst/>
          </a:prstGeom>
          <a:solidFill>
            <a:srgbClr val="C78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19" name="card-2-num"/>
          <p:cNvSpPr txBox="1"/>
          <p:nvPr/>
        </p:nvSpPr>
        <p:spPr>
          <a:xfrm>
            <a:off x="4429125" y="2247900"/>
            <a:ext cx="304800" cy="2286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500" b="1" i="0">
                <a:solidFill>
                  <a:srgbClr val="C780FF"/>
                </a:solidFill>
                <a:latin typeface="Inter"/>
              </a:rPr>
              <a:t>02</a:t>
            </a:r>
          </a:p>
        </p:txBody>
      </p:sp>
      <p:sp>
        <p:nvSpPr>
          <p:cNvPr id="20" name="card-2-icon"/>
          <p:cNvSpPr/>
          <p:nvPr/>
        </p:nvSpPr>
        <p:spPr>
          <a:xfrm>
            <a:off x="4772025" y="2266950"/>
            <a:ext cx="209550" cy="209550"/>
          </a:xfrm>
          <a:prstGeom prst="rect">
            <a:avLst/>
          </a:prstGeom>
          <a:solidFill>
            <a:srgbClr val="C78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21" name="card-2-heading"/>
          <p:cNvSpPr txBox="1"/>
          <p:nvPr/>
        </p:nvSpPr>
        <p:spPr>
          <a:xfrm>
            <a:off x="5038725" y="2266950"/>
            <a:ext cx="2752725" cy="2095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1" i="0">
                <a:solidFill>
                  <a:srgbClr val="FFFFFF"/>
                </a:solidFill>
                <a:latin typeface="Inter"/>
              </a:rPr>
              <a:t>PROCESS</a:t>
            </a:r>
          </a:p>
        </p:txBody>
      </p:sp>
      <p:sp>
        <p:nvSpPr>
          <p:cNvPr id="22" name="card-2-tagline"/>
          <p:cNvSpPr txBox="1"/>
          <p:nvPr/>
        </p:nvSpPr>
        <p:spPr>
          <a:xfrm>
            <a:off x="4429125" y="2571750"/>
            <a:ext cx="3324225" cy="2095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0" i="1">
                <a:solidFill>
                  <a:srgbClr val="C7B8DD"/>
                </a:solidFill>
                <a:latin typeface="Inter"/>
              </a:rPr>
              <a:t>How work flows, gates, hand-offs</a:t>
            </a:r>
          </a:p>
        </p:txBody>
      </p:sp>
      <p:sp>
        <p:nvSpPr>
          <p:cNvPr id="23" name="card-2-component-1-dot"/>
          <p:cNvSpPr/>
          <p:nvPr/>
        </p:nvSpPr>
        <p:spPr>
          <a:xfrm>
            <a:off x="4429125" y="2914650"/>
            <a:ext cx="38100" cy="38100"/>
          </a:xfrm>
          <a:prstGeom prst="rect">
            <a:avLst/>
          </a:prstGeom>
          <a:solidFill>
            <a:srgbClr val="C78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24" name="card-2-component-1"/>
          <p:cNvSpPr txBox="1"/>
          <p:nvPr/>
        </p:nvSpPr>
        <p:spPr>
          <a:xfrm>
            <a:off x="4524375" y="2838450"/>
            <a:ext cx="3228975" cy="1905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0" i="0">
                <a:solidFill>
                  <a:srgbClr val="FFFFFF"/>
                </a:solidFill>
                <a:latin typeface="Inter"/>
              </a:rPr>
              <a:t>Storyline session before drafting</a:t>
            </a:r>
          </a:p>
        </p:txBody>
      </p:sp>
      <p:sp>
        <p:nvSpPr>
          <p:cNvPr id="25" name="card-2-component-2-dot"/>
          <p:cNvSpPr/>
          <p:nvPr/>
        </p:nvSpPr>
        <p:spPr>
          <a:xfrm>
            <a:off x="4429125" y="3124200"/>
            <a:ext cx="38100" cy="38100"/>
          </a:xfrm>
          <a:prstGeom prst="rect">
            <a:avLst/>
          </a:prstGeom>
          <a:solidFill>
            <a:srgbClr val="C78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26" name="card-2-component-2"/>
          <p:cNvSpPr txBox="1"/>
          <p:nvPr/>
        </p:nvSpPr>
        <p:spPr>
          <a:xfrm>
            <a:off x="4524375" y="3048000"/>
            <a:ext cx="3228975" cy="1905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0" i="0">
                <a:solidFill>
                  <a:srgbClr val="FFFFFF"/>
                </a:solidFill>
                <a:latin typeface="Inter"/>
              </a:rPr>
              <a:t>Gated by QC checklist before delivery</a:t>
            </a:r>
          </a:p>
        </p:txBody>
      </p:sp>
      <p:sp>
        <p:nvSpPr>
          <p:cNvPr id="27" name="card-2-component-3-dot"/>
          <p:cNvSpPr/>
          <p:nvPr/>
        </p:nvSpPr>
        <p:spPr>
          <a:xfrm>
            <a:off x="4429125" y="3333750"/>
            <a:ext cx="38100" cy="38100"/>
          </a:xfrm>
          <a:prstGeom prst="rect">
            <a:avLst/>
          </a:prstGeom>
          <a:solidFill>
            <a:srgbClr val="C78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28" name="card-2-component-3"/>
          <p:cNvSpPr txBox="1"/>
          <p:nvPr/>
        </p:nvSpPr>
        <p:spPr>
          <a:xfrm>
            <a:off x="4524375" y="3257550"/>
            <a:ext cx="3228975" cy="1905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0" i="0">
                <a:solidFill>
                  <a:srgbClr val="FFFFFF"/>
                </a:solidFill>
                <a:latin typeface="Inter"/>
              </a:rPr>
              <a:t>Coach pairing on first three decks</a:t>
            </a:r>
          </a:p>
        </p:txBody>
      </p:sp>
      <p:sp>
        <p:nvSpPr>
          <p:cNvPr id="29" name="card-3-shape"/>
          <p:cNvSpPr/>
          <p:nvPr/>
        </p:nvSpPr>
        <p:spPr>
          <a:xfrm>
            <a:off x="8058150" y="2095500"/>
            <a:ext cx="3667125" cy="1771650"/>
          </a:xfrm>
          <a:prstGeom prst="rect">
            <a:avLst/>
          </a:prstGeom>
          <a:solidFill>
            <a:srgbClr val="5C2D87"/>
          </a:solidFill>
          <a:ln w="9525">
            <a:solidFill>
              <a:srgbClr val="55367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30" name="card-3-accent"/>
          <p:cNvSpPr/>
          <p:nvPr/>
        </p:nvSpPr>
        <p:spPr>
          <a:xfrm>
            <a:off x="8058150" y="2095500"/>
            <a:ext cx="3667125" cy="28575"/>
          </a:xfrm>
          <a:prstGeom prst="rect">
            <a:avLst/>
          </a:prstGeom>
          <a:solidFill>
            <a:srgbClr val="A10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31" name="card-3-focus"/>
          <p:cNvSpPr txBox="1"/>
          <p:nvPr/>
        </p:nvSpPr>
        <p:spPr>
          <a:xfrm>
            <a:off x="11153775" y="2190750"/>
            <a:ext cx="476250" cy="133350"/>
          </a:xfrm>
          <a:prstGeom prst="rect">
            <a:avLst/>
          </a:prstGeom>
          <a:solidFill>
            <a:srgbClr val="A100FF"/>
          </a:solidFill>
          <a:ln>
            <a:noFill/>
          </a:ln>
        </p:spPr>
        <p:txBody>
          <a:bodyPr wrap="square" tIns="19050" rIns="38100" bIns="19050" lIns="38100" anchor="t">
            <a:spAutoFit/>
          </a:bodyPr>
          <a:lstStyle/>
          <a:p>
            <a:pPr algn="ctr">
              <a:defRPr/>
            </a:pPr>
            <a:r>
              <a:rPr sz="1050" b="1" i="0">
                <a:solidFill>
                  <a:srgbClr val="FFFFFF"/>
                </a:solidFill>
                <a:latin typeface="Inter"/>
              </a:rPr>
              <a:t>FOCUS</a:t>
            </a:r>
          </a:p>
        </p:txBody>
      </p:sp>
      <p:sp>
        <p:nvSpPr>
          <p:cNvPr id="32" name="card-3-num"/>
          <p:cNvSpPr txBox="1"/>
          <p:nvPr/>
        </p:nvSpPr>
        <p:spPr>
          <a:xfrm>
            <a:off x="8229600" y="2247900"/>
            <a:ext cx="304800" cy="2286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500" b="1" i="0">
                <a:solidFill>
                  <a:srgbClr val="C780FF"/>
                </a:solidFill>
                <a:latin typeface="Inter"/>
              </a:rPr>
              <a:t>03</a:t>
            </a:r>
          </a:p>
        </p:txBody>
      </p:sp>
      <p:sp>
        <p:nvSpPr>
          <p:cNvPr id="33" name="card-3-icon"/>
          <p:cNvSpPr/>
          <p:nvPr/>
        </p:nvSpPr>
        <p:spPr>
          <a:xfrm>
            <a:off x="8572500" y="2266950"/>
            <a:ext cx="209550" cy="209550"/>
          </a:xfrm>
          <a:prstGeom prst="rect">
            <a:avLst/>
          </a:prstGeom>
          <a:solidFill>
            <a:srgbClr val="C78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34" name="card-3-heading"/>
          <p:cNvSpPr txBox="1"/>
          <p:nvPr/>
        </p:nvSpPr>
        <p:spPr>
          <a:xfrm>
            <a:off x="8839200" y="2266950"/>
            <a:ext cx="2752725" cy="2095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1" i="0">
                <a:solidFill>
                  <a:srgbClr val="FFFFFF"/>
                </a:solidFill>
                <a:latin typeface="Inter"/>
              </a:rPr>
              <a:t>ORGANIZATION</a:t>
            </a:r>
          </a:p>
        </p:txBody>
      </p:sp>
      <p:sp>
        <p:nvSpPr>
          <p:cNvPr id="35" name="card-3-tagline"/>
          <p:cNvSpPr txBox="1"/>
          <p:nvPr/>
        </p:nvSpPr>
        <p:spPr>
          <a:xfrm>
            <a:off x="8229600" y="2571750"/>
            <a:ext cx="3324225" cy="2095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0" i="1">
                <a:solidFill>
                  <a:srgbClr val="C7B8DD"/>
                </a:solidFill>
                <a:latin typeface="Inter"/>
              </a:rPr>
              <a:t>Roles, structure, decision rights</a:t>
            </a:r>
          </a:p>
        </p:txBody>
      </p:sp>
      <p:sp>
        <p:nvSpPr>
          <p:cNvPr id="36" name="card-3-component-1-dot"/>
          <p:cNvSpPr/>
          <p:nvPr/>
        </p:nvSpPr>
        <p:spPr>
          <a:xfrm>
            <a:off x="8229600" y="2914650"/>
            <a:ext cx="38100" cy="38100"/>
          </a:xfrm>
          <a:prstGeom prst="rect">
            <a:avLst/>
          </a:prstGeom>
          <a:solidFill>
            <a:srgbClr val="C78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37" name="card-3-component-1"/>
          <p:cNvSpPr txBox="1"/>
          <p:nvPr/>
        </p:nvSpPr>
        <p:spPr>
          <a:xfrm>
            <a:off x="8324850" y="2838450"/>
            <a:ext cx="3228975" cy="1905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0" i="0">
                <a:solidFill>
                  <a:srgbClr val="FFFFFF"/>
                </a:solidFill>
                <a:latin typeface="Inter"/>
              </a:rPr>
              <a:t>Coach role — embedded per practice</a:t>
            </a:r>
          </a:p>
        </p:txBody>
      </p:sp>
      <p:sp>
        <p:nvSpPr>
          <p:cNvPr id="38" name="card-3-component-2-dot"/>
          <p:cNvSpPr/>
          <p:nvPr/>
        </p:nvSpPr>
        <p:spPr>
          <a:xfrm>
            <a:off x="8229600" y="3124200"/>
            <a:ext cx="38100" cy="38100"/>
          </a:xfrm>
          <a:prstGeom prst="rect">
            <a:avLst/>
          </a:prstGeom>
          <a:solidFill>
            <a:srgbClr val="C78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39" name="card-3-component-2"/>
          <p:cNvSpPr txBox="1"/>
          <p:nvPr/>
        </p:nvSpPr>
        <p:spPr>
          <a:xfrm>
            <a:off x="8324850" y="3048000"/>
            <a:ext cx="3228975" cy="1905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0" i="0">
                <a:solidFill>
                  <a:srgbClr val="FFFFFF"/>
                </a:solidFill>
                <a:latin typeface="Inter"/>
              </a:rPr>
              <a:t>Pattern librarian — owns the catalog</a:t>
            </a:r>
          </a:p>
        </p:txBody>
      </p:sp>
      <p:sp>
        <p:nvSpPr>
          <p:cNvPr id="40" name="card-3-component-3-dot"/>
          <p:cNvSpPr/>
          <p:nvPr/>
        </p:nvSpPr>
        <p:spPr>
          <a:xfrm>
            <a:off x="8229600" y="3333750"/>
            <a:ext cx="38100" cy="38100"/>
          </a:xfrm>
          <a:prstGeom prst="rect">
            <a:avLst/>
          </a:prstGeom>
          <a:solidFill>
            <a:srgbClr val="C78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41" name="card-3-component-3"/>
          <p:cNvSpPr txBox="1"/>
          <p:nvPr/>
        </p:nvSpPr>
        <p:spPr>
          <a:xfrm>
            <a:off x="8324850" y="3257550"/>
            <a:ext cx="3228975" cy="1905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0" i="0">
                <a:solidFill>
                  <a:srgbClr val="FFFFFF"/>
                </a:solidFill>
                <a:latin typeface="Inter"/>
              </a:rPr>
              <a:t>Practice champions — one per team</a:t>
            </a:r>
          </a:p>
        </p:txBody>
      </p:sp>
      <p:sp>
        <p:nvSpPr>
          <p:cNvPr id="42" name="card-4-shape"/>
          <p:cNvSpPr/>
          <p:nvPr/>
        </p:nvSpPr>
        <p:spPr>
          <a:xfrm>
            <a:off x="457200" y="4000500"/>
            <a:ext cx="3667125" cy="1771650"/>
          </a:xfrm>
          <a:prstGeom prst="rect">
            <a:avLst/>
          </a:prstGeom>
          <a:solidFill>
            <a:srgbClr val="3C1F5C"/>
          </a:solidFill>
          <a:ln w="9525">
            <a:solidFill>
              <a:srgbClr val="55367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43" name="card-4-accent"/>
          <p:cNvSpPr/>
          <p:nvPr/>
        </p:nvSpPr>
        <p:spPr>
          <a:xfrm>
            <a:off x="457200" y="4000500"/>
            <a:ext cx="3667125" cy="28575"/>
          </a:xfrm>
          <a:prstGeom prst="rect">
            <a:avLst/>
          </a:prstGeom>
          <a:solidFill>
            <a:srgbClr val="C78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44" name="card-4-num"/>
          <p:cNvSpPr txBox="1"/>
          <p:nvPr/>
        </p:nvSpPr>
        <p:spPr>
          <a:xfrm>
            <a:off x="628650" y="4152900"/>
            <a:ext cx="304800" cy="2286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500" b="1" i="0">
                <a:solidFill>
                  <a:srgbClr val="C780FF"/>
                </a:solidFill>
                <a:latin typeface="Inter"/>
              </a:rPr>
              <a:t>04</a:t>
            </a:r>
          </a:p>
        </p:txBody>
      </p:sp>
      <p:sp>
        <p:nvSpPr>
          <p:cNvPr id="45" name="card-4-icon"/>
          <p:cNvSpPr/>
          <p:nvPr/>
        </p:nvSpPr>
        <p:spPr>
          <a:xfrm>
            <a:off x="971550" y="4171950"/>
            <a:ext cx="209550" cy="209550"/>
          </a:xfrm>
          <a:prstGeom prst="rect">
            <a:avLst/>
          </a:prstGeom>
          <a:solidFill>
            <a:srgbClr val="C78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46" name="card-4-heading"/>
          <p:cNvSpPr txBox="1"/>
          <p:nvPr/>
        </p:nvSpPr>
        <p:spPr>
          <a:xfrm>
            <a:off x="1238250" y="4171950"/>
            <a:ext cx="2752725" cy="2095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1" i="0">
                <a:solidFill>
                  <a:srgbClr val="FFFFFF"/>
                </a:solidFill>
                <a:latin typeface="Inter"/>
              </a:rPr>
              <a:t>PEOPLE</a:t>
            </a:r>
          </a:p>
        </p:txBody>
      </p:sp>
      <p:sp>
        <p:nvSpPr>
          <p:cNvPr id="47" name="card-4-tagline"/>
          <p:cNvSpPr txBox="1"/>
          <p:nvPr/>
        </p:nvSpPr>
        <p:spPr>
          <a:xfrm>
            <a:off x="628650" y="4476750"/>
            <a:ext cx="3324225" cy="2095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0" i="1">
                <a:solidFill>
                  <a:srgbClr val="C7B8DD"/>
                </a:solidFill>
                <a:latin typeface="Inter"/>
              </a:rPr>
              <a:t>Skills, learning, performance</a:t>
            </a:r>
          </a:p>
        </p:txBody>
      </p:sp>
      <p:sp>
        <p:nvSpPr>
          <p:cNvPr id="48" name="card-4-component-1-dot"/>
          <p:cNvSpPr/>
          <p:nvPr/>
        </p:nvSpPr>
        <p:spPr>
          <a:xfrm>
            <a:off x="628650" y="4819650"/>
            <a:ext cx="38100" cy="38100"/>
          </a:xfrm>
          <a:prstGeom prst="rect">
            <a:avLst/>
          </a:prstGeom>
          <a:solidFill>
            <a:srgbClr val="C78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49" name="card-4-component-1"/>
          <p:cNvSpPr txBox="1"/>
          <p:nvPr/>
        </p:nvSpPr>
        <p:spPr>
          <a:xfrm>
            <a:off x="723900" y="4743450"/>
            <a:ext cx="3228975" cy="1905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0" i="0">
                <a:solidFill>
                  <a:srgbClr val="FFFFFF"/>
                </a:solidFill>
                <a:latin typeface="Inter"/>
              </a:rPr>
              <a:t>90-min onboarding for every consultant</a:t>
            </a:r>
          </a:p>
        </p:txBody>
      </p:sp>
      <p:sp>
        <p:nvSpPr>
          <p:cNvPr id="50" name="card-4-component-2-dot"/>
          <p:cNvSpPr/>
          <p:nvPr/>
        </p:nvSpPr>
        <p:spPr>
          <a:xfrm>
            <a:off x="628650" y="5029200"/>
            <a:ext cx="38100" cy="38100"/>
          </a:xfrm>
          <a:prstGeom prst="rect">
            <a:avLst/>
          </a:prstGeom>
          <a:solidFill>
            <a:srgbClr val="C78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51" name="card-4-component-2"/>
          <p:cNvSpPr txBox="1"/>
          <p:nvPr/>
        </p:nvSpPr>
        <p:spPr>
          <a:xfrm>
            <a:off x="723900" y="4953000"/>
            <a:ext cx="3228975" cy="1905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0" i="0">
                <a:solidFill>
                  <a:srgbClr val="FFFFFF"/>
                </a:solidFill>
                <a:latin typeface="Inter"/>
              </a:rPr>
              <a:t>Practice champion certification</a:t>
            </a:r>
          </a:p>
        </p:txBody>
      </p:sp>
      <p:sp>
        <p:nvSpPr>
          <p:cNvPr id="52" name="card-4-component-3-dot"/>
          <p:cNvSpPr/>
          <p:nvPr/>
        </p:nvSpPr>
        <p:spPr>
          <a:xfrm>
            <a:off x="628650" y="5238750"/>
            <a:ext cx="38100" cy="38100"/>
          </a:xfrm>
          <a:prstGeom prst="rect">
            <a:avLst/>
          </a:prstGeom>
          <a:solidFill>
            <a:srgbClr val="C78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53" name="card-4-component-3"/>
          <p:cNvSpPr txBox="1"/>
          <p:nvPr/>
        </p:nvSpPr>
        <p:spPr>
          <a:xfrm>
            <a:off x="723900" y="5162550"/>
            <a:ext cx="3228975" cy="1905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0" i="0">
                <a:solidFill>
                  <a:srgbClr val="FFFFFF"/>
                </a:solidFill>
                <a:latin typeface="Inter"/>
              </a:rPr>
              <a:t>Coach development track — quarterly</a:t>
            </a:r>
          </a:p>
        </p:txBody>
      </p:sp>
      <p:sp>
        <p:nvSpPr>
          <p:cNvPr id="54" name="card-5-shape"/>
          <p:cNvSpPr/>
          <p:nvPr/>
        </p:nvSpPr>
        <p:spPr>
          <a:xfrm>
            <a:off x="4257675" y="4000500"/>
            <a:ext cx="3667125" cy="1771650"/>
          </a:xfrm>
          <a:prstGeom prst="rect">
            <a:avLst/>
          </a:prstGeom>
          <a:solidFill>
            <a:srgbClr val="3C1F5C"/>
          </a:solidFill>
          <a:ln w="9525">
            <a:solidFill>
              <a:srgbClr val="55367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55" name="card-5-accent"/>
          <p:cNvSpPr/>
          <p:nvPr/>
        </p:nvSpPr>
        <p:spPr>
          <a:xfrm>
            <a:off x="4257675" y="4000500"/>
            <a:ext cx="3667125" cy="28575"/>
          </a:xfrm>
          <a:prstGeom prst="rect">
            <a:avLst/>
          </a:prstGeom>
          <a:solidFill>
            <a:srgbClr val="C78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56" name="card-5-num"/>
          <p:cNvSpPr txBox="1"/>
          <p:nvPr/>
        </p:nvSpPr>
        <p:spPr>
          <a:xfrm>
            <a:off x="4429125" y="4152900"/>
            <a:ext cx="304800" cy="2286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500" b="1" i="0">
                <a:solidFill>
                  <a:srgbClr val="C780FF"/>
                </a:solidFill>
                <a:latin typeface="Inter"/>
              </a:rPr>
              <a:t>05</a:t>
            </a:r>
          </a:p>
        </p:txBody>
      </p:sp>
      <p:sp>
        <p:nvSpPr>
          <p:cNvPr id="57" name="card-5-icon"/>
          <p:cNvSpPr/>
          <p:nvPr/>
        </p:nvSpPr>
        <p:spPr>
          <a:xfrm>
            <a:off x="4772025" y="4171950"/>
            <a:ext cx="209550" cy="209550"/>
          </a:xfrm>
          <a:prstGeom prst="rect">
            <a:avLst/>
          </a:prstGeom>
          <a:solidFill>
            <a:srgbClr val="C78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58" name="card-5-heading"/>
          <p:cNvSpPr txBox="1"/>
          <p:nvPr/>
        </p:nvSpPr>
        <p:spPr>
          <a:xfrm>
            <a:off x="5038725" y="4171950"/>
            <a:ext cx="2752725" cy="2095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1" i="0">
                <a:solidFill>
                  <a:srgbClr val="FFFFFF"/>
                </a:solidFill>
                <a:latin typeface="Inter"/>
              </a:rPr>
              <a:t>TECHNOLOGY</a:t>
            </a:r>
          </a:p>
        </p:txBody>
      </p:sp>
      <p:sp>
        <p:nvSpPr>
          <p:cNvPr id="59" name="card-5-tagline"/>
          <p:cNvSpPr txBox="1"/>
          <p:nvPr/>
        </p:nvSpPr>
        <p:spPr>
          <a:xfrm>
            <a:off x="4429125" y="4476750"/>
            <a:ext cx="3324225" cy="2095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0" i="1">
                <a:solidFill>
                  <a:srgbClr val="C7B8DD"/>
                </a:solidFill>
                <a:latin typeface="Inter"/>
              </a:rPr>
              <a:t>Platforms, tools, integration</a:t>
            </a:r>
          </a:p>
        </p:txBody>
      </p:sp>
      <p:sp>
        <p:nvSpPr>
          <p:cNvPr id="60" name="card-5-component-1-dot"/>
          <p:cNvSpPr/>
          <p:nvPr/>
        </p:nvSpPr>
        <p:spPr>
          <a:xfrm>
            <a:off x="4429125" y="4819650"/>
            <a:ext cx="38100" cy="38100"/>
          </a:xfrm>
          <a:prstGeom prst="rect">
            <a:avLst/>
          </a:prstGeom>
          <a:solidFill>
            <a:srgbClr val="C78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61" name="card-5-component-1"/>
          <p:cNvSpPr txBox="1"/>
          <p:nvPr/>
        </p:nvSpPr>
        <p:spPr>
          <a:xfrm>
            <a:off x="4524375" y="4743450"/>
            <a:ext cx="3228975" cy="1905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0" i="0">
                <a:solidFill>
                  <a:srgbClr val="FFFFFF"/>
                </a:solidFill>
                <a:latin typeface="Inter"/>
              </a:rPr>
              <a:t>Claude Code as the substrate</a:t>
            </a:r>
          </a:p>
        </p:txBody>
      </p:sp>
      <p:sp>
        <p:nvSpPr>
          <p:cNvPr id="62" name="card-5-component-2-dot"/>
          <p:cNvSpPr/>
          <p:nvPr/>
        </p:nvSpPr>
        <p:spPr>
          <a:xfrm>
            <a:off x="4429125" y="5029200"/>
            <a:ext cx="38100" cy="38100"/>
          </a:xfrm>
          <a:prstGeom prst="rect">
            <a:avLst/>
          </a:prstGeom>
          <a:solidFill>
            <a:srgbClr val="C78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63" name="card-5-component-2"/>
          <p:cNvSpPr txBox="1"/>
          <p:nvPr/>
        </p:nvSpPr>
        <p:spPr>
          <a:xfrm>
            <a:off x="4524375" y="4953000"/>
            <a:ext cx="3228975" cy="1905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0" i="0">
                <a:solidFill>
                  <a:srgbClr val="FFFFFF"/>
                </a:solidFill>
                <a:latin typeface="Inter"/>
              </a:rPr>
              <a:t>HTML → PPTX render engine</a:t>
            </a:r>
          </a:p>
        </p:txBody>
      </p:sp>
      <p:sp>
        <p:nvSpPr>
          <p:cNvPr id="64" name="card-5-component-3-dot"/>
          <p:cNvSpPr/>
          <p:nvPr/>
        </p:nvSpPr>
        <p:spPr>
          <a:xfrm>
            <a:off x="4429125" y="5238750"/>
            <a:ext cx="38100" cy="38100"/>
          </a:xfrm>
          <a:prstGeom prst="rect">
            <a:avLst/>
          </a:prstGeom>
          <a:solidFill>
            <a:srgbClr val="C78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65" name="card-5-component-3"/>
          <p:cNvSpPr txBox="1"/>
          <p:nvPr/>
        </p:nvSpPr>
        <p:spPr>
          <a:xfrm>
            <a:off x="4524375" y="5162550"/>
            <a:ext cx="3228975" cy="1905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0" i="0">
                <a:solidFill>
                  <a:srgbClr val="FFFFFF"/>
                </a:solidFill>
                <a:latin typeface="Inter"/>
              </a:rPr>
              <a:t>Pattern library — versioned, shared</a:t>
            </a:r>
          </a:p>
        </p:txBody>
      </p:sp>
      <p:sp>
        <p:nvSpPr>
          <p:cNvPr id="66" name="card-6-shape"/>
          <p:cNvSpPr/>
          <p:nvPr/>
        </p:nvSpPr>
        <p:spPr>
          <a:xfrm>
            <a:off x="8058150" y="4000500"/>
            <a:ext cx="3667125" cy="1771650"/>
          </a:xfrm>
          <a:prstGeom prst="rect">
            <a:avLst/>
          </a:prstGeom>
          <a:solidFill>
            <a:srgbClr val="3C1F5C"/>
          </a:solidFill>
          <a:ln w="9525">
            <a:solidFill>
              <a:srgbClr val="55367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67" name="card-6-accent"/>
          <p:cNvSpPr/>
          <p:nvPr/>
        </p:nvSpPr>
        <p:spPr>
          <a:xfrm>
            <a:off x="8058150" y="4000500"/>
            <a:ext cx="3667125" cy="28575"/>
          </a:xfrm>
          <a:prstGeom prst="rect">
            <a:avLst/>
          </a:prstGeom>
          <a:solidFill>
            <a:srgbClr val="C78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68" name="card-6-num"/>
          <p:cNvSpPr txBox="1"/>
          <p:nvPr/>
        </p:nvSpPr>
        <p:spPr>
          <a:xfrm>
            <a:off x="8229600" y="4152900"/>
            <a:ext cx="304800" cy="2286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500" b="1" i="0">
                <a:solidFill>
                  <a:srgbClr val="C780FF"/>
                </a:solidFill>
                <a:latin typeface="Inter"/>
              </a:rPr>
              <a:t>06</a:t>
            </a:r>
          </a:p>
        </p:txBody>
      </p:sp>
      <p:sp>
        <p:nvSpPr>
          <p:cNvPr id="69" name="card-6-icon"/>
          <p:cNvSpPr/>
          <p:nvPr/>
        </p:nvSpPr>
        <p:spPr>
          <a:xfrm>
            <a:off x="8572500" y="4171950"/>
            <a:ext cx="209550" cy="209550"/>
          </a:xfrm>
          <a:prstGeom prst="rect">
            <a:avLst/>
          </a:prstGeom>
          <a:solidFill>
            <a:srgbClr val="C78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70" name="card-6-heading"/>
          <p:cNvSpPr txBox="1"/>
          <p:nvPr/>
        </p:nvSpPr>
        <p:spPr>
          <a:xfrm>
            <a:off x="8839200" y="4171950"/>
            <a:ext cx="2752725" cy="2095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1" i="0">
                <a:solidFill>
                  <a:srgbClr val="FFFFFF"/>
                </a:solidFill>
                <a:latin typeface="Inter"/>
              </a:rPr>
              <a:t>GOVERNANCE</a:t>
            </a:r>
          </a:p>
        </p:txBody>
      </p:sp>
      <p:sp>
        <p:nvSpPr>
          <p:cNvPr id="71" name="card-6-tagline"/>
          <p:cNvSpPr txBox="1"/>
          <p:nvPr/>
        </p:nvSpPr>
        <p:spPr>
          <a:xfrm>
            <a:off x="8229600" y="4476750"/>
            <a:ext cx="3324225" cy="2095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0" i="1">
                <a:solidFill>
                  <a:srgbClr val="C7B8DD"/>
                </a:solidFill>
                <a:latin typeface="Inter"/>
              </a:rPr>
              <a:t>Cadence, escalation, decision forums</a:t>
            </a:r>
          </a:p>
        </p:txBody>
      </p:sp>
      <p:sp>
        <p:nvSpPr>
          <p:cNvPr id="72" name="card-6-component-1-dot"/>
          <p:cNvSpPr/>
          <p:nvPr/>
        </p:nvSpPr>
        <p:spPr>
          <a:xfrm>
            <a:off x="8229600" y="4819650"/>
            <a:ext cx="38100" cy="38100"/>
          </a:xfrm>
          <a:prstGeom prst="rect">
            <a:avLst/>
          </a:prstGeom>
          <a:solidFill>
            <a:srgbClr val="C78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73" name="card-6-component-1"/>
          <p:cNvSpPr txBox="1"/>
          <p:nvPr/>
        </p:nvSpPr>
        <p:spPr>
          <a:xfrm>
            <a:off x="8324850" y="4743450"/>
            <a:ext cx="3228975" cy="1905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0" i="0">
                <a:solidFill>
                  <a:srgbClr val="FFFFFF"/>
                </a:solidFill>
                <a:latin typeface="Inter"/>
              </a:rPr>
              <a:t>Weekly pilot review</a:t>
            </a:r>
          </a:p>
        </p:txBody>
      </p:sp>
      <p:sp>
        <p:nvSpPr>
          <p:cNvPr id="74" name="card-6-component-2-dot"/>
          <p:cNvSpPr/>
          <p:nvPr/>
        </p:nvSpPr>
        <p:spPr>
          <a:xfrm>
            <a:off x="8229600" y="5029200"/>
            <a:ext cx="38100" cy="38100"/>
          </a:xfrm>
          <a:prstGeom prst="rect">
            <a:avLst/>
          </a:prstGeom>
          <a:solidFill>
            <a:srgbClr val="C78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75" name="card-6-component-2"/>
          <p:cNvSpPr txBox="1"/>
          <p:nvPr/>
        </p:nvSpPr>
        <p:spPr>
          <a:xfrm>
            <a:off x="8324850" y="4953000"/>
            <a:ext cx="3228975" cy="1905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0" i="0">
                <a:solidFill>
                  <a:srgbClr val="FFFFFF"/>
                </a:solidFill>
                <a:latin typeface="Inter"/>
              </a:rPr>
              <a:t>Monthly practice forum</a:t>
            </a:r>
          </a:p>
        </p:txBody>
      </p:sp>
      <p:sp>
        <p:nvSpPr>
          <p:cNvPr id="76" name="card-6-component-3-dot"/>
          <p:cNvSpPr/>
          <p:nvPr/>
        </p:nvSpPr>
        <p:spPr>
          <a:xfrm>
            <a:off x="8229600" y="5238750"/>
            <a:ext cx="38100" cy="38100"/>
          </a:xfrm>
          <a:prstGeom prst="rect">
            <a:avLst/>
          </a:prstGeom>
          <a:solidFill>
            <a:srgbClr val="C78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77" name="card-6-component-3"/>
          <p:cNvSpPr txBox="1"/>
          <p:nvPr/>
        </p:nvSpPr>
        <p:spPr>
          <a:xfrm>
            <a:off x="8324850" y="5162550"/>
            <a:ext cx="3228975" cy="1905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0" i="0">
                <a:solidFill>
                  <a:srgbClr val="FFFFFF"/>
                </a:solidFill>
                <a:latin typeface="Inter"/>
              </a:rPr>
              <a:t>Quarterly evolution &amp; roadmap</a:t>
            </a:r>
          </a:p>
        </p:txBody>
      </p:sp>
      <p:sp>
        <p:nvSpPr>
          <p:cNvPr id="78" name="convergence"/>
          <p:cNvSpPr txBox="1"/>
          <p:nvPr/>
        </p:nvSpPr>
        <p:spPr>
          <a:xfrm>
            <a:off x="457200" y="6248400"/>
            <a:ext cx="11277600" cy="1905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ctr">
              <a:defRPr/>
            </a:pPr>
            <a:r>
              <a:rPr sz="1050" b="1" i="0">
                <a:solidFill>
                  <a:srgbClr val="C780FF"/>
                </a:solidFill>
                <a:latin typeface="Inter"/>
              </a:rPr>
              <a:t>SIX DIMENSIONS · ONE OPERATING MODEL · ONE METHOD.</a:t>
            </a:r>
          </a:p>
        </p:txBody>
      </p:sp>
      <p:sp>
        <p:nvSpPr>
          <p:cNvPr id="79" name="footnote-1"/>
          <p:cNvSpPr txBox="1"/>
          <p:nvPr/>
        </p:nvSpPr>
        <p:spPr>
          <a:xfrm>
            <a:off x="552450" y="6400800"/>
            <a:ext cx="11087100" cy="1524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0" i="0">
                <a:solidFill>
                  <a:srgbClr val="9C88B8"/>
                </a:solidFill>
                <a:latin typeface="Inter"/>
              </a:rPr>
              <a:t>1. [add footnote here or delete]</a:t>
            </a:r>
          </a:p>
        </p:txBody>
      </p:sp>
      <p:sp>
        <p:nvSpPr>
          <p:cNvPr id="80" name="source"/>
          <p:cNvSpPr txBox="1"/>
          <p:nvPr/>
        </p:nvSpPr>
        <p:spPr>
          <a:xfrm>
            <a:off x="552450" y="6553200"/>
            <a:ext cx="10477500" cy="1524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/>
            <a:r>
              <a:rPr sz="750" b="0" i="1">
                <a:solidFill>
                  <a:srgbClr val="9C88B8"/>
                </a:solidFill>
                <a:latin typeface="Inter"/>
              </a:rPr>
              <a:t>Source: [add source here or delete]</a:t>
            </a:r>
          </a:p>
        </p:txBody>
      </p:sp>
      <p:sp>
        <p:nvSpPr>
          <p:cNvPr id="81" name="page-number"/>
          <p:cNvSpPr txBox="1"/>
          <p:nvPr/>
        </p:nvSpPr>
        <p:spPr>
          <a:xfrm>
            <a:off x="11144250" y="6553200"/>
            <a:ext cx="495300" cy="1524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r"/>
            <a:r>
              <a:rPr sz="825" b="0" i="0">
                <a:solidFill>
                  <a:srgbClr val="9C88B8"/>
                </a:solidFill>
                <a:latin typeface="Inter"/>
              </a:rPr>
              <a:t>81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