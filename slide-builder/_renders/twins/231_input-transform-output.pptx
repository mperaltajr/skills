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How we turn raw inputs into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measurable outcomes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transformation model — from data and constraints to value delivery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inputs-header"/>
          <p:cNvSpPr txBox="1"/>
          <p:nvPr/>
        </p:nvSpPr>
        <p:spPr>
          <a:xfrm>
            <a:off x="457200" y="1314450"/>
            <a:ext cx="2457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INPUTS</a:t>
            </a:r>
          </a:p>
        </p:txBody>
      </p:sp>
      <p:sp>
        <p:nvSpPr>
          <p:cNvPr id="6" name="outputs-header"/>
          <p:cNvSpPr txBox="1"/>
          <p:nvPr/>
        </p:nvSpPr>
        <p:spPr>
          <a:xfrm>
            <a:off x="9277350" y="1314450"/>
            <a:ext cx="2457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OUTCOMES</a:t>
            </a:r>
          </a:p>
        </p:txBody>
      </p:sp>
      <p:sp>
        <p:nvSpPr>
          <p:cNvPr id="7" name="input-1-card"/>
          <p:cNvSpPr/>
          <p:nvPr/>
        </p:nvSpPr>
        <p:spPr>
          <a:xfrm>
            <a:off x="457200" y="156210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input-1-dot"/>
          <p:cNvSpPr/>
          <p:nvPr/>
        </p:nvSpPr>
        <p:spPr>
          <a:xfrm>
            <a:off x="590550" y="17240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input-1-label"/>
          <p:cNvSpPr txBox="1"/>
          <p:nvPr/>
        </p:nvSpPr>
        <p:spPr>
          <a:xfrm>
            <a:off x="742950" y="167640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Business Requirements</a:t>
            </a:r>
          </a:p>
        </p:txBody>
      </p:sp>
      <p:sp>
        <p:nvSpPr>
          <p:cNvPr id="10" name="input-1-sub"/>
          <p:cNvSpPr txBox="1"/>
          <p:nvPr/>
        </p:nvSpPr>
        <p:spPr>
          <a:xfrm>
            <a:off x="742950" y="184785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Stakeholder priorities &amp; strategic goals</a:t>
            </a:r>
          </a:p>
        </p:txBody>
      </p:sp>
      <p:sp>
        <p:nvSpPr>
          <p:cNvPr id="11" name="input-2-card"/>
          <p:cNvSpPr/>
          <p:nvPr/>
        </p:nvSpPr>
        <p:spPr>
          <a:xfrm>
            <a:off x="457200" y="2505075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input-2-dot"/>
          <p:cNvSpPr/>
          <p:nvPr/>
        </p:nvSpPr>
        <p:spPr>
          <a:xfrm>
            <a:off x="590550" y="266700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input-2-label"/>
          <p:cNvSpPr txBox="1"/>
          <p:nvPr/>
        </p:nvSpPr>
        <p:spPr>
          <a:xfrm>
            <a:off x="742950" y="2619375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Raw Data &amp; Systems</a:t>
            </a:r>
          </a:p>
        </p:txBody>
      </p:sp>
      <p:sp>
        <p:nvSpPr>
          <p:cNvPr id="14" name="input-2-sub"/>
          <p:cNvSpPr txBox="1"/>
          <p:nvPr/>
        </p:nvSpPr>
        <p:spPr>
          <a:xfrm>
            <a:off x="742950" y="2790825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Existing platforms, data sources, APIs</a:t>
            </a:r>
          </a:p>
        </p:txBody>
      </p:sp>
      <p:sp>
        <p:nvSpPr>
          <p:cNvPr id="15" name="input-3-card"/>
          <p:cNvSpPr/>
          <p:nvPr/>
        </p:nvSpPr>
        <p:spPr>
          <a:xfrm>
            <a:off x="457200" y="344805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input-3-dot"/>
          <p:cNvSpPr/>
          <p:nvPr/>
        </p:nvSpPr>
        <p:spPr>
          <a:xfrm>
            <a:off x="590550" y="360997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input-3-label"/>
          <p:cNvSpPr txBox="1"/>
          <p:nvPr/>
        </p:nvSpPr>
        <p:spPr>
          <a:xfrm>
            <a:off x="742950" y="356235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Constraints &amp; Risks</a:t>
            </a:r>
          </a:p>
        </p:txBody>
      </p:sp>
      <p:sp>
        <p:nvSpPr>
          <p:cNvPr id="18" name="input-3-sub"/>
          <p:cNvSpPr txBox="1"/>
          <p:nvPr/>
        </p:nvSpPr>
        <p:spPr>
          <a:xfrm>
            <a:off x="742950" y="373380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Budget, timeline, regulatory requirements</a:t>
            </a:r>
          </a:p>
        </p:txBody>
      </p:sp>
      <p:sp>
        <p:nvSpPr>
          <p:cNvPr id="19" name="input-4-card"/>
          <p:cNvSpPr/>
          <p:nvPr/>
        </p:nvSpPr>
        <p:spPr>
          <a:xfrm>
            <a:off x="457200" y="4391025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input-4-dot"/>
          <p:cNvSpPr/>
          <p:nvPr/>
        </p:nvSpPr>
        <p:spPr>
          <a:xfrm>
            <a:off x="590550" y="45529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input-4-label"/>
          <p:cNvSpPr txBox="1"/>
          <p:nvPr/>
        </p:nvSpPr>
        <p:spPr>
          <a:xfrm>
            <a:off x="742950" y="4505325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Team Capabilities</a:t>
            </a:r>
          </a:p>
        </p:txBody>
      </p:sp>
      <p:sp>
        <p:nvSpPr>
          <p:cNvPr id="22" name="input-4-sub"/>
          <p:cNvSpPr txBox="1"/>
          <p:nvPr/>
        </p:nvSpPr>
        <p:spPr>
          <a:xfrm>
            <a:off x="742950" y="4676775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Skills inventory &amp; resource availability</a:t>
            </a:r>
          </a:p>
        </p:txBody>
      </p:sp>
      <p:sp>
        <p:nvSpPr>
          <p:cNvPr id="23" name="input-5-card"/>
          <p:cNvSpPr/>
          <p:nvPr/>
        </p:nvSpPr>
        <p:spPr>
          <a:xfrm>
            <a:off x="457200" y="533400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input-5-dot"/>
          <p:cNvSpPr/>
          <p:nvPr/>
        </p:nvSpPr>
        <p:spPr>
          <a:xfrm>
            <a:off x="590550" y="54959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input-5-label"/>
          <p:cNvSpPr txBox="1"/>
          <p:nvPr/>
        </p:nvSpPr>
        <p:spPr>
          <a:xfrm>
            <a:off x="742950" y="544830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Market Signals</a:t>
            </a:r>
          </a:p>
        </p:txBody>
      </p:sp>
      <p:sp>
        <p:nvSpPr>
          <p:cNvPr id="26" name="input-5-sub"/>
          <p:cNvSpPr txBox="1"/>
          <p:nvPr/>
        </p:nvSpPr>
        <p:spPr>
          <a:xfrm>
            <a:off x="742950" y="561975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Customer feedback, competitive intel, demand data</a:t>
            </a:r>
          </a:p>
        </p:txBody>
      </p:sp>
      <p:sp>
        <p:nvSpPr>
          <p:cNvPr id="27" name="output-1-card"/>
          <p:cNvSpPr/>
          <p:nvPr/>
        </p:nvSpPr>
        <p:spPr>
          <a:xfrm>
            <a:off x="9277350" y="156210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output-1-dot"/>
          <p:cNvSpPr/>
          <p:nvPr/>
        </p:nvSpPr>
        <p:spPr>
          <a:xfrm>
            <a:off x="9410700" y="172402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output-1-label"/>
          <p:cNvSpPr txBox="1"/>
          <p:nvPr/>
        </p:nvSpPr>
        <p:spPr>
          <a:xfrm>
            <a:off x="9563100" y="167640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30%+ Cost Reduction</a:t>
            </a:r>
          </a:p>
        </p:txBody>
      </p:sp>
      <p:sp>
        <p:nvSpPr>
          <p:cNvPr id="30" name="output-1-sub"/>
          <p:cNvSpPr txBox="1"/>
          <p:nvPr/>
        </p:nvSpPr>
        <p:spPr>
          <a:xfrm>
            <a:off x="9563100" y="184785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Operational savings within 12 months</a:t>
            </a:r>
          </a:p>
        </p:txBody>
      </p:sp>
      <p:sp>
        <p:nvSpPr>
          <p:cNvPr id="31" name="output-2-card"/>
          <p:cNvSpPr/>
          <p:nvPr/>
        </p:nvSpPr>
        <p:spPr>
          <a:xfrm>
            <a:off x="9277350" y="2505075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output-2-dot"/>
          <p:cNvSpPr/>
          <p:nvPr/>
        </p:nvSpPr>
        <p:spPr>
          <a:xfrm>
            <a:off x="9410700" y="2667000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utput-2-label"/>
          <p:cNvSpPr txBox="1"/>
          <p:nvPr/>
        </p:nvSpPr>
        <p:spPr>
          <a:xfrm>
            <a:off x="9563100" y="2619375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Accelerated Time-to-Value</a:t>
            </a:r>
          </a:p>
        </p:txBody>
      </p:sp>
      <p:sp>
        <p:nvSpPr>
          <p:cNvPr id="34" name="output-2-sub"/>
          <p:cNvSpPr txBox="1"/>
          <p:nvPr/>
        </p:nvSpPr>
        <p:spPr>
          <a:xfrm>
            <a:off x="9563100" y="2790825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First results delivered within 8 weeks</a:t>
            </a:r>
          </a:p>
        </p:txBody>
      </p:sp>
      <p:sp>
        <p:nvSpPr>
          <p:cNvPr id="35" name="output-3-card"/>
          <p:cNvSpPr/>
          <p:nvPr/>
        </p:nvSpPr>
        <p:spPr>
          <a:xfrm>
            <a:off x="9277350" y="344805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output-3-dot"/>
          <p:cNvSpPr/>
          <p:nvPr/>
        </p:nvSpPr>
        <p:spPr>
          <a:xfrm>
            <a:off x="9410700" y="360997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output-3-label"/>
          <p:cNvSpPr txBox="1"/>
          <p:nvPr/>
        </p:nvSpPr>
        <p:spPr>
          <a:xfrm>
            <a:off x="9563100" y="356235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Scalable Platform</a:t>
            </a:r>
          </a:p>
        </p:txBody>
      </p:sp>
      <p:sp>
        <p:nvSpPr>
          <p:cNvPr id="38" name="output-3-sub"/>
          <p:cNvSpPr txBox="1"/>
          <p:nvPr/>
        </p:nvSpPr>
        <p:spPr>
          <a:xfrm>
            <a:off x="9563100" y="373380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Architecture ready to grow with demand</a:t>
            </a:r>
          </a:p>
        </p:txBody>
      </p:sp>
      <p:sp>
        <p:nvSpPr>
          <p:cNvPr id="39" name="output-4-card"/>
          <p:cNvSpPr/>
          <p:nvPr/>
        </p:nvSpPr>
        <p:spPr>
          <a:xfrm>
            <a:off x="9277350" y="4391025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output-4-dot"/>
          <p:cNvSpPr/>
          <p:nvPr/>
        </p:nvSpPr>
        <p:spPr>
          <a:xfrm>
            <a:off x="9410700" y="4552950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output-4-label"/>
          <p:cNvSpPr txBox="1"/>
          <p:nvPr/>
        </p:nvSpPr>
        <p:spPr>
          <a:xfrm>
            <a:off x="9563100" y="4505325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Empowered Teams</a:t>
            </a:r>
          </a:p>
        </p:txBody>
      </p:sp>
      <p:sp>
        <p:nvSpPr>
          <p:cNvPr id="42" name="output-4-sub"/>
          <p:cNvSpPr txBox="1"/>
          <p:nvPr/>
        </p:nvSpPr>
        <p:spPr>
          <a:xfrm>
            <a:off x="9563100" y="4676775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Self-sufficient capabilities post-engagement</a:t>
            </a:r>
          </a:p>
        </p:txBody>
      </p:sp>
      <p:sp>
        <p:nvSpPr>
          <p:cNvPr id="43" name="output-5-card"/>
          <p:cNvSpPr/>
          <p:nvPr/>
        </p:nvSpPr>
        <p:spPr>
          <a:xfrm>
            <a:off x="9277350" y="5334000"/>
            <a:ext cx="2457450" cy="8858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utput-5-dot"/>
          <p:cNvSpPr/>
          <p:nvPr/>
        </p:nvSpPr>
        <p:spPr>
          <a:xfrm>
            <a:off x="9410700" y="549592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output-5-label"/>
          <p:cNvSpPr txBox="1"/>
          <p:nvPr/>
        </p:nvSpPr>
        <p:spPr>
          <a:xfrm>
            <a:off x="9563100" y="544830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Measurable ROI</a:t>
            </a:r>
          </a:p>
        </p:txBody>
      </p:sp>
      <p:sp>
        <p:nvSpPr>
          <p:cNvPr id="46" name="output-5-sub"/>
          <p:cNvSpPr txBox="1"/>
          <p:nvPr/>
        </p:nvSpPr>
        <p:spPr>
          <a:xfrm>
            <a:off x="9563100" y="5619750"/>
            <a:ext cx="2076450" cy="542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Quantified benefits tracked against baseline KPIs</a:t>
            </a:r>
          </a:p>
        </p:txBody>
      </p:sp>
      <p:sp>
        <p:nvSpPr>
          <p:cNvPr id="47" name="transform-panel"/>
          <p:cNvSpPr/>
          <p:nvPr/>
        </p:nvSpPr>
        <p:spPr>
          <a:xfrm>
            <a:off x="3409950" y="1314450"/>
            <a:ext cx="5372100" cy="4933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ransform-label"/>
          <p:cNvSpPr txBox="1"/>
          <p:nvPr/>
        </p:nvSpPr>
        <p:spPr>
          <a:xfrm>
            <a:off x="3600450" y="1466850"/>
            <a:ext cx="4991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PROCESS</a:t>
            </a:r>
          </a:p>
        </p:txBody>
      </p:sp>
      <p:sp>
        <p:nvSpPr>
          <p:cNvPr id="49" name="transform-headline"/>
          <p:cNvSpPr txBox="1"/>
          <p:nvPr/>
        </p:nvSpPr>
        <p:spPr>
          <a:xfrm>
            <a:off x="3600450" y="1657350"/>
            <a:ext cx="49911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 apply a proven three-phase methodology to translate inputs into reliable, scalable outcomes — on time and on budget.</a:t>
            </a:r>
          </a:p>
        </p:txBody>
      </p:sp>
      <p:sp>
        <p:nvSpPr>
          <p:cNvPr id="50" name="transform-rule"/>
          <p:cNvSpPr/>
          <p:nvPr/>
        </p:nvSpPr>
        <p:spPr>
          <a:xfrm>
            <a:off x="3600450" y="2305050"/>
            <a:ext cx="4991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-1-num-bg"/>
          <p:cNvSpPr/>
          <p:nvPr/>
        </p:nvSpPr>
        <p:spPr>
          <a:xfrm>
            <a:off x="3600450" y="25336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tep-1-num"/>
          <p:cNvSpPr txBox="1"/>
          <p:nvPr/>
        </p:nvSpPr>
        <p:spPr>
          <a:xfrm>
            <a:off x="3600450" y="2533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3" name="step-1-name"/>
          <p:cNvSpPr txBox="1"/>
          <p:nvPr/>
        </p:nvSpPr>
        <p:spPr>
          <a:xfrm>
            <a:off x="3886200" y="2533650"/>
            <a:ext cx="470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Diagnose &amp; Align</a:t>
            </a:r>
          </a:p>
        </p:txBody>
      </p:sp>
      <p:sp>
        <p:nvSpPr>
          <p:cNvPr id="54" name="step-1-desc"/>
          <p:cNvSpPr txBox="1"/>
          <p:nvPr/>
        </p:nvSpPr>
        <p:spPr>
          <a:xfrm>
            <a:off x="3886200" y="2705100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Rapid discovery to validate assumptions and surface hidden blockers before work begins</a:t>
            </a:r>
          </a:p>
        </p:txBody>
      </p:sp>
      <p:sp>
        <p:nvSpPr>
          <p:cNvPr id="55" name="step-2-num-bg"/>
          <p:cNvSpPr/>
          <p:nvPr/>
        </p:nvSpPr>
        <p:spPr>
          <a:xfrm>
            <a:off x="3600450" y="343852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tep-2-num"/>
          <p:cNvSpPr txBox="1"/>
          <p:nvPr/>
        </p:nvSpPr>
        <p:spPr>
          <a:xfrm>
            <a:off x="3600450" y="34385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7" name="step-2-name"/>
          <p:cNvSpPr txBox="1"/>
          <p:nvPr/>
        </p:nvSpPr>
        <p:spPr>
          <a:xfrm>
            <a:off x="3886200" y="3438525"/>
            <a:ext cx="470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Design &amp; Build</a:t>
            </a:r>
          </a:p>
        </p:txBody>
      </p:sp>
      <p:sp>
        <p:nvSpPr>
          <p:cNvPr id="58" name="step-2-desc"/>
          <p:cNvSpPr txBox="1"/>
          <p:nvPr/>
        </p:nvSpPr>
        <p:spPr>
          <a:xfrm>
            <a:off x="3886200" y="3609975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Agile delivery sprints with continuous stakeholder checkpoints and risk-adjusted scope</a:t>
            </a:r>
          </a:p>
        </p:txBody>
      </p:sp>
      <p:sp>
        <p:nvSpPr>
          <p:cNvPr id="59" name="step-3-num-bg"/>
          <p:cNvSpPr/>
          <p:nvPr/>
        </p:nvSpPr>
        <p:spPr>
          <a:xfrm>
            <a:off x="3600450" y="43434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tep-3-num"/>
          <p:cNvSpPr txBox="1"/>
          <p:nvPr/>
        </p:nvSpPr>
        <p:spPr>
          <a:xfrm>
            <a:off x="3600450" y="4343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1" name="step-3-name"/>
          <p:cNvSpPr txBox="1"/>
          <p:nvPr/>
        </p:nvSpPr>
        <p:spPr>
          <a:xfrm>
            <a:off x="3886200" y="4343400"/>
            <a:ext cx="470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Test &amp; Iterate</a:t>
            </a:r>
          </a:p>
        </p:txBody>
      </p:sp>
      <p:sp>
        <p:nvSpPr>
          <p:cNvPr id="62" name="step-3-desc"/>
          <p:cNvSpPr txBox="1"/>
          <p:nvPr/>
        </p:nvSpPr>
        <p:spPr>
          <a:xfrm>
            <a:off x="3886200" y="4514850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Pilot rollouts with measurement loops to refine the solution before broad deployment</a:t>
            </a:r>
          </a:p>
        </p:txBody>
      </p:sp>
      <p:sp>
        <p:nvSpPr>
          <p:cNvPr id="63" name="step-4-num-bg"/>
          <p:cNvSpPr/>
          <p:nvPr/>
        </p:nvSpPr>
        <p:spPr>
          <a:xfrm>
            <a:off x="3600450" y="524827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tep-4-num"/>
          <p:cNvSpPr txBox="1"/>
          <p:nvPr/>
        </p:nvSpPr>
        <p:spPr>
          <a:xfrm>
            <a:off x="3600450" y="52482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5" name="step-4-name"/>
          <p:cNvSpPr txBox="1"/>
          <p:nvPr/>
        </p:nvSpPr>
        <p:spPr>
          <a:xfrm>
            <a:off x="3886200" y="5248275"/>
            <a:ext cx="470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Embed &amp; Scale</a:t>
            </a:r>
          </a:p>
        </p:txBody>
      </p:sp>
      <p:sp>
        <p:nvSpPr>
          <p:cNvPr id="66" name="step-4-desc"/>
          <p:cNvSpPr txBox="1"/>
          <p:nvPr/>
        </p:nvSpPr>
        <p:spPr>
          <a:xfrm>
            <a:off x="3886200" y="5419725"/>
            <a:ext cx="47053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Capability transfer, change management, and tooling to sustain gains independently</a:t>
            </a:r>
          </a:p>
        </p:txBody>
      </p:sp>
      <p:sp>
        <p:nvSpPr>
          <p:cNvPr id="67" name="arrow-1"/>
          <p:cNvSpPr txBox="1"/>
          <p:nvPr/>
        </p:nvSpPr>
        <p:spPr>
          <a:xfrm>
            <a:off x="2990850" y="3609975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250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68" name="arrow-2"/>
          <p:cNvSpPr txBox="1"/>
          <p:nvPr/>
        </p:nvSpPr>
        <p:spPr>
          <a:xfrm>
            <a:off x="8858250" y="3609975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250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6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