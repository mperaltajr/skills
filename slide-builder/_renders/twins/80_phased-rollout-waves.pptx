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ure-tag"/>
          <p:cNvSpPr txBox="1"/>
          <p:nvPr/>
        </p:nvSpPr>
        <p:spPr>
          <a:xfrm>
            <a:off x="228600" y="2286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ACCENTURE INTERNAL</a:t>
            </a:r>
          </a:p>
        </p:txBody>
      </p:sp>
      <p:sp>
        <p:nvSpPr>
          <p:cNvPr id="3" name="draft-badge"/>
          <p:cNvSpPr txBox="1"/>
          <p:nvPr/>
        </p:nvSpPr>
        <p:spPr>
          <a:xfrm>
            <a:off x="5772150" y="190500"/>
            <a:ext cx="647700" cy="17145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71C1C"/>
                </a:solidFill>
                <a:latin typeface="Inter"/>
              </a:rPr>
              <a:t>DRAFT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33400" y="266700"/>
            <a:ext cx="111252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Phased rollout — four waves, one year, eight practices.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33400" y="1257300"/>
            <a:ext cx="9982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Each wave starts before the prior one finishes — the lessons compound, the next cohort lands warm.</a:t>
            </a:r>
          </a:p>
        </p:txBody>
      </p:sp>
      <p:sp>
        <p:nvSpPr>
          <p:cNvPr id="6" name="brand-rule"/>
          <p:cNvSpPr/>
          <p:nvPr/>
        </p:nvSpPr>
        <p:spPr>
          <a:xfrm>
            <a:off x="533400" y="17145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imeline-row-header"/>
          <p:cNvSpPr txBox="1"/>
          <p:nvPr/>
        </p:nvSpPr>
        <p:spPr>
          <a:xfrm>
            <a:off x="533400" y="2057400"/>
            <a:ext cx="1752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WAVE</a:t>
            </a:r>
          </a:p>
        </p:txBody>
      </p:sp>
      <p:sp>
        <p:nvSpPr>
          <p:cNvPr id="8" name="timeline-tick-1-label"/>
          <p:cNvSpPr txBox="1"/>
          <p:nvPr/>
        </p:nvSpPr>
        <p:spPr>
          <a:xfrm>
            <a:off x="2438400" y="1885950"/>
            <a:ext cx="23050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Q3</a:t>
            </a:r>
          </a:p>
        </p:txBody>
      </p:sp>
      <p:sp>
        <p:nvSpPr>
          <p:cNvPr id="9" name="timeline-tick-1-year"/>
          <p:cNvSpPr txBox="1"/>
          <p:nvPr/>
        </p:nvSpPr>
        <p:spPr>
          <a:xfrm>
            <a:off x="2438400" y="2057400"/>
            <a:ext cx="2305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2026</a:t>
            </a:r>
          </a:p>
        </p:txBody>
      </p:sp>
      <p:sp>
        <p:nvSpPr>
          <p:cNvPr id="10" name="timeline-tick-1-line"/>
          <p:cNvSpPr/>
          <p:nvPr/>
        </p:nvSpPr>
        <p:spPr>
          <a:xfrm>
            <a:off x="2438400" y="1809750"/>
            <a:ext cx="9525" cy="4191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imeline-tick-2-label"/>
          <p:cNvSpPr txBox="1"/>
          <p:nvPr/>
        </p:nvSpPr>
        <p:spPr>
          <a:xfrm>
            <a:off x="4743450" y="1885950"/>
            <a:ext cx="23050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Q4</a:t>
            </a:r>
          </a:p>
        </p:txBody>
      </p:sp>
      <p:sp>
        <p:nvSpPr>
          <p:cNvPr id="12" name="timeline-tick-2-year"/>
          <p:cNvSpPr txBox="1"/>
          <p:nvPr/>
        </p:nvSpPr>
        <p:spPr>
          <a:xfrm>
            <a:off x="4743450" y="2057400"/>
            <a:ext cx="2305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2026</a:t>
            </a:r>
          </a:p>
        </p:txBody>
      </p:sp>
      <p:sp>
        <p:nvSpPr>
          <p:cNvPr id="13" name="timeline-tick-2-line"/>
          <p:cNvSpPr/>
          <p:nvPr/>
        </p:nvSpPr>
        <p:spPr>
          <a:xfrm>
            <a:off x="4743450" y="1809750"/>
            <a:ext cx="9525" cy="4191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imeline-tick-3-label"/>
          <p:cNvSpPr txBox="1"/>
          <p:nvPr/>
        </p:nvSpPr>
        <p:spPr>
          <a:xfrm>
            <a:off x="7048500" y="1885950"/>
            <a:ext cx="23050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Q1</a:t>
            </a:r>
          </a:p>
        </p:txBody>
      </p:sp>
      <p:sp>
        <p:nvSpPr>
          <p:cNvPr id="15" name="timeline-tick-3-year"/>
          <p:cNvSpPr txBox="1"/>
          <p:nvPr/>
        </p:nvSpPr>
        <p:spPr>
          <a:xfrm>
            <a:off x="7048500" y="2057400"/>
            <a:ext cx="2305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2027</a:t>
            </a:r>
          </a:p>
        </p:txBody>
      </p:sp>
      <p:sp>
        <p:nvSpPr>
          <p:cNvPr id="16" name="timeline-tick-3-line"/>
          <p:cNvSpPr/>
          <p:nvPr/>
        </p:nvSpPr>
        <p:spPr>
          <a:xfrm>
            <a:off x="7048500" y="1809750"/>
            <a:ext cx="9525" cy="4191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imeline-tick-4-label"/>
          <p:cNvSpPr txBox="1"/>
          <p:nvPr/>
        </p:nvSpPr>
        <p:spPr>
          <a:xfrm>
            <a:off x="9353550" y="1885950"/>
            <a:ext cx="23050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Q2</a:t>
            </a:r>
          </a:p>
        </p:txBody>
      </p:sp>
      <p:sp>
        <p:nvSpPr>
          <p:cNvPr id="18" name="timeline-tick-4-year"/>
          <p:cNvSpPr txBox="1"/>
          <p:nvPr/>
        </p:nvSpPr>
        <p:spPr>
          <a:xfrm>
            <a:off x="9353550" y="2057400"/>
            <a:ext cx="2305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2027</a:t>
            </a:r>
          </a:p>
        </p:txBody>
      </p:sp>
      <p:sp>
        <p:nvSpPr>
          <p:cNvPr id="19" name="timeline-tick-4-line"/>
          <p:cNvSpPr/>
          <p:nvPr/>
        </p:nvSpPr>
        <p:spPr>
          <a:xfrm>
            <a:off x="9353550" y="1809750"/>
            <a:ext cx="9525" cy="4191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timeline-axis"/>
          <p:cNvSpPr/>
          <p:nvPr/>
        </p:nvSpPr>
        <p:spPr>
          <a:xfrm>
            <a:off x="2438400" y="2228850"/>
            <a:ext cx="9220200" cy="19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ask-1-tag"/>
          <p:cNvSpPr txBox="1"/>
          <p:nvPr/>
        </p:nvSpPr>
        <p:spPr>
          <a:xfrm>
            <a:off x="533400" y="2457450"/>
            <a:ext cx="1752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WAVE 1</a:t>
            </a:r>
          </a:p>
        </p:txBody>
      </p:sp>
      <p:sp>
        <p:nvSpPr>
          <p:cNvPr id="22" name="task-1-label"/>
          <p:cNvSpPr txBox="1"/>
          <p:nvPr/>
        </p:nvSpPr>
        <p:spPr>
          <a:xfrm>
            <a:off x="533400" y="2609850"/>
            <a:ext cx="1752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Pilot practice</a:t>
            </a:r>
          </a:p>
        </p:txBody>
      </p:sp>
      <p:sp>
        <p:nvSpPr>
          <p:cNvPr id="23" name="task-1-quarter"/>
          <p:cNvSpPr txBox="1"/>
          <p:nvPr/>
        </p:nvSpPr>
        <p:spPr>
          <a:xfrm>
            <a:off x="533400" y="2819400"/>
            <a:ext cx="1752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Q3 2026</a:t>
            </a:r>
          </a:p>
        </p:txBody>
      </p:sp>
      <p:sp>
        <p:nvSpPr>
          <p:cNvPr id="24" name="task-1-track-tick-25"/>
          <p:cNvSpPr/>
          <p:nvPr/>
        </p:nvSpPr>
        <p:spPr>
          <a:xfrm>
            <a:off x="4743450" y="2381250"/>
            <a:ext cx="9525" cy="6858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ask-1-track-tick-50"/>
          <p:cNvSpPr/>
          <p:nvPr/>
        </p:nvSpPr>
        <p:spPr>
          <a:xfrm>
            <a:off x="7048500" y="2381250"/>
            <a:ext cx="9525" cy="6858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ask-1-track-tick-75"/>
          <p:cNvSpPr/>
          <p:nvPr/>
        </p:nvSpPr>
        <p:spPr>
          <a:xfrm>
            <a:off x="9353550" y="2381250"/>
            <a:ext cx="9525" cy="6858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task-1-bar"/>
          <p:cNvSpPr/>
          <p:nvPr/>
        </p:nvSpPr>
        <p:spPr>
          <a:xfrm>
            <a:off x="2438400" y="2457450"/>
            <a:ext cx="2762250" cy="5334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ask-1-stat-1"/>
          <p:cNvSpPr txBox="1"/>
          <p:nvPr/>
        </p:nvSpPr>
        <p:spPr>
          <a:xfrm>
            <a:off x="2552700" y="2590800"/>
            <a:ext cx="781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 practice</a:t>
            </a:r>
          </a:p>
        </p:txBody>
      </p:sp>
      <p:sp>
        <p:nvSpPr>
          <p:cNvPr id="29" name="task-1-stat-2"/>
          <p:cNvSpPr txBox="1"/>
          <p:nvPr/>
        </p:nvSpPr>
        <p:spPr>
          <a:xfrm>
            <a:off x="3371850" y="2590800"/>
            <a:ext cx="781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 users</a:t>
            </a:r>
          </a:p>
        </p:txBody>
      </p:sp>
      <p:sp>
        <p:nvSpPr>
          <p:cNvPr id="30" name="task-1-stat-3"/>
          <p:cNvSpPr txBox="1"/>
          <p:nvPr/>
        </p:nvSpPr>
        <p:spPr>
          <a:xfrm>
            <a:off x="4191000" y="2590800"/>
            <a:ext cx="781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12 decks</a:t>
            </a:r>
          </a:p>
        </p:txBody>
      </p:sp>
      <p:sp>
        <p:nvSpPr>
          <p:cNvPr id="31" name="task-1-milestone-1"/>
          <p:cNvSpPr/>
          <p:nvPr/>
        </p:nvSpPr>
        <p:spPr>
          <a:xfrm>
            <a:off x="5067300" y="2514600"/>
            <a:ext cx="5715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task-1-milestone-2"/>
          <p:cNvSpPr/>
          <p:nvPr/>
        </p:nvSpPr>
        <p:spPr>
          <a:xfrm>
            <a:off x="4953000" y="2514600"/>
            <a:ext cx="5715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ask-1-bar-text"/>
          <p:cNvSpPr txBox="1"/>
          <p:nvPr/>
        </p:nvSpPr>
        <p:spPr>
          <a:xfrm>
            <a:off x="5295900" y="2457450"/>
            <a:ext cx="63627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Prove the loop end-to-end with one team.</a:t>
            </a:r>
          </a:p>
        </p:txBody>
      </p:sp>
      <p:sp>
        <p:nvSpPr>
          <p:cNvPr id="34" name="task-2-tag"/>
          <p:cNvSpPr txBox="1"/>
          <p:nvPr/>
        </p:nvSpPr>
        <p:spPr>
          <a:xfrm>
            <a:off x="533400" y="3257550"/>
            <a:ext cx="1752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WAVE 2</a:t>
            </a:r>
          </a:p>
        </p:txBody>
      </p:sp>
      <p:sp>
        <p:nvSpPr>
          <p:cNvPr id="35" name="task-2-label"/>
          <p:cNvSpPr txBox="1"/>
          <p:nvPr/>
        </p:nvSpPr>
        <p:spPr>
          <a:xfrm>
            <a:off x="533400" y="3409950"/>
            <a:ext cx="1752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Three practices</a:t>
            </a:r>
          </a:p>
        </p:txBody>
      </p:sp>
      <p:sp>
        <p:nvSpPr>
          <p:cNvPr id="36" name="task-2-quarter"/>
          <p:cNvSpPr txBox="1"/>
          <p:nvPr/>
        </p:nvSpPr>
        <p:spPr>
          <a:xfrm>
            <a:off x="533400" y="3619500"/>
            <a:ext cx="1752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Q4 2026</a:t>
            </a:r>
          </a:p>
        </p:txBody>
      </p:sp>
      <p:sp>
        <p:nvSpPr>
          <p:cNvPr id="37" name="task-2-track-tick-25"/>
          <p:cNvSpPr/>
          <p:nvPr/>
        </p:nvSpPr>
        <p:spPr>
          <a:xfrm>
            <a:off x="4743450" y="3181350"/>
            <a:ext cx="9525" cy="6858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task-2-track-tick-50"/>
          <p:cNvSpPr/>
          <p:nvPr/>
        </p:nvSpPr>
        <p:spPr>
          <a:xfrm>
            <a:off x="7048500" y="3181350"/>
            <a:ext cx="9525" cy="6858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task-2-track-tick-75"/>
          <p:cNvSpPr/>
          <p:nvPr/>
        </p:nvSpPr>
        <p:spPr>
          <a:xfrm>
            <a:off x="9353550" y="3181350"/>
            <a:ext cx="9525" cy="6858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task-2-bar"/>
          <p:cNvSpPr/>
          <p:nvPr/>
        </p:nvSpPr>
        <p:spPr>
          <a:xfrm>
            <a:off x="4457700" y="3257550"/>
            <a:ext cx="3048000" cy="5334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task-2-stat-1"/>
          <p:cNvSpPr txBox="1"/>
          <p:nvPr/>
        </p:nvSpPr>
        <p:spPr>
          <a:xfrm>
            <a:off x="4572000" y="3390900"/>
            <a:ext cx="781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 practices</a:t>
            </a:r>
          </a:p>
        </p:txBody>
      </p:sp>
      <p:sp>
        <p:nvSpPr>
          <p:cNvPr id="42" name="task-2-stat-2"/>
          <p:cNvSpPr txBox="1"/>
          <p:nvPr/>
        </p:nvSpPr>
        <p:spPr>
          <a:xfrm>
            <a:off x="5391150" y="3390900"/>
            <a:ext cx="781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12 users</a:t>
            </a:r>
          </a:p>
        </p:txBody>
      </p:sp>
      <p:sp>
        <p:nvSpPr>
          <p:cNvPr id="43" name="task-2-stat-3"/>
          <p:cNvSpPr txBox="1"/>
          <p:nvPr/>
        </p:nvSpPr>
        <p:spPr>
          <a:xfrm>
            <a:off x="6210300" y="3390900"/>
            <a:ext cx="781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80 decks</a:t>
            </a:r>
          </a:p>
        </p:txBody>
      </p:sp>
      <p:sp>
        <p:nvSpPr>
          <p:cNvPr id="44" name="task-2-milestone-1"/>
          <p:cNvSpPr/>
          <p:nvPr/>
        </p:nvSpPr>
        <p:spPr>
          <a:xfrm>
            <a:off x="7372350" y="3314700"/>
            <a:ext cx="5715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task-2-milestone-2"/>
          <p:cNvSpPr/>
          <p:nvPr/>
        </p:nvSpPr>
        <p:spPr>
          <a:xfrm>
            <a:off x="7258050" y="3314700"/>
            <a:ext cx="5715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task-2-milestone-3"/>
          <p:cNvSpPr/>
          <p:nvPr/>
        </p:nvSpPr>
        <p:spPr>
          <a:xfrm>
            <a:off x="7143750" y="3314700"/>
            <a:ext cx="5715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task-2-bar-text"/>
          <p:cNvSpPr txBox="1"/>
          <p:nvPr/>
        </p:nvSpPr>
        <p:spPr>
          <a:xfrm>
            <a:off x="7600950" y="3257550"/>
            <a:ext cx="405765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Take the proven loop horizontal — Strategy, Tech, Industry X.</a:t>
            </a:r>
          </a:p>
        </p:txBody>
      </p:sp>
      <p:sp>
        <p:nvSpPr>
          <p:cNvPr id="48" name="task-3-tag"/>
          <p:cNvSpPr txBox="1"/>
          <p:nvPr/>
        </p:nvSpPr>
        <p:spPr>
          <a:xfrm>
            <a:off x="533400" y="4057650"/>
            <a:ext cx="1752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WAVE 3</a:t>
            </a:r>
          </a:p>
        </p:txBody>
      </p:sp>
      <p:sp>
        <p:nvSpPr>
          <p:cNvPr id="49" name="task-3-label"/>
          <p:cNvSpPr txBox="1"/>
          <p:nvPr/>
        </p:nvSpPr>
        <p:spPr>
          <a:xfrm>
            <a:off x="533400" y="4210050"/>
            <a:ext cx="1752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Full strategy unit</a:t>
            </a:r>
          </a:p>
        </p:txBody>
      </p:sp>
      <p:sp>
        <p:nvSpPr>
          <p:cNvPr id="50" name="task-3-quarter"/>
          <p:cNvSpPr txBox="1"/>
          <p:nvPr/>
        </p:nvSpPr>
        <p:spPr>
          <a:xfrm>
            <a:off x="533400" y="4419600"/>
            <a:ext cx="1752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Q1 2027</a:t>
            </a:r>
          </a:p>
        </p:txBody>
      </p:sp>
      <p:sp>
        <p:nvSpPr>
          <p:cNvPr id="51" name="task-3-track-tick-25"/>
          <p:cNvSpPr/>
          <p:nvPr/>
        </p:nvSpPr>
        <p:spPr>
          <a:xfrm>
            <a:off x="4743450" y="3981450"/>
            <a:ext cx="9525" cy="6858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task-3-track-tick-50"/>
          <p:cNvSpPr/>
          <p:nvPr/>
        </p:nvSpPr>
        <p:spPr>
          <a:xfrm>
            <a:off x="7048500" y="3981450"/>
            <a:ext cx="9525" cy="6858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task-3-track-tick-75"/>
          <p:cNvSpPr/>
          <p:nvPr/>
        </p:nvSpPr>
        <p:spPr>
          <a:xfrm>
            <a:off x="9353550" y="3981450"/>
            <a:ext cx="9525" cy="6858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task-3-bar"/>
          <p:cNvSpPr/>
          <p:nvPr/>
        </p:nvSpPr>
        <p:spPr>
          <a:xfrm>
            <a:off x="6858000" y="4057650"/>
            <a:ext cx="2609850" cy="533400"/>
          </a:xfrm>
          <a:prstGeom prst="rect">
            <a:avLst/>
          </a:prstGeom>
          <a:solidFill>
            <a:srgbClr val="7A4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task-3-stat-1"/>
          <p:cNvSpPr txBox="1"/>
          <p:nvPr/>
        </p:nvSpPr>
        <p:spPr>
          <a:xfrm>
            <a:off x="6972300" y="4191000"/>
            <a:ext cx="781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8 practices</a:t>
            </a:r>
          </a:p>
        </p:txBody>
      </p:sp>
      <p:sp>
        <p:nvSpPr>
          <p:cNvPr id="56" name="task-3-stat-2"/>
          <p:cNvSpPr txBox="1"/>
          <p:nvPr/>
        </p:nvSpPr>
        <p:spPr>
          <a:xfrm>
            <a:off x="7791450" y="4191000"/>
            <a:ext cx="781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30 users</a:t>
            </a:r>
          </a:p>
        </p:txBody>
      </p:sp>
      <p:sp>
        <p:nvSpPr>
          <p:cNvPr id="57" name="task-3-stat-3"/>
          <p:cNvSpPr txBox="1"/>
          <p:nvPr/>
        </p:nvSpPr>
        <p:spPr>
          <a:xfrm>
            <a:off x="8610600" y="4191000"/>
            <a:ext cx="781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300 decks</a:t>
            </a:r>
          </a:p>
        </p:txBody>
      </p:sp>
      <p:sp>
        <p:nvSpPr>
          <p:cNvPr id="58" name="task-3-milestone-1"/>
          <p:cNvSpPr/>
          <p:nvPr/>
        </p:nvSpPr>
        <p:spPr>
          <a:xfrm>
            <a:off x="9334500" y="4114800"/>
            <a:ext cx="5715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task-3-milestone-2"/>
          <p:cNvSpPr/>
          <p:nvPr/>
        </p:nvSpPr>
        <p:spPr>
          <a:xfrm>
            <a:off x="9220200" y="4114800"/>
            <a:ext cx="5715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task-3-milestone-3"/>
          <p:cNvSpPr/>
          <p:nvPr/>
        </p:nvSpPr>
        <p:spPr>
          <a:xfrm>
            <a:off x="9105900" y="4114800"/>
            <a:ext cx="5715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task-3-bar-text"/>
          <p:cNvSpPr txBox="1"/>
          <p:nvPr/>
        </p:nvSpPr>
        <p:spPr>
          <a:xfrm>
            <a:off x="9563100" y="4057650"/>
            <a:ext cx="20955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Strategy unit fully on-platform; senior coaches multiply adoption.</a:t>
            </a:r>
          </a:p>
        </p:txBody>
      </p:sp>
      <p:sp>
        <p:nvSpPr>
          <p:cNvPr id="62" name="task-4-tag"/>
          <p:cNvSpPr txBox="1"/>
          <p:nvPr/>
        </p:nvSpPr>
        <p:spPr>
          <a:xfrm>
            <a:off x="533400" y="4857750"/>
            <a:ext cx="1752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WAVE 4</a:t>
            </a:r>
          </a:p>
        </p:txBody>
      </p:sp>
      <p:sp>
        <p:nvSpPr>
          <p:cNvPr id="63" name="task-4-label"/>
          <p:cNvSpPr txBox="1"/>
          <p:nvPr/>
        </p:nvSpPr>
        <p:spPr>
          <a:xfrm>
            <a:off x="533400" y="5010150"/>
            <a:ext cx="1752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Cross-firm</a:t>
            </a:r>
          </a:p>
        </p:txBody>
      </p:sp>
      <p:sp>
        <p:nvSpPr>
          <p:cNvPr id="64" name="task-4-quarter"/>
          <p:cNvSpPr txBox="1"/>
          <p:nvPr/>
        </p:nvSpPr>
        <p:spPr>
          <a:xfrm>
            <a:off x="533400" y="5219700"/>
            <a:ext cx="1752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Q2 2027</a:t>
            </a:r>
          </a:p>
        </p:txBody>
      </p:sp>
      <p:sp>
        <p:nvSpPr>
          <p:cNvPr id="65" name="task-4-track-tick-25"/>
          <p:cNvSpPr/>
          <p:nvPr/>
        </p:nvSpPr>
        <p:spPr>
          <a:xfrm>
            <a:off x="4743450" y="4781550"/>
            <a:ext cx="9525" cy="6858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task-4-track-tick-50"/>
          <p:cNvSpPr/>
          <p:nvPr/>
        </p:nvSpPr>
        <p:spPr>
          <a:xfrm>
            <a:off x="7048500" y="4781550"/>
            <a:ext cx="9525" cy="6858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task-4-track-tick-75"/>
          <p:cNvSpPr/>
          <p:nvPr/>
        </p:nvSpPr>
        <p:spPr>
          <a:xfrm>
            <a:off x="9353550" y="4781550"/>
            <a:ext cx="9525" cy="6858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task-4-bar"/>
          <p:cNvSpPr/>
          <p:nvPr/>
        </p:nvSpPr>
        <p:spPr>
          <a:xfrm>
            <a:off x="8886825" y="4857750"/>
            <a:ext cx="1752600" cy="533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task-4-stat-1"/>
          <p:cNvSpPr txBox="1"/>
          <p:nvPr/>
        </p:nvSpPr>
        <p:spPr>
          <a:xfrm>
            <a:off x="9001125" y="4991100"/>
            <a:ext cx="781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multi region</a:t>
            </a:r>
          </a:p>
        </p:txBody>
      </p:sp>
      <p:sp>
        <p:nvSpPr>
          <p:cNvPr id="70" name="task-4-stat-2"/>
          <p:cNvSpPr txBox="1"/>
          <p:nvPr/>
        </p:nvSpPr>
        <p:spPr>
          <a:xfrm>
            <a:off x="9820275" y="4991100"/>
            <a:ext cx="781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80+ users</a:t>
            </a:r>
          </a:p>
        </p:txBody>
      </p:sp>
      <p:sp>
        <p:nvSpPr>
          <p:cNvPr id="71" name="task-4-milestone-1"/>
          <p:cNvSpPr/>
          <p:nvPr/>
        </p:nvSpPr>
        <p:spPr>
          <a:xfrm>
            <a:off x="10506075" y="4914900"/>
            <a:ext cx="57150" cy="571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task-4-milestone-2"/>
          <p:cNvSpPr/>
          <p:nvPr/>
        </p:nvSpPr>
        <p:spPr>
          <a:xfrm>
            <a:off x="10391775" y="4914900"/>
            <a:ext cx="57150" cy="571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task-4-bar-text"/>
          <p:cNvSpPr txBox="1"/>
          <p:nvPr/>
        </p:nvSpPr>
        <p:spPr>
          <a:xfrm>
            <a:off x="10734675" y="4857750"/>
            <a:ext cx="11430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Open to adjacent service lines and regions; governance handed to PMO.</a:t>
            </a:r>
          </a:p>
        </p:txBody>
      </p:sp>
      <p:sp>
        <p:nvSpPr>
          <p:cNvPr id="74" name="convergence-bg"/>
          <p:cNvSpPr/>
          <p:nvPr/>
        </p:nvSpPr>
        <p:spPr>
          <a:xfrm>
            <a:off x="609600" y="569595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convergence"/>
          <p:cNvSpPr txBox="1"/>
          <p:nvPr/>
        </p:nvSpPr>
        <p:spPr>
          <a:xfrm>
            <a:off x="609600" y="569595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Waves overlap on purpose — each cohort lands while the prior is still warm.</a:t>
            </a:r>
          </a:p>
        </p:txBody>
      </p:sp>
      <p:sp>
        <p:nvSpPr>
          <p:cNvPr id="77" name="footer-left"/>
          <p:cNvSpPr txBox="1"/>
          <p:nvPr/>
        </p:nvSpPr>
        <p:spPr>
          <a:xfrm>
            <a:off x="228600" y="66103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Inter"/>
              </a:rPr>
              <a:t>CONFIDENTIAL — ACCENTURE INTERNAL</a:t>
            </a:r>
          </a:p>
        </p:txBody>
      </p:sp>
      <p:sp>
        <p:nvSpPr>
          <p:cNvPr id="78" name="footer-right"/>
          <p:cNvSpPr txBox="1"/>
          <p:nvPr/>
        </p:nvSpPr>
        <p:spPr>
          <a:xfrm>
            <a:off x="10058400" y="6600825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Slide Lab · 2026 · 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