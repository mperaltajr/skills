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Four weeks in — every metric is moving in the right direction.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Pilot scorecard for the Slide Lab workstream pilot, weeks 1-4.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metric-1-tile"/>
          <p:cNvSpPr/>
          <p:nvPr/>
        </p:nvSpPr>
        <p:spPr>
          <a:xfrm>
            <a:off x="609600" y="1905000"/>
            <a:ext cx="3543300" cy="16287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etric-1-label"/>
          <p:cNvSpPr txBox="1"/>
          <p:nvPr/>
        </p:nvSpPr>
        <p:spPr>
          <a:xfrm>
            <a:off x="857250" y="21336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CYCLE TIME</a:t>
            </a:r>
          </a:p>
        </p:txBody>
      </p:sp>
      <p:sp>
        <p:nvSpPr>
          <p:cNvPr id="7" name="metric-1-value"/>
          <p:cNvSpPr txBox="1"/>
          <p:nvPr/>
        </p:nvSpPr>
        <p:spPr>
          <a:xfrm>
            <a:off x="857250" y="238125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2D0A4E"/>
                </a:solidFill>
                <a:latin typeface="Inter"/>
              </a:rPr>
              <a:t>-62%</a:t>
            </a:r>
          </a:p>
        </p:txBody>
      </p:sp>
      <p:sp>
        <p:nvSpPr>
          <p:cNvPr id="8" name="metric-1-delta"/>
          <p:cNvSpPr txBox="1"/>
          <p:nvPr/>
        </p:nvSpPr>
        <p:spPr>
          <a:xfrm>
            <a:off x="857250" y="322897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▼ vs baseline · 14d → 5d</a:t>
            </a:r>
          </a:p>
        </p:txBody>
      </p:sp>
      <p:sp>
        <p:nvSpPr>
          <p:cNvPr id="9" name="metric-2-tile"/>
          <p:cNvSpPr/>
          <p:nvPr/>
        </p:nvSpPr>
        <p:spPr>
          <a:xfrm>
            <a:off x="4324350" y="1905000"/>
            <a:ext cx="3543300" cy="16287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metric-2-label"/>
          <p:cNvSpPr txBox="1"/>
          <p:nvPr/>
        </p:nvSpPr>
        <p:spPr>
          <a:xfrm>
            <a:off x="4572000" y="21336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PARTNER EDITS</a:t>
            </a:r>
          </a:p>
        </p:txBody>
      </p:sp>
      <p:sp>
        <p:nvSpPr>
          <p:cNvPr id="11" name="metric-2-value"/>
          <p:cNvSpPr txBox="1"/>
          <p:nvPr/>
        </p:nvSpPr>
        <p:spPr>
          <a:xfrm>
            <a:off x="4572000" y="238125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2D0A4E"/>
                </a:solidFill>
                <a:latin typeface="Inter"/>
              </a:rPr>
              <a:t>1.4×</a:t>
            </a:r>
          </a:p>
        </p:txBody>
      </p:sp>
      <p:sp>
        <p:nvSpPr>
          <p:cNvPr id="12" name="metric-2-delta"/>
          <p:cNvSpPr txBox="1"/>
          <p:nvPr/>
        </p:nvSpPr>
        <p:spPr>
          <a:xfrm>
            <a:off x="4572000" y="322897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▼ fewer rounds · 3.2 → 1.4 per deck</a:t>
            </a:r>
          </a:p>
        </p:txBody>
      </p:sp>
      <p:sp>
        <p:nvSpPr>
          <p:cNvPr id="13" name="metric-3-tile"/>
          <p:cNvSpPr/>
          <p:nvPr/>
        </p:nvSpPr>
        <p:spPr>
          <a:xfrm>
            <a:off x="8039100" y="1905000"/>
            <a:ext cx="3543300" cy="16287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metric-3-label"/>
          <p:cNvSpPr txBox="1"/>
          <p:nvPr/>
        </p:nvSpPr>
        <p:spPr>
          <a:xfrm>
            <a:off x="8286750" y="21336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STAKEHOLDER SIGN-OFF</a:t>
            </a:r>
          </a:p>
        </p:txBody>
      </p:sp>
      <p:sp>
        <p:nvSpPr>
          <p:cNvPr id="15" name="metric-3-value"/>
          <p:cNvSpPr txBox="1"/>
          <p:nvPr/>
        </p:nvSpPr>
        <p:spPr>
          <a:xfrm>
            <a:off x="8286750" y="238125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2D0A4E"/>
                </a:solidFill>
                <a:latin typeface="Inter"/>
              </a:rPr>
              <a:t>94%</a:t>
            </a:r>
          </a:p>
        </p:txBody>
      </p:sp>
      <p:sp>
        <p:nvSpPr>
          <p:cNvPr id="16" name="metric-3-delta"/>
          <p:cNvSpPr txBox="1"/>
          <p:nvPr/>
        </p:nvSpPr>
        <p:spPr>
          <a:xfrm>
            <a:off x="8286750" y="322897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▲ vs Q1 · 60% → 94%</a:t>
            </a:r>
          </a:p>
        </p:txBody>
      </p:sp>
      <p:sp>
        <p:nvSpPr>
          <p:cNvPr id="17" name="metric-4-tile"/>
          <p:cNvSpPr/>
          <p:nvPr/>
        </p:nvSpPr>
        <p:spPr>
          <a:xfrm>
            <a:off x="609600" y="3705225"/>
            <a:ext cx="3543300" cy="16287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metric-4-label"/>
          <p:cNvSpPr txBox="1"/>
          <p:nvPr/>
        </p:nvSpPr>
        <p:spPr>
          <a:xfrm>
            <a:off x="857250" y="393382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DECK LENGTH</a:t>
            </a:r>
          </a:p>
        </p:txBody>
      </p:sp>
      <p:sp>
        <p:nvSpPr>
          <p:cNvPr id="19" name="metric-4-value"/>
          <p:cNvSpPr txBox="1"/>
          <p:nvPr/>
        </p:nvSpPr>
        <p:spPr>
          <a:xfrm>
            <a:off x="857250" y="4181475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2D0A4E"/>
                </a:solidFill>
                <a:latin typeface="Inter"/>
              </a:rPr>
              <a:t>11 slides</a:t>
            </a:r>
          </a:p>
        </p:txBody>
      </p:sp>
      <p:sp>
        <p:nvSpPr>
          <p:cNvPr id="20" name="metric-4-delta"/>
          <p:cNvSpPr txBox="1"/>
          <p:nvPr/>
        </p:nvSpPr>
        <p:spPr>
          <a:xfrm>
            <a:off x="857250" y="50292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▼ tighter · 19 → 11 avg</a:t>
            </a:r>
          </a:p>
        </p:txBody>
      </p:sp>
      <p:sp>
        <p:nvSpPr>
          <p:cNvPr id="21" name="metric-5-tile"/>
          <p:cNvSpPr/>
          <p:nvPr/>
        </p:nvSpPr>
        <p:spPr>
          <a:xfrm>
            <a:off x="4324350" y="3705225"/>
            <a:ext cx="3543300" cy="16287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metric-5-label"/>
          <p:cNvSpPr txBox="1"/>
          <p:nvPr/>
        </p:nvSpPr>
        <p:spPr>
          <a:xfrm>
            <a:off x="4572000" y="393382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STORYLINE GATE PASS RATE</a:t>
            </a:r>
          </a:p>
        </p:txBody>
      </p:sp>
      <p:sp>
        <p:nvSpPr>
          <p:cNvPr id="23" name="metric-5-value"/>
          <p:cNvSpPr txBox="1"/>
          <p:nvPr/>
        </p:nvSpPr>
        <p:spPr>
          <a:xfrm>
            <a:off x="4572000" y="4181475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2D0A4E"/>
                </a:solidFill>
                <a:latin typeface="Inter"/>
              </a:rPr>
              <a:t>8/10</a:t>
            </a:r>
          </a:p>
        </p:txBody>
      </p:sp>
      <p:sp>
        <p:nvSpPr>
          <p:cNvPr id="24" name="metric-5-delta"/>
          <p:cNvSpPr txBox="1"/>
          <p:nvPr/>
        </p:nvSpPr>
        <p:spPr>
          <a:xfrm>
            <a:off x="4572000" y="50292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▲ first-pass · 4/10 → 8/10</a:t>
            </a:r>
          </a:p>
        </p:txBody>
      </p:sp>
      <p:sp>
        <p:nvSpPr>
          <p:cNvPr id="25" name="metric-6-tile"/>
          <p:cNvSpPr/>
          <p:nvPr/>
        </p:nvSpPr>
        <p:spPr>
          <a:xfrm>
            <a:off x="8039100" y="3705225"/>
            <a:ext cx="3543300" cy="16287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metric-6-label"/>
          <p:cNvSpPr txBox="1"/>
          <p:nvPr/>
        </p:nvSpPr>
        <p:spPr>
          <a:xfrm>
            <a:off x="8286750" y="3933825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BUILD ERRORS</a:t>
            </a:r>
          </a:p>
        </p:txBody>
      </p:sp>
      <p:sp>
        <p:nvSpPr>
          <p:cNvPr id="27" name="metric-6-value"/>
          <p:cNvSpPr txBox="1"/>
          <p:nvPr/>
        </p:nvSpPr>
        <p:spPr>
          <a:xfrm>
            <a:off x="8286750" y="4181475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2D0A4E"/>
                </a:solidFill>
                <a:latin typeface="Inter"/>
              </a:rPr>
              <a:t>0</a:t>
            </a:r>
          </a:p>
        </p:txBody>
      </p:sp>
      <p:sp>
        <p:nvSpPr>
          <p:cNvPr id="28" name="metric-6-delta"/>
          <p:cNvSpPr txBox="1"/>
          <p:nvPr/>
        </p:nvSpPr>
        <p:spPr>
          <a:xfrm>
            <a:off x="8286750" y="50292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● sustained · 4 consecutive weeks clean</a:t>
            </a:r>
          </a:p>
        </p:txBody>
      </p:sp>
      <p:sp>
        <p:nvSpPr>
          <p:cNvPr id="29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Two more weeks of pilot data and we move to a Q3 rollout decision.</a:t>
            </a:r>
          </a:p>
        </p:txBody>
      </p:sp>
      <p:sp>
        <p:nvSpPr>
          <p:cNvPr id="3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