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Seven priorities that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shape the agenda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 structured view of the key focus areas driving this initiative forward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ow-1-card"/>
          <p:cNvSpPr/>
          <p:nvPr/>
        </p:nvSpPr>
        <p:spPr>
          <a:xfrm>
            <a:off x="457200" y="1905000"/>
            <a:ext cx="112776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ow-1-ghost"/>
          <p:cNvSpPr txBox="1"/>
          <p:nvPr/>
        </p:nvSpPr>
        <p:spPr>
          <a:xfrm>
            <a:off x="533400" y="1924050"/>
            <a:ext cx="6096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C780FF"/>
                </a:solidFill>
                <a:latin typeface="Inter"/>
              </a:rPr>
              <a:t>1</a:t>
            </a:r>
          </a:p>
        </p:txBody>
      </p:sp>
      <p:sp>
        <p:nvSpPr>
          <p:cNvPr id="7" name="row-1-badge-bg"/>
          <p:cNvSpPr/>
          <p:nvPr/>
        </p:nvSpPr>
        <p:spPr>
          <a:xfrm>
            <a:off x="1200150" y="207645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row-1-badge"/>
          <p:cNvSpPr txBox="1"/>
          <p:nvPr/>
        </p:nvSpPr>
        <p:spPr>
          <a:xfrm>
            <a:off x="1200150" y="20764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row-1-title"/>
          <p:cNvSpPr txBox="1"/>
          <p:nvPr/>
        </p:nvSpPr>
        <p:spPr>
          <a:xfrm>
            <a:off x="1600200" y="1981200"/>
            <a:ext cx="36195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Strategic Alignment</a:t>
            </a:r>
          </a:p>
        </p:txBody>
      </p:sp>
      <p:sp>
        <p:nvSpPr>
          <p:cNvPr id="10" name="row-1-desc"/>
          <p:cNvSpPr txBox="1"/>
          <p:nvPr/>
        </p:nvSpPr>
        <p:spPr>
          <a:xfrm>
            <a:off x="5372100" y="1981200"/>
            <a:ext cx="62103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Ensure all workstreams map to the overarching enterprise objectives</a:t>
            </a:r>
          </a:p>
        </p:txBody>
      </p:sp>
      <p:sp>
        <p:nvSpPr>
          <p:cNvPr id="11" name="row-2-card"/>
          <p:cNvSpPr/>
          <p:nvPr/>
        </p:nvSpPr>
        <p:spPr>
          <a:xfrm>
            <a:off x="457200" y="2552700"/>
            <a:ext cx="112776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ow-2-ghost"/>
          <p:cNvSpPr txBox="1"/>
          <p:nvPr/>
        </p:nvSpPr>
        <p:spPr>
          <a:xfrm>
            <a:off x="533400" y="2571750"/>
            <a:ext cx="6096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C780FF"/>
                </a:solidFill>
                <a:latin typeface="Inter"/>
              </a:rPr>
              <a:t>2</a:t>
            </a:r>
          </a:p>
        </p:txBody>
      </p:sp>
      <p:sp>
        <p:nvSpPr>
          <p:cNvPr id="13" name="row-2-badge-bg"/>
          <p:cNvSpPr/>
          <p:nvPr/>
        </p:nvSpPr>
        <p:spPr>
          <a:xfrm>
            <a:off x="1200150" y="272415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row-2-badge"/>
          <p:cNvSpPr txBox="1"/>
          <p:nvPr/>
        </p:nvSpPr>
        <p:spPr>
          <a:xfrm>
            <a:off x="1200150" y="27241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5" name="row-2-title"/>
          <p:cNvSpPr txBox="1"/>
          <p:nvPr/>
        </p:nvSpPr>
        <p:spPr>
          <a:xfrm>
            <a:off x="1600200" y="2628900"/>
            <a:ext cx="36195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Stakeholder Engagement</a:t>
            </a:r>
          </a:p>
        </p:txBody>
      </p:sp>
      <p:sp>
        <p:nvSpPr>
          <p:cNvPr id="16" name="row-2-desc"/>
          <p:cNvSpPr txBox="1"/>
          <p:nvPr/>
        </p:nvSpPr>
        <p:spPr>
          <a:xfrm>
            <a:off x="5372100" y="2628900"/>
            <a:ext cx="62103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Maintain structured communication cadence with key decision-makers</a:t>
            </a:r>
          </a:p>
        </p:txBody>
      </p:sp>
      <p:sp>
        <p:nvSpPr>
          <p:cNvPr id="17" name="row-3-card"/>
          <p:cNvSpPr/>
          <p:nvPr/>
        </p:nvSpPr>
        <p:spPr>
          <a:xfrm>
            <a:off x="457200" y="3200400"/>
            <a:ext cx="112776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row-3-ghost"/>
          <p:cNvSpPr txBox="1"/>
          <p:nvPr/>
        </p:nvSpPr>
        <p:spPr>
          <a:xfrm>
            <a:off x="533400" y="3219450"/>
            <a:ext cx="6096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C780FF"/>
                </a:solidFill>
                <a:latin typeface="Inter"/>
              </a:rPr>
              <a:t>3</a:t>
            </a:r>
          </a:p>
        </p:txBody>
      </p:sp>
      <p:sp>
        <p:nvSpPr>
          <p:cNvPr id="19" name="row-3-badge-bg"/>
          <p:cNvSpPr/>
          <p:nvPr/>
        </p:nvSpPr>
        <p:spPr>
          <a:xfrm>
            <a:off x="1200150" y="337185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row-3-badge"/>
          <p:cNvSpPr txBox="1"/>
          <p:nvPr/>
        </p:nvSpPr>
        <p:spPr>
          <a:xfrm>
            <a:off x="1200150" y="33718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1" name="row-3-title"/>
          <p:cNvSpPr txBox="1"/>
          <p:nvPr/>
        </p:nvSpPr>
        <p:spPr>
          <a:xfrm>
            <a:off x="1600200" y="3276600"/>
            <a:ext cx="36195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Data Governance</a:t>
            </a:r>
          </a:p>
        </p:txBody>
      </p:sp>
      <p:sp>
        <p:nvSpPr>
          <p:cNvPr id="22" name="row-3-desc"/>
          <p:cNvSpPr txBox="1"/>
          <p:nvPr/>
        </p:nvSpPr>
        <p:spPr>
          <a:xfrm>
            <a:off x="5372100" y="3276600"/>
            <a:ext cx="62103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Establish ownership, quality standards, and access controls across domains</a:t>
            </a:r>
          </a:p>
        </p:txBody>
      </p:sp>
      <p:sp>
        <p:nvSpPr>
          <p:cNvPr id="23" name="row-4-card"/>
          <p:cNvSpPr/>
          <p:nvPr/>
        </p:nvSpPr>
        <p:spPr>
          <a:xfrm>
            <a:off x="457200" y="3848100"/>
            <a:ext cx="112776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row-4-ghost"/>
          <p:cNvSpPr txBox="1"/>
          <p:nvPr/>
        </p:nvSpPr>
        <p:spPr>
          <a:xfrm>
            <a:off x="533400" y="3867150"/>
            <a:ext cx="6096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C780FF"/>
                </a:solidFill>
                <a:latin typeface="Inter"/>
              </a:rPr>
              <a:t>4</a:t>
            </a:r>
          </a:p>
        </p:txBody>
      </p:sp>
      <p:sp>
        <p:nvSpPr>
          <p:cNvPr id="25" name="row-4-badge-bg"/>
          <p:cNvSpPr/>
          <p:nvPr/>
        </p:nvSpPr>
        <p:spPr>
          <a:xfrm>
            <a:off x="1200150" y="401955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ow-4-badge"/>
          <p:cNvSpPr txBox="1"/>
          <p:nvPr/>
        </p:nvSpPr>
        <p:spPr>
          <a:xfrm>
            <a:off x="1200150" y="40195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7" name="row-4-title"/>
          <p:cNvSpPr txBox="1"/>
          <p:nvPr/>
        </p:nvSpPr>
        <p:spPr>
          <a:xfrm>
            <a:off x="1600200" y="3924300"/>
            <a:ext cx="36195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Technology Enablement</a:t>
            </a:r>
          </a:p>
        </p:txBody>
      </p:sp>
      <p:sp>
        <p:nvSpPr>
          <p:cNvPr id="28" name="row-4-desc"/>
          <p:cNvSpPr txBox="1"/>
          <p:nvPr/>
        </p:nvSpPr>
        <p:spPr>
          <a:xfrm>
            <a:off x="5372100" y="3924300"/>
            <a:ext cx="62103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Deploy platforms that accelerate delivery and reduce manual overhead</a:t>
            </a:r>
          </a:p>
        </p:txBody>
      </p:sp>
      <p:sp>
        <p:nvSpPr>
          <p:cNvPr id="29" name="row-5-card"/>
          <p:cNvSpPr/>
          <p:nvPr/>
        </p:nvSpPr>
        <p:spPr>
          <a:xfrm>
            <a:off x="457200" y="4495800"/>
            <a:ext cx="112776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row-5-ghost"/>
          <p:cNvSpPr txBox="1"/>
          <p:nvPr/>
        </p:nvSpPr>
        <p:spPr>
          <a:xfrm>
            <a:off x="533400" y="4514850"/>
            <a:ext cx="6096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C780FF"/>
                </a:solidFill>
                <a:latin typeface="Inter"/>
              </a:rPr>
              <a:t>5</a:t>
            </a:r>
          </a:p>
        </p:txBody>
      </p:sp>
      <p:sp>
        <p:nvSpPr>
          <p:cNvPr id="31" name="row-5-badge-bg"/>
          <p:cNvSpPr/>
          <p:nvPr/>
        </p:nvSpPr>
        <p:spPr>
          <a:xfrm>
            <a:off x="1200150" y="466725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row-5-badge"/>
          <p:cNvSpPr txBox="1"/>
          <p:nvPr/>
        </p:nvSpPr>
        <p:spPr>
          <a:xfrm>
            <a:off x="1200150" y="46672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3" name="row-5-title"/>
          <p:cNvSpPr txBox="1"/>
          <p:nvPr/>
        </p:nvSpPr>
        <p:spPr>
          <a:xfrm>
            <a:off x="1600200" y="4572000"/>
            <a:ext cx="36195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Change Management</a:t>
            </a:r>
          </a:p>
        </p:txBody>
      </p:sp>
      <p:sp>
        <p:nvSpPr>
          <p:cNvPr id="34" name="row-5-desc"/>
          <p:cNvSpPr txBox="1"/>
          <p:nvPr/>
        </p:nvSpPr>
        <p:spPr>
          <a:xfrm>
            <a:off x="5372100" y="4572000"/>
            <a:ext cx="62103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Drive adoption through training, communication, and embedded champions</a:t>
            </a:r>
          </a:p>
        </p:txBody>
      </p:sp>
      <p:sp>
        <p:nvSpPr>
          <p:cNvPr id="35" name="row-6-card"/>
          <p:cNvSpPr/>
          <p:nvPr/>
        </p:nvSpPr>
        <p:spPr>
          <a:xfrm>
            <a:off x="457200" y="5143500"/>
            <a:ext cx="112776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row-6-ghost"/>
          <p:cNvSpPr txBox="1"/>
          <p:nvPr/>
        </p:nvSpPr>
        <p:spPr>
          <a:xfrm>
            <a:off x="533400" y="5162550"/>
            <a:ext cx="6096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C780FF"/>
                </a:solidFill>
                <a:latin typeface="Inter"/>
              </a:rPr>
              <a:t>6</a:t>
            </a:r>
          </a:p>
        </p:txBody>
      </p:sp>
      <p:sp>
        <p:nvSpPr>
          <p:cNvPr id="37" name="row-6-badge-bg"/>
          <p:cNvSpPr/>
          <p:nvPr/>
        </p:nvSpPr>
        <p:spPr>
          <a:xfrm>
            <a:off x="1200150" y="531495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row-6-badge"/>
          <p:cNvSpPr txBox="1"/>
          <p:nvPr/>
        </p:nvSpPr>
        <p:spPr>
          <a:xfrm>
            <a:off x="1200150" y="53149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39" name="row-6-title"/>
          <p:cNvSpPr txBox="1"/>
          <p:nvPr/>
        </p:nvSpPr>
        <p:spPr>
          <a:xfrm>
            <a:off x="1600200" y="5219700"/>
            <a:ext cx="36195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Risk &amp; Compliance</a:t>
            </a:r>
          </a:p>
        </p:txBody>
      </p:sp>
      <p:sp>
        <p:nvSpPr>
          <p:cNvPr id="40" name="row-6-desc"/>
          <p:cNvSpPr txBox="1"/>
          <p:nvPr/>
        </p:nvSpPr>
        <p:spPr>
          <a:xfrm>
            <a:off x="5372100" y="5219700"/>
            <a:ext cx="62103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Proactively identify, track, and mitigate programme-level risk exposure</a:t>
            </a:r>
          </a:p>
        </p:txBody>
      </p:sp>
      <p:sp>
        <p:nvSpPr>
          <p:cNvPr id="41" name="row-7-card"/>
          <p:cNvSpPr/>
          <p:nvPr/>
        </p:nvSpPr>
        <p:spPr>
          <a:xfrm>
            <a:off x="457200" y="5791200"/>
            <a:ext cx="112776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row-7-ghost"/>
          <p:cNvSpPr txBox="1"/>
          <p:nvPr/>
        </p:nvSpPr>
        <p:spPr>
          <a:xfrm>
            <a:off x="533400" y="5810250"/>
            <a:ext cx="6096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C780FF"/>
                </a:solidFill>
                <a:latin typeface="Inter"/>
              </a:rPr>
              <a:t>7</a:t>
            </a:r>
          </a:p>
        </p:txBody>
      </p:sp>
      <p:sp>
        <p:nvSpPr>
          <p:cNvPr id="43" name="row-7-badge-bg"/>
          <p:cNvSpPr/>
          <p:nvPr/>
        </p:nvSpPr>
        <p:spPr>
          <a:xfrm>
            <a:off x="1200150" y="5962650"/>
            <a:ext cx="2476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row-7-badge"/>
          <p:cNvSpPr txBox="1"/>
          <p:nvPr/>
        </p:nvSpPr>
        <p:spPr>
          <a:xfrm>
            <a:off x="1200150" y="59626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45" name="row-7-title"/>
          <p:cNvSpPr txBox="1"/>
          <p:nvPr/>
        </p:nvSpPr>
        <p:spPr>
          <a:xfrm>
            <a:off x="1600200" y="5867400"/>
            <a:ext cx="36195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Value Realisation</a:t>
            </a:r>
          </a:p>
        </p:txBody>
      </p:sp>
      <p:sp>
        <p:nvSpPr>
          <p:cNvPr id="46" name="row-7-desc"/>
          <p:cNvSpPr txBox="1"/>
          <p:nvPr/>
        </p:nvSpPr>
        <p:spPr>
          <a:xfrm>
            <a:off x="5372100" y="5867400"/>
            <a:ext cx="62103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Track and communicate measurable outcomes tied to programme investment</a:t>
            </a:r>
          </a:p>
        </p:txBody>
      </p:sp>
      <p:sp>
        <p:nvSpPr>
          <p:cNvPr id="4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