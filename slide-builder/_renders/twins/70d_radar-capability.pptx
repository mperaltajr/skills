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Capability radar — baseline vs pilot week 4 across six dimensions.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Every dimension moved up; cycle time and stakeholder sign-off jumped the most.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1866900" y="2238375"/>
            <a:ext cx="3448050" cy="3448050"/>
          </a:xfrm>
          <a:prstGeom prst="rect">
            <a:avLst/>
          </a:prstGeom>
          <a:solidFill>
            <a:srgbClr val="42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nnot-header"/>
          <p:cNvSpPr txBox="1"/>
          <p:nvPr/>
        </p:nvSpPr>
        <p:spPr>
          <a:xfrm>
            <a:off x="6877050" y="2133600"/>
            <a:ext cx="4781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BEFORE VS AFTER, BY DIMENSION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6877050" y="2400300"/>
            <a:ext cx="133350" cy="1333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7067550" y="23812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Week 0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829550" y="24003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8020050" y="23812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Week 4</a:t>
            </a:r>
          </a:p>
        </p:txBody>
      </p:sp>
      <p:sp>
        <p:nvSpPr>
          <p:cNvPr id="11" name="delta-1-name"/>
          <p:cNvSpPr txBox="1"/>
          <p:nvPr/>
        </p:nvSpPr>
        <p:spPr>
          <a:xfrm>
            <a:off x="6877050" y="281940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Structure clarity</a:t>
            </a:r>
          </a:p>
        </p:txBody>
      </p:sp>
      <p:sp>
        <p:nvSpPr>
          <p:cNvPr id="12" name="delta-1-before"/>
          <p:cNvSpPr txBox="1"/>
          <p:nvPr/>
        </p:nvSpPr>
        <p:spPr>
          <a:xfrm>
            <a:off x="10515600" y="28194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</a:t>
            </a:r>
          </a:p>
        </p:txBody>
      </p:sp>
      <p:sp>
        <p:nvSpPr>
          <p:cNvPr id="13" name="delta-1-arrow"/>
          <p:cNvSpPr txBox="1"/>
          <p:nvPr/>
        </p:nvSpPr>
        <p:spPr>
          <a:xfrm>
            <a:off x="10839450" y="2819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14" name="delta-1-after"/>
          <p:cNvSpPr txBox="1"/>
          <p:nvPr/>
        </p:nvSpPr>
        <p:spPr>
          <a:xfrm>
            <a:off x="11106150" y="28194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15" name="delta-2-name"/>
          <p:cNvSpPr txBox="1"/>
          <p:nvPr/>
        </p:nvSpPr>
        <p:spPr>
          <a:xfrm>
            <a:off x="6877050" y="333375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Argument sharpness</a:t>
            </a:r>
          </a:p>
        </p:txBody>
      </p:sp>
      <p:sp>
        <p:nvSpPr>
          <p:cNvPr id="16" name="delta-2-before"/>
          <p:cNvSpPr txBox="1"/>
          <p:nvPr/>
        </p:nvSpPr>
        <p:spPr>
          <a:xfrm>
            <a:off x="10515600" y="33337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</a:t>
            </a:r>
          </a:p>
        </p:txBody>
      </p:sp>
      <p:sp>
        <p:nvSpPr>
          <p:cNvPr id="17" name="delta-2-arrow"/>
          <p:cNvSpPr txBox="1"/>
          <p:nvPr/>
        </p:nvSpPr>
        <p:spPr>
          <a:xfrm>
            <a:off x="10839450" y="3333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18" name="delta-2-after"/>
          <p:cNvSpPr txBox="1"/>
          <p:nvPr/>
        </p:nvSpPr>
        <p:spPr>
          <a:xfrm>
            <a:off x="11106150" y="33337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19" name="delta-3-name"/>
          <p:cNvSpPr txBox="1"/>
          <p:nvPr/>
        </p:nvSpPr>
        <p:spPr>
          <a:xfrm>
            <a:off x="6877050" y="384810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Visual polish</a:t>
            </a:r>
          </a:p>
        </p:txBody>
      </p:sp>
      <p:sp>
        <p:nvSpPr>
          <p:cNvPr id="20" name="delta-3-before"/>
          <p:cNvSpPr txBox="1"/>
          <p:nvPr/>
        </p:nvSpPr>
        <p:spPr>
          <a:xfrm>
            <a:off x="10515600" y="38481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</a:t>
            </a:r>
          </a:p>
        </p:txBody>
      </p:sp>
      <p:sp>
        <p:nvSpPr>
          <p:cNvPr id="21" name="delta-3-arrow"/>
          <p:cNvSpPr txBox="1"/>
          <p:nvPr/>
        </p:nvSpPr>
        <p:spPr>
          <a:xfrm>
            <a:off x="10839450" y="38481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22" name="delta-3-after"/>
          <p:cNvSpPr txBox="1"/>
          <p:nvPr/>
        </p:nvSpPr>
        <p:spPr>
          <a:xfrm>
            <a:off x="11106150" y="38481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23" name="delta-4-name"/>
          <p:cNvSpPr txBox="1"/>
          <p:nvPr/>
        </p:nvSpPr>
        <p:spPr>
          <a:xfrm>
            <a:off x="6877050" y="436245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Cycle time</a:t>
            </a:r>
          </a:p>
        </p:txBody>
      </p:sp>
      <p:sp>
        <p:nvSpPr>
          <p:cNvPr id="24" name="delta-4-before"/>
          <p:cNvSpPr txBox="1"/>
          <p:nvPr/>
        </p:nvSpPr>
        <p:spPr>
          <a:xfrm>
            <a:off x="10515600" y="43624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</a:t>
            </a:r>
          </a:p>
        </p:txBody>
      </p:sp>
      <p:sp>
        <p:nvSpPr>
          <p:cNvPr id="25" name="delta-4-arrow"/>
          <p:cNvSpPr txBox="1"/>
          <p:nvPr/>
        </p:nvSpPr>
        <p:spPr>
          <a:xfrm>
            <a:off x="10839450" y="43624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26" name="delta-4-after"/>
          <p:cNvSpPr txBox="1"/>
          <p:nvPr/>
        </p:nvSpPr>
        <p:spPr>
          <a:xfrm>
            <a:off x="11106150" y="43624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27" name="delta-5-name"/>
          <p:cNvSpPr txBox="1"/>
          <p:nvPr/>
        </p:nvSpPr>
        <p:spPr>
          <a:xfrm>
            <a:off x="6877050" y="487680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Reviewer alignment</a:t>
            </a:r>
          </a:p>
        </p:txBody>
      </p:sp>
      <p:sp>
        <p:nvSpPr>
          <p:cNvPr id="28" name="delta-5-before"/>
          <p:cNvSpPr txBox="1"/>
          <p:nvPr/>
        </p:nvSpPr>
        <p:spPr>
          <a:xfrm>
            <a:off x="10515600" y="48768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</a:t>
            </a:r>
          </a:p>
        </p:txBody>
      </p:sp>
      <p:sp>
        <p:nvSpPr>
          <p:cNvPr id="29" name="delta-5-arrow"/>
          <p:cNvSpPr txBox="1"/>
          <p:nvPr/>
        </p:nvSpPr>
        <p:spPr>
          <a:xfrm>
            <a:off x="10839450" y="48768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30" name="delta-5-after"/>
          <p:cNvSpPr txBox="1"/>
          <p:nvPr/>
        </p:nvSpPr>
        <p:spPr>
          <a:xfrm>
            <a:off x="11106150" y="48768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31" name="delta-6-name"/>
          <p:cNvSpPr txBox="1"/>
          <p:nvPr/>
        </p:nvSpPr>
        <p:spPr>
          <a:xfrm>
            <a:off x="6877050" y="5391150"/>
            <a:ext cx="3543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Stakeholder sign-off</a:t>
            </a:r>
          </a:p>
        </p:txBody>
      </p:sp>
      <p:sp>
        <p:nvSpPr>
          <p:cNvPr id="32" name="delta-6-before"/>
          <p:cNvSpPr txBox="1"/>
          <p:nvPr/>
        </p:nvSpPr>
        <p:spPr>
          <a:xfrm>
            <a:off x="10515600" y="53911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</a:t>
            </a:r>
          </a:p>
        </p:txBody>
      </p:sp>
      <p:sp>
        <p:nvSpPr>
          <p:cNvPr id="33" name="delta-6-arrow"/>
          <p:cNvSpPr txBox="1"/>
          <p:nvPr/>
        </p:nvSpPr>
        <p:spPr>
          <a:xfrm>
            <a:off x="10839450" y="53911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→</a:t>
            </a:r>
          </a:p>
        </p:txBody>
      </p:sp>
      <p:sp>
        <p:nvSpPr>
          <p:cNvPr id="34" name="delta-6-after"/>
          <p:cNvSpPr txBox="1"/>
          <p:nvPr/>
        </p:nvSpPr>
        <p:spPr>
          <a:xfrm>
            <a:off x="11106150" y="53911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35" name="convergence-bg"/>
          <p:cNvSpPr/>
          <p:nvPr/>
        </p:nvSpPr>
        <p:spPr>
          <a:xfrm>
            <a:off x="533400" y="5886450"/>
            <a:ext cx="11125200" cy="3810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nvergence"/>
          <p:cNvSpPr txBox="1"/>
          <p:nvPr/>
        </p:nvSpPr>
        <p:spPr>
          <a:xfrm>
            <a:off x="742950" y="5886450"/>
            <a:ext cx="10706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Pilot polygon engulfs the baseline on every axis — cycle time and stakeholder sign-off each gained three points.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