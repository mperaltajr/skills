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266700"/>
            <a:ext cx="95250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Honest about what works today — and what's still growing.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No demo magic. Production reality on one side; in-development on the other.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4825"/>
            <a:ext cx="5334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panel-1-bg"/>
          <p:cNvSpPr/>
          <p:nvPr/>
        </p:nvSpPr>
        <p:spPr>
          <a:xfrm>
            <a:off x="609600" y="2286000"/>
            <a:ext cx="5353050" cy="30480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panel-1-accent"/>
          <p:cNvSpPr/>
          <p:nvPr/>
        </p:nvSpPr>
        <p:spPr>
          <a:xfrm>
            <a:off x="609600" y="2286000"/>
            <a:ext cx="38100" cy="304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panel-1-label"/>
          <p:cNvSpPr txBox="1"/>
          <p:nvPr/>
        </p:nvSpPr>
        <p:spPr>
          <a:xfrm>
            <a:off x="838200" y="2457450"/>
            <a:ext cx="49720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6A34A"/>
                </a:solidFill>
                <a:latin typeface="Inter"/>
              </a:rPr>
              <a:t>WORKS WELL TODAY</a:t>
            </a:r>
          </a:p>
        </p:txBody>
      </p:sp>
      <p:sp>
        <p:nvSpPr>
          <p:cNvPr id="8" name="panel-1-heading"/>
          <p:cNvSpPr txBox="1"/>
          <p:nvPr/>
        </p:nvSpPr>
        <p:spPr>
          <a:xfrm>
            <a:off x="838200" y="2686050"/>
            <a:ext cx="49720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2D0A4E"/>
                </a:solidFill>
                <a:latin typeface="Inter"/>
              </a:rPr>
              <a:t>Production-grade now</a:t>
            </a:r>
          </a:p>
        </p:txBody>
      </p:sp>
      <p:sp>
        <p:nvSpPr>
          <p:cNvPr id="9" name="panel-1-body"/>
          <p:cNvSpPr txBox="1"/>
          <p:nvPr/>
        </p:nvSpPr>
        <p:spPr>
          <a:xfrm>
            <a:off x="838200" y="3086100"/>
            <a:ext cx="4895850" cy="2095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• Builds a real PPTX in your brand template — not a screenshot export
• Forces a governing thought before drafting any slide
• Pushes back on weak claims and bullet-padded structure
• Renders chart + commentary slides with structurally valid layouts
• Survives review cycles without losing the through-line</a:t>
            </a:r>
          </a:p>
        </p:txBody>
      </p:sp>
      <p:sp>
        <p:nvSpPr>
          <p:cNvPr id="10" name="panel-2-bg"/>
          <p:cNvSpPr/>
          <p:nvPr/>
        </p:nvSpPr>
        <p:spPr>
          <a:xfrm>
            <a:off x="6229350" y="2286000"/>
            <a:ext cx="5353050" cy="30480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panel-2-accent"/>
          <p:cNvSpPr/>
          <p:nvPr/>
        </p:nvSpPr>
        <p:spPr>
          <a:xfrm>
            <a:off x="6229350" y="2286000"/>
            <a:ext cx="38100" cy="304800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panel-2-label"/>
          <p:cNvSpPr txBox="1"/>
          <p:nvPr/>
        </p:nvSpPr>
        <p:spPr>
          <a:xfrm>
            <a:off x="6457950" y="2457450"/>
            <a:ext cx="49720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A8A04"/>
                </a:solidFill>
                <a:latin typeface="Inter"/>
              </a:rPr>
              <a:t>STILL GROWING</a:t>
            </a:r>
          </a:p>
        </p:txBody>
      </p:sp>
      <p:sp>
        <p:nvSpPr>
          <p:cNvPr id="13" name="panel-2-heading"/>
          <p:cNvSpPr txBox="1"/>
          <p:nvPr/>
        </p:nvSpPr>
        <p:spPr>
          <a:xfrm>
            <a:off x="6457950" y="2686050"/>
            <a:ext cx="49720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2D0A4E"/>
                </a:solidFill>
                <a:latin typeface="Inter"/>
              </a:rPr>
              <a:t>In-development</a:t>
            </a:r>
          </a:p>
        </p:txBody>
      </p:sp>
      <p:sp>
        <p:nvSpPr>
          <p:cNvPr id="14" name="panel-2-body"/>
          <p:cNvSpPr txBox="1"/>
          <p:nvPr/>
        </p:nvSpPr>
        <p:spPr>
          <a:xfrm>
            <a:off x="6457950" y="3086100"/>
            <a:ext cx="4895850" cy="2095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• Visual model templates (fishbone, value chain, wheel)
• Hand-drawn-style diagrams from a quick description
• Multi-deck consistency checks (cross-slide narrative QC)
• Cost-per-deck telemetry for partner-level review</a:t>
            </a:r>
          </a:p>
        </p:txBody>
      </p:sp>
      <p:sp>
        <p:nvSpPr>
          <p:cNvPr id="15" name="convergence-bg"/>
          <p:cNvSpPr/>
          <p:nvPr/>
        </p:nvSpPr>
        <p:spPr>
          <a:xfrm>
            <a:off x="609600" y="5715000"/>
            <a:ext cx="10972800" cy="4000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convergence"/>
          <p:cNvSpPr txBox="1"/>
          <p:nvPr/>
        </p:nvSpPr>
        <p:spPr>
          <a:xfrm>
            <a:off x="609600" y="57150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209550" bIns="0" lIns="20955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We're being honest because we'd rather you trust the parts that work than discover gaps mid-pitch.</a:t>
            </a:r>
          </a:p>
        </p:txBody>
      </p:sp>
      <p:sp>
        <p:nvSpPr>
          <p:cNvPr id="17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18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19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