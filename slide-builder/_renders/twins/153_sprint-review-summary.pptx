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5524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AGILE DELIVERY · SPRINT REVIEW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266700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Sprint 14 closes at 93% velocity</a:t>
            </a:r>
            <a:r>
              <a:rPr sz="1650" b="1" i="0">
                <a:solidFill>
                  <a:srgbClr val="1A1A2E"/>
                </a:solidFill>
                <a:latin typeface="Inter"/>
              </a:rPr>
              <a:t> — single blocker is external dependency, escalated to vendor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3825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sprint-meta"/>
          <p:cNvSpPr/>
          <p:nvPr/>
        </p:nvSpPr>
        <p:spPr>
          <a:xfrm>
            <a:off x="457200" y="1409700"/>
            <a:ext cx="11277600" cy="2667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sprint-meta-text"/>
          <p:cNvSpPr txBox="1"/>
          <p:nvPr/>
        </p:nvSpPr>
        <p:spPr>
          <a:xfrm>
            <a:off x="609600" y="1409700"/>
            <a:ext cx="109728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Sprint 14  ·  May 5-18, 2026  ·  Velocity: 42 points  ·  Target: 45 points (93%)</a:t>
            </a:r>
          </a:p>
        </p:txBody>
      </p:sp>
      <p:sp>
        <p:nvSpPr>
          <p:cNvPr id="7" name="col-1-bg"/>
          <p:cNvSpPr/>
          <p:nvPr/>
        </p:nvSpPr>
        <p:spPr>
          <a:xfrm>
            <a:off x="457200" y="1790700"/>
            <a:ext cx="3676650" cy="4114800"/>
          </a:xfrm>
          <a:prstGeom prst="rect">
            <a:avLst/>
          </a:prstGeom>
          <a:solidFill>
            <a:srgbClr val="FAFAFA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ol-1-header"/>
          <p:cNvSpPr/>
          <p:nvPr/>
        </p:nvSpPr>
        <p:spPr>
          <a:xfrm>
            <a:off x="457200" y="1790700"/>
            <a:ext cx="3676650" cy="3048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ol-1-label"/>
          <p:cNvSpPr txBox="1"/>
          <p:nvPr/>
        </p:nvSpPr>
        <p:spPr>
          <a:xfrm>
            <a:off x="571500" y="1866900"/>
            <a:ext cx="2724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DONE</a:t>
            </a:r>
          </a:p>
        </p:txBody>
      </p:sp>
      <p:sp>
        <p:nvSpPr>
          <p:cNvPr id="10" name="col-1-count"/>
          <p:cNvSpPr txBox="1"/>
          <p:nvPr/>
        </p:nvSpPr>
        <p:spPr>
          <a:xfrm>
            <a:off x="2895600" y="188595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6 STORIES · 32 PTS</a:t>
            </a:r>
          </a:p>
        </p:txBody>
      </p:sp>
      <p:sp>
        <p:nvSpPr>
          <p:cNvPr id="11" name="card-1-1-bg"/>
          <p:cNvSpPr/>
          <p:nvPr/>
        </p:nvSpPr>
        <p:spPr>
          <a:xfrm>
            <a:off x="533400" y="2171700"/>
            <a:ext cx="3524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ard-1-1-accent"/>
          <p:cNvSpPr/>
          <p:nvPr/>
        </p:nvSpPr>
        <p:spPr>
          <a:xfrm>
            <a:off x="533400" y="2171700"/>
            <a:ext cx="28575" cy="4953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ard-1-1-id"/>
          <p:cNvSpPr txBox="1"/>
          <p:nvPr/>
        </p:nvSpPr>
        <p:spPr>
          <a:xfrm>
            <a:off x="609600" y="2209800"/>
            <a:ext cx="419100" cy="1333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US-142</a:t>
            </a:r>
          </a:p>
        </p:txBody>
      </p:sp>
      <p:sp>
        <p:nvSpPr>
          <p:cNvPr id="14" name="card-1-1-title"/>
          <p:cNvSpPr txBox="1"/>
          <p:nvPr/>
        </p:nvSpPr>
        <p:spPr>
          <a:xfrm>
            <a:off x="1066800" y="220980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User login with SSO integration</a:t>
            </a:r>
          </a:p>
        </p:txBody>
      </p:sp>
      <p:sp>
        <p:nvSpPr>
          <p:cNvPr id="15" name="card-1-1-pts"/>
          <p:cNvSpPr txBox="1"/>
          <p:nvPr/>
        </p:nvSpPr>
        <p:spPr>
          <a:xfrm>
            <a:off x="609600" y="2495550"/>
            <a:ext cx="381000" cy="1333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8 pts</a:t>
            </a:r>
          </a:p>
        </p:txBody>
      </p:sp>
      <p:sp>
        <p:nvSpPr>
          <p:cNvPr id="16" name="card-1-1-avatar"/>
          <p:cNvSpPr txBox="1"/>
          <p:nvPr/>
        </p:nvSpPr>
        <p:spPr>
          <a:xfrm>
            <a:off x="3790950" y="2457450"/>
            <a:ext cx="190500" cy="17145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JM</a:t>
            </a:r>
          </a:p>
        </p:txBody>
      </p:sp>
      <p:sp>
        <p:nvSpPr>
          <p:cNvPr id="17" name="card-1-2-bg"/>
          <p:cNvSpPr/>
          <p:nvPr/>
        </p:nvSpPr>
        <p:spPr>
          <a:xfrm>
            <a:off x="533400" y="2724150"/>
            <a:ext cx="3524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ard-1-2-accent"/>
          <p:cNvSpPr/>
          <p:nvPr/>
        </p:nvSpPr>
        <p:spPr>
          <a:xfrm>
            <a:off x="533400" y="2724150"/>
            <a:ext cx="28575" cy="4953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ard-1-2-id"/>
          <p:cNvSpPr txBox="1"/>
          <p:nvPr/>
        </p:nvSpPr>
        <p:spPr>
          <a:xfrm>
            <a:off x="609600" y="2762250"/>
            <a:ext cx="419100" cy="1333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US-143</a:t>
            </a:r>
          </a:p>
        </p:txBody>
      </p:sp>
      <p:sp>
        <p:nvSpPr>
          <p:cNvPr id="20" name="card-1-2-title"/>
          <p:cNvSpPr txBox="1"/>
          <p:nvPr/>
        </p:nvSpPr>
        <p:spPr>
          <a:xfrm>
            <a:off x="1066800" y="276225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Dashboard data refresh (live polling)</a:t>
            </a:r>
          </a:p>
        </p:txBody>
      </p:sp>
      <p:sp>
        <p:nvSpPr>
          <p:cNvPr id="21" name="card-1-2-pts"/>
          <p:cNvSpPr txBox="1"/>
          <p:nvPr/>
        </p:nvSpPr>
        <p:spPr>
          <a:xfrm>
            <a:off x="609600" y="3048000"/>
            <a:ext cx="381000" cy="1333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5 pts</a:t>
            </a:r>
          </a:p>
        </p:txBody>
      </p:sp>
      <p:sp>
        <p:nvSpPr>
          <p:cNvPr id="22" name="card-1-2-avatar"/>
          <p:cNvSpPr txBox="1"/>
          <p:nvPr/>
        </p:nvSpPr>
        <p:spPr>
          <a:xfrm>
            <a:off x="3790950" y="3009900"/>
            <a:ext cx="190500" cy="17145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RP</a:t>
            </a:r>
          </a:p>
        </p:txBody>
      </p:sp>
      <p:sp>
        <p:nvSpPr>
          <p:cNvPr id="23" name="card-1-3-bg"/>
          <p:cNvSpPr/>
          <p:nvPr/>
        </p:nvSpPr>
        <p:spPr>
          <a:xfrm>
            <a:off x="533400" y="3276600"/>
            <a:ext cx="3524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ard-1-3-accent"/>
          <p:cNvSpPr/>
          <p:nvPr/>
        </p:nvSpPr>
        <p:spPr>
          <a:xfrm>
            <a:off x="533400" y="3276600"/>
            <a:ext cx="28575" cy="4953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ard-1-3-id"/>
          <p:cNvSpPr txBox="1"/>
          <p:nvPr/>
        </p:nvSpPr>
        <p:spPr>
          <a:xfrm>
            <a:off x="609600" y="3314700"/>
            <a:ext cx="419100" cy="1333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US-145</a:t>
            </a:r>
          </a:p>
        </p:txBody>
      </p:sp>
      <p:sp>
        <p:nvSpPr>
          <p:cNvPr id="26" name="card-1-3-title"/>
          <p:cNvSpPr txBox="1"/>
          <p:nvPr/>
        </p:nvSpPr>
        <p:spPr>
          <a:xfrm>
            <a:off x="1066800" y="331470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Export report to PDF &amp; CSV</a:t>
            </a:r>
          </a:p>
        </p:txBody>
      </p:sp>
      <p:sp>
        <p:nvSpPr>
          <p:cNvPr id="27" name="card-1-3-pts"/>
          <p:cNvSpPr txBox="1"/>
          <p:nvPr/>
        </p:nvSpPr>
        <p:spPr>
          <a:xfrm>
            <a:off x="609600" y="3600450"/>
            <a:ext cx="381000" cy="1333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5 pts</a:t>
            </a:r>
          </a:p>
        </p:txBody>
      </p:sp>
      <p:sp>
        <p:nvSpPr>
          <p:cNvPr id="28" name="card-1-3-avatar"/>
          <p:cNvSpPr txBox="1"/>
          <p:nvPr/>
        </p:nvSpPr>
        <p:spPr>
          <a:xfrm>
            <a:off x="3790950" y="3562350"/>
            <a:ext cx="190500" cy="17145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KL</a:t>
            </a:r>
          </a:p>
        </p:txBody>
      </p:sp>
      <p:sp>
        <p:nvSpPr>
          <p:cNvPr id="29" name="card-1-4-bg"/>
          <p:cNvSpPr/>
          <p:nvPr/>
        </p:nvSpPr>
        <p:spPr>
          <a:xfrm>
            <a:off x="533400" y="3829050"/>
            <a:ext cx="3524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ard-1-4-accent"/>
          <p:cNvSpPr/>
          <p:nvPr/>
        </p:nvSpPr>
        <p:spPr>
          <a:xfrm>
            <a:off x="533400" y="3829050"/>
            <a:ext cx="28575" cy="4953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ard-1-4-id"/>
          <p:cNvSpPr txBox="1"/>
          <p:nvPr/>
        </p:nvSpPr>
        <p:spPr>
          <a:xfrm>
            <a:off x="609600" y="3867150"/>
            <a:ext cx="419100" cy="1333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US-147</a:t>
            </a:r>
          </a:p>
        </p:txBody>
      </p:sp>
      <p:sp>
        <p:nvSpPr>
          <p:cNvPr id="32" name="card-1-4-title"/>
          <p:cNvSpPr txBox="1"/>
          <p:nvPr/>
        </p:nvSpPr>
        <p:spPr>
          <a:xfrm>
            <a:off x="1066800" y="386715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Role-based access control setup</a:t>
            </a:r>
          </a:p>
        </p:txBody>
      </p:sp>
      <p:sp>
        <p:nvSpPr>
          <p:cNvPr id="33" name="card-1-4-pts"/>
          <p:cNvSpPr txBox="1"/>
          <p:nvPr/>
        </p:nvSpPr>
        <p:spPr>
          <a:xfrm>
            <a:off x="609600" y="4152900"/>
            <a:ext cx="381000" cy="1333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8 pts</a:t>
            </a:r>
          </a:p>
        </p:txBody>
      </p:sp>
      <p:sp>
        <p:nvSpPr>
          <p:cNvPr id="34" name="card-1-4-avatar"/>
          <p:cNvSpPr txBox="1"/>
          <p:nvPr/>
        </p:nvSpPr>
        <p:spPr>
          <a:xfrm>
            <a:off x="3790950" y="4114800"/>
            <a:ext cx="190500" cy="17145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JM</a:t>
            </a:r>
          </a:p>
        </p:txBody>
      </p:sp>
      <p:sp>
        <p:nvSpPr>
          <p:cNvPr id="35" name="card-1-5-bg"/>
          <p:cNvSpPr/>
          <p:nvPr/>
        </p:nvSpPr>
        <p:spPr>
          <a:xfrm>
            <a:off x="533400" y="4381500"/>
            <a:ext cx="3524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ard-1-5-accent"/>
          <p:cNvSpPr/>
          <p:nvPr/>
        </p:nvSpPr>
        <p:spPr>
          <a:xfrm>
            <a:off x="533400" y="4381500"/>
            <a:ext cx="28575" cy="4953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ard-1-5-id"/>
          <p:cNvSpPr txBox="1"/>
          <p:nvPr/>
        </p:nvSpPr>
        <p:spPr>
          <a:xfrm>
            <a:off x="609600" y="4419600"/>
            <a:ext cx="419100" cy="1333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US-149</a:t>
            </a:r>
          </a:p>
        </p:txBody>
      </p:sp>
      <p:sp>
        <p:nvSpPr>
          <p:cNvPr id="38" name="card-1-5-title"/>
          <p:cNvSpPr txBox="1"/>
          <p:nvPr/>
        </p:nvSpPr>
        <p:spPr>
          <a:xfrm>
            <a:off x="1066800" y="441960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Notification email templates</a:t>
            </a:r>
          </a:p>
        </p:txBody>
      </p:sp>
      <p:sp>
        <p:nvSpPr>
          <p:cNvPr id="39" name="card-1-5-pts"/>
          <p:cNvSpPr txBox="1"/>
          <p:nvPr/>
        </p:nvSpPr>
        <p:spPr>
          <a:xfrm>
            <a:off x="609600" y="4705350"/>
            <a:ext cx="381000" cy="1333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3 pts</a:t>
            </a:r>
          </a:p>
        </p:txBody>
      </p:sp>
      <p:sp>
        <p:nvSpPr>
          <p:cNvPr id="40" name="card-1-5-avatar"/>
          <p:cNvSpPr txBox="1"/>
          <p:nvPr/>
        </p:nvSpPr>
        <p:spPr>
          <a:xfrm>
            <a:off x="3790950" y="4667250"/>
            <a:ext cx="190500" cy="17145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AL</a:t>
            </a:r>
          </a:p>
        </p:txBody>
      </p:sp>
      <p:sp>
        <p:nvSpPr>
          <p:cNvPr id="41" name="card-1-6-bg"/>
          <p:cNvSpPr/>
          <p:nvPr/>
        </p:nvSpPr>
        <p:spPr>
          <a:xfrm>
            <a:off x="533400" y="4933950"/>
            <a:ext cx="3524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card-1-6-accent"/>
          <p:cNvSpPr/>
          <p:nvPr/>
        </p:nvSpPr>
        <p:spPr>
          <a:xfrm>
            <a:off x="533400" y="4933950"/>
            <a:ext cx="28575" cy="4953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ard-1-6-id"/>
          <p:cNvSpPr txBox="1"/>
          <p:nvPr/>
        </p:nvSpPr>
        <p:spPr>
          <a:xfrm>
            <a:off x="609600" y="4972050"/>
            <a:ext cx="419100" cy="1333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US-151</a:t>
            </a:r>
          </a:p>
        </p:txBody>
      </p:sp>
      <p:sp>
        <p:nvSpPr>
          <p:cNvPr id="44" name="card-1-6-title"/>
          <p:cNvSpPr txBox="1"/>
          <p:nvPr/>
        </p:nvSpPr>
        <p:spPr>
          <a:xfrm>
            <a:off x="1066800" y="497205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Accessibility audit — WCAG 2.1 AA</a:t>
            </a:r>
          </a:p>
        </p:txBody>
      </p:sp>
      <p:sp>
        <p:nvSpPr>
          <p:cNvPr id="45" name="card-1-6-pts"/>
          <p:cNvSpPr txBox="1"/>
          <p:nvPr/>
        </p:nvSpPr>
        <p:spPr>
          <a:xfrm>
            <a:off x="609600" y="5257800"/>
            <a:ext cx="381000" cy="1333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3 pts</a:t>
            </a:r>
          </a:p>
        </p:txBody>
      </p:sp>
      <p:sp>
        <p:nvSpPr>
          <p:cNvPr id="46" name="card-1-6-avatar"/>
          <p:cNvSpPr txBox="1"/>
          <p:nvPr/>
        </p:nvSpPr>
        <p:spPr>
          <a:xfrm>
            <a:off x="3790950" y="5219700"/>
            <a:ext cx="190500" cy="17145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RP</a:t>
            </a:r>
          </a:p>
        </p:txBody>
      </p:sp>
      <p:sp>
        <p:nvSpPr>
          <p:cNvPr id="47" name="col-2-bg"/>
          <p:cNvSpPr/>
          <p:nvPr/>
        </p:nvSpPr>
        <p:spPr>
          <a:xfrm>
            <a:off x="4248150" y="1790700"/>
            <a:ext cx="3676650" cy="4114800"/>
          </a:xfrm>
          <a:prstGeom prst="rect">
            <a:avLst/>
          </a:prstGeom>
          <a:solidFill>
            <a:srgbClr val="FAFAFA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col-2-header"/>
          <p:cNvSpPr/>
          <p:nvPr/>
        </p:nvSpPr>
        <p:spPr>
          <a:xfrm>
            <a:off x="4248150" y="1790700"/>
            <a:ext cx="3676650" cy="3048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col-2-label"/>
          <p:cNvSpPr txBox="1"/>
          <p:nvPr/>
        </p:nvSpPr>
        <p:spPr>
          <a:xfrm>
            <a:off x="4362450" y="1866900"/>
            <a:ext cx="2724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 PROGRESS</a:t>
            </a:r>
          </a:p>
        </p:txBody>
      </p:sp>
      <p:sp>
        <p:nvSpPr>
          <p:cNvPr id="50" name="col-2-count"/>
          <p:cNvSpPr txBox="1"/>
          <p:nvPr/>
        </p:nvSpPr>
        <p:spPr>
          <a:xfrm>
            <a:off x="6686550" y="188595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 STORIES · 10 PTS</a:t>
            </a:r>
          </a:p>
        </p:txBody>
      </p:sp>
      <p:sp>
        <p:nvSpPr>
          <p:cNvPr id="51" name="card-2-1-bg"/>
          <p:cNvSpPr/>
          <p:nvPr/>
        </p:nvSpPr>
        <p:spPr>
          <a:xfrm>
            <a:off x="4324350" y="2171700"/>
            <a:ext cx="3524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card-2-1-accent"/>
          <p:cNvSpPr/>
          <p:nvPr/>
        </p:nvSpPr>
        <p:spPr>
          <a:xfrm>
            <a:off x="4324350" y="2171700"/>
            <a:ext cx="28575" cy="4953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card-2-1-id"/>
          <p:cNvSpPr txBox="1"/>
          <p:nvPr/>
        </p:nvSpPr>
        <p:spPr>
          <a:xfrm>
            <a:off x="4400550" y="2209800"/>
            <a:ext cx="419100" cy="1333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US-153</a:t>
            </a:r>
          </a:p>
        </p:txBody>
      </p:sp>
      <p:sp>
        <p:nvSpPr>
          <p:cNvPr id="54" name="card-2-1-title"/>
          <p:cNvSpPr txBox="1"/>
          <p:nvPr/>
        </p:nvSpPr>
        <p:spPr>
          <a:xfrm>
            <a:off x="4857750" y="220980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Bulk user import via CSV upload</a:t>
            </a:r>
          </a:p>
        </p:txBody>
      </p:sp>
      <p:sp>
        <p:nvSpPr>
          <p:cNvPr id="55" name="card-2-1-pts"/>
          <p:cNvSpPr txBox="1"/>
          <p:nvPr/>
        </p:nvSpPr>
        <p:spPr>
          <a:xfrm>
            <a:off x="4400550" y="2495550"/>
            <a:ext cx="381000" cy="1333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5 pts</a:t>
            </a:r>
          </a:p>
        </p:txBody>
      </p:sp>
      <p:sp>
        <p:nvSpPr>
          <p:cNvPr id="56" name="card-2-1-avatar"/>
          <p:cNvSpPr txBox="1"/>
          <p:nvPr/>
        </p:nvSpPr>
        <p:spPr>
          <a:xfrm>
            <a:off x="7581900" y="2457450"/>
            <a:ext cx="190500" cy="17145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KL</a:t>
            </a:r>
          </a:p>
        </p:txBody>
      </p:sp>
      <p:sp>
        <p:nvSpPr>
          <p:cNvPr id="57" name="card-2-2-bg"/>
          <p:cNvSpPr/>
          <p:nvPr/>
        </p:nvSpPr>
        <p:spPr>
          <a:xfrm>
            <a:off x="4324350" y="2724150"/>
            <a:ext cx="3524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card-2-2-accent"/>
          <p:cNvSpPr/>
          <p:nvPr/>
        </p:nvSpPr>
        <p:spPr>
          <a:xfrm>
            <a:off x="4324350" y="2724150"/>
            <a:ext cx="28575" cy="4953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card-2-2-id"/>
          <p:cNvSpPr txBox="1"/>
          <p:nvPr/>
        </p:nvSpPr>
        <p:spPr>
          <a:xfrm>
            <a:off x="4400550" y="2762250"/>
            <a:ext cx="419100" cy="1333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US-155</a:t>
            </a:r>
          </a:p>
        </p:txBody>
      </p:sp>
      <p:sp>
        <p:nvSpPr>
          <p:cNvPr id="60" name="card-2-2-title"/>
          <p:cNvSpPr txBox="1"/>
          <p:nvPr/>
        </p:nvSpPr>
        <p:spPr>
          <a:xfrm>
            <a:off x="4857750" y="276225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Audit log viewer — admin panel</a:t>
            </a:r>
          </a:p>
        </p:txBody>
      </p:sp>
      <p:sp>
        <p:nvSpPr>
          <p:cNvPr id="61" name="card-2-2-pts"/>
          <p:cNvSpPr txBox="1"/>
          <p:nvPr/>
        </p:nvSpPr>
        <p:spPr>
          <a:xfrm>
            <a:off x="4400550" y="3048000"/>
            <a:ext cx="381000" cy="1333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3 pts</a:t>
            </a:r>
          </a:p>
        </p:txBody>
      </p:sp>
      <p:sp>
        <p:nvSpPr>
          <p:cNvPr id="62" name="card-2-2-avatar"/>
          <p:cNvSpPr txBox="1"/>
          <p:nvPr/>
        </p:nvSpPr>
        <p:spPr>
          <a:xfrm>
            <a:off x="7581900" y="3009900"/>
            <a:ext cx="190500" cy="17145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AL</a:t>
            </a:r>
          </a:p>
        </p:txBody>
      </p:sp>
      <p:sp>
        <p:nvSpPr>
          <p:cNvPr id="63" name="card-2-3-bg"/>
          <p:cNvSpPr/>
          <p:nvPr/>
        </p:nvSpPr>
        <p:spPr>
          <a:xfrm>
            <a:off x="4324350" y="3276600"/>
            <a:ext cx="3524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card-2-3-accent"/>
          <p:cNvSpPr/>
          <p:nvPr/>
        </p:nvSpPr>
        <p:spPr>
          <a:xfrm>
            <a:off x="4324350" y="3276600"/>
            <a:ext cx="28575" cy="4953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card-2-3-id"/>
          <p:cNvSpPr txBox="1"/>
          <p:nvPr/>
        </p:nvSpPr>
        <p:spPr>
          <a:xfrm>
            <a:off x="4400550" y="3314700"/>
            <a:ext cx="419100" cy="1333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US-157</a:t>
            </a:r>
          </a:p>
        </p:txBody>
      </p:sp>
      <p:sp>
        <p:nvSpPr>
          <p:cNvPr id="66" name="card-2-3-title"/>
          <p:cNvSpPr txBox="1"/>
          <p:nvPr/>
        </p:nvSpPr>
        <p:spPr>
          <a:xfrm>
            <a:off x="4857750" y="331470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Dark mode theme toggle</a:t>
            </a:r>
          </a:p>
        </p:txBody>
      </p:sp>
      <p:sp>
        <p:nvSpPr>
          <p:cNvPr id="67" name="card-2-3-pts"/>
          <p:cNvSpPr txBox="1"/>
          <p:nvPr/>
        </p:nvSpPr>
        <p:spPr>
          <a:xfrm>
            <a:off x="4400550" y="3600450"/>
            <a:ext cx="381000" cy="1333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2 pts</a:t>
            </a:r>
          </a:p>
        </p:txBody>
      </p:sp>
      <p:sp>
        <p:nvSpPr>
          <p:cNvPr id="68" name="card-2-3-avatar"/>
          <p:cNvSpPr txBox="1"/>
          <p:nvPr/>
        </p:nvSpPr>
        <p:spPr>
          <a:xfrm>
            <a:off x="7581900" y="3562350"/>
            <a:ext cx="190500" cy="17145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RP</a:t>
            </a:r>
          </a:p>
        </p:txBody>
      </p:sp>
      <p:sp>
        <p:nvSpPr>
          <p:cNvPr id="69" name="col-3-bg"/>
          <p:cNvSpPr/>
          <p:nvPr/>
        </p:nvSpPr>
        <p:spPr>
          <a:xfrm>
            <a:off x="8039100" y="1790700"/>
            <a:ext cx="3676650" cy="4114800"/>
          </a:xfrm>
          <a:prstGeom prst="rect">
            <a:avLst/>
          </a:prstGeom>
          <a:solidFill>
            <a:srgbClr val="FAFAFA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col-3-header"/>
          <p:cNvSpPr/>
          <p:nvPr/>
        </p:nvSpPr>
        <p:spPr>
          <a:xfrm>
            <a:off x="8039100" y="1790700"/>
            <a:ext cx="3676650" cy="3048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col-3-label"/>
          <p:cNvSpPr txBox="1"/>
          <p:nvPr/>
        </p:nvSpPr>
        <p:spPr>
          <a:xfrm>
            <a:off x="8153400" y="1866900"/>
            <a:ext cx="2724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BLOCKED</a:t>
            </a:r>
          </a:p>
        </p:txBody>
      </p:sp>
      <p:sp>
        <p:nvSpPr>
          <p:cNvPr id="72" name="col-3-count"/>
          <p:cNvSpPr txBox="1"/>
          <p:nvPr/>
        </p:nvSpPr>
        <p:spPr>
          <a:xfrm>
            <a:off x="10477500" y="188595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 STORY · 5 PTS</a:t>
            </a:r>
          </a:p>
        </p:txBody>
      </p:sp>
      <p:sp>
        <p:nvSpPr>
          <p:cNvPr id="73" name="card-3-1-bg"/>
          <p:cNvSpPr/>
          <p:nvPr/>
        </p:nvSpPr>
        <p:spPr>
          <a:xfrm>
            <a:off x="8115300" y="2171700"/>
            <a:ext cx="3524250" cy="495300"/>
          </a:xfrm>
          <a:prstGeom prst="rect">
            <a:avLst/>
          </a:prstGeom>
          <a:solidFill>
            <a:srgbClr val="FEE2E2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card-3-1-accent"/>
          <p:cNvSpPr/>
          <p:nvPr/>
        </p:nvSpPr>
        <p:spPr>
          <a:xfrm>
            <a:off x="8115300" y="2171700"/>
            <a:ext cx="28575" cy="4953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card-3-1-id"/>
          <p:cNvSpPr txBox="1"/>
          <p:nvPr/>
        </p:nvSpPr>
        <p:spPr>
          <a:xfrm>
            <a:off x="8191500" y="2209800"/>
            <a:ext cx="419100" cy="1333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US-189</a:t>
            </a:r>
          </a:p>
        </p:txBody>
      </p:sp>
      <p:sp>
        <p:nvSpPr>
          <p:cNvPr id="76" name="card-3-1-title"/>
          <p:cNvSpPr txBox="1"/>
          <p:nvPr/>
        </p:nvSpPr>
        <p:spPr>
          <a:xfrm>
            <a:off x="8648700" y="220980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Third-party payment API integration</a:t>
            </a:r>
          </a:p>
        </p:txBody>
      </p:sp>
      <p:sp>
        <p:nvSpPr>
          <p:cNvPr id="77" name="card-3-1-pts"/>
          <p:cNvSpPr txBox="1"/>
          <p:nvPr/>
        </p:nvSpPr>
        <p:spPr>
          <a:xfrm>
            <a:off x="8191500" y="2495550"/>
            <a:ext cx="381000" cy="1333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5 pts</a:t>
            </a:r>
          </a:p>
        </p:txBody>
      </p:sp>
      <p:sp>
        <p:nvSpPr>
          <p:cNvPr id="78" name="card-3-1-avatar"/>
          <p:cNvSpPr txBox="1"/>
          <p:nvPr/>
        </p:nvSpPr>
        <p:spPr>
          <a:xfrm>
            <a:off x="11372850" y="2457450"/>
            <a:ext cx="190500" cy="17145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JM</a:t>
            </a:r>
          </a:p>
        </p:txBody>
      </p:sp>
      <p:sp>
        <p:nvSpPr>
          <p:cNvPr id="79" name="blocker-bg"/>
          <p:cNvSpPr/>
          <p:nvPr/>
        </p:nvSpPr>
        <p:spPr>
          <a:xfrm>
            <a:off x="8115300" y="2724150"/>
            <a:ext cx="3524250" cy="533400"/>
          </a:xfrm>
          <a:prstGeom prst="rect">
            <a:avLst/>
          </a:prstGeom>
          <a:solidFill>
            <a:srgbClr val="FEF2F2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blocker-accent"/>
          <p:cNvSpPr/>
          <p:nvPr/>
        </p:nvSpPr>
        <p:spPr>
          <a:xfrm>
            <a:off x="8115300" y="2724150"/>
            <a:ext cx="28575" cy="5334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blocker-label"/>
          <p:cNvSpPr txBox="1"/>
          <p:nvPr/>
        </p:nvSpPr>
        <p:spPr>
          <a:xfrm>
            <a:off x="8191500" y="278130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91B1B"/>
                </a:solidFill>
                <a:latin typeface="Inter"/>
              </a:rPr>
              <a:t>BLOCKER</a:t>
            </a:r>
          </a:p>
        </p:txBody>
      </p:sp>
      <p:sp>
        <p:nvSpPr>
          <p:cNvPr id="82" name="blocker-text"/>
          <p:cNvSpPr txBox="1"/>
          <p:nvPr/>
        </p:nvSpPr>
        <p:spPr>
          <a:xfrm>
            <a:off x="8191500" y="2933700"/>
            <a:ext cx="33718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7F1D1D"/>
                </a:solidFill>
                <a:latin typeface="Inter"/>
              </a:rPr>
              <a:t>API contract not finalized — ETA unknown. Escalated to vendor. Carrying to Sprint 15.</a:t>
            </a:r>
          </a:p>
        </p:txBody>
      </p:sp>
      <p:sp>
        <p:nvSpPr>
          <p:cNvPr id="83" name="convergence-bg"/>
          <p:cNvSpPr/>
          <p:nvPr/>
        </p:nvSpPr>
        <p:spPr>
          <a:xfrm>
            <a:off x="457200" y="6134100"/>
            <a:ext cx="11277600" cy="361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convergence"/>
          <p:cNvSpPr txBox="1"/>
          <p:nvPr/>
        </p:nvSpPr>
        <p:spPr>
          <a:xfrm>
            <a:off x="457200" y="6134100"/>
            <a:ext cx="112776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42/45 pts completed  ·  1 blocker  ·  Carryover: US-189 (5 pts) to Sprint 15</a:t>
            </a:r>
          </a:p>
        </p:txBody>
      </p:sp>
      <p:sp>
        <p:nvSpPr>
          <p:cNvPr id="8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