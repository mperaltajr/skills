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Six capability areas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drive the transformation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101346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Each dimension is independently assessed and sequenced for maximum impact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12395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bucket-1-card"/>
          <p:cNvSpPr/>
          <p:nvPr/>
        </p:nvSpPr>
        <p:spPr>
          <a:xfrm>
            <a:off x="457200" y="1905000"/>
            <a:ext cx="1781175" cy="45148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bucket-1-icon"/>
          <p:cNvSpPr txBox="1"/>
          <p:nvPr/>
        </p:nvSpPr>
        <p:spPr>
          <a:xfrm>
            <a:off x="1133475" y="2114550"/>
            <a:ext cx="419100" cy="419100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0" rIns="0" anchor="ctr">
            <a:spAutoFit/>
          </a:bodyPr>
          <a:lstStyle/>
          <a:p>
            <a:pPr algn="ctr">
              <a:defRPr/>
            </a:pPr>
            <a:r>
              <a:rPr sz="2775">
                <a:solidFill>
                  <a:srgbClr val="A100FF"/>
                </a:solidFill>
                <a:latin typeface="Segoe UI Symbol"/>
              </a:rPr>
              <a:t>★</a:t>
            </a:r>
          </a:p>
        </p:txBody>
      </p:sp>
      <p:sp>
        <p:nvSpPr>
          <p:cNvPr id="7" name="bucket-1-num"/>
          <p:cNvSpPr txBox="1"/>
          <p:nvPr/>
        </p:nvSpPr>
        <p:spPr>
          <a:xfrm>
            <a:off x="457200" y="2667000"/>
            <a:ext cx="17811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01</a:t>
            </a:r>
          </a:p>
        </p:txBody>
      </p:sp>
      <p:sp>
        <p:nvSpPr>
          <p:cNvPr id="8" name="bucket-1-title"/>
          <p:cNvSpPr txBox="1"/>
          <p:nvPr/>
        </p:nvSpPr>
        <p:spPr>
          <a:xfrm>
            <a:off x="552450" y="2895600"/>
            <a:ext cx="159067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Strategy &amp; Vision</a:t>
            </a:r>
          </a:p>
        </p:txBody>
      </p:sp>
      <p:sp>
        <p:nvSpPr>
          <p:cNvPr id="9" name="bucket-1-rule"/>
          <p:cNvSpPr/>
          <p:nvPr/>
        </p:nvSpPr>
        <p:spPr>
          <a:xfrm>
            <a:off x="1171575" y="3390900"/>
            <a:ext cx="3429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bucket-1-bullet-1"/>
          <p:cNvSpPr txBox="1"/>
          <p:nvPr/>
        </p:nvSpPr>
        <p:spPr>
          <a:xfrm>
            <a:off x="552450" y="3600450"/>
            <a:ext cx="159067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North-star alignment</a:t>
            </a:r>
          </a:p>
        </p:txBody>
      </p:sp>
      <p:sp>
        <p:nvSpPr>
          <p:cNvPr id="11" name="bucket-1-bullet-2"/>
          <p:cNvSpPr txBox="1"/>
          <p:nvPr/>
        </p:nvSpPr>
        <p:spPr>
          <a:xfrm>
            <a:off x="552450" y="3962400"/>
            <a:ext cx="159067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Roadmap sequencing</a:t>
            </a:r>
          </a:p>
        </p:txBody>
      </p:sp>
      <p:sp>
        <p:nvSpPr>
          <p:cNvPr id="12" name="bucket-2-card"/>
          <p:cNvSpPr/>
          <p:nvPr/>
        </p:nvSpPr>
        <p:spPr>
          <a:xfrm>
            <a:off x="2352675" y="1905000"/>
            <a:ext cx="1781175" cy="45148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bucket-2-icon"/>
          <p:cNvSpPr txBox="1"/>
          <p:nvPr/>
        </p:nvSpPr>
        <p:spPr>
          <a:xfrm>
            <a:off x="3028950" y="2114550"/>
            <a:ext cx="419100" cy="419100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0" rIns="0" anchor="ctr">
            <a:spAutoFit/>
          </a:bodyPr>
          <a:lstStyle/>
          <a:p>
            <a:pPr algn="ctr">
              <a:defRPr/>
            </a:pPr>
            <a:r>
              <a:rPr sz="2775">
                <a:solidFill>
                  <a:srgbClr val="A100FF"/>
                </a:solidFill>
                <a:latin typeface="Segoe UI Symbol"/>
              </a:rPr>
              <a:t>◆</a:t>
            </a:r>
          </a:p>
        </p:txBody>
      </p:sp>
      <p:sp>
        <p:nvSpPr>
          <p:cNvPr id="14" name="bucket-2-num"/>
          <p:cNvSpPr txBox="1"/>
          <p:nvPr/>
        </p:nvSpPr>
        <p:spPr>
          <a:xfrm>
            <a:off x="2352675" y="2667000"/>
            <a:ext cx="17811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02</a:t>
            </a:r>
          </a:p>
        </p:txBody>
      </p:sp>
      <p:sp>
        <p:nvSpPr>
          <p:cNvPr id="15" name="bucket-2-title"/>
          <p:cNvSpPr txBox="1"/>
          <p:nvPr/>
        </p:nvSpPr>
        <p:spPr>
          <a:xfrm>
            <a:off x="2447925" y="2895600"/>
            <a:ext cx="159067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Talent &amp; Skills</a:t>
            </a:r>
          </a:p>
        </p:txBody>
      </p:sp>
      <p:sp>
        <p:nvSpPr>
          <p:cNvPr id="16" name="bucket-2-rule"/>
          <p:cNvSpPr/>
          <p:nvPr/>
        </p:nvSpPr>
        <p:spPr>
          <a:xfrm>
            <a:off x="3067050" y="3390900"/>
            <a:ext cx="3429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bucket-2-bullet-1"/>
          <p:cNvSpPr txBox="1"/>
          <p:nvPr/>
        </p:nvSpPr>
        <p:spPr>
          <a:xfrm>
            <a:off x="2447925" y="3600450"/>
            <a:ext cx="159067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Workforce upskilling</a:t>
            </a:r>
          </a:p>
        </p:txBody>
      </p:sp>
      <p:sp>
        <p:nvSpPr>
          <p:cNvPr id="18" name="bucket-2-bullet-2"/>
          <p:cNvSpPr txBox="1"/>
          <p:nvPr/>
        </p:nvSpPr>
        <p:spPr>
          <a:xfrm>
            <a:off x="2447925" y="3962400"/>
            <a:ext cx="159067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Role re-architecture</a:t>
            </a:r>
          </a:p>
        </p:txBody>
      </p:sp>
      <p:sp>
        <p:nvSpPr>
          <p:cNvPr id="19" name="bucket-3-card"/>
          <p:cNvSpPr/>
          <p:nvPr/>
        </p:nvSpPr>
        <p:spPr>
          <a:xfrm>
            <a:off x="4248150" y="1905000"/>
            <a:ext cx="1781175" cy="45148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bucket-3-icon"/>
          <p:cNvSpPr txBox="1"/>
          <p:nvPr/>
        </p:nvSpPr>
        <p:spPr>
          <a:xfrm>
            <a:off x="4924425" y="2114550"/>
            <a:ext cx="419100" cy="419100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0" rIns="0" anchor="ctr">
            <a:spAutoFit/>
          </a:bodyPr>
          <a:lstStyle/>
          <a:p>
            <a:pPr algn="ctr">
              <a:defRPr/>
            </a:pPr>
            <a:r>
              <a:rPr sz="2775">
                <a:solidFill>
                  <a:srgbClr val="A100FF"/>
                </a:solidFill>
                <a:latin typeface="Segoe UI Symbol"/>
              </a:rPr>
              <a:t>▲</a:t>
            </a:r>
          </a:p>
        </p:txBody>
      </p:sp>
      <p:sp>
        <p:nvSpPr>
          <p:cNvPr id="21" name="bucket-3-num"/>
          <p:cNvSpPr txBox="1"/>
          <p:nvPr/>
        </p:nvSpPr>
        <p:spPr>
          <a:xfrm>
            <a:off x="4248150" y="2667000"/>
            <a:ext cx="17811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03</a:t>
            </a:r>
          </a:p>
        </p:txBody>
      </p:sp>
      <p:sp>
        <p:nvSpPr>
          <p:cNvPr id="22" name="bucket-3-title"/>
          <p:cNvSpPr txBox="1"/>
          <p:nvPr/>
        </p:nvSpPr>
        <p:spPr>
          <a:xfrm>
            <a:off x="4343400" y="2895600"/>
            <a:ext cx="159067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Risk &amp; Control</a:t>
            </a:r>
          </a:p>
        </p:txBody>
      </p:sp>
      <p:sp>
        <p:nvSpPr>
          <p:cNvPr id="23" name="bucket-3-rule"/>
          <p:cNvSpPr/>
          <p:nvPr/>
        </p:nvSpPr>
        <p:spPr>
          <a:xfrm>
            <a:off x="4962525" y="3390900"/>
            <a:ext cx="3429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bucket-3-bullet-1"/>
          <p:cNvSpPr txBox="1"/>
          <p:nvPr/>
        </p:nvSpPr>
        <p:spPr>
          <a:xfrm>
            <a:off x="4343400" y="3600450"/>
            <a:ext cx="159067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Compliance posture</a:t>
            </a:r>
          </a:p>
        </p:txBody>
      </p:sp>
      <p:sp>
        <p:nvSpPr>
          <p:cNvPr id="25" name="bucket-3-bullet-2"/>
          <p:cNvSpPr txBox="1"/>
          <p:nvPr/>
        </p:nvSpPr>
        <p:spPr>
          <a:xfrm>
            <a:off x="4343400" y="3962400"/>
            <a:ext cx="159067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Residual risk scoring</a:t>
            </a:r>
          </a:p>
        </p:txBody>
      </p:sp>
      <p:sp>
        <p:nvSpPr>
          <p:cNvPr id="26" name="bucket-4-card"/>
          <p:cNvSpPr/>
          <p:nvPr/>
        </p:nvSpPr>
        <p:spPr>
          <a:xfrm>
            <a:off x="6143625" y="1905000"/>
            <a:ext cx="1781175" cy="45148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bucket-4-icon"/>
          <p:cNvSpPr txBox="1"/>
          <p:nvPr/>
        </p:nvSpPr>
        <p:spPr>
          <a:xfrm>
            <a:off x="6819900" y="2114550"/>
            <a:ext cx="419100" cy="419100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0" rIns="0" anchor="ctr">
            <a:spAutoFit/>
          </a:bodyPr>
          <a:lstStyle/>
          <a:p>
            <a:pPr algn="ctr">
              <a:defRPr/>
            </a:pPr>
            <a:r>
              <a:rPr sz="2775">
                <a:solidFill>
                  <a:srgbClr val="A100FF"/>
                </a:solidFill>
                <a:latin typeface="Segoe UI Symbol"/>
              </a:rPr>
              <a:t>→</a:t>
            </a:r>
          </a:p>
        </p:txBody>
      </p:sp>
      <p:sp>
        <p:nvSpPr>
          <p:cNvPr id="28" name="bucket-4-num"/>
          <p:cNvSpPr txBox="1"/>
          <p:nvPr/>
        </p:nvSpPr>
        <p:spPr>
          <a:xfrm>
            <a:off x="6143625" y="2667000"/>
            <a:ext cx="17811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04</a:t>
            </a:r>
          </a:p>
        </p:txBody>
      </p:sp>
      <p:sp>
        <p:nvSpPr>
          <p:cNvPr id="29" name="bucket-4-title"/>
          <p:cNvSpPr txBox="1"/>
          <p:nvPr/>
        </p:nvSpPr>
        <p:spPr>
          <a:xfrm>
            <a:off x="6238875" y="2895600"/>
            <a:ext cx="159067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Speed &amp; Agility</a:t>
            </a:r>
          </a:p>
        </p:txBody>
      </p:sp>
      <p:sp>
        <p:nvSpPr>
          <p:cNvPr id="30" name="bucket-4-rule"/>
          <p:cNvSpPr/>
          <p:nvPr/>
        </p:nvSpPr>
        <p:spPr>
          <a:xfrm>
            <a:off x="6858000" y="3390900"/>
            <a:ext cx="3429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bucket-4-bullet-1"/>
          <p:cNvSpPr txBox="1"/>
          <p:nvPr/>
        </p:nvSpPr>
        <p:spPr>
          <a:xfrm>
            <a:off x="6238875" y="3600450"/>
            <a:ext cx="159067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Delivery velocity</a:t>
            </a:r>
          </a:p>
        </p:txBody>
      </p:sp>
      <p:sp>
        <p:nvSpPr>
          <p:cNvPr id="32" name="bucket-4-bullet-2"/>
          <p:cNvSpPr txBox="1"/>
          <p:nvPr/>
        </p:nvSpPr>
        <p:spPr>
          <a:xfrm>
            <a:off x="6238875" y="3962400"/>
            <a:ext cx="159067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Cycle-time reduction</a:t>
            </a:r>
          </a:p>
        </p:txBody>
      </p:sp>
      <p:sp>
        <p:nvSpPr>
          <p:cNvPr id="33" name="bucket-5-card"/>
          <p:cNvSpPr/>
          <p:nvPr/>
        </p:nvSpPr>
        <p:spPr>
          <a:xfrm>
            <a:off x="8039100" y="1905000"/>
            <a:ext cx="1781175" cy="45148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bucket-5-icon"/>
          <p:cNvSpPr txBox="1"/>
          <p:nvPr/>
        </p:nvSpPr>
        <p:spPr>
          <a:xfrm>
            <a:off x="8715375" y="2114550"/>
            <a:ext cx="419100" cy="419100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0" rIns="0" anchor="ctr">
            <a:spAutoFit/>
          </a:bodyPr>
          <a:lstStyle/>
          <a:p>
            <a:pPr algn="ctr">
              <a:defRPr/>
            </a:pPr>
            <a:r>
              <a:rPr sz="2775">
                <a:solidFill>
                  <a:srgbClr val="A100FF"/>
                </a:solidFill>
                <a:latin typeface="Segoe UI Symbol"/>
              </a:rPr>
              <a:t>⊞</a:t>
            </a:r>
          </a:p>
        </p:txBody>
      </p:sp>
      <p:sp>
        <p:nvSpPr>
          <p:cNvPr id="35" name="bucket-5-num"/>
          <p:cNvSpPr txBox="1"/>
          <p:nvPr/>
        </p:nvSpPr>
        <p:spPr>
          <a:xfrm>
            <a:off x="8039100" y="2667000"/>
            <a:ext cx="17811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05</a:t>
            </a:r>
          </a:p>
        </p:txBody>
      </p:sp>
      <p:sp>
        <p:nvSpPr>
          <p:cNvPr id="36" name="bucket-5-title"/>
          <p:cNvSpPr txBox="1"/>
          <p:nvPr/>
        </p:nvSpPr>
        <p:spPr>
          <a:xfrm>
            <a:off x="8134350" y="2895600"/>
            <a:ext cx="159067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Operations</a:t>
            </a:r>
          </a:p>
        </p:txBody>
      </p:sp>
      <p:sp>
        <p:nvSpPr>
          <p:cNvPr id="37" name="bucket-5-rule"/>
          <p:cNvSpPr/>
          <p:nvPr/>
        </p:nvSpPr>
        <p:spPr>
          <a:xfrm>
            <a:off x="8753475" y="3390900"/>
            <a:ext cx="3429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bucket-5-bullet-1"/>
          <p:cNvSpPr txBox="1"/>
          <p:nvPr/>
        </p:nvSpPr>
        <p:spPr>
          <a:xfrm>
            <a:off x="8134350" y="3600450"/>
            <a:ext cx="159067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Process automation</a:t>
            </a:r>
          </a:p>
        </p:txBody>
      </p:sp>
      <p:sp>
        <p:nvSpPr>
          <p:cNvPr id="39" name="bucket-5-bullet-2"/>
          <p:cNvSpPr txBox="1"/>
          <p:nvPr/>
        </p:nvSpPr>
        <p:spPr>
          <a:xfrm>
            <a:off x="8134350" y="3962400"/>
            <a:ext cx="159067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Cost optimisation</a:t>
            </a:r>
          </a:p>
        </p:txBody>
      </p:sp>
      <p:sp>
        <p:nvSpPr>
          <p:cNvPr id="40" name="bucket-6-card"/>
          <p:cNvSpPr/>
          <p:nvPr/>
        </p:nvSpPr>
        <p:spPr>
          <a:xfrm>
            <a:off x="9934575" y="1905000"/>
            <a:ext cx="1781175" cy="45148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bucket-6-icon"/>
          <p:cNvSpPr txBox="1"/>
          <p:nvPr/>
        </p:nvSpPr>
        <p:spPr>
          <a:xfrm>
            <a:off x="10610850" y="2114550"/>
            <a:ext cx="419100" cy="419100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0" rIns="0" anchor="ctr">
            <a:spAutoFit/>
          </a:bodyPr>
          <a:lstStyle/>
          <a:p>
            <a:pPr algn="ctr">
              <a:defRPr/>
            </a:pPr>
            <a:r>
              <a:rPr sz="2775">
                <a:solidFill>
                  <a:srgbClr val="A100FF"/>
                </a:solidFill>
                <a:latin typeface="Segoe UI Symbol"/>
              </a:rPr>
              <a:t>✦</a:t>
            </a:r>
          </a:p>
        </p:txBody>
      </p:sp>
      <p:sp>
        <p:nvSpPr>
          <p:cNvPr id="42" name="bucket-6-num"/>
          <p:cNvSpPr txBox="1"/>
          <p:nvPr/>
        </p:nvSpPr>
        <p:spPr>
          <a:xfrm>
            <a:off x="9934575" y="2667000"/>
            <a:ext cx="17811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06</a:t>
            </a:r>
          </a:p>
        </p:txBody>
      </p:sp>
      <p:sp>
        <p:nvSpPr>
          <p:cNvPr id="43" name="bucket-6-title"/>
          <p:cNvSpPr txBox="1"/>
          <p:nvPr/>
        </p:nvSpPr>
        <p:spPr>
          <a:xfrm>
            <a:off x="10029825" y="2895600"/>
            <a:ext cx="159067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Value &amp; Impact</a:t>
            </a:r>
          </a:p>
        </p:txBody>
      </p:sp>
      <p:sp>
        <p:nvSpPr>
          <p:cNvPr id="44" name="bucket-6-rule"/>
          <p:cNvSpPr/>
          <p:nvPr/>
        </p:nvSpPr>
        <p:spPr>
          <a:xfrm>
            <a:off x="10648950" y="3390900"/>
            <a:ext cx="3429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bucket-6-bullet-1"/>
          <p:cNvSpPr txBox="1"/>
          <p:nvPr/>
        </p:nvSpPr>
        <p:spPr>
          <a:xfrm>
            <a:off x="10029825" y="3600450"/>
            <a:ext cx="159067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Benefit realisation</a:t>
            </a:r>
          </a:p>
        </p:txBody>
      </p:sp>
      <p:sp>
        <p:nvSpPr>
          <p:cNvPr id="46" name="bucket-6-bullet-2"/>
          <p:cNvSpPr txBox="1"/>
          <p:nvPr/>
        </p:nvSpPr>
        <p:spPr>
          <a:xfrm>
            <a:off x="10029825" y="3962400"/>
            <a:ext cx="159067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KPI governance</a:t>
            </a:r>
          </a:p>
        </p:txBody>
      </p:sp>
      <p:sp>
        <p:nvSpPr>
          <p:cNvPr id="47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4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4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330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