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524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ACTION REGISTER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Action register — eight items from kickoff, three by Friday.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12395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Ordered by due date. Owners named, status colour-coded. Anything still OPEN on Thursday end-of-day escalates to the weekly review.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619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"/>
          <p:cNvSpPr/>
          <p:nvPr/>
        </p:nvSpPr>
        <p:spPr>
          <a:xfrm>
            <a:off x="8382000" y="1619250"/>
            <a:ext cx="3352800" cy="3429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8496300" y="17335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STATUS KEY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9334500" y="1752600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label"/>
          <p:cNvSpPr txBox="1"/>
          <p:nvPr/>
        </p:nvSpPr>
        <p:spPr>
          <a:xfrm>
            <a:off x="9467850" y="1733550"/>
            <a:ext cx="819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OPEN</a:t>
            </a:r>
          </a:p>
        </p:txBody>
      </p:sp>
      <p:sp>
        <p:nvSpPr>
          <p:cNvPr id="10" name="legend-2-swatch"/>
          <p:cNvSpPr/>
          <p:nvPr/>
        </p:nvSpPr>
        <p:spPr>
          <a:xfrm>
            <a:off x="10191750" y="175260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2-label"/>
          <p:cNvSpPr txBox="1"/>
          <p:nvPr/>
        </p:nvSpPr>
        <p:spPr>
          <a:xfrm>
            <a:off x="10325100" y="1733550"/>
            <a:ext cx="819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 PROGRESS</a:t>
            </a:r>
          </a:p>
        </p:txBody>
      </p:sp>
      <p:sp>
        <p:nvSpPr>
          <p:cNvPr id="12" name="legend-3-swatch"/>
          <p:cNvSpPr/>
          <p:nvPr/>
        </p:nvSpPr>
        <p:spPr>
          <a:xfrm>
            <a:off x="11049000" y="1752600"/>
            <a:ext cx="85725" cy="857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3-label"/>
          <p:cNvSpPr txBox="1"/>
          <p:nvPr/>
        </p:nvSpPr>
        <p:spPr>
          <a:xfrm>
            <a:off x="11182350" y="1733550"/>
            <a:ext cx="819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DONE</a:t>
            </a:r>
          </a:p>
        </p:txBody>
      </p:sp>
      <p:sp>
        <p:nvSpPr>
          <p:cNvPr id="14" name="table-head-bg"/>
          <p:cNvSpPr/>
          <p:nvPr/>
        </p:nvSpPr>
        <p:spPr>
          <a:xfrm>
            <a:off x="457200" y="2133600"/>
            <a:ext cx="112776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col-1-header"/>
          <p:cNvSpPr txBox="1"/>
          <p:nvPr/>
        </p:nvSpPr>
        <p:spPr>
          <a:xfrm>
            <a:off x="533400" y="2200275"/>
            <a:ext cx="5238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6" name="table-col-2-header"/>
          <p:cNvSpPr txBox="1"/>
          <p:nvPr/>
        </p:nvSpPr>
        <p:spPr>
          <a:xfrm>
            <a:off x="1209675" y="2200275"/>
            <a:ext cx="5486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17" name="table-col-3-header"/>
          <p:cNvSpPr txBox="1"/>
          <p:nvPr/>
        </p:nvSpPr>
        <p:spPr>
          <a:xfrm>
            <a:off x="6848475" y="2200275"/>
            <a:ext cx="1647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8648700" y="2200275"/>
            <a:ext cx="1200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DUE</a:t>
            </a:r>
          </a:p>
        </p:txBody>
      </p:sp>
      <p:sp>
        <p:nvSpPr>
          <p:cNvPr id="19" name="table-col-5-header"/>
          <p:cNvSpPr txBox="1"/>
          <p:nvPr/>
        </p:nvSpPr>
        <p:spPr>
          <a:xfrm>
            <a:off x="10001250" y="2200275"/>
            <a:ext cx="1657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table-row-1-divider"/>
          <p:cNvSpPr/>
          <p:nvPr/>
        </p:nvSpPr>
        <p:spPr>
          <a:xfrm>
            <a:off x="457200" y="24003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ble-row-1-num-bg"/>
          <p:cNvSpPr/>
          <p:nvPr/>
        </p:nvSpPr>
        <p:spPr>
          <a:xfrm>
            <a:off x="457200" y="240030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1-num"/>
          <p:cNvSpPr txBox="1"/>
          <p:nvPr/>
        </p:nvSpPr>
        <p:spPr>
          <a:xfrm>
            <a:off x="457200" y="250507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23" name="table-row-1-cell-2"/>
          <p:cNvSpPr txBox="1"/>
          <p:nvPr/>
        </p:nvSpPr>
        <p:spPr>
          <a:xfrm>
            <a:off x="1247775" y="250507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Send pre-read deck on Slide Lab method</a:t>
            </a:r>
          </a:p>
        </p:txBody>
      </p:sp>
      <p:sp>
        <p:nvSpPr>
          <p:cNvPr id="24" name="table-row-1-cell-3"/>
          <p:cNvSpPr txBox="1"/>
          <p:nvPr/>
        </p:nvSpPr>
        <p:spPr>
          <a:xfrm>
            <a:off x="6886575" y="250507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Mario</a:t>
            </a:r>
          </a:p>
        </p:txBody>
      </p:sp>
      <p:sp>
        <p:nvSpPr>
          <p:cNvPr id="25" name="table-row-1-cell-4"/>
          <p:cNvSpPr txBox="1"/>
          <p:nvPr/>
        </p:nvSpPr>
        <p:spPr>
          <a:xfrm>
            <a:off x="8686800" y="250507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Mon</a:t>
            </a:r>
          </a:p>
        </p:txBody>
      </p:sp>
      <p:sp>
        <p:nvSpPr>
          <p:cNvPr id="26" name="table-row-1-status-pill"/>
          <p:cNvSpPr txBox="1"/>
          <p:nvPr/>
        </p:nvSpPr>
        <p:spPr>
          <a:xfrm>
            <a:off x="10001250" y="2495550"/>
            <a:ext cx="165735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8449"/>
                </a:solidFill>
                <a:latin typeface="Inter"/>
              </a:rPr>
              <a:t>DONE</a:t>
            </a:r>
          </a:p>
        </p:txBody>
      </p:sp>
      <p:sp>
        <p:nvSpPr>
          <p:cNvPr id="27" name="table-row-1-status-dot"/>
          <p:cNvSpPr/>
          <p:nvPr/>
        </p:nvSpPr>
        <p:spPr>
          <a:xfrm>
            <a:off x="10077450" y="2543175"/>
            <a:ext cx="66675" cy="666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2-bg"/>
          <p:cNvSpPr/>
          <p:nvPr/>
        </p:nvSpPr>
        <p:spPr>
          <a:xfrm>
            <a:off x="457200" y="2762250"/>
            <a:ext cx="11277600" cy="3619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2-divider"/>
          <p:cNvSpPr/>
          <p:nvPr/>
        </p:nvSpPr>
        <p:spPr>
          <a:xfrm>
            <a:off x="457200" y="2762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able-row-2-num-bg"/>
          <p:cNvSpPr/>
          <p:nvPr/>
        </p:nvSpPr>
        <p:spPr>
          <a:xfrm>
            <a:off x="457200" y="276225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2-num"/>
          <p:cNvSpPr txBox="1"/>
          <p:nvPr/>
        </p:nvSpPr>
        <p:spPr>
          <a:xfrm>
            <a:off x="457200" y="286702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32" name="table-row-2-cell-2"/>
          <p:cNvSpPr txBox="1"/>
          <p:nvPr/>
        </p:nvSpPr>
        <p:spPr>
          <a:xfrm>
            <a:off x="1247775" y="286702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Schedule kickoff workshop</a:t>
            </a:r>
          </a:p>
        </p:txBody>
      </p:sp>
      <p:sp>
        <p:nvSpPr>
          <p:cNvPr id="33" name="table-row-2-cell-3"/>
          <p:cNvSpPr txBox="1"/>
          <p:nvPr/>
        </p:nvSpPr>
        <p:spPr>
          <a:xfrm>
            <a:off x="6886575" y="286702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PMO</a:t>
            </a:r>
          </a:p>
        </p:txBody>
      </p:sp>
      <p:sp>
        <p:nvSpPr>
          <p:cNvPr id="34" name="table-row-2-cell-4"/>
          <p:cNvSpPr txBox="1"/>
          <p:nvPr/>
        </p:nvSpPr>
        <p:spPr>
          <a:xfrm>
            <a:off x="8686800" y="286702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Mon</a:t>
            </a:r>
          </a:p>
        </p:txBody>
      </p:sp>
      <p:sp>
        <p:nvSpPr>
          <p:cNvPr id="35" name="table-row-2-status-pill"/>
          <p:cNvSpPr txBox="1"/>
          <p:nvPr/>
        </p:nvSpPr>
        <p:spPr>
          <a:xfrm>
            <a:off x="10001250" y="2857500"/>
            <a:ext cx="165735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8449"/>
                </a:solidFill>
                <a:latin typeface="Inter"/>
              </a:rPr>
              <a:t>DONE</a:t>
            </a:r>
          </a:p>
        </p:txBody>
      </p:sp>
      <p:sp>
        <p:nvSpPr>
          <p:cNvPr id="36" name="table-row-2-status-dot"/>
          <p:cNvSpPr/>
          <p:nvPr/>
        </p:nvSpPr>
        <p:spPr>
          <a:xfrm>
            <a:off x="10077450" y="2905125"/>
            <a:ext cx="66675" cy="666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3-divider"/>
          <p:cNvSpPr/>
          <p:nvPr/>
        </p:nvSpPr>
        <p:spPr>
          <a:xfrm>
            <a:off x="457200" y="31242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3-num-bg"/>
          <p:cNvSpPr/>
          <p:nvPr/>
        </p:nvSpPr>
        <p:spPr>
          <a:xfrm>
            <a:off x="457200" y="312420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3-num"/>
          <p:cNvSpPr txBox="1"/>
          <p:nvPr/>
        </p:nvSpPr>
        <p:spPr>
          <a:xfrm>
            <a:off x="457200" y="322897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07</a:t>
            </a:r>
          </a:p>
        </p:txBody>
      </p:sp>
      <p:sp>
        <p:nvSpPr>
          <p:cNvPr id="40" name="table-row-3-cell-2"/>
          <p:cNvSpPr txBox="1"/>
          <p:nvPr/>
        </p:nvSpPr>
        <p:spPr>
          <a:xfrm>
            <a:off x="1247775" y="322897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Print QC checklist for pilot users</a:t>
            </a:r>
          </a:p>
        </p:txBody>
      </p:sp>
      <p:sp>
        <p:nvSpPr>
          <p:cNvPr id="41" name="table-row-3-cell-3"/>
          <p:cNvSpPr txBox="1"/>
          <p:nvPr/>
        </p:nvSpPr>
        <p:spPr>
          <a:xfrm>
            <a:off x="6886575" y="322897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Coach</a:t>
            </a:r>
          </a:p>
        </p:txBody>
      </p:sp>
      <p:sp>
        <p:nvSpPr>
          <p:cNvPr id="42" name="table-row-3-cell-4"/>
          <p:cNvSpPr txBox="1"/>
          <p:nvPr/>
        </p:nvSpPr>
        <p:spPr>
          <a:xfrm>
            <a:off x="8686800" y="322897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Mon</a:t>
            </a:r>
          </a:p>
        </p:txBody>
      </p:sp>
      <p:sp>
        <p:nvSpPr>
          <p:cNvPr id="43" name="table-row-3-status-pill"/>
          <p:cNvSpPr txBox="1"/>
          <p:nvPr/>
        </p:nvSpPr>
        <p:spPr>
          <a:xfrm>
            <a:off x="10001250" y="3219450"/>
            <a:ext cx="165735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8449"/>
                </a:solidFill>
                <a:latin typeface="Inter"/>
              </a:rPr>
              <a:t>DONE</a:t>
            </a:r>
          </a:p>
        </p:txBody>
      </p:sp>
      <p:sp>
        <p:nvSpPr>
          <p:cNvPr id="44" name="table-row-3-status-dot"/>
          <p:cNvSpPr/>
          <p:nvPr/>
        </p:nvSpPr>
        <p:spPr>
          <a:xfrm>
            <a:off x="10077450" y="3267075"/>
            <a:ext cx="66675" cy="666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able-row-4-bg"/>
          <p:cNvSpPr/>
          <p:nvPr/>
        </p:nvSpPr>
        <p:spPr>
          <a:xfrm>
            <a:off x="457200" y="3486150"/>
            <a:ext cx="11277600" cy="3619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4-divider"/>
          <p:cNvSpPr/>
          <p:nvPr/>
        </p:nvSpPr>
        <p:spPr>
          <a:xfrm>
            <a:off x="457200" y="34861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ble-row-4-num-bg"/>
          <p:cNvSpPr/>
          <p:nvPr/>
        </p:nvSpPr>
        <p:spPr>
          <a:xfrm>
            <a:off x="457200" y="348615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4-num"/>
          <p:cNvSpPr txBox="1"/>
          <p:nvPr/>
        </p:nvSpPr>
        <p:spPr>
          <a:xfrm>
            <a:off x="457200" y="359092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49" name="table-row-4-cell-2"/>
          <p:cNvSpPr txBox="1"/>
          <p:nvPr/>
        </p:nvSpPr>
        <p:spPr>
          <a:xfrm>
            <a:off x="1247775" y="359092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Provision Claude Code access for 4 pilot users</a:t>
            </a:r>
          </a:p>
        </p:txBody>
      </p:sp>
      <p:sp>
        <p:nvSpPr>
          <p:cNvPr id="50" name="table-row-4-cell-3"/>
          <p:cNvSpPr txBox="1"/>
          <p:nvPr/>
        </p:nvSpPr>
        <p:spPr>
          <a:xfrm>
            <a:off x="6886575" y="359092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IT lead</a:t>
            </a:r>
          </a:p>
        </p:txBody>
      </p:sp>
      <p:sp>
        <p:nvSpPr>
          <p:cNvPr id="51" name="table-row-4-cell-4"/>
          <p:cNvSpPr txBox="1"/>
          <p:nvPr/>
        </p:nvSpPr>
        <p:spPr>
          <a:xfrm>
            <a:off x="8686800" y="359092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Tue</a:t>
            </a:r>
          </a:p>
        </p:txBody>
      </p:sp>
      <p:sp>
        <p:nvSpPr>
          <p:cNvPr id="52" name="table-row-4-status-pill"/>
          <p:cNvSpPr txBox="1"/>
          <p:nvPr/>
        </p:nvSpPr>
        <p:spPr>
          <a:xfrm>
            <a:off x="10001250" y="3581400"/>
            <a:ext cx="165735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OPEN</a:t>
            </a:r>
          </a:p>
        </p:txBody>
      </p:sp>
      <p:sp>
        <p:nvSpPr>
          <p:cNvPr id="53" name="table-row-4-status-dot"/>
          <p:cNvSpPr/>
          <p:nvPr/>
        </p:nvSpPr>
        <p:spPr>
          <a:xfrm>
            <a:off x="10077450" y="3629025"/>
            <a:ext cx="66675" cy="666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5-divider"/>
          <p:cNvSpPr/>
          <p:nvPr/>
        </p:nvSpPr>
        <p:spPr>
          <a:xfrm>
            <a:off x="457200" y="38481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5-num-bg"/>
          <p:cNvSpPr/>
          <p:nvPr/>
        </p:nvSpPr>
        <p:spPr>
          <a:xfrm>
            <a:off x="457200" y="384810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5-num"/>
          <p:cNvSpPr txBox="1"/>
          <p:nvPr/>
        </p:nvSpPr>
        <p:spPr>
          <a:xfrm>
            <a:off x="457200" y="395287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05</a:t>
            </a:r>
          </a:p>
        </p:txBody>
      </p:sp>
      <p:sp>
        <p:nvSpPr>
          <p:cNvPr id="57" name="table-row-5-cell-2"/>
          <p:cNvSpPr txBox="1"/>
          <p:nvPr/>
        </p:nvSpPr>
        <p:spPr>
          <a:xfrm>
            <a:off x="1247775" y="395287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Set up weekly review slot</a:t>
            </a:r>
          </a:p>
        </p:txBody>
      </p:sp>
      <p:sp>
        <p:nvSpPr>
          <p:cNvPr id="58" name="table-row-5-cell-3"/>
          <p:cNvSpPr txBox="1"/>
          <p:nvPr/>
        </p:nvSpPr>
        <p:spPr>
          <a:xfrm>
            <a:off x="6886575" y="395287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Mario</a:t>
            </a:r>
          </a:p>
        </p:txBody>
      </p:sp>
      <p:sp>
        <p:nvSpPr>
          <p:cNvPr id="59" name="table-row-5-cell-4"/>
          <p:cNvSpPr txBox="1"/>
          <p:nvPr/>
        </p:nvSpPr>
        <p:spPr>
          <a:xfrm>
            <a:off x="8686800" y="395287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Wed</a:t>
            </a:r>
          </a:p>
        </p:txBody>
      </p:sp>
      <p:sp>
        <p:nvSpPr>
          <p:cNvPr id="60" name="table-row-5-status-pill"/>
          <p:cNvSpPr txBox="1"/>
          <p:nvPr/>
        </p:nvSpPr>
        <p:spPr>
          <a:xfrm>
            <a:off x="10001250" y="3943350"/>
            <a:ext cx="165735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OPEN</a:t>
            </a:r>
          </a:p>
        </p:txBody>
      </p:sp>
      <p:sp>
        <p:nvSpPr>
          <p:cNvPr id="61" name="table-row-5-status-dot"/>
          <p:cNvSpPr/>
          <p:nvPr/>
        </p:nvSpPr>
        <p:spPr>
          <a:xfrm>
            <a:off x="10077450" y="3990975"/>
            <a:ext cx="66675" cy="666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6-bg"/>
          <p:cNvSpPr/>
          <p:nvPr/>
        </p:nvSpPr>
        <p:spPr>
          <a:xfrm>
            <a:off x="457200" y="4210050"/>
            <a:ext cx="11277600" cy="3619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6-divider"/>
          <p:cNvSpPr/>
          <p:nvPr/>
        </p:nvSpPr>
        <p:spPr>
          <a:xfrm>
            <a:off x="457200" y="42100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6-num-bg"/>
          <p:cNvSpPr/>
          <p:nvPr/>
        </p:nvSpPr>
        <p:spPr>
          <a:xfrm>
            <a:off x="457200" y="421005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6-num"/>
          <p:cNvSpPr txBox="1"/>
          <p:nvPr/>
        </p:nvSpPr>
        <p:spPr>
          <a:xfrm>
            <a:off x="457200" y="431482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66" name="table-row-6-cell-2"/>
          <p:cNvSpPr txBox="1"/>
          <p:nvPr/>
        </p:nvSpPr>
        <p:spPr>
          <a:xfrm>
            <a:off x="1247775" y="431482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Identify 12 sample decks for baseline</a:t>
            </a:r>
          </a:p>
        </p:txBody>
      </p:sp>
      <p:sp>
        <p:nvSpPr>
          <p:cNvPr id="67" name="table-row-6-cell-3"/>
          <p:cNvSpPr txBox="1"/>
          <p:nvPr/>
        </p:nvSpPr>
        <p:spPr>
          <a:xfrm>
            <a:off x="6886575" y="431482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Maria</a:t>
            </a:r>
          </a:p>
        </p:txBody>
      </p:sp>
      <p:sp>
        <p:nvSpPr>
          <p:cNvPr id="68" name="table-row-6-cell-4"/>
          <p:cNvSpPr txBox="1"/>
          <p:nvPr/>
        </p:nvSpPr>
        <p:spPr>
          <a:xfrm>
            <a:off x="8686800" y="431482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Fri</a:t>
            </a:r>
          </a:p>
        </p:txBody>
      </p:sp>
      <p:sp>
        <p:nvSpPr>
          <p:cNvPr id="69" name="table-row-6-status-pill"/>
          <p:cNvSpPr txBox="1"/>
          <p:nvPr/>
        </p:nvSpPr>
        <p:spPr>
          <a:xfrm>
            <a:off x="10001250" y="4305300"/>
            <a:ext cx="165735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IN PROGRESS</a:t>
            </a:r>
          </a:p>
        </p:txBody>
      </p:sp>
      <p:sp>
        <p:nvSpPr>
          <p:cNvPr id="70" name="table-row-6-status-dot"/>
          <p:cNvSpPr/>
          <p:nvPr/>
        </p:nvSpPr>
        <p:spPr>
          <a:xfrm>
            <a:off x="10077450" y="4352925"/>
            <a:ext cx="66675" cy="6667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able-row-7-divider"/>
          <p:cNvSpPr/>
          <p:nvPr/>
        </p:nvSpPr>
        <p:spPr>
          <a:xfrm>
            <a:off x="457200" y="45720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7-num-bg"/>
          <p:cNvSpPr/>
          <p:nvPr/>
        </p:nvSpPr>
        <p:spPr>
          <a:xfrm>
            <a:off x="457200" y="457200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7-num"/>
          <p:cNvSpPr txBox="1"/>
          <p:nvPr/>
        </p:nvSpPr>
        <p:spPr>
          <a:xfrm>
            <a:off x="457200" y="467677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06</a:t>
            </a:r>
          </a:p>
        </p:txBody>
      </p:sp>
      <p:sp>
        <p:nvSpPr>
          <p:cNvPr id="74" name="table-row-7-cell-2"/>
          <p:cNvSpPr txBox="1"/>
          <p:nvPr/>
        </p:nvSpPr>
        <p:spPr>
          <a:xfrm>
            <a:off x="1247775" y="467677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Brief skeptical seniors 1:1</a:t>
            </a:r>
          </a:p>
        </p:txBody>
      </p:sp>
      <p:sp>
        <p:nvSpPr>
          <p:cNvPr id="75" name="table-row-7-cell-3"/>
          <p:cNvSpPr txBox="1"/>
          <p:nvPr/>
        </p:nvSpPr>
        <p:spPr>
          <a:xfrm>
            <a:off x="6886575" y="467677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MD</a:t>
            </a:r>
          </a:p>
        </p:txBody>
      </p:sp>
      <p:sp>
        <p:nvSpPr>
          <p:cNvPr id="76" name="table-row-7-cell-4"/>
          <p:cNvSpPr txBox="1"/>
          <p:nvPr/>
        </p:nvSpPr>
        <p:spPr>
          <a:xfrm>
            <a:off x="8686800" y="467677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Next week</a:t>
            </a:r>
          </a:p>
        </p:txBody>
      </p:sp>
      <p:sp>
        <p:nvSpPr>
          <p:cNvPr id="77" name="table-row-7-status-pill"/>
          <p:cNvSpPr txBox="1"/>
          <p:nvPr/>
        </p:nvSpPr>
        <p:spPr>
          <a:xfrm>
            <a:off x="10001250" y="4667250"/>
            <a:ext cx="165735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OPEN</a:t>
            </a:r>
          </a:p>
        </p:txBody>
      </p:sp>
      <p:sp>
        <p:nvSpPr>
          <p:cNvPr id="78" name="table-row-7-status-dot"/>
          <p:cNvSpPr/>
          <p:nvPr/>
        </p:nvSpPr>
        <p:spPr>
          <a:xfrm>
            <a:off x="10077450" y="4714875"/>
            <a:ext cx="66675" cy="666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8-bg"/>
          <p:cNvSpPr/>
          <p:nvPr/>
        </p:nvSpPr>
        <p:spPr>
          <a:xfrm>
            <a:off x="457200" y="4933950"/>
            <a:ext cx="11277600" cy="36195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8-divider"/>
          <p:cNvSpPr/>
          <p:nvPr/>
        </p:nvSpPr>
        <p:spPr>
          <a:xfrm>
            <a:off x="457200" y="49339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8-num-bg"/>
          <p:cNvSpPr/>
          <p:nvPr/>
        </p:nvSpPr>
        <p:spPr>
          <a:xfrm>
            <a:off x="457200" y="4933950"/>
            <a:ext cx="6762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8-num"/>
          <p:cNvSpPr txBox="1"/>
          <p:nvPr/>
        </p:nvSpPr>
        <p:spPr>
          <a:xfrm>
            <a:off x="457200" y="5038725"/>
            <a:ext cx="676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08</a:t>
            </a:r>
          </a:p>
        </p:txBody>
      </p:sp>
      <p:sp>
        <p:nvSpPr>
          <p:cNvPr id="83" name="table-row-8-cell-2"/>
          <p:cNvSpPr txBox="1"/>
          <p:nvPr/>
        </p:nvSpPr>
        <p:spPr>
          <a:xfrm>
            <a:off x="1247775" y="5038725"/>
            <a:ext cx="5410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Finalize Wave 2 scope memo</a:t>
            </a:r>
          </a:p>
        </p:txBody>
      </p:sp>
      <p:sp>
        <p:nvSpPr>
          <p:cNvPr id="84" name="table-row-8-cell-3"/>
          <p:cNvSpPr txBox="1"/>
          <p:nvPr/>
        </p:nvSpPr>
        <p:spPr>
          <a:xfrm>
            <a:off x="6886575" y="503872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Maria</a:t>
            </a:r>
          </a:p>
        </p:txBody>
      </p:sp>
      <p:sp>
        <p:nvSpPr>
          <p:cNvPr id="85" name="table-row-8-cell-4"/>
          <p:cNvSpPr txBox="1"/>
          <p:nvPr/>
        </p:nvSpPr>
        <p:spPr>
          <a:xfrm>
            <a:off x="8686800" y="503872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2 weeks</a:t>
            </a:r>
          </a:p>
        </p:txBody>
      </p:sp>
      <p:sp>
        <p:nvSpPr>
          <p:cNvPr id="86" name="table-row-8-status-pill"/>
          <p:cNvSpPr txBox="1"/>
          <p:nvPr/>
        </p:nvSpPr>
        <p:spPr>
          <a:xfrm>
            <a:off x="10001250" y="5029200"/>
            <a:ext cx="165735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152400" bIns="19050" lIns="1333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OPEN</a:t>
            </a:r>
          </a:p>
        </p:txBody>
      </p:sp>
      <p:sp>
        <p:nvSpPr>
          <p:cNvPr id="87" name="table-row-8-status-dot"/>
          <p:cNvSpPr/>
          <p:nvPr/>
        </p:nvSpPr>
        <p:spPr>
          <a:xfrm>
            <a:off x="10077450" y="5076825"/>
            <a:ext cx="66675" cy="666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border-bottom"/>
          <p:cNvSpPr/>
          <p:nvPr/>
        </p:nvSpPr>
        <p:spPr>
          <a:xfrm>
            <a:off x="457200" y="52959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table-border-left"/>
          <p:cNvSpPr/>
          <p:nvPr/>
        </p:nvSpPr>
        <p:spPr>
          <a:xfrm>
            <a:off x="457200" y="2133600"/>
            <a:ext cx="9525" cy="31623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border-right"/>
          <p:cNvSpPr/>
          <p:nvPr/>
        </p:nvSpPr>
        <p:spPr>
          <a:xfrm>
            <a:off x="11725275" y="2133600"/>
            <a:ext cx="9525" cy="31623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convergence-bg"/>
          <p:cNvSpPr/>
          <p:nvPr/>
        </p:nvSpPr>
        <p:spPr>
          <a:xfrm>
            <a:off x="457200" y="5791200"/>
            <a:ext cx="11277600" cy="4953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convergence-mark"/>
          <p:cNvSpPr txBox="1"/>
          <p:nvPr/>
        </p:nvSpPr>
        <p:spPr>
          <a:xfrm>
            <a:off x="590550" y="5943600"/>
            <a:ext cx="7620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93" name="convergence"/>
          <p:cNvSpPr txBox="1"/>
          <p:nvPr/>
        </p:nvSpPr>
        <p:spPr>
          <a:xfrm>
            <a:off x="1504950" y="5791200"/>
            <a:ext cx="100393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Three actions due by Friday. Four for next week. The Friday batch unblocks baseline measurement — if IT access slips past Tuesday, sample decks slip too.</a:t>
            </a:r>
          </a:p>
        </p:txBody>
      </p:sp>
      <p:sp>
        <p:nvSpPr>
          <p:cNvPr id="9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