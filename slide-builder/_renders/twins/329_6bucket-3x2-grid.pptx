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Six dimensions that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define the transformation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bucket represents a workstream with discrete deliverables and ownership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5562600" cy="1428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accent"/>
          <p:cNvSpPr/>
          <p:nvPr/>
        </p:nvSpPr>
        <p:spPr>
          <a:xfrm>
            <a:off x="457200" y="1905000"/>
            <a:ext cx="28575" cy="1428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bucket-1-badge-bg"/>
          <p:cNvSpPr/>
          <p:nvPr/>
        </p:nvSpPr>
        <p:spPr>
          <a:xfrm>
            <a:off x="628650" y="2352675"/>
            <a:ext cx="266700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bucket-1-badge"/>
          <p:cNvSpPr txBox="1"/>
          <p:nvPr/>
        </p:nvSpPr>
        <p:spPr>
          <a:xfrm>
            <a:off x="628650" y="235267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bucket-1-title"/>
          <p:cNvSpPr txBox="1"/>
          <p:nvPr/>
        </p:nvSpPr>
        <p:spPr>
          <a:xfrm>
            <a:off x="1028700" y="2352675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 &amp; Vision</a:t>
            </a:r>
          </a:p>
        </p:txBody>
      </p:sp>
      <p:sp>
        <p:nvSpPr>
          <p:cNvPr id="10" name="bucket-1-bullet-1-dot"/>
          <p:cNvSpPr txBox="1"/>
          <p:nvPr/>
        </p:nvSpPr>
        <p:spPr>
          <a:xfrm>
            <a:off x="1028700" y="265747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1" name="bucket-1-bullet-1"/>
          <p:cNvSpPr txBox="1"/>
          <p:nvPr/>
        </p:nvSpPr>
        <p:spPr>
          <a:xfrm>
            <a:off x="1143000" y="267652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Define north-star objectives and success metrics</a:t>
            </a:r>
          </a:p>
        </p:txBody>
      </p:sp>
      <p:sp>
        <p:nvSpPr>
          <p:cNvPr id="12" name="bucket-1-bullet-2-dot"/>
          <p:cNvSpPr txBox="1"/>
          <p:nvPr/>
        </p:nvSpPr>
        <p:spPr>
          <a:xfrm>
            <a:off x="1028700" y="282892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3" name="bucket-1-bullet-2"/>
          <p:cNvSpPr txBox="1"/>
          <p:nvPr/>
        </p:nvSpPr>
        <p:spPr>
          <a:xfrm>
            <a:off x="1143000" y="284797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Align leadership on transformation scope</a:t>
            </a:r>
          </a:p>
        </p:txBody>
      </p:sp>
      <p:sp>
        <p:nvSpPr>
          <p:cNvPr id="14" name="bucket-1-bullet-3-dot"/>
          <p:cNvSpPr txBox="1"/>
          <p:nvPr/>
        </p:nvSpPr>
        <p:spPr>
          <a:xfrm>
            <a:off x="1028700" y="300037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5" name="bucket-1-bullet-3"/>
          <p:cNvSpPr txBox="1"/>
          <p:nvPr/>
        </p:nvSpPr>
        <p:spPr>
          <a:xfrm>
            <a:off x="1143000" y="301942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Establish governance and decision rights</a:t>
            </a:r>
          </a:p>
        </p:txBody>
      </p:sp>
      <p:sp>
        <p:nvSpPr>
          <p:cNvPr id="16" name="bucket-2-card"/>
          <p:cNvSpPr/>
          <p:nvPr/>
        </p:nvSpPr>
        <p:spPr>
          <a:xfrm>
            <a:off x="6172200" y="1905000"/>
            <a:ext cx="5562600" cy="1428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bucket-2-accent"/>
          <p:cNvSpPr/>
          <p:nvPr/>
        </p:nvSpPr>
        <p:spPr>
          <a:xfrm>
            <a:off x="6172200" y="1905000"/>
            <a:ext cx="28575" cy="1428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bucket-2-badge-bg"/>
          <p:cNvSpPr/>
          <p:nvPr/>
        </p:nvSpPr>
        <p:spPr>
          <a:xfrm>
            <a:off x="6343650" y="2352675"/>
            <a:ext cx="266700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bucket-2-badge"/>
          <p:cNvSpPr txBox="1"/>
          <p:nvPr/>
        </p:nvSpPr>
        <p:spPr>
          <a:xfrm>
            <a:off x="6343650" y="235267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20" name="bucket-2-title"/>
          <p:cNvSpPr txBox="1"/>
          <p:nvPr/>
        </p:nvSpPr>
        <p:spPr>
          <a:xfrm>
            <a:off x="6743700" y="2352675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Operating Model</a:t>
            </a:r>
          </a:p>
        </p:txBody>
      </p:sp>
      <p:sp>
        <p:nvSpPr>
          <p:cNvPr id="21" name="bucket-2-bullet-1-dot"/>
          <p:cNvSpPr txBox="1"/>
          <p:nvPr/>
        </p:nvSpPr>
        <p:spPr>
          <a:xfrm>
            <a:off x="6743700" y="265747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2" name="bucket-2-bullet-1"/>
          <p:cNvSpPr txBox="1"/>
          <p:nvPr/>
        </p:nvSpPr>
        <p:spPr>
          <a:xfrm>
            <a:off x="6858000" y="267652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Redesign org structure for agility</a:t>
            </a:r>
          </a:p>
        </p:txBody>
      </p:sp>
      <p:sp>
        <p:nvSpPr>
          <p:cNvPr id="23" name="bucket-2-bullet-2-dot"/>
          <p:cNvSpPr txBox="1"/>
          <p:nvPr/>
        </p:nvSpPr>
        <p:spPr>
          <a:xfrm>
            <a:off x="6743700" y="282892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4" name="bucket-2-bullet-2"/>
          <p:cNvSpPr txBox="1"/>
          <p:nvPr/>
        </p:nvSpPr>
        <p:spPr>
          <a:xfrm>
            <a:off x="6858000" y="284797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Map roles, spans, and layers to future state</a:t>
            </a:r>
          </a:p>
        </p:txBody>
      </p:sp>
      <p:sp>
        <p:nvSpPr>
          <p:cNvPr id="25" name="bucket-2-bullet-3-dot"/>
          <p:cNvSpPr txBox="1"/>
          <p:nvPr/>
        </p:nvSpPr>
        <p:spPr>
          <a:xfrm>
            <a:off x="6743700" y="300037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6" name="bucket-2-bullet-3"/>
          <p:cNvSpPr txBox="1"/>
          <p:nvPr/>
        </p:nvSpPr>
        <p:spPr>
          <a:xfrm>
            <a:off x="6858000" y="301942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Define cross-functional teaming principles</a:t>
            </a:r>
          </a:p>
        </p:txBody>
      </p:sp>
      <p:sp>
        <p:nvSpPr>
          <p:cNvPr id="27" name="bucket-3-card"/>
          <p:cNvSpPr/>
          <p:nvPr/>
        </p:nvSpPr>
        <p:spPr>
          <a:xfrm>
            <a:off x="457200" y="3448050"/>
            <a:ext cx="5562600" cy="1428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bucket-3-accent"/>
          <p:cNvSpPr/>
          <p:nvPr/>
        </p:nvSpPr>
        <p:spPr>
          <a:xfrm>
            <a:off x="457200" y="3448050"/>
            <a:ext cx="28575" cy="1428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bucket-3-badge-bg"/>
          <p:cNvSpPr/>
          <p:nvPr/>
        </p:nvSpPr>
        <p:spPr>
          <a:xfrm>
            <a:off x="628650" y="3895725"/>
            <a:ext cx="266700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bucket-3-badge"/>
          <p:cNvSpPr txBox="1"/>
          <p:nvPr/>
        </p:nvSpPr>
        <p:spPr>
          <a:xfrm>
            <a:off x="628650" y="38957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31" name="bucket-3-title"/>
          <p:cNvSpPr txBox="1"/>
          <p:nvPr/>
        </p:nvSpPr>
        <p:spPr>
          <a:xfrm>
            <a:off x="1028700" y="3895725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 &amp; Data</a:t>
            </a:r>
          </a:p>
        </p:txBody>
      </p:sp>
      <p:sp>
        <p:nvSpPr>
          <p:cNvPr id="32" name="bucket-3-bullet-1-dot"/>
          <p:cNvSpPr txBox="1"/>
          <p:nvPr/>
        </p:nvSpPr>
        <p:spPr>
          <a:xfrm>
            <a:off x="1028700" y="420052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33" name="bucket-3-bullet-1"/>
          <p:cNvSpPr txBox="1"/>
          <p:nvPr/>
        </p:nvSpPr>
        <p:spPr>
          <a:xfrm>
            <a:off x="1143000" y="421957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Assess current-state architecture gaps</a:t>
            </a:r>
          </a:p>
        </p:txBody>
      </p:sp>
      <p:sp>
        <p:nvSpPr>
          <p:cNvPr id="34" name="bucket-3-bullet-2-dot"/>
          <p:cNvSpPr txBox="1"/>
          <p:nvPr/>
        </p:nvSpPr>
        <p:spPr>
          <a:xfrm>
            <a:off x="1028700" y="437197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35" name="bucket-3-bullet-2"/>
          <p:cNvSpPr txBox="1"/>
          <p:nvPr/>
        </p:nvSpPr>
        <p:spPr>
          <a:xfrm>
            <a:off x="1143000" y="439102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Prioritise platform and data investments</a:t>
            </a:r>
          </a:p>
        </p:txBody>
      </p:sp>
      <p:sp>
        <p:nvSpPr>
          <p:cNvPr id="36" name="bucket-3-bullet-3-dot"/>
          <p:cNvSpPr txBox="1"/>
          <p:nvPr/>
        </p:nvSpPr>
        <p:spPr>
          <a:xfrm>
            <a:off x="1028700" y="454342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37" name="bucket-3-bullet-3"/>
          <p:cNvSpPr txBox="1"/>
          <p:nvPr/>
        </p:nvSpPr>
        <p:spPr>
          <a:xfrm>
            <a:off x="1143000" y="456247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Build integration and interoperability roadmap</a:t>
            </a:r>
          </a:p>
        </p:txBody>
      </p:sp>
      <p:sp>
        <p:nvSpPr>
          <p:cNvPr id="38" name="bucket-4-card"/>
          <p:cNvSpPr/>
          <p:nvPr/>
        </p:nvSpPr>
        <p:spPr>
          <a:xfrm>
            <a:off x="6172200" y="3448050"/>
            <a:ext cx="5562600" cy="1428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ucket-4-accent"/>
          <p:cNvSpPr/>
          <p:nvPr/>
        </p:nvSpPr>
        <p:spPr>
          <a:xfrm>
            <a:off x="6172200" y="3448050"/>
            <a:ext cx="28575" cy="1428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bucket-4-badge-bg"/>
          <p:cNvSpPr/>
          <p:nvPr/>
        </p:nvSpPr>
        <p:spPr>
          <a:xfrm>
            <a:off x="6343650" y="3895725"/>
            <a:ext cx="266700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bucket-4-badge"/>
          <p:cNvSpPr txBox="1"/>
          <p:nvPr/>
        </p:nvSpPr>
        <p:spPr>
          <a:xfrm>
            <a:off x="6343650" y="38957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42" name="bucket-4-title"/>
          <p:cNvSpPr txBox="1"/>
          <p:nvPr/>
        </p:nvSpPr>
        <p:spPr>
          <a:xfrm>
            <a:off x="6743700" y="3895725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Process Excellence</a:t>
            </a:r>
          </a:p>
        </p:txBody>
      </p:sp>
      <p:sp>
        <p:nvSpPr>
          <p:cNvPr id="43" name="bucket-4-bullet-1-dot"/>
          <p:cNvSpPr txBox="1"/>
          <p:nvPr/>
        </p:nvSpPr>
        <p:spPr>
          <a:xfrm>
            <a:off x="6743700" y="420052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44" name="bucket-4-bullet-1"/>
          <p:cNvSpPr txBox="1"/>
          <p:nvPr/>
        </p:nvSpPr>
        <p:spPr>
          <a:xfrm>
            <a:off x="6858000" y="421957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Identify high-impact process automation targets</a:t>
            </a:r>
          </a:p>
        </p:txBody>
      </p:sp>
      <p:sp>
        <p:nvSpPr>
          <p:cNvPr id="45" name="bucket-4-bullet-2-dot"/>
          <p:cNvSpPr txBox="1"/>
          <p:nvPr/>
        </p:nvSpPr>
        <p:spPr>
          <a:xfrm>
            <a:off x="6743700" y="437197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46" name="bucket-4-bullet-2"/>
          <p:cNvSpPr txBox="1"/>
          <p:nvPr/>
        </p:nvSpPr>
        <p:spPr>
          <a:xfrm>
            <a:off x="6858000" y="439102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Standardise end-to-end value streams</a:t>
            </a:r>
          </a:p>
        </p:txBody>
      </p:sp>
      <p:sp>
        <p:nvSpPr>
          <p:cNvPr id="47" name="bucket-4-bullet-3-dot"/>
          <p:cNvSpPr txBox="1"/>
          <p:nvPr/>
        </p:nvSpPr>
        <p:spPr>
          <a:xfrm>
            <a:off x="6743700" y="454342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48" name="bucket-4-bullet-3"/>
          <p:cNvSpPr txBox="1"/>
          <p:nvPr/>
        </p:nvSpPr>
        <p:spPr>
          <a:xfrm>
            <a:off x="6858000" y="456247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Embed continuous improvement mechanisms</a:t>
            </a:r>
          </a:p>
        </p:txBody>
      </p:sp>
      <p:sp>
        <p:nvSpPr>
          <p:cNvPr id="49" name="bucket-5-card"/>
          <p:cNvSpPr/>
          <p:nvPr/>
        </p:nvSpPr>
        <p:spPr>
          <a:xfrm>
            <a:off x="457200" y="4991100"/>
            <a:ext cx="5562600" cy="1428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bucket-5-accent"/>
          <p:cNvSpPr/>
          <p:nvPr/>
        </p:nvSpPr>
        <p:spPr>
          <a:xfrm>
            <a:off x="457200" y="4991100"/>
            <a:ext cx="28575" cy="1428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bucket-5-badge-bg"/>
          <p:cNvSpPr/>
          <p:nvPr/>
        </p:nvSpPr>
        <p:spPr>
          <a:xfrm>
            <a:off x="628650" y="5438775"/>
            <a:ext cx="266700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bucket-5-badge"/>
          <p:cNvSpPr txBox="1"/>
          <p:nvPr/>
        </p:nvSpPr>
        <p:spPr>
          <a:xfrm>
            <a:off x="628650" y="543877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53" name="bucket-5-title"/>
          <p:cNvSpPr txBox="1"/>
          <p:nvPr/>
        </p:nvSpPr>
        <p:spPr>
          <a:xfrm>
            <a:off x="1028700" y="5438775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 &amp; Culture</a:t>
            </a:r>
          </a:p>
        </p:txBody>
      </p:sp>
      <p:sp>
        <p:nvSpPr>
          <p:cNvPr id="54" name="bucket-5-bullet-1-dot"/>
          <p:cNvSpPr txBox="1"/>
          <p:nvPr/>
        </p:nvSpPr>
        <p:spPr>
          <a:xfrm>
            <a:off x="1028700" y="574357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55" name="bucket-5-bullet-1"/>
          <p:cNvSpPr txBox="1"/>
          <p:nvPr/>
        </p:nvSpPr>
        <p:spPr>
          <a:xfrm>
            <a:off x="1143000" y="576262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Build capability frameworks for new ways of working</a:t>
            </a:r>
          </a:p>
        </p:txBody>
      </p:sp>
      <p:sp>
        <p:nvSpPr>
          <p:cNvPr id="56" name="bucket-5-bullet-2-dot"/>
          <p:cNvSpPr txBox="1"/>
          <p:nvPr/>
        </p:nvSpPr>
        <p:spPr>
          <a:xfrm>
            <a:off x="1028700" y="591502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57" name="bucket-5-bullet-2"/>
          <p:cNvSpPr txBox="1"/>
          <p:nvPr/>
        </p:nvSpPr>
        <p:spPr>
          <a:xfrm>
            <a:off x="1143000" y="593407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Launch reskilling and change readiness programmes</a:t>
            </a:r>
          </a:p>
        </p:txBody>
      </p:sp>
      <p:sp>
        <p:nvSpPr>
          <p:cNvPr id="58" name="bucket-5-bullet-3-dot"/>
          <p:cNvSpPr txBox="1"/>
          <p:nvPr/>
        </p:nvSpPr>
        <p:spPr>
          <a:xfrm>
            <a:off x="1028700" y="608647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59" name="bucket-5-bullet-3"/>
          <p:cNvSpPr txBox="1"/>
          <p:nvPr/>
        </p:nvSpPr>
        <p:spPr>
          <a:xfrm>
            <a:off x="1143000" y="610552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Measure cultural adoption through pulse surveys</a:t>
            </a:r>
          </a:p>
        </p:txBody>
      </p:sp>
      <p:sp>
        <p:nvSpPr>
          <p:cNvPr id="60" name="bucket-6-card"/>
          <p:cNvSpPr/>
          <p:nvPr/>
        </p:nvSpPr>
        <p:spPr>
          <a:xfrm>
            <a:off x="6172200" y="4991100"/>
            <a:ext cx="5562600" cy="1428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bucket-6-accent"/>
          <p:cNvSpPr/>
          <p:nvPr/>
        </p:nvSpPr>
        <p:spPr>
          <a:xfrm>
            <a:off x="6172200" y="4991100"/>
            <a:ext cx="28575" cy="1428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bucket-6-badge-bg"/>
          <p:cNvSpPr/>
          <p:nvPr/>
        </p:nvSpPr>
        <p:spPr>
          <a:xfrm>
            <a:off x="6343650" y="5438775"/>
            <a:ext cx="266700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bucket-6-badge"/>
          <p:cNvSpPr txBox="1"/>
          <p:nvPr/>
        </p:nvSpPr>
        <p:spPr>
          <a:xfrm>
            <a:off x="6343650" y="543877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64" name="bucket-6-title"/>
          <p:cNvSpPr txBox="1"/>
          <p:nvPr/>
        </p:nvSpPr>
        <p:spPr>
          <a:xfrm>
            <a:off x="6743700" y="5438775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Value Realisation</a:t>
            </a:r>
          </a:p>
        </p:txBody>
      </p:sp>
      <p:sp>
        <p:nvSpPr>
          <p:cNvPr id="65" name="bucket-6-bullet-1-dot"/>
          <p:cNvSpPr txBox="1"/>
          <p:nvPr/>
        </p:nvSpPr>
        <p:spPr>
          <a:xfrm>
            <a:off x="6743700" y="574357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66" name="bucket-6-bullet-1"/>
          <p:cNvSpPr txBox="1"/>
          <p:nvPr/>
        </p:nvSpPr>
        <p:spPr>
          <a:xfrm>
            <a:off x="6858000" y="576262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Track benefits against baseline projections</a:t>
            </a:r>
          </a:p>
        </p:txBody>
      </p:sp>
      <p:sp>
        <p:nvSpPr>
          <p:cNvPr id="67" name="bucket-6-bullet-2-dot"/>
          <p:cNvSpPr txBox="1"/>
          <p:nvPr/>
        </p:nvSpPr>
        <p:spPr>
          <a:xfrm>
            <a:off x="6743700" y="591502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68" name="bucket-6-bullet-2"/>
          <p:cNvSpPr txBox="1"/>
          <p:nvPr/>
        </p:nvSpPr>
        <p:spPr>
          <a:xfrm>
            <a:off x="6858000" y="593407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Govern investment-to-outcome traceability</a:t>
            </a:r>
          </a:p>
        </p:txBody>
      </p:sp>
      <p:sp>
        <p:nvSpPr>
          <p:cNvPr id="69" name="bucket-6-bullet-3-dot"/>
          <p:cNvSpPr txBox="1"/>
          <p:nvPr/>
        </p:nvSpPr>
        <p:spPr>
          <a:xfrm>
            <a:off x="6743700" y="6086475"/>
            <a:ext cx="95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70" name="bucket-6-bullet-3"/>
          <p:cNvSpPr txBox="1"/>
          <p:nvPr/>
        </p:nvSpPr>
        <p:spPr>
          <a:xfrm>
            <a:off x="6858000" y="6105525"/>
            <a:ext cx="4629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Iterate priorities based on realised impact</a:t>
            </a:r>
          </a:p>
        </p:txBody>
      </p:sp>
      <p:sp>
        <p:nvSpPr>
          <p:cNvPr id="7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