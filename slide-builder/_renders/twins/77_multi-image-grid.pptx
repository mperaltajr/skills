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Pilot deck galleries — six pages, six redos.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8382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Side-by-side before and after for the three slides reviewers flagged hardest. One redo carries the deck.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0668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hoto-1-card"/>
          <p:cNvSpPr/>
          <p:nvPr/>
        </p:nvSpPr>
        <p:spPr>
          <a:xfrm>
            <a:off x="609600" y="1695450"/>
            <a:ext cx="3543300" cy="18669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hoto-1-zone"/>
          <p:cNvSpPr/>
          <p:nvPr/>
        </p:nvSpPr>
        <p:spPr>
          <a:xfrm>
            <a:off x="704850" y="1790700"/>
            <a:ext cx="3352800" cy="1200150"/>
          </a:xfrm>
          <a:prstGeom prst="rect">
            <a:avLst/>
          </a:prstGeom>
          <a:solidFill>
            <a:srgbClr val="F1F5F9"/>
          </a:solidFill>
          <a:ln w="14288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hoto-1-corner-tag"/>
          <p:cNvSpPr txBox="1"/>
          <p:nvPr/>
        </p:nvSpPr>
        <p:spPr>
          <a:xfrm>
            <a:off x="781050" y="1847850"/>
            <a:ext cx="152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SLIDE 2 · BEFORE</a:t>
            </a:r>
          </a:p>
        </p:txBody>
      </p:sp>
      <p:sp>
        <p:nvSpPr>
          <p:cNvPr id="8" name="photo-1-label"/>
          <p:cNvSpPr txBox="1"/>
          <p:nvPr/>
        </p:nvSpPr>
        <p:spPr>
          <a:xfrm>
            <a:off x="704850" y="1790700"/>
            <a:ext cx="3352800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[ Wall-of-bullets layout, no visual hierarchy ]</a:t>
            </a:r>
          </a:p>
        </p:txBody>
      </p:sp>
      <p:sp>
        <p:nvSpPr>
          <p:cNvPr id="9" name="photo-1-caption"/>
          <p:cNvSpPr txBox="1"/>
          <p:nvPr/>
        </p:nvSpPr>
        <p:spPr>
          <a:xfrm>
            <a:off x="723900" y="3086100"/>
            <a:ext cx="3314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Slide 2 — Before</a:t>
            </a:r>
          </a:p>
        </p:txBody>
      </p:sp>
      <p:sp>
        <p:nvSpPr>
          <p:cNvPr id="10" name="photo-1-caption-desc"/>
          <p:cNvSpPr txBox="1"/>
          <p:nvPr/>
        </p:nvSpPr>
        <p:spPr>
          <a:xfrm>
            <a:off x="723900" y="3276600"/>
            <a:ext cx="3314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Wall of bullets, no structure.</a:t>
            </a:r>
          </a:p>
        </p:txBody>
      </p:sp>
      <p:sp>
        <p:nvSpPr>
          <p:cNvPr id="11" name="photo-2-card"/>
          <p:cNvSpPr/>
          <p:nvPr/>
        </p:nvSpPr>
        <p:spPr>
          <a:xfrm>
            <a:off x="4324350" y="1695450"/>
            <a:ext cx="3543300" cy="18669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photo-2-zone"/>
          <p:cNvSpPr/>
          <p:nvPr/>
        </p:nvSpPr>
        <p:spPr>
          <a:xfrm>
            <a:off x="4419600" y="1790700"/>
            <a:ext cx="3352800" cy="1200150"/>
          </a:xfrm>
          <a:prstGeom prst="rect">
            <a:avLst/>
          </a:prstGeom>
          <a:solidFill>
            <a:srgbClr val="F1F5F9"/>
          </a:solidFill>
          <a:ln w="14288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photo-2-corner-tag"/>
          <p:cNvSpPr txBox="1"/>
          <p:nvPr/>
        </p:nvSpPr>
        <p:spPr>
          <a:xfrm>
            <a:off x="4495800" y="1847850"/>
            <a:ext cx="152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SLIDE 2 · AFTER</a:t>
            </a:r>
          </a:p>
        </p:txBody>
      </p:sp>
      <p:sp>
        <p:nvSpPr>
          <p:cNvPr id="14" name="photo-2-label"/>
          <p:cNvSpPr txBox="1"/>
          <p:nvPr/>
        </p:nvSpPr>
        <p:spPr>
          <a:xfrm>
            <a:off x="4419600" y="1790700"/>
            <a:ext cx="3352800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[ Anchor statement with three supporting cards ]</a:t>
            </a:r>
          </a:p>
        </p:txBody>
      </p:sp>
      <p:sp>
        <p:nvSpPr>
          <p:cNvPr id="15" name="photo-2-caption"/>
          <p:cNvSpPr txBox="1"/>
          <p:nvPr/>
        </p:nvSpPr>
        <p:spPr>
          <a:xfrm>
            <a:off x="4438650" y="3086100"/>
            <a:ext cx="3314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Slide 2 — After</a:t>
            </a:r>
          </a:p>
        </p:txBody>
      </p:sp>
      <p:sp>
        <p:nvSpPr>
          <p:cNvPr id="16" name="photo-2-caption-desc"/>
          <p:cNvSpPr txBox="1"/>
          <p:nvPr/>
        </p:nvSpPr>
        <p:spPr>
          <a:xfrm>
            <a:off x="4438650" y="3276600"/>
            <a:ext cx="3314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Anchor + three cards.</a:t>
            </a:r>
          </a:p>
        </p:txBody>
      </p:sp>
      <p:sp>
        <p:nvSpPr>
          <p:cNvPr id="17" name="photo-3-card"/>
          <p:cNvSpPr/>
          <p:nvPr/>
        </p:nvSpPr>
        <p:spPr>
          <a:xfrm>
            <a:off x="8039100" y="1695450"/>
            <a:ext cx="3543300" cy="18669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photo-3-zone"/>
          <p:cNvSpPr/>
          <p:nvPr/>
        </p:nvSpPr>
        <p:spPr>
          <a:xfrm>
            <a:off x="8134350" y="1790700"/>
            <a:ext cx="3352800" cy="1200150"/>
          </a:xfrm>
          <a:prstGeom prst="rect">
            <a:avLst/>
          </a:prstGeom>
          <a:solidFill>
            <a:srgbClr val="F1F5F9"/>
          </a:solidFill>
          <a:ln w="14288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photo-3-corner-tag"/>
          <p:cNvSpPr txBox="1"/>
          <p:nvPr/>
        </p:nvSpPr>
        <p:spPr>
          <a:xfrm>
            <a:off x="8210550" y="1847850"/>
            <a:ext cx="152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SLIDE 5 · BEFORE</a:t>
            </a:r>
          </a:p>
        </p:txBody>
      </p:sp>
      <p:sp>
        <p:nvSpPr>
          <p:cNvPr id="20" name="photo-3-label"/>
          <p:cNvSpPr txBox="1"/>
          <p:nvPr/>
        </p:nvSpPr>
        <p:spPr>
          <a:xfrm>
            <a:off x="8134350" y="1790700"/>
            <a:ext cx="3352800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[ Three-column table, undifferentiated rows ]</a:t>
            </a:r>
          </a:p>
        </p:txBody>
      </p:sp>
      <p:sp>
        <p:nvSpPr>
          <p:cNvPr id="21" name="photo-3-caption"/>
          <p:cNvSpPr txBox="1"/>
          <p:nvPr/>
        </p:nvSpPr>
        <p:spPr>
          <a:xfrm>
            <a:off x="8153400" y="3086100"/>
            <a:ext cx="3314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Slide 5 — Before</a:t>
            </a:r>
          </a:p>
        </p:txBody>
      </p:sp>
      <p:sp>
        <p:nvSpPr>
          <p:cNvPr id="22" name="photo-3-caption-desc"/>
          <p:cNvSpPr txBox="1"/>
          <p:nvPr/>
        </p:nvSpPr>
        <p:spPr>
          <a:xfrm>
            <a:off x="8153400" y="3276600"/>
            <a:ext cx="3314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3-col table, no story.</a:t>
            </a:r>
          </a:p>
        </p:txBody>
      </p:sp>
      <p:sp>
        <p:nvSpPr>
          <p:cNvPr id="23" name="photo-4-card"/>
          <p:cNvSpPr/>
          <p:nvPr/>
        </p:nvSpPr>
        <p:spPr>
          <a:xfrm>
            <a:off x="609600" y="3733800"/>
            <a:ext cx="3543300" cy="1866900"/>
          </a:xfrm>
          <a:prstGeom prst="rect">
            <a:avLst/>
          </a:prstGeom>
          <a:solidFill>
            <a:srgbClr val="FFFF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photo-4-zone"/>
          <p:cNvSpPr/>
          <p:nvPr/>
        </p:nvSpPr>
        <p:spPr>
          <a:xfrm>
            <a:off x="704850" y="3829050"/>
            <a:ext cx="3352800" cy="1200150"/>
          </a:xfrm>
          <a:prstGeom prst="rect">
            <a:avLst/>
          </a:prstGeom>
          <a:solidFill>
            <a:srgbClr val="FAF5FF"/>
          </a:solidFill>
          <a:ln w="14288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photo-4-corner-tag"/>
          <p:cNvSpPr txBox="1"/>
          <p:nvPr/>
        </p:nvSpPr>
        <p:spPr>
          <a:xfrm>
            <a:off x="781050" y="3886200"/>
            <a:ext cx="152400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SLIDE 5 · AFTER</a:t>
            </a:r>
          </a:p>
        </p:txBody>
      </p:sp>
      <p:sp>
        <p:nvSpPr>
          <p:cNvPr id="26" name="photo-4-featured-flag"/>
          <p:cNvSpPr txBox="1"/>
          <p:nvPr/>
        </p:nvSpPr>
        <p:spPr>
          <a:xfrm>
            <a:off x="3314700" y="3886200"/>
            <a:ext cx="6667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FEATURED</a:t>
            </a:r>
          </a:p>
        </p:txBody>
      </p:sp>
      <p:sp>
        <p:nvSpPr>
          <p:cNvPr id="27" name="photo-4-label"/>
          <p:cNvSpPr txBox="1"/>
          <p:nvPr/>
        </p:nvSpPr>
        <p:spPr>
          <a:xfrm>
            <a:off x="704850" y="3829050"/>
            <a:ext cx="3352800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[ Three vertical pillars, headline-first logic ]</a:t>
            </a:r>
          </a:p>
        </p:txBody>
      </p:sp>
      <p:sp>
        <p:nvSpPr>
          <p:cNvPr id="28" name="photo-4-caption"/>
          <p:cNvSpPr txBox="1"/>
          <p:nvPr/>
        </p:nvSpPr>
        <p:spPr>
          <a:xfrm>
            <a:off x="723900" y="5124450"/>
            <a:ext cx="3314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Slide 5 — After</a:t>
            </a:r>
          </a:p>
        </p:txBody>
      </p:sp>
      <p:sp>
        <p:nvSpPr>
          <p:cNvPr id="29" name="photo-4-caption-desc"/>
          <p:cNvSpPr txBox="1"/>
          <p:nvPr/>
        </p:nvSpPr>
        <p:spPr>
          <a:xfrm>
            <a:off x="723900" y="5314950"/>
            <a:ext cx="3314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Vertical pillars, clear logic.</a:t>
            </a:r>
          </a:p>
        </p:txBody>
      </p:sp>
      <p:sp>
        <p:nvSpPr>
          <p:cNvPr id="30" name="photo-5-card"/>
          <p:cNvSpPr/>
          <p:nvPr/>
        </p:nvSpPr>
        <p:spPr>
          <a:xfrm>
            <a:off x="4324350" y="3733800"/>
            <a:ext cx="3543300" cy="18669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photo-5-zone"/>
          <p:cNvSpPr/>
          <p:nvPr/>
        </p:nvSpPr>
        <p:spPr>
          <a:xfrm>
            <a:off x="4419600" y="3829050"/>
            <a:ext cx="3352800" cy="1200150"/>
          </a:xfrm>
          <a:prstGeom prst="rect">
            <a:avLst/>
          </a:prstGeom>
          <a:solidFill>
            <a:srgbClr val="F1F5F9"/>
          </a:solidFill>
          <a:ln w="14288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photo-5-corner-tag"/>
          <p:cNvSpPr txBox="1"/>
          <p:nvPr/>
        </p:nvSpPr>
        <p:spPr>
          <a:xfrm>
            <a:off x="4495800" y="3886200"/>
            <a:ext cx="152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SLIDE 7 · BEFORE</a:t>
            </a:r>
          </a:p>
        </p:txBody>
      </p:sp>
      <p:sp>
        <p:nvSpPr>
          <p:cNvPr id="33" name="photo-5-label"/>
          <p:cNvSpPr txBox="1"/>
          <p:nvPr/>
        </p:nvSpPr>
        <p:spPr>
          <a:xfrm>
            <a:off x="4419600" y="3829050"/>
            <a:ext cx="3352800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[ Generic ask slide, mixed formats ]</a:t>
            </a:r>
          </a:p>
        </p:txBody>
      </p:sp>
      <p:sp>
        <p:nvSpPr>
          <p:cNvPr id="34" name="photo-5-caption"/>
          <p:cNvSpPr txBox="1"/>
          <p:nvPr/>
        </p:nvSpPr>
        <p:spPr>
          <a:xfrm>
            <a:off x="4438650" y="5124450"/>
            <a:ext cx="3314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Slide 7 — Before</a:t>
            </a:r>
          </a:p>
        </p:txBody>
      </p:sp>
      <p:sp>
        <p:nvSpPr>
          <p:cNvPr id="35" name="photo-5-caption-desc"/>
          <p:cNvSpPr txBox="1"/>
          <p:nvPr/>
        </p:nvSpPr>
        <p:spPr>
          <a:xfrm>
            <a:off x="4438650" y="5314950"/>
            <a:ext cx="3314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Generic ask, generic format.</a:t>
            </a:r>
          </a:p>
        </p:txBody>
      </p:sp>
      <p:sp>
        <p:nvSpPr>
          <p:cNvPr id="36" name="photo-6-card"/>
          <p:cNvSpPr/>
          <p:nvPr/>
        </p:nvSpPr>
        <p:spPr>
          <a:xfrm>
            <a:off x="8039100" y="3733800"/>
            <a:ext cx="3543300" cy="18669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photo-6-zone"/>
          <p:cNvSpPr/>
          <p:nvPr/>
        </p:nvSpPr>
        <p:spPr>
          <a:xfrm>
            <a:off x="8134350" y="3829050"/>
            <a:ext cx="3352800" cy="1200150"/>
          </a:xfrm>
          <a:prstGeom prst="rect">
            <a:avLst/>
          </a:prstGeom>
          <a:solidFill>
            <a:srgbClr val="F1F5F9"/>
          </a:solidFill>
          <a:ln w="14288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photo-6-corner-tag"/>
          <p:cNvSpPr txBox="1"/>
          <p:nvPr/>
        </p:nvSpPr>
        <p:spPr>
          <a:xfrm>
            <a:off x="8210550" y="3886200"/>
            <a:ext cx="152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SLIDE 7 · AFTER</a:t>
            </a:r>
          </a:p>
        </p:txBody>
      </p:sp>
      <p:sp>
        <p:nvSpPr>
          <p:cNvPr id="39" name="photo-6-label"/>
          <p:cNvSpPr txBox="1"/>
          <p:nvPr/>
        </p:nvSpPr>
        <p:spPr>
          <a:xfrm>
            <a:off x="8134350" y="3829050"/>
            <a:ext cx="3352800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[ Single focal-point ask, isolated on slide ]</a:t>
            </a:r>
          </a:p>
        </p:txBody>
      </p:sp>
      <p:sp>
        <p:nvSpPr>
          <p:cNvPr id="40" name="photo-6-caption"/>
          <p:cNvSpPr txBox="1"/>
          <p:nvPr/>
        </p:nvSpPr>
        <p:spPr>
          <a:xfrm>
            <a:off x="8153400" y="5124450"/>
            <a:ext cx="3314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Slide 7 — After</a:t>
            </a:r>
          </a:p>
        </p:txBody>
      </p:sp>
      <p:sp>
        <p:nvSpPr>
          <p:cNvPr id="41" name="photo-6-caption-desc"/>
          <p:cNvSpPr txBox="1"/>
          <p:nvPr/>
        </p:nvSpPr>
        <p:spPr>
          <a:xfrm>
            <a:off x="8153400" y="5314950"/>
            <a:ext cx="3314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Single focal point ask.</a:t>
            </a:r>
          </a:p>
        </p:txBody>
      </p:sp>
      <p:sp>
        <p:nvSpPr>
          <p:cNvPr id="42" name="convergence-bg"/>
          <p:cNvSpPr/>
          <p:nvPr/>
        </p:nvSpPr>
        <p:spPr>
          <a:xfrm>
            <a:off x="609600" y="5753100"/>
            <a:ext cx="10972800" cy="4381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onvergence"/>
          <p:cNvSpPr txBox="1"/>
          <p:nvPr/>
        </p:nvSpPr>
        <p:spPr>
          <a:xfrm>
            <a:off x="609600" y="5753100"/>
            <a:ext cx="109728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Slide 5 is the one that flipped the room — pillars beat tables when the audience has to repeat the argument later.</a:t>
            </a:r>
          </a:p>
        </p:txBody>
      </p:sp>
      <p:sp>
        <p:nvSpPr>
          <p:cNvPr id="44" name="convergence-accent"/>
          <p:cNvSpPr/>
          <p:nvPr/>
        </p:nvSpPr>
        <p:spPr>
          <a:xfrm>
            <a:off x="609600" y="5753100"/>
            <a:ext cx="38100" cy="438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