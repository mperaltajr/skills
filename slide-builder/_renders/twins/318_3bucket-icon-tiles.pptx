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Three ways we create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lasting impact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101346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A structured lens on where value is generated across the engagement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12395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ile-1-bg"/>
          <p:cNvSpPr/>
          <p:nvPr/>
        </p:nvSpPr>
        <p:spPr>
          <a:xfrm>
            <a:off x="457200" y="1905000"/>
            <a:ext cx="3638550" cy="45148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ile-1-icon"/>
          <p:cNvSpPr/>
          <p:nvPr/>
        </p:nvSpPr>
        <p:spPr>
          <a:xfrm>
            <a:off x="2047875" y="2247900"/>
            <a:ext cx="457200" cy="4572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ile-1-headline"/>
          <p:cNvSpPr txBox="1"/>
          <p:nvPr/>
        </p:nvSpPr>
        <p:spPr>
          <a:xfrm>
            <a:off x="609600" y="2876550"/>
            <a:ext cx="33337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2D0A4E"/>
                </a:solidFill>
                <a:latin typeface="Inter"/>
              </a:rPr>
              <a:t>Operate at Scale</a:t>
            </a:r>
          </a:p>
        </p:txBody>
      </p:sp>
      <p:sp>
        <p:nvSpPr>
          <p:cNvPr id="8" name="tile-1-rule"/>
          <p:cNvSpPr/>
          <p:nvPr/>
        </p:nvSpPr>
        <p:spPr>
          <a:xfrm>
            <a:off x="2085975" y="3143250"/>
            <a:ext cx="3810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ile-1-body"/>
          <p:cNvSpPr txBox="1"/>
          <p:nvPr/>
        </p:nvSpPr>
        <p:spPr>
          <a:xfrm>
            <a:off x="666750" y="3295650"/>
            <a:ext cx="3219450" cy="1714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Harmonize delivery across regions by standardizing core processes, tooling, and governance to reduce friction and unlock throughput at every tier.</a:t>
            </a:r>
          </a:p>
        </p:txBody>
      </p:sp>
      <p:sp>
        <p:nvSpPr>
          <p:cNvPr id="10" name="tile-1-link"/>
          <p:cNvSpPr txBox="1"/>
          <p:nvPr/>
        </p:nvSpPr>
        <p:spPr>
          <a:xfrm>
            <a:off x="609600" y="6134100"/>
            <a:ext cx="3333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Learn more →</a:t>
            </a:r>
          </a:p>
        </p:txBody>
      </p:sp>
      <p:sp>
        <p:nvSpPr>
          <p:cNvPr id="11" name="tile-2-bg"/>
          <p:cNvSpPr/>
          <p:nvPr/>
        </p:nvSpPr>
        <p:spPr>
          <a:xfrm>
            <a:off x="4267200" y="1905000"/>
            <a:ext cx="3638550" cy="45148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tile-2-icon"/>
          <p:cNvSpPr/>
          <p:nvPr/>
        </p:nvSpPr>
        <p:spPr>
          <a:xfrm>
            <a:off x="5857875" y="2247900"/>
            <a:ext cx="457200" cy="457200"/>
          </a:xfrm>
          <a:prstGeom prst="diamond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tile-2-headline"/>
          <p:cNvSpPr txBox="1"/>
          <p:nvPr/>
        </p:nvSpPr>
        <p:spPr>
          <a:xfrm>
            <a:off x="4419600" y="2876550"/>
            <a:ext cx="33337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2D0A4E"/>
                </a:solidFill>
                <a:latin typeface="Inter"/>
              </a:rPr>
              <a:t>Build for Resilience</a:t>
            </a:r>
          </a:p>
        </p:txBody>
      </p:sp>
      <p:sp>
        <p:nvSpPr>
          <p:cNvPr id="14" name="tile-2-rule"/>
          <p:cNvSpPr/>
          <p:nvPr/>
        </p:nvSpPr>
        <p:spPr>
          <a:xfrm>
            <a:off x="5895975" y="3143250"/>
            <a:ext cx="3810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tile-2-body"/>
          <p:cNvSpPr txBox="1"/>
          <p:nvPr/>
        </p:nvSpPr>
        <p:spPr>
          <a:xfrm>
            <a:off x="4476750" y="3295650"/>
            <a:ext cx="3219450" cy="1714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Architect platforms and operating models that absorb disruption, shorten recovery cycles, and maintain continuity even under sustained competitive pressure.</a:t>
            </a:r>
          </a:p>
        </p:txBody>
      </p:sp>
      <p:sp>
        <p:nvSpPr>
          <p:cNvPr id="16" name="tile-2-link"/>
          <p:cNvSpPr txBox="1"/>
          <p:nvPr/>
        </p:nvSpPr>
        <p:spPr>
          <a:xfrm>
            <a:off x="4419600" y="6134100"/>
            <a:ext cx="3333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Learn more →</a:t>
            </a:r>
          </a:p>
        </p:txBody>
      </p:sp>
      <p:sp>
        <p:nvSpPr>
          <p:cNvPr id="17" name="tile-3-bg"/>
          <p:cNvSpPr/>
          <p:nvPr/>
        </p:nvSpPr>
        <p:spPr>
          <a:xfrm>
            <a:off x="8077200" y="1905000"/>
            <a:ext cx="3638550" cy="45148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tile-3-icon"/>
          <p:cNvSpPr/>
          <p:nvPr/>
        </p:nvSpPr>
        <p:spPr>
          <a:xfrm>
            <a:off x="9667875" y="2247900"/>
            <a:ext cx="457200" cy="457200"/>
          </a:xfrm>
          <a:prstGeom prst="triangl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tile-3-headline"/>
          <p:cNvSpPr txBox="1"/>
          <p:nvPr/>
        </p:nvSpPr>
        <p:spPr>
          <a:xfrm>
            <a:off x="8229600" y="2876550"/>
            <a:ext cx="33337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2D0A4E"/>
                </a:solidFill>
                <a:latin typeface="Inter"/>
              </a:rPr>
              <a:t>Accelerate Growth</a:t>
            </a:r>
          </a:p>
        </p:txBody>
      </p:sp>
      <p:sp>
        <p:nvSpPr>
          <p:cNvPr id="20" name="tile-3-rule"/>
          <p:cNvSpPr/>
          <p:nvPr/>
        </p:nvSpPr>
        <p:spPr>
          <a:xfrm>
            <a:off x="9705975" y="3143250"/>
            <a:ext cx="3810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tile-3-body"/>
          <p:cNvSpPr txBox="1"/>
          <p:nvPr/>
        </p:nvSpPr>
        <p:spPr>
          <a:xfrm>
            <a:off x="8286750" y="3295650"/>
            <a:ext cx="3219450" cy="1714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Redirect reinvested capacity toward high-value opportunities, compressing time-to-market and enabling the organization to capture demand faster than rivals.</a:t>
            </a:r>
          </a:p>
        </p:txBody>
      </p:sp>
      <p:sp>
        <p:nvSpPr>
          <p:cNvPr id="22" name="tile-3-link"/>
          <p:cNvSpPr txBox="1"/>
          <p:nvPr/>
        </p:nvSpPr>
        <p:spPr>
          <a:xfrm>
            <a:off x="8229600" y="6134100"/>
            <a:ext cx="3333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Learn more →</a:t>
            </a:r>
          </a:p>
        </p:txBody>
      </p:sp>
      <p:sp>
        <p:nvSpPr>
          <p:cNvPr id="23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24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25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318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