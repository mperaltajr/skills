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Strategy on one page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share with all 1,200 employees as the single source of strategic truth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Three strategic pillars, key performance targets and the top four priorities for the next 12 months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vision-banner"/>
          <p:cNvSpPr/>
          <p:nvPr/>
        </p:nvSpPr>
        <p:spPr>
          <a:xfrm>
            <a:off x="742950" y="2095500"/>
            <a:ext cx="1099185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g-vision"/>
          <p:cNvSpPr txBox="1"/>
          <p:nvPr/>
        </p:nvSpPr>
        <p:spPr>
          <a:xfrm>
            <a:off x="457200" y="22669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VISION</a:t>
            </a:r>
          </a:p>
        </p:txBody>
      </p:sp>
      <p:sp>
        <p:nvSpPr>
          <p:cNvPr id="7" name="vision-label"/>
          <p:cNvSpPr txBox="1"/>
          <p:nvPr/>
        </p:nvSpPr>
        <p:spPr>
          <a:xfrm>
            <a:off x="933450" y="22669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VISION</a:t>
            </a:r>
          </a:p>
        </p:txBody>
      </p:sp>
      <p:sp>
        <p:nvSpPr>
          <p:cNvPr id="8" name="vision-text"/>
          <p:cNvSpPr txBox="1"/>
          <p:nvPr/>
        </p:nvSpPr>
        <p:spPr>
          <a:xfrm>
            <a:off x="1695450" y="2095500"/>
            <a:ext cx="98488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 be the most trusted digital transformation partner in financial services by 2028</a:t>
            </a:r>
          </a:p>
        </p:txBody>
      </p:sp>
      <p:sp>
        <p:nvSpPr>
          <p:cNvPr id="9" name="tag-pillars"/>
          <p:cNvSpPr txBox="1"/>
          <p:nvPr/>
        </p:nvSpPr>
        <p:spPr>
          <a:xfrm>
            <a:off x="457200" y="33147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PILLARS</a:t>
            </a:r>
          </a:p>
        </p:txBody>
      </p:sp>
      <p:sp>
        <p:nvSpPr>
          <p:cNvPr id="10" name="pillar-1-bg"/>
          <p:cNvSpPr/>
          <p:nvPr/>
        </p:nvSpPr>
        <p:spPr>
          <a:xfrm>
            <a:off x="742950" y="2647950"/>
            <a:ext cx="3609975" cy="1485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illar-1-accent"/>
          <p:cNvSpPr/>
          <p:nvPr/>
        </p:nvSpPr>
        <p:spPr>
          <a:xfrm>
            <a:off x="742950" y="26479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ar-1-num"/>
          <p:cNvSpPr txBox="1"/>
          <p:nvPr/>
        </p:nvSpPr>
        <p:spPr>
          <a:xfrm>
            <a:off x="857250" y="2743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01</a:t>
            </a:r>
          </a:p>
        </p:txBody>
      </p:sp>
      <p:sp>
        <p:nvSpPr>
          <p:cNvPr id="13" name="pillar-1-title"/>
          <p:cNvSpPr txBox="1"/>
          <p:nvPr/>
        </p:nvSpPr>
        <p:spPr>
          <a:xfrm>
            <a:off x="857250" y="28956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Customer Centricity</a:t>
            </a:r>
          </a:p>
        </p:txBody>
      </p:sp>
      <p:sp>
        <p:nvSpPr>
          <p:cNvPr id="14" name="pillar-1-divider"/>
          <p:cNvSpPr/>
          <p:nvPr/>
        </p:nvSpPr>
        <p:spPr>
          <a:xfrm>
            <a:off x="857250" y="31242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illar-1-list"/>
          <p:cNvSpPr txBox="1"/>
          <p:nvPr/>
        </p:nvSpPr>
        <p:spPr>
          <a:xfrm>
            <a:off x="857250" y="3219450"/>
            <a:ext cx="3381375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· Redesign end-to-end client onboarding journey
· Launch real-time NPS feedback loop across all channels
· Embed customer advisory board into product roadmap</a:t>
            </a:r>
          </a:p>
        </p:txBody>
      </p:sp>
      <p:sp>
        <p:nvSpPr>
          <p:cNvPr id="16" name="pillar-2-bg"/>
          <p:cNvSpPr/>
          <p:nvPr/>
        </p:nvSpPr>
        <p:spPr>
          <a:xfrm>
            <a:off x="4429125" y="2647950"/>
            <a:ext cx="3609975" cy="1485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illar-2-accent"/>
          <p:cNvSpPr/>
          <p:nvPr/>
        </p:nvSpPr>
        <p:spPr>
          <a:xfrm>
            <a:off x="4429125" y="26479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illar-2-num"/>
          <p:cNvSpPr txBox="1"/>
          <p:nvPr/>
        </p:nvSpPr>
        <p:spPr>
          <a:xfrm>
            <a:off x="4543425" y="2743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02</a:t>
            </a:r>
          </a:p>
        </p:txBody>
      </p:sp>
      <p:sp>
        <p:nvSpPr>
          <p:cNvPr id="19" name="pillar-2-title"/>
          <p:cNvSpPr txBox="1"/>
          <p:nvPr/>
        </p:nvSpPr>
        <p:spPr>
          <a:xfrm>
            <a:off x="4543425" y="28956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Operational Excellence</a:t>
            </a:r>
          </a:p>
        </p:txBody>
      </p:sp>
      <p:sp>
        <p:nvSpPr>
          <p:cNvPr id="20" name="pillar-2-divider"/>
          <p:cNvSpPr/>
          <p:nvPr/>
        </p:nvSpPr>
        <p:spPr>
          <a:xfrm>
            <a:off x="4543425" y="31242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illar-2-list"/>
          <p:cNvSpPr txBox="1"/>
          <p:nvPr/>
        </p:nvSpPr>
        <p:spPr>
          <a:xfrm>
            <a:off x="4543425" y="3219450"/>
            <a:ext cx="3381375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· Consolidate ERP and finance systems onto single platform
· Automate 60% of back-office reconciliation workflows
· Reduce cost-to-income ratio from 58% to 48% by 2027</a:t>
            </a:r>
          </a:p>
        </p:txBody>
      </p:sp>
      <p:sp>
        <p:nvSpPr>
          <p:cNvPr id="22" name="pillar-3-bg"/>
          <p:cNvSpPr/>
          <p:nvPr/>
        </p:nvSpPr>
        <p:spPr>
          <a:xfrm>
            <a:off x="8115300" y="2647950"/>
            <a:ext cx="3609975" cy="1485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illar-3-accent"/>
          <p:cNvSpPr/>
          <p:nvPr/>
        </p:nvSpPr>
        <p:spPr>
          <a:xfrm>
            <a:off x="8115300" y="26479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3-num"/>
          <p:cNvSpPr txBox="1"/>
          <p:nvPr/>
        </p:nvSpPr>
        <p:spPr>
          <a:xfrm>
            <a:off x="8229600" y="2743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03</a:t>
            </a:r>
          </a:p>
        </p:txBody>
      </p:sp>
      <p:sp>
        <p:nvSpPr>
          <p:cNvPr id="25" name="pillar-3-title"/>
          <p:cNvSpPr txBox="1"/>
          <p:nvPr/>
        </p:nvSpPr>
        <p:spPr>
          <a:xfrm>
            <a:off x="8229600" y="28956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Digital Innovation</a:t>
            </a:r>
          </a:p>
        </p:txBody>
      </p:sp>
      <p:sp>
        <p:nvSpPr>
          <p:cNvPr id="26" name="pillar-3-divider"/>
          <p:cNvSpPr/>
          <p:nvPr/>
        </p:nvSpPr>
        <p:spPr>
          <a:xfrm>
            <a:off x="8229600" y="31242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illar-3-list"/>
          <p:cNvSpPr txBox="1"/>
          <p:nvPr/>
        </p:nvSpPr>
        <p:spPr>
          <a:xfrm>
            <a:off x="8229600" y="3219450"/>
            <a:ext cx="3381375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· Launch AI-powered advisory platform in H1 2025
· Build open banking API ecosystem with 50+ partners
· Scale cloud-native infrastructure to 100% of core systems</a:t>
            </a:r>
          </a:p>
        </p:txBody>
      </p:sp>
      <p:sp>
        <p:nvSpPr>
          <p:cNvPr id="28" name="tag-metrics"/>
          <p:cNvSpPr txBox="1"/>
          <p:nvPr/>
        </p:nvSpPr>
        <p:spPr>
          <a:xfrm>
            <a:off x="457200" y="44672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METRICS</a:t>
            </a:r>
          </a:p>
        </p:txBody>
      </p:sp>
      <p:sp>
        <p:nvSpPr>
          <p:cNvPr id="29" name="metric-1-bg"/>
          <p:cNvSpPr/>
          <p:nvPr/>
        </p:nvSpPr>
        <p:spPr>
          <a:xfrm>
            <a:off x="742950" y="4210050"/>
            <a:ext cx="3609975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metric-1-value"/>
          <p:cNvSpPr txBox="1"/>
          <p:nvPr/>
        </p:nvSpPr>
        <p:spPr>
          <a:xfrm>
            <a:off x="742950" y="430530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$2B</a:t>
            </a:r>
          </a:p>
        </p:txBody>
      </p:sp>
      <p:sp>
        <p:nvSpPr>
          <p:cNvPr id="31" name="metric-1-label"/>
          <p:cNvSpPr txBox="1"/>
          <p:nvPr/>
        </p:nvSpPr>
        <p:spPr>
          <a:xfrm>
            <a:off x="742950" y="459105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REVENUE TARGET BY 2028</a:t>
            </a:r>
          </a:p>
        </p:txBody>
      </p:sp>
      <p:sp>
        <p:nvSpPr>
          <p:cNvPr id="32" name="metric-2-bg"/>
          <p:cNvSpPr/>
          <p:nvPr/>
        </p:nvSpPr>
        <p:spPr>
          <a:xfrm>
            <a:off x="4429125" y="4210050"/>
            <a:ext cx="3609975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metric-2-value"/>
          <p:cNvSpPr txBox="1"/>
          <p:nvPr/>
        </p:nvSpPr>
        <p:spPr>
          <a:xfrm>
            <a:off x="4429125" y="430530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95%</a:t>
            </a:r>
          </a:p>
        </p:txBody>
      </p:sp>
      <p:sp>
        <p:nvSpPr>
          <p:cNvPr id="34" name="metric-2-label"/>
          <p:cNvSpPr txBox="1"/>
          <p:nvPr/>
        </p:nvSpPr>
        <p:spPr>
          <a:xfrm>
            <a:off x="4429125" y="459105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CSAT SCORE TARGET</a:t>
            </a:r>
          </a:p>
        </p:txBody>
      </p:sp>
      <p:sp>
        <p:nvSpPr>
          <p:cNvPr id="35" name="metric-3-bg"/>
          <p:cNvSpPr/>
          <p:nvPr/>
        </p:nvSpPr>
        <p:spPr>
          <a:xfrm>
            <a:off x="8115300" y="4210050"/>
            <a:ext cx="3609975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metric-3-value"/>
          <p:cNvSpPr txBox="1"/>
          <p:nvPr/>
        </p:nvSpPr>
        <p:spPr>
          <a:xfrm>
            <a:off x="8115300" y="430530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Top 3</a:t>
            </a:r>
          </a:p>
        </p:txBody>
      </p:sp>
      <p:sp>
        <p:nvSpPr>
          <p:cNvPr id="37" name="metric-3-label"/>
          <p:cNvSpPr txBox="1"/>
          <p:nvPr/>
        </p:nvSpPr>
        <p:spPr>
          <a:xfrm>
            <a:off x="8115300" y="459105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NPS RANKING IN SECTOR</a:t>
            </a:r>
          </a:p>
        </p:txBody>
      </p:sp>
      <p:sp>
        <p:nvSpPr>
          <p:cNvPr id="38" name="tag-priorities"/>
          <p:cNvSpPr txBox="1"/>
          <p:nvPr/>
        </p:nvSpPr>
        <p:spPr>
          <a:xfrm>
            <a:off x="457200" y="51530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12 MO</a:t>
            </a:r>
          </a:p>
        </p:txBody>
      </p:sp>
      <p:sp>
        <p:nvSpPr>
          <p:cNvPr id="39" name="priority-1-bg"/>
          <p:cNvSpPr/>
          <p:nvPr/>
        </p:nvSpPr>
        <p:spPr>
          <a:xfrm>
            <a:off x="742950" y="4953000"/>
            <a:ext cx="2686050" cy="552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riority-1-num"/>
          <p:cNvSpPr txBox="1"/>
          <p:nvPr/>
        </p:nvSpPr>
        <p:spPr>
          <a:xfrm>
            <a:off x="742950" y="50101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PRIORITY 01</a:t>
            </a:r>
          </a:p>
        </p:txBody>
      </p:sp>
      <p:sp>
        <p:nvSpPr>
          <p:cNvPr id="41" name="priority-1-text"/>
          <p:cNvSpPr txBox="1"/>
          <p:nvPr/>
        </p:nvSpPr>
        <p:spPr>
          <a:xfrm>
            <a:off x="819150" y="51816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Complete ERP migration</a:t>
            </a:r>
          </a:p>
        </p:txBody>
      </p:sp>
      <p:sp>
        <p:nvSpPr>
          <p:cNvPr id="42" name="priority-2-bg"/>
          <p:cNvSpPr/>
          <p:nvPr/>
        </p:nvSpPr>
        <p:spPr>
          <a:xfrm>
            <a:off x="3505200" y="4953000"/>
            <a:ext cx="2686050" cy="552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priority-2-num"/>
          <p:cNvSpPr txBox="1"/>
          <p:nvPr/>
        </p:nvSpPr>
        <p:spPr>
          <a:xfrm>
            <a:off x="3505200" y="50101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PRIORITY 02</a:t>
            </a:r>
          </a:p>
        </p:txBody>
      </p:sp>
      <p:sp>
        <p:nvSpPr>
          <p:cNvPr id="44" name="priority-2-text"/>
          <p:cNvSpPr txBox="1"/>
          <p:nvPr/>
        </p:nvSpPr>
        <p:spPr>
          <a:xfrm>
            <a:off x="3581400" y="51816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Launch AI platform</a:t>
            </a:r>
          </a:p>
        </p:txBody>
      </p:sp>
      <p:sp>
        <p:nvSpPr>
          <p:cNvPr id="45" name="priority-3-bg"/>
          <p:cNvSpPr/>
          <p:nvPr/>
        </p:nvSpPr>
        <p:spPr>
          <a:xfrm>
            <a:off x="6267450" y="4953000"/>
            <a:ext cx="2686050" cy="552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riority-3-num"/>
          <p:cNvSpPr txBox="1"/>
          <p:nvPr/>
        </p:nvSpPr>
        <p:spPr>
          <a:xfrm>
            <a:off x="6267450" y="50101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PRIORITY 03</a:t>
            </a:r>
          </a:p>
        </p:txBody>
      </p:sp>
      <p:sp>
        <p:nvSpPr>
          <p:cNvPr id="47" name="priority-3-text"/>
          <p:cNvSpPr txBox="1"/>
          <p:nvPr/>
        </p:nvSpPr>
        <p:spPr>
          <a:xfrm>
            <a:off x="6343650" y="51816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Hire 200 digital specialists</a:t>
            </a:r>
          </a:p>
        </p:txBody>
      </p:sp>
      <p:sp>
        <p:nvSpPr>
          <p:cNvPr id="48" name="priority-4-bg"/>
          <p:cNvSpPr/>
          <p:nvPr/>
        </p:nvSpPr>
        <p:spPr>
          <a:xfrm>
            <a:off x="9029700" y="4953000"/>
            <a:ext cx="2686050" cy="552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priority-4-num"/>
          <p:cNvSpPr txBox="1"/>
          <p:nvPr/>
        </p:nvSpPr>
        <p:spPr>
          <a:xfrm>
            <a:off x="9029700" y="50101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PRIORITY 04</a:t>
            </a:r>
          </a:p>
        </p:txBody>
      </p:sp>
      <p:sp>
        <p:nvSpPr>
          <p:cNvPr id="50" name="priority-4-text"/>
          <p:cNvSpPr txBox="1"/>
          <p:nvPr/>
        </p:nvSpPr>
        <p:spPr>
          <a:xfrm>
            <a:off x="9105900" y="51816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Enter APAC markets</a:t>
            </a:r>
          </a:p>
        </p:txBody>
      </p:sp>
      <p:sp>
        <p:nvSpPr>
          <p:cNvPr id="5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