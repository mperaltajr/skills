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Customer perception is split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billing and returns drag the net score to near-zero.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Net sentiment by category (n=1,240 responses). Positive = net promoter; Negative = net detractor.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pos-swatch"/>
          <p:cNvSpPr/>
          <p:nvPr/>
        </p:nvSpPr>
        <p:spPr>
          <a:xfrm>
            <a:off x="8572500" y="2257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pos-label"/>
          <p:cNvSpPr txBox="1"/>
          <p:nvPr/>
        </p:nvSpPr>
        <p:spPr>
          <a:xfrm>
            <a:off x="8724900" y="22098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Positive perception</a:t>
            </a:r>
          </a:p>
        </p:txBody>
      </p:sp>
      <p:sp>
        <p:nvSpPr>
          <p:cNvPr id="7" name="legend-neg-swatch"/>
          <p:cNvSpPr/>
          <p:nvPr/>
        </p:nvSpPr>
        <p:spPr>
          <a:xfrm>
            <a:off x="10191750" y="2257425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neg-label"/>
          <p:cNvSpPr txBox="1"/>
          <p:nvPr/>
        </p:nvSpPr>
        <p:spPr>
          <a:xfrm>
            <a:off x="10344150" y="22098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Negative perception</a:t>
            </a:r>
          </a:p>
        </p:txBody>
      </p:sp>
      <p:sp>
        <p:nvSpPr>
          <p:cNvPr id="9" name="chart-panel"/>
          <p:cNvSpPr/>
          <p:nvPr/>
        </p:nvSpPr>
        <p:spPr>
          <a:xfrm>
            <a:off x="457200" y="2552700"/>
            <a:ext cx="7439025" cy="34956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hart-title"/>
          <p:cNvSpPr txBox="1"/>
          <p:nvPr/>
        </p:nvSpPr>
        <p:spPr>
          <a:xfrm>
            <a:off x="609600" y="2647950"/>
            <a:ext cx="713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NET SENTIMENT SCORE PER CATEGORY</a:t>
            </a:r>
          </a:p>
        </p:txBody>
      </p:sp>
      <p:sp>
        <p:nvSpPr>
          <p:cNvPr id="11" name="zero-axis"/>
          <p:cNvSpPr/>
          <p:nvPr/>
        </p:nvSpPr>
        <p:spPr>
          <a:xfrm>
            <a:off x="4171950" y="2857500"/>
            <a:ext cx="9525" cy="294322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grid--50"/>
          <p:cNvSpPr/>
          <p:nvPr/>
        </p:nvSpPr>
        <p:spPr>
          <a:xfrm>
            <a:off x="733425" y="2857500"/>
            <a:ext cx="9525" cy="29432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grid--25"/>
          <p:cNvSpPr/>
          <p:nvPr/>
        </p:nvSpPr>
        <p:spPr>
          <a:xfrm>
            <a:off x="2447925" y="2857500"/>
            <a:ext cx="9525" cy="29432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grid-25"/>
          <p:cNvSpPr/>
          <p:nvPr/>
        </p:nvSpPr>
        <p:spPr>
          <a:xfrm>
            <a:off x="5886450" y="2857500"/>
            <a:ext cx="9525" cy="29432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grid-50"/>
          <p:cNvSpPr/>
          <p:nvPr/>
        </p:nvSpPr>
        <p:spPr>
          <a:xfrm>
            <a:off x="7600950" y="2857500"/>
            <a:ext cx="9525" cy="29432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ick--50"/>
          <p:cNvSpPr txBox="1"/>
          <p:nvPr/>
        </p:nvSpPr>
        <p:spPr>
          <a:xfrm>
            <a:off x="581025" y="58197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-50</a:t>
            </a:r>
          </a:p>
        </p:txBody>
      </p:sp>
      <p:sp>
        <p:nvSpPr>
          <p:cNvPr id="17" name="tick--25"/>
          <p:cNvSpPr txBox="1"/>
          <p:nvPr/>
        </p:nvSpPr>
        <p:spPr>
          <a:xfrm>
            <a:off x="2295525" y="58197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-25</a:t>
            </a:r>
          </a:p>
        </p:txBody>
      </p:sp>
      <p:sp>
        <p:nvSpPr>
          <p:cNvPr id="18" name="tick-0"/>
          <p:cNvSpPr txBox="1"/>
          <p:nvPr/>
        </p:nvSpPr>
        <p:spPr>
          <a:xfrm>
            <a:off x="4019550" y="58197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0</a:t>
            </a:r>
          </a:p>
        </p:txBody>
      </p:sp>
      <p:sp>
        <p:nvSpPr>
          <p:cNvPr id="19" name="tick-25"/>
          <p:cNvSpPr txBox="1"/>
          <p:nvPr/>
        </p:nvSpPr>
        <p:spPr>
          <a:xfrm>
            <a:off x="5734050" y="58197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+25</a:t>
            </a:r>
          </a:p>
        </p:txBody>
      </p:sp>
      <p:sp>
        <p:nvSpPr>
          <p:cNvPr id="20" name="tick-50"/>
          <p:cNvSpPr txBox="1"/>
          <p:nvPr/>
        </p:nvSpPr>
        <p:spPr>
          <a:xfrm>
            <a:off x="7448550" y="58197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+50</a:t>
            </a:r>
          </a:p>
        </p:txBody>
      </p:sp>
      <p:sp>
        <p:nvSpPr>
          <p:cNvPr id="21" name="cat-1-label"/>
          <p:cNvSpPr txBox="1"/>
          <p:nvPr/>
        </p:nvSpPr>
        <p:spPr>
          <a:xfrm>
            <a:off x="3314700" y="28765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Customer Satisfaction</a:t>
            </a:r>
          </a:p>
        </p:txBody>
      </p:sp>
      <p:sp>
        <p:nvSpPr>
          <p:cNvPr id="22" name="bar-1-pos"/>
          <p:cNvSpPr/>
          <p:nvPr/>
        </p:nvSpPr>
        <p:spPr>
          <a:xfrm>
            <a:off x="4171950" y="3009900"/>
            <a:ext cx="28765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val-1-pos"/>
          <p:cNvSpPr txBox="1"/>
          <p:nvPr/>
        </p:nvSpPr>
        <p:spPr>
          <a:xfrm>
            <a:off x="7086600" y="29908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+42</a:t>
            </a:r>
          </a:p>
        </p:txBody>
      </p:sp>
      <p:sp>
        <p:nvSpPr>
          <p:cNvPr id="24" name="cat-2-label"/>
          <p:cNvSpPr txBox="1"/>
          <p:nvPr/>
        </p:nvSpPr>
        <p:spPr>
          <a:xfrm>
            <a:off x="3314700" y="323850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Product Quality</a:t>
            </a:r>
          </a:p>
        </p:txBody>
      </p:sp>
      <p:sp>
        <p:nvSpPr>
          <p:cNvPr id="25" name="bar-2-pos"/>
          <p:cNvSpPr/>
          <p:nvPr/>
        </p:nvSpPr>
        <p:spPr>
          <a:xfrm>
            <a:off x="4171950" y="3371850"/>
            <a:ext cx="2600325" cy="133350"/>
          </a:xfrm>
          <a:prstGeom prst="rect">
            <a:avLst/>
          </a:prstGeom>
          <a:solidFill>
            <a:srgbClr val="B03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val-2-pos"/>
          <p:cNvSpPr txBox="1"/>
          <p:nvPr/>
        </p:nvSpPr>
        <p:spPr>
          <a:xfrm>
            <a:off x="6810375" y="33528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+38</a:t>
            </a:r>
          </a:p>
        </p:txBody>
      </p:sp>
      <p:sp>
        <p:nvSpPr>
          <p:cNvPr id="27" name="cat-3-label"/>
          <p:cNvSpPr txBox="1"/>
          <p:nvPr/>
        </p:nvSpPr>
        <p:spPr>
          <a:xfrm>
            <a:off x="3314700" y="36004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Price Value</a:t>
            </a:r>
          </a:p>
        </p:txBody>
      </p:sp>
      <p:sp>
        <p:nvSpPr>
          <p:cNvPr id="28" name="bar-3-pos"/>
          <p:cNvSpPr/>
          <p:nvPr/>
        </p:nvSpPr>
        <p:spPr>
          <a:xfrm>
            <a:off x="4171950" y="3733800"/>
            <a:ext cx="8191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val-3-pos"/>
          <p:cNvSpPr txBox="1"/>
          <p:nvPr/>
        </p:nvSpPr>
        <p:spPr>
          <a:xfrm>
            <a:off x="5029200" y="37147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+12</a:t>
            </a:r>
          </a:p>
        </p:txBody>
      </p:sp>
      <p:sp>
        <p:nvSpPr>
          <p:cNvPr id="30" name="cat-4-label"/>
          <p:cNvSpPr txBox="1"/>
          <p:nvPr/>
        </p:nvSpPr>
        <p:spPr>
          <a:xfrm>
            <a:off x="3314700" y="396240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Delivery Speed</a:t>
            </a:r>
          </a:p>
        </p:txBody>
      </p:sp>
      <p:sp>
        <p:nvSpPr>
          <p:cNvPr id="31" name="bar-4-pos"/>
          <p:cNvSpPr/>
          <p:nvPr/>
        </p:nvSpPr>
        <p:spPr>
          <a:xfrm>
            <a:off x="4171950" y="4095750"/>
            <a:ext cx="542925" cy="133350"/>
          </a:xfrm>
          <a:prstGeom prst="rect">
            <a:avLst/>
          </a:prstGeom>
          <a:solidFill>
            <a:srgbClr val="D4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val-4-pos"/>
          <p:cNvSpPr txBox="1"/>
          <p:nvPr/>
        </p:nvSpPr>
        <p:spPr>
          <a:xfrm>
            <a:off x="4752975" y="40767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+8</a:t>
            </a:r>
          </a:p>
        </p:txBody>
      </p:sp>
      <p:sp>
        <p:nvSpPr>
          <p:cNvPr id="33" name="cat-5-label"/>
          <p:cNvSpPr txBox="1"/>
          <p:nvPr/>
        </p:nvSpPr>
        <p:spPr>
          <a:xfrm>
            <a:off x="3314700" y="43243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Brand Trust</a:t>
            </a:r>
          </a:p>
        </p:txBody>
      </p:sp>
      <p:sp>
        <p:nvSpPr>
          <p:cNvPr id="34" name="bar-5-neg"/>
          <p:cNvSpPr/>
          <p:nvPr/>
        </p:nvSpPr>
        <p:spPr>
          <a:xfrm>
            <a:off x="3829050" y="4457700"/>
            <a:ext cx="342900" cy="13335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val-5-neg"/>
          <p:cNvSpPr txBox="1"/>
          <p:nvPr/>
        </p:nvSpPr>
        <p:spPr>
          <a:xfrm>
            <a:off x="3467100" y="443865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53030"/>
                </a:solidFill>
                <a:latin typeface="Inter"/>
              </a:rPr>
              <a:t>-5</a:t>
            </a:r>
          </a:p>
        </p:txBody>
      </p:sp>
      <p:sp>
        <p:nvSpPr>
          <p:cNvPr id="36" name="cat-6-label"/>
          <p:cNvSpPr txBox="1"/>
          <p:nvPr/>
        </p:nvSpPr>
        <p:spPr>
          <a:xfrm>
            <a:off x="3314700" y="468630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Support Quality</a:t>
            </a:r>
          </a:p>
        </p:txBody>
      </p:sp>
      <p:sp>
        <p:nvSpPr>
          <p:cNvPr id="37" name="bar-6-neg"/>
          <p:cNvSpPr/>
          <p:nvPr/>
        </p:nvSpPr>
        <p:spPr>
          <a:xfrm>
            <a:off x="2943225" y="4819650"/>
            <a:ext cx="1228725" cy="13335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val-6-neg"/>
          <p:cNvSpPr txBox="1"/>
          <p:nvPr/>
        </p:nvSpPr>
        <p:spPr>
          <a:xfrm>
            <a:off x="2581275" y="480060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53030"/>
                </a:solidFill>
                <a:latin typeface="Inter"/>
              </a:rPr>
              <a:t>-18</a:t>
            </a:r>
          </a:p>
        </p:txBody>
      </p:sp>
      <p:sp>
        <p:nvSpPr>
          <p:cNvPr id="39" name="cat-7-label"/>
          <p:cNvSpPr txBox="1"/>
          <p:nvPr/>
        </p:nvSpPr>
        <p:spPr>
          <a:xfrm>
            <a:off x="3314700" y="50482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Return Process</a:t>
            </a:r>
          </a:p>
        </p:txBody>
      </p:sp>
      <p:sp>
        <p:nvSpPr>
          <p:cNvPr id="40" name="bar-7-neg"/>
          <p:cNvSpPr/>
          <p:nvPr/>
        </p:nvSpPr>
        <p:spPr>
          <a:xfrm>
            <a:off x="2047875" y="5181600"/>
            <a:ext cx="2124075" cy="1333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val-7-neg"/>
          <p:cNvSpPr txBox="1"/>
          <p:nvPr/>
        </p:nvSpPr>
        <p:spPr>
          <a:xfrm>
            <a:off x="1685925" y="516255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53030"/>
                </a:solidFill>
                <a:latin typeface="Inter"/>
              </a:rPr>
              <a:t>-31</a:t>
            </a:r>
          </a:p>
        </p:txBody>
      </p:sp>
      <p:sp>
        <p:nvSpPr>
          <p:cNvPr id="42" name="cat-8-label"/>
          <p:cNvSpPr txBox="1"/>
          <p:nvPr/>
        </p:nvSpPr>
        <p:spPr>
          <a:xfrm>
            <a:off x="3314700" y="541020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Billing Clarity</a:t>
            </a:r>
          </a:p>
        </p:txBody>
      </p:sp>
      <p:sp>
        <p:nvSpPr>
          <p:cNvPr id="43" name="bar-8-neg"/>
          <p:cNvSpPr/>
          <p:nvPr/>
        </p:nvSpPr>
        <p:spPr>
          <a:xfrm>
            <a:off x="1152525" y="5543550"/>
            <a:ext cx="3019425" cy="13335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val-8-neg"/>
          <p:cNvSpPr txBox="1"/>
          <p:nvPr/>
        </p:nvSpPr>
        <p:spPr>
          <a:xfrm>
            <a:off x="790575" y="552450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53030"/>
                </a:solidFill>
                <a:latin typeface="Inter"/>
              </a:rPr>
              <a:t>-44</a:t>
            </a:r>
          </a:p>
        </p:txBody>
      </p:sp>
      <p:sp>
        <p:nvSpPr>
          <p:cNvPr id="45" name="insight-panel"/>
          <p:cNvSpPr/>
          <p:nvPr/>
        </p:nvSpPr>
        <p:spPr>
          <a:xfrm>
            <a:off x="8067675" y="2552700"/>
            <a:ext cx="3667125" cy="34956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anel-eyebrow"/>
          <p:cNvSpPr txBox="1"/>
          <p:nvPr/>
        </p:nvSpPr>
        <p:spPr>
          <a:xfrm>
            <a:off x="8220075" y="2686050"/>
            <a:ext cx="33623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OVERALL NET SCORE</a:t>
            </a:r>
          </a:p>
        </p:txBody>
      </p:sp>
      <p:sp>
        <p:nvSpPr>
          <p:cNvPr id="47" name="net-score-value"/>
          <p:cNvSpPr txBox="1"/>
          <p:nvPr/>
        </p:nvSpPr>
        <p:spPr>
          <a:xfrm>
            <a:off x="8220075" y="2857500"/>
            <a:ext cx="33623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A100FF"/>
                </a:solidFill>
                <a:latin typeface="Inter"/>
              </a:rPr>
              <a:t>+2 pts</a:t>
            </a:r>
          </a:p>
        </p:txBody>
      </p:sp>
      <p:sp>
        <p:nvSpPr>
          <p:cNvPr id="48" name="net-score-label"/>
          <p:cNvSpPr txBox="1"/>
          <p:nvPr/>
        </p:nvSpPr>
        <p:spPr>
          <a:xfrm>
            <a:off x="8220075" y="3314700"/>
            <a:ext cx="33623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Aggregate net sentiment (sum of all 8 categories ÷ 8)</a:t>
            </a:r>
          </a:p>
        </p:txBody>
      </p:sp>
      <p:sp>
        <p:nvSpPr>
          <p:cNvPr id="49" name="insights-label"/>
          <p:cNvSpPr txBox="1"/>
          <p:nvPr/>
        </p:nvSpPr>
        <p:spPr>
          <a:xfrm>
            <a:off x="8220075" y="3695700"/>
            <a:ext cx="33623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KEY INSIGHTS</a:t>
            </a:r>
          </a:p>
        </p:txBody>
      </p:sp>
      <p:sp>
        <p:nvSpPr>
          <p:cNvPr id="50" name="insight-1-heading"/>
          <p:cNvSpPr txBox="1"/>
          <p:nvPr/>
        </p:nvSpPr>
        <p:spPr>
          <a:xfrm>
            <a:off x="8220075" y="3924300"/>
            <a:ext cx="3362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Product strength is real but narrow</a:t>
            </a:r>
          </a:p>
        </p:txBody>
      </p:sp>
      <p:sp>
        <p:nvSpPr>
          <p:cNvPr id="51" name="insight-1-body"/>
          <p:cNvSpPr txBox="1"/>
          <p:nvPr/>
        </p:nvSpPr>
        <p:spPr>
          <a:xfrm>
            <a:off x="8220075" y="4114800"/>
            <a:ext cx="33623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Top 2 categories (Satisfaction +42, Quality +38) carry the score; without them the net would be –38.</a:t>
            </a:r>
          </a:p>
        </p:txBody>
      </p:sp>
      <p:sp>
        <p:nvSpPr>
          <p:cNvPr id="52" name="insight-2-heading"/>
          <p:cNvSpPr txBox="1"/>
          <p:nvPr/>
        </p:nvSpPr>
        <p:spPr>
          <a:xfrm>
            <a:off x="8220075" y="4781550"/>
            <a:ext cx="3362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Billing &amp; returns destroy value</a:t>
            </a:r>
          </a:p>
        </p:txBody>
      </p:sp>
      <p:sp>
        <p:nvSpPr>
          <p:cNvPr id="53" name="insight-2-body"/>
          <p:cNvSpPr txBox="1"/>
          <p:nvPr/>
        </p:nvSpPr>
        <p:spPr>
          <a:xfrm>
            <a:off x="8220075" y="4972050"/>
            <a:ext cx="33623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Billing Clarity (–44) and Return Process (–31) together erase nearly all positive sentiment. Fix these first.</a:t>
            </a:r>
          </a:p>
        </p:txBody>
      </p:sp>
      <p:sp>
        <p:nvSpPr>
          <p:cNvPr id="54" name="source-note"/>
          <p:cNvSpPr txBox="1"/>
          <p:nvPr/>
        </p:nvSpPr>
        <p:spPr>
          <a:xfrm>
            <a:off x="8220075" y="5781675"/>
            <a:ext cx="3362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Source: Q1 2026 Customer Pulse · n=1,240 · Fieldwork: March 2026</a:t>
            </a:r>
          </a:p>
        </p:txBody>
      </p:sp>
      <p:sp>
        <p:nvSpPr>
          <p:cNvPr id="5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