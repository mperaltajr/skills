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End-to-End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Solution Architecture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Layered platform design — cloud-native, API-first, event-driven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ayer-1-bg"/>
          <p:cNvSpPr/>
          <p:nvPr/>
        </p:nvSpPr>
        <p:spPr>
          <a:xfrm>
            <a:off x="609600" y="1524000"/>
            <a:ext cx="6858000" cy="762000"/>
          </a:xfrm>
          <a:prstGeom prst="rect">
            <a:avLst/>
          </a:prstGeom>
          <a:solidFill>
            <a:srgbClr val="5E3588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ayer-1-strip"/>
          <p:cNvSpPr/>
          <p:nvPr/>
        </p:nvSpPr>
        <p:spPr>
          <a:xfrm>
            <a:off x="609600" y="1524000"/>
            <a:ext cx="38100" cy="76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ayer-1-label"/>
          <p:cNvSpPr txBox="1"/>
          <p:nvPr/>
        </p:nvSpPr>
        <p:spPr>
          <a:xfrm>
            <a:off x="762000" y="16383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UX</a:t>
            </a:r>
          </a:p>
        </p:txBody>
      </p:sp>
      <p:sp>
        <p:nvSpPr>
          <p:cNvPr id="8" name="layer-1-name"/>
          <p:cNvSpPr txBox="1"/>
          <p:nvPr/>
        </p:nvSpPr>
        <p:spPr>
          <a:xfrm>
            <a:off x="762000" y="1885950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User Interface</a:t>
            </a:r>
          </a:p>
        </p:txBody>
      </p:sp>
      <p:sp>
        <p:nvSpPr>
          <p:cNvPr id="9" name="layer-1-pill-1-bg"/>
          <p:cNvSpPr/>
          <p:nvPr/>
        </p:nvSpPr>
        <p:spPr>
          <a:xfrm>
            <a:off x="2038350" y="1771650"/>
            <a:ext cx="161925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ayer-1-pill-1"/>
          <p:cNvSpPr txBox="1"/>
          <p:nvPr/>
        </p:nvSpPr>
        <p:spPr>
          <a:xfrm>
            <a:off x="2038350" y="17716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React / Next.js</a:t>
            </a:r>
          </a:p>
        </p:txBody>
      </p:sp>
      <p:sp>
        <p:nvSpPr>
          <p:cNvPr id="11" name="layer-1-pill-2-bg"/>
          <p:cNvSpPr/>
          <p:nvPr/>
        </p:nvSpPr>
        <p:spPr>
          <a:xfrm>
            <a:off x="3752850" y="17716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ayer-1-pill-2"/>
          <p:cNvSpPr txBox="1"/>
          <p:nvPr/>
        </p:nvSpPr>
        <p:spPr>
          <a:xfrm>
            <a:off x="3752850" y="17716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Design System</a:t>
            </a:r>
          </a:p>
        </p:txBody>
      </p:sp>
      <p:sp>
        <p:nvSpPr>
          <p:cNvPr id="13" name="layer-1-pill-3-bg"/>
          <p:cNvSpPr/>
          <p:nvPr/>
        </p:nvSpPr>
        <p:spPr>
          <a:xfrm>
            <a:off x="5467350" y="17716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layer-1-pill-3"/>
          <p:cNvSpPr txBox="1"/>
          <p:nvPr/>
        </p:nvSpPr>
        <p:spPr>
          <a:xfrm>
            <a:off x="5467350" y="17716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Accessibility</a:t>
            </a:r>
          </a:p>
        </p:txBody>
      </p:sp>
      <p:sp>
        <p:nvSpPr>
          <p:cNvPr id="15" name="arrow-1"/>
          <p:cNvSpPr/>
          <p:nvPr/>
        </p:nvSpPr>
        <p:spPr>
          <a:xfrm>
            <a:off x="4038600" y="2295525"/>
            <a:ext cx="9525" cy="952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layer-2-bg"/>
          <p:cNvSpPr/>
          <p:nvPr/>
        </p:nvSpPr>
        <p:spPr>
          <a:xfrm>
            <a:off x="609600" y="2400300"/>
            <a:ext cx="6858000" cy="762000"/>
          </a:xfrm>
          <a:prstGeom prst="rect">
            <a:avLst/>
          </a:prstGeom>
          <a:solidFill>
            <a:srgbClr val="4A2E70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layer-2-strip"/>
          <p:cNvSpPr/>
          <p:nvPr/>
        </p:nvSpPr>
        <p:spPr>
          <a:xfrm>
            <a:off x="609600" y="2400300"/>
            <a:ext cx="38100" cy="76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ayer-2-label"/>
          <p:cNvSpPr txBox="1"/>
          <p:nvPr/>
        </p:nvSpPr>
        <p:spPr>
          <a:xfrm>
            <a:off x="762000" y="25146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API</a:t>
            </a:r>
          </a:p>
        </p:txBody>
      </p:sp>
      <p:sp>
        <p:nvSpPr>
          <p:cNvPr id="19" name="layer-2-name"/>
          <p:cNvSpPr txBox="1"/>
          <p:nvPr/>
        </p:nvSpPr>
        <p:spPr>
          <a:xfrm>
            <a:off x="762000" y="2762250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Integration</a:t>
            </a:r>
          </a:p>
        </p:txBody>
      </p:sp>
      <p:sp>
        <p:nvSpPr>
          <p:cNvPr id="20" name="layer-2-pill-1-bg"/>
          <p:cNvSpPr/>
          <p:nvPr/>
        </p:nvSpPr>
        <p:spPr>
          <a:xfrm>
            <a:off x="2038350" y="2647950"/>
            <a:ext cx="161925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layer-2-pill-1"/>
          <p:cNvSpPr txBox="1"/>
          <p:nvPr/>
        </p:nvSpPr>
        <p:spPr>
          <a:xfrm>
            <a:off x="2038350" y="26479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 Gateway</a:t>
            </a:r>
          </a:p>
        </p:txBody>
      </p:sp>
      <p:sp>
        <p:nvSpPr>
          <p:cNvPr id="22" name="layer-2-pill-2-bg"/>
          <p:cNvSpPr/>
          <p:nvPr/>
        </p:nvSpPr>
        <p:spPr>
          <a:xfrm>
            <a:off x="3752850" y="26479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layer-2-pill-2"/>
          <p:cNvSpPr txBox="1"/>
          <p:nvPr/>
        </p:nvSpPr>
        <p:spPr>
          <a:xfrm>
            <a:off x="3752850" y="26479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Event Bus</a:t>
            </a:r>
          </a:p>
        </p:txBody>
      </p:sp>
      <p:sp>
        <p:nvSpPr>
          <p:cNvPr id="24" name="layer-2-pill-3-bg"/>
          <p:cNvSpPr/>
          <p:nvPr/>
        </p:nvSpPr>
        <p:spPr>
          <a:xfrm>
            <a:off x="5467350" y="26479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layer-2-pill-3"/>
          <p:cNvSpPr txBox="1"/>
          <p:nvPr/>
        </p:nvSpPr>
        <p:spPr>
          <a:xfrm>
            <a:off x="5467350" y="26479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Auth / OAuth</a:t>
            </a:r>
          </a:p>
        </p:txBody>
      </p:sp>
      <p:sp>
        <p:nvSpPr>
          <p:cNvPr id="26" name="arrow-2"/>
          <p:cNvSpPr/>
          <p:nvPr/>
        </p:nvSpPr>
        <p:spPr>
          <a:xfrm>
            <a:off x="4038600" y="3171825"/>
            <a:ext cx="9525" cy="952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layer-3-bg"/>
          <p:cNvSpPr/>
          <p:nvPr/>
        </p:nvSpPr>
        <p:spPr>
          <a:xfrm>
            <a:off x="609600" y="3276600"/>
            <a:ext cx="6858000" cy="762000"/>
          </a:xfrm>
          <a:prstGeom prst="rect">
            <a:avLst/>
          </a:prstGeom>
          <a:solidFill>
            <a:srgbClr val="3C2860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layer-3-strip"/>
          <p:cNvSpPr/>
          <p:nvPr/>
        </p:nvSpPr>
        <p:spPr>
          <a:xfrm>
            <a:off x="609600" y="3276600"/>
            <a:ext cx="38100" cy="76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layer-3-label"/>
          <p:cNvSpPr txBox="1"/>
          <p:nvPr/>
        </p:nvSpPr>
        <p:spPr>
          <a:xfrm>
            <a:off x="762000" y="33909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SERVICES</a:t>
            </a:r>
          </a:p>
        </p:txBody>
      </p:sp>
      <p:sp>
        <p:nvSpPr>
          <p:cNvPr id="30" name="layer-3-name"/>
          <p:cNvSpPr txBox="1"/>
          <p:nvPr/>
        </p:nvSpPr>
        <p:spPr>
          <a:xfrm>
            <a:off x="762000" y="3638550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Application</a:t>
            </a:r>
          </a:p>
        </p:txBody>
      </p:sp>
      <p:sp>
        <p:nvSpPr>
          <p:cNvPr id="31" name="layer-3-pill-1-bg"/>
          <p:cNvSpPr/>
          <p:nvPr/>
        </p:nvSpPr>
        <p:spPr>
          <a:xfrm>
            <a:off x="2038350" y="3524250"/>
            <a:ext cx="161925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layer-3-pill-1"/>
          <p:cNvSpPr txBox="1"/>
          <p:nvPr/>
        </p:nvSpPr>
        <p:spPr>
          <a:xfrm>
            <a:off x="2038350" y="35242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Microservices</a:t>
            </a:r>
          </a:p>
        </p:txBody>
      </p:sp>
      <p:sp>
        <p:nvSpPr>
          <p:cNvPr id="33" name="layer-3-pill-2-bg"/>
          <p:cNvSpPr/>
          <p:nvPr/>
        </p:nvSpPr>
        <p:spPr>
          <a:xfrm>
            <a:off x="3752850" y="35242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layer-3-pill-2"/>
          <p:cNvSpPr txBox="1"/>
          <p:nvPr/>
        </p:nvSpPr>
        <p:spPr>
          <a:xfrm>
            <a:off x="3752850" y="35242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Workflow Engine</a:t>
            </a:r>
          </a:p>
        </p:txBody>
      </p:sp>
      <p:sp>
        <p:nvSpPr>
          <p:cNvPr id="35" name="layer-3-pill-3-bg"/>
          <p:cNvSpPr/>
          <p:nvPr/>
        </p:nvSpPr>
        <p:spPr>
          <a:xfrm>
            <a:off x="5467350" y="35242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layer-3-pill-3"/>
          <p:cNvSpPr txBox="1"/>
          <p:nvPr/>
        </p:nvSpPr>
        <p:spPr>
          <a:xfrm>
            <a:off x="5467350" y="35242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AI / ML Core</a:t>
            </a:r>
          </a:p>
        </p:txBody>
      </p:sp>
      <p:sp>
        <p:nvSpPr>
          <p:cNvPr id="37" name="arrow-3"/>
          <p:cNvSpPr/>
          <p:nvPr/>
        </p:nvSpPr>
        <p:spPr>
          <a:xfrm>
            <a:off x="4038600" y="4048125"/>
            <a:ext cx="9525" cy="952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layer-4-bg"/>
          <p:cNvSpPr/>
          <p:nvPr/>
        </p:nvSpPr>
        <p:spPr>
          <a:xfrm>
            <a:off x="609600" y="4152900"/>
            <a:ext cx="6858000" cy="762000"/>
          </a:xfrm>
          <a:prstGeom prst="rect">
            <a:avLst/>
          </a:prstGeom>
          <a:solidFill>
            <a:srgbClr val="322052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layer-4-strip"/>
          <p:cNvSpPr/>
          <p:nvPr/>
        </p:nvSpPr>
        <p:spPr>
          <a:xfrm>
            <a:off x="609600" y="4152900"/>
            <a:ext cx="38100" cy="76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layer-4-label"/>
          <p:cNvSpPr txBox="1"/>
          <p:nvPr/>
        </p:nvSpPr>
        <p:spPr>
          <a:xfrm>
            <a:off x="762000" y="42672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DATA</a:t>
            </a:r>
          </a:p>
        </p:txBody>
      </p:sp>
      <p:sp>
        <p:nvSpPr>
          <p:cNvPr id="41" name="layer-4-name"/>
          <p:cNvSpPr txBox="1"/>
          <p:nvPr/>
        </p:nvSpPr>
        <p:spPr>
          <a:xfrm>
            <a:off x="762000" y="4514850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Platform</a:t>
            </a:r>
          </a:p>
        </p:txBody>
      </p:sp>
      <p:sp>
        <p:nvSpPr>
          <p:cNvPr id="42" name="layer-4-pill-1-bg"/>
          <p:cNvSpPr/>
          <p:nvPr/>
        </p:nvSpPr>
        <p:spPr>
          <a:xfrm>
            <a:off x="2038350" y="4400550"/>
            <a:ext cx="161925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layer-4-pill-1"/>
          <p:cNvSpPr txBox="1"/>
          <p:nvPr/>
        </p:nvSpPr>
        <p:spPr>
          <a:xfrm>
            <a:off x="2038350" y="44005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Lakehouse</a:t>
            </a:r>
          </a:p>
        </p:txBody>
      </p:sp>
      <p:sp>
        <p:nvSpPr>
          <p:cNvPr id="44" name="layer-4-pill-2-bg"/>
          <p:cNvSpPr/>
          <p:nvPr/>
        </p:nvSpPr>
        <p:spPr>
          <a:xfrm>
            <a:off x="3752850" y="44005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layer-4-pill-2"/>
          <p:cNvSpPr txBox="1"/>
          <p:nvPr/>
        </p:nvSpPr>
        <p:spPr>
          <a:xfrm>
            <a:off x="3752850" y="44005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Streaming</a:t>
            </a:r>
          </a:p>
        </p:txBody>
      </p:sp>
      <p:sp>
        <p:nvSpPr>
          <p:cNvPr id="46" name="layer-4-pill-3-bg"/>
          <p:cNvSpPr/>
          <p:nvPr/>
        </p:nvSpPr>
        <p:spPr>
          <a:xfrm>
            <a:off x="5467350" y="44005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layer-4-pill-3"/>
          <p:cNvSpPr txBox="1"/>
          <p:nvPr/>
        </p:nvSpPr>
        <p:spPr>
          <a:xfrm>
            <a:off x="5467350" y="44005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Data Mesh</a:t>
            </a:r>
          </a:p>
        </p:txBody>
      </p:sp>
      <p:sp>
        <p:nvSpPr>
          <p:cNvPr id="48" name="arrow-4"/>
          <p:cNvSpPr/>
          <p:nvPr/>
        </p:nvSpPr>
        <p:spPr>
          <a:xfrm>
            <a:off x="4038600" y="4924425"/>
            <a:ext cx="9525" cy="952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layer-5-bg"/>
          <p:cNvSpPr/>
          <p:nvPr/>
        </p:nvSpPr>
        <p:spPr>
          <a:xfrm>
            <a:off x="609600" y="5029200"/>
            <a:ext cx="6858000" cy="762000"/>
          </a:xfrm>
          <a:prstGeom prst="rect">
            <a:avLst/>
          </a:prstGeom>
          <a:solidFill>
            <a:srgbClr val="281844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layer-5-strip"/>
          <p:cNvSpPr/>
          <p:nvPr/>
        </p:nvSpPr>
        <p:spPr>
          <a:xfrm>
            <a:off x="609600" y="5029200"/>
            <a:ext cx="38100" cy="76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layer-5-label"/>
          <p:cNvSpPr txBox="1"/>
          <p:nvPr/>
        </p:nvSpPr>
        <p:spPr>
          <a:xfrm>
            <a:off x="762000" y="5143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INFRA</a:t>
            </a:r>
          </a:p>
        </p:txBody>
      </p:sp>
      <p:sp>
        <p:nvSpPr>
          <p:cNvPr id="52" name="layer-5-name"/>
          <p:cNvSpPr txBox="1"/>
          <p:nvPr/>
        </p:nvSpPr>
        <p:spPr>
          <a:xfrm>
            <a:off x="762000" y="5391150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Cloud</a:t>
            </a:r>
          </a:p>
        </p:txBody>
      </p:sp>
      <p:sp>
        <p:nvSpPr>
          <p:cNvPr id="53" name="layer-5-pill-1-bg"/>
          <p:cNvSpPr/>
          <p:nvPr/>
        </p:nvSpPr>
        <p:spPr>
          <a:xfrm>
            <a:off x="2038350" y="5276850"/>
            <a:ext cx="1619250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layer-5-pill-1"/>
          <p:cNvSpPr txBox="1"/>
          <p:nvPr/>
        </p:nvSpPr>
        <p:spPr>
          <a:xfrm>
            <a:off x="2038350" y="52768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Kubernetes</a:t>
            </a:r>
          </a:p>
        </p:txBody>
      </p:sp>
      <p:sp>
        <p:nvSpPr>
          <p:cNvPr id="55" name="layer-5-pill-2-bg"/>
          <p:cNvSpPr/>
          <p:nvPr/>
        </p:nvSpPr>
        <p:spPr>
          <a:xfrm>
            <a:off x="3752850" y="52768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layer-5-pill-2"/>
          <p:cNvSpPr txBox="1"/>
          <p:nvPr/>
        </p:nvSpPr>
        <p:spPr>
          <a:xfrm>
            <a:off x="3752850" y="52768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IaC / Terraform</a:t>
            </a:r>
          </a:p>
        </p:txBody>
      </p:sp>
      <p:sp>
        <p:nvSpPr>
          <p:cNvPr id="57" name="layer-5-pill-3-bg"/>
          <p:cNvSpPr/>
          <p:nvPr/>
        </p:nvSpPr>
        <p:spPr>
          <a:xfrm>
            <a:off x="5467350" y="5276850"/>
            <a:ext cx="161925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layer-5-pill-3"/>
          <p:cNvSpPr txBox="1"/>
          <p:nvPr/>
        </p:nvSpPr>
        <p:spPr>
          <a:xfrm>
            <a:off x="5467350" y="52768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Zero-Trust</a:t>
            </a:r>
          </a:p>
        </p:txBody>
      </p:sp>
      <p:sp>
        <p:nvSpPr>
          <p:cNvPr id="59" name="principles-bg"/>
          <p:cNvSpPr/>
          <p:nvPr/>
        </p:nvSpPr>
        <p:spPr>
          <a:xfrm>
            <a:off x="7620000" y="1524000"/>
            <a:ext cx="3962400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principles-title"/>
          <p:cNvSpPr txBox="1"/>
          <p:nvPr/>
        </p:nvSpPr>
        <p:spPr>
          <a:xfrm>
            <a:off x="7791450" y="1657350"/>
            <a:ext cx="3619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DESIGN PRINCIPLES</a:t>
            </a:r>
          </a:p>
        </p:txBody>
      </p:sp>
      <p:sp>
        <p:nvSpPr>
          <p:cNvPr id="61" name="principles-rule"/>
          <p:cNvSpPr/>
          <p:nvPr/>
        </p:nvSpPr>
        <p:spPr>
          <a:xfrm>
            <a:off x="7791450" y="1847850"/>
            <a:ext cx="2667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p-1-num"/>
          <p:cNvSpPr txBox="1"/>
          <p:nvPr/>
        </p:nvSpPr>
        <p:spPr>
          <a:xfrm>
            <a:off x="7791450" y="196215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63" name="p-1-title"/>
          <p:cNvSpPr txBox="1"/>
          <p:nvPr/>
        </p:nvSpPr>
        <p:spPr>
          <a:xfrm>
            <a:off x="8153400" y="1962150"/>
            <a:ext cx="3257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API-First by Default</a:t>
            </a:r>
          </a:p>
        </p:txBody>
      </p:sp>
      <p:sp>
        <p:nvSpPr>
          <p:cNvPr id="64" name="p-1-desc"/>
          <p:cNvSpPr txBox="1"/>
          <p:nvPr/>
        </p:nvSpPr>
        <p:spPr>
          <a:xfrm>
            <a:off x="8153400" y="2152650"/>
            <a:ext cx="32575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Every capability exposed via versioned, documented APIs before any UI is built.</a:t>
            </a:r>
          </a:p>
        </p:txBody>
      </p:sp>
      <p:sp>
        <p:nvSpPr>
          <p:cNvPr id="65" name="p-2-num"/>
          <p:cNvSpPr txBox="1"/>
          <p:nvPr/>
        </p:nvSpPr>
        <p:spPr>
          <a:xfrm>
            <a:off x="7791450" y="268605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66" name="p-2-title"/>
          <p:cNvSpPr txBox="1"/>
          <p:nvPr/>
        </p:nvSpPr>
        <p:spPr>
          <a:xfrm>
            <a:off x="8153400" y="2686050"/>
            <a:ext cx="3257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Event-Driven Decoupling</a:t>
            </a:r>
          </a:p>
        </p:txBody>
      </p:sp>
      <p:sp>
        <p:nvSpPr>
          <p:cNvPr id="67" name="p-2-desc"/>
          <p:cNvSpPr txBox="1"/>
          <p:nvPr/>
        </p:nvSpPr>
        <p:spPr>
          <a:xfrm>
            <a:off x="8153400" y="2876550"/>
            <a:ext cx="32575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Services communicate asynchronously; no direct synchronous dependencies.</a:t>
            </a:r>
          </a:p>
        </p:txBody>
      </p:sp>
      <p:sp>
        <p:nvSpPr>
          <p:cNvPr id="68" name="p-3-num"/>
          <p:cNvSpPr txBox="1"/>
          <p:nvPr/>
        </p:nvSpPr>
        <p:spPr>
          <a:xfrm>
            <a:off x="7791450" y="340995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69" name="p-3-title"/>
          <p:cNvSpPr txBox="1"/>
          <p:nvPr/>
        </p:nvSpPr>
        <p:spPr>
          <a:xfrm>
            <a:off x="8153400" y="3409950"/>
            <a:ext cx="3257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Zero-Trust Security</a:t>
            </a:r>
          </a:p>
        </p:txBody>
      </p:sp>
      <p:sp>
        <p:nvSpPr>
          <p:cNvPr id="70" name="p-3-desc"/>
          <p:cNvSpPr txBox="1"/>
          <p:nvPr/>
        </p:nvSpPr>
        <p:spPr>
          <a:xfrm>
            <a:off x="8153400" y="3600450"/>
            <a:ext cx="32575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Identity verified at every layer; least-privilege enforced continuously.</a:t>
            </a:r>
          </a:p>
        </p:txBody>
      </p:sp>
      <p:sp>
        <p:nvSpPr>
          <p:cNvPr id="71" name="p-4-num"/>
          <p:cNvSpPr txBox="1"/>
          <p:nvPr/>
        </p:nvSpPr>
        <p:spPr>
          <a:xfrm>
            <a:off x="7791450" y="413385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72" name="p-4-title"/>
          <p:cNvSpPr txBox="1"/>
          <p:nvPr/>
        </p:nvSpPr>
        <p:spPr>
          <a:xfrm>
            <a:off x="8153400" y="4133850"/>
            <a:ext cx="3257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Observability Built In</a:t>
            </a:r>
          </a:p>
        </p:txBody>
      </p:sp>
      <p:sp>
        <p:nvSpPr>
          <p:cNvPr id="73" name="p-4-desc"/>
          <p:cNvSpPr txBox="1"/>
          <p:nvPr/>
        </p:nvSpPr>
        <p:spPr>
          <a:xfrm>
            <a:off x="8153400" y="4324350"/>
            <a:ext cx="32575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Logs, metrics, and traces emitted from day one — not bolted on later.</a:t>
            </a:r>
          </a:p>
        </p:txBody>
      </p:sp>
      <p:sp>
        <p:nvSpPr>
          <p:cNvPr id="74" name="partners-bg"/>
          <p:cNvSpPr/>
          <p:nvPr/>
        </p:nvSpPr>
        <p:spPr>
          <a:xfrm>
            <a:off x="7620000" y="5067300"/>
            <a:ext cx="3962400" cy="857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partners-label"/>
          <p:cNvSpPr txBox="1"/>
          <p:nvPr/>
        </p:nvSpPr>
        <p:spPr>
          <a:xfrm>
            <a:off x="7791450" y="5181600"/>
            <a:ext cx="3619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TECHNOLOGY PARTNERS</a:t>
            </a:r>
          </a:p>
        </p:txBody>
      </p:sp>
      <p:sp>
        <p:nvSpPr>
          <p:cNvPr id="76" name="partner-1-circle"/>
          <p:cNvSpPr/>
          <p:nvPr/>
        </p:nvSpPr>
        <p:spPr>
          <a:xfrm>
            <a:off x="7791450" y="5429250"/>
            <a:ext cx="342900" cy="3429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partner-1-init"/>
          <p:cNvSpPr txBox="1"/>
          <p:nvPr/>
        </p:nvSpPr>
        <p:spPr>
          <a:xfrm>
            <a:off x="7791450" y="54292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AWS</a:t>
            </a:r>
          </a:p>
        </p:txBody>
      </p:sp>
      <p:sp>
        <p:nvSpPr>
          <p:cNvPr id="78" name="partner-1-name"/>
          <p:cNvSpPr txBox="1"/>
          <p:nvPr/>
        </p:nvSpPr>
        <p:spPr>
          <a:xfrm>
            <a:off x="8191500" y="5429250"/>
            <a:ext cx="7239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Amazon Web Services</a:t>
            </a:r>
          </a:p>
        </p:txBody>
      </p:sp>
      <p:sp>
        <p:nvSpPr>
          <p:cNvPr id="79" name="partner-2-circle"/>
          <p:cNvSpPr/>
          <p:nvPr/>
        </p:nvSpPr>
        <p:spPr>
          <a:xfrm>
            <a:off x="8991600" y="5429250"/>
            <a:ext cx="342900" cy="3429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partner-2-init"/>
          <p:cNvSpPr txBox="1"/>
          <p:nvPr/>
        </p:nvSpPr>
        <p:spPr>
          <a:xfrm>
            <a:off x="8991600" y="54292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GCP</a:t>
            </a:r>
          </a:p>
        </p:txBody>
      </p:sp>
      <p:sp>
        <p:nvSpPr>
          <p:cNvPr id="81" name="partner-2-name"/>
          <p:cNvSpPr txBox="1"/>
          <p:nvPr/>
        </p:nvSpPr>
        <p:spPr>
          <a:xfrm>
            <a:off x="9391650" y="5429250"/>
            <a:ext cx="7239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Google Cloud</a:t>
            </a:r>
          </a:p>
        </p:txBody>
      </p:sp>
      <p:sp>
        <p:nvSpPr>
          <p:cNvPr id="82" name="partner-3-circle"/>
          <p:cNvSpPr/>
          <p:nvPr/>
        </p:nvSpPr>
        <p:spPr>
          <a:xfrm>
            <a:off x="10191750" y="5429250"/>
            <a:ext cx="342900" cy="3429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partner-3-init"/>
          <p:cNvSpPr txBox="1"/>
          <p:nvPr/>
        </p:nvSpPr>
        <p:spPr>
          <a:xfrm>
            <a:off x="10191750" y="54292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AZ</a:t>
            </a:r>
          </a:p>
        </p:txBody>
      </p:sp>
      <p:sp>
        <p:nvSpPr>
          <p:cNvPr id="84" name="partner-3-name"/>
          <p:cNvSpPr txBox="1"/>
          <p:nvPr/>
        </p:nvSpPr>
        <p:spPr>
          <a:xfrm>
            <a:off x="10591800" y="5429250"/>
            <a:ext cx="7239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Microsoft Azure</a:t>
            </a:r>
          </a:p>
        </p:txBody>
      </p:sp>
      <p:sp>
        <p:nvSpPr>
          <p:cNvPr id="8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