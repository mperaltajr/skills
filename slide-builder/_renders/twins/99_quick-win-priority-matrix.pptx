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ure-tag"/>
          <p:cNvSpPr txBox="1"/>
          <p:nvPr/>
        </p:nvSpPr>
        <p:spPr>
          <a:xfrm>
            <a:off x="228600" y="22860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ACCENTURE INTERNAL</a:t>
            </a:r>
          </a:p>
        </p:txBody>
      </p:sp>
      <p:sp>
        <p:nvSpPr>
          <p:cNvPr id="3" name="draft-badge"/>
          <p:cNvSpPr txBox="1"/>
          <p:nvPr/>
        </p:nvSpPr>
        <p:spPr>
          <a:xfrm>
            <a:off x="5772150" y="190500"/>
            <a:ext cx="647700" cy="17145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B71C1C"/>
                </a:solidFill>
                <a:latin typeface="Inter"/>
              </a:rPr>
              <a:t>DRAFT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33400" y="266700"/>
            <a:ext cx="10477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Quick-win matrix — eight actions, three to do first.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33400" y="1257300"/>
            <a:ext cx="9334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Plot effort against impact; the top-left quadrant earns the right to the rest.</a:t>
            </a:r>
          </a:p>
        </p:txBody>
      </p:sp>
      <p:sp>
        <p:nvSpPr>
          <p:cNvPr id="6" name="brand-rule"/>
          <p:cNvSpPr/>
          <p:nvPr/>
        </p:nvSpPr>
        <p:spPr>
          <a:xfrm>
            <a:off x="533400" y="171450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quadrant-y-axis-label"/>
          <p:cNvSpPr txBox="1"/>
          <p:nvPr/>
        </p:nvSpPr>
        <p:spPr>
          <a:xfrm>
            <a:off x="495300" y="3105150"/>
            <a:ext cx="323850" cy="1143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VALUE / IMPACT</a:t>
            </a:r>
          </a:p>
        </p:txBody>
      </p:sp>
      <p:sp>
        <p:nvSpPr>
          <p:cNvPr id="8" name="quadrant-y-high"/>
          <p:cNvSpPr txBox="1"/>
          <p:nvPr/>
        </p:nvSpPr>
        <p:spPr>
          <a:xfrm>
            <a:off x="571500" y="1924050"/>
            <a:ext cx="361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HIGH</a:t>
            </a:r>
          </a:p>
        </p:txBody>
      </p:sp>
      <p:sp>
        <p:nvSpPr>
          <p:cNvPr id="9" name="quadrant-y-low"/>
          <p:cNvSpPr txBox="1"/>
          <p:nvPr/>
        </p:nvSpPr>
        <p:spPr>
          <a:xfrm>
            <a:off x="571500" y="5295900"/>
            <a:ext cx="361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LOW</a:t>
            </a:r>
          </a:p>
        </p:txBody>
      </p:sp>
      <p:sp>
        <p:nvSpPr>
          <p:cNvPr id="10" name="quadrant-tl"/>
          <p:cNvSpPr/>
          <p:nvPr/>
        </p:nvSpPr>
        <p:spPr>
          <a:xfrm>
            <a:off x="952500" y="1866900"/>
            <a:ext cx="2762250" cy="1809750"/>
          </a:xfrm>
          <a:prstGeom prst="rect">
            <a:avLst/>
          </a:prstGeom>
          <a:solidFill>
            <a:srgbClr val="A100FF"/>
          </a:solidFill>
          <a:ln w="28575">
            <a:solidFill>
              <a:srgbClr val="2D0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quadrant-tl-label"/>
          <p:cNvSpPr txBox="1"/>
          <p:nvPr/>
        </p:nvSpPr>
        <p:spPr>
          <a:xfrm>
            <a:off x="1085850" y="1981200"/>
            <a:ext cx="24955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DO FIRST</a:t>
            </a:r>
          </a:p>
        </p:txBody>
      </p:sp>
      <p:sp>
        <p:nvSpPr>
          <p:cNvPr id="12" name="quadrant-tl-name"/>
          <p:cNvSpPr txBox="1"/>
          <p:nvPr/>
        </p:nvSpPr>
        <p:spPr>
          <a:xfrm>
            <a:off x="1085850" y="2133600"/>
            <a:ext cx="2495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FFFFFF"/>
                </a:solidFill>
                <a:latin typeface="Inter"/>
              </a:rPr>
              <a:t>Quick wins</a:t>
            </a:r>
          </a:p>
        </p:txBody>
      </p:sp>
      <p:sp>
        <p:nvSpPr>
          <p:cNvPr id="13" name="quadrant-tr"/>
          <p:cNvSpPr/>
          <p:nvPr/>
        </p:nvSpPr>
        <p:spPr>
          <a:xfrm>
            <a:off x="3714750" y="1866900"/>
            <a:ext cx="2762250" cy="18097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quadrant-tr-label"/>
          <p:cNvSpPr txBox="1"/>
          <p:nvPr/>
        </p:nvSpPr>
        <p:spPr>
          <a:xfrm>
            <a:off x="3848100" y="1981200"/>
            <a:ext cx="24955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PLAN DELIBERATELY</a:t>
            </a:r>
          </a:p>
        </p:txBody>
      </p:sp>
      <p:sp>
        <p:nvSpPr>
          <p:cNvPr id="15" name="quadrant-tr-name"/>
          <p:cNvSpPr txBox="1"/>
          <p:nvPr/>
        </p:nvSpPr>
        <p:spPr>
          <a:xfrm>
            <a:off x="3848100" y="2133600"/>
            <a:ext cx="2495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FFFFFF"/>
                </a:solidFill>
                <a:latin typeface="Inter"/>
              </a:rPr>
              <a:t>Major projects</a:t>
            </a:r>
          </a:p>
        </p:txBody>
      </p:sp>
      <p:sp>
        <p:nvSpPr>
          <p:cNvPr id="16" name="quadrant-bl"/>
          <p:cNvSpPr/>
          <p:nvPr/>
        </p:nvSpPr>
        <p:spPr>
          <a:xfrm>
            <a:off x="952500" y="3676650"/>
            <a:ext cx="2762250" cy="18097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quadrant-bl-label"/>
          <p:cNvSpPr txBox="1"/>
          <p:nvPr/>
        </p:nvSpPr>
        <p:spPr>
          <a:xfrm>
            <a:off x="1085850" y="3790950"/>
            <a:ext cx="24955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FIT IN SPARE CYCLES</a:t>
            </a:r>
          </a:p>
        </p:txBody>
      </p:sp>
      <p:sp>
        <p:nvSpPr>
          <p:cNvPr id="18" name="quadrant-bl-name"/>
          <p:cNvSpPr txBox="1"/>
          <p:nvPr/>
        </p:nvSpPr>
        <p:spPr>
          <a:xfrm>
            <a:off x="1085850" y="3943350"/>
            <a:ext cx="2495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1A1A2E"/>
                </a:solidFill>
                <a:latin typeface="Inter"/>
              </a:rPr>
              <a:t>Fill-ins</a:t>
            </a:r>
          </a:p>
        </p:txBody>
      </p:sp>
      <p:sp>
        <p:nvSpPr>
          <p:cNvPr id="19" name="quadrant-br"/>
          <p:cNvSpPr/>
          <p:nvPr/>
        </p:nvSpPr>
        <p:spPr>
          <a:xfrm>
            <a:off x="3714750" y="3676650"/>
            <a:ext cx="2762250" cy="18097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quadrant-br-label"/>
          <p:cNvSpPr txBox="1"/>
          <p:nvPr/>
        </p:nvSpPr>
        <p:spPr>
          <a:xfrm>
            <a:off x="3848100" y="3790950"/>
            <a:ext cx="24955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DECLINE POLITELY</a:t>
            </a:r>
          </a:p>
        </p:txBody>
      </p:sp>
      <p:sp>
        <p:nvSpPr>
          <p:cNvPr id="21" name="quadrant-br-name"/>
          <p:cNvSpPr txBox="1"/>
          <p:nvPr/>
        </p:nvSpPr>
        <p:spPr>
          <a:xfrm>
            <a:off x="3848100" y="3943350"/>
            <a:ext cx="2495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64748B"/>
                </a:solidFill>
                <a:latin typeface="Inter"/>
              </a:rPr>
              <a:t>Money pit</a:t>
            </a:r>
          </a:p>
        </p:txBody>
      </p:sp>
      <p:sp>
        <p:nvSpPr>
          <p:cNvPr id="22" name="plot-dot-1"/>
          <p:cNvSpPr/>
          <p:nvPr/>
        </p:nvSpPr>
        <p:spPr>
          <a:xfrm>
            <a:off x="1704975" y="2752725"/>
            <a:ext cx="247650" cy="24765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plot-dot-1-label"/>
          <p:cNvSpPr txBox="1"/>
          <p:nvPr/>
        </p:nvSpPr>
        <p:spPr>
          <a:xfrm>
            <a:off x="1704975" y="2752725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1</a:t>
            </a:r>
          </a:p>
        </p:txBody>
      </p:sp>
      <p:sp>
        <p:nvSpPr>
          <p:cNvPr id="24" name="plot-dot-3"/>
          <p:cNvSpPr/>
          <p:nvPr/>
        </p:nvSpPr>
        <p:spPr>
          <a:xfrm>
            <a:off x="2590800" y="2314575"/>
            <a:ext cx="247650" cy="24765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plot-dot-3-label"/>
          <p:cNvSpPr txBox="1"/>
          <p:nvPr/>
        </p:nvSpPr>
        <p:spPr>
          <a:xfrm>
            <a:off x="2590800" y="2314575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3</a:t>
            </a:r>
          </a:p>
        </p:txBody>
      </p:sp>
      <p:sp>
        <p:nvSpPr>
          <p:cNvPr id="26" name="plot-dot-4"/>
          <p:cNvSpPr/>
          <p:nvPr/>
        </p:nvSpPr>
        <p:spPr>
          <a:xfrm>
            <a:off x="2038350" y="3190875"/>
            <a:ext cx="247650" cy="24765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plot-dot-4-label"/>
          <p:cNvSpPr txBox="1"/>
          <p:nvPr/>
        </p:nvSpPr>
        <p:spPr>
          <a:xfrm>
            <a:off x="2038350" y="3190875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4</a:t>
            </a:r>
          </a:p>
        </p:txBody>
      </p:sp>
      <p:sp>
        <p:nvSpPr>
          <p:cNvPr id="28" name="plot-dot-2"/>
          <p:cNvSpPr/>
          <p:nvPr/>
        </p:nvSpPr>
        <p:spPr>
          <a:xfrm>
            <a:off x="5133975" y="2466975"/>
            <a:ext cx="247650" cy="247650"/>
          </a:xfrm>
          <a:prstGeom prst="rect">
            <a:avLst/>
          </a:prstGeom>
          <a:solidFill>
            <a:srgbClr val="A100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plot-dot-2-label"/>
          <p:cNvSpPr txBox="1"/>
          <p:nvPr/>
        </p:nvSpPr>
        <p:spPr>
          <a:xfrm>
            <a:off x="5133975" y="2466975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30" name="plot-dot-5"/>
          <p:cNvSpPr/>
          <p:nvPr/>
        </p:nvSpPr>
        <p:spPr>
          <a:xfrm>
            <a:off x="4248150" y="2895600"/>
            <a:ext cx="247650" cy="247650"/>
          </a:xfrm>
          <a:prstGeom prst="rect">
            <a:avLst/>
          </a:prstGeom>
          <a:solidFill>
            <a:srgbClr val="A100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plot-dot-5-label"/>
          <p:cNvSpPr txBox="1"/>
          <p:nvPr/>
        </p:nvSpPr>
        <p:spPr>
          <a:xfrm>
            <a:off x="4248150" y="28956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2" name="plot-dot-7"/>
          <p:cNvSpPr/>
          <p:nvPr/>
        </p:nvSpPr>
        <p:spPr>
          <a:xfrm>
            <a:off x="5572125" y="3114675"/>
            <a:ext cx="247650" cy="247650"/>
          </a:xfrm>
          <a:prstGeom prst="rect">
            <a:avLst/>
          </a:prstGeom>
          <a:solidFill>
            <a:srgbClr val="A100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plot-dot-7-label"/>
          <p:cNvSpPr txBox="1"/>
          <p:nvPr/>
        </p:nvSpPr>
        <p:spPr>
          <a:xfrm>
            <a:off x="5572125" y="3114675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7</a:t>
            </a:r>
          </a:p>
        </p:txBody>
      </p:sp>
      <p:sp>
        <p:nvSpPr>
          <p:cNvPr id="34" name="plot-dot-6"/>
          <p:cNvSpPr/>
          <p:nvPr/>
        </p:nvSpPr>
        <p:spPr>
          <a:xfrm>
            <a:off x="2371725" y="4343400"/>
            <a:ext cx="247650" cy="247650"/>
          </a:xfrm>
          <a:prstGeom prst="rect">
            <a:avLst/>
          </a:prstGeom>
          <a:solidFill>
            <a:srgbClr val="FFFFFF"/>
          </a:solidFill>
          <a:ln w="19050">
            <a:solidFill>
              <a:srgbClr val="2D0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plot-dot-6-label"/>
          <p:cNvSpPr txBox="1"/>
          <p:nvPr/>
        </p:nvSpPr>
        <p:spPr>
          <a:xfrm>
            <a:off x="2371725" y="43434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6</a:t>
            </a:r>
          </a:p>
        </p:txBody>
      </p:sp>
      <p:sp>
        <p:nvSpPr>
          <p:cNvPr id="36" name="plot-dot-8"/>
          <p:cNvSpPr/>
          <p:nvPr/>
        </p:nvSpPr>
        <p:spPr>
          <a:xfrm>
            <a:off x="5019675" y="4638675"/>
            <a:ext cx="247650" cy="247650"/>
          </a:xfrm>
          <a:prstGeom prst="rect">
            <a:avLst/>
          </a:prstGeom>
          <a:solidFill>
            <a:srgbClr val="94A3B8"/>
          </a:solidFill>
          <a:ln w="19050">
            <a:solidFill>
              <a:srgbClr val="FBF8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plot-dot-8-label"/>
          <p:cNvSpPr txBox="1"/>
          <p:nvPr/>
        </p:nvSpPr>
        <p:spPr>
          <a:xfrm>
            <a:off x="5019675" y="4638675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8</a:t>
            </a:r>
          </a:p>
        </p:txBody>
      </p:sp>
      <p:sp>
        <p:nvSpPr>
          <p:cNvPr id="38" name="quadrant-x-low"/>
          <p:cNvSpPr txBox="1"/>
          <p:nvPr/>
        </p:nvSpPr>
        <p:spPr>
          <a:xfrm>
            <a:off x="1028700" y="55626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LOW</a:t>
            </a:r>
          </a:p>
        </p:txBody>
      </p:sp>
      <p:sp>
        <p:nvSpPr>
          <p:cNvPr id="39" name="quadrant-x-high"/>
          <p:cNvSpPr txBox="1"/>
          <p:nvPr/>
        </p:nvSpPr>
        <p:spPr>
          <a:xfrm>
            <a:off x="5638800" y="55626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HIGH</a:t>
            </a:r>
          </a:p>
        </p:txBody>
      </p:sp>
      <p:sp>
        <p:nvSpPr>
          <p:cNvPr id="40" name="quadrant-x-axis-label"/>
          <p:cNvSpPr txBox="1"/>
          <p:nvPr/>
        </p:nvSpPr>
        <p:spPr>
          <a:xfrm>
            <a:off x="952500" y="5734050"/>
            <a:ext cx="5524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EFFORT</a:t>
            </a:r>
          </a:p>
        </p:txBody>
      </p:sp>
      <p:sp>
        <p:nvSpPr>
          <p:cNvPr id="41" name="legend-title"/>
          <p:cNvSpPr txBox="1"/>
          <p:nvPr/>
        </p:nvSpPr>
        <p:spPr>
          <a:xfrm>
            <a:off x="6934200" y="1905000"/>
            <a:ext cx="47244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ACTIONS ON THE TABLE</a:t>
            </a:r>
          </a:p>
        </p:txBody>
      </p:sp>
      <p:sp>
        <p:nvSpPr>
          <p:cNvPr id="42" name="legend-1-row"/>
          <p:cNvSpPr/>
          <p:nvPr/>
        </p:nvSpPr>
        <p:spPr>
          <a:xfrm>
            <a:off x="6934200" y="2133600"/>
            <a:ext cx="4724400" cy="2476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legend-1-stripe"/>
          <p:cNvSpPr/>
          <p:nvPr/>
        </p:nvSpPr>
        <p:spPr>
          <a:xfrm>
            <a:off x="6934200" y="2133600"/>
            <a:ext cx="28575" cy="2476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legend-1-num"/>
          <p:cNvSpPr/>
          <p:nvPr/>
        </p:nvSpPr>
        <p:spPr>
          <a:xfrm>
            <a:off x="7048500" y="2171700"/>
            <a:ext cx="17145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legend-1-num-text"/>
          <p:cNvSpPr txBox="1"/>
          <p:nvPr/>
        </p:nvSpPr>
        <p:spPr>
          <a:xfrm>
            <a:off x="7048500" y="217170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46" name="legend-1-label"/>
          <p:cNvSpPr txBox="1"/>
          <p:nvPr/>
        </p:nvSpPr>
        <p:spPr>
          <a:xfrm>
            <a:off x="7296150" y="2181225"/>
            <a:ext cx="415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Train 4 coaches on Slide Lab</a:t>
            </a:r>
          </a:p>
        </p:txBody>
      </p:sp>
      <p:sp>
        <p:nvSpPr>
          <p:cNvPr id="47" name="legend-1-swatch"/>
          <p:cNvSpPr/>
          <p:nvPr/>
        </p:nvSpPr>
        <p:spPr>
          <a:xfrm>
            <a:off x="11506200" y="2219325"/>
            <a:ext cx="762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legend-2-row"/>
          <p:cNvSpPr/>
          <p:nvPr/>
        </p:nvSpPr>
        <p:spPr>
          <a:xfrm>
            <a:off x="6934200" y="2419350"/>
            <a:ext cx="4724400" cy="2476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legend-2-stripe"/>
          <p:cNvSpPr/>
          <p:nvPr/>
        </p:nvSpPr>
        <p:spPr>
          <a:xfrm>
            <a:off x="6934200" y="2419350"/>
            <a:ext cx="28575" cy="2476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legend-2-num"/>
          <p:cNvSpPr/>
          <p:nvPr/>
        </p:nvSpPr>
        <p:spPr>
          <a:xfrm>
            <a:off x="7048500" y="2457450"/>
            <a:ext cx="17145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legend-2-num-text"/>
          <p:cNvSpPr txBox="1"/>
          <p:nvPr/>
        </p:nvSpPr>
        <p:spPr>
          <a:xfrm>
            <a:off x="7048500" y="245745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52" name="legend-2-label"/>
          <p:cNvSpPr txBox="1"/>
          <p:nvPr/>
        </p:nvSpPr>
        <p:spPr>
          <a:xfrm>
            <a:off x="7296150" y="2466975"/>
            <a:ext cx="415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Build HTML to PPTX translator</a:t>
            </a:r>
          </a:p>
        </p:txBody>
      </p:sp>
      <p:sp>
        <p:nvSpPr>
          <p:cNvPr id="53" name="legend-2-swatch"/>
          <p:cNvSpPr/>
          <p:nvPr/>
        </p:nvSpPr>
        <p:spPr>
          <a:xfrm>
            <a:off x="11506200" y="2505075"/>
            <a:ext cx="76200" cy="762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legend-3-row"/>
          <p:cNvSpPr/>
          <p:nvPr/>
        </p:nvSpPr>
        <p:spPr>
          <a:xfrm>
            <a:off x="6934200" y="2705100"/>
            <a:ext cx="4724400" cy="2476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legend-3-stripe"/>
          <p:cNvSpPr/>
          <p:nvPr/>
        </p:nvSpPr>
        <p:spPr>
          <a:xfrm>
            <a:off x="6934200" y="2705100"/>
            <a:ext cx="28575" cy="2476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legend-3-num"/>
          <p:cNvSpPr/>
          <p:nvPr/>
        </p:nvSpPr>
        <p:spPr>
          <a:xfrm>
            <a:off x="7048500" y="2743200"/>
            <a:ext cx="17145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legend-3-num-text"/>
          <p:cNvSpPr txBox="1"/>
          <p:nvPr/>
        </p:nvSpPr>
        <p:spPr>
          <a:xfrm>
            <a:off x="7048500" y="274320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58" name="legend-3-label"/>
          <p:cNvSpPr txBox="1"/>
          <p:nvPr/>
        </p:nvSpPr>
        <p:spPr>
          <a:xfrm>
            <a:off x="7296150" y="2752725"/>
            <a:ext cx="415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Replace 3 thin existing skeletons</a:t>
            </a:r>
          </a:p>
        </p:txBody>
      </p:sp>
      <p:sp>
        <p:nvSpPr>
          <p:cNvPr id="59" name="legend-3-swatch"/>
          <p:cNvSpPr/>
          <p:nvPr/>
        </p:nvSpPr>
        <p:spPr>
          <a:xfrm>
            <a:off x="11506200" y="2790825"/>
            <a:ext cx="762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legend-4-row"/>
          <p:cNvSpPr/>
          <p:nvPr/>
        </p:nvSpPr>
        <p:spPr>
          <a:xfrm>
            <a:off x="6934200" y="2990850"/>
            <a:ext cx="4724400" cy="2476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legend-4-stripe"/>
          <p:cNvSpPr/>
          <p:nvPr/>
        </p:nvSpPr>
        <p:spPr>
          <a:xfrm>
            <a:off x="6934200" y="2990850"/>
            <a:ext cx="28575" cy="2476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legend-4-num"/>
          <p:cNvSpPr/>
          <p:nvPr/>
        </p:nvSpPr>
        <p:spPr>
          <a:xfrm>
            <a:off x="7048500" y="3028950"/>
            <a:ext cx="17145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legend-4-num-text"/>
          <p:cNvSpPr txBox="1"/>
          <p:nvPr/>
        </p:nvSpPr>
        <p:spPr>
          <a:xfrm>
            <a:off x="7048500" y="302895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64" name="legend-4-label"/>
          <p:cNvSpPr txBox="1"/>
          <p:nvPr/>
        </p:nvSpPr>
        <p:spPr>
          <a:xfrm>
            <a:off x="7296150" y="3038475"/>
            <a:ext cx="415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Run pilot in 1 workstream</a:t>
            </a:r>
          </a:p>
        </p:txBody>
      </p:sp>
      <p:sp>
        <p:nvSpPr>
          <p:cNvPr id="65" name="legend-4-swatch"/>
          <p:cNvSpPr/>
          <p:nvPr/>
        </p:nvSpPr>
        <p:spPr>
          <a:xfrm>
            <a:off x="11506200" y="3076575"/>
            <a:ext cx="762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legend-5-row"/>
          <p:cNvSpPr/>
          <p:nvPr/>
        </p:nvSpPr>
        <p:spPr>
          <a:xfrm>
            <a:off x="6934200" y="3276600"/>
            <a:ext cx="4724400" cy="2476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legend-5-stripe"/>
          <p:cNvSpPr/>
          <p:nvPr/>
        </p:nvSpPr>
        <p:spPr>
          <a:xfrm>
            <a:off x="6934200" y="3276600"/>
            <a:ext cx="28575" cy="2476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legend-5-num"/>
          <p:cNvSpPr/>
          <p:nvPr/>
        </p:nvSpPr>
        <p:spPr>
          <a:xfrm>
            <a:off x="7048500" y="3314700"/>
            <a:ext cx="17145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legend-5-num-text"/>
          <p:cNvSpPr txBox="1"/>
          <p:nvPr/>
        </p:nvSpPr>
        <p:spPr>
          <a:xfrm>
            <a:off x="7048500" y="331470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70" name="legend-5-label"/>
          <p:cNvSpPr txBox="1"/>
          <p:nvPr/>
        </p:nvSpPr>
        <p:spPr>
          <a:xfrm>
            <a:off x="7296150" y="3324225"/>
            <a:ext cx="415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Custom-brand for 3 clients</a:t>
            </a:r>
          </a:p>
        </p:txBody>
      </p:sp>
      <p:sp>
        <p:nvSpPr>
          <p:cNvPr id="71" name="legend-5-swatch"/>
          <p:cNvSpPr/>
          <p:nvPr/>
        </p:nvSpPr>
        <p:spPr>
          <a:xfrm>
            <a:off x="11506200" y="3362325"/>
            <a:ext cx="76200" cy="762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legend-6-row"/>
          <p:cNvSpPr/>
          <p:nvPr/>
        </p:nvSpPr>
        <p:spPr>
          <a:xfrm>
            <a:off x="6934200" y="3562350"/>
            <a:ext cx="4724400" cy="2476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legend-6-stripe"/>
          <p:cNvSpPr/>
          <p:nvPr/>
        </p:nvSpPr>
        <p:spPr>
          <a:xfrm>
            <a:off x="6934200" y="3562350"/>
            <a:ext cx="28575" cy="2476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legend-6-num"/>
          <p:cNvSpPr/>
          <p:nvPr/>
        </p:nvSpPr>
        <p:spPr>
          <a:xfrm>
            <a:off x="7048500" y="3600450"/>
            <a:ext cx="171450" cy="1714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legend-6-num-text"/>
          <p:cNvSpPr txBox="1"/>
          <p:nvPr/>
        </p:nvSpPr>
        <p:spPr>
          <a:xfrm>
            <a:off x="7048500" y="360045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76" name="legend-6-label"/>
          <p:cNvSpPr txBox="1"/>
          <p:nvPr/>
        </p:nvSpPr>
        <p:spPr>
          <a:xfrm>
            <a:off x="7296150" y="3609975"/>
            <a:ext cx="415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Add radar chart pattern</a:t>
            </a:r>
          </a:p>
        </p:txBody>
      </p:sp>
      <p:sp>
        <p:nvSpPr>
          <p:cNvPr id="77" name="legend-6-swatch"/>
          <p:cNvSpPr/>
          <p:nvPr/>
        </p:nvSpPr>
        <p:spPr>
          <a:xfrm>
            <a:off x="11506200" y="3648075"/>
            <a:ext cx="76200" cy="76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legend-7-row"/>
          <p:cNvSpPr/>
          <p:nvPr/>
        </p:nvSpPr>
        <p:spPr>
          <a:xfrm>
            <a:off x="6934200" y="3848100"/>
            <a:ext cx="4724400" cy="2476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legend-7-stripe"/>
          <p:cNvSpPr/>
          <p:nvPr/>
        </p:nvSpPr>
        <p:spPr>
          <a:xfrm>
            <a:off x="6934200" y="3848100"/>
            <a:ext cx="28575" cy="2476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legend-7-num"/>
          <p:cNvSpPr/>
          <p:nvPr/>
        </p:nvSpPr>
        <p:spPr>
          <a:xfrm>
            <a:off x="7048500" y="3886200"/>
            <a:ext cx="17145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legend-7-num-text"/>
          <p:cNvSpPr txBox="1"/>
          <p:nvPr/>
        </p:nvSpPr>
        <p:spPr>
          <a:xfrm>
            <a:off x="7048500" y="388620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7</a:t>
            </a:r>
          </a:p>
        </p:txBody>
      </p:sp>
      <p:sp>
        <p:nvSpPr>
          <p:cNvPr id="82" name="legend-7-label"/>
          <p:cNvSpPr txBox="1"/>
          <p:nvPr/>
        </p:nvSpPr>
        <p:spPr>
          <a:xfrm>
            <a:off x="7296150" y="3895725"/>
            <a:ext cx="415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Build full deck QC engine v2</a:t>
            </a:r>
          </a:p>
        </p:txBody>
      </p:sp>
      <p:sp>
        <p:nvSpPr>
          <p:cNvPr id="83" name="legend-7-swatch"/>
          <p:cNvSpPr/>
          <p:nvPr/>
        </p:nvSpPr>
        <p:spPr>
          <a:xfrm>
            <a:off x="11506200" y="3933825"/>
            <a:ext cx="76200" cy="762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legend-8-row"/>
          <p:cNvSpPr/>
          <p:nvPr/>
        </p:nvSpPr>
        <p:spPr>
          <a:xfrm>
            <a:off x="6934200" y="4133850"/>
            <a:ext cx="4724400" cy="2476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" name="legend-8-stripe"/>
          <p:cNvSpPr/>
          <p:nvPr/>
        </p:nvSpPr>
        <p:spPr>
          <a:xfrm>
            <a:off x="6934200" y="4133850"/>
            <a:ext cx="28575" cy="2476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legend-8-num"/>
          <p:cNvSpPr/>
          <p:nvPr/>
        </p:nvSpPr>
        <p:spPr>
          <a:xfrm>
            <a:off x="7048500" y="4171950"/>
            <a:ext cx="171450" cy="1714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legend-8-num-text"/>
          <p:cNvSpPr txBox="1"/>
          <p:nvPr/>
        </p:nvSpPr>
        <p:spPr>
          <a:xfrm>
            <a:off x="7048500" y="417195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8</a:t>
            </a:r>
          </a:p>
        </p:txBody>
      </p:sp>
      <p:sp>
        <p:nvSpPr>
          <p:cNvPr id="88" name="legend-8-label"/>
          <p:cNvSpPr txBox="1"/>
          <p:nvPr/>
        </p:nvSpPr>
        <p:spPr>
          <a:xfrm>
            <a:off x="7296150" y="4181475"/>
            <a:ext cx="415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Re-render decks in 4 templates</a:t>
            </a:r>
          </a:p>
        </p:txBody>
      </p:sp>
      <p:sp>
        <p:nvSpPr>
          <p:cNvPr id="89" name="legend-8-swatch"/>
          <p:cNvSpPr/>
          <p:nvPr/>
        </p:nvSpPr>
        <p:spPr>
          <a:xfrm>
            <a:off x="11506200" y="4219575"/>
            <a:ext cx="76200" cy="762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" name="convergence-bg"/>
          <p:cNvSpPr/>
          <p:nvPr/>
        </p:nvSpPr>
        <p:spPr>
          <a:xfrm>
            <a:off x="609600" y="592455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" name="convergence"/>
          <p:cNvSpPr txBox="1"/>
          <p:nvPr/>
        </p:nvSpPr>
        <p:spPr>
          <a:xfrm>
            <a:off x="609600" y="592455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Quick wins this quarter, major project next, ignore the rest.</a:t>
            </a:r>
          </a:p>
        </p:txBody>
      </p:sp>
      <p:sp>
        <p:nvSpPr>
          <p:cNvPr id="92" name="convergence-accent"/>
          <p:cNvSpPr/>
          <p:nvPr/>
        </p:nvSpPr>
        <p:spPr>
          <a:xfrm>
            <a:off x="533400" y="5924550"/>
            <a:ext cx="28575" cy="400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4" name="footer-left"/>
          <p:cNvSpPr txBox="1"/>
          <p:nvPr/>
        </p:nvSpPr>
        <p:spPr>
          <a:xfrm>
            <a:off x="228600" y="661035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Inter"/>
              </a:rPr>
              <a:t>CONFIDENTIAL — ACCENTURE INTERNAL</a:t>
            </a:r>
          </a:p>
        </p:txBody>
      </p:sp>
      <p:sp>
        <p:nvSpPr>
          <p:cNvPr id="95" name="footer-right"/>
          <p:cNvSpPr txBox="1"/>
          <p:nvPr/>
        </p:nvSpPr>
        <p:spPr>
          <a:xfrm>
            <a:off x="10058400" y="6600825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Slide Lab · 2026 · 99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