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Three structural advantages</a:t>
            </a:r>
            <a:r>
              <a:rPr sz="1950" b="1" i="0">
                <a:solidFill>
                  <a:srgbClr val="1A1A2E"/>
                </a:solidFill>
                <a:latin typeface="Inter"/>
              </a:rPr>
              <a:t> competitors cannot replicate — speed, depth, and accountability</a:t>
            </a:r>
          </a:p>
        </p:txBody>
      </p:sp>
      <p:sp>
        <p:nvSpPr>
          <p:cNvPr id="3" name="brand-rule"/>
          <p:cNvSpPr/>
          <p:nvPr/>
        </p:nvSpPr>
        <p:spPr>
          <a:xfrm>
            <a:off x="533400" y="13144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ard-1-bg"/>
          <p:cNvSpPr/>
          <p:nvPr/>
        </p:nvSpPr>
        <p:spPr>
          <a:xfrm>
            <a:off x="457200" y="14097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num"/>
          <p:cNvSpPr txBox="1"/>
          <p:nvPr/>
        </p:nvSpPr>
        <p:spPr>
          <a:xfrm>
            <a:off x="723900" y="16383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6" name="card-1-heading"/>
          <p:cNvSpPr txBox="1"/>
          <p:nvPr/>
        </p:nvSpPr>
        <p:spPr>
          <a:xfrm>
            <a:off x="723900" y="22669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2D0A4E"/>
                </a:solidFill>
                <a:latin typeface="Inter"/>
              </a:rPr>
              <a:t>Integrated Delivery Model</a:t>
            </a:r>
          </a:p>
        </p:txBody>
      </p:sp>
      <p:sp>
        <p:nvSpPr>
          <p:cNvPr id="7" name="card-1-body"/>
          <p:cNvSpPr txBox="1"/>
          <p:nvPr/>
        </p:nvSpPr>
        <p:spPr>
          <a:xfrm>
            <a:off x="723900" y="25717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 embed strategy, technology, and change in one team — no handoffs, no gaps. Your program doesn't get translated between three firms.</a:t>
            </a:r>
          </a:p>
        </p:txBody>
      </p:sp>
      <p:sp>
        <p:nvSpPr>
          <p:cNvPr id="8" name="card-1-footer-stat"/>
          <p:cNvSpPr txBox="1"/>
          <p:nvPr/>
        </p:nvSpPr>
        <p:spPr>
          <a:xfrm>
            <a:off x="800100" y="52197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5C2D87"/>
                </a:solidFill>
                <a:latin typeface="Inter"/>
              </a:rPr>
              <a:t>3.2×</a:t>
            </a:r>
          </a:p>
        </p:txBody>
      </p:sp>
      <p:sp>
        <p:nvSpPr>
          <p:cNvPr id="9" name="card-1-footer"/>
          <p:cNvSpPr txBox="1"/>
          <p:nvPr/>
        </p:nvSpPr>
        <p:spPr>
          <a:xfrm>
            <a:off x="800100" y="54673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faster time to value vs. multi-vendor approach</a:t>
            </a:r>
          </a:p>
        </p:txBody>
      </p:sp>
      <p:sp>
        <p:nvSpPr>
          <p:cNvPr id="10" name="card-2-bg"/>
          <p:cNvSpPr/>
          <p:nvPr/>
        </p:nvSpPr>
        <p:spPr>
          <a:xfrm>
            <a:off x="4210050" y="14097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2-divider"/>
          <p:cNvSpPr/>
          <p:nvPr/>
        </p:nvSpPr>
        <p:spPr>
          <a:xfrm>
            <a:off x="4210050" y="1447800"/>
            <a:ext cx="9525" cy="44577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2-num"/>
          <p:cNvSpPr txBox="1"/>
          <p:nvPr/>
        </p:nvSpPr>
        <p:spPr>
          <a:xfrm>
            <a:off x="4476750" y="16383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3" name="card-2-heading"/>
          <p:cNvSpPr txBox="1"/>
          <p:nvPr/>
        </p:nvSpPr>
        <p:spPr>
          <a:xfrm>
            <a:off x="4476750" y="22669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2D0A4E"/>
                </a:solidFill>
                <a:latin typeface="Inter"/>
              </a:rPr>
              <a:t>Proprietary Accelerators</a:t>
            </a:r>
          </a:p>
        </p:txBody>
      </p:sp>
      <p:sp>
        <p:nvSpPr>
          <p:cNvPr id="14" name="card-2-body"/>
          <p:cNvSpPr txBox="1"/>
          <p:nvPr/>
        </p:nvSpPr>
        <p:spPr>
          <a:xfrm>
            <a:off x="4476750" y="25717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Our pre-built tools reduce design and build phases by 40%. Components are tested at scale and maintained by 200+ practitioners.</a:t>
            </a:r>
          </a:p>
        </p:txBody>
      </p:sp>
      <p:sp>
        <p:nvSpPr>
          <p:cNvPr id="15" name="card-2-footer-stat"/>
          <p:cNvSpPr txBox="1"/>
          <p:nvPr/>
        </p:nvSpPr>
        <p:spPr>
          <a:xfrm>
            <a:off x="4552950" y="52197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5C2D87"/>
                </a:solidFill>
                <a:latin typeface="Inter"/>
              </a:rPr>
              <a:t>40%</a:t>
            </a:r>
          </a:p>
        </p:txBody>
      </p:sp>
      <p:sp>
        <p:nvSpPr>
          <p:cNvPr id="16" name="card-2-footer"/>
          <p:cNvSpPr txBox="1"/>
          <p:nvPr/>
        </p:nvSpPr>
        <p:spPr>
          <a:xfrm>
            <a:off x="4552950" y="54673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reduction in build phase cost</a:t>
            </a:r>
          </a:p>
        </p:txBody>
      </p:sp>
      <p:sp>
        <p:nvSpPr>
          <p:cNvPr id="17" name="card-3-bg"/>
          <p:cNvSpPr/>
          <p:nvPr/>
        </p:nvSpPr>
        <p:spPr>
          <a:xfrm>
            <a:off x="7962900" y="14097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3-divider"/>
          <p:cNvSpPr/>
          <p:nvPr/>
        </p:nvSpPr>
        <p:spPr>
          <a:xfrm>
            <a:off x="7962900" y="1447800"/>
            <a:ext cx="9525" cy="44577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3-num"/>
          <p:cNvSpPr txBox="1"/>
          <p:nvPr/>
        </p:nvSpPr>
        <p:spPr>
          <a:xfrm>
            <a:off x="8229600" y="16383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20" name="card-3-heading"/>
          <p:cNvSpPr txBox="1"/>
          <p:nvPr/>
        </p:nvSpPr>
        <p:spPr>
          <a:xfrm>
            <a:off x="8229600" y="22669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2D0A4E"/>
                </a:solidFill>
                <a:latin typeface="Inter"/>
              </a:rPr>
              <a:t>Outcome Accountability</a:t>
            </a:r>
          </a:p>
        </p:txBody>
      </p:sp>
      <p:sp>
        <p:nvSpPr>
          <p:cNvPr id="21" name="card-3-body"/>
          <p:cNvSpPr txBox="1"/>
          <p:nvPr/>
        </p:nvSpPr>
        <p:spPr>
          <a:xfrm>
            <a:off x="8229600" y="25717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 put skin in the game. Fees tied to adoption and benefit realization — not just deliverables. We succeed when you succeed.</a:t>
            </a:r>
          </a:p>
        </p:txBody>
      </p:sp>
      <p:sp>
        <p:nvSpPr>
          <p:cNvPr id="22" name="card-3-footer-stat"/>
          <p:cNvSpPr txBox="1"/>
          <p:nvPr/>
        </p:nvSpPr>
        <p:spPr>
          <a:xfrm>
            <a:off x="8305800" y="52197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5C2D87"/>
                </a:solidFill>
                <a:latin typeface="Inter"/>
              </a:rPr>
              <a:t>94%</a:t>
            </a:r>
          </a:p>
        </p:txBody>
      </p:sp>
      <p:sp>
        <p:nvSpPr>
          <p:cNvPr id="23" name="card-3-footer"/>
          <p:cNvSpPr txBox="1"/>
          <p:nvPr/>
        </p:nvSpPr>
        <p:spPr>
          <a:xfrm>
            <a:off x="8305800" y="54673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of outcomes delivered to target within 6 months</a:t>
            </a:r>
          </a:p>
        </p:txBody>
      </p:sp>
      <p:sp>
        <p:nvSpPr>
          <p:cNvPr id="24" name="conv-line-left"/>
          <p:cNvSpPr/>
          <p:nvPr/>
        </p:nvSpPr>
        <p:spPr>
          <a:xfrm>
            <a:off x="457200" y="6286500"/>
            <a:ext cx="45720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nvergence"/>
          <p:cNvSpPr txBox="1"/>
          <p:nvPr/>
        </p:nvSpPr>
        <p:spPr>
          <a:xfrm>
            <a:off x="5143500" y="62293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1">
                <a:solidFill>
                  <a:srgbClr val="5C2D87"/>
                </a:solidFill>
                <a:latin typeface="Inter"/>
              </a:rPr>
              <a:t>Speed · Depth · Accountability</a:t>
            </a:r>
          </a:p>
        </p:txBody>
      </p:sp>
      <p:sp>
        <p:nvSpPr>
          <p:cNvPr id="26" name="conv-line-right"/>
          <p:cNvSpPr/>
          <p:nvPr/>
        </p:nvSpPr>
        <p:spPr>
          <a:xfrm>
            <a:off x="7162800" y="6286500"/>
            <a:ext cx="4572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