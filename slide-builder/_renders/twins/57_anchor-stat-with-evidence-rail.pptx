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457200" y="533400"/>
            <a:ext cx="85725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FY29 NRB OUTLOOK · RISK READ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266700"/>
            <a:ext cx="11239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1A1A2E"/>
                </a:solidFill>
                <a:latin typeface="Inter"/>
              </a:rPr>
              <a:t>$67.6M FY29 NRB is on track — but three risks could erode that figure.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457200" y="1028700"/>
            <a:ext cx="8953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Headline on the left, evidence on the right. Each evidence card colour-coded by severity; ordering top-to-bottom = priority of attention.</a:t>
            </a:r>
          </a:p>
        </p:txBody>
      </p:sp>
      <p:sp>
        <p:nvSpPr>
          <p:cNvPr id="5" name="brand-rule"/>
          <p:cNvSpPr/>
          <p:nvPr/>
        </p:nvSpPr>
        <p:spPr>
          <a:xfrm>
            <a:off x="457200" y="1254825"/>
            <a:ext cx="5334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anchor-panel-bg"/>
          <p:cNvSpPr/>
          <p:nvPr/>
        </p:nvSpPr>
        <p:spPr>
          <a:xfrm>
            <a:off x="457200" y="1866900"/>
            <a:ext cx="3429000" cy="42291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anchor-panel-accent"/>
          <p:cNvSpPr/>
          <p:nvPr/>
        </p:nvSpPr>
        <p:spPr>
          <a:xfrm>
            <a:off x="457200" y="1866900"/>
            <a:ext cx="38100" cy="4229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anchor-pre-label"/>
          <p:cNvSpPr txBox="1"/>
          <p:nvPr/>
        </p:nvSpPr>
        <p:spPr>
          <a:xfrm>
            <a:off x="723900" y="2247900"/>
            <a:ext cx="28956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FY29 NET SAVINGS (GAAP)</a:t>
            </a:r>
          </a:p>
        </p:txBody>
      </p:sp>
      <p:sp>
        <p:nvSpPr>
          <p:cNvPr id="9" name="anchor-stat"/>
          <p:cNvSpPr txBox="1"/>
          <p:nvPr/>
        </p:nvSpPr>
        <p:spPr>
          <a:xfrm>
            <a:off x="723900" y="241935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4800" b="1" i="0">
                <a:solidFill>
                  <a:srgbClr val="FFFFFF"/>
                </a:solidFill>
                <a:latin typeface="Inter"/>
              </a:rPr>
              <a:t>$67.6</a:t>
            </a:r>
          </a:p>
        </p:txBody>
      </p:sp>
      <p:sp>
        <p:nvSpPr>
          <p:cNvPr id="10" name="anchor-unit"/>
          <p:cNvSpPr txBox="1"/>
          <p:nvPr/>
        </p:nvSpPr>
        <p:spPr>
          <a:xfrm>
            <a:off x="2647950" y="2609850"/>
            <a:ext cx="76200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000" b="1" i="0">
                <a:solidFill>
                  <a:srgbClr val="A100FF"/>
                </a:solidFill>
                <a:latin typeface="Inter"/>
              </a:rPr>
              <a:t>M</a:t>
            </a:r>
          </a:p>
        </p:txBody>
      </p:sp>
      <p:sp>
        <p:nvSpPr>
          <p:cNvPr id="11" name="anchor-status-bg"/>
          <p:cNvSpPr/>
          <p:nvPr/>
        </p:nvSpPr>
        <p:spPr>
          <a:xfrm>
            <a:off x="723900" y="3409950"/>
            <a:ext cx="2895600" cy="571500"/>
          </a:xfrm>
          <a:prstGeom prst="rect">
            <a:avLst/>
          </a:prstGeom>
          <a:solidFill>
            <a:srgbClr val="4D2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anchor-status-accent"/>
          <p:cNvSpPr/>
          <p:nvPr/>
        </p:nvSpPr>
        <p:spPr>
          <a:xfrm>
            <a:off x="723900" y="3409950"/>
            <a:ext cx="28575" cy="571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anchor-status-label"/>
          <p:cNvSpPr txBox="1"/>
          <p:nvPr/>
        </p:nvSpPr>
        <p:spPr>
          <a:xfrm>
            <a:off x="857250" y="3505200"/>
            <a:ext cx="26289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vs. $66M target</a:t>
            </a:r>
          </a:p>
        </p:txBody>
      </p:sp>
      <p:sp>
        <p:nvSpPr>
          <p:cNvPr id="14" name="anchor-status-value"/>
          <p:cNvSpPr txBox="1"/>
          <p:nvPr/>
        </p:nvSpPr>
        <p:spPr>
          <a:xfrm>
            <a:off x="857250" y="3676650"/>
            <a:ext cx="26289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✓ On Track</a:t>
            </a:r>
          </a:p>
        </p:txBody>
      </p:sp>
      <p:sp>
        <p:nvSpPr>
          <p:cNvPr id="15" name="anchor-divider"/>
          <p:cNvSpPr/>
          <p:nvPr/>
        </p:nvSpPr>
        <p:spPr>
          <a:xfrm>
            <a:off x="723900" y="4152900"/>
            <a:ext cx="2895600" cy="9525"/>
          </a:xfrm>
          <a:prstGeom prst="rect">
            <a:avLst/>
          </a:prstGeom>
          <a:solidFill>
            <a:srgbClr val="6A4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anchor-meta"/>
          <p:cNvSpPr txBox="1"/>
          <p:nvPr/>
        </p:nvSpPr>
        <p:spPr>
          <a:xfrm>
            <a:off x="723900" y="4305300"/>
            <a:ext cx="28956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FY30 outlook: $70.8M
5-year total: $198M</a:t>
            </a:r>
          </a:p>
        </p:txBody>
      </p:sp>
      <p:sp>
        <p:nvSpPr>
          <p:cNvPr id="17" name="evidence-1-card-bg"/>
          <p:cNvSpPr/>
          <p:nvPr/>
        </p:nvSpPr>
        <p:spPr>
          <a:xfrm>
            <a:off x="4076700" y="1866900"/>
            <a:ext cx="7658100" cy="1333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evidence-1-severity"/>
          <p:cNvSpPr/>
          <p:nvPr/>
        </p:nvSpPr>
        <p:spPr>
          <a:xfrm>
            <a:off x="4076700" y="1866900"/>
            <a:ext cx="47625" cy="13335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evidence-1-icon"/>
          <p:cNvSpPr txBox="1"/>
          <p:nvPr/>
        </p:nvSpPr>
        <p:spPr>
          <a:xfrm>
            <a:off x="4267200" y="2019300"/>
            <a:ext cx="209550" cy="20955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!</a:t>
            </a:r>
          </a:p>
        </p:txBody>
      </p:sp>
      <p:sp>
        <p:nvSpPr>
          <p:cNvPr id="20" name="evidence-1-title"/>
          <p:cNvSpPr txBox="1"/>
          <p:nvPr/>
        </p:nvSpPr>
        <p:spPr>
          <a:xfrm>
            <a:off x="4572000" y="2019300"/>
            <a:ext cx="5753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Open Roles Assumption Revised</a:t>
            </a:r>
          </a:p>
        </p:txBody>
      </p:sp>
      <p:sp>
        <p:nvSpPr>
          <p:cNvPr id="21" name="evidence-1-tag"/>
          <p:cNvSpPr txBox="1"/>
          <p:nvPr/>
        </p:nvSpPr>
        <p:spPr>
          <a:xfrm>
            <a:off x="10877550" y="2019300"/>
            <a:ext cx="666750" cy="1905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wrap="square" tIns="28575" rIns="76200" bIns="28575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22" name="evidence-1-body"/>
          <p:cNvSpPr txBox="1"/>
          <p:nvPr/>
        </p:nvSpPr>
        <p:spPr>
          <a:xfrm>
            <a:off x="4572000" y="2286000"/>
            <a:ext cx="689610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Original model: 60 heads → current estimate: ~30 heads. Impact: ~$3M/year gap vs. original at $100K per head.</a:t>
            </a:r>
          </a:p>
        </p:txBody>
      </p:sp>
      <p:sp>
        <p:nvSpPr>
          <p:cNvPr id="23" name="evidence-2-card-bg"/>
          <p:cNvSpPr/>
          <p:nvPr/>
        </p:nvSpPr>
        <p:spPr>
          <a:xfrm>
            <a:off x="4076700" y="3314700"/>
            <a:ext cx="7658100" cy="1333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evidence-2-severity"/>
          <p:cNvSpPr/>
          <p:nvPr/>
        </p:nvSpPr>
        <p:spPr>
          <a:xfrm>
            <a:off x="4076700" y="3314700"/>
            <a:ext cx="47625" cy="1333500"/>
          </a:xfrm>
          <a:prstGeom prst="rect">
            <a:avLst/>
          </a:prstGeom>
          <a:solidFill>
            <a:srgbClr val="B8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evidence-2-icon"/>
          <p:cNvSpPr txBox="1"/>
          <p:nvPr/>
        </p:nvSpPr>
        <p:spPr>
          <a:xfrm>
            <a:off x="4267200" y="3467100"/>
            <a:ext cx="209550" cy="209550"/>
          </a:xfrm>
          <a:prstGeom prst="rect">
            <a:avLst/>
          </a:prstGeom>
          <a:solidFill>
            <a:srgbClr val="B87800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°</a:t>
            </a:r>
          </a:p>
        </p:txBody>
      </p:sp>
      <p:sp>
        <p:nvSpPr>
          <p:cNvPr id="26" name="evidence-2-title"/>
          <p:cNvSpPr txBox="1"/>
          <p:nvPr/>
        </p:nvSpPr>
        <p:spPr>
          <a:xfrm>
            <a:off x="4572000" y="3467100"/>
            <a:ext cx="5753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87800"/>
                </a:solidFill>
                <a:latin typeface="Inter"/>
              </a:rPr>
              <a:t>Potential CY29 Business Case Reduction</a:t>
            </a:r>
          </a:p>
        </p:txBody>
      </p:sp>
      <p:sp>
        <p:nvSpPr>
          <p:cNvPr id="27" name="evidence-2-tag"/>
          <p:cNvSpPr txBox="1"/>
          <p:nvPr/>
        </p:nvSpPr>
        <p:spPr>
          <a:xfrm>
            <a:off x="10877550" y="3467100"/>
            <a:ext cx="666750" cy="190500"/>
          </a:xfrm>
          <a:prstGeom prst="rect">
            <a:avLst/>
          </a:prstGeom>
          <a:solidFill>
            <a:srgbClr val="B87800"/>
          </a:solidFill>
          <a:ln>
            <a:noFill/>
          </a:ln>
        </p:spPr>
        <p:txBody>
          <a:bodyPr wrap="square" tIns="28575" rIns="76200" bIns="28575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WATCH</a:t>
            </a:r>
          </a:p>
        </p:txBody>
      </p:sp>
      <p:sp>
        <p:nvSpPr>
          <p:cNvPr id="28" name="evidence-2-body"/>
          <p:cNvSpPr txBox="1"/>
          <p:nvPr/>
        </p:nvSpPr>
        <p:spPr>
          <a:xfrm>
            <a:off x="4572000" y="3733800"/>
            <a:ext cx="689610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Watch-item only — not confirmed. Flagged by internal stakeholder; no escalation to leadership until evidence solidifies.</a:t>
            </a:r>
          </a:p>
        </p:txBody>
      </p:sp>
      <p:sp>
        <p:nvSpPr>
          <p:cNvPr id="29" name="evidence-3-card-bg"/>
          <p:cNvSpPr/>
          <p:nvPr/>
        </p:nvSpPr>
        <p:spPr>
          <a:xfrm>
            <a:off x="4076700" y="4762500"/>
            <a:ext cx="7658100" cy="13335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evidence-3-severity"/>
          <p:cNvSpPr/>
          <p:nvPr/>
        </p:nvSpPr>
        <p:spPr>
          <a:xfrm>
            <a:off x="4076700" y="4762500"/>
            <a:ext cx="47625" cy="13335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evidence-3-icon"/>
          <p:cNvSpPr txBox="1"/>
          <p:nvPr/>
        </p:nvSpPr>
        <p:spPr>
          <a:xfrm>
            <a:off x="4267200" y="4914900"/>
            <a:ext cx="209550" cy="20955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!</a:t>
            </a:r>
          </a:p>
        </p:txBody>
      </p:sp>
      <p:sp>
        <p:nvSpPr>
          <p:cNvPr id="32" name="evidence-3-title"/>
          <p:cNvSpPr txBox="1"/>
          <p:nvPr/>
        </p:nvSpPr>
        <p:spPr>
          <a:xfrm>
            <a:off x="4572000" y="4914900"/>
            <a:ext cx="57531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B71C1C"/>
                </a:solidFill>
                <a:latin typeface="Inter"/>
              </a:rPr>
              <a:t>Finance Initiative Ownership</a:t>
            </a:r>
          </a:p>
        </p:txBody>
      </p:sp>
      <p:sp>
        <p:nvSpPr>
          <p:cNvPr id="33" name="evidence-3-tag"/>
          <p:cNvSpPr txBox="1"/>
          <p:nvPr/>
        </p:nvSpPr>
        <p:spPr>
          <a:xfrm>
            <a:off x="10877550" y="4914900"/>
            <a:ext cx="666750" cy="1905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txBody>
          <a:bodyPr wrap="square" tIns="28575" rIns="76200" bIns="28575" lIns="762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34" name="evidence-3-body"/>
          <p:cNvSpPr txBox="1"/>
          <p:nvPr/>
        </p:nvSpPr>
        <p:spPr>
          <a:xfrm>
            <a:off x="4572000" y="5181600"/>
            <a:ext cx="689610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Non-labor-arbitrage levers (background checks, cost-per-hire) uncommitted. If Finance does not execute, savings do not materialize.</a:t>
            </a:r>
          </a:p>
        </p:txBody>
      </p:sp>
      <p:sp>
        <p:nvSpPr>
          <p:cNvPr id="35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6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7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