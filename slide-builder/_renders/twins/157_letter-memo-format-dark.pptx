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0A4E"/>
        </a:solidFill>
        <a:effectLst/>
      </p:bgPr>
    </p:bg>
    <p:spTree>
      <p:nvGrpSpPr>
        <p:cNvPr id="1" name=""/>
        <p:cNvGrpSpPr/>
        <p:nvPr/>
      </p:nvGrpSpPr>
      <p:grpSpPr/>
      <p:sp>
        <p:nvSpPr>
          <p:cNvPr id="2" name="title"/>
          <p:cNvSpPr txBox="1"/>
          <p:nvPr/>
        </p:nvSpPr>
        <p:spPr>
          <a:xfrm>
            <a:off x="457200" y="190500"/>
            <a:ext cx="11277600" cy="762000"/>
          </a:xfrm>
          <a:prstGeom prst="rect">
            <a:avLst/>
          </a:prstGeom>
          <a:noFill/>
          <a:ln>
            <a:noFill/>
          </a:ln>
        </p:spPr>
        <p:txBody>
          <a:bodyPr wrap="square" tIns="0" rIns="0" bIns="0" lIns="0" anchor="b">
            <a:spAutoFit/>
          </a:bodyPr>
          <a:lstStyle/>
          <a:p>
            <a:pPr algn="l">
              <a:defRPr/>
            </a:pPr>
            <a:r>
              <a:rPr sz="1650" b="1" i="0">
                <a:solidFill>
                  <a:srgbClr val="C780FF"/>
                </a:solidFill>
                <a:latin typeface="Inter"/>
              </a:rPr>
              <a:t>Decision required by May 25</a:t>
            </a:r>
            <a:r>
              <a:rPr sz="1650" b="1" i="0">
                <a:solidFill>
                  <a:srgbClr val="FFFFFF"/>
                </a:solidFill>
                <a:latin typeface="Inter"/>
              </a:rPr>
              <a:t> — memo formally documents the steering committee's authority to approve Phase 3</a:t>
            </a:r>
          </a:p>
        </p:txBody>
      </p:sp>
      <p:sp>
        <p:nvSpPr>
          <p:cNvPr id="3" name="subtitle"/>
          <p:cNvSpPr txBox="1"/>
          <p:nvPr/>
        </p:nvSpPr>
        <p:spPr>
          <a:xfrm>
            <a:off x="457200" y="1028700"/>
            <a:ext cx="11277600" cy="209550"/>
          </a:xfrm>
          <a:prstGeom prst="rect">
            <a:avLst/>
          </a:prstGeom>
          <a:noFill/>
          <a:ln>
            <a:noFill/>
          </a:ln>
        </p:spPr>
        <p:txBody>
          <a:bodyPr wrap="square" tIns="0" rIns="0" bIns="0" lIns="0" anchor="t">
            <a:spAutoFit/>
          </a:bodyPr>
          <a:lstStyle/>
          <a:p>
            <a:pPr algn="l">
              <a:defRPr/>
            </a:pPr>
            <a:r>
              <a:rPr sz="1050" b="0" i="1">
                <a:solidFill>
                  <a:srgbClr val="C7B8DD"/>
                </a:solidFill>
                <a:latin typeface="Inter"/>
              </a:rPr>
              <a:t>Formal memorandum · Client Steering Committee · May 18, 2026</a:t>
            </a:r>
          </a:p>
        </p:txBody>
      </p:sp>
      <p:sp>
        <p:nvSpPr>
          <p:cNvPr id="4" name="brand-rule"/>
          <p:cNvSpPr/>
          <p:nvPr/>
        </p:nvSpPr>
        <p:spPr>
          <a:xfrm>
            <a:off x="457200" y="1257300"/>
            <a:ext cx="609600" cy="28575"/>
          </a:xfrm>
          <a:prstGeom prst="rect">
            <a:avLst/>
          </a:prstGeom>
          <a:solidFill>
            <a:srgbClr val="C7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memo-card"/>
          <p:cNvSpPr/>
          <p:nvPr/>
        </p:nvSpPr>
        <p:spPr>
          <a:xfrm>
            <a:off x="381000" y="2095500"/>
            <a:ext cx="11430000" cy="4191000"/>
          </a:xfrm>
          <a:prstGeom prst="rect">
            <a:avLst/>
          </a:prstGeom>
          <a:solidFill>
            <a:srgbClr val="3C1F5C"/>
          </a:solidFill>
          <a:ln w="9525">
            <a:solidFill>
              <a:srgbClr val="553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6" name="memo-header-title"/>
          <p:cNvSpPr txBox="1"/>
          <p:nvPr/>
        </p:nvSpPr>
        <p:spPr>
          <a:xfrm>
            <a:off x="762000" y="2190750"/>
            <a:ext cx="10668000" cy="247650"/>
          </a:xfrm>
          <a:prstGeom prst="rect">
            <a:avLst/>
          </a:prstGeom>
          <a:noFill/>
          <a:ln>
            <a:noFill/>
          </a:ln>
        </p:spPr>
        <p:txBody>
          <a:bodyPr wrap="square" tIns="0" rIns="0" bIns="0" lIns="0" anchor="t">
            <a:spAutoFit/>
          </a:bodyPr>
          <a:lstStyle/>
          <a:p>
            <a:pPr algn="ctr">
              <a:defRPr/>
            </a:pPr>
            <a:r>
              <a:rPr sz="1350" b="1" i="0">
                <a:solidFill>
                  <a:srgbClr val="C780FF"/>
                </a:solidFill>
                <a:latin typeface="Inter"/>
              </a:rPr>
              <a:t>MEMORANDUM</a:t>
            </a:r>
          </a:p>
        </p:txBody>
      </p:sp>
      <p:sp>
        <p:nvSpPr>
          <p:cNvPr id="7" name="memo-header-rule"/>
          <p:cNvSpPr/>
          <p:nvPr/>
        </p:nvSpPr>
        <p:spPr>
          <a:xfrm>
            <a:off x="762000" y="2476500"/>
            <a:ext cx="10668000" cy="190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meta-label-1"/>
          <p:cNvSpPr txBox="1"/>
          <p:nvPr/>
        </p:nvSpPr>
        <p:spPr>
          <a:xfrm>
            <a:off x="762000" y="2571750"/>
            <a:ext cx="6096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FROM:</a:t>
            </a:r>
          </a:p>
        </p:txBody>
      </p:sp>
      <p:sp>
        <p:nvSpPr>
          <p:cNvPr id="9" name="meta-value-1"/>
          <p:cNvSpPr txBox="1"/>
          <p:nvPr/>
        </p:nvSpPr>
        <p:spPr>
          <a:xfrm>
            <a:off x="1485900" y="2571750"/>
            <a:ext cx="9944100" cy="152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Managing Director, Accenture</a:t>
            </a:r>
          </a:p>
        </p:txBody>
      </p:sp>
      <p:sp>
        <p:nvSpPr>
          <p:cNvPr id="10" name="meta-label-2"/>
          <p:cNvSpPr txBox="1"/>
          <p:nvPr/>
        </p:nvSpPr>
        <p:spPr>
          <a:xfrm>
            <a:off x="762000" y="2743200"/>
            <a:ext cx="6096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TO:</a:t>
            </a:r>
          </a:p>
        </p:txBody>
      </p:sp>
      <p:sp>
        <p:nvSpPr>
          <p:cNvPr id="11" name="meta-value-2"/>
          <p:cNvSpPr txBox="1"/>
          <p:nvPr/>
        </p:nvSpPr>
        <p:spPr>
          <a:xfrm>
            <a:off x="1485900" y="2743200"/>
            <a:ext cx="9944100" cy="152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Client Steering Committee</a:t>
            </a:r>
          </a:p>
        </p:txBody>
      </p:sp>
      <p:sp>
        <p:nvSpPr>
          <p:cNvPr id="12" name="meta-label-3"/>
          <p:cNvSpPr txBox="1"/>
          <p:nvPr/>
        </p:nvSpPr>
        <p:spPr>
          <a:xfrm>
            <a:off x="762000" y="2914650"/>
            <a:ext cx="6096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DATE:</a:t>
            </a:r>
          </a:p>
        </p:txBody>
      </p:sp>
      <p:sp>
        <p:nvSpPr>
          <p:cNvPr id="13" name="meta-value-3"/>
          <p:cNvSpPr txBox="1"/>
          <p:nvPr/>
        </p:nvSpPr>
        <p:spPr>
          <a:xfrm>
            <a:off x="1485900" y="2914650"/>
            <a:ext cx="9944100" cy="152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May 18, 2026</a:t>
            </a:r>
          </a:p>
        </p:txBody>
      </p:sp>
      <p:sp>
        <p:nvSpPr>
          <p:cNvPr id="14" name="meta-label-4"/>
          <p:cNvSpPr txBox="1"/>
          <p:nvPr/>
        </p:nvSpPr>
        <p:spPr>
          <a:xfrm>
            <a:off x="762000" y="3086100"/>
            <a:ext cx="6096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RE:</a:t>
            </a:r>
          </a:p>
        </p:txBody>
      </p:sp>
      <p:sp>
        <p:nvSpPr>
          <p:cNvPr id="15" name="meta-value-4"/>
          <p:cNvSpPr txBox="1"/>
          <p:nvPr/>
        </p:nvSpPr>
        <p:spPr>
          <a:xfrm>
            <a:off x="1485900" y="3086100"/>
            <a:ext cx="99441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Phase 2 Decision Package</a:t>
            </a:r>
          </a:p>
        </p:txBody>
      </p:sp>
      <p:sp>
        <p:nvSpPr>
          <p:cNvPr id="16" name="meta-rule"/>
          <p:cNvSpPr/>
          <p:nvPr/>
        </p:nvSpPr>
        <p:spPr>
          <a:xfrm>
            <a:off x="762000" y="3295650"/>
            <a:ext cx="10668000" cy="9525"/>
          </a:xfrm>
          <a:prstGeom prst="rect">
            <a:avLst/>
          </a:prstGeom>
          <a:solidFill>
            <a:srgbClr val="553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body-p1"/>
          <p:cNvSpPr txBox="1"/>
          <p:nvPr/>
        </p:nvSpPr>
        <p:spPr>
          <a:xfrm>
            <a:off x="762000" y="3390900"/>
            <a:ext cx="10668000" cy="533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Phase 2 of the transformation program has been completed on schedule and within the approved budget envelope. All six workstreams have met their exit criteria, and the independent quality review confirmed zero critical findings.</a:t>
            </a:r>
          </a:p>
        </p:txBody>
      </p:sp>
      <p:sp>
        <p:nvSpPr>
          <p:cNvPr id="18" name="body-p2"/>
          <p:cNvSpPr txBox="1"/>
          <p:nvPr/>
        </p:nvSpPr>
        <p:spPr>
          <a:xfrm>
            <a:off x="762000" y="3962400"/>
            <a:ext cx="10668000" cy="533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The Steering Committee is asked to make a formal decision on Phase 3 initiation. Three options are presented: (A) full scope go-ahead at the approved $4.2M envelope; (B) a reduced-scope entry covering Workstreams 1-3 only; or (C) a structured pause pending stakeholder alignment.</a:t>
            </a:r>
          </a:p>
        </p:txBody>
      </p:sp>
      <p:sp>
        <p:nvSpPr>
          <p:cNvPr id="19" name="body-p3"/>
          <p:cNvSpPr txBox="1"/>
          <p:nvPr/>
        </p:nvSpPr>
        <p:spPr>
          <a:xfrm>
            <a:off x="762000" y="4533900"/>
            <a:ext cx="10668000" cy="533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Accenture recommends Option A — full scope initiation. Delay beyond May 25 introduces a six-week critical-path slip and estimated £380K in re-mobilisation costs. A signed decision memo is required by close of business May 25, 2026.</a:t>
            </a:r>
          </a:p>
        </p:txBody>
      </p:sp>
      <p:sp>
        <p:nvSpPr>
          <p:cNvPr id="20" name="sig-divider"/>
          <p:cNvSpPr/>
          <p:nvPr/>
        </p:nvSpPr>
        <p:spPr>
          <a:xfrm>
            <a:off x="762000" y="5143500"/>
            <a:ext cx="10668000" cy="9525"/>
          </a:xfrm>
          <a:prstGeom prst="rect">
            <a:avLst/>
          </a:prstGeom>
          <a:solidFill>
            <a:srgbClr val="C7B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sig-line"/>
          <p:cNvSpPr/>
          <p:nvPr/>
        </p:nvSpPr>
        <p:spPr>
          <a:xfrm>
            <a:off x="762000" y="5314950"/>
            <a:ext cx="15240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sig-name"/>
          <p:cNvSpPr txBox="1"/>
          <p:nvPr/>
        </p:nvSpPr>
        <p:spPr>
          <a:xfrm>
            <a:off x="762000" y="5353050"/>
            <a:ext cx="2857500" cy="133350"/>
          </a:xfrm>
          <a:prstGeom prst="rect">
            <a:avLst/>
          </a:prstGeom>
          <a:noFill/>
          <a:ln>
            <a:noFill/>
          </a:ln>
        </p:spPr>
        <p:txBody>
          <a:bodyPr wrap="square" tIns="0" rIns="0" bIns="0" lIns="0" anchor="t">
            <a:spAutoFit/>
          </a:bodyPr>
          <a:lstStyle/>
          <a:p>
            <a:pPr algn="l">
              <a:defRPr/>
            </a:pPr>
            <a:r>
              <a:rPr sz="1050" b="1" i="0">
                <a:solidFill>
                  <a:srgbClr val="C780FF"/>
                </a:solidFill>
                <a:latin typeface="Inter"/>
              </a:rPr>
              <a:t>Maria Santos</a:t>
            </a:r>
          </a:p>
        </p:txBody>
      </p:sp>
      <p:sp>
        <p:nvSpPr>
          <p:cNvPr id="23" name="sig-title"/>
          <p:cNvSpPr txBox="1"/>
          <p:nvPr/>
        </p:nvSpPr>
        <p:spPr>
          <a:xfrm>
            <a:off x="762000" y="5505450"/>
            <a:ext cx="2857500" cy="114300"/>
          </a:xfrm>
          <a:prstGeom prst="rect">
            <a:avLst/>
          </a:prstGeom>
          <a:noFill/>
          <a:ln>
            <a:noFill/>
          </a:ln>
        </p:spPr>
        <p:txBody>
          <a:bodyPr wrap="square" tIns="0" rIns="0" bIns="0" lIns="0" anchor="t">
            <a:spAutoFit/>
          </a:bodyPr>
          <a:lstStyle/>
          <a:p>
            <a:pPr algn="l">
              <a:defRPr/>
            </a:pPr>
            <a:r>
              <a:rPr sz="1050" b="0" i="0">
                <a:solidFill>
                  <a:srgbClr val="C7B8DD"/>
                </a:solidFill>
                <a:latin typeface="Inter"/>
              </a:rPr>
              <a:t>Engagement Lead, Accenture</a:t>
            </a:r>
          </a:p>
        </p:txBody>
      </p:sp>
      <p:sp>
        <p:nvSpPr>
          <p:cNvPr id="24" name="sig-contact"/>
          <p:cNvSpPr txBox="1"/>
          <p:nvPr/>
        </p:nvSpPr>
        <p:spPr>
          <a:xfrm>
            <a:off x="762000" y="5638800"/>
            <a:ext cx="3810000" cy="114300"/>
          </a:xfrm>
          <a:prstGeom prst="rect">
            <a:avLst/>
          </a:prstGeom>
          <a:noFill/>
          <a:ln>
            <a:noFill/>
          </a:ln>
        </p:spPr>
        <p:txBody>
          <a:bodyPr wrap="square" tIns="0" rIns="0" bIns="0" lIns="0" anchor="t">
            <a:spAutoFit/>
          </a:bodyPr>
          <a:lstStyle/>
          <a:p>
            <a:pPr algn="l">
              <a:defRPr/>
            </a:pPr>
            <a:r>
              <a:rPr sz="1050" b="0" i="0">
                <a:solidFill>
                  <a:srgbClr val="9C88B8"/>
                </a:solidFill>
                <a:latin typeface="Inter"/>
              </a:rPr>
              <a:t>maria.santos@accenture.com · +44 20 7844 1000</a:t>
            </a:r>
          </a:p>
        </p:txBody>
      </p:sp>
      <p:sp>
        <p:nvSpPr>
          <p:cNvPr id="25" name="priv-footer"/>
          <p:cNvSpPr txBox="1"/>
          <p:nvPr/>
        </p:nvSpPr>
        <p:spPr>
          <a:xfrm>
            <a:off x="9525000" y="5638800"/>
            <a:ext cx="1905000" cy="114300"/>
          </a:xfrm>
          <a:prstGeom prst="rect">
            <a:avLst/>
          </a:prstGeom>
          <a:noFill/>
          <a:ln>
            <a:noFill/>
          </a:ln>
        </p:spPr>
        <p:txBody>
          <a:bodyPr wrap="square" tIns="0" rIns="0" bIns="0" lIns="0" anchor="t">
            <a:spAutoFit/>
          </a:bodyPr>
          <a:lstStyle/>
          <a:p>
            <a:pPr algn="r">
              <a:defRPr/>
            </a:pPr>
            <a:r>
              <a:rPr sz="1050" b="1" i="0">
                <a:solidFill>
                  <a:srgbClr val="9C88B8"/>
                </a:solidFill>
                <a:latin typeface="Inter"/>
              </a:rPr>
              <a:t>PRIVILEGED &amp; CONFIDENTIAL</a:t>
            </a:r>
          </a:p>
        </p:txBody>
      </p:sp>
      <p:sp>
        <p:nvSpPr>
          <p:cNvPr id="26" name="source"/>
          <p:cNvSpPr txBox="1"/>
          <p:nvPr/>
        </p:nvSpPr>
        <p:spPr>
          <a:xfrm>
            <a:off x="552450" y="6553200"/>
            <a:ext cx="10477500" cy="152400"/>
          </a:xfrm>
          <a:prstGeom prst="rect">
            <a:avLst/>
          </a:prstGeom>
          <a:noFill/>
          <a:ln>
            <a:noFill/>
          </a:ln>
        </p:spPr>
        <p:txBody>
          <a:bodyPr wrap="square" tIns="0" rIns="0" bIns="0" lIns="0" anchor="t">
            <a:spAutoFit/>
          </a:bodyPr>
          <a:lstStyle/>
          <a:p>
            <a:pPr algn="l"/>
            <a:r>
              <a:rPr sz="750" b="0" i="1">
                <a:solidFill>
                  <a:srgbClr val="9C88B8"/>
                </a:solidFill>
                <a:latin typeface="Inter"/>
              </a:rPr>
              <a:t>Source: [add source here or delete]</a:t>
            </a:r>
          </a:p>
        </p:txBody>
      </p:sp>
      <p:sp>
        <p:nvSpPr>
          <p:cNvPr id="27" name="page-number"/>
          <p:cNvSpPr txBox="1"/>
          <p:nvPr/>
        </p:nvSpPr>
        <p:spPr>
          <a:xfrm>
            <a:off x="11144250" y="6553200"/>
            <a:ext cx="495300" cy="152400"/>
          </a:xfrm>
          <a:prstGeom prst="rect">
            <a:avLst/>
          </a:prstGeom>
          <a:noFill/>
          <a:ln>
            <a:noFill/>
          </a:ln>
        </p:spPr>
        <p:txBody>
          <a:bodyPr wrap="square" tIns="0" rIns="0" bIns="0" lIns="0" anchor="t">
            <a:spAutoFit/>
          </a:bodyPr>
          <a:lstStyle/>
          <a:p>
            <a:pPr algn="r"/>
            <a:r>
              <a:rPr sz="825" b="0" i="0">
                <a:solidFill>
                  <a:srgbClr val="9C88B8"/>
                </a:solidFill>
                <a:latin typeface="Inter"/>
              </a:rPr>
              <a:t>157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