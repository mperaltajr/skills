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Where to focus first — high-impact, low-effort wins.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Bank credibility in the top-left before spending capital on the strategic bet.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axis-label"/>
          <p:cNvSpPr txBox="1"/>
          <p:nvPr/>
        </p:nvSpPr>
        <p:spPr>
          <a:xfrm>
            <a:off x="533400" y="36385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IMPACT</a:t>
            </a:r>
          </a:p>
        </p:txBody>
      </p:sp>
      <p:sp>
        <p:nvSpPr>
          <p:cNvPr id="6" name="quadrant-y-high"/>
          <p:cNvSpPr txBox="1"/>
          <p:nvPr/>
        </p:nvSpPr>
        <p:spPr>
          <a:xfrm>
            <a:off x="533400" y="22479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7" name="quadrant-y-low"/>
          <p:cNvSpPr txBox="1"/>
          <p:nvPr/>
        </p:nvSpPr>
        <p:spPr>
          <a:xfrm>
            <a:off x="533400" y="50292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8" name="quadrant-tl-bg"/>
          <p:cNvSpPr/>
          <p:nvPr/>
        </p:nvSpPr>
        <p:spPr>
          <a:xfrm>
            <a:off x="1047750" y="2190750"/>
            <a:ext cx="5286375" cy="1504950"/>
          </a:xfrm>
          <a:prstGeom prst="rect">
            <a:avLst/>
          </a:prstGeom>
          <a:solidFill>
            <a:srgbClr val="A100FF"/>
          </a:solidFill>
          <a:ln w="28575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adrant-tl-label"/>
          <p:cNvSpPr txBox="1"/>
          <p:nvPr/>
        </p:nvSpPr>
        <p:spPr>
          <a:xfrm>
            <a:off x="1219200" y="2324100"/>
            <a:ext cx="4943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START HERE</a:t>
            </a:r>
          </a:p>
        </p:txBody>
      </p:sp>
      <p:sp>
        <p:nvSpPr>
          <p:cNvPr id="10" name="quadrant-tl-name"/>
          <p:cNvSpPr txBox="1"/>
          <p:nvPr/>
        </p:nvSpPr>
        <p:spPr>
          <a:xfrm>
            <a:off x="1219200" y="2495550"/>
            <a:ext cx="49434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Quick wins</a:t>
            </a:r>
          </a:p>
        </p:txBody>
      </p:sp>
      <p:sp>
        <p:nvSpPr>
          <p:cNvPr id="11" name="quadrant-tl-directive"/>
          <p:cNvSpPr txBox="1"/>
          <p:nvPr/>
        </p:nvSpPr>
        <p:spPr>
          <a:xfrm>
            <a:off x="1219200" y="2781300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Ship in weeks. Earn the right to do the hard work.</a:t>
            </a:r>
          </a:p>
        </p:txBody>
      </p:sp>
      <p:sp>
        <p:nvSpPr>
          <p:cNvPr id="12" name="quadrant-tl-body"/>
          <p:cNvSpPr txBox="1"/>
          <p:nvPr/>
        </p:nvSpPr>
        <p:spPr>
          <a:xfrm>
            <a:off x="1219200" y="306705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Pilot Slide Lab on one live engagement
• Roll out QC framework to two teams
• Publish the pattern library internally</a:t>
            </a:r>
          </a:p>
        </p:txBody>
      </p:sp>
      <p:sp>
        <p:nvSpPr>
          <p:cNvPr id="13" name="quadrant-tr-bg"/>
          <p:cNvSpPr/>
          <p:nvPr/>
        </p:nvSpPr>
        <p:spPr>
          <a:xfrm>
            <a:off x="6372225" y="2190750"/>
            <a:ext cx="5286375" cy="15049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r-label"/>
          <p:cNvSpPr txBox="1"/>
          <p:nvPr/>
        </p:nvSpPr>
        <p:spPr>
          <a:xfrm>
            <a:off x="6543675" y="2324100"/>
            <a:ext cx="4943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PLAN DELIBERATELY</a:t>
            </a:r>
          </a:p>
        </p:txBody>
      </p:sp>
      <p:sp>
        <p:nvSpPr>
          <p:cNvPr id="15" name="quadrant-tr-name"/>
          <p:cNvSpPr txBox="1"/>
          <p:nvPr/>
        </p:nvSpPr>
        <p:spPr>
          <a:xfrm>
            <a:off x="6543675" y="2495550"/>
            <a:ext cx="49434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FFFFFF"/>
                </a:solidFill>
                <a:latin typeface="Inter"/>
              </a:rPr>
              <a:t>Strategic bets</a:t>
            </a:r>
          </a:p>
        </p:txBody>
      </p:sp>
      <p:sp>
        <p:nvSpPr>
          <p:cNvPr id="16" name="quadrant-tr-directive"/>
          <p:cNvSpPr txBox="1"/>
          <p:nvPr/>
        </p:nvSpPr>
        <p:spPr>
          <a:xfrm>
            <a:off x="6543675" y="2781300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Sequence after wins land. Requires sponsor air-cover.</a:t>
            </a:r>
          </a:p>
        </p:txBody>
      </p:sp>
      <p:sp>
        <p:nvSpPr>
          <p:cNvPr id="17" name="quadrant-tr-body"/>
          <p:cNvSpPr txBox="1"/>
          <p:nvPr/>
        </p:nvSpPr>
        <p:spPr>
          <a:xfrm>
            <a:off x="6543675" y="306705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• Rebuild brand asset system
• Firm-wide narrative coaching program</a:t>
            </a:r>
          </a:p>
        </p:txBody>
      </p:sp>
      <p:sp>
        <p:nvSpPr>
          <p:cNvPr id="18" name="quadrant-bl-bg"/>
          <p:cNvSpPr/>
          <p:nvPr/>
        </p:nvSpPr>
        <p:spPr>
          <a:xfrm>
            <a:off x="1047750" y="3733800"/>
            <a:ext cx="5286375" cy="1504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quadrant-bl-label"/>
          <p:cNvSpPr txBox="1"/>
          <p:nvPr/>
        </p:nvSpPr>
        <p:spPr>
          <a:xfrm>
            <a:off x="1219200" y="3867150"/>
            <a:ext cx="4943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FIT IN THE GAPS</a:t>
            </a:r>
          </a:p>
        </p:txBody>
      </p:sp>
      <p:sp>
        <p:nvSpPr>
          <p:cNvPr id="20" name="quadrant-bl-name"/>
          <p:cNvSpPr txBox="1"/>
          <p:nvPr/>
        </p:nvSpPr>
        <p:spPr>
          <a:xfrm>
            <a:off x="1219200" y="4038600"/>
            <a:ext cx="49434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1A1A2E"/>
                </a:solidFill>
                <a:latin typeface="Inter"/>
              </a:rPr>
              <a:t>Fillers</a:t>
            </a:r>
          </a:p>
        </p:txBody>
      </p:sp>
      <p:sp>
        <p:nvSpPr>
          <p:cNvPr id="21" name="quadrant-bl-directive"/>
          <p:cNvSpPr txBox="1"/>
          <p:nvPr/>
        </p:nvSpPr>
        <p:spPr>
          <a:xfrm>
            <a:off x="1219200" y="4324350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Low cost, low signal. Use only when capacity is idle.</a:t>
            </a:r>
          </a:p>
        </p:txBody>
      </p:sp>
      <p:sp>
        <p:nvSpPr>
          <p:cNvPr id="22" name="quadrant-bl-body"/>
          <p:cNvSpPr txBox="1"/>
          <p:nvPr/>
        </p:nvSpPr>
        <p:spPr>
          <a:xfrm>
            <a:off x="1219200" y="461010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Refresh internal slide template
• Tidy shared drive folder structure</a:t>
            </a:r>
          </a:p>
        </p:txBody>
      </p:sp>
      <p:sp>
        <p:nvSpPr>
          <p:cNvPr id="23" name="quadrant-br-bg"/>
          <p:cNvSpPr/>
          <p:nvPr/>
        </p:nvSpPr>
        <p:spPr>
          <a:xfrm>
            <a:off x="6372225" y="3733800"/>
            <a:ext cx="5286375" cy="15049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quadrant-br-label"/>
          <p:cNvSpPr txBox="1"/>
          <p:nvPr/>
        </p:nvSpPr>
        <p:spPr>
          <a:xfrm>
            <a:off x="6543675" y="3867150"/>
            <a:ext cx="4943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DECLINE POLITELY</a:t>
            </a:r>
          </a:p>
        </p:txBody>
      </p:sp>
      <p:sp>
        <p:nvSpPr>
          <p:cNvPr id="25" name="quadrant-br-name"/>
          <p:cNvSpPr txBox="1"/>
          <p:nvPr/>
        </p:nvSpPr>
        <p:spPr>
          <a:xfrm>
            <a:off x="6543675" y="4038600"/>
            <a:ext cx="49434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64748B"/>
                </a:solidFill>
                <a:latin typeface="Inter"/>
              </a:rPr>
              <a:t>Avoid</a:t>
            </a:r>
          </a:p>
        </p:txBody>
      </p:sp>
      <p:sp>
        <p:nvSpPr>
          <p:cNvPr id="26" name="quadrant-br-directive"/>
          <p:cNvSpPr txBox="1"/>
          <p:nvPr/>
        </p:nvSpPr>
        <p:spPr>
          <a:xfrm>
            <a:off x="6543675" y="4324350"/>
            <a:ext cx="49434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Costly distractions dressed up as priorities.</a:t>
            </a:r>
          </a:p>
        </p:txBody>
      </p:sp>
      <p:sp>
        <p:nvSpPr>
          <p:cNvPr id="27" name="quadrant-br-body"/>
          <p:cNvSpPr txBox="1"/>
          <p:nvPr/>
        </p:nvSpPr>
        <p:spPr>
          <a:xfrm>
            <a:off x="6543675" y="4610100"/>
            <a:ext cx="4943475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• Custom AI model fine-tuning
• Bespoke per-partner UI themes</a:t>
            </a:r>
          </a:p>
        </p:txBody>
      </p:sp>
      <p:sp>
        <p:nvSpPr>
          <p:cNvPr id="28" name="quadrant-x-low"/>
          <p:cNvSpPr txBox="1"/>
          <p:nvPr/>
        </p:nvSpPr>
        <p:spPr>
          <a:xfrm>
            <a:off x="1047750" y="53149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LOW</a:t>
            </a:r>
          </a:p>
        </p:txBody>
      </p:sp>
      <p:sp>
        <p:nvSpPr>
          <p:cNvPr id="29" name="quadrant-x-high"/>
          <p:cNvSpPr txBox="1"/>
          <p:nvPr/>
        </p:nvSpPr>
        <p:spPr>
          <a:xfrm>
            <a:off x="10896600" y="53149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HIGH</a:t>
            </a:r>
          </a:p>
        </p:txBody>
      </p:sp>
      <p:sp>
        <p:nvSpPr>
          <p:cNvPr id="30" name="quadrant-x-axis-label"/>
          <p:cNvSpPr txBox="1"/>
          <p:nvPr/>
        </p:nvSpPr>
        <p:spPr>
          <a:xfrm>
            <a:off x="1047750" y="5448300"/>
            <a:ext cx="10610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EFFORT</a:t>
            </a:r>
          </a:p>
        </p:txBody>
      </p:sp>
      <p:sp>
        <p:nvSpPr>
          <p:cNvPr id="31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Start with quick wins; bank credibility before the strategic bet.</a:t>
            </a:r>
          </a:p>
        </p:txBody>
      </p:sp>
      <p:sp>
        <p:nvSpPr>
          <p:cNvPr id="3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