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95250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Tailored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key messages</a:t>
            </a:r>
            <a:r>
              <a:rPr sz="2400" b="1" i="0">
                <a:solidFill>
                  <a:srgbClr val="FFFFFF"/>
                </a:solidFill>
                <a:latin typeface="Inter"/>
              </a:rPr>
              <a:t> for every audience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Right message, right person, right channel — driving aligned action across the organisation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illar-1-bg"/>
          <p:cNvSpPr/>
          <p:nvPr/>
        </p:nvSpPr>
        <p:spPr>
          <a:xfrm>
            <a:off x="457200" y="2095500"/>
            <a:ext cx="2705100" cy="419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illar-1-accent-bar"/>
          <p:cNvSpPr/>
          <p:nvPr/>
        </p:nvSpPr>
        <p:spPr>
          <a:xfrm>
            <a:off x="457200" y="2095500"/>
            <a:ext cx="38100" cy="4191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illar-1-name"/>
          <p:cNvSpPr txBox="1"/>
          <p:nvPr/>
        </p:nvSpPr>
        <p:spPr>
          <a:xfrm>
            <a:off x="590550" y="222885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Board</a:t>
            </a:r>
          </a:p>
        </p:txBody>
      </p:sp>
      <p:sp>
        <p:nvSpPr>
          <p:cNvPr id="8" name="pillar-1-tag"/>
          <p:cNvSpPr txBox="1"/>
          <p:nvPr/>
        </p:nvSpPr>
        <p:spPr>
          <a:xfrm>
            <a:off x="590550" y="25146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Governance, risk &amp; fiduciary duty</a:t>
            </a:r>
          </a:p>
        </p:txBody>
      </p:sp>
      <p:sp>
        <p:nvSpPr>
          <p:cNvPr id="9" name="pillar-1-message"/>
          <p:cNvSpPr txBox="1"/>
          <p:nvPr/>
        </p:nvSpPr>
        <p:spPr>
          <a:xfrm>
            <a:off x="590550" y="287655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This initiative protects enterprise value and strengthens our strategic position</a:t>
            </a:r>
          </a:p>
        </p:txBody>
      </p:sp>
      <p:sp>
        <p:nvSpPr>
          <p:cNvPr id="10" name="pillar-1-bullet-1-dot"/>
          <p:cNvSpPr/>
          <p:nvPr/>
        </p:nvSpPr>
        <p:spPr>
          <a:xfrm>
            <a:off x="590550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illar-1-body"/>
          <p:cNvSpPr txBox="1"/>
          <p:nvPr/>
        </p:nvSpPr>
        <p:spPr>
          <a:xfrm>
            <a:off x="685800" y="36385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Reduces regulatory exposure by an estimated 40%</a:t>
            </a:r>
          </a:p>
        </p:txBody>
      </p:sp>
      <p:sp>
        <p:nvSpPr>
          <p:cNvPr id="12" name="pillar-1-bullet-2-dot"/>
          <p:cNvSpPr/>
          <p:nvPr/>
        </p:nvSpPr>
        <p:spPr>
          <a:xfrm>
            <a:off x="590550" y="40386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lar-1-body-2"/>
          <p:cNvSpPr txBox="1"/>
          <p:nvPr/>
        </p:nvSpPr>
        <p:spPr>
          <a:xfrm>
            <a:off x="685800" y="39814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Aligns with approved 3-year strategy</a:t>
            </a:r>
          </a:p>
        </p:txBody>
      </p:sp>
      <p:sp>
        <p:nvSpPr>
          <p:cNvPr id="14" name="pillar-1-bullet-3-dot"/>
          <p:cNvSpPr/>
          <p:nvPr/>
        </p:nvSpPr>
        <p:spPr>
          <a:xfrm>
            <a:off x="590550" y="43815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body-3"/>
          <p:cNvSpPr txBox="1"/>
          <p:nvPr/>
        </p:nvSpPr>
        <p:spPr>
          <a:xfrm>
            <a:off x="685800" y="43243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ROI positive within 18 months</a:t>
            </a:r>
          </a:p>
        </p:txBody>
      </p:sp>
      <p:sp>
        <p:nvSpPr>
          <p:cNvPr id="16" name="pillar-1-cta"/>
          <p:cNvSpPr txBox="1"/>
          <p:nvPr/>
        </p:nvSpPr>
        <p:spPr>
          <a:xfrm>
            <a:off x="590550" y="474345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Approve programme charter at next board meeting</a:t>
            </a:r>
          </a:p>
        </p:txBody>
      </p:sp>
      <p:sp>
        <p:nvSpPr>
          <p:cNvPr id="17" name="pillar-1-channel-rule"/>
          <p:cNvSpPr/>
          <p:nvPr/>
        </p:nvSpPr>
        <p:spPr>
          <a:xfrm>
            <a:off x="590550" y="5924550"/>
            <a:ext cx="24384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illar-1-channel"/>
          <p:cNvSpPr txBox="1"/>
          <p:nvPr/>
        </p:nvSpPr>
        <p:spPr>
          <a:xfrm>
            <a:off x="590550" y="5981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TOWN HALL  /  BOARD PACK</a:t>
            </a:r>
          </a:p>
        </p:txBody>
      </p:sp>
      <p:sp>
        <p:nvSpPr>
          <p:cNvPr id="19" name="pillar-2-bg"/>
          <p:cNvSpPr/>
          <p:nvPr/>
        </p:nvSpPr>
        <p:spPr>
          <a:xfrm>
            <a:off x="3314700" y="2095500"/>
            <a:ext cx="2705100" cy="419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accent-bar"/>
          <p:cNvSpPr/>
          <p:nvPr/>
        </p:nvSpPr>
        <p:spPr>
          <a:xfrm>
            <a:off x="3314700" y="2095500"/>
            <a:ext cx="38100" cy="419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illar-2-name"/>
          <p:cNvSpPr txBox="1"/>
          <p:nvPr/>
        </p:nvSpPr>
        <p:spPr>
          <a:xfrm>
            <a:off x="3448050" y="222885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C-Suite</a:t>
            </a:r>
          </a:p>
        </p:txBody>
      </p:sp>
      <p:sp>
        <p:nvSpPr>
          <p:cNvPr id="22" name="pillar-2-tag"/>
          <p:cNvSpPr txBox="1"/>
          <p:nvPr/>
        </p:nvSpPr>
        <p:spPr>
          <a:xfrm>
            <a:off x="3448050" y="25146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P&amp;L impact, cross-function alignment</a:t>
            </a:r>
          </a:p>
        </p:txBody>
      </p:sp>
      <p:sp>
        <p:nvSpPr>
          <p:cNvPr id="23" name="pillar-2-message"/>
          <p:cNvSpPr txBox="1"/>
          <p:nvPr/>
        </p:nvSpPr>
        <p:spPr>
          <a:xfrm>
            <a:off x="3448050" y="287655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 gain competitive advantage while meeting our cost and growth targets</a:t>
            </a:r>
          </a:p>
        </p:txBody>
      </p:sp>
      <p:sp>
        <p:nvSpPr>
          <p:cNvPr id="24" name="pillar-2-bullet-1-dot"/>
          <p:cNvSpPr/>
          <p:nvPr/>
        </p:nvSpPr>
        <p:spPr>
          <a:xfrm>
            <a:off x="3448050" y="36957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illar-2-body"/>
          <p:cNvSpPr txBox="1"/>
          <p:nvPr/>
        </p:nvSpPr>
        <p:spPr>
          <a:xfrm>
            <a:off x="3543300" y="36385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$12M efficiency target in Year 1</a:t>
            </a:r>
          </a:p>
        </p:txBody>
      </p:sp>
      <p:sp>
        <p:nvSpPr>
          <p:cNvPr id="26" name="pillar-2-bullet-2-dot"/>
          <p:cNvSpPr/>
          <p:nvPr/>
        </p:nvSpPr>
        <p:spPr>
          <a:xfrm>
            <a:off x="3448050" y="40386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illar-2-body-2"/>
          <p:cNvSpPr txBox="1"/>
          <p:nvPr/>
        </p:nvSpPr>
        <p:spPr>
          <a:xfrm>
            <a:off x="3543300" y="39814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Removes the top 3 cross-unit bottlenecks</a:t>
            </a:r>
          </a:p>
        </p:txBody>
      </p:sp>
      <p:sp>
        <p:nvSpPr>
          <p:cNvPr id="28" name="pillar-2-bullet-3-dot"/>
          <p:cNvSpPr/>
          <p:nvPr/>
        </p:nvSpPr>
        <p:spPr>
          <a:xfrm>
            <a:off x="3448050" y="43815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illar-2-body-3"/>
          <p:cNvSpPr txBox="1"/>
          <p:nvPr/>
        </p:nvSpPr>
        <p:spPr>
          <a:xfrm>
            <a:off x="3543300" y="43243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Enables new revenue stream by Q3</a:t>
            </a:r>
          </a:p>
        </p:txBody>
      </p:sp>
      <p:sp>
        <p:nvSpPr>
          <p:cNvPr id="30" name="pillar-2-cta"/>
          <p:cNvSpPr txBox="1"/>
          <p:nvPr/>
        </p:nvSpPr>
        <p:spPr>
          <a:xfrm>
            <a:off x="3448050" y="474345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A100FF"/>
                </a:solidFill>
                <a:latin typeface="Inter"/>
              </a:rPr>
              <a:t>Champion the change within your function by Week 2</a:t>
            </a:r>
          </a:p>
        </p:txBody>
      </p:sp>
      <p:sp>
        <p:nvSpPr>
          <p:cNvPr id="31" name="pillar-2-channel-rule"/>
          <p:cNvSpPr/>
          <p:nvPr/>
        </p:nvSpPr>
        <p:spPr>
          <a:xfrm>
            <a:off x="3448050" y="5924550"/>
            <a:ext cx="24384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pillar-2-channel"/>
          <p:cNvSpPr txBox="1"/>
          <p:nvPr/>
        </p:nvSpPr>
        <p:spPr>
          <a:xfrm>
            <a:off x="3448050" y="5981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LEADERSHIP OFFSITE  /  EMAIL</a:t>
            </a:r>
          </a:p>
        </p:txBody>
      </p:sp>
      <p:sp>
        <p:nvSpPr>
          <p:cNvPr id="33" name="pillar-3-bg"/>
          <p:cNvSpPr/>
          <p:nvPr/>
        </p:nvSpPr>
        <p:spPr>
          <a:xfrm>
            <a:off x="6172200" y="2095500"/>
            <a:ext cx="2705100" cy="419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illar-3-accent-bar"/>
          <p:cNvSpPr/>
          <p:nvPr/>
        </p:nvSpPr>
        <p:spPr>
          <a:xfrm>
            <a:off x="6172200" y="2095500"/>
            <a:ext cx="38100" cy="41910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illar-3-name"/>
          <p:cNvSpPr txBox="1"/>
          <p:nvPr/>
        </p:nvSpPr>
        <p:spPr>
          <a:xfrm>
            <a:off x="6305550" y="222885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36" name="pillar-3-tag"/>
          <p:cNvSpPr txBox="1"/>
          <p:nvPr/>
        </p:nvSpPr>
        <p:spPr>
          <a:xfrm>
            <a:off x="6305550" y="25146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Process reliability, KPIs &amp; workload</a:t>
            </a:r>
          </a:p>
        </p:txBody>
      </p:sp>
      <p:sp>
        <p:nvSpPr>
          <p:cNvPr id="37" name="pillar-3-message"/>
          <p:cNvSpPr txBox="1"/>
          <p:nvPr/>
        </p:nvSpPr>
        <p:spPr>
          <a:xfrm>
            <a:off x="6305550" y="287655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The new process reduces manual steps and makes hitting your SLAs easier</a:t>
            </a:r>
          </a:p>
        </p:txBody>
      </p:sp>
      <p:sp>
        <p:nvSpPr>
          <p:cNvPr id="38" name="pillar-3-bullet-1-dot"/>
          <p:cNvSpPr/>
          <p:nvPr/>
        </p:nvSpPr>
        <p:spPr>
          <a:xfrm>
            <a:off x="6305550" y="36957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illar-3-body"/>
          <p:cNvSpPr txBox="1"/>
          <p:nvPr/>
        </p:nvSpPr>
        <p:spPr>
          <a:xfrm>
            <a:off x="6400800" y="36385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Cuts average handling time by 25%</a:t>
            </a:r>
          </a:p>
        </p:txBody>
      </p:sp>
      <p:sp>
        <p:nvSpPr>
          <p:cNvPr id="40" name="pillar-3-bullet-2-dot"/>
          <p:cNvSpPr/>
          <p:nvPr/>
        </p:nvSpPr>
        <p:spPr>
          <a:xfrm>
            <a:off x="6305550" y="40386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illar-3-body-2"/>
          <p:cNvSpPr txBox="1"/>
          <p:nvPr/>
        </p:nvSpPr>
        <p:spPr>
          <a:xfrm>
            <a:off x="6400800" y="39814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Single system of record — no dual entry</a:t>
            </a:r>
          </a:p>
        </p:txBody>
      </p:sp>
      <p:sp>
        <p:nvSpPr>
          <p:cNvPr id="42" name="pillar-3-bullet-3-dot"/>
          <p:cNvSpPr/>
          <p:nvPr/>
        </p:nvSpPr>
        <p:spPr>
          <a:xfrm>
            <a:off x="6305550" y="4381500"/>
            <a:ext cx="381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illar-3-body-3"/>
          <p:cNvSpPr txBox="1"/>
          <p:nvPr/>
        </p:nvSpPr>
        <p:spPr>
          <a:xfrm>
            <a:off x="6400800" y="43243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Dedicated support desk during go-live</a:t>
            </a:r>
          </a:p>
        </p:txBody>
      </p:sp>
      <p:sp>
        <p:nvSpPr>
          <p:cNvPr id="44" name="pillar-3-cta"/>
          <p:cNvSpPr txBox="1"/>
          <p:nvPr/>
        </p:nvSpPr>
        <p:spPr>
          <a:xfrm>
            <a:off x="6305550" y="474345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A100FF"/>
                </a:solidFill>
                <a:latin typeface="Inter"/>
              </a:rPr>
              <a:t>Complete training module and certify by [date]</a:t>
            </a:r>
          </a:p>
        </p:txBody>
      </p:sp>
      <p:sp>
        <p:nvSpPr>
          <p:cNvPr id="45" name="pillar-3-channel-rule"/>
          <p:cNvSpPr/>
          <p:nvPr/>
        </p:nvSpPr>
        <p:spPr>
          <a:xfrm>
            <a:off x="6305550" y="5924550"/>
            <a:ext cx="24384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pillar-3-channel"/>
          <p:cNvSpPr txBox="1"/>
          <p:nvPr/>
        </p:nvSpPr>
        <p:spPr>
          <a:xfrm>
            <a:off x="6305550" y="5981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MANAGER BRIEFING  /  INTRANET</a:t>
            </a:r>
          </a:p>
        </p:txBody>
      </p:sp>
      <p:sp>
        <p:nvSpPr>
          <p:cNvPr id="47" name="pillar-4-bg"/>
          <p:cNvSpPr/>
          <p:nvPr/>
        </p:nvSpPr>
        <p:spPr>
          <a:xfrm>
            <a:off x="9029700" y="2095500"/>
            <a:ext cx="2705100" cy="41910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pillar-4-accent-bar"/>
          <p:cNvSpPr/>
          <p:nvPr/>
        </p:nvSpPr>
        <p:spPr>
          <a:xfrm>
            <a:off x="9029700" y="2095500"/>
            <a:ext cx="38100" cy="4191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pillar-4-name"/>
          <p:cNvSpPr txBox="1"/>
          <p:nvPr/>
        </p:nvSpPr>
        <p:spPr>
          <a:xfrm>
            <a:off x="9163050" y="2228850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Front-Line</a:t>
            </a:r>
          </a:p>
        </p:txBody>
      </p:sp>
      <p:sp>
        <p:nvSpPr>
          <p:cNvPr id="50" name="pillar-4-tag"/>
          <p:cNvSpPr txBox="1"/>
          <p:nvPr/>
        </p:nvSpPr>
        <p:spPr>
          <a:xfrm>
            <a:off x="9163050" y="2514600"/>
            <a:ext cx="243840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Day-to-day ease, job security &amp; clarity</a:t>
            </a:r>
          </a:p>
        </p:txBody>
      </p:sp>
      <p:sp>
        <p:nvSpPr>
          <p:cNvPr id="51" name="pillar-4-message"/>
          <p:cNvSpPr txBox="1"/>
          <p:nvPr/>
        </p:nvSpPr>
        <p:spPr>
          <a:xfrm>
            <a:off x="9163050" y="2876550"/>
            <a:ext cx="24384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This change makes your daily work simpler — and your team will be fully supported</a:t>
            </a:r>
          </a:p>
        </p:txBody>
      </p:sp>
      <p:sp>
        <p:nvSpPr>
          <p:cNvPr id="52" name="pillar-4-bullet-1-dot"/>
          <p:cNvSpPr/>
          <p:nvPr/>
        </p:nvSpPr>
        <p:spPr>
          <a:xfrm>
            <a:off x="9163050" y="36957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pillar-4-body"/>
          <p:cNvSpPr txBox="1"/>
          <p:nvPr/>
        </p:nvSpPr>
        <p:spPr>
          <a:xfrm>
            <a:off x="9258300" y="36385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New tool trained in under 2 hours</a:t>
            </a:r>
          </a:p>
        </p:txBody>
      </p:sp>
      <p:sp>
        <p:nvSpPr>
          <p:cNvPr id="54" name="pillar-4-bullet-2-dot"/>
          <p:cNvSpPr/>
          <p:nvPr/>
        </p:nvSpPr>
        <p:spPr>
          <a:xfrm>
            <a:off x="9163050" y="40386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pillar-4-body-2"/>
          <p:cNvSpPr txBox="1"/>
          <p:nvPr/>
        </p:nvSpPr>
        <p:spPr>
          <a:xfrm>
            <a:off x="9258300" y="39814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No role eliminations in scope</a:t>
            </a:r>
          </a:p>
        </p:txBody>
      </p:sp>
      <p:sp>
        <p:nvSpPr>
          <p:cNvPr id="56" name="pillar-4-bullet-3-dot"/>
          <p:cNvSpPr/>
          <p:nvPr/>
        </p:nvSpPr>
        <p:spPr>
          <a:xfrm>
            <a:off x="9163050" y="4381500"/>
            <a:ext cx="38100" cy="381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pillar-4-body-3"/>
          <p:cNvSpPr txBox="1"/>
          <p:nvPr/>
        </p:nvSpPr>
        <p:spPr>
          <a:xfrm>
            <a:off x="9258300" y="4324350"/>
            <a:ext cx="234315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Peer champions on every team</a:t>
            </a:r>
          </a:p>
        </p:txBody>
      </p:sp>
      <p:sp>
        <p:nvSpPr>
          <p:cNvPr id="58" name="pillar-4-cta"/>
          <p:cNvSpPr txBox="1"/>
          <p:nvPr/>
        </p:nvSpPr>
        <p:spPr>
          <a:xfrm>
            <a:off x="9163050" y="4743450"/>
            <a:ext cx="243840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C780FF"/>
                </a:solidFill>
                <a:latin typeface="Inter"/>
              </a:rPr>
              <a:t>Attend your team's kick-off session this week</a:t>
            </a:r>
          </a:p>
        </p:txBody>
      </p:sp>
      <p:sp>
        <p:nvSpPr>
          <p:cNvPr id="59" name="pillar-4-channel-rule"/>
          <p:cNvSpPr/>
          <p:nvPr/>
        </p:nvSpPr>
        <p:spPr>
          <a:xfrm>
            <a:off x="9163050" y="5924550"/>
            <a:ext cx="24384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pillar-4-channel"/>
          <p:cNvSpPr txBox="1"/>
          <p:nvPr/>
        </p:nvSpPr>
        <p:spPr>
          <a:xfrm>
            <a:off x="9163050" y="5981700"/>
            <a:ext cx="2438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C88B8"/>
                </a:solidFill>
                <a:latin typeface="Inter"/>
              </a:rPr>
              <a:t>TEAM HUDDLE  /  SMS ALERT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