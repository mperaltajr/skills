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Portfolio Positioning Across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Attractiveness &amp; Strength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Strategic quadrant view — prioritize investment, harvest, or exit decisions by axis position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high"/>
          <p:cNvSpPr txBox="1"/>
          <p:nvPr/>
        </p:nvSpPr>
        <p:spPr>
          <a:xfrm>
            <a:off x="457200" y="21526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STRONG</a:t>
            </a:r>
          </a:p>
        </p:txBody>
      </p:sp>
      <p:sp>
        <p:nvSpPr>
          <p:cNvPr id="6" name="quadrant-y-high-desc"/>
          <p:cNvSpPr txBox="1"/>
          <p:nvPr/>
        </p:nvSpPr>
        <p:spPr>
          <a:xfrm>
            <a:off x="457200" y="230505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Structural cost &amp; capability lead</a:t>
            </a:r>
          </a:p>
        </p:txBody>
      </p:sp>
      <p:sp>
        <p:nvSpPr>
          <p:cNvPr id="7" name="quadrant-y-low"/>
          <p:cNvSpPr txBox="1"/>
          <p:nvPr/>
        </p:nvSpPr>
        <p:spPr>
          <a:xfrm>
            <a:off x="457200" y="56007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WEAK</a:t>
            </a:r>
          </a:p>
        </p:txBody>
      </p:sp>
      <p:sp>
        <p:nvSpPr>
          <p:cNvPr id="8" name="quadrant-y-low-desc"/>
          <p:cNvSpPr txBox="1"/>
          <p:nvPr/>
        </p:nvSpPr>
        <p:spPr>
          <a:xfrm>
            <a:off x="457200" y="57531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Scale disadvantage, limited differentiation</a:t>
            </a:r>
          </a:p>
        </p:txBody>
      </p:sp>
      <p:sp>
        <p:nvSpPr>
          <p:cNvPr id="9" name="quadrant-y-axis-label"/>
          <p:cNvSpPr txBox="1"/>
          <p:nvPr/>
        </p:nvSpPr>
        <p:spPr>
          <a:xfrm>
            <a:off x="457200" y="39624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COMPETITIVE STRENGTH</a:t>
            </a:r>
          </a:p>
        </p:txBody>
      </p:sp>
      <p:sp>
        <p:nvSpPr>
          <p:cNvPr id="10" name="quadrant-tl-bg"/>
          <p:cNvSpPr/>
          <p:nvPr/>
        </p:nvSpPr>
        <p:spPr>
          <a:xfrm>
            <a:off x="1333500" y="2095500"/>
            <a:ext cx="5200650" cy="1943100"/>
          </a:xfrm>
          <a:prstGeom prst="rect">
            <a:avLst/>
          </a:prstGeom>
          <a:solidFill>
            <a:srgbClr val="4A2976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label"/>
          <p:cNvSpPr txBox="1"/>
          <p:nvPr/>
        </p:nvSpPr>
        <p:spPr>
          <a:xfrm>
            <a:off x="6153150" y="21717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Q2</a:t>
            </a:r>
          </a:p>
        </p:txBody>
      </p:sp>
      <p:sp>
        <p:nvSpPr>
          <p:cNvPr id="12" name="quadrant-tl-name"/>
          <p:cNvSpPr txBox="1"/>
          <p:nvPr/>
        </p:nvSpPr>
        <p:spPr>
          <a:xfrm>
            <a:off x="1485900" y="22288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Harvest &amp; Defend</a:t>
            </a:r>
          </a:p>
        </p:txBody>
      </p:sp>
      <p:sp>
        <p:nvSpPr>
          <p:cNvPr id="13" name="quadrant-tl-directive"/>
          <p:cNvSpPr txBox="1"/>
          <p:nvPr/>
        </p:nvSpPr>
        <p:spPr>
          <a:xfrm>
            <a:off x="1485900" y="24765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Protect margin in a low-growth market. Minimize new spend; extract value from existing position.</a:t>
            </a:r>
          </a:p>
        </p:txBody>
      </p:sp>
      <p:sp>
        <p:nvSpPr>
          <p:cNvPr id="14" name="quadrant-tl-body"/>
          <p:cNvSpPr txBox="1"/>
          <p:nvPr/>
        </p:nvSpPr>
        <p:spPr>
          <a:xfrm>
            <a:off x="1485900" y="28956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Tighten cost structure, renegotiate vendor contracts
· Defend key accounts with loyalty programs
· Harvest cash to fund star quadrant growth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534150" y="2095500"/>
            <a:ext cx="5200650" cy="19431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label"/>
          <p:cNvSpPr txBox="1"/>
          <p:nvPr/>
        </p:nvSpPr>
        <p:spPr>
          <a:xfrm>
            <a:off x="11353800" y="21717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Q1</a:t>
            </a:r>
          </a:p>
        </p:txBody>
      </p:sp>
      <p:sp>
        <p:nvSpPr>
          <p:cNvPr id="17" name="quadrant-tr-name"/>
          <p:cNvSpPr txBox="1"/>
          <p:nvPr/>
        </p:nvSpPr>
        <p:spPr>
          <a:xfrm>
            <a:off x="6686550" y="22288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Invest &amp; Grow</a:t>
            </a:r>
          </a:p>
        </p:txBody>
      </p:sp>
      <p:sp>
        <p:nvSpPr>
          <p:cNvPr id="18" name="quadrant-tr-directive"/>
          <p:cNvSpPr txBox="1"/>
          <p:nvPr/>
        </p:nvSpPr>
        <p:spPr>
          <a:xfrm>
            <a:off x="6686550" y="24765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Prime strategic territory. Double down on capability advantage in high-attractiveness segments.</a:t>
            </a:r>
          </a:p>
        </p:txBody>
      </p:sp>
      <p:sp>
        <p:nvSpPr>
          <p:cNvPr id="19" name="quadrant-tr-body"/>
          <p:cNvSpPr txBox="1"/>
          <p:nvPr/>
        </p:nvSpPr>
        <p:spPr>
          <a:xfrm>
            <a:off x="6686550" y="28956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Accelerate M&amp;A and organic expansion
· Lock in long-term customer agreements
· Build moats through IP and ecosystem plays</a:t>
            </a:r>
          </a:p>
        </p:txBody>
      </p:sp>
      <p:sp>
        <p:nvSpPr>
          <p:cNvPr id="20" name="quadrant-bl-bg"/>
          <p:cNvSpPr/>
          <p:nvPr/>
        </p:nvSpPr>
        <p:spPr>
          <a:xfrm>
            <a:off x="1333500" y="4038600"/>
            <a:ext cx="5200650" cy="19431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bl-label"/>
          <p:cNvSpPr txBox="1"/>
          <p:nvPr/>
        </p:nvSpPr>
        <p:spPr>
          <a:xfrm>
            <a:off x="6153150" y="41148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Q3</a:t>
            </a:r>
          </a:p>
        </p:txBody>
      </p:sp>
      <p:sp>
        <p:nvSpPr>
          <p:cNvPr id="22" name="quadrant-bl-name"/>
          <p:cNvSpPr txBox="1"/>
          <p:nvPr/>
        </p:nvSpPr>
        <p:spPr>
          <a:xfrm>
            <a:off x="1485900" y="41719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Divest or Exit</a:t>
            </a:r>
          </a:p>
        </p:txBody>
      </p:sp>
      <p:sp>
        <p:nvSpPr>
          <p:cNvPr id="23" name="quadrant-bl-directive"/>
          <p:cNvSpPr txBox="1"/>
          <p:nvPr/>
        </p:nvSpPr>
        <p:spPr>
          <a:xfrm>
            <a:off x="1485900" y="44196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Unattractive market with weak competitive position. Reallocate capital unless turnaround is credible.</a:t>
            </a:r>
          </a:p>
        </p:txBody>
      </p:sp>
      <p:sp>
        <p:nvSpPr>
          <p:cNvPr id="24" name="quadrant-bl-body"/>
          <p:cNvSpPr txBox="1"/>
          <p:nvPr/>
        </p:nvSpPr>
        <p:spPr>
          <a:xfrm>
            <a:off x="1485900" y="48387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Run structured divestiture or wind-down process
· Explore JV to share stranded costs
· Retain only if strategic linkage is critical</a:t>
            </a:r>
          </a:p>
        </p:txBody>
      </p:sp>
      <p:sp>
        <p:nvSpPr>
          <p:cNvPr id="25" name="quadrant-br-bg"/>
          <p:cNvSpPr/>
          <p:nvPr/>
        </p:nvSpPr>
        <p:spPr>
          <a:xfrm>
            <a:off x="6534150" y="4038600"/>
            <a:ext cx="5200650" cy="19431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r-label"/>
          <p:cNvSpPr txBox="1"/>
          <p:nvPr/>
        </p:nvSpPr>
        <p:spPr>
          <a:xfrm>
            <a:off x="11353800" y="41148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Q4</a:t>
            </a:r>
          </a:p>
        </p:txBody>
      </p:sp>
      <p:sp>
        <p:nvSpPr>
          <p:cNvPr id="27" name="quadrant-br-name"/>
          <p:cNvSpPr txBox="1"/>
          <p:nvPr/>
        </p:nvSpPr>
        <p:spPr>
          <a:xfrm>
            <a:off x="6686550" y="41719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Selective / Niche</a:t>
            </a:r>
          </a:p>
        </p:txBody>
      </p:sp>
      <p:sp>
        <p:nvSpPr>
          <p:cNvPr id="28" name="quadrant-br-directive"/>
          <p:cNvSpPr txBox="1"/>
          <p:nvPr/>
        </p:nvSpPr>
        <p:spPr>
          <a:xfrm>
            <a:off x="6686550" y="44196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Attractive market, but position is weak. Invest selectively or find a defensible niche to enter.</a:t>
            </a:r>
          </a:p>
        </p:txBody>
      </p:sp>
      <p:sp>
        <p:nvSpPr>
          <p:cNvPr id="29" name="quadrant-br-body"/>
          <p:cNvSpPr txBox="1"/>
          <p:nvPr/>
        </p:nvSpPr>
        <p:spPr>
          <a:xfrm>
            <a:off x="6686550" y="48387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Identify micro-segment where scale less critical
· Partner or license to acquire position faster
· Set clear go/no-go milestones at 12 months</a:t>
            </a:r>
          </a:p>
        </p:txBody>
      </p:sp>
      <p:sp>
        <p:nvSpPr>
          <p:cNvPr id="30" name="crosshair-v"/>
          <p:cNvSpPr/>
          <p:nvPr/>
        </p:nvSpPr>
        <p:spPr>
          <a:xfrm>
            <a:off x="6524625" y="2095500"/>
            <a:ext cx="19050" cy="388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rosshair-h"/>
          <p:cNvSpPr/>
          <p:nvPr/>
        </p:nvSpPr>
        <p:spPr>
          <a:xfrm>
            <a:off x="1333500" y="4029075"/>
            <a:ext cx="104013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x-low"/>
          <p:cNvSpPr txBox="1"/>
          <p:nvPr/>
        </p:nvSpPr>
        <p:spPr>
          <a:xfrm>
            <a:off x="1428750" y="60198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LOW</a:t>
            </a:r>
          </a:p>
        </p:txBody>
      </p:sp>
      <p:sp>
        <p:nvSpPr>
          <p:cNvPr id="33" name="quadrant-x-low-desc"/>
          <p:cNvSpPr txBox="1"/>
          <p:nvPr/>
        </p:nvSpPr>
        <p:spPr>
          <a:xfrm>
            <a:off x="1428750" y="61531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Slow growth, commoditized, margin pressure</a:t>
            </a:r>
          </a:p>
        </p:txBody>
      </p:sp>
      <p:sp>
        <p:nvSpPr>
          <p:cNvPr id="34" name="quadrant-x-axis-label"/>
          <p:cNvSpPr txBox="1"/>
          <p:nvPr/>
        </p:nvSpPr>
        <p:spPr>
          <a:xfrm>
            <a:off x="1333500" y="6076950"/>
            <a:ext cx="10401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 ATTRACTIVENESS</a:t>
            </a:r>
          </a:p>
        </p:txBody>
      </p:sp>
      <p:sp>
        <p:nvSpPr>
          <p:cNvPr id="35" name="quadrant-x-high"/>
          <p:cNvSpPr txBox="1"/>
          <p:nvPr/>
        </p:nvSpPr>
        <p:spPr>
          <a:xfrm>
            <a:off x="10591800" y="60198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HIGH</a:t>
            </a:r>
          </a:p>
        </p:txBody>
      </p:sp>
      <p:sp>
        <p:nvSpPr>
          <p:cNvPr id="36" name="quadrant-x-high-desc"/>
          <p:cNvSpPr txBox="1"/>
          <p:nvPr/>
        </p:nvSpPr>
        <p:spPr>
          <a:xfrm>
            <a:off x="9258300" y="6153150"/>
            <a:ext cx="2362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Fast-growing, profitable, structural tailwinds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