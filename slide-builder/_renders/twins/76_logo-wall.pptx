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266700"/>
            <a:ext cx="11239500" cy="685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1A1A2E"/>
                </a:solidFill>
                <a:latin typeface="Inter"/>
              </a:rPr>
              <a:t>Where Slide Lab has worked — twelve practices, eight industries.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457200" y="838200"/>
            <a:ext cx="10096500" cy="381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Engagements span Fortune 500 and category leaders across four continents. Logos shown as placeholders pending client approval — full reference list available on request.</a:t>
            </a:r>
          </a:p>
        </p:txBody>
      </p:sp>
      <p:sp>
        <p:nvSpPr>
          <p:cNvPr id="4" name="brand-rule"/>
          <p:cNvSpPr/>
          <p:nvPr/>
        </p:nvSpPr>
        <p:spPr>
          <a:xfrm>
            <a:off x="457200" y="1238250"/>
            <a:ext cx="5334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logo-1-tile"/>
          <p:cNvSpPr/>
          <p:nvPr/>
        </p:nvSpPr>
        <p:spPr>
          <a:xfrm>
            <a:off x="457200" y="1752600"/>
            <a:ext cx="2714625" cy="12001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logo-1-text"/>
          <p:cNvSpPr txBox="1"/>
          <p:nvPr/>
        </p:nvSpPr>
        <p:spPr>
          <a:xfrm>
            <a:off x="457200" y="1752600"/>
            <a:ext cx="2714625" cy="12001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ACME CORP</a:t>
            </a:r>
          </a:p>
        </p:txBody>
      </p:sp>
      <p:sp>
        <p:nvSpPr>
          <p:cNvPr id="7" name="logo-2-tile"/>
          <p:cNvSpPr/>
          <p:nvPr/>
        </p:nvSpPr>
        <p:spPr>
          <a:xfrm>
            <a:off x="3305175" y="1752600"/>
            <a:ext cx="2714625" cy="1200150"/>
          </a:xfrm>
          <a:prstGeom prst="rect">
            <a:avLst/>
          </a:prstGeom>
          <a:solidFill>
            <a:srgbClr val="FFFFFF"/>
          </a:solidFill>
          <a:ln w="1905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logo-2-text"/>
          <p:cNvSpPr txBox="1"/>
          <p:nvPr/>
        </p:nvSpPr>
        <p:spPr>
          <a:xfrm>
            <a:off x="3305175" y="1752600"/>
            <a:ext cx="2714625" cy="12001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GLOBEX</a:t>
            </a:r>
          </a:p>
        </p:txBody>
      </p:sp>
      <p:sp>
        <p:nvSpPr>
          <p:cNvPr id="9" name="logo-3-tile"/>
          <p:cNvSpPr/>
          <p:nvPr/>
        </p:nvSpPr>
        <p:spPr>
          <a:xfrm>
            <a:off x="6153150" y="1752600"/>
            <a:ext cx="2714625" cy="12001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" name="logo-3-text"/>
          <p:cNvSpPr txBox="1"/>
          <p:nvPr/>
        </p:nvSpPr>
        <p:spPr>
          <a:xfrm>
            <a:off x="6153150" y="1752600"/>
            <a:ext cx="2714625" cy="12001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INITECH</a:t>
            </a:r>
          </a:p>
        </p:txBody>
      </p:sp>
      <p:sp>
        <p:nvSpPr>
          <p:cNvPr id="11" name="logo-4-tile"/>
          <p:cNvSpPr/>
          <p:nvPr/>
        </p:nvSpPr>
        <p:spPr>
          <a:xfrm>
            <a:off x="9001125" y="1752600"/>
            <a:ext cx="2714625" cy="12001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" name="logo-4-text"/>
          <p:cNvSpPr txBox="1"/>
          <p:nvPr/>
        </p:nvSpPr>
        <p:spPr>
          <a:xfrm>
            <a:off x="9001125" y="1752600"/>
            <a:ext cx="2714625" cy="12001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UMBRELLA</a:t>
            </a:r>
          </a:p>
        </p:txBody>
      </p:sp>
      <p:sp>
        <p:nvSpPr>
          <p:cNvPr id="13" name="logo-5-tile"/>
          <p:cNvSpPr/>
          <p:nvPr/>
        </p:nvSpPr>
        <p:spPr>
          <a:xfrm>
            <a:off x="457200" y="3086100"/>
            <a:ext cx="2714625" cy="12001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" name="logo-5-text"/>
          <p:cNvSpPr txBox="1"/>
          <p:nvPr/>
        </p:nvSpPr>
        <p:spPr>
          <a:xfrm>
            <a:off x="457200" y="3086100"/>
            <a:ext cx="2714625" cy="12001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WEYLAND</a:t>
            </a:r>
          </a:p>
        </p:txBody>
      </p:sp>
      <p:sp>
        <p:nvSpPr>
          <p:cNvPr id="15" name="logo-6-tile"/>
          <p:cNvSpPr/>
          <p:nvPr/>
        </p:nvSpPr>
        <p:spPr>
          <a:xfrm>
            <a:off x="3305175" y="3086100"/>
            <a:ext cx="2714625" cy="12001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logo-6-text"/>
          <p:cNvSpPr txBox="1"/>
          <p:nvPr/>
        </p:nvSpPr>
        <p:spPr>
          <a:xfrm>
            <a:off x="3305175" y="3086100"/>
            <a:ext cx="2714625" cy="12001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TYRELL</a:t>
            </a:r>
          </a:p>
        </p:txBody>
      </p:sp>
      <p:sp>
        <p:nvSpPr>
          <p:cNvPr id="17" name="logo-7-tile"/>
          <p:cNvSpPr/>
          <p:nvPr/>
        </p:nvSpPr>
        <p:spPr>
          <a:xfrm>
            <a:off x="6153150" y="3086100"/>
            <a:ext cx="2714625" cy="1200150"/>
          </a:xfrm>
          <a:prstGeom prst="rect">
            <a:avLst/>
          </a:prstGeom>
          <a:solidFill>
            <a:srgbClr val="FFFFFF"/>
          </a:solidFill>
          <a:ln w="1905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8" name="logo-7-text"/>
          <p:cNvSpPr txBox="1"/>
          <p:nvPr/>
        </p:nvSpPr>
        <p:spPr>
          <a:xfrm>
            <a:off x="6153150" y="3086100"/>
            <a:ext cx="2714625" cy="12001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STARK</a:t>
            </a:r>
          </a:p>
        </p:txBody>
      </p:sp>
      <p:sp>
        <p:nvSpPr>
          <p:cNvPr id="19" name="logo-8-tile"/>
          <p:cNvSpPr/>
          <p:nvPr/>
        </p:nvSpPr>
        <p:spPr>
          <a:xfrm>
            <a:off x="9001125" y="3086100"/>
            <a:ext cx="2714625" cy="12001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0" name="logo-8-text"/>
          <p:cNvSpPr txBox="1"/>
          <p:nvPr/>
        </p:nvSpPr>
        <p:spPr>
          <a:xfrm>
            <a:off x="9001125" y="3086100"/>
            <a:ext cx="2714625" cy="12001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WAYNE</a:t>
            </a:r>
          </a:p>
        </p:txBody>
      </p:sp>
      <p:sp>
        <p:nvSpPr>
          <p:cNvPr id="21" name="logo-9-tile"/>
          <p:cNvSpPr/>
          <p:nvPr/>
        </p:nvSpPr>
        <p:spPr>
          <a:xfrm>
            <a:off x="457200" y="4419600"/>
            <a:ext cx="2714625" cy="12001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2" name="logo-9-text"/>
          <p:cNvSpPr txBox="1"/>
          <p:nvPr/>
        </p:nvSpPr>
        <p:spPr>
          <a:xfrm>
            <a:off x="457200" y="4419600"/>
            <a:ext cx="2714625" cy="12001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SOYLENT</a:t>
            </a:r>
          </a:p>
        </p:txBody>
      </p:sp>
      <p:sp>
        <p:nvSpPr>
          <p:cNvPr id="23" name="logo-10-tile"/>
          <p:cNvSpPr/>
          <p:nvPr/>
        </p:nvSpPr>
        <p:spPr>
          <a:xfrm>
            <a:off x="3305175" y="4419600"/>
            <a:ext cx="2714625" cy="12001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4" name="logo-10-text"/>
          <p:cNvSpPr txBox="1"/>
          <p:nvPr/>
        </p:nvSpPr>
        <p:spPr>
          <a:xfrm>
            <a:off x="3305175" y="4419600"/>
            <a:ext cx="2714625" cy="12001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CYBERDYNE</a:t>
            </a:r>
          </a:p>
        </p:txBody>
      </p:sp>
      <p:sp>
        <p:nvSpPr>
          <p:cNvPr id="25" name="logo-11-tile"/>
          <p:cNvSpPr/>
          <p:nvPr/>
        </p:nvSpPr>
        <p:spPr>
          <a:xfrm>
            <a:off x="6153150" y="4419600"/>
            <a:ext cx="2714625" cy="12001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6" name="logo-11-text"/>
          <p:cNvSpPr txBox="1"/>
          <p:nvPr/>
        </p:nvSpPr>
        <p:spPr>
          <a:xfrm>
            <a:off x="6153150" y="4419600"/>
            <a:ext cx="2714625" cy="12001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MASSIVE</a:t>
            </a:r>
          </a:p>
        </p:txBody>
      </p:sp>
      <p:sp>
        <p:nvSpPr>
          <p:cNvPr id="27" name="logo-12-tile"/>
          <p:cNvSpPr/>
          <p:nvPr/>
        </p:nvSpPr>
        <p:spPr>
          <a:xfrm>
            <a:off x="9001125" y="4419600"/>
            <a:ext cx="2714625" cy="12001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8" name="logo-12-text"/>
          <p:cNvSpPr txBox="1"/>
          <p:nvPr/>
        </p:nvSpPr>
        <p:spPr>
          <a:xfrm>
            <a:off x="9001125" y="4419600"/>
            <a:ext cx="2714625" cy="12001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OMNI</a:t>
            </a:r>
          </a:p>
        </p:txBody>
      </p:sp>
      <p:sp>
        <p:nvSpPr>
          <p:cNvPr id="29" name="convergence-bg"/>
          <p:cNvSpPr/>
          <p:nvPr/>
        </p:nvSpPr>
        <p:spPr>
          <a:xfrm>
            <a:off x="609600" y="5924550"/>
            <a:ext cx="10972800" cy="4000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0" name="convergence"/>
          <p:cNvSpPr txBox="1"/>
          <p:nvPr/>
        </p:nvSpPr>
        <p:spPr>
          <a:xfrm>
            <a:off x="609600" y="5924550"/>
            <a:ext cx="10972800" cy="400050"/>
          </a:xfrm>
          <a:prstGeom prst="rect">
            <a:avLst/>
          </a:prstGeom>
          <a:noFill/>
          <a:ln>
            <a:noFill/>
          </a:ln>
        </p:spPr>
        <p:txBody>
          <a:bodyPr wrap="square" tIns="0" rIns="209550" bIns="0" lIns="209550" anchor="ctr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FFFFFF"/>
                </a:solidFill>
                <a:latin typeface="Inter"/>
              </a:rPr>
              <a:t>12 practices, 8 industries, 3 continents — common pattern.</a:t>
            </a:r>
          </a:p>
        </p:txBody>
      </p:sp>
      <p:sp>
        <p:nvSpPr>
          <p:cNvPr id="31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32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33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76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