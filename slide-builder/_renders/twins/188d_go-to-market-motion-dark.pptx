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Go-to-Market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Motion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Four-stage demand engine — from awareness to action, with channel orchestration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ody-bg"/>
          <p:cNvSpPr/>
          <p:nvPr/>
        </p:nvSpPr>
        <p:spPr>
          <a:xfrm>
            <a:off x="609600" y="2095500"/>
            <a:ext cx="2543175" cy="3200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header-bg"/>
          <p:cNvSpPr/>
          <p:nvPr/>
        </p:nvSpPr>
        <p:spPr>
          <a:xfrm>
            <a:off x="609600" y="2095500"/>
            <a:ext cx="2543175" cy="3429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num"/>
          <p:cNvSpPr txBox="1"/>
          <p:nvPr/>
        </p:nvSpPr>
        <p:spPr>
          <a:xfrm>
            <a:off x="704850" y="217170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8" name="step-1-name"/>
          <p:cNvSpPr txBox="1"/>
          <p:nvPr/>
        </p:nvSpPr>
        <p:spPr>
          <a:xfrm>
            <a:off x="971550" y="217170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9" name="step-1-bullet-1-dot"/>
          <p:cNvSpPr/>
          <p:nvPr/>
        </p:nvSpPr>
        <p:spPr>
          <a:xfrm>
            <a:off x="742950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tep-1-body"/>
          <p:cNvSpPr txBox="1"/>
          <p:nvPr/>
        </p:nvSpPr>
        <p:spPr>
          <a:xfrm>
            <a:off x="838200" y="25717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Broad-reach brand campaigns across digital and offline</a:t>
            </a:r>
          </a:p>
        </p:txBody>
      </p:sp>
      <p:sp>
        <p:nvSpPr>
          <p:cNvPr id="11" name="step-1-bullet-2-dot"/>
          <p:cNvSpPr/>
          <p:nvPr/>
        </p:nvSpPr>
        <p:spPr>
          <a:xfrm>
            <a:off x="742950" y="3162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body-2"/>
          <p:cNvSpPr txBox="1"/>
          <p:nvPr/>
        </p:nvSpPr>
        <p:spPr>
          <a:xfrm>
            <a:off x="838200" y="31051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Thought leadership content &amp; SEO-optimised publishing</a:t>
            </a:r>
          </a:p>
        </p:txBody>
      </p:sp>
      <p:sp>
        <p:nvSpPr>
          <p:cNvPr id="13" name="step-1-bullet-3-dot"/>
          <p:cNvSpPr/>
          <p:nvPr/>
        </p:nvSpPr>
        <p:spPr>
          <a:xfrm>
            <a:off x="742950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1-body-3"/>
          <p:cNvSpPr txBox="1"/>
          <p:nvPr/>
        </p:nvSpPr>
        <p:spPr>
          <a:xfrm>
            <a:off x="838200" y="36385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Paid social targeting lookalike audiences</a:t>
            </a:r>
          </a:p>
        </p:txBody>
      </p:sp>
      <p:sp>
        <p:nvSpPr>
          <p:cNvPr id="15" name="step-1-bullet-4-dot"/>
          <p:cNvSpPr/>
          <p:nvPr/>
        </p:nvSpPr>
        <p:spPr>
          <a:xfrm>
            <a:off x="742950" y="42291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1-body-4"/>
          <p:cNvSpPr txBox="1"/>
          <p:nvPr/>
        </p:nvSpPr>
        <p:spPr>
          <a:xfrm>
            <a:off x="838200" y="41719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Analyst relations &amp; industry conference presence</a:t>
            </a:r>
          </a:p>
        </p:txBody>
      </p:sp>
      <p:sp>
        <p:nvSpPr>
          <p:cNvPr id="17" name="step-1-metric-rule"/>
          <p:cNvSpPr/>
          <p:nvPr/>
        </p:nvSpPr>
        <p:spPr>
          <a:xfrm>
            <a:off x="723900" y="5010150"/>
            <a:ext cx="23145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tep-1-meta-right"/>
          <p:cNvSpPr txBox="1"/>
          <p:nvPr/>
        </p:nvSpPr>
        <p:spPr>
          <a:xfrm>
            <a:off x="723900" y="50673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Target: 500K reach / qtr</a:t>
            </a:r>
          </a:p>
        </p:txBody>
      </p:sp>
      <p:sp>
        <p:nvSpPr>
          <p:cNvPr id="19" name="arrow-1-to-2"/>
          <p:cNvSpPr txBox="1"/>
          <p:nvPr/>
        </p:nvSpPr>
        <p:spPr>
          <a:xfrm>
            <a:off x="3190875" y="36004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C780FF"/>
                </a:solidFill>
                <a:latin typeface="Segoe UI Symbol"/>
              </a:rPr>
              <a:t>→</a:t>
            </a:r>
          </a:p>
        </p:txBody>
      </p:sp>
      <p:sp>
        <p:nvSpPr>
          <p:cNvPr id="20" name="step-2-body-bg"/>
          <p:cNvSpPr/>
          <p:nvPr/>
        </p:nvSpPr>
        <p:spPr>
          <a:xfrm>
            <a:off x="3419475" y="2095500"/>
            <a:ext cx="2543175" cy="3200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tep-2-header-bg"/>
          <p:cNvSpPr/>
          <p:nvPr/>
        </p:nvSpPr>
        <p:spPr>
          <a:xfrm>
            <a:off x="3419475" y="2095500"/>
            <a:ext cx="2543175" cy="34290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2-num"/>
          <p:cNvSpPr txBox="1"/>
          <p:nvPr/>
        </p:nvSpPr>
        <p:spPr>
          <a:xfrm>
            <a:off x="3514725" y="217170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23" name="step-2-name"/>
          <p:cNvSpPr txBox="1"/>
          <p:nvPr/>
        </p:nvSpPr>
        <p:spPr>
          <a:xfrm>
            <a:off x="3781425" y="217170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INTEREST</a:t>
            </a:r>
          </a:p>
        </p:txBody>
      </p:sp>
      <p:sp>
        <p:nvSpPr>
          <p:cNvPr id="24" name="step-2-bullet-1-dot"/>
          <p:cNvSpPr/>
          <p:nvPr/>
        </p:nvSpPr>
        <p:spPr>
          <a:xfrm>
            <a:off x="3552825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step-2-body"/>
          <p:cNvSpPr txBox="1"/>
          <p:nvPr/>
        </p:nvSpPr>
        <p:spPr>
          <a:xfrm>
            <a:off x="3648075" y="25717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Gated content, webinars &amp; virtual events</a:t>
            </a:r>
          </a:p>
        </p:txBody>
      </p:sp>
      <p:sp>
        <p:nvSpPr>
          <p:cNvPr id="26" name="step-2-bullet-2-dot"/>
          <p:cNvSpPr/>
          <p:nvPr/>
        </p:nvSpPr>
        <p:spPr>
          <a:xfrm>
            <a:off x="3552825" y="3162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step-2-body-2"/>
          <p:cNvSpPr txBox="1"/>
          <p:nvPr/>
        </p:nvSpPr>
        <p:spPr>
          <a:xfrm>
            <a:off x="3648075" y="31051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 co-marketing and referral activation</a:t>
            </a:r>
          </a:p>
        </p:txBody>
      </p:sp>
      <p:sp>
        <p:nvSpPr>
          <p:cNvPr id="28" name="step-2-bullet-3-dot"/>
          <p:cNvSpPr/>
          <p:nvPr/>
        </p:nvSpPr>
        <p:spPr>
          <a:xfrm>
            <a:off x="3552825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step-2-body-3"/>
          <p:cNvSpPr txBox="1"/>
          <p:nvPr/>
        </p:nvSpPr>
        <p:spPr>
          <a:xfrm>
            <a:off x="3648075" y="36385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Retargeting sequences for engaged visitors</a:t>
            </a:r>
          </a:p>
        </p:txBody>
      </p:sp>
      <p:sp>
        <p:nvSpPr>
          <p:cNvPr id="30" name="step-2-bullet-4-dot"/>
          <p:cNvSpPr/>
          <p:nvPr/>
        </p:nvSpPr>
        <p:spPr>
          <a:xfrm>
            <a:off x="3552825" y="42291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tep-2-body-4"/>
          <p:cNvSpPr txBox="1"/>
          <p:nvPr/>
        </p:nvSpPr>
        <p:spPr>
          <a:xfrm>
            <a:off x="3648075" y="41719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Account-based marketing for top 200 accounts</a:t>
            </a:r>
          </a:p>
        </p:txBody>
      </p:sp>
      <p:sp>
        <p:nvSpPr>
          <p:cNvPr id="32" name="step-2-metric-rule"/>
          <p:cNvSpPr/>
          <p:nvPr/>
        </p:nvSpPr>
        <p:spPr>
          <a:xfrm>
            <a:off x="3533775" y="5010150"/>
            <a:ext cx="23145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tep-2-meta-right"/>
          <p:cNvSpPr txBox="1"/>
          <p:nvPr/>
        </p:nvSpPr>
        <p:spPr>
          <a:xfrm>
            <a:off x="3533775" y="50673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Target: 12K MQLs / qtr</a:t>
            </a:r>
          </a:p>
        </p:txBody>
      </p:sp>
      <p:sp>
        <p:nvSpPr>
          <p:cNvPr id="34" name="arrow-2-to-3"/>
          <p:cNvSpPr txBox="1"/>
          <p:nvPr/>
        </p:nvSpPr>
        <p:spPr>
          <a:xfrm>
            <a:off x="6000750" y="36004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C780FF"/>
                </a:solidFill>
                <a:latin typeface="Segoe UI Symbol"/>
              </a:rPr>
              <a:t>→</a:t>
            </a:r>
          </a:p>
        </p:txBody>
      </p:sp>
      <p:sp>
        <p:nvSpPr>
          <p:cNvPr id="35" name="step-3-body-bg"/>
          <p:cNvSpPr/>
          <p:nvPr/>
        </p:nvSpPr>
        <p:spPr>
          <a:xfrm>
            <a:off x="6229350" y="2095500"/>
            <a:ext cx="2543175" cy="3200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step-3-header-bg"/>
          <p:cNvSpPr/>
          <p:nvPr/>
        </p:nvSpPr>
        <p:spPr>
          <a:xfrm>
            <a:off x="6229350" y="2095500"/>
            <a:ext cx="2543175" cy="342900"/>
          </a:xfrm>
          <a:prstGeom prst="rect">
            <a:avLst/>
          </a:prstGeom>
          <a:solidFill>
            <a:srgbClr val="8B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step-3-num"/>
          <p:cNvSpPr txBox="1"/>
          <p:nvPr/>
        </p:nvSpPr>
        <p:spPr>
          <a:xfrm>
            <a:off x="6324600" y="217170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38" name="step-3-name"/>
          <p:cNvSpPr txBox="1"/>
          <p:nvPr/>
        </p:nvSpPr>
        <p:spPr>
          <a:xfrm>
            <a:off x="6591300" y="217170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DECISION</a:t>
            </a:r>
          </a:p>
        </p:txBody>
      </p:sp>
      <p:sp>
        <p:nvSpPr>
          <p:cNvPr id="39" name="step-3-bullet-1-dot"/>
          <p:cNvSpPr/>
          <p:nvPr/>
        </p:nvSpPr>
        <p:spPr>
          <a:xfrm>
            <a:off x="6362700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step-3-body"/>
          <p:cNvSpPr txBox="1"/>
          <p:nvPr/>
        </p:nvSpPr>
        <p:spPr>
          <a:xfrm>
            <a:off x="6457950" y="25717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SDR outreach, discovery calls &amp; product demos</a:t>
            </a:r>
          </a:p>
        </p:txBody>
      </p:sp>
      <p:sp>
        <p:nvSpPr>
          <p:cNvPr id="41" name="step-3-bullet-2-dot"/>
          <p:cNvSpPr/>
          <p:nvPr/>
        </p:nvSpPr>
        <p:spPr>
          <a:xfrm>
            <a:off x="6362700" y="3162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step-3-body-2"/>
          <p:cNvSpPr txBox="1"/>
          <p:nvPr/>
        </p:nvSpPr>
        <p:spPr>
          <a:xfrm>
            <a:off x="6457950" y="31051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Free-trial or POC with success milestones</a:t>
            </a:r>
          </a:p>
        </p:txBody>
      </p:sp>
      <p:sp>
        <p:nvSpPr>
          <p:cNvPr id="43" name="step-3-bullet-3-dot"/>
          <p:cNvSpPr/>
          <p:nvPr/>
        </p:nvSpPr>
        <p:spPr>
          <a:xfrm>
            <a:off x="6362700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step-3-body-3"/>
          <p:cNvSpPr txBox="1"/>
          <p:nvPr/>
        </p:nvSpPr>
        <p:spPr>
          <a:xfrm>
            <a:off x="6457950" y="36385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Competitive battle-cards &amp; ROI calculators</a:t>
            </a:r>
          </a:p>
        </p:txBody>
      </p:sp>
      <p:sp>
        <p:nvSpPr>
          <p:cNvPr id="45" name="step-3-bullet-4-dot"/>
          <p:cNvSpPr/>
          <p:nvPr/>
        </p:nvSpPr>
        <p:spPr>
          <a:xfrm>
            <a:off x="6362700" y="42291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tep-3-body-4"/>
          <p:cNvSpPr txBox="1"/>
          <p:nvPr/>
        </p:nvSpPr>
        <p:spPr>
          <a:xfrm>
            <a:off x="6457950" y="41719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Executive briefings &amp; reference customer calls</a:t>
            </a:r>
          </a:p>
        </p:txBody>
      </p:sp>
      <p:sp>
        <p:nvSpPr>
          <p:cNvPr id="47" name="step-3-metric-rule"/>
          <p:cNvSpPr/>
          <p:nvPr/>
        </p:nvSpPr>
        <p:spPr>
          <a:xfrm>
            <a:off x="6343650" y="5010150"/>
            <a:ext cx="23145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step-3-meta-right"/>
          <p:cNvSpPr txBox="1"/>
          <p:nvPr/>
        </p:nvSpPr>
        <p:spPr>
          <a:xfrm>
            <a:off x="6343650" y="50673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Target: 2.4K SQLs / qtr</a:t>
            </a:r>
          </a:p>
        </p:txBody>
      </p:sp>
      <p:sp>
        <p:nvSpPr>
          <p:cNvPr id="49" name="arrow-3-to-4"/>
          <p:cNvSpPr txBox="1"/>
          <p:nvPr/>
        </p:nvSpPr>
        <p:spPr>
          <a:xfrm>
            <a:off x="8810625" y="36004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275">
                <a:solidFill>
                  <a:srgbClr val="C780FF"/>
                </a:solidFill>
                <a:latin typeface="Segoe UI Symbol"/>
              </a:rPr>
              <a:t>→</a:t>
            </a:r>
          </a:p>
        </p:txBody>
      </p:sp>
      <p:sp>
        <p:nvSpPr>
          <p:cNvPr id="50" name="step-4-body-bg"/>
          <p:cNvSpPr/>
          <p:nvPr/>
        </p:nvSpPr>
        <p:spPr>
          <a:xfrm>
            <a:off x="9039225" y="2095500"/>
            <a:ext cx="2543175" cy="3200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step-4-header-bg"/>
          <p:cNvSpPr/>
          <p:nvPr/>
        </p:nvSpPr>
        <p:spPr>
          <a:xfrm>
            <a:off x="9039225" y="2095500"/>
            <a:ext cx="2543175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tep-4-num"/>
          <p:cNvSpPr txBox="1"/>
          <p:nvPr/>
        </p:nvSpPr>
        <p:spPr>
          <a:xfrm>
            <a:off x="9134475" y="217170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0" bIns="1905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</a:t>
            </a:r>
          </a:p>
        </p:txBody>
      </p:sp>
      <p:sp>
        <p:nvSpPr>
          <p:cNvPr id="53" name="step-4-name"/>
          <p:cNvSpPr txBox="1"/>
          <p:nvPr/>
        </p:nvSpPr>
        <p:spPr>
          <a:xfrm>
            <a:off x="9401175" y="2171700"/>
            <a:ext cx="20669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54" name="step-4-bullet-1-dot"/>
          <p:cNvSpPr/>
          <p:nvPr/>
        </p:nvSpPr>
        <p:spPr>
          <a:xfrm>
            <a:off x="9172575" y="26289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step-4-body"/>
          <p:cNvSpPr txBox="1"/>
          <p:nvPr/>
        </p:nvSpPr>
        <p:spPr>
          <a:xfrm>
            <a:off x="9267825" y="25717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Structured onboarding &amp; customer success handoff</a:t>
            </a:r>
          </a:p>
        </p:txBody>
      </p:sp>
      <p:sp>
        <p:nvSpPr>
          <p:cNvPr id="56" name="step-4-bullet-2-dot"/>
          <p:cNvSpPr/>
          <p:nvPr/>
        </p:nvSpPr>
        <p:spPr>
          <a:xfrm>
            <a:off x="9172575" y="3162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step-4-body-2"/>
          <p:cNvSpPr txBox="1"/>
          <p:nvPr/>
        </p:nvSpPr>
        <p:spPr>
          <a:xfrm>
            <a:off x="9267825" y="31051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Expansion plays: upsell, cross-sell, renewal</a:t>
            </a:r>
          </a:p>
        </p:txBody>
      </p:sp>
      <p:sp>
        <p:nvSpPr>
          <p:cNvPr id="58" name="step-4-bullet-3-dot"/>
          <p:cNvSpPr/>
          <p:nvPr/>
        </p:nvSpPr>
        <p:spPr>
          <a:xfrm>
            <a:off x="9172575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tep-4-body-3"/>
          <p:cNvSpPr txBox="1"/>
          <p:nvPr/>
        </p:nvSpPr>
        <p:spPr>
          <a:xfrm>
            <a:off x="9267825" y="36385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NPS loop feeding advocacy &amp; referral programs</a:t>
            </a:r>
          </a:p>
        </p:txBody>
      </p:sp>
      <p:sp>
        <p:nvSpPr>
          <p:cNvPr id="60" name="step-4-bullet-4-dot"/>
          <p:cNvSpPr/>
          <p:nvPr/>
        </p:nvSpPr>
        <p:spPr>
          <a:xfrm>
            <a:off x="9172575" y="42291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step-4-body-4"/>
          <p:cNvSpPr txBox="1"/>
          <p:nvPr/>
        </p:nvSpPr>
        <p:spPr>
          <a:xfrm>
            <a:off x="9267825" y="4171950"/>
            <a:ext cx="2238375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Quarterly business reviews with named CSMs</a:t>
            </a:r>
          </a:p>
        </p:txBody>
      </p:sp>
      <p:sp>
        <p:nvSpPr>
          <p:cNvPr id="62" name="step-4-metric-rule"/>
          <p:cNvSpPr/>
          <p:nvPr/>
        </p:nvSpPr>
        <p:spPr>
          <a:xfrm>
            <a:off x="9153525" y="5010150"/>
            <a:ext cx="231457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tep-4-meta-right"/>
          <p:cNvSpPr txBox="1"/>
          <p:nvPr/>
        </p:nvSpPr>
        <p:spPr>
          <a:xfrm>
            <a:off x="9153525" y="5067300"/>
            <a:ext cx="2314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Target: 480 closed-won / qtr</a:t>
            </a:r>
          </a:p>
        </p:txBody>
      </p:sp>
      <p:sp>
        <p:nvSpPr>
          <p:cNvPr id="64" name="channels-band-bg"/>
          <p:cNvSpPr/>
          <p:nvPr/>
        </p:nvSpPr>
        <p:spPr>
          <a:xfrm>
            <a:off x="609600" y="5410200"/>
            <a:ext cx="10972800" cy="381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hannels-label"/>
          <p:cNvSpPr txBox="1"/>
          <p:nvPr/>
        </p:nvSpPr>
        <p:spPr>
          <a:xfrm>
            <a:off x="742950" y="5524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CHANNELS</a:t>
            </a:r>
          </a:p>
        </p:txBody>
      </p:sp>
      <p:sp>
        <p:nvSpPr>
          <p:cNvPr id="66" name="step-1-channel-1"/>
          <p:cNvSpPr txBox="1"/>
          <p:nvPr/>
        </p:nvSpPr>
        <p:spPr>
          <a:xfrm>
            <a:off x="1895475" y="5514975"/>
            <a:ext cx="57150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7F6"/>
                </a:solidFill>
                <a:latin typeface="Inter"/>
              </a:rPr>
              <a:t>Paid</a:t>
            </a:r>
          </a:p>
        </p:txBody>
      </p:sp>
      <p:sp>
        <p:nvSpPr>
          <p:cNvPr id="67" name="step-1-channel-2"/>
          <p:cNvSpPr txBox="1"/>
          <p:nvPr/>
        </p:nvSpPr>
        <p:spPr>
          <a:xfrm>
            <a:off x="2524125" y="5514975"/>
            <a:ext cx="571500" cy="1714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8F5E9"/>
                </a:solidFill>
                <a:latin typeface="Inter"/>
              </a:rPr>
              <a:t>Organic</a:t>
            </a:r>
          </a:p>
        </p:txBody>
      </p:sp>
      <p:sp>
        <p:nvSpPr>
          <p:cNvPr id="68" name="step-1-channel-3"/>
          <p:cNvSpPr txBox="1"/>
          <p:nvPr/>
        </p:nvSpPr>
        <p:spPr>
          <a:xfrm>
            <a:off x="3152775" y="5514975"/>
            <a:ext cx="571500" cy="1714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3E0"/>
                </a:solidFill>
                <a:latin typeface="Inter"/>
              </a:rPr>
              <a:t>Social</a:t>
            </a:r>
          </a:p>
        </p:txBody>
      </p:sp>
      <p:sp>
        <p:nvSpPr>
          <p:cNvPr id="69" name="step-2-channel-1"/>
          <p:cNvSpPr txBox="1"/>
          <p:nvPr/>
        </p:nvSpPr>
        <p:spPr>
          <a:xfrm>
            <a:off x="4400550" y="5514975"/>
            <a:ext cx="571500" cy="1714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8F5E9"/>
                </a:solidFill>
                <a:latin typeface="Inter"/>
              </a:rPr>
              <a:t>Events</a:t>
            </a:r>
          </a:p>
        </p:txBody>
      </p:sp>
      <p:sp>
        <p:nvSpPr>
          <p:cNvPr id="70" name="step-2-channel-2"/>
          <p:cNvSpPr txBox="1"/>
          <p:nvPr/>
        </p:nvSpPr>
        <p:spPr>
          <a:xfrm>
            <a:off x="5029200" y="5514975"/>
            <a:ext cx="571500" cy="1714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3E0"/>
                </a:solidFill>
                <a:latin typeface="Inter"/>
              </a:rPr>
              <a:t>Partner</a:t>
            </a:r>
          </a:p>
        </p:txBody>
      </p:sp>
      <p:sp>
        <p:nvSpPr>
          <p:cNvPr id="71" name="step-2-channel-3"/>
          <p:cNvSpPr txBox="1"/>
          <p:nvPr/>
        </p:nvSpPr>
        <p:spPr>
          <a:xfrm>
            <a:off x="5657850" y="5514975"/>
            <a:ext cx="571500" cy="171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3F2FD"/>
                </a:solidFill>
                <a:latin typeface="Inter"/>
              </a:rPr>
              <a:t>Email</a:t>
            </a:r>
          </a:p>
        </p:txBody>
      </p:sp>
      <p:sp>
        <p:nvSpPr>
          <p:cNvPr id="72" name="step-3-channel-1"/>
          <p:cNvSpPr txBox="1"/>
          <p:nvPr/>
        </p:nvSpPr>
        <p:spPr>
          <a:xfrm>
            <a:off x="6905625" y="5514975"/>
            <a:ext cx="571500" cy="17145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3E0"/>
                </a:solidFill>
                <a:latin typeface="Inter"/>
              </a:rPr>
              <a:t>SDR</a:t>
            </a:r>
          </a:p>
        </p:txBody>
      </p:sp>
      <p:sp>
        <p:nvSpPr>
          <p:cNvPr id="73" name="step-3-channel-2"/>
          <p:cNvSpPr txBox="1"/>
          <p:nvPr/>
        </p:nvSpPr>
        <p:spPr>
          <a:xfrm>
            <a:off x="7534275" y="5514975"/>
            <a:ext cx="571500" cy="171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3F2FD"/>
                </a:solidFill>
                <a:latin typeface="Inter"/>
              </a:rPr>
              <a:t>Demo</a:t>
            </a:r>
          </a:p>
        </p:txBody>
      </p:sp>
      <p:sp>
        <p:nvSpPr>
          <p:cNvPr id="74" name="step-3-channel-3"/>
          <p:cNvSpPr txBox="1"/>
          <p:nvPr/>
        </p:nvSpPr>
        <p:spPr>
          <a:xfrm>
            <a:off x="8162925" y="5514975"/>
            <a:ext cx="57150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7F6"/>
                </a:solidFill>
                <a:latin typeface="Inter"/>
              </a:rPr>
              <a:t>Trial</a:t>
            </a:r>
          </a:p>
        </p:txBody>
      </p:sp>
      <p:sp>
        <p:nvSpPr>
          <p:cNvPr id="75" name="step-4-channel-1"/>
          <p:cNvSpPr txBox="1"/>
          <p:nvPr/>
        </p:nvSpPr>
        <p:spPr>
          <a:xfrm>
            <a:off x="9410700" y="5514975"/>
            <a:ext cx="571500" cy="17145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3F2FD"/>
                </a:solidFill>
                <a:latin typeface="Inter"/>
              </a:rPr>
              <a:t>CS</a:t>
            </a:r>
          </a:p>
        </p:txBody>
      </p:sp>
      <p:sp>
        <p:nvSpPr>
          <p:cNvPr id="76" name="step-4-channel-2"/>
          <p:cNvSpPr txBox="1"/>
          <p:nvPr/>
        </p:nvSpPr>
        <p:spPr>
          <a:xfrm>
            <a:off x="10039350" y="5514975"/>
            <a:ext cx="57150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7F6"/>
                </a:solidFill>
                <a:latin typeface="Inter"/>
              </a:rPr>
              <a:t>Onboard</a:t>
            </a:r>
          </a:p>
        </p:txBody>
      </p:sp>
      <p:sp>
        <p:nvSpPr>
          <p:cNvPr id="77" name="step-4-channel-3"/>
          <p:cNvSpPr txBox="1"/>
          <p:nvPr/>
        </p:nvSpPr>
        <p:spPr>
          <a:xfrm>
            <a:off x="10668000" y="5514975"/>
            <a:ext cx="571500" cy="1714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8F5E9"/>
                </a:solidFill>
                <a:latin typeface="Inter"/>
              </a:rPr>
              <a:t>Upsell</a:t>
            </a:r>
          </a:p>
        </p:txBody>
      </p:sp>
      <p:sp>
        <p:nvSpPr>
          <p:cNvPr id="7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