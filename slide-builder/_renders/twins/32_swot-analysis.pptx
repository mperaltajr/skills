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266700"/>
            <a:ext cx="95250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Slide Lab SWOT — building from strengths, naming the work.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Internal advantages compound with external opportunities; the rest is the work ahead.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4825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quadrant-y-high"/>
          <p:cNvSpPr txBox="1"/>
          <p:nvPr/>
        </p:nvSpPr>
        <p:spPr>
          <a:xfrm>
            <a:off x="457200" y="2286000"/>
            <a:ext cx="266700" cy="1143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INTERNAL</a:t>
            </a:r>
          </a:p>
        </p:txBody>
      </p:sp>
      <p:sp>
        <p:nvSpPr>
          <p:cNvPr id="6" name="quadrant-y-low"/>
          <p:cNvSpPr txBox="1"/>
          <p:nvPr/>
        </p:nvSpPr>
        <p:spPr>
          <a:xfrm>
            <a:off x="457200" y="3810000"/>
            <a:ext cx="266700" cy="1143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EXTERNAL</a:t>
            </a:r>
          </a:p>
        </p:txBody>
      </p:sp>
      <p:sp>
        <p:nvSpPr>
          <p:cNvPr id="7" name="quadrant-x-low"/>
          <p:cNvSpPr txBox="1"/>
          <p:nvPr/>
        </p:nvSpPr>
        <p:spPr>
          <a:xfrm>
            <a:off x="895350" y="1905000"/>
            <a:ext cx="538162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POSITIVE</a:t>
            </a:r>
          </a:p>
        </p:txBody>
      </p:sp>
      <p:sp>
        <p:nvSpPr>
          <p:cNvPr id="8" name="quadrant-x-high"/>
          <p:cNvSpPr txBox="1"/>
          <p:nvPr/>
        </p:nvSpPr>
        <p:spPr>
          <a:xfrm>
            <a:off x="6276975" y="1905000"/>
            <a:ext cx="538162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NEGATIVE</a:t>
            </a:r>
          </a:p>
        </p:txBody>
      </p:sp>
      <p:sp>
        <p:nvSpPr>
          <p:cNvPr id="9" name="quadrant-tl"/>
          <p:cNvSpPr/>
          <p:nvPr/>
        </p:nvSpPr>
        <p:spPr>
          <a:xfrm>
            <a:off x="895350" y="2114550"/>
            <a:ext cx="5343525" cy="1571625"/>
          </a:xfrm>
          <a:prstGeom prst="rect">
            <a:avLst/>
          </a:prstGeom>
          <a:solidFill>
            <a:srgbClr val="DCFCE7"/>
          </a:solidFill>
          <a:ln w="25400">
            <a:solidFill>
              <a:srgbClr val="2D0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quadrant-tl-name"/>
          <p:cNvSpPr txBox="1"/>
          <p:nvPr/>
        </p:nvSpPr>
        <p:spPr>
          <a:xfrm>
            <a:off x="1047750" y="2190750"/>
            <a:ext cx="50387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STRENGTHS</a:t>
            </a:r>
          </a:p>
        </p:txBody>
      </p:sp>
      <p:sp>
        <p:nvSpPr>
          <p:cNvPr id="11" name="quadrant-tl-label"/>
          <p:cNvSpPr txBox="1"/>
          <p:nvPr/>
        </p:nvSpPr>
        <p:spPr>
          <a:xfrm>
            <a:off x="1047750" y="2400300"/>
            <a:ext cx="50387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INTERNAL · POSITIVE</a:t>
            </a:r>
          </a:p>
        </p:txBody>
      </p:sp>
      <p:sp>
        <p:nvSpPr>
          <p:cNvPr id="12" name="quadrant-tl-chip-1"/>
          <p:cNvSpPr txBox="1"/>
          <p:nvPr/>
        </p:nvSpPr>
        <p:spPr>
          <a:xfrm>
            <a:off x="1047750" y="2590800"/>
            <a:ext cx="503872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2D0A4E"/>
                </a:solidFill>
                <a:latin typeface="Inter"/>
              </a:rPr>
              <a:t>•  Real measured cycle-time gains (-64% in pilot)</a:t>
            </a:r>
          </a:p>
        </p:txBody>
      </p:sp>
      <p:sp>
        <p:nvSpPr>
          <p:cNvPr id="13" name="quadrant-tl-chip-2"/>
          <p:cNvSpPr txBox="1"/>
          <p:nvPr/>
        </p:nvSpPr>
        <p:spPr>
          <a:xfrm>
            <a:off x="1047750" y="2857500"/>
            <a:ext cx="503872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2D0A4E"/>
                </a:solidFill>
                <a:latin typeface="Inter"/>
              </a:rPr>
              <a:t>•  Compounds with existing consultant skills</a:t>
            </a:r>
          </a:p>
        </p:txBody>
      </p:sp>
      <p:sp>
        <p:nvSpPr>
          <p:cNvPr id="14" name="quadrant-tl-chip-3"/>
          <p:cNvSpPr txBox="1"/>
          <p:nvPr/>
        </p:nvSpPr>
        <p:spPr>
          <a:xfrm>
            <a:off x="1047750" y="3124200"/>
            <a:ext cx="503872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2D0A4E"/>
                </a:solidFill>
                <a:latin typeface="Inter"/>
              </a:rPr>
              <a:t>•  Drops into any brand template</a:t>
            </a:r>
          </a:p>
        </p:txBody>
      </p:sp>
      <p:sp>
        <p:nvSpPr>
          <p:cNvPr id="15" name="quadrant-tl-chip-4"/>
          <p:cNvSpPr txBox="1"/>
          <p:nvPr/>
        </p:nvSpPr>
        <p:spPr>
          <a:xfrm>
            <a:off x="1047750" y="3390900"/>
            <a:ext cx="503872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2D0A4E"/>
                </a:solidFill>
                <a:latin typeface="Inter"/>
              </a:rPr>
              <a:t>•  Internal IP — no vendor dependency</a:t>
            </a:r>
          </a:p>
        </p:txBody>
      </p:sp>
      <p:sp>
        <p:nvSpPr>
          <p:cNvPr id="16" name="quadrant-tr"/>
          <p:cNvSpPr/>
          <p:nvPr/>
        </p:nvSpPr>
        <p:spPr>
          <a:xfrm>
            <a:off x="6315075" y="2114550"/>
            <a:ext cx="5343525" cy="1571625"/>
          </a:xfrm>
          <a:prstGeom prst="rect">
            <a:avLst/>
          </a:prstGeom>
          <a:solidFill>
            <a:srgbClr val="FECACA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quadrant-tr-name"/>
          <p:cNvSpPr txBox="1"/>
          <p:nvPr/>
        </p:nvSpPr>
        <p:spPr>
          <a:xfrm>
            <a:off x="6467475" y="2190750"/>
            <a:ext cx="50387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WEAKNESSES</a:t>
            </a:r>
          </a:p>
        </p:txBody>
      </p:sp>
      <p:sp>
        <p:nvSpPr>
          <p:cNvPr id="18" name="quadrant-tr-label"/>
          <p:cNvSpPr txBox="1"/>
          <p:nvPr/>
        </p:nvSpPr>
        <p:spPr>
          <a:xfrm>
            <a:off x="6467475" y="2400300"/>
            <a:ext cx="50387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INTERNAL · NEGATIVE</a:t>
            </a:r>
          </a:p>
        </p:txBody>
      </p:sp>
      <p:sp>
        <p:nvSpPr>
          <p:cNvPr id="19" name="quadrant-tr-chip-1"/>
          <p:cNvSpPr txBox="1"/>
          <p:nvPr/>
        </p:nvSpPr>
        <p:spPr>
          <a:xfrm>
            <a:off x="6467475" y="2590800"/>
            <a:ext cx="503872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2D0A4E"/>
                </a:solidFill>
                <a:latin typeface="Inter"/>
              </a:rPr>
              <a:t>•  Pattern library still expanding</a:t>
            </a:r>
          </a:p>
        </p:txBody>
      </p:sp>
      <p:sp>
        <p:nvSpPr>
          <p:cNvPr id="20" name="quadrant-tr-chip-2"/>
          <p:cNvSpPr txBox="1"/>
          <p:nvPr/>
        </p:nvSpPr>
        <p:spPr>
          <a:xfrm>
            <a:off x="6467475" y="2857500"/>
            <a:ext cx="503872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2D0A4E"/>
                </a:solidFill>
                <a:latin typeface="Inter"/>
              </a:rPr>
              <a:t>•  HTML→PPTX translator not yet built</a:t>
            </a:r>
          </a:p>
        </p:txBody>
      </p:sp>
      <p:sp>
        <p:nvSpPr>
          <p:cNvPr id="21" name="quadrant-tr-chip-3"/>
          <p:cNvSpPr txBox="1"/>
          <p:nvPr/>
        </p:nvSpPr>
        <p:spPr>
          <a:xfrm>
            <a:off x="6467475" y="3124200"/>
            <a:ext cx="503872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2D0A4E"/>
                </a:solidFill>
                <a:latin typeface="Inter"/>
              </a:rPr>
              <a:t>•  Limited brand templates currently themed</a:t>
            </a:r>
          </a:p>
        </p:txBody>
      </p:sp>
      <p:sp>
        <p:nvSpPr>
          <p:cNvPr id="22" name="quadrant-tr-chip-4"/>
          <p:cNvSpPr txBox="1"/>
          <p:nvPr/>
        </p:nvSpPr>
        <p:spPr>
          <a:xfrm>
            <a:off x="6467475" y="3390900"/>
            <a:ext cx="503872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2D0A4E"/>
                </a:solidFill>
                <a:latin typeface="Inter"/>
              </a:rPr>
              <a:t>•  Requires ~90 min onboarding per user</a:t>
            </a:r>
          </a:p>
        </p:txBody>
      </p:sp>
      <p:sp>
        <p:nvSpPr>
          <p:cNvPr id="23" name="quadrant-bl"/>
          <p:cNvSpPr/>
          <p:nvPr/>
        </p:nvSpPr>
        <p:spPr>
          <a:xfrm>
            <a:off x="895350" y="3762375"/>
            <a:ext cx="5343525" cy="1571625"/>
          </a:xfrm>
          <a:prstGeom prst="rect">
            <a:avLst/>
          </a:prstGeom>
          <a:solidFill>
            <a:srgbClr val="F8F4FC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quadrant-bl-name"/>
          <p:cNvSpPr txBox="1"/>
          <p:nvPr/>
        </p:nvSpPr>
        <p:spPr>
          <a:xfrm>
            <a:off x="1047750" y="3838575"/>
            <a:ext cx="50387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OPPORTUNITIES</a:t>
            </a:r>
          </a:p>
        </p:txBody>
      </p:sp>
      <p:sp>
        <p:nvSpPr>
          <p:cNvPr id="25" name="quadrant-bl-label"/>
          <p:cNvSpPr txBox="1"/>
          <p:nvPr/>
        </p:nvSpPr>
        <p:spPr>
          <a:xfrm>
            <a:off x="1047750" y="4048125"/>
            <a:ext cx="50387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EXTERNAL · POSITIVE</a:t>
            </a:r>
          </a:p>
        </p:txBody>
      </p:sp>
      <p:sp>
        <p:nvSpPr>
          <p:cNvPr id="26" name="quadrant-bl-chip-1"/>
          <p:cNvSpPr txBox="1"/>
          <p:nvPr/>
        </p:nvSpPr>
        <p:spPr>
          <a:xfrm>
            <a:off x="1047750" y="4238625"/>
            <a:ext cx="503872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2D0A4E"/>
                </a:solidFill>
                <a:latin typeface="Inter"/>
              </a:rPr>
              <a:t>•  Q3 rollout to 3 more practice areas</a:t>
            </a:r>
          </a:p>
        </p:txBody>
      </p:sp>
      <p:sp>
        <p:nvSpPr>
          <p:cNvPr id="27" name="quadrant-bl-chip-2"/>
          <p:cNvSpPr txBox="1"/>
          <p:nvPr/>
        </p:nvSpPr>
        <p:spPr>
          <a:xfrm>
            <a:off x="1047750" y="4505325"/>
            <a:ext cx="503872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2D0A4E"/>
                </a:solidFill>
                <a:latin typeface="Inter"/>
              </a:rPr>
              <a:t>•  License opportunity to peer firms</a:t>
            </a:r>
          </a:p>
        </p:txBody>
      </p:sp>
      <p:sp>
        <p:nvSpPr>
          <p:cNvPr id="28" name="quadrant-bl-chip-3"/>
          <p:cNvSpPr txBox="1"/>
          <p:nvPr/>
        </p:nvSpPr>
        <p:spPr>
          <a:xfrm>
            <a:off x="1047750" y="4772025"/>
            <a:ext cx="503872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2D0A4E"/>
                </a:solidFill>
                <a:latin typeface="Inter"/>
              </a:rPr>
              <a:t>•  Underlying patterns publishable as IP</a:t>
            </a:r>
          </a:p>
        </p:txBody>
      </p:sp>
      <p:sp>
        <p:nvSpPr>
          <p:cNvPr id="29" name="quadrant-bl-chip-4"/>
          <p:cNvSpPr txBox="1"/>
          <p:nvPr/>
        </p:nvSpPr>
        <p:spPr>
          <a:xfrm>
            <a:off x="1047750" y="5038725"/>
            <a:ext cx="503872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2D0A4E"/>
                </a:solidFill>
                <a:latin typeface="Inter"/>
              </a:rPr>
              <a:t>•  Train juniors faster on structured argument</a:t>
            </a:r>
          </a:p>
        </p:txBody>
      </p:sp>
      <p:sp>
        <p:nvSpPr>
          <p:cNvPr id="30" name="quadrant-br"/>
          <p:cNvSpPr/>
          <p:nvPr/>
        </p:nvSpPr>
        <p:spPr>
          <a:xfrm>
            <a:off x="6315075" y="3762375"/>
            <a:ext cx="5343525" cy="1571625"/>
          </a:xfrm>
          <a:prstGeom prst="rect">
            <a:avLst/>
          </a:prstGeom>
          <a:solidFill>
            <a:srgbClr val="FEF3C7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quadrant-br-name"/>
          <p:cNvSpPr txBox="1"/>
          <p:nvPr/>
        </p:nvSpPr>
        <p:spPr>
          <a:xfrm>
            <a:off x="6467475" y="3838575"/>
            <a:ext cx="50387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THREATS</a:t>
            </a:r>
          </a:p>
        </p:txBody>
      </p:sp>
      <p:sp>
        <p:nvSpPr>
          <p:cNvPr id="32" name="quadrant-br-label"/>
          <p:cNvSpPr txBox="1"/>
          <p:nvPr/>
        </p:nvSpPr>
        <p:spPr>
          <a:xfrm>
            <a:off x="6467475" y="4048125"/>
            <a:ext cx="50387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EXTERNAL · NEGATIVE</a:t>
            </a:r>
          </a:p>
        </p:txBody>
      </p:sp>
      <p:sp>
        <p:nvSpPr>
          <p:cNvPr id="33" name="quadrant-br-chip-1"/>
          <p:cNvSpPr txBox="1"/>
          <p:nvPr/>
        </p:nvSpPr>
        <p:spPr>
          <a:xfrm>
            <a:off x="6467475" y="4238625"/>
            <a:ext cx="503872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2D0A4E"/>
                </a:solidFill>
                <a:latin typeface="Inter"/>
              </a:rPr>
              <a:t>•  Generic GenAI tools becoming default</a:t>
            </a:r>
          </a:p>
        </p:txBody>
      </p:sp>
      <p:sp>
        <p:nvSpPr>
          <p:cNvPr id="34" name="quadrant-br-chip-2"/>
          <p:cNvSpPr txBox="1"/>
          <p:nvPr/>
        </p:nvSpPr>
        <p:spPr>
          <a:xfrm>
            <a:off x="6467475" y="4505325"/>
            <a:ext cx="503872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2D0A4E"/>
                </a:solidFill>
                <a:latin typeface="Inter"/>
              </a:rPr>
              <a:t>•  Senior consultants resist new tooling</a:t>
            </a:r>
          </a:p>
        </p:txBody>
      </p:sp>
      <p:sp>
        <p:nvSpPr>
          <p:cNvPr id="35" name="quadrant-br-chip-3"/>
          <p:cNvSpPr txBox="1"/>
          <p:nvPr/>
        </p:nvSpPr>
        <p:spPr>
          <a:xfrm>
            <a:off x="6467475" y="4772025"/>
            <a:ext cx="503872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2D0A4E"/>
                </a:solidFill>
                <a:latin typeface="Inter"/>
              </a:rPr>
              <a:t>•  Vendor lock-in risk if scaled wrong</a:t>
            </a:r>
          </a:p>
        </p:txBody>
      </p:sp>
      <p:sp>
        <p:nvSpPr>
          <p:cNvPr id="36" name="quadrant-br-chip-4"/>
          <p:cNvSpPr txBox="1"/>
          <p:nvPr/>
        </p:nvSpPr>
        <p:spPr>
          <a:xfrm>
            <a:off x="6467475" y="5038725"/>
            <a:ext cx="503872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2D0A4E"/>
                </a:solidFill>
                <a:latin typeface="Inter"/>
              </a:rPr>
              <a:t>•  Quality erodes if pattern library bloats</a:t>
            </a:r>
          </a:p>
        </p:txBody>
      </p:sp>
      <p:sp>
        <p:nvSpPr>
          <p:cNvPr id="37" name="convergence-bg"/>
          <p:cNvSpPr/>
          <p:nvPr/>
        </p:nvSpPr>
        <p:spPr>
          <a:xfrm>
            <a:off x="609600" y="5715000"/>
            <a:ext cx="10972800" cy="4000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convergence"/>
          <p:cNvSpPr txBox="1"/>
          <p:nvPr/>
        </p:nvSpPr>
        <p:spPr>
          <a:xfrm>
            <a:off x="609600" y="57150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209550" bIns="0" lIns="20955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Strengths and opportunities are stackable. Weaknesses and threats are the work.</a:t>
            </a:r>
          </a:p>
        </p:txBody>
      </p:sp>
      <p:sp>
        <p:nvSpPr>
          <p:cNvPr id="39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40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41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