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left-panel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cover-left-accent"/>
          <p:cNvSpPr/>
          <p:nvPr/>
        </p:nvSpPr>
        <p:spPr>
          <a:xfrm>
            <a:off x="6057900" y="609600"/>
            <a:ext cx="38100" cy="5715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cover-pre-label"/>
          <p:cNvSpPr txBox="1"/>
          <p:nvPr/>
        </p:nvSpPr>
        <p:spPr>
          <a:xfrm>
            <a:off x="609600" y="6096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INTERNAL DECK · 2026</a:t>
            </a:r>
          </a:p>
        </p:txBody>
      </p:sp>
      <p:sp>
        <p:nvSpPr>
          <p:cNvPr id="5" name="cover-deck-title"/>
          <p:cNvSpPr txBox="1"/>
          <p:nvPr/>
        </p:nvSpPr>
        <p:spPr>
          <a:xfrm>
            <a:off x="609600" y="2476500"/>
            <a:ext cx="5143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500" b="1" i="0">
                <a:solidFill>
                  <a:srgbClr val="FFFFFF"/>
                </a:solidFill>
                <a:latin typeface="Inter"/>
              </a:rPr>
              <a:t>Slide Lab</a:t>
            </a:r>
          </a:p>
        </p:txBody>
      </p:sp>
      <p:sp>
        <p:nvSpPr>
          <p:cNvPr id="6" name="cover-tagline"/>
          <p:cNvSpPr txBox="1"/>
          <p:nvPr/>
        </p:nvSpPr>
        <p:spPr>
          <a:xfrm>
            <a:off x="609600" y="3314700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425" b="0" i="1">
                <a:solidFill>
                  <a:srgbClr val="C780FF"/>
                </a:solidFill>
                <a:latin typeface="Inter"/>
              </a:rPr>
              <a:t>Think. Argue. Build.</a:t>
            </a:r>
          </a:p>
        </p:txBody>
      </p:sp>
      <p:sp>
        <p:nvSpPr>
          <p:cNvPr id="7" name="cover-presented-rule"/>
          <p:cNvSpPr/>
          <p:nvPr/>
        </p:nvSpPr>
        <p:spPr>
          <a:xfrm>
            <a:off x="609600" y="5524500"/>
            <a:ext cx="3429000" cy="9525"/>
          </a:xfrm>
          <a:prstGeom prst="rect">
            <a:avLst/>
          </a:prstGeom>
          <a:solidFill>
            <a:srgbClr val="4A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ver-presented-label"/>
          <p:cNvSpPr txBox="1"/>
          <p:nvPr/>
        </p:nvSpPr>
        <p:spPr>
          <a:xfrm>
            <a:off x="609600" y="5657850"/>
            <a:ext cx="3429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PRESENTED BY</a:t>
            </a:r>
          </a:p>
        </p:txBody>
      </p:sp>
      <p:sp>
        <p:nvSpPr>
          <p:cNvPr id="9" name="cover-presented-name"/>
          <p:cNvSpPr txBox="1"/>
          <p:nvPr/>
        </p:nvSpPr>
        <p:spPr>
          <a:xfrm>
            <a:off x="609600" y="5829300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Mario Peralta · Strategy Manager</a:t>
            </a:r>
          </a:p>
        </p:txBody>
      </p:sp>
      <p:sp>
        <p:nvSpPr>
          <p:cNvPr id="10" name="cover-meta-rule"/>
          <p:cNvSpPr/>
          <p:nvPr/>
        </p:nvSpPr>
        <p:spPr>
          <a:xfrm>
            <a:off x="6705600" y="2571750"/>
            <a:ext cx="38100" cy="1714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ver-meta-1-label"/>
          <p:cNvSpPr txBox="1"/>
          <p:nvPr/>
        </p:nvSpPr>
        <p:spPr>
          <a:xfrm>
            <a:off x="7010400" y="25717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PREPARED FOR</a:t>
            </a:r>
          </a:p>
        </p:txBody>
      </p:sp>
      <p:sp>
        <p:nvSpPr>
          <p:cNvPr id="12" name="cover-meta-1-value"/>
          <p:cNvSpPr txBox="1"/>
          <p:nvPr/>
        </p:nvSpPr>
        <p:spPr>
          <a:xfrm>
            <a:off x="7010400" y="272415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Internal · Accenture Strategy</a:t>
            </a:r>
          </a:p>
        </p:txBody>
      </p:sp>
      <p:sp>
        <p:nvSpPr>
          <p:cNvPr id="13" name="cover-meta-2-label"/>
          <p:cNvSpPr txBox="1"/>
          <p:nvPr/>
        </p:nvSpPr>
        <p:spPr>
          <a:xfrm>
            <a:off x="7010400" y="3181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DATE</a:t>
            </a:r>
          </a:p>
        </p:txBody>
      </p:sp>
      <p:sp>
        <p:nvSpPr>
          <p:cNvPr id="14" name="cover-meta-2-value"/>
          <p:cNvSpPr txBox="1"/>
          <p:nvPr/>
        </p:nvSpPr>
        <p:spPr>
          <a:xfrm>
            <a:off x="7010400" y="3333750"/>
            <a:ext cx="4191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0" i="0">
                <a:solidFill>
                  <a:srgbClr val="1A1A2E"/>
                </a:solidFill>
                <a:latin typeface="Inter"/>
              </a:rPr>
              <a:t>May 2026</a:t>
            </a:r>
          </a:p>
        </p:txBody>
      </p:sp>
      <p:sp>
        <p:nvSpPr>
          <p:cNvPr id="15" name="cover-meta-3-label"/>
          <p:cNvSpPr txBox="1"/>
          <p:nvPr/>
        </p:nvSpPr>
        <p:spPr>
          <a:xfrm>
            <a:off x="7010400" y="37909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DURATION</a:t>
            </a:r>
          </a:p>
        </p:txBody>
      </p:sp>
      <p:sp>
        <p:nvSpPr>
          <p:cNvPr id="16" name="cover-meta-3-value"/>
          <p:cNvSpPr txBox="1"/>
          <p:nvPr/>
        </p:nvSpPr>
        <p:spPr>
          <a:xfrm>
            <a:off x="7010400" y="3943350"/>
            <a:ext cx="4191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0" i="0">
                <a:solidFill>
                  <a:srgbClr val="1A1A2E"/>
                </a:solidFill>
                <a:latin typeface="Inter"/>
              </a:rPr>
              <a:t>30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