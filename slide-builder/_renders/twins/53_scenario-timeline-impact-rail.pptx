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1A1A2E"/>
                </a:solidFill>
                <a:latin typeface="Inter"/>
              </a:rPr>
              <a:t>Four exit scenarios on one timeline — delay multiplies the risk.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~530 FTEs in scope across all scenarios. Each waypoint is a decision point; the slope of exits drives savings at risk.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-scenario"/>
          <p:cNvSpPr/>
          <p:nvPr/>
        </p:nvSpPr>
        <p:spPr>
          <a:xfrm>
            <a:off x="533400" y="1866900"/>
            <a:ext cx="15240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onth-bar"/>
          <p:cNvSpPr/>
          <p:nvPr/>
        </p:nvSpPr>
        <p:spPr>
          <a:xfrm>
            <a:off x="2057400" y="1866900"/>
            <a:ext cx="80010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h-impact"/>
          <p:cNvSpPr/>
          <p:nvPr/>
        </p:nvSpPr>
        <p:spPr>
          <a:xfrm>
            <a:off x="10058400" y="1866900"/>
            <a:ext cx="16002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able-col-1-header"/>
          <p:cNvSpPr txBox="1"/>
          <p:nvPr/>
        </p:nvSpPr>
        <p:spPr>
          <a:xfrm>
            <a:off x="533400" y="1866900"/>
            <a:ext cx="1524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SCENARIO</a:t>
            </a:r>
          </a:p>
        </p:txBody>
      </p:sp>
      <p:sp>
        <p:nvSpPr>
          <p:cNvPr id="9" name="timeline-tick-1-label"/>
          <p:cNvSpPr txBox="1"/>
          <p:nvPr/>
        </p:nvSpPr>
        <p:spPr>
          <a:xfrm>
            <a:off x="2057400" y="1866900"/>
            <a:ext cx="14097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MARCH</a:t>
            </a:r>
          </a:p>
        </p:txBody>
      </p:sp>
      <p:sp>
        <p:nvSpPr>
          <p:cNvPr id="10" name="timeline-tick-2-label"/>
          <p:cNvSpPr txBox="1"/>
          <p:nvPr/>
        </p:nvSpPr>
        <p:spPr>
          <a:xfrm>
            <a:off x="3467100" y="1866900"/>
            <a:ext cx="25812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APRIL</a:t>
            </a:r>
          </a:p>
        </p:txBody>
      </p:sp>
      <p:sp>
        <p:nvSpPr>
          <p:cNvPr id="11" name="timeline-tick-3-label"/>
          <p:cNvSpPr txBox="1"/>
          <p:nvPr/>
        </p:nvSpPr>
        <p:spPr>
          <a:xfrm>
            <a:off x="6048375" y="1866900"/>
            <a:ext cx="25812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MAY</a:t>
            </a:r>
          </a:p>
        </p:txBody>
      </p:sp>
      <p:sp>
        <p:nvSpPr>
          <p:cNvPr id="12" name="timeline-tick-4-label"/>
          <p:cNvSpPr txBox="1"/>
          <p:nvPr/>
        </p:nvSpPr>
        <p:spPr>
          <a:xfrm>
            <a:off x="8629650" y="1866900"/>
            <a:ext cx="14287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JUNE</a:t>
            </a:r>
          </a:p>
        </p:txBody>
      </p:sp>
      <p:sp>
        <p:nvSpPr>
          <p:cNvPr id="13" name="table-col-3-header"/>
          <p:cNvSpPr txBox="1"/>
          <p:nvPr/>
        </p:nvSpPr>
        <p:spPr>
          <a:xfrm>
            <a:off x="10058400" y="186690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14" name="scenario-1-label-bg"/>
          <p:cNvSpPr/>
          <p:nvPr/>
        </p:nvSpPr>
        <p:spPr>
          <a:xfrm>
            <a:off x="533400" y="2209800"/>
            <a:ext cx="1524000" cy="800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cenario-1-name"/>
          <p:cNvSpPr txBox="1"/>
          <p:nvPr/>
        </p:nvSpPr>
        <p:spPr>
          <a:xfrm>
            <a:off x="666750" y="23812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Base case</a:t>
            </a:r>
          </a:p>
        </p:txBody>
      </p:sp>
      <p:sp>
        <p:nvSpPr>
          <p:cNvPr id="16" name="scenario-1-tag"/>
          <p:cNvSpPr txBox="1"/>
          <p:nvPr/>
        </p:nvSpPr>
        <p:spPr>
          <a:xfrm>
            <a:off x="666750" y="26098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REFERENCE</a:t>
            </a:r>
          </a:p>
        </p:txBody>
      </p:sp>
      <p:sp>
        <p:nvSpPr>
          <p:cNvPr id="17" name="scenario-1-timeline"/>
          <p:cNvSpPr/>
          <p:nvPr/>
        </p:nvSpPr>
        <p:spPr>
          <a:xfrm>
            <a:off x="2057400" y="2209800"/>
            <a:ext cx="8001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cenario-1-track"/>
          <p:cNvSpPr/>
          <p:nvPr/>
        </p:nvSpPr>
        <p:spPr>
          <a:xfrm>
            <a:off x="2457450" y="2600325"/>
            <a:ext cx="3552825" cy="285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cenario-1-dot-1"/>
          <p:cNvSpPr/>
          <p:nvPr/>
        </p:nvSpPr>
        <p:spPr>
          <a:xfrm>
            <a:off x="2409825" y="2562225"/>
            <a:ext cx="104775" cy="1047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cenario-1-fte-1"/>
          <p:cNvSpPr txBox="1"/>
          <p:nvPr/>
        </p:nvSpPr>
        <p:spPr>
          <a:xfrm>
            <a:off x="2171700" y="27241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327</a:t>
            </a:r>
          </a:p>
        </p:txBody>
      </p:sp>
      <p:sp>
        <p:nvSpPr>
          <p:cNvPr id="21" name="scenario-1-dot-2"/>
          <p:cNvSpPr/>
          <p:nvPr/>
        </p:nvSpPr>
        <p:spPr>
          <a:xfrm>
            <a:off x="3648075" y="2562225"/>
            <a:ext cx="104775" cy="1047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cenario-1-fte-2"/>
          <p:cNvSpPr txBox="1"/>
          <p:nvPr/>
        </p:nvSpPr>
        <p:spPr>
          <a:xfrm>
            <a:off x="3409950" y="27241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60</a:t>
            </a:r>
          </a:p>
        </p:txBody>
      </p:sp>
      <p:sp>
        <p:nvSpPr>
          <p:cNvPr id="23" name="scenario-1-dot-3"/>
          <p:cNvSpPr/>
          <p:nvPr/>
        </p:nvSpPr>
        <p:spPr>
          <a:xfrm>
            <a:off x="5924550" y="2524125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scenario-1-fte-3"/>
          <p:cNvSpPr txBox="1"/>
          <p:nvPr/>
        </p:nvSpPr>
        <p:spPr>
          <a:xfrm>
            <a:off x="5724525" y="27241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143</a:t>
            </a:r>
          </a:p>
        </p:txBody>
      </p:sp>
      <p:sp>
        <p:nvSpPr>
          <p:cNvPr id="25" name="scenario-1-impact-bg"/>
          <p:cNvSpPr/>
          <p:nvPr/>
        </p:nvSpPr>
        <p:spPr>
          <a:xfrm>
            <a:off x="10058400" y="2209800"/>
            <a:ext cx="1600200" cy="800100"/>
          </a:xfrm>
          <a:prstGeom prst="rect">
            <a:avLst/>
          </a:prstGeom>
          <a:solidFill>
            <a:srgbClr val="F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scenario-1-impact-amount"/>
          <p:cNvSpPr txBox="1"/>
          <p:nvPr/>
        </p:nvSpPr>
        <p:spPr>
          <a:xfrm>
            <a:off x="10058400" y="24003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$0</a:t>
            </a:r>
          </a:p>
        </p:txBody>
      </p:sp>
      <p:sp>
        <p:nvSpPr>
          <p:cNvPr id="27" name="scenario-1-impact-note"/>
          <p:cNvSpPr txBox="1"/>
          <p:nvPr/>
        </p:nvSpPr>
        <p:spPr>
          <a:xfrm>
            <a:off x="10058400" y="2686050"/>
            <a:ext cx="1600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vs. plan</a:t>
            </a:r>
          </a:p>
        </p:txBody>
      </p:sp>
      <p:sp>
        <p:nvSpPr>
          <p:cNvPr id="28" name="scenario-2-label-bg"/>
          <p:cNvSpPr/>
          <p:nvPr/>
        </p:nvSpPr>
        <p:spPr>
          <a:xfrm>
            <a:off x="533400" y="3009900"/>
            <a:ext cx="1524000" cy="800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cenario-2-name"/>
          <p:cNvSpPr txBox="1"/>
          <p:nvPr/>
        </p:nvSpPr>
        <p:spPr>
          <a:xfrm>
            <a:off x="666750" y="31813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Scenario 1</a:t>
            </a:r>
          </a:p>
        </p:txBody>
      </p:sp>
      <p:sp>
        <p:nvSpPr>
          <p:cNvPr id="30" name="scenario-2-tag"/>
          <p:cNvSpPr txBox="1"/>
          <p:nvPr/>
        </p:nvSpPr>
        <p:spPr>
          <a:xfrm>
            <a:off x="666750" y="34099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MODERATE SLIP</a:t>
            </a:r>
          </a:p>
        </p:txBody>
      </p:sp>
      <p:sp>
        <p:nvSpPr>
          <p:cNvPr id="31" name="scenario-2-timeline"/>
          <p:cNvSpPr/>
          <p:nvPr/>
        </p:nvSpPr>
        <p:spPr>
          <a:xfrm>
            <a:off x="2057400" y="3009900"/>
            <a:ext cx="8001000" cy="800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cenario-2-track"/>
          <p:cNvSpPr/>
          <p:nvPr/>
        </p:nvSpPr>
        <p:spPr>
          <a:xfrm>
            <a:off x="2914650" y="3400425"/>
            <a:ext cx="6743700" cy="285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cenario-2-dot-1"/>
          <p:cNvSpPr/>
          <p:nvPr/>
        </p:nvSpPr>
        <p:spPr>
          <a:xfrm>
            <a:off x="2867025" y="3362325"/>
            <a:ext cx="104775" cy="1047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cenario-2-fte-1"/>
          <p:cNvSpPr txBox="1"/>
          <p:nvPr/>
        </p:nvSpPr>
        <p:spPr>
          <a:xfrm>
            <a:off x="2628900" y="35242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106</a:t>
            </a:r>
          </a:p>
        </p:txBody>
      </p:sp>
      <p:sp>
        <p:nvSpPr>
          <p:cNvPr id="35" name="scenario-2-dot-2"/>
          <p:cNvSpPr/>
          <p:nvPr/>
        </p:nvSpPr>
        <p:spPr>
          <a:xfrm>
            <a:off x="5886450" y="3362325"/>
            <a:ext cx="104775" cy="1047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cenario-2-fte-2"/>
          <p:cNvSpPr txBox="1"/>
          <p:nvPr/>
        </p:nvSpPr>
        <p:spPr>
          <a:xfrm>
            <a:off x="5648325" y="35242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382</a:t>
            </a:r>
          </a:p>
        </p:txBody>
      </p:sp>
      <p:sp>
        <p:nvSpPr>
          <p:cNvPr id="37" name="scenario-2-dot-3"/>
          <p:cNvSpPr/>
          <p:nvPr/>
        </p:nvSpPr>
        <p:spPr>
          <a:xfrm>
            <a:off x="9572625" y="3324225"/>
            <a:ext cx="1714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cenario-2-fte-3"/>
          <p:cNvSpPr txBox="1"/>
          <p:nvPr/>
        </p:nvSpPr>
        <p:spPr>
          <a:xfrm>
            <a:off x="9372600" y="35242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43</a:t>
            </a:r>
          </a:p>
        </p:txBody>
      </p:sp>
      <p:sp>
        <p:nvSpPr>
          <p:cNvPr id="39" name="scenario-2-impact-bg"/>
          <p:cNvSpPr/>
          <p:nvPr/>
        </p:nvSpPr>
        <p:spPr>
          <a:xfrm>
            <a:off x="10058400" y="3009900"/>
            <a:ext cx="1600200" cy="800100"/>
          </a:xfrm>
          <a:prstGeom prst="rect">
            <a:avLst/>
          </a:prstGeom>
          <a:solidFill>
            <a:srgbClr val="F0E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cenario-2-impact-amount"/>
          <p:cNvSpPr txBox="1"/>
          <p:nvPr/>
        </p:nvSpPr>
        <p:spPr>
          <a:xfrm>
            <a:off x="10058400" y="32004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5C2D87"/>
                </a:solidFill>
                <a:latin typeface="Inter"/>
              </a:rPr>
              <a:t>$5.0M</a:t>
            </a:r>
          </a:p>
        </p:txBody>
      </p:sp>
      <p:sp>
        <p:nvSpPr>
          <p:cNvPr id="41" name="scenario-2-impact-note"/>
          <p:cNvSpPr txBox="1"/>
          <p:nvPr/>
        </p:nvSpPr>
        <p:spPr>
          <a:xfrm>
            <a:off x="10058400" y="3486150"/>
            <a:ext cx="1600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savings at risk</a:t>
            </a:r>
          </a:p>
        </p:txBody>
      </p:sp>
      <p:sp>
        <p:nvSpPr>
          <p:cNvPr id="42" name="scenario-3-label-bg"/>
          <p:cNvSpPr/>
          <p:nvPr/>
        </p:nvSpPr>
        <p:spPr>
          <a:xfrm>
            <a:off x="533400" y="3810000"/>
            <a:ext cx="1524000" cy="800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scenario-3-name"/>
          <p:cNvSpPr txBox="1"/>
          <p:nvPr/>
        </p:nvSpPr>
        <p:spPr>
          <a:xfrm>
            <a:off x="666750" y="39814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8E3FB8"/>
                </a:solidFill>
                <a:latin typeface="Inter"/>
              </a:rPr>
              <a:t>Scenario 2</a:t>
            </a:r>
          </a:p>
        </p:txBody>
      </p:sp>
      <p:sp>
        <p:nvSpPr>
          <p:cNvPr id="44" name="scenario-3-tag"/>
          <p:cNvSpPr txBox="1"/>
          <p:nvPr/>
        </p:nvSpPr>
        <p:spPr>
          <a:xfrm>
            <a:off x="666750" y="42100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8E3FB8"/>
                </a:solidFill>
                <a:latin typeface="Inter"/>
              </a:rPr>
              <a:t>HEAVY SLIP</a:t>
            </a:r>
          </a:p>
        </p:txBody>
      </p:sp>
      <p:sp>
        <p:nvSpPr>
          <p:cNvPr id="45" name="scenario-3-timeline"/>
          <p:cNvSpPr/>
          <p:nvPr/>
        </p:nvSpPr>
        <p:spPr>
          <a:xfrm>
            <a:off x="2057400" y="3810000"/>
            <a:ext cx="8001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cenario-3-track"/>
          <p:cNvSpPr/>
          <p:nvPr/>
        </p:nvSpPr>
        <p:spPr>
          <a:xfrm>
            <a:off x="5629275" y="4200525"/>
            <a:ext cx="4029075" cy="28575"/>
          </a:xfrm>
          <a:prstGeom prst="rect">
            <a:avLst/>
          </a:prstGeom>
          <a:solidFill>
            <a:srgbClr val="8E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scenario-3-dot-1"/>
          <p:cNvSpPr/>
          <p:nvPr/>
        </p:nvSpPr>
        <p:spPr>
          <a:xfrm>
            <a:off x="5581650" y="4162425"/>
            <a:ext cx="104775" cy="104775"/>
          </a:xfrm>
          <a:prstGeom prst="rect">
            <a:avLst/>
          </a:prstGeom>
          <a:solidFill>
            <a:srgbClr val="8E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cenario-3-fte-1"/>
          <p:cNvSpPr txBox="1"/>
          <p:nvPr/>
        </p:nvSpPr>
        <p:spPr>
          <a:xfrm>
            <a:off x="5343525" y="43243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E3FB8"/>
                </a:solidFill>
                <a:latin typeface="Inter"/>
              </a:rPr>
              <a:t>477</a:t>
            </a:r>
          </a:p>
        </p:txBody>
      </p:sp>
      <p:sp>
        <p:nvSpPr>
          <p:cNvPr id="49" name="scenario-3-dot-2"/>
          <p:cNvSpPr/>
          <p:nvPr/>
        </p:nvSpPr>
        <p:spPr>
          <a:xfrm>
            <a:off x="9572625" y="4124325"/>
            <a:ext cx="171450" cy="171450"/>
          </a:xfrm>
          <a:prstGeom prst="rect">
            <a:avLst/>
          </a:prstGeom>
          <a:solidFill>
            <a:srgbClr val="8E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cenario-3-fte-2"/>
          <p:cNvSpPr txBox="1"/>
          <p:nvPr/>
        </p:nvSpPr>
        <p:spPr>
          <a:xfrm>
            <a:off x="9372600" y="43243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E3FB8"/>
                </a:solidFill>
                <a:latin typeface="Inter"/>
              </a:rPr>
              <a:t>53</a:t>
            </a:r>
          </a:p>
        </p:txBody>
      </p:sp>
      <p:sp>
        <p:nvSpPr>
          <p:cNvPr id="51" name="scenario-3-impact-bg"/>
          <p:cNvSpPr/>
          <p:nvPr/>
        </p:nvSpPr>
        <p:spPr>
          <a:xfrm>
            <a:off x="10058400" y="3810000"/>
            <a:ext cx="1600200" cy="800100"/>
          </a:xfrm>
          <a:prstGeom prst="rect">
            <a:avLst/>
          </a:prstGeom>
          <a:solidFill>
            <a:srgbClr val="F4E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cenario-3-impact-amount"/>
          <p:cNvSpPr txBox="1"/>
          <p:nvPr/>
        </p:nvSpPr>
        <p:spPr>
          <a:xfrm>
            <a:off x="10058400" y="40005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8E3FB8"/>
                </a:solidFill>
                <a:latin typeface="Inter"/>
              </a:rPr>
              <a:t>$6.4M</a:t>
            </a:r>
          </a:p>
        </p:txBody>
      </p:sp>
      <p:sp>
        <p:nvSpPr>
          <p:cNvPr id="53" name="scenario-3-impact-note"/>
          <p:cNvSpPr txBox="1"/>
          <p:nvPr/>
        </p:nvSpPr>
        <p:spPr>
          <a:xfrm>
            <a:off x="10058400" y="4286250"/>
            <a:ext cx="1600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savings at risk</a:t>
            </a:r>
          </a:p>
        </p:txBody>
      </p:sp>
      <p:sp>
        <p:nvSpPr>
          <p:cNvPr id="54" name="scenario-4-label-bg"/>
          <p:cNvSpPr/>
          <p:nvPr/>
        </p:nvSpPr>
        <p:spPr>
          <a:xfrm>
            <a:off x="533400" y="4610100"/>
            <a:ext cx="1524000" cy="800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scenario-4-name"/>
          <p:cNvSpPr txBox="1"/>
          <p:nvPr/>
        </p:nvSpPr>
        <p:spPr>
          <a:xfrm>
            <a:off x="666750" y="47815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Scenario 3</a:t>
            </a:r>
          </a:p>
        </p:txBody>
      </p:sp>
      <p:sp>
        <p:nvSpPr>
          <p:cNvPr id="56" name="scenario-4-tag"/>
          <p:cNvSpPr txBox="1"/>
          <p:nvPr/>
        </p:nvSpPr>
        <p:spPr>
          <a:xfrm>
            <a:off x="666750" y="501015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ACCELERATED</a:t>
            </a:r>
          </a:p>
        </p:txBody>
      </p:sp>
      <p:sp>
        <p:nvSpPr>
          <p:cNvPr id="57" name="scenario-4-timeline"/>
          <p:cNvSpPr/>
          <p:nvPr/>
        </p:nvSpPr>
        <p:spPr>
          <a:xfrm>
            <a:off x="2057400" y="4610100"/>
            <a:ext cx="8001000" cy="8001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cenario-4-track"/>
          <p:cNvSpPr/>
          <p:nvPr/>
        </p:nvSpPr>
        <p:spPr>
          <a:xfrm>
            <a:off x="2914650" y="5000625"/>
            <a:ext cx="14763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cenario-4-dot-1"/>
          <p:cNvSpPr/>
          <p:nvPr/>
        </p:nvSpPr>
        <p:spPr>
          <a:xfrm>
            <a:off x="2867025" y="4962525"/>
            <a:ext cx="104775" cy="1047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cenario-4-fte-1"/>
          <p:cNvSpPr txBox="1"/>
          <p:nvPr/>
        </p:nvSpPr>
        <p:spPr>
          <a:xfrm>
            <a:off x="2628900" y="5124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424</a:t>
            </a:r>
          </a:p>
        </p:txBody>
      </p:sp>
      <p:sp>
        <p:nvSpPr>
          <p:cNvPr id="61" name="scenario-4-dot-2"/>
          <p:cNvSpPr/>
          <p:nvPr/>
        </p:nvSpPr>
        <p:spPr>
          <a:xfrm>
            <a:off x="4305300" y="4924425"/>
            <a:ext cx="17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cenario-4-fte-2"/>
          <p:cNvSpPr txBox="1"/>
          <p:nvPr/>
        </p:nvSpPr>
        <p:spPr>
          <a:xfrm>
            <a:off x="4105275" y="5124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106</a:t>
            </a:r>
          </a:p>
        </p:txBody>
      </p:sp>
      <p:sp>
        <p:nvSpPr>
          <p:cNvPr id="63" name="scenario-4-impact-bg"/>
          <p:cNvSpPr/>
          <p:nvPr/>
        </p:nvSpPr>
        <p:spPr>
          <a:xfrm>
            <a:off x="10058400" y="4610100"/>
            <a:ext cx="1600200" cy="800100"/>
          </a:xfrm>
          <a:prstGeom prst="rect">
            <a:avLst/>
          </a:prstGeom>
          <a:solidFill>
            <a:srgbClr val="F7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cenario-4-impact-amount"/>
          <p:cNvSpPr txBox="1"/>
          <p:nvPr/>
        </p:nvSpPr>
        <p:spPr>
          <a:xfrm>
            <a:off x="10058400" y="48006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$343K</a:t>
            </a:r>
          </a:p>
        </p:txBody>
      </p:sp>
      <p:sp>
        <p:nvSpPr>
          <p:cNvPr id="65" name="scenario-4-impact-note"/>
          <p:cNvSpPr txBox="1"/>
          <p:nvPr/>
        </p:nvSpPr>
        <p:spPr>
          <a:xfrm>
            <a:off x="10058400" y="5086350"/>
            <a:ext cx="1600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savings at risk</a:t>
            </a:r>
          </a:p>
        </p:txBody>
      </p:sp>
      <p:sp>
        <p:nvSpPr>
          <p:cNvPr id="66" name="convergence-bg"/>
          <p:cNvSpPr/>
          <p:nvPr/>
        </p:nvSpPr>
        <p:spPr>
          <a:xfrm>
            <a:off x="533400" y="5486400"/>
            <a:ext cx="11125200" cy="419100"/>
          </a:xfrm>
          <a:prstGeom prst="rect">
            <a:avLst/>
          </a:prstGeom>
          <a:solidFill>
            <a:srgbClr val="FE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onvergence-accent"/>
          <p:cNvSpPr/>
          <p:nvPr/>
        </p:nvSpPr>
        <p:spPr>
          <a:xfrm>
            <a:off x="533400" y="5486400"/>
            <a:ext cx="38100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onvergence-mark"/>
          <p:cNvSpPr txBox="1"/>
          <p:nvPr/>
        </p:nvSpPr>
        <p:spPr>
          <a:xfrm>
            <a:off x="704850" y="54864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42318"/>
                </a:solidFill>
                <a:latin typeface="Inter"/>
              </a:rPr>
              <a:t>KEY RISK</a:t>
            </a:r>
          </a:p>
        </p:txBody>
      </p:sp>
      <p:sp>
        <p:nvSpPr>
          <p:cNvPr id="69" name="convergence"/>
          <p:cNvSpPr txBox="1"/>
          <p:nvPr/>
        </p:nvSpPr>
        <p:spPr>
          <a:xfrm>
            <a:off x="1581150" y="5486400"/>
            <a:ext cx="98869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 smooth transition is the priority — exit timing, however, matters. Delays cost up to $1.2M / week of foregone savings.</a:t>
            </a:r>
          </a:p>
        </p:txBody>
      </p:sp>
      <p:sp>
        <p:nvSpPr>
          <p:cNvPr id="7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