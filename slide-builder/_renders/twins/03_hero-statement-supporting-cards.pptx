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609600" y="609600"/>
            <a:ext cx="5715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WHAT SLIDE LAB ACTUALLY IS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838200"/>
            <a:ext cx="95250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850" b="1" i="0">
                <a:solidFill>
                  <a:srgbClr val="2D0A4E"/>
                </a:solidFill>
                <a:latin typeface="Inter"/>
              </a:rPr>
              <a:t>A thought partner — not a slide machine.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790700"/>
            <a:ext cx="7620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subtitle"/>
          <p:cNvSpPr txBox="1"/>
          <p:nvPr/>
        </p:nvSpPr>
        <p:spPr>
          <a:xfrm>
            <a:off x="609600" y="2000250"/>
            <a:ext cx="83820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00" b="0" i="1">
                <a:solidFill>
                  <a:srgbClr val="64748B"/>
                </a:solidFill>
                <a:latin typeface="Inter"/>
              </a:rPr>
              <a:t>It sharpens your thinking before it builds anything. Four mechanisms make that work — every session, every deck, every time.</a:t>
            </a:r>
          </a:p>
        </p:txBody>
      </p:sp>
      <p:sp>
        <p:nvSpPr>
          <p:cNvPr id="6" name="spacer-rule"/>
          <p:cNvSpPr/>
          <p:nvPr/>
        </p:nvSpPr>
        <p:spPr>
          <a:xfrm>
            <a:off x="609600" y="3238500"/>
            <a:ext cx="3810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card-1-bg"/>
          <p:cNvSpPr/>
          <p:nvPr/>
        </p:nvSpPr>
        <p:spPr>
          <a:xfrm>
            <a:off x="609600" y="3810000"/>
            <a:ext cx="2600325" cy="16192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card-1-accent"/>
          <p:cNvSpPr/>
          <p:nvPr/>
        </p:nvSpPr>
        <p:spPr>
          <a:xfrm>
            <a:off x="609600" y="3810000"/>
            <a:ext cx="2600325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card-1-num"/>
          <p:cNvSpPr txBox="1"/>
          <p:nvPr/>
        </p:nvSpPr>
        <p:spPr>
          <a:xfrm>
            <a:off x="781050" y="3962400"/>
            <a:ext cx="225742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C780FF"/>
                </a:solidFill>
                <a:latin typeface="Inter"/>
              </a:rPr>
              <a:t>01</a:t>
            </a:r>
          </a:p>
        </p:txBody>
      </p:sp>
      <p:sp>
        <p:nvSpPr>
          <p:cNvPr id="10" name="card-1-heading"/>
          <p:cNvSpPr txBox="1"/>
          <p:nvPr/>
        </p:nvSpPr>
        <p:spPr>
          <a:xfrm>
            <a:off x="781050" y="4267200"/>
            <a:ext cx="22574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Sharpens the thesis</a:t>
            </a:r>
          </a:p>
        </p:txBody>
      </p:sp>
      <p:sp>
        <p:nvSpPr>
          <p:cNvPr id="11" name="card-1-body"/>
          <p:cNvSpPr txBox="1"/>
          <p:nvPr/>
        </p:nvSpPr>
        <p:spPr>
          <a:xfrm>
            <a:off x="781050" y="4495800"/>
            <a:ext cx="2257425" cy="857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Pulls the governing thought out of the raw work before you touch a slide. Forces the headline to do the work.</a:t>
            </a:r>
          </a:p>
        </p:txBody>
      </p:sp>
      <p:sp>
        <p:nvSpPr>
          <p:cNvPr id="12" name="card-2-bg"/>
          <p:cNvSpPr/>
          <p:nvPr/>
        </p:nvSpPr>
        <p:spPr>
          <a:xfrm>
            <a:off x="3400425" y="3810000"/>
            <a:ext cx="2600325" cy="16192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card-2-accent"/>
          <p:cNvSpPr/>
          <p:nvPr/>
        </p:nvSpPr>
        <p:spPr>
          <a:xfrm>
            <a:off x="3400425" y="3810000"/>
            <a:ext cx="2600325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card-2-num"/>
          <p:cNvSpPr txBox="1"/>
          <p:nvPr/>
        </p:nvSpPr>
        <p:spPr>
          <a:xfrm>
            <a:off x="3571875" y="3962400"/>
            <a:ext cx="225742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C780FF"/>
                </a:solidFill>
                <a:latin typeface="Inter"/>
              </a:rPr>
              <a:t>02</a:t>
            </a:r>
          </a:p>
        </p:txBody>
      </p:sp>
      <p:sp>
        <p:nvSpPr>
          <p:cNvPr id="15" name="card-2-heading"/>
          <p:cNvSpPr txBox="1"/>
          <p:nvPr/>
        </p:nvSpPr>
        <p:spPr>
          <a:xfrm>
            <a:off x="3571875" y="4267200"/>
            <a:ext cx="22574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Challenges the structure</a:t>
            </a:r>
          </a:p>
        </p:txBody>
      </p:sp>
      <p:sp>
        <p:nvSpPr>
          <p:cNvPr id="16" name="card-2-body"/>
          <p:cNvSpPr txBox="1"/>
          <p:nvPr/>
        </p:nvSpPr>
        <p:spPr>
          <a:xfrm>
            <a:off x="3571875" y="4495800"/>
            <a:ext cx="2257425" cy="857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Tests MECE before drafting. Names the gaps. Refuses to build a slide on top of a weak frame.</a:t>
            </a:r>
          </a:p>
        </p:txBody>
      </p:sp>
      <p:sp>
        <p:nvSpPr>
          <p:cNvPr id="17" name="card-3-bg"/>
          <p:cNvSpPr/>
          <p:nvPr/>
        </p:nvSpPr>
        <p:spPr>
          <a:xfrm>
            <a:off x="6191250" y="3810000"/>
            <a:ext cx="2600325" cy="16192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card-3-accent"/>
          <p:cNvSpPr/>
          <p:nvPr/>
        </p:nvSpPr>
        <p:spPr>
          <a:xfrm>
            <a:off x="6191250" y="3810000"/>
            <a:ext cx="2600325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card-3-num"/>
          <p:cNvSpPr txBox="1"/>
          <p:nvPr/>
        </p:nvSpPr>
        <p:spPr>
          <a:xfrm>
            <a:off x="6362700" y="3962400"/>
            <a:ext cx="225742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C780FF"/>
                </a:solidFill>
                <a:latin typeface="Inter"/>
              </a:rPr>
              <a:t>03</a:t>
            </a:r>
          </a:p>
        </p:txBody>
      </p:sp>
      <p:sp>
        <p:nvSpPr>
          <p:cNvPr id="20" name="card-3-heading"/>
          <p:cNvSpPr txBox="1"/>
          <p:nvPr/>
        </p:nvSpPr>
        <p:spPr>
          <a:xfrm>
            <a:off x="6362700" y="4267200"/>
            <a:ext cx="22574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Argues with you</a:t>
            </a:r>
          </a:p>
        </p:txBody>
      </p:sp>
      <p:sp>
        <p:nvSpPr>
          <p:cNvPr id="21" name="card-3-body"/>
          <p:cNvSpPr txBox="1"/>
          <p:nvPr/>
        </p:nvSpPr>
        <p:spPr>
          <a:xfrm>
            <a:off x="6362700" y="4495800"/>
            <a:ext cx="2257425" cy="857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Pushes back on weak claims and surfaces counterexamples. No yes-and energy that bloats decks.</a:t>
            </a:r>
          </a:p>
        </p:txBody>
      </p:sp>
      <p:sp>
        <p:nvSpPr>
          <p:cNvPr id="22" name="card-4-bg"/>
          <p:cNvSpPr/>
          <p:nvPr/>
        </p:nvSpPr>
        <p:spPr>
          <a:xfrm>
            <a:off x="8982075" y="3810000"/>
            <a:ext cx="2600325" cy="16192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card-4-accent"/>
          <p:cNvSpPr/>
          <p:nvPr/>
        </p:nvSpPr>
        <p:spPr>
          <a:xfrm>
            <a:off x="8982075" y="3810000"/>
            <a:ext cx="2600325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card-4-num"/>
          <p:cNvSpPr txBox="1"/>
          <p:nvPr/>
        </p:nvSpPr>
        <p:spPr>
          <a:xfrm>
            <a:off x="9153525" y="3962400"/>
            <a:ext cx="225742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C780FF"/>
                </a:solidFill>
                <a:latin typeface="Inter"/>
              </a:rPr>
              <a:t>04</a:t>
            </a:r>
          </a:p>
        </p:txBody>
      </p:sp>
      <p:sp>
        <p:nvSpPr>
          <p:cNvPr id="25" name="card-4-heading"/>
          <p:cNvSpPr txBox="1"/>
          <p:nvPr/>
        </p:nvSpPr>
        <p:spPr>
          <a:xfrm>
            <a:off x="9153525" y="4267200"/>
            <a:ext cx="22574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Builds when ready</a:t>
            </a:r>
          </a:p>
        </p:txBody>
      </p:sp>
      <p:sp>
        <p:nvSpPr>
          <p:cNvPr id="26" name="card-4-body"/>
          <p:cNvSpPr txBox="1"/>
          <p:nvPr/>
        </p:nvSpPr>
        <p:spPr>
          <a:xfrm>
            <a:off x="9153525" y="4495800"/>
            <a:ext cx="2257425" cy="857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Renders a real PPTX in your brand template — not a screenshot, not a markdown export. A deck you can present.</a:t>
            </a:r>
          </a:p>
        </p:txBody>
      </p:sp>
      <p:sp>
        <p:nvSpPr>
          <p:cNvPr id="27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28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29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