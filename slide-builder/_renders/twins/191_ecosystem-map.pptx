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Our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Ecosystem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at a Glance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09600" y="990600"/>
            <a:ext cx="9334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Strategic partners, channels, and indirect players mapped by sector and relationship type</a:t>
            </a:r>
          </a:p>
        </p:txBody>
      </p:sp>
      <p:sp>
        <p:nvSpPr>
          <p:cNvPr id="6" name="brand-rule"/>
          <p:cNvSpPr/>
          <p:nvPr/>
        </p:nvSpPr>
        <p:spPr>
          <a:xfrm>
            <a:off x="609600" y="14287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6248400" y="159067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SECTOR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6819900" y="16097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label"/>
          <p:cNvSpPr txBox="1"/>
          <p:nvPr/>
        </p:nvSpPr>
        <p:spPr>
          <a:xfrm>
            <a:off x="7067550" y="158115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Tech</a:t>
            </a:r>
          </a:p>
        </p:txBody>
      </p:sp>
      <p:sp>
        <p:nvSpPr>
          <p:cNvPr id="10" name="legend-2-swatch"/>
          <p:cNvSpPr/>
          <p:nvPr/>
        </p:nvSpPr>
        <p:spPr>
          <a:xfrm>
            <a:off x="7486650" y="1609725"/>
            <a:ext cx="95250" cy="95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2-label"/>
          <p:cNvSpPr txBox="1"/>
          <p:nvPr/>
        </p:nvSpPr>
        <p:spPr>
          <a:xfrm>
            <a:off x="7734300" y="1581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Regulatory</a:t>
            </a:r>
          </a:p>
        </p:txBody>
      </p:sp>
      <p:sp>
        <p:nvSpPr>
          <p:cNvPr id="12" name="legend-3-swatch"/>
          <p:cNvSpPr/>
          <p:nvPr/>
        </p:nvSpPr>
        <p:spPr>
          <a:xfrm>
            <a:off x="8439150" y="1609725"/>
            <a:ext cx="95250" cy="95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3-label"/>
          <p:cNvSpPr txBox="1"/>
          <p:nvPr/>
        </p:nvSpPr>
        <p:spPr>
          <a:xfrm>
            <a:off x="8686800" y="1581150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Channel</a:t>
            </a:r>
          </a:p>
        </p:txBody>
      </p:sp>
      <p:sp>
        <p:nvSpPr>
          <p:cNvPr id="14" name="legend-4-swatch"/>
          <p:cNvSpPr/>
          <p:nvPr/>
        </p:nvSpPr>
        <p:spPr>
          <a:xfrm>
            <a:off x="9201150" y="1609725"/>
            <a:ext cx="952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egend-4-label"/>
          <p:cNvSpPr txBox="1"/>
          <p:nvPr/>
        </p:nvSpPr>
        <p:spPr>
          <a:xfrm>
            <a:off x="9448800" y="1581150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Capital</a:t>
            </a:r>
          </a:p>
        </p:txBody>
      </p:sp>
      <p:sp>
        <p:nvSpPr>
          <p:cNvPr id="16" name="legend-5-swatch"/>
          <p:cNvSpPr/>
          <p:nvPr/>
        </p:nvSpPr>
        <p:spPr>
          <a:xfrm>
            <a:off x="9963150" y="1647825"/>
            <a:ext cx="190500" cy="19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egend-5-label"/>
          <p:cNvSpPr txBox="1"/>
          <p:nvPr/>
        </p:nvSpPr>
        <p:spPr>
          <a:xfrm>
            <a:off x="10210800" y="1581150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Strategic</a:t>
            </a:r>
          </a:p>
        </p:txBody>
      </p:sp>
      <p:sp>
        <p:nvSpPr>
          <p:cNvPr id="18" name="legend-6-swatch"/>
          <p:cNvSpPr/>
          <p:nvPr/>
        </p:nvSpPr>
        <p:spPr>
          <a:xfrm>
            <a:off x="10820400" y="1647825"/>
            <a:ext cx="1905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legend-6-label"/>
          <p:cNvSpPr txBox="1"/>
          <p:nvPr/>
        </p:nvSpPr>
        <p:spPr>
          <a:xfrm>
            <a:off x="11068050" y="1581150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Indirect</a:t>
            </a:r>
          </a:p>
        </p:txBody>
      </p:sp>
      <p:sp>
        <p:nvSpPr>
          <p:cNvPr id="20" name="chart-canvas"/>
          <p:cNvSpPr/>
          <p:nvPr/>
        </p:nvSpPr>
        <p:spPr>
          <a:xfrm>
            <a:off x="609600" y="1905000"/>
            <a:ext cx="10972800" cy="3810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ecosystem-hub-bg"/>
          <p:cNvSpPr/>
          <p:nvPr/>
        </p:nvSpPr>
        <p:spPr>
          <a:xfrm>
            <a:off x="5524500" y="3524250"/>
            <a:ext cx="1143000" cy="571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ecosystem-hub"/>
          <p:cNvSpPr txBox="1"/>
          <p:nvPr/>
        </p:nvSpPr>
        <p:spPr>
          <a:xfrm>
            <a:off x="5524500" y="3524250"/>
            <a:ext cx="11430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Our
Organization</a:t>
            </a:r>
          </a:p>
        </p:txBody>
      </p:sp>
      <p:sp>
        <p:nvSpPr>
          <p:cNvPr id="24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25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191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