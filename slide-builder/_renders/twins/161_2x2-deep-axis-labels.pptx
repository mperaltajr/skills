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66700"/>
            <a:ext cx="104775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950" b="1" i="0">
                <a:solidFill>
                  <a:srgbClr val="2D0A4E"/>
                </a:solidFill>
                <a:latin typeface="Inter"/>
              </a:rPr>
              <a:t>Portfolio Positioning Across </a:t>
            </a:r>
            <a:r>
              <a:rPr sz="1950" b="1" i="0">
                <a:solidFill>
                  <a:srgbClr val="A100FF"/>
                </a:solidFill>
                <a:latin typeface="Inter"/>
              </a:rPr>
              <a:t>Attractiveness &amp; Strength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914400"/>
            <a:ext cx="10477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Strategic quadrant view — prioritize investment, harvest, or exit decisions by axis position</a:t>
            </a:r>
          </a:p>
        </p:txBody>
      </p:sp>
      <p:sp>
        <p:nvSpPr>
          <p:cNvPr id="4" name="brand-rule"/>
          <p:cNvSpPr/>
          <p:nvPr/>
        </p:nvSpPr>
        <p:spPr>
          <a:xfrm>
            <a:off x="457200" y="1162050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quadrant-y-high"/>
          <p:cNvSpPr txBox="1"/>
          <p:nvPr/>
        </p:nvSpPr>
        <p:spPr>
          <a:xfrm>
            <a:off x="457200" y="1371600"/>
            <a:ext cx="8382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STRONG</a:t>
            </a:r>
          </a:p>
        </p:txBody>
      </p:sp>
      <p:sp>
        <p:nvSpPr>
          <p:cNvPr id="6" name="quadrant-y-high-desc"/>
          <p:cNvSpPr txBox="1"/>
          <p:nvPr/>
        </p:nvSpPr>
        <p:spPr>
          <a:xfrm>
            <a:off x="457200" y="1524000"/>
            <a:ext cx="8382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Structural cost &amp; capability lead</a:t>
            </a:r>
          </a:p>
        </p:txBody>
      </p:sp>
      <p:sp>
        <p:nvSpPr>
          <p:cNvPr id="7" name="quadrant-y-low"/>
          <p:cNvSpPr txBox="1"/>
          <p:nvPr/>
        </p:nvSpPr>
        <p:spPr>
          <a:xfrm>
            <a:off x="457200" y="5600700"/>
            <a:ext cx="8382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WEAK</a:t>
            </a:r>
          </a:p>
        </p:txBody>
      </p:sp>
      <p:sp>
        <p:nvSpPr>
          <p:cNvPr id="8" name="quadrant-y-low-desc"/>
          <p:cNvSpPr txBox="1"/>
          <p:nvPr/>
        </p:nvSpPr>
        <p:spPr>
          <a:xfrm>
            <a:off x="457200" y="5753100"/>
            <a:ext cx="8382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Scale disadvantage, limited differentiation</a:t>
            </a:r>
          </a:p>
        </p:txBody>
      </p:sp>
      <p:sp>
        <p:nvSpPr>
          <p:cNvPr id="9" name="quadrant-y-axis-label"/>
          <p:cNvSpPr txBox="1"/>
          <p:nvPr/>
        </p:nvSpPr>
        <p:spPr>
          <a:xfrm>
            <a:off x="457200" y="3571875"/>
            <a:ext cx="8382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COMPETITIVE STRENGTH</a:t>
            </a:r>
          </a:p>
        </p:txBody>
      </p:sp>
      <p:sp>
        <p:nvSpPr>
          <p:cNvPr id="10" name="quadrant-tl-bg"/>
          <p:cNvSpPr/>
          <p:nvPr/>
        </p:nvSpPr>
        <p:spPr>
          <a:xfrm>
            <a:off x="1333500" y="1314450"/>
            <a:ext cx="5200650" cy="2333625"/>
          </a:xfrm>
          <a:prstGeom prst="rect">
            <a:avLst/>
          </a:prstGeom>
          <a:solidFill>
            <a:srgbClr val="F0EBF8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quadrant-tl-label"/>
          <p:cNvSpPr txBox="1"/>
          <p:nvPr/>
        </p:nvSpPr>
        <p:spPr>
          <a:xfrm>
            <a:off x="6153150" y="1390650"/>
            <a:ext cx="3048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Q2</a:t>
            </a:r>
          </a:p>
        </p:txBody>
      </p:sp>
      <p:sp>
        <p:nvSpPr>
          <p:cNvPr id="12" name="quadrant-tl-name"/>
          <p:cNvSpPr txBox="1"/>
          <p:nvPr/>
        </p:nvSpPr>
        <p:spPr>
          <a:xfrm>
            <a:off x="1485900" y="1447800"/>
            <a:ext cx="46291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Harvest &amp; Defend</a:t>
            </a:r>
          </a:p>
        </p:txBody>
      </p:sp>
      <p:sp>
        <p:nvSpPr>
          <p:cNvPr id="13" name="quadrant-tl-directive"/>
          <p:cNvSpPr txBox="1"/>
          <p:nvPr/>
        </p:nvSpPr>
        <p:spPr>
          <a:xfrm>
            <a:off x="1485900" y="1695450"/>
            <a:ext cx="4895850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Protect margin in a low-growth market. Minimize new spend; extract value from existing position.</a:t>
            </a:r>
          </a:p>
        </p:txBody>
      </p:sp>
      <p:sp>
        <p:nvSpPr>
          <p:cNvPr id="14" name="quadrant-tl-body"/>
          <p:cNvSpPr txBox="1"/>
          <p:nvPr/>
        </p:nvSpPr>
        <p:spPr>
          <a:xfrm>
            <a:off x="1485900" y="2114550"/>
            <a:ext cx="4895850" cy="14192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· Tighten cost structure, renegotiate vendor contracts
· Defend key accounts with loyalty programs
· Harvest cash to fund star quadrant growth</a:t>
            </a:r>
          </a:p>
        </p:txBody>
      </p:sp>
      <p:sp>
        <p:nvSpPr>
          <p:cNvPr id="15" name="quadrant-tr-bg"/>
          <p:cNvSpPr/>
          <p:nvPr/>
        </p:nvSpPr>
        <p:spPr>
          <a:xfrm>
            <a:off x="6534150" y="1314450"/>
            <a:ext cx="5200650" cy="2333625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quadrant-tr-label"/>
          <p:cNvSpPr txBox="1"/>
          <p:nvPr/>
        </p:nvSpPr>
        <p:spPr>
          <a:xfrm>
            <a:off x="11353800" y="1390650"/>
            <a:ext cx="3048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Q1</a:t>
            </a:r>
          </a:p>
        </p:txBody>
      </p:sp>
      <p:sp>
        <p:nvSpPr>
          <p:cNvPr id="17" name="quadrant-tr-name"/>
          <p:cNvSpPr txBox="1"/>
          <p:nvPr/>
        </p:nvSpPr>
        <p:spPr>
          <a:xfrm>
            <a:off x="6686550" y="1447800"/>
            <a:ext cx="46291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Invest &amp; Grow</a:t>
            </a:r>
          </a:p>
        </p:txBody>
      </p:sp>
      <p:sp>
        <p:nvSpPr>
          <p:cNvPr id="18" name="quadrant-tr-directive"/>
          <p:cNvSpPr txBox="1"/>
          <p:nvPr/>
        </p:nvSpPr>
        <p:spPr>
          <a:xfrm>
            <a:off x="6686550" y="1695450"/>
            <a:ext cx="4895850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Prime strategic territory. Double down on capability advantage in high-attractiveness segments.</a:t>
            </a:r>
          </a:p>
        </p:txBody>
      </p:sp>
      <p:sp>
        <p:nvSpPr>
          <p:cNvPr id="19" name="quadrant-tr-body"/>
          <p:cNvSpPr txBox="1"/>
          <p:nvPr/>
        </p:nvSpPr>
        <p:spPr>
          <a:xfrm>
            <a:off x="6686550" y="2114550"/>
            <a:ext cx="4895850" cy="14192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· Accelerate M&amp;A and organic expansion
· Lock in long-term customer agreements
· Build moats through IP and ecosystem plays</a:t>
            </a:r>
          </a:p>
        </p:txBody>
      </p:sp>
      <p:sp>
        <p:nvSpPr>
          <p:cNvPr id="20" name="quadrant-bl-bg"/>
          <p:cNvSpPr/>
          <p:nvPr/>
        </p:nvSpPr>
        <p:spPr>
          <a:xfrm>
            <a:off x="1333500" y="3648075"/>
            <a:ext cx="5200650" cy="2333625"/>
          </a:xfrm>
          <a:prstGeom prst="rect">
            <a:avLst/>
          </a:prstGeom>
          <a:solidFill>
            <a:srgbClr val="FAFAFA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quadrant-bl-label"/>
          <p:cNvSpPr txBox="1"/>
          <p:nvPr/>
        </p:nvSpPr>
        <p:spPr>
          <a:xfrm>
            <a:off x="6153150" y="3724275"/>
            <a:ext cx="3048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Q3</a:t>
            </a:r>
          </a:p>
        </p:txBody>
      </p:sp>
      <p:sp>
        <p:nvSpPr>
          <p:cNvPr id="22" name="quadrant-bl-name"/>
          <p:cNvSpPr txBox="1"/>
          <p:nvPr/>
        </p:nvSpPr>
        <p:spPr>
          <a:xfrm>
            <a:off x="1485900" y="3781425"/>
            <a:ext cx="46291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Divest or Exit</a:t>
            </a:r>
          </a:p>
        </p:txBody>
      </p:sp>
      <p:sp>
        <p:nvSpPr>
          <p:cNvPr id="23" name="quadrant-bl-directive"/>
          <p:cNvSpPr txBox="1"/>
          <p:nvPr/>
        </p:nvSpPr>
        <p:spPr>
          <a:xfrm>
            <a:off x="1485900" y="4029075"/>
            <a:ext cx="4895850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Unattractive market with weak competitive position. Reallocate capital unless turnaround is credible.</a:t>
            </a:r>
          </a:p>
        </p:txBody>
      </p:sp>
      <p:sp>
        <p:nvSpPr>
          <p:cNvPr id="24" name="quadrant-bl-body"/>
          <p:cNvSpPr txBox="1"/>
          <p:nvPr/>
        </p:nvSpPr>
        <p:spPr>
          <a:xfrm>
            <a:off x="1485900" y="4448175"/>
            <a:ext cx="4895850" cy="14192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· Run structured divestiture or wind-down process
· Explore JV to share stranded costs
· Retain only if strategic linkage is critical</a:t>
            </a:r>
          </a:p>
        </p:txBody>
      </p:sp>
      <p:sp>
        <p:nvSpPr>
          <p:cNvPr id="25" name="quadrant-br-bg"/>
          <p:cNvSpPr/>
          <p:nvPr/>
        </p:nvSpPr>
        <p:spPr>
          <a:xfrm>
            <a:off x="6534150" y="3648075"/>
            <a:ext cx="5200650" cy="2333625"/>
          </a:xfrm>
          <a:prstGeom prst="rect">
            <a:avLst/>
          </a:prstGeom>
          <a:solidFill>
            <a:srgbClr val="F5F5F5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quadrant-br-label"/>
          <p:cNvSpPr txBox="1"/>
          <p:nvPr/>
        </p:nvSpPr>
        <p:spPr>
          <a:xfrm>
            <a:off x="11353800" y="3724275"/>
            <a:ext cx="3048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Q4</a:t>
            </a:r>
          </a:p>
        </p:txBody>
      </p:sp>
      <p:sp>
        <p:nvSpPr>
          <p:cNvPr id="27" name="quadrant-br-name"/>
          <p:cNvSpPr txBox="1"/>
          <p:nvPr/>
        </p:nvSpPr>
        <p:spPr>
          <a:xfrm>
            <a:off x="6686550" y="3781425"/>
            <a:ext cx="46291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Selective / Niche</a:t>
            </a:r>
          </a:p>
        </p:txBody>
      </p:sp>
      <p:sp>
        <p:nvSpPr>
          <p:cNvPr id="28" name="quadrant-br-directive"/>
          <p:cNvSpPr txBox="1"/>
          <p:nvPr/>
        </p:nvSpPr>
        <p:spPr>
          <a:xfrm>
            <a:off x="6686550" y="4029075"/>
            <a:ext cx="4895850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Attractive market, but position is weak. Invest selectively or find a defensible niche to enter.</a:t>
            </a:r>
          </a:p>
        </p:txBody>
      </p:sp>
      <p:sp>
        <p:nvSpPr>
          <p:cNvPr id="29" name="quadrant-br-body"/>
          <p:cNvSpPr txBox="1"/>
          <p:nvPr/>
        </p:nvSpPr>
        <p:spPr>
          <a:xfrm>
            <a:off x="6686550" y="4448175"/>
            <a:ext cx="4895850" cy="14192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· Identify micro-segment where scale less critical
· Partner or license to acquire position faster
· Set clear go/no-go milestones at 12 months</a:t>
            </a:r>
          </a:p>
        </p:txBody>
      </p:sp>
      <p:sp>
        <p:nvSpPr>
          <p:cNvPr id="30" name="crosshair-v"/>
          <p:cNvSpPr/>
          <p:nvPr/>
        </p:nvSpPr>
        <p:spPr>
          <a:xfrm>
            <a:off x="6524625" y="1314450"/>
            <a:ext cx="19050" cy="46672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crosshair-h"/>
          <p:cNvSpPr/>
          <p:nvPr/>
        </p:nvSpPr>
        <p:spPr>
          <a:xfrm>
            <a:off x="1333500" y="3638550"/>
            <a:ext cx="1040130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" name="quadrant-x-low"/>
          <p:cNvSpPr txBox="1"/>
          <p:nvPr/>
        </p:nvSpPr>
        <p:spPr>
          <a:xfrm>
            <a:off x="1428750" y="6019800"/>
            <a:ext cx="1143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LOW</a:t>
            </a:r>
          </a:p>
        </p:txBody>
      </p:sp>
      <p:sp>
        <p:nvSpPr>
          <p:cNvPr id="33" name="quadrant-x-low-desc"/>
          <p:cNvSpPr txBox="1"/>
          <p:nvPr/>
        </p:nvSpPr>
        <p:spPr>
          <a:xfrm>
            <a:off x="1428750" y="6153150"/>
            <a:ext cx="2286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Slow growth, commoditized, margin pressure</a:t>
            </a:r>
          </a:p>
        </p:txBody>
      </p:sp>
      <p:sp>
        <p:nvSpPr>
          <p:cNvPr id="34" name="quadrant-x-axis-label"/>
          <p:cNvSpPr txBox="1"/>
          <p:nvPr/>
        </p:nvSpPr>
        <p:spPr>
          <a:xfrm>
            <a:off x="1333500" y="6076950"/>
            <a:ext cx="104013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MARKET ATTRACTIVENESS</a:t>
            </a:r>
          </a:p>
        </p:txBody>
      </p:sp>
      <p:sp>
        <p:nvSpPr>
          <p:cNvPr id="35" name="quadrant-x-high"/>
          <p:cNvSpPr txBox="1"/>
          <p:nvPr/>
        </p:nvSpPr>
        <p:spPr>
          <a:xfrm>
            <a:off x="10591800" y="6019800"/>
            <a:ext cx="10477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HIGH</a:t>
            </a:r>
          </a:p>
        </p:txBody>
      </p:sp>
      <p:sp>
        <p:nvSpPr>
          <p:cNvPr id="36" name="quadrant-x-high-desc"/>
          <p:cNvSpPr txBox="1"/>
          <p:nvPr/>
        </p:nvSpPr>
        <p:spPr>
          <a:xfrm>
            <a:off x="9258300" y="6153150"/>
            <a:ext cx="23622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Fast-growing, profitable, structural tailwinds</a:t>
            </a:r>
          </a:p>
        </p:txBody>
      </p:sp>
      <p:sp>
        <p:nvSpPr>
          <p:cNvPr id="37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38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39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161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