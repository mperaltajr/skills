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One commitment from program leadership.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Everything below the ask is a condition of making it real.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rimary-ask-bg"/>
          <p:cNvSpPr/>
          <p:nvPr/>
        </p:nvSpPr>
        <p:spPr>
          <a:xfrm>
            <a:off x="609600" y="1905000"/>
            <a:ext cx="10972800" cy="1905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rimary-ask-accent"/>
          <p:cNvSpPr/>
          <p:nvPr/>
        </p:nvSpPr>
        <p:spPr>
          <a:xfrm>
            <a:off x="609600" y="1905000"/>
            <a:ext cx="57150" cy="1905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rimary-ask-label"/>
          <p:cNvSpPr txBox="1"/>
          <p:nvPr/>
        </p:nvSpPr>
        <p:spPr>
          <a:xfrm>
            <a:off x="1219200" y="22479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PRIMARY ASK</a:t>
            </a:r>
          </a:p>
        </p:txBody>
      </p:sp>
      <p:sp>
        <p:nvSpPr>
          <p:cNvPr id="8" name="primary-ask-text"/>
          <p:cNvSpPr txBox="1"/>
          <p:nvPr/>
        </p:nvSpPr>
        <p:spPr>
          <a:xfrm>
            <a:off x="1219200" y="2533650"/>
            <a:ext cx="9753600" cy="1047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Sponsor a </a:t>
            </a:r>
            <a:r>
              <a:rPr sz="2100" b="1" i="1">
                <a:solidFill>
                  <a:srgbClr val="FFFFFF"/>
                </a:solidFill>
                <a:latin typeface="Inter"/>
              </a:rPr>
              <a:t>four-week pilot</a:t>
            </a:r>
            <a:r>
              <a:rPr sz="2100" b="1" i="0">
                <a:solidFill>
                  <a:srgbClr val="FFFFFF"/>
                </a:solidFill>
                <a:latin typeface="Inter"/>
              </a:rPr>
              <a:t> on one priority workstream — and measure it against the baseline.</a:t>
            </a:r>
          </a:p>
        </p:txBody>
      </p:sp>
      <p:sp>
        <p:nvSpPr>
          <p:cNvPr id="9" name="sub-asks-frame"/>
          <p:cNvSpPr/>
          <p:nvPr/>
        </p:nvSpPr>
        <p:spPr>
          <a:xfrm>
            <a:off x="609600" y="4076700"/>
            <a:ext cx="10972800" cy="9525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sub-ask-1-bg"/>
          <p:cNvSpPr/>
          <p:nvPr/>
        </p:nvSpPr>
        <p:spPr>
          <a:xfrm>
            <a:off x="609600" y="4076700"/>
            <a:ext cx="3648075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sub-ask-1-label"/>
          <p:cNvSpPr txBox="1"/>
          <p:nvPr/>
        </p:nvSpPr>
        <p:spPr>
          <a:xfrm>
            <a:off x="781050" y="4210050"/>
            <a:ext cx="33051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TOOLING</a:t>
            </a:r>
          </a:p>
        </p:txBody>
      </p:sp>
      <p:sp>
        <p:nvSpPr>
          <p:cNvPr id="12" name="sub-ask-1-heading"/>
          <p:cNvSpPr txBox="1"/>
          <p:nvPr/>
        </p:nvSpPr>
        <p:spPr>
          <a:xfrm>
            <a:off x="781050" y="4362450"/>
            <a:ext cx="3305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Access for 4 people</a:t>
            </a:r>
          </a:p>
        </p:txBody>
      </p:sp>
      <p:sp>
        <p:nvSpPr>
          <p:cNvPr id="13" name="sub-ask-1-body"/>
          <p:cNvSpPr txBox="1"/>
          <p:nvPr/>
        </p:nvSpPr>
        <p:spPr>
          <a:xfrm>
            <a:off x="781050" y="4572000"/>
            <a:ext cx="3305175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Two leads, two analysts. ~2 hours of onboarding, recorded.</a:t>
            </a:r>
          </a:p>
        </p:txBody>
      </p:sp>
      <p:sp>
        <p:nvSpPr>
          <p:cNvPr id="14" name="sub-ask-2-bg"/>
          <p:cNvSpPr/>
          <p:nvPr/>
        </p:nvSpPr>
        <p:spPr>
          <a:xfrm>
            <a:off x="4267200" y="4076700"/>
            <a:ext cx="3648075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sub-ask-2-label"/>
          <p:cNvSpPr txBox="1"/>
          <p:nvPr/>
        </p:nvSpPr>
        <p:spPr>
          <a:xfrm>
            <a:off x="4438650" y="4210050"/>
            <a:ext cx="33051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TIME</a:t>
            </a:r>
          </a:p>
        </p:txBody>
      </p:sp>
      <p:sp>
        <p:nvSpPr>
          <p:cNvPr id="16" name="sub-ask-2-heading"/>
          <p:cNvSpPr txBox="1"/>
          <p:nvPr/>
        </p:nvSpPr>
        <p:spPr>
          <a:xfrm>
            <a:off x="4438650" y="4362450"/>
            <a:ext cx="3305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90 minutes per deck</a:t>
            </a:r>
          </a:p>
        </p:txBody>
      </p:sp>
      <p:sp>
        <p:nvSpPr>
          <p:cNvPr id="17" name="sub-ask-2-body"/>
          <p:cNvSpPr txBox="1"/>
          <p:nvPr/>
        </p:nvSpPr>
        <p:spPr>
          <a:xfrm>
            <a:off x="4438650" y="4572000"/>
            <a:ext cx="3305175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One coached storyline session before drafting.</a:t>
            </a:r>
          </a:p>
        </p:txBody>
      </p:sp>
      <p:sp>
        <p:nvSpPr>
          <p:cNvPr id="18" name="sub-ask-3-bg"/>
          <p:cNvSpPr/>
          <p:nvPr/>
        </p:nvSpPr>
        <p:spPr>
          <a:xfrm>
            <a:off x="7924800" y="4076700"/>
            <a:ext cx="3648075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sub-ask-3-label"/>
          <p:cNvSpPr txBox="1"/>
          <p:nvPr/>
        </p:nvSpPr>
        <p:spPr>
          <a:xfrm>
            <a:off x="8096250" y="4210050"/>
            <a:ext cx="33051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VISIBILITY</a:t>
            </a:r>
          </a:p>
        </p:txBody>
      </p:sp>
      <p:sp>
        <p:nvSpPr>
          <p:cNvPr id="20" name="sub-ask-3-heading"/>
          <p:cNvSpPr txBox="1"/>
          <p:nvPr/>
        </p:nvSpPr>
        <p:spPr>
          <a:xfrm>
            <a:off x="8096250" y="4362450"/>
            <a:ext cx="3305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Weekly 15-min review</a:t>
            </a:r>
          </a:p>
        </p:txBody>
      </p:sp>
      <p:sp>
        <p:nvSpPr>
          <p:cNvPr id="21" name="sub-ask-3-body"/>
          <p:cNvSpPr txBox="1"/>
          <p:nvPr/>
        </p:nvSpPr>
        <p:spPr>
          <a:xfrm>
            <a:off x="8096250" y="4572000"/>
            <a:ext cx="3305175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Standing slot with the program MD to refine before scaling.</a:t>
            </a:r>
          </a:p>
        </p:txBody>
      </p:sp>
      <p:sp>
        <p:nvSpPr>
          <p:cNvPr id="2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