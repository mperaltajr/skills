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bottom-overlay"/>
          <p:cNvSpPr/>
          <p:nvPr/>
        </p:nvSpPr>
        <p:spPr>
          <a:xfrm>
            <a:off x="0" y="3619500"/>
            <a:ext cx="12192000" cy="3238500"/>
          </a:xfrm>
          <a:prstGeom prst="rect">
            <a:avLst/>
          </a:prstGeom>
          <a:solidFill>
            <a:srgbClr val="08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over-wordmark"/>
          <p:cNvSpPr txBox="1"/>
          <p:nvPr/>
        </p:nvSpPr>
        <p:spPr>
          <a:xfrm>
            <a:off x="10058400" y="2286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ACCENTURE</a:t>
            </a:r>
          </a:p>
        </p:txBody>
      </p:sp>
      <p:sp>
        <p:nvSpPr>
          <p:cNvPr id="5" name="cover-eyebrow"/>
          <p:cNvSpPr txBox="1"/>
          <p:nvPr/>
        </p:nvSpPr>
        <p:spPr>
          <a:xfrm>
            <a:off x="533400" y="43815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E0D0F0"/>
                </a:solidFill>
                <a:latin typeface="Inter"/>
              </a:rPr>
              <a:t>Driving Resilience in a Volatile World</a:t>
            </a:r>
          </a:p>
        </p:txBody>
      </p:sp>
      <p:sp>
        <p:nvSpPr>
          <p:cNvPr id="6" name="cover-deck-title"/>
          <p:cNvSpPr txBox="1"/>
          <p:nvPr/>
        </p:nvSpPr>
        <p:spPr>
          <a:xfrm>
            <a:off x="533400" y="4667250"/>
            <a:ext cx="64770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FFFFFF"/>
                </a:solidFill>
                <a:latin typeface="Inter"/>
              </a:rPr>
              <a:t>The Future of </a:t>
            </a:r>
            <a:r>
              <a:rPr sz="3000" b="1" i="0">
                <a:solidFill>
                  <a:srgbClr val="C780FF"/>
                </a:solidFill>
                <a:latin typeface="Inter"/>
              </a:rPr>
              <a:t>Enterprise</a:t>
            </a:r>
            <a:r>
              <a:rPr sz="3000" b="1" i="0">
                <a:solidFill>
                  <a:srgbClr val="FFFFFF"/>
                </a:solidFill>
                <a:latin typeface="Inter"/>
              </a:rPr>
              <a:t>
Digital Transformation</a:t>
            </a:r>
          </a:p>
        </p:txBody>
      </p:sp>
      <p:sp>
        <p:nvSpPr>
          <p:cNvPr id="7" name="cover-rule"/>
          <p:cNvSpPr/>
          <p:nvPr/>
        </p:nvSpPr>
        <p:spPr>
          <a:xfrm>
            <a:off x="533400" y="5791200"/>
            <a:ext cx="762000" cy="28575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ver-meta"/>
          <p:cNvSpPr txBox="1"/>
          <p:nvPr/>
        </p:nvSpPr>
        <p:spPr>
          <a:xfrm>
            <a:off x="533400" y="59245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090B8"/>
                </a:solidFill>
                <a:latin typeface="Inter"/>
              </a:rPr>
              <a:t>CLIENT NAME · MAY 2026 · CONFIDENTIAL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A090B8"/>
                </a:solidFill>
                <a:latin typeface="Inter"/>
              </a:rPr>
              <a:t>175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