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Four pillars of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operational excellence</a:t>
            </a:r>
            <a:r>
              <a:rPr sz="2400" b="1" i="0">
                <a:solidFill>
                  <a:srgbClr val="1A1A2E"/>
                </a:solidFill>
                <a:latin typeface="Inter"/>
              </a:rPr>
              <a:t> demand equal investment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101346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Each quadrant represents a distinct capability bucket — gaps in any one constrain overall performance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12395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bucket-1-card"/>
          <p:cNvSpPr/>
          <p:nvPr/>
        </p:nvSpPr>
        <p:spPr>
          <a:xfrm>
            <a:off x="457200" y="1905000"/>
            <a:ext cx="5572125" cy="2190750"/>
          </a:xfrm>
          <a:prstGeom prst="rect">
            <a:avLst/>
          </a:prstGeom>
          <a:solidFill>
            <a:srgbClr val="FFFFFF"/>
          </a:solidFill>
          <a:ln w="190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bucket-1-num"/>
          <p:cNvSpPr txBox="1"/>
          <p:nvPr/>
        </p:nvSpPr>
        <p:spPr>
          <a:xfrm>
            <a:off x="666750" y="2038350"/>
            <a:ext cx="5715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01</a:t>
            </a:r>
          </a:p>
        </p:txBody>
      </p:sp>
      <p:sp>
        <p:nvSpPr>
          <p:cNvPr id="7" name="bucket-1-title"/>
          <p:cNvSpPr txBox="1"/>
          <p:nvPr/>
        </p:nvSpPr>
        <p:spPr>
          <a:xfrm>
            <a:off x="666750" y="2343150"/>
            <a:ext cx="515302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Strategy &amp; Governance</a:t>
            </a:r>
          </a:p>
        </p:txBody>
      </p:sp>
      <p:sp>
        <p:nvSpPr>
          <p:cNvPr id="8" name="bucket-1-rule"/>
          <p:cNvSpPr/>
          <p:nvPr/>
        </p:nvSpPr>
        <p:spPr>
          <a:xfrm>
            <a:off x="666750" y="2628900"/>
            <a:ext cx="3429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bucket-1-bullet-1-dot"/>
          <p:cNvSpPr txBox="1"/>
          <p:nvPr/>
        </p:nvSpPr>
        <p:spPr>
          <a:xfrm>
            <a:off x="666750" y="2743200"/>
            <a:ext cx="762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·</a:t>
            </a:r>
          </a:p>
        </p:txBody>
      </p:sp>
      <p:sp>
        <p:nvSpPr>
          <p:cNvPr id="10" name="bucket-1-bullet-1-text"/>
          <p:cNvSpPr txBox="1"/>
          <p:nvPr/>
        </p:nvSpPr>
        <p:spPr>
          <a:xfrm>
            <a:off x="781050" y="2762250"/>
            <a:ext cx="500062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Align executive sponsorship with programme KPIs</a:t>
            </a:r>
          </a:p>
        </p:txBody>
      </p:sp>
      <p:sp>
        <p:nvSpPr>
          <p:cNvPr id="11" name="bucket-1-bullet-2-dot"/>
          <p:cNvSpPr txBox="1"/>
          <p:nvPr/>
        </p:nvSpPr>
        <p:spPr>
          <a:xfrm>
            <a:off x="666750" y="3028950"/>
            <a:ext cx="762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·</a:t>
            </a:r>
          </a:p>
        </p:txBody>
      </p:sp>
      <p:sp>
        <p:nvSpPr>
          <p:cNvPr id="12" name="bucket-1-bullet-2-text"/>
          <p:cNvSpPr txBox="1"/>
          <p:nvPr/>
        </p:nvSpPr>
        <p:spPr>
          <a:xfrm>
            <a:off x="781050" y="3048000"/>
            <a:ext cx="500062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Establish decision-rights matrix across workstreams</a:t>
            </a:r>
          </a:p>
        </p:txBody>
      </p:sp>
      <p:sp>
        <p:nvSpPr>
          <p:cNvPr id="13" name="bucket-1-bullet-3-dot"/>
          <p:cNvSpPr txBox="1"/>
          <p:nvPr/>
        </p:nvSpPr>
        <p:spPr>
          <a:xfrm>
            <a:off x="666750" y="3314700"/>
            <a:ext cx="762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·</a:t>
            </a:r>
          </a:p>
        </p:txBody>
      </p:sp>
      <p:sp>
        <p:nvSpPr>
          <p:cNvPr id="14" name="bucket-1-bullet-3-text"/>
          <p:cNvSpPr txBox="1"/>
          <p:nvPr/>
        </p:nvSpPr>
        <p:spPr>
          <a:xfrm>
            <a:off x="781050" y="3333750"/>
            <a:ext cx="500062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Conduct quarterly strategic fit reviews</a:t>
            </a:r>
          </a:p>
        </p:txBody>
      </p:sp>
      <p:sp>
        <p:nvSpPr>
          <p:cNvPr id="15" name="bucket-1-chip"/>
          <p:cNvSpPr/>
          <p:nvPr/>
        </p:nvSpPr>
        <p:spPr>
          <a:xfrm>
            <a:off x="666750" y="3810000"/>
            <a:ext cx="1828800" cy="1905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bucket-1-chip-text"/>
          <p:cNvSpPr txBox="1"/>
          <p:nvPr/>
        </p:nvSpPr>
        <p:spPr>
          <a:xfrm>
            <a:off x="666750" y="3810000"/>
            <a:ext cx="18288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Maturity target: Level 4</a:t>
            </a:r>
          </a:p>
        </p:txBody>
      </p:sp>
      <p:sp>
        <p:nvSpPr>
          <p:cNvPr id="17" name="bucket-2-card"/>
          <p:cNvSpPr/>
          <p:nvPr/>
        </p:nvSpPr>
        <p:spPr>
          <a:xfrm>
            <a:off x="6162675" y="1905000"/>
            <a:ext cx="5572125" cy="21907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bucket-2-num"/>
          <p:cNvSpPr txBox="1"/>
          <p:nvPr/>
        </p:nvSpPr>
        <p:spPr>
          <a:xfrm>
            <a:off x="6372225" y="2038350"/>
            <a:ext cx="5715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02</a:t>
            </a:r>
          </a:p>
        </p:txBody>
      </p:sp>
      <p:sp>
        <p:nvSpPr>
          <p:cNvPr id="19" name="bucket-2-title"/>
          <p:cNvSpPr txBox="1"/>
          <p:nvPr/>
        </p:nvSpPr>
        <p:spPr>
          <a:xfrm>
            <a:off x="6372225" y="2343150"/>
            <a:ext cx="515302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Talent &amp; Capability</a:t>
            </a:r>
          </a:p>
        </p:txBody>
      </p:sp>
      <p:sp>
        <p:nvSpPr>
          <p:cNvPr id="20" name="bucket-2-rule"/>
          <p:cNvSpPr/>
          <p:nvPr/>
        </p:nvSpPr>
        <p:spPr>
          <a:xfrm>
            <a:off x="6372225" y="2628900"/>
            <a:ext cx="3429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bucket-2-bullet-1-dot"/>
          <p:cNvSpPr txBox="1"/>
          <p:nvPr/>
        </p:nvSpPr>
        <p:spPr>
          <a:xfrm>
            <a:off x="6372225" y="2743200"/>
            <a:ext cx="762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·</a:t>
            </a:r>
          </a:p>
        </p:txBody>
      </p:sp>
      <p:sp>
        <p:nvSpPr>
          <p:cNvPr id="22" name="bucket-2-bullet-1-text"/>
          <p:cNvSpPr txBox="1"/>
          <p:nvPr/>
        </p:nvSpPr>
        <p:spPr>
          <a:xfrm>
            <a:off x="6486525" y="2762250"/>
            <a:ext cx="500062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Map skills gaps against future-state operating model</a:t>
            </a:r>
          </a:p>
        </p:txBody>
      </p:sp>
      <p:sp>
        <p:nvSpPr>
          <p:cNvPr id="23" name="bucket-2-bullet-2-dot"/>
          <p:cNvSpPr txBox="1"/>
          <p:nvPr/>
        </p:nvSpPr>
        <p:spPr>
          <a:xfrm>
            <a:off x="6372225" y="3028950"/>
            <a:ext cx="762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·</a:t>
            </a:r>
          </a:p>
        </p:txBody>
      </p:sp>
      <p:sp>
        <p:nvSpPr>
          <p:cNvPr id="24" name="bucket-2-bullet-2-text"/>
          <p:cNvSpPr txBox="1"/>
          <p:nvPr/>
        </p:nvSpPr>
        <p:spPr>
          <a:xfrm>
            <a:off x="6486525" y="3048000"/>
            <a:ext cx="500062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Deploy targeted upskilling pathways by role cluster</a:t>
            </a:r>
          </a:p>
        </p:txBody>
      </p:sp>
      <p:sp>
        <p:nvSpPr>
          <p:cNvPr id="25" name="bucket-2-bullet-3-dot"/>
          <p:cNvSpPr txBox="1"/>
          <p:nvPr/>
        </p:nvSpPr>
        <p:spPr>
          <a:xfrm>
            <a:off x="6372225" y="3314700"/>
            <a:ext cx="762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·</a:t>
            </a:r>
          </a:p>
        </p:txBody>
      </p:sp>
      <p:sp>
        <p:nvSpPr>
          <p:cNvPr id="26" name="bucket-2-bullet-3-text"/>
          <p:cNvSpPr txBox="1"/>
          <p:nvPr/>
        </p:nvSpPr>
        <p:spPr>
          <a:xfrm>
            <a:off x="6486525" y="3333750"/>
            <a:ext cx="500062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Embed change champions in each business unit</a:t>
            </a:r>
          </a:p>
        </p:txBody>
      </p:sp>
      <p:sp>
        <p:nvSpPr>
          <p:cNvPr id="27" name="bucket-2-chip"/>
          <p:cNvSpPr/>
          <p:nvPr/>
        </p:nvSpPr>
        <p:spPr>
          <a:xfrm>
            <a:off x="6372225" y="3810000"/>
            <a:ext cx="1362075" cy="1905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bucket-2-chip-text"/>
          <p:cNvSpPr txBox="1"/>
          <p:nvPr/>
        </p:nvSpPr>
        <p:spPr>
          <a:xfrm>
            <a:off x="6372225" y="3810000"/>
            <a:ext cx="13620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~340 FTE affected</a:t>
            </a:r>
          </a:p>
        </p:txBody>
      </p:sp>
      <p:sp>
        <p:nvSpPr>
          <p:cNvPr id="29" name="bucket-3-card"/>
          <p:cNvSpPr/>
          <p:nvPr/>
        </p:nvSpPr>
        <p:spPr>
          <a:xfrm>
            <a:off x="457200" y="4229100"/>
            <a:ext cx="5572125" cy="21907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bucket-3-num"/>
          <p:cNvSpPr txBox="1"/>
          <p:nvPr/>
        </p:nvSpPr>
        <p:spPr>
          <a:xfrm>
            <a:off x="666750" y="4362450"/>
            <a:ext cx="5715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03</a:t>
            </a:r>
          </a:p>
        </p:txBody>
      </p:sp>
      <p:sp>
        <p:nvSpPr>
          <p:cNvPr id="31" name="bucket-3-title"/>
          <p:cNvSpPr txBox="1"/>
          <p:nvPr/>
        </p:nvSpPr>
        <p:spPr>
          <a:xfrm>
            <a:off x="666750" y="4667250"/>
            <a:ext cx="515302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Process &amp; Automation</a:t>
            </a:r>
          </a:p>
        </p:txBody>
      </p:sp>
      <p:sp>
        <p:nvSpPr>
          <p:cNvPr id="32" name="bucket-3-rule"/>
          <p:cNvSpPr/>
          <p:nvPr/>
        </p:nvSpPr>
        <p:spPr>
          <a:xfrm>
            <a:off x="666750" y="4953000"/>
            <a:ext cx="3429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bucket-3-bullet-1-dot"/>
          <p:cNvSpPr txBox="1"/>
          <p:nvPr/>
        </p:nvSpPr>
        <p:spPr>
          <a:xfrm>
            <a:off x="666750" y="5067300"/>
            <a:ext cx="762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·</a:t>
            </a:r>
          </a:p>
        </p:txBody>
      </p:sp>
      <p:sp>
        <p:nvSpPr>
          <p:cNvPr id="34" name="bucket-3-bullet-1-text"/>
          <p:cNvSpPr txBox="1"/>
          <p:nvPr/>
        </p:nvSpPr>
        <p:spPr>
          <a:xfrm>
            <a:off x="781050" y="5086350"/>
            <a:ext cx="500062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Prioritise high-volume, rule-based tasks for RPA</a:t>
            </a:r>
          </a:p>
        </p:txBody>
      </p:sp>
      <p:sp>
        <p:nvSpPr>
          <p:cNvPr id="35" name="bucket-3-bullet-2-dot"/>
          <p:cNvSpPr txBox="1"/>
          <p:nvPr/>
        </p:nvSpPr>
        <p:spPr>
          <a:xfrm>
            <a:off x="666750" y="5353050"/>
            <a:ext cx="762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·</a:t>
            </a:r>
          </a:p>
        </p:txBody>
      </p:sp>
      <p:sp>
        <p:nvSpPr>
          <p:cNvPr id="36" name="bucket-3-bullet-2-text"/>
          <p:cNvSpPr txBox="1"/>
          <p:nvPr/>
        </p:nvSpPr>
        <p:spPr>
          <a:xfrm>
            <a:off x="781050" y="5372100"/>
            <a:ext cx="500062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Re-engineer end-to-end flows before automating</a:t>
            </a:r>
          </a:p>
        </p:txBody>
      </p:sp>
      <p:sp>
        <p:nvSpPr>
          <p:cNvPr id="37" name="bucket-3-bullet-3-dot"/>
          <p:cNvSpPr txBox="1"/>
          <p:nvPr/>
        </p:nvSpPr>
        <p:spPr>
          <a:xfrm>
            <a:off x="666750" y="5638800"/>
            <a:ext cx="762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·</a:t>
            </a:r>
          </a:p>
        </p:txBody>
      </p:sp>
      <p:sp>
        <p:nvSpPr>
          <p:cNvPr id="38" name="bucket-3-bullet-3-text"/>
          <p:cNvSpPr txBox="1"/>
          <p:nvPr/>
        </p:nvSpPr>
        <p:spPr>
          <a:xfrm>
            <a:off x="781050" y="5657850"/>
            <a:ext cx="500062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Measure cycle-time reduction at each release gate</a:t>
            </a:r>
          </a:p>
        </p:txBody>
      </p:sp>
      <p:sp>
        <p:nvSpPr>
          <p:cNvPr id="39" name="bucket-3-chip"/>
          <p:cNvSpPr/>
          <p:nvPr/>
        </p:nvSpPr>
        <p:spPr>
          <a:xfrm>
            <a:off x="666750" y="6134100"/>
            <a:ext cx="1828800" cy="1905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bucket-3-chip-text"/>
          <p:cNvSpPr txBox="1"/>
          <p:nvPr/>
        </p:nvSpPr>
        <p:spPr>
          <a:xfrm>
            <a:off x="666750" y="6134100"/>
            <a:ext cx="18288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Est. 30% efficiency gain</a:t>
            </a:r>
          </a:p>
        </p:txBody>
      </p:sp>
      <p:sp>
        <p:nvSpPr>
          <p:cNvPr id="41" name="bucket-4-card"/>
          <p:cNvSpPr/>
          <p:nvPr/>
        </p:nvSpPr>
        <p:spPr>
          <a:xfrm>
            <a:off x="6162675" y="4229100"/>
            <a:ext cx="5572125" cy="21907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bucket-4-num"/>
          <p:cNvSpPr txBox="1"/>
          <p:nvPr/>
        </p:nvSpPr>
        <p:spPr>
          <a:xfrm>
            <a:off x="6372225" y="4362450"/>
            <a:ext cx="5715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04</a:t>
            </a:r>
          </a:p>
        </p:txBody>
      </p:sp>
      <p:sp>
        <p:nvSpPr>
          <p:cNvPr id="43" name="bucket-4-title"/>
          <p:cNvSpPr txBox="1"/>
          <p:nvPr/>
        </p:nvSpPr>
        <p:spPr>
          <a:xfrm>
            <a:off x="6372225" y="4667250"/>
            <a:ext cx="515302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Data &amp; Technology</a:t>
            </a:r>
          </a:p>
        </p:txBody>
      </p:sp>
      <p:sp>
        <p:nvSpPr>
          <p:cNvPr id="44" name="bucket-4-rule"/>
          <p:cNvSpPr/>
          <p:nvPr/>
        </p:nvSpPr>
        <p:spPr>
          <a:xfrm>
            <a:off x="6372225" y="4953000"/>
            <a:ext cx="3429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bucket-4-bullet-1-dot"/>
          <p:cNvSpPr txBox="1"/>
          <p:nvPr/>
        </p:nvSpPr>
        <p:spPr>
          <a:xfrm>
            <a:off x="6372225" y="5067300"/>
            <a:ext cx="762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·</a:t>
            </a:r>
          </a:p>
        </p:txBody>
      </p:sp>
      <p:sp>
        <p:nvSpPr>
          <p:cNvPr id="46" name="bucket-4-bullet-1-text"/>
          <p:cNvSpPr txBox="1"/>
          <p:nvPr/>
        </p:nvSpPr>
        <p:spPr>
          <a:xfrm>
            <a:off x="6486525" y="5086350"/>
            <a:ext cx="500062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Consolidate data sources into a single source of truth</a:t>
            </a:r>
          </a:p>
        </p:txBody>
      </p:sp>
      <p:sp>
        <p:nvSpPr>
          <p:cNvPr id="47" name="bucket-4-bullet-2-dot"/>
          <p:cNvSpPr txBox="1"/>
          <p:nvPr/>
        </p:nvSpPr>
        <p:spPr>
          <a:xfrm>
            <a:off x="6372225" y="5353050"/>
            <a:ext cx="762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·</a:t>
            </a:r>
          </a:p>
        </p:txBody>
      </p:sp>
      <p:sp>
        <p:nvSpPr>
          <p:cNvPr id="48" name="bucket-4-bullet-2-text"/>
          <p:cNvSpPr txBox="1"/>
          <p:nvPr/>
        </p:nvSpPr>
        <p:spPr>
          <a:xfrm>
            <a:off x="6486525" y="5372100"/>
            <a:ext cx="500062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Enforce API-first integration standards across platforms</a:t>
            </a:r>
          </a:p>
        </p:txBody>
      </p:sp>
      <p:sp>
        <p:nvSpPr>
          <p:cNvPr id="49" name="bucket-4-bullet-3-dot"/>
          <p:cNvSpPr txBox="1"/>
          <p:nvPr/>
        </p:nvSpPr>
        <p:spPr>
          <a:xfrm>
            <a:off x="6372225" y="5638800"/>
            <a:ext cx="762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·</a:t>
            </a:r>
          </a:p>
        </p:txBody>
      </p:sp>
      <p:sp>
        <p:nvSpPr>
          <p:cNvPr id="50" name="bucket-4-bullet-3-text"/>
          <p:cNvSpPr txBox="1"/>
          <p:nvPr/>
        </p:nvSpPr>
        <p:spPr>
          <a:xfrm>
            <a:off x="6486525" y="5657850"/>
            <a:ext cx="500062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Build real-time dashboards for operational visibility</a:t>
            </a:r>
          </a:p>
        </p:txBody>
      </p:sp>
      <p:sp>
        <p:nvSpPr>
          <p:cNvPr id="51" name="bucket-4-chip"/>
          <p:cNvSpPr/>
          <p:nvPr/>
        </p:nvSpPr>
        <p:spPr>
          <a:xfrm>
            <a:off x="6372225" y="6134100"/>
            <a:ext cx="1495425" cy="1905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bucket-4-chip-text"/>
          <p:cNvSpPr txBox="1"/>
          <p:nvPr/>
        </p:nvSpPr>
        <p:spPr>
          <a:xfrm>
            <a:off x="6372225" y="6134100"/>
            <a:ext cx="14954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12 systems in scope</a:t>
            </a:r>
          </a:p>
        </p:txBody>
      </p:sp>
      <p:sp>
        <p:nvSpPr>
          <p:cNvPr id="53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54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55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320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