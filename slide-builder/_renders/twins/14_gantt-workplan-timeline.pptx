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Twelve-week pilot — what gets done in each phase.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Setup is plumbing. Pilot is where the value shows. Scale is the decision we earn the right to make.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gantt-phase-spacer"/>
          <p:cNvSpPr/>
          <p:nvPr/>
        </p:nvSpPr>
        <p:spPr>
          <a:xfrm>
            <a:off x="533400" y="2190750"/>
            <a:ext cx="19050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ase-band-1-bg"/>
          <p:cNvSpPr/>
          <p:nvPr/>
        </p:nvSpPr>
        <p:spPr>
          <a:xfrm>
            <a:off x="2438400" y="2190750"/>
            <a:ext cx="30480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hase-band-1-label"/>
          <p:cNvSpPr txBox="1"/>
          <p:nvPr/>
        </p:nvSpPr>
        <p:spPr>
          <a:xfrm>
            <a:off x="2438400" y="21907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1 · SETUP</a:t>
            </a:r>
          </a:p>
        </p:txBody>
      </p:sp>
      <p:sp>
        <p:nvSpPr>
          <p:cNvPr id="8" name="phase-band-2-bg"/>
          <p:cNvSpPr/>
          <p:nvPr/>
        </p:nvSpPr>
        <p:spPr>
          <a:xfrm>
            <a:off x="5486400" y="2190750"/>
            <a:ext cx="30480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hase-band-2-label"/>
          <p:cNvSpPr txBox="1"/>
          <p:nvPr/>
        </p:nvSpPr>
        <p:spPr>
          <a:xfrm>
            <a:off x="5486400" y="21907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2 · PILOT</a:t>
            </a:r>
          </a:p>
        </p:txBody>
      </p:sp>
      <p:sp>
        <p:nvSpPr>
          <p:cNvPr id="10" name="phase-band-3-bg"/>
          <p:cNvSpPr/>
          <p:nvPr/>
        </p:nvSpPr>
        <p:spPr>
          <a:xfrm>
            <a:off x="8534400" y="2190750"/>
            <a:ext cx="30480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hase-band-3-label"/>
          <p:cNvSpPr txBox="1"/>
          <p:nvPr/>
        </p:nvSpPr>
        <p:spPr>
          <a:xfrm>
            <a:off x="8534400" y="21907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 3 · SCALE</a:t>
            </a:r>
          </a:p>
        </p:txBody>
      </p:sp>
      <p:sp>
        <p:nvSpPr>
          <p:cNvPr id="12" name="timeline-row-header-bg"/>
          <p:cNvSpPr/>
          <p:nvPr/>
        </p:nvSpPr>
        <p:spPr>
          <a:xfrm>
            <a:off x="533400" y="2400300"/>
            <a:ext cx="1905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imeline-row-header"/>
          <p:cNvSpPr txBox="1"/>
          <p:nvPr/>
        </p:nvSpPr>
        <p:spPr>
          <a:xfrm>
            <a:off x="647700" y="2400300"/>
            <a:ext cx="1714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WORKSTREAM</a:t>
            </a:r>
          </a:p>
        </p:txBody>
      </p:sp>
      <p:sp>
        <p:nvSpPr>
          <p:cNvPr id="14" name="timeline-tick-1-bg"/>
          <p:cNvSpPr/>
          <p:nvPr/>
        </p:nvSpPr>
        <p:spPr>
          <a:xfrm>
            <a:off x="2438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imeline-tick-1-label"/>
          <p:cNvSpPr txBox="1"/>
          <p:nvPr/>
        </p:nvSpPr>
        <p:spPr>
          <a:xfrm>
            <a:off x="2438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W1</a:t>
            </a:r>
          </a:p>
        </p:txBody>
      </p:sp>
      <p:sp>
        <p:nvSpPr>
          <p:cNvPr id="16" name="timeline-tick-2-bg"/>
          <p:cNvSpPr/>
          <p:nvPr/>
        </p:nvSpPr>
        <p:spPr>
          <a:xfrm>
            <a:off x="3200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imeline-tick-2-label"/>
          <p:cNvSpPr txBox="1"/>
          <p:nvPr/>
        </p:nvSpPr>
        <p:spPr>
          <a:xfrm>
            <a:off x="3200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W2</a:t>
            </a:r>
          </a:p>
        </p:txBody>
      </p:sp>
      <p:sp>
        <p:nvSpPr>
          <p:cNvPr id="18" name="timeline-tick-3-bg"/>
          <p:cNvSpPr/>
          <p:nvPr/>
        </p:nvSpPr>
        <p:spPr>
          <a:xfrm>
            <a:off x="3962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imeline-tick-3-label"/>
          <p:cNvSpPr txBox="1"/>
          <p:nvPr/>
        </p:nvSpPr>
        <p:spPr>
          <a:xfrm>
            <a:off x="3962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W3</a:t>
            </a:r>
          </a:p>
        </p:txBody>
      </p:sp>
      <p:sp>
        <p:nvSpPr>
          <p:cNvPr id="20" name="timeline-tick-4-bg"/>
          <p:cNvSpPr/>
          <p:nvPr/>
        </p:nvSpPr>
        <p:spPr>
          <a:xfrm>
            <a:off x="4724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imeline-tick-4-label"/>
          <p:cNvSpPr txBox="1"/>
          <p:nvPr/>
        </p:nvSpPr>
        <p:spPr>
          <a:xfrm>
            <a:off x="4724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W4</a:t>
            </a:r>
          </a:p>
        </p:txBody>
      </p:sp>
      <p:sp>
        <p:nvSpPr>
          <p:cNvPr id="22" name="timeline-tick-5-bg"/>
          <p:cNvSpPr/>
          <p:nvPr/>
        </p:nvSpPr>
        <p:spPr>
          <a:xfrm>
            <a:off x="5486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imeline-tick-5-label"/>
          <p:cNvSpPr txBox="1"/>
          <p:nvPr/>
        </p:nvSpPr>
        <p:spPr>
          <a:xfrm>
            <a:off x="5486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W5</a:t>
            </a:r>
          </a:p>
        </p:txBody>
      </p:sp>
      <p:sp>
        <p:nvSpPr>
          <p:cNvPr id="24" name="timeline-tick-6-bg"/>
          <p:cNvSpPr/>
          <p:nvPr/>
        </p:nvSpPr>
        <p:spPr>
          <a:xfrm>
            <a:off x="6248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imeline-tick-6-label"/>
          <p:cNvSpPr txBox="1"/>
          <p:nvPr/>
        </p:nvSpPr>
        <p:spPr>
          <a:xfrm>
            <a:off x="6248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W6</a:t>
            </a:r>
          </a:p>
        </p:txBody>
      </p:sp>
      <p:sp>
        <p:nvSpPr>
          <p:cNvPr id="26" name="timeline-tick-7-bg"/>
          <p:cNvSpPr/>
          <p:nvPr/>
        </p:nvSpPr>
        <p:spPr>
          <a:xfrm>
            <a:off x="7010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imeline-tick-7-label"/>
          <p:cNvSpPr txBox="1"/>
          <p:nvPr/>
        </p:nvSpPr>
        <p:spPr>
          <a:xfrm>
            <a:off x="7010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W7</a:t>
            </a:r>
          </a:p>
        </p:txBody>
      </p:sp>
      <p:sp>
        <p:nvSpPr>
          <p:cNvPr id="28" name="timeline-tick-8-bg"/>
          <p:cNvSpPr/>
          <p:nvPr/>
        </p:nvSpPr>
        <p:spPr>
          <a:xfrm>
            <a:off x="7772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imeline-tick-8-label"/>
          <p:cNvSpPr txBox="1"/>
          <p:nvPr/>
        </p:nvSpPr>
        <p:spPr>
          <a:xfrm>
            <a:off x="7772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W8</a:t>
            </a:r>
          </a:p>
        </p:txBody>
      </p:sp>
      <p:sp>
        <p:nvSpPr>
          <p:cNvPr id="30" name="timeline-tick-9-bg"/>
          <p:cNvSpPr/>
          <p:nvPr/>
        </p:nvSpPr>
        <p:spPr>
          <a:xfrm>
            <a:off x="8534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imeline-tick-9-label"/>
          <p:cNvSpPr txBox="1"/>
          <p:nvPr/>
        </p:nvSpPr>
        <p:spPr>
          <a:xfrm>
            <a:off x="8534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W9</a:t>
            </a:r>
          </a:p>
        </p:txBody>
      </p:sp>
      <p:sp>
        <p:nvSpPr>
          <p:cNvPr id="32" name="timeline-tick-10-bg"/>
          <p:cNvSpPr/>
          <p:nvPr/>
        </p:nvSpPr>
        <p:spPr>
          <a:xfrm>
            <a:off x="9296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imeline-tick-10-label"/>
          <p:cNvSpPr txBox="1"/>
          <p:nvPr/>
        </p:nvSpPr>
        <p:spPr>
          <a:xfrm>
            <a:off x="9296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W10</a:t>
            </a:r>
          </a:p>
        </p:txBody>
      </p:sp>
      <p:sp>
        <p:nvSpPr>
          <p:cNvPr id="34" name="timeline-tick-11-bg"/>
          <p:cNvSpPr/>
          <p:nvPr/>
        </p:nvSpPr>
        <p:spPr>
          <a:xfrm>
            <a:off x="10058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imeline-tick-11-label"/>
          <p:cNvSpPr txBox="1"/>
          <p:nvPr/>
        </p:nvSpPr>
        <p:spPr>
          <a:xfrm>
            <a:off x="10058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W11</a:t>
            </a:r>
          </a:p>
        </p:txBody>
      </p:sp>
      <p:sp>
        <p:nvSpPr>
          <p:cNvPr id="36" name="timeline-tick-12-bg"/>
          <p:cNvSpPr/>
          <p:nvPr/>
        </p:nvSpPr>
        <p:spPr>
          <a:xfrm>
            <a:off x="10820400" y="2400300"/>
            <a:ext cx="762000" cy="2476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imeline-tick-12-label"/>
          <p:cNvSpPr txBox="1"/>
          <p:nvPr/>
        </p:nvSpPr>
        <p:spPr>
          <a:xfrm>
            <a:off x="10820400" y="24003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W12</a:t>
            </a:r>
          </a:p>
        </p:txBody>
      </p:sp>
      <p:sp>
        <p:nvSpPr>
          <p:cNvPr id="38" name="task-1-label-bg"/>
          <p:cNvSpPr/>
          <p:nvPr/>
        </p:nvSpPr>
        <p:spPr>
          <a:xfrm>
            <a:off x="533400" y="26479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sk-1-label"/>
          <p:cNvSpPr txBox="1"/>
          <p:nvPr/>
        </p:nvSpPr>
        <p:spPr>
          <a:xfrm>
            <a:off x="647700" y="2647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Stakeholder alignment</a:t>
            </a:r>
          </a:p>
        </p:txBody>
      </p:sp>
      <p:sp>
        <p:nvSpPr>
          <p:cNvPr id="40" name="task-1-bar"/>
          <p:cNvSpPr/>
          <p:nvPr/>
        </p:nvSpPr>
        <p:spPr>
          <a:xfrm>
            <a:off x="2476500" y="2705100"/>
            <a:ext cx="1447800" cy="152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sk-1-bar-text"/>
          <p:cNvSpPr txBox="1"/>
          <p:nvPr/>
        </p:nvSpPr>
        <p:spPr>
          <a:xfrm>
            <a:off x="2476500" y="2705100"/>
            <a:ext cx="1447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W1–W2</a:t>
            </a:r>
          </a:p>
        </p:txBody>
      </p:sp>
      <p:sp>
        <p:nvSpPr>
          <p:cNvPr id="42" name="task-2-label-bg"/>
          <p:cNvSpPr/>
          <p:nvPr/>
        </p:nvSpPr>
        <p:spPr>
          <a:xfrm>
            <a:off x="533400" y="29146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sk-2-label"/>
          <p:cNvSpPr txBox="1"/>
          <p:nvPr/>
        </p:nvSpPr>
        <p:spPr>
          <a:xfrm>
            <a:off x="647700" y="29146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Tool access provisioning</a:t>
            </a:r>
          </a:p>
        </p:txBody>
      </p:sp>
      <p:sp>
        <p:nvSpPr>
          <p:cNvPr id="44" name="task-2-bar"/>
          <p:cNvSpPr/>
          <p:nvPr/>
        </p:nvSpPr>
        <p:spPr>
          <a:xfrm>
            <a:off x="2476500" y="2971800"/>
            <a:ext cx="1447800" cy="152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ask-2-bar-text"/>
          <p:cNvSpPr txBox="1"/>
          <p:nvPr/>
        </p:nvSpPr>
        <p:spPr>
          <a:xfrm>
            <a:off x="2476500" y="2971800"/>
            <a:ext cx="1447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W1–W2</a:t>
            </a:r>
          </a:p>
        </p:txBody>
      </p:sp>
      <p:sp>
        <p:nvSpPr>
          <p:cNvPr id="46" name="task-3-label-bg"/>
          <p:cNvSpPr/>
          <p:nvPr/>
        </p:nvSpPr>
        <p:spPr>
          <a:xfrm>
            <a:off x="533400" y="31813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ask-3-label"/>
          <p:cNvSpPr txBox="1"/>
          <p:nvPr/>
        </p:nvSpPr>
        <p:spPr>
          <a:xfrm>
            <a:off x="647700" y="31813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Onboarding sessions</a:t>
            </a:r>
          </a:p>
        </p:txBody>
      </p:sp>
      <p:sp>
        <p:nvSpPr>
          <p:cNvPr id="48" name="task-3-bar"/>
          <p:cNvSpPr/>
          <p:nvPr/>
        </p:nvSpPr>
        <p:spPr>
          <a:xfrm>
            <a:off x="4000500" y="3238500"/>
            <a:ext cx="1447800" cy="152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sk-3-bar-text"/>
          <p:cNvSpPr txBox="1"/>
          <p:nvPr/>
        </p:nvSpPr>
        <p:spPr>
          <a:xfrm>
            <a:off x="4000500" y="3238500"/>
            <a:ext cx="1447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W3–W4</a:t>
            </a:r>
          </a:p>
        </p:txBody>
      </p:sp>
      <p:sp>
        <p:nvSpPr>
          <p:cNvPr id="50" name="task-4-label-bg"/>
          <p:cNvSpPr/>
          <p:nvPr/>
        </p:nvSpPr>
        <p:spPr>
          <a:xfrm>
            <a:off x="533400" y="34480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sk-4-label"/>
          <p:cNvSpPr txBox="1"/>
          <p:nvPr/>
        </p:nvSpPr>
        <p:spPr>
          <a:xfrm>
            <a:off x="647700" y="34480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First pilot decks</a:t>
            </a:r>
          </a:p>
        </p:txBody>
      </p:sp>
      <p:sp>
        <p:nvSpPr>
          <p:cNvPr id="52" name="task-4-bar"/>
          <p:cNvSpPr/>
          <p:nvPr/>
        </p:nvSpPr>
        <p:spPr>
          <a:xfrm>
            <a:off x="5524500" y="3505200"/>
            <a:ext cx="22098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sk-4-bar-text"/>
          <p:cNvSpPr txBox="1"/>
          <p:nvPr/>
        </p:nvSpPr>
        <p:spPr>
          <a:xfrm>
            <a:off x="5524500" y="3505200"/>
            <a:ext cx="2209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W5–W7 · in flight</a:t>
            </a:r>
          </a:p>
        </p:txBody>
      </p:sp>
      <p:sp>
        <p:nvSpPr>
          <p:cNvPr id="54" name="task-5-label-bg"/>
          <p:cNvSpPr/>
          <p:nvPr/>
        </p:nvSpPr>
        <p:spPr>
          <a:xfrm>
            <a:off x="533400" y="37147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sk-5-label"/>
          <p:cNvSpPr txBox="1"/>
          <p:nvPr/>
        </p:nvSpPr>
        <p:spPr>
          <a:xfrm>
            <a:off x="647700" y="37147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Mid-pilot review</a:t>
            </a:r>
          </a:p>
        </p:txBody>
      </p:sp>
      <p:sp>
        <p:nvSpPr>
          <p:cNvPr id="56" name="milestone-1"/>
          <p:cNvSpPr/>
          <p:nvPr/>
        </p:nvSpPr>
        <p:spPr>
          <a:xfrm>
            <a:off x="6562725" y="3781425"/>
            <a:ext cx="133350" cy="133350"/>
          </a:xfrm>
          <a:prstGeom prst="diamond">
            <a:avLst/>
          </a:prstGeom>
          <a:solidFill>
            <a:srgbClr val="A1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sk-6-label-bg"/>
          <p:cNvSpPr/>
          <p:nvPr/>
        </p:nvSpPr>
        <p:spPr>
          <a:xfrm>
            <a:off x="533400" y="39814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sk-6-label"/>
          <p:cNvSpPr txBox="1"/>
          <p:nvPr/>
        </p:nvSpPr>
        <p:spPr>
          <a:xfrm>
            <a:off x="647700" y="39814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Refinement</a:t>
            </a:r>
          </a:p>
        </p:txBody>
      </p:sp>
      <p:sp>
        <p:nvSpPr>
          <p:cNvPr id="59" name="task-6-bar"/>
          <p:cNvSpPr/>
          <p:nvPr/>
        </p:nvSpPr>
        <p:spPr>
          <a:xfrm>
            <a:off x="7048500" y="4038600"/>
            <a:ext cx="22098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ask-6-bar-text"/>
          <p:cNvSpPr txBox="1"/>
          <p:nvPr/>
        </p:nvSpPr>
        <p:spPr>
          <a:xfrm>
            <a:off x="7048500" y="4038600"/>
            <a:ext cx="2209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W7–W9</a:t>
            </a:r>
          </a:p>
        </p:txBody>
      </p:sp>
      <p:sp>
        <p:nvSpPr>
          <p:cNvPr id="61" name="task-7-label-bg"/>
          <p:cNvSpPr/>
          <p:nvPr/>
        </p:nvSpPr>
        <p:spPr>
          <a:xfrm>
            <a:off x="533400" y="42481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sk-7-label"/>
          <p:cNvSpPr txBox="1"/>
          <p:nvPr/>
        </p:nvSpPr>
        <p:spPr>
          <a:xfrm>
            <a:off x="647700" y="42481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Scaling readiness check</a:t>
            </a:r>
          </a:p>
        </p:txBody>
      </p:sp>
      <p:sp>
        <p:nvSpPr>
          <p:cNvPr id="63" name="milestone-2"/>
          <p:cNvSpPr/>
          <p:nvPr/>
        </p:nvSpPr>
        <p:spPr>
          <a:xfrm>
            <a:off x="9610725" y="4314825"/>
            <a:ext cx="133350" cy="133350"/>
          </a:xfrm>
          <a:prstGeom prst="diamond">
            <a:avLst/>
          </a:prstGeom>
          <a:solidFill>
            <a:srgbClr val="A1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sk-8-label-bg"/>
          <p:cNvSpPr/>
          <p:nvPr/>
        </p:nvSpPr>
        <p:spPr>
          <a:xfrm>
            <a:off x="533400" y="4514850"/>
            <a:ext cx="1905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sk-8-label"/>
          <p:cNvSpPr txBox="1"/>
          <p:nvPr/>
        </p:nvSpPr>
        <p:spPr>
          <a:xfrm>
            <a:off x="647700" y="45148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Q3 rollout decision</a:t>
            </a:r>
          </a:p>
        </p:txBody>
      </p:sp>
      <p:sp>
        <p:nvSpPr>
          <p:cNvPr id="66" name="milestone-3"/>
          <p:cNvSpPr/>
          <p:nvPr/>
        </p:nvSpPr>
        <p:spPr>
          <a:xfrm>
            <a:off x="11134725" y="4581525"/>
            <a:ext cx="133350" cy="133350"/>
          </a:xfrm>
          <a:prstGeom prst="diamond">
            <a:avLst/>
          </a:prstGeom>
          <a:solidFill>
            <a:srgbClr val="A10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gantt-vgrid-1"/>
          <p:cNvSpPr/>
          <p:nvPr/>
        </p:nvSpPr>
        <p:spPr>
          <a:xfrm>
            <a:off x="3200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gantt-vgrid-2"/>
          <p:cNvSpPr/>
          <p:nvPr/>
        </p:nvSpPr>
        <p:spPr>
          <a:xfrm>
            <a:off x="3962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gantt-vgrid-3"/>
          <p:cNvSpPr/>
          <p:nvPr/>
        </p:nvSpPr>
        <p:spPr>
          <a:xfrm>
            <a:off x="4724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gantt-vgrid-4"/>
          <p:cNvSpPr/>
          <p:nvPr/>
        </p:nvSpPr>
        <p:spPr>
          <a:xfrm>
            <a:off x="5486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gantt-vgrid-5"/>
          <p:cNvSpPr/>
          <p:nvPr/>
        </p:nvSpPr>
        <p:spPr>
          <a:xfrm>
            <a:off x="6248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gantt-vgrid-6"/>
          <p:cNvSpPr/>
          <p:nvPr/>
        </p:nvSpPr>
        <p:spPr>
          <a:xfrm>
            <a:off x="7010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gantt-vgrid-7"/>
          <p:cNvSpPr/>
          <p:nvPr/>
        </p:nvSpPr>
        <p:spPr>
          <a:xfrm>
            <a:off x="7772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gantt-vgrid-8"/>
          <p:cNvSpPr/>
          <p:nvPr/>
        </p:nvSpPr>
        <p:spPr>
          <a:xfrm>
            <a:off x="8534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gantt-vgrid-9"/>
          <p:cNvSpPr/>
          <p:nvPr/>
        </p:nvSpPr>
        <p:spPr>
          <a:xfrm>
            <a:off x="9296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gantt-vgrid-10"/>
          <p:cNvSpPr/>
          <p:nvPr/>
        </p:nvSpPr>
        <p:spPr>
          <a:xfrm>
            <a:off x="10058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gantt-vgrid-11"/>
          <p:cNvSpPr/>
          <p:nvPr/>
        </p:nvSpPr>
        <p:spPr>
          <a:xfrm>
            <a:off x="10820400" y="2647950"/>
            <a:ext cx="9525" cy="2133600"/>
          </a:xfrm>
          <a:prstGeom prst="rect">
            <a:avLst/>
          </a:prstGeom>
          <a:solidFill>
            <a:srgbClr val="F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legend-1-swatch"/>
          <p:cNvSpPr/>
          <p:nvPr/>
        </p:nvSpPr>
        <p:spPr>
          <a:xfrm>
            <a:off x="8782050" y="1885950"/>
            <a:ext cx="1524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legend-1-label"/>
          <p:cNvSpPr txBox="1"/>
          <p:nvPr/>
        </p:nvSpPr>
        <p:spPr>
          <a:xfrm>
            <a:off x="8991600" y="185737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Completed</a:t>
            </a:r>
          </a:p>
        </p:txBody>
      </p:sp>
      <p:sp>
        <p:nvSpPr>
          <p:cNvPr id="80" name="legend-2-swatch"/>
          <p:cNvSpPr/>
          <p:nvPr/>
        </p:nvSpPr>
        <p:spPr>
          <a:xfrm>
            <a:off x="9848850" y="1885950"/>
            <a:ext cx="15240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legend-2-label"/>
          <p:cNvSpPr txBox="1"/>
          <p:nvPr/>
        </p:nvSpPr>
        <p:spPr>
          <a:xfrm>
            <a:off x="10058400" y="1857375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 progress</a:t>
            </a:r>
          </a:p>
        </p:txBody>
      </p:sp>
      <p:sp>
        <p:nvSpPr>
          <p:cNvPr id="82" name="legend-3-swatch"/>
          <p:cNvSpPr/>
          <p:nvPr/>
        </p:nvSpPr>
        <p:spPr>
          <a:xfrm>
            <a:off x="11010900" y="1885950"/>
            <a:ext cx="15240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legend-3-label"/>
          <p:cNvSpPr txBox="1"/>
          <p:nvPr/>
        </p:nvSpPr>
        <p:spPr>
          <a:xfrm>
            <a:off x="11220450" y="18573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Milestone</a:t>
            </a:r>
          </a:p>
        </p:txBody>
      </p:sp>
      <p:sp>
        <p:nvSpPr>
          <p:cNvPr id="84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Milestones are decision points, not check-ins — each one earns the right to continue.</a:t>
            </a:r>
          </a:p>
        </p:txBody>
      </p:sp>
      <p:sp>
        <p:nvSpPr>
          <p:cNvPr id="8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