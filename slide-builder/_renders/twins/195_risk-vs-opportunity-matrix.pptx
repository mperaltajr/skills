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09600" y="266700"/>
            <a:ext cx="9525000" cy="6858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b">
            <a:spAutoFit/>
          </a:bodyPr>
          <a:lstStyle/>
          <a:p>
            <a:pPr algn="l">
              <a:defRPr/>
            </a:pPr>
            <a:r>
              <a:rPr sz="2400" b="1" i="0">
                <a:solidFill>
                  <a:srgbClr val="1A1A2E"/>
                </a:solidFill>
                <a:latin typeface="Inter"/>
              </a:rPr>
              <a:t>Opportunity </a:t>
            </a:r>
            <a:r>
              <a:rPr sz="2400" b="1" i="0">
                <a:solidFill>
                  <a:srgbClr val="2D0A4E"/>
                </a:solidFill>
                <a:latin typeface="Inter"/>
              </a:rPr>
              <a:t>outweighs</a:t>
            </a:r>
            <a:r>
              <a:rPr sz="2400" b="1" i="0">
                <a:solidFill>
                  <a:srgbClr val="1A1A2E"/>
                </a:solidFill>
                <a:latin typeface="Inter"/>
              </a:rPr>
              <a:t> risk — with the right mitigations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609600" y="666750"/>
            <a:ext cx="83820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64748B"/>
                </a:solidFill>
                <a:latin typeface="Inter"/>
              </a:rPr>
              <a:t>Risk vs. Opportunity Matrix · Strategic initiative assessment</a:t>
            </a:r>
          </a:p>
        </p:txBody>
      </p:sp>
      <p:sp>
        <p:nvSpPr>
          <p:cNvPr id="4" name="brand-rule"/>
          <p:cNvSpPr/>
          <p:nvPr/>
        </p:nvSpPr>
        <p:spPr>
          <a:xfrm>
            <a:off x="609600" y="876300"/>
            <a:ext cx="609600" cy="28575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" name="panel-1-bg"/>
          <p:cNvSpPr/>
          <p:nvPr/>
        </p:nvSpPr>
        <p:spPr>
          <a:xfrm>
            <a:off x="609600" y="1600200"/>
            <a:ext cx="5257800" cy="3733800"/>
          </a:xfrm>
          <a:prstGeom prst="rect">
            <a:avLst/>
          </a:prstGeom>
          <a:solidFill>
            <a:srgbClr val="FEF2F2"/>
          </a:solidFill>
          <a:ln w="9525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" name="panel-1-header-bg"/>
          <p:cNvSpPr/>
          <p:nvPr/>
        </p:nvSpPr>
        <p:spPr>
          <a:xfrm>
            <a:off x="609600" y="1600200"/>
            <a:ext cx="5257800" cy="3429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" name="panel-1-icon"/>
          <p:cNvSpPr txBox="1"/>
          <p:nvPr/>
        </p:nvSpPr>
        <p:spPr>
          <a:xfrm>
            <a:off x="723900" y="1676400"/>
            <a:ext cx="190500" cy="190500"/>
          </a:xfrm>
          <a:prstGeom prst="rect">
            <a:avLst/>
          </a:prstGeom>
          <a:noFill/>
          <a:ln>
            <a:noFill/>
          </a:ln>
        </p:spPr>
        <p:txBody>
          <a:bodyPr wrap="none" tIns="0" bIns="0" lIns="0" rIns="0" anchor="ctr">
            <a:spAutoFit/>
          </a:bodyPr>
          <a:lstStyle/>
          <a:p>
            <a:pPr algn="ctr">
              <a:defRPr/>
            </a:pPr>
            <a:r>
              <a:rPr sz="1275">
                <a:solidFill>
                  <a:srgbClr val="FFFFFF"/>
                </a:solidFill>
                <a:latin typeface="Segoe UI Symbol"/>
              </a:rPr>
              <a:t>⚠</a:t>
            </a:r>
          </a:p>
        </p:txBody>
      </p:sp>
      <p:sp>
        <p:nvSpPr>
          <p:cNvPr id="8" name="panel-1-header"/>
          <p:cNvSpPr txBox="1"/>
          <p:nvPr/>
        </p:nvSpPr>
        <p:spPr>
          <a:xfrm>
            <a:off x="990600" y="1695450"/>
            <a:ext cx="46863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RISKS</a:t>
            </a:r>
          </a:p>
        </p:txBody>
      </p:sp>
      <p:sp>
        <p:nvSpPr>
          <p:cNvPr id="9" name="risk-1-bg"/>
          <p:cNvSpPr/>
          <p:nvPr/>
        </p:nvSpPr>
        <p:spPr>
          <a:xfrm>
            <a:off x="723900" y="2076450"/>
            <a:ext cx="5029200" cy="7143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0" name="risk-1-accent"/>
          <p:cNvSpPr/>
          <p:nvPr/>
        </p:nvSpPr>
        <p:spPr>
          <a:xfrm>
            <a:off x="723900" y="2076450"/>
            <a:ext cx="28575" cy="714375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1" name="risk-1-badge"/>
          <p:cNvSpPr txBox="1"/>
          <p:nvPr/>
        </p:nvSpPr>
        <p:spPr>
          <a:xfrm>
            <a:off x="838200" y="2152650"/>
            <a:ext cx="666750" cy="13335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 wrap="square" tIns="19050" rIns="38100" bIns="19050" lIns="3810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CRITICAL</a:t>
            </a:r>
          </a:p>
        </p:txBody>
      </p:sp>
      <p:sp>
        <p:nvSpPr>
          <p:cNvPr id="12" name="risk-1-desc"/>
          <p:cNvSpPr txBox="1"/>
          <p:nvPr/>
        </p:nvSpPr>
        <p:spPr>
          <a:xfrm>
            <a:off x="1562100" y="2152650"/>
            <a:ext cx="41148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Regulatory non-compliance in target markets</a:t>
            </a:r>
          </a:p>
        </p:txBody>
      </p:sp>
      <p:sp>
        <p:nvSpPr>
          <p:cNvPr id="13" name="risk-1-note"/>
          <p:cNvSpPr txBox="1"/>
          <p:nvPr/>
        </p:nvSpPr>
        <p:spPr>
          <a:xfrm>
            <a:off x="838200" y="2362200"/>
            <a:ext cx="4876800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4A3B8"/>
                </a:solidFill>
                <a:latin typeface="Inter"/>
              </a:rPr>
              <a:t>Mitigation: engage legal counsel Q1; complete gap analysis before go-live</a:t>
            </a:r>
          </a:p>
        </p:txBody>
      </p:sp>
      <p:sp>
        <p:nvSpPr>
          <p:cNvPr id="14" name="risk-2-bg"/>
          <p:cNvSpPr/>
          <p:nvPr/>
        </p:nvSpPr>
        <p:spPr>
          <a:xfrm>
            <a:off x="723900" y="2867025"/>
            <a:ext cx="5029200" cy="7143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5" name="risk-2-accent"/>
          <p:cNvSpPr/>
          <p:nvPr/>
        </p:nvSpPr>
        <p:spPr>
          <a:xfrm>
            <a:off x="723900" y="2867025"/>
            <a:ext cx="28575" cy="714375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6" name="risk-2-badge"/>
          <p:cNvSpPr txBox="1"/>
          <p:nvPr/>
        </p:nvSpPr>
        <p:spPr>
          <a:xfrm>
            <a:off x="838200" y="2943225"/>
            <a:ext cx="666750" cy="13335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txBody>
          <a:bodyPr wrap="square" tIns="19050" rIns="38100" bIns="19050" lIns="3810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HIGH</a:t>
            </a:r>
          </a:p>
        </p:txBody>
      </p:sp>
      <p:sp>
        <p:nvSpPr>
          <p:cNvPr id="17" name="risk-2-desc"/>
          <p:cNvSpPr txBox="1"/>
          <p:nvPr/>
        </p:nvSpPr>
        <p:spPr>
          <a:xfrm>
            <a:off x="1562100" y="2943225"/>
            <a:ext cx="41148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Key talent attrition during transition period</a:t>
            </a:r>
          </a:p>
        </p:txBody>
      </p:sp>
      <p:sp>
        <p:nvSpPr>
          <p:cNvPr id="18" name="risk-2-note"/>
          <p:cNvSpPr txBox="1"/>
          <p:nvPr/>
        </p:nvSpPr>
        <p:spPr>
          <a:xfrm>
            <a:off x="838200" y="3152775"/>
            <a:ext cx="4876800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4A3B8"/>
                </a:solidFill>
                <a:latin typeface="Inter"/>
              </a:rPr>
              <a:t>Mitigation: retention bonuses + accelerated role clarity by month 2</a:t>
            </a:r>
          </a:p>
        </p:txBody>
      </p:sp>
      <p:sp>
        <p:nvSpPr>
          <p:cNvPr id="19" name="risk-3-bg"/>
          <p:cNvSpPr/>
          <p:nvPr/>
        </p:nvSpPr>
        <p:spPr>
          <a:xfrm>
            <a:off x="723900" y="3657600"/>
            <a:ext cx="5029200" cy="7143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0" name="risk-3-accent"/>
          <p:cNvSpPr/>
          <p:nvPr/>
        </p:nvSpPr>
        <p:spPr>
          <a:xfrm>
            <a:off x="723900" y="3657600"/>
            <a:ext cx="28575" cy="714375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1" name="risk-3-badge"/>
          <p:cNvSpPr txBox="1"/>
          <p:nvPr/>
        </p:nvSpPr>
        <p:spPr>
          <a:xfrm>
            <a:off x="838200" y="3733800"/>
            <a:ext cx="666750" cy="13335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txBody>
          <a:bodyPr wrap="square" tIns="19050" rIns="38100" bIns="19050" lIns="3810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HIGH</a:t>
            </a:r>
          </a:p>
        </p:txBody>
      </p:sp>
      <p:sp>
        <p:nvSpPr>
          <p:cNvPr id="22" name="risk-3-desc"/>
          <p:cNvSpPr txBox="1"/>
          <p:nvPr/>
        </p:nvSpPr>
        <p:spPr>
          <a:xfrm>
            <a:off x="1562100" y="3733800"/>
            <a:ext cx="41148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Data migration integrity and system downtime</a:t>
            </a:r>
          </a:p>
        </p:txBody>
      </p:sp>
      <p:sp>
        <p:nvSpPr>
          <p:cNvPr id="23" name="risk-3-note"/>
          <p:cNvSpPr txBox="1"/>
          <p:nvPr/>
        </p:nvSpPr>
        <p:spPr>
          <a:xfrm>
            <a:off x="838200" y="3943350"/>
            <a:ext cx="4876800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4A3B8"/>
                </a:solidFill>
                <a:latin typeface="Inter"/>
              </a:rPr>
              <a:t>Mitigation: parallel-run legacy systems for 60 days; automated reconciliation</a:t>
            </a:r>
          </a:p>
        </p:txBody>
      </p:sp>
      <p:sp>
        <p:nvSpPr>
          <p:cNvPr id="24" name="risk-4-bg"/>
          <p:cNvSpPr/>
          <p:nvPr/>
        </p:nvSpPr>
        <p:spPr>
          <a:xfrm>
            <a:off x="723900" y="4448175"/>
            <a:ext cx="5029200" cy="7143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5" name="risk-4-accent"/>
          <p:cNvSpPr/>
          <p:nvPr/>
        </p:nvSpPr>
        <p:spPr>
          <a:xfrm>
            <a:off x="723900" y="4448175"/>
            <a:ext cx="28575" cy="714375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6" name="risk-4-badge"/>
          <p:cNvSpPr txBox="1"/>
          <p:nvPr/>
        </p:nvSpPr>
        <p:spPr>
          <a:xfrm>
            <a:off x="838200" y="4524375"/>
            <a:ext cx="666750" cy="133350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txBody>
          <a:bodyPr wrap="square" tIns="19050" rIns="38100" bIns="19050" lIns="3810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MEDIUM</a:t>
            </a:r>
          </a:p>
        </p:txBody>
      </p:sp>
      <p:sp>
        <p:nvSpPr>
          <p:cNvPr id="27" name="risk-4-desc"/>
          <p:cNvSpPr txBox="1"/>
          <p:nvPr/>
        </p:nvSpPr>
        <p:spPr>
          <a:xfrm>
            <a:off x="1562100" y="4524375"/>
            <a:ext cx="41148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Stakeholder resistance slowing adoption curve</a:t>
            </a:r>
          </a:p>
        </p:txBody>
      </p:sp>
      <p:sp>
        <p:nvSpPr>
          <p:cNvPr id="28" name="risk-4-note"/>
          <p:cNvSpPr txBox="1"/>
          <p:nvPr/>
        </p:nvSpPr>
        <p:spPr>
          <a:xfrm>
            <a:off x="838200" y="4733925"/>
            <a:ext cx="4876800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4A3B8"/>
                </a:solidFill>
                <a:latin typeface="Inter"/>
              </a:rPr>
              <a:t>Mitigation: executive sponsorship + change-champion network in place</a:t>
            </a:r>
          </a:p>
        </p:txBody>
      </p:sp>
      <p:sp>
        <p:nvSpPr>
          <p:cNvPr id="29" name="divider-line"/>
          <p:cNvSpPr/>
          <p:nvPr/>
        </p:nvSpPr>
        <p:spPr>
          <a:xfrm>
            <a:off x="6096000" y="1600200"/>
            <a:ext cx="9525" cy="3733800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0" name="divider-icon-bg"/>
          <p:cNvSpPr/>
          <p:nvPr/>
        </p:nvSpPr>
        <p:spPr>
          <a:xfrm>
            <a:off x="5943600" y="3314700"/>
            <a:ext cx="3048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1" name="divider-icon"/>
          <p:cNvSpPr txBox="1"/>
          <p:nvPr/>
        </p:nvSpPr>
        <p:spPr>
          <a:xfrm>
            <a:off x="5943600" y="331470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wrap="none" tIns="0" bIns="0" lIns="0" rIns="0" anchor="ctr">
            <a:spAutoFit/>
          </a:bodyPr>
          <a:lstStyle/>
          <a:p>
            <a:pPr algn="ctr">
              <a:defRPr/>
            </a:pPr>
            <a:r>
              <a:rPr sz="2025">
                <a:solidFill>
                  <a:srgbClr val="2D0A4E"/>
                </a:solidFill>
                <a:latin typeface="Segoe UI Symbol"/>
              </a:rPr>
              <a:t>⚖</a:t>
            </a:r>
          </a:p>
        </p:txBody>
      </p:sp>
      <p:sp>
        <p:nvSpPr>
          <p:cNvPr id="32" name="panel-2-bg"/>
          <p:cNvSpPr/>
          <p:nvPr/>
        </p:nvSpPr>
        <p:spPr>
          <a:xfrm>
            <a:off x="6324600" y="1600200"/>
            <a:ext cx="5257800" cy="3733800"/>
          </a:xfrm>
          <a:prstGeom prst="rect">
            <a:avLst/>
          </a:prstGeom>
          <a:solidFill>
            <a:srgbClr val="F0FDF4"/>
          </a:solidFill>
          <a:ln w="9525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3" name="panel-2-header-bg"/>
          <p:cNvSpPr/>
          <p:nvPr/>
        </p:nvSpPr>
        <p:spPr>
          <a:xfrm>
            <a:off x="6324600" y="1600200"/>
            <a:ext cx="5257800" cy="3429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4" name="panel-2-icon"/>
          <p:cNvSpPr txBox="1"/>
          <p:nvPr/>
        </p:nvSpPr>
        <p:spPr>
          <a:xfrm>
            <a:off x="6438900" y="1676400"/>
            <a:ext cx="190500" cy="190500"/>
          </a:xfrm>
          <a:prstGeom prst="rect">
            <a:avLst/>
          </a:prstGeom>
          <a:noFill/>
          <a:ln>
            <a:noFill/>
          </a:ln>
        </p:spPr>
        <p:txBody>
          <a:bodyPr wrap="none" tIns="0" bIns="0" lIns="0" rIns="0" anchor="ctr">
            <a:spAutoFit/>
          </a:bodyPr>
          <a:lstStyle/>
          <a:p>
            <a:pPr algn="ctr">
              <a:defRPr/>
            </a:pPr>
            <a:r>
              <a:rPr sz="1275">
                <a:solidFill>
                  <a:srgbClr val="FFFFFF"/>
                </a:solidFill>
                <a:latin typeface="Segoe UI Symbol"/>
              </a:rPr>
              <a:t>★</a:t>
            </a:r>
          </a:p>
        </p:txBody>
      </p:sp>
      <p:sp>
        <p:nvSpPr>
          <p:cNvPr id="35" name="panel-2-header"/>
          <p:cNvSpPr txBox="1"/>
          <p:nvPr/>
        </p:nvSpPr>
        <p:spPr>
          <a:xfrm>
            <a:off x="6705600" y="1695450"/>
            <a:ext cx="46863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OPPORTUNITIES</a:t>
            </a:r>
          </a:p>
        </p:txBody>
      </p:sp>
      <p:sp>
        <p:nvSpPr>
          <p:cNvPr id="36" name="opp-1-bg"/>
          <p:cNvSpPr/>
          <p:nvPr/>
        </p:nvSpPr>
        <p:spPr>
          <a:xfrm>
            <a:off x="6438900" y="2076450"/>
            <a:ext cx="5029200" cy="7143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7" name="opp-1-accent"/>
          <p:cNvSpPr/>
          <p:nvPr/>
        </p:nvSpPr>
        <p:spPr>
          <a:xfrm>
            <a:off x="6438900" y="2076450"/>
            <a:ext cx="28575" cy="714375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8" name="opp-1-badge"/>
          <p:cNvSpPr txBox="1"/>
          <p:nvPr/>
        </p:nvSpPr>
        <p:spPr>
          <a:xfrm>
            <a:off x="6553200" y="2152650"/>
            <a:ext cx="666750" cy="13335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txBody>
          <a:bodyPr wrap="square" tIns="19050" rIns="38100" bIns="19050" lIns="3810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HIGH</a:t>
            </a:r>
          </a:p>
        </p:txBody>
      </p:sp>
      <p:sp>
        <p:nvSpPr>
          <p:cNvPr id="39" name="opp-1-desc"/>
          <p:cNvSpPr txBox="1"/>
          <p:nvPr/>
        </p:nvSpPr>
        <p:spPr>
          <a:xfrm>
            <a:off x="7277100" y="2152650"/>
            <a:ext cx="41148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35% cost reduction through process automation</a:t>
            </a:r>
          </a:p>
        </p:txBody>
      </p:sp>
      <p:sp>
        <p:nvSpPr>
          <p:cNvPr id="40" name="opp-1-note"/>
          <p:cNvSpPr txBox="1"/>
          <p:nvPr/>
        </p:nvSpPr>
        <p:spPr>
          <a:xfrm>
            <a:off x="6553200" y="2362200"/>
            <a:ext cx="4876800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4A3B8"/>
                </a:solidFill>
                <a:latin typeface="Inter"/>
              </a:rPr>
              <a:t>Capture action: pilot automation in Finance by Q2; scale post-validation</a:t>
            </a:r>
          </a:p>
        </p:txBody>
      </p:sp>
      <p:sp>
        <p:nvSpPr>
          <p:cNvPr id="41" name="opp-2-bg"/>
          <p:cNvSpPr/>
          <p:nvPr/>
        </p:nvSpPr>
        <p:spPr>
          <a:xfrm>
            <a:off x="6438900" y="2867025"/>
            <a:ext cx="5029200" cy="7143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2" name="opp-2-accent"/>
          <p:cNvSpPr/>
          <p:nvPr/>
        </p:nvSpPr>
        <p:spPr>
          <a:xfrm>
            <a:off x="6438900" y="2867025"/>
            <a:ext cx="28575" cy="714375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3" name="opp-2-badge"/>
          <p:cNvSpPr txBox="1"/>
          <p:nvPr/>
        </p:nvSpPr>
        <p:spPr>
          <a:xfrm>
            <a:off x="6553200" y="2943225"/>
            <a:ext cx="666750" cy="13335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txBody>
          <a:bodyPr wrap="square" tIns="19050" rIns="38100" bIns="19050" lIns="3810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HIGH</a:t>
            </a:r>
          </a:p>
        </p:txBody>
      </p:sp>
      <p:sp>
        <p:nvSpPr>
          <p:cNvPr id="44" name="opp-2-desc"/>
          <p:cNvSpPr txBox="1"/>
          <p:nvPr/>
        </p:nvSpPr>
        <p:spPr>
          <a:xfrm>
            <a:off x="7277100" y="2943225"/>
            <a:ext cx="41148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New revenue stream via platform-as-a-service model</a:t>
            </a:r>
          </a:p>
        </p:txBody>
      </p:sp>
      <p:sp>
        <p:nvSpPr>
          <p:cNvPr id="45" name="opp-2-note"/>
          <p:cNvSpPr txBox="1"/>
          <p:nvPr/>
        </p:nvSpPr>
        <p:spPr>
          <a:xfrm>
            <a:off x="6553200" y="3152775"/>
            <a:ext cx="4876800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4A3B8"/>
                </a:solidFill>
                <a:latin typeface="Inter"/>
              </a:rPr>
              <a:t>Capture action: identify anchor client for beta; target $8M ARR by year 2</a:t>
            </a:r>
          </a:p>
        </p:txBody>
      </p:sp>
      <p:sp>
        <p:nvSpPr>
          <p:cNvPr id="46" name="opp-3-bg"/>
          <p:cNvSpPr/>
          <p:nvPr/>
        </p:nvSpPr>
        <p:spPr>
          <a:xfrm>
            <a:off x="6438900" y="3657600"/>
            <a:ext cx="5029200" cy="7143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7" name="opp-3-accent"/>
          <p:cNvSpPr/>
          <p:nvPr/>
        </p:nvSpPr>
        <p:spPr>
          <a:xfrm>
            <a:off x="6438900" y="3657600"/>
            <a:ext cx="28575" cy="714375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8" name="opp-3-badge"/>
          <p:cNvSpPr txBox="1"/>
          <p:nvPr/>
        </p:nvSpPr>
        <p:spPr>
          <a:xfrm>
            <a:off x="6553200" y="3733800"/>
            <a:ext cx="666750" cy="133350"/>
          </a:xfrm>
          <a:prstGeom prst="rect">
            <a:avLst/>
          </a:prstGeom>
          <a:solidFill>
            <a:srgbClr val="65A30D"/>
          </a:solidFill>
          <a:ln>
            <a:noFill/>
          </a:ln>
        </p:spPr>
        <p:txBody>
          <a:bodyPr wrap="square" tIns="19050" rIns="38100" bIns="19050" lIns="3810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MEDIUM</a:t>
            </a:r>
          </a:p>
        </p:txBody>
      </p:sp>
      <p:sp>
        <p:nvSpPr>
          <p:cNvPr id="49" name="opp-3-desc"/>
          <p:cNvSpPr txBox="1"/>
          <p:nvPr/>
        </p:nvSpPr>
        <p:spPr>
          <a:xfrm>
            <a:off x="7277100" y="3733800"/>
            <a:ext cx="41148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First-mover advantage in underserved mid-market segment</a:t>
            </a:r>
          </a:p>
        </p:txBody>
      </p:sp>
      <p:sp>
        <p:nvSpPr>
          <p:cNvPr id="50" name="opp-3-note"/>
          <p:cNvSpPr txBox="1"/>
          <p:nvPr/>
        </p:nvSpPr>
        <p:spPr>
          <a:xfrm>
            <a:off x="6553200" y="3943350"/>
            <a:ext cx="4876800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4A3B8"/>
                </a:solidFill>
                <a:latin typeface="Inter"/>
              </a:rPr>
              <a:t>Capture action: accelerate GTM launch; lock in 3 lighthouse accounts in H1</a:t>
            </a:r>
          </a:p>
        </p:txBody>
      </p:sp>
      <p:sp>
        <p:nvSpPr>
          <p:cNvPr id="51" name="opp-4-bg"/>
          <p:cNvSpPr/>
          <p:nvPr/>
        </p:nvSpPr>
        <p:spPr>
          <a:xfrm>
            <a:off x="6438900" y="4448175"/>
            <a:ext cx="5029200" cy="7143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2" name="opp-4-accent"/>
          <p:cNvSpPr/>
          <p:nvPr/>
        </p:nvSpPr>
        <p:spPr>
          <a:xfrm>
            <a:off x="6438900" y="4448175"/>
            <a:ext cx="28575" cy="714375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3" name="opp-4-badge"/>
          <p:cNvSpPr txBox="1"/>
          <p:nvPr/>
        </p:nvSpPr>
        <p:spPr>
          <a:xfrm>
            <a:off x="6553200" y="4524375"/>
            <a:ext cx="666750" cy="133350"/>
          </a:xfrm>
          <a:prstGeom prst="rect">
            <a:avLst/>
          </a:prstGeom>
          <a:solidFill>
            <a:srgbClr val="65A30D"/>
          </a:solidFill>
          <a:ln>
            <a:noFill/>
          </a:ln>
        </p:spPr>
        <p:txBody>
          <a:bodyPr wrap="square" tIns="19050" rIns="38100" bIns="19050" lIns="3810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MEDIUM</a:t>
            </a:r>
          </a:p>
        </p:txBody>
      </p:sp>
      <p:sp>
        <p:nvSpPr>
          <p:cNvPr id="54" name="opp-4-desc"/>
          <p:cNvSpPr txBox="1"/>
          <p:nvPr/>
        </p:nvSpPr>
        <p:spPr>
          <a:xfrm>
            <a:off x="7277100" y="4524375"/>
            <a:ext cx="41148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Talent brand uplift attracting next-gen engineering talent</a:t>
            </a:r>
          </a:p>
        </p:txBody>
      </p:sp>
      <p:sp>
        <p:nvSpPr>
          <p:cNvPr id="55" name="opp-4-note"/>
          <p:cNvSpPr txBox="1"/>
          <p:nvPr/>
        </p:nvSpPr>
        <p:spPr>
          <a:xfrm>
            <a:off x="6553200" y="4733925"/>
            <a:ext cx="4876800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4A3B8"/>
                </a:solidFill>
                <a:latin typeface="Inter"/>
              </a:rPr>
              <a:t>Capture action: publish case study post-launch; partner with 2 universities</a:t>
            </a:r>
          </a:p>
        </p:txBody>
      </p:sp>
      <p:sp>
        <p:nvSpPr>
          <p:cNvPr id="56" name="convergence-bg"/>
          <p:cNvSpPr/>
          <p:nvPr/>
        </p:nvSpPr>
        <p:spPr>
          <a:xfrm>
            <a:off x="609600" y="5410200"/>
            <a:ext cx="10972800" cy="419100"/>
          </a:xfrm>
          <a:prstGeom prst="rect">
            <a:avLst/>
          </a:prstGeom>
          <a:solidFill>
            <a:srgbClr val="FBF8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7" name="convergence-accent"/>
          <p:cNvSpPr/>
          <p:nvPr/>
        </p:nvSpPr>
        <p:spPr>
          <a:xfrm>
            <a:off x="609600" y="5410200"/>
            <a:ext cx="38100" cy="4191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8" name="convergence-mark"/>
          <p:cNvSpPr txBox="1"/>
          <p:nvPr/>
        </p:nvSpPr>
        <p:spPr>
          <a:xfrm>
            <a:off x="742950" y="5486400"/>
            <a:ext cx="123825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A100FF"/>
                </a:solidFill>
                <a:latin typeface="Inter"/>
              </a:rPr>
              <a:t>NET ASSESSMENT</a:t>
            </a:r>
          </a:p>
        </p:txBody>
      </p:sp>
      <p:sp>
        <p:nvSpPr>
          <p:cNvPr id="59" name="convergence"/>
          <p:cNvSpPr txBox="1"/>
          <p:nvPr/>
        </p:nvSpPr>
        <p:spPr>
          <a:xfrm>
            <a:off x="2057400" y="5467350"/>
            <a:ext cx="9525000" cy="3429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Opportunity outweighs risk if regulatory compliance and talent retention risks are mitigated by end of Q1 — estimated net value upside of $12–15M over 24 months.</a:t>
            </a:r>
          </a:p>
        </p:txBody>
      </p:sp>
      <p:sp>
        <p:nvSpPr>
          <p:cNvPr id="60" name="footnote-1"/>
          <p:cNvSpPr txBox="1"/>
          <p:nvPr/>
        </p:nvSpPr>
        <p:spPr>
          <a:xfrm>
            <a:off x="552450" y="6400800"/>
            <a:ext cx="110871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4A3B8"/>
                </a:solidFill>
                <a:latin typeface="Inter"/>
              </a:rPr>
              <a:t>1. [add footnote here or delete]</a:t>
            </a:r>
          </a:p>
        </p:txBody>
      </p:sp>
      <p:sp>
        <p:nvSpPr>
          <p:cNvPr id="61" name="source"/>
          <p:cNvSpPr txBox="1"/>
          <p:nvPr/>
        </p:nvSpPr>
        <p:spPr>
          <a:xfrm>
            <a:off x="552450" y="6553200"/>
            <a:ext cx="104775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/>
            <a:r>
              <a:rPr sz="750" b="0" i="1">
                <a:solidFill>
                  <a:srgbClr val="94A3B8"/>
                </a:solidFill>
                <a:latin typeface="Inter"/>
              </a:rPr>
              <a:t>Source: [add source here or delete]</a:t>
            </a:r>
          </a:p>
        </p:txBody>
      </p:sp>
      <p:sp>
        <p:nvSpPr>
          <p:cNvPr id="62" name="page-number"/>
          <p:cNvSpPr txBox="1"/>
          <p:nvPr/>
        </p:nvSpPr>
        <p:spPr>
          <a:xfrm>
            <a:off x="11144250" y="6553200"/>
            <a:ext cx="4953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/>
            <a:r>
              <a:rPr sz="825" b="0" i="0">
                <a:solidFill>
                  <a:srgbClr val="94A3B8"/>
                </a:solidFill>
                <a:latin typeface="Inter"/>
              </a:rPr>
              <a:t>195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