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-bar"/>
          <p:cNvSpPr/>
          <p:nvPr/>
        </p:nvSpPr>
        <p:spPr>
          <a:xfrm>
            <a:off x="0" y="342900"/>
            <a:ext cx="12192000" cy="647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itle"/>
          <p:cNvSpPr txBox="1"/>
          <p:nvPr/>
        </p:nvSpPr>
        <p:spPr>
          <a:xfrm>
            <a:off x="381000" y="26670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Pilot status · Week 3 · Green overall, three decisions needed.</a:t>
            </a:r>
          </a:p>
        </p:txBody>
      </p:sp>
      <p:sp>
        <p:nvSpPr>
          <p:cNvPr id="4" name="brand-rule"/>
          <p:cNvSpPr/>
          <p:nvPr/>
        </p:nvSpPr>
        <p:spPr>
          <a:xfrm>
            <a:off x="0" y="990600"/>
            <a:ext cx="1219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eyebrow"/>
          <p:cNvSpPr txBox="1"/>
          <p:nvPr/>
        </p:nvSpPr>
        <p:spPr>
          <a:xfrm>
            <a:off x="381000" y="11430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EXECUTIVE SUMMARY</a:t>
            </a:r>
          </a:p>
        </p:txBody>
      </p:sp>
      <p:sp>
        <p:nvSpPr>
          <p:cNvPr id="6" name="eyebrow-meta"/>
          <p:cNvSpPr txBox="1"/>
          <p:nvPr/>
        </p:nvSpPr>
        <p:spPr>
          <a:xfrm>
            <a:off x="8382000" y="1143000"/>
            <a:ext cx="3429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WEEK 3 OF 4 · STEERING COMMITTEE</a:t>
            </a:r>
          </a:p>
        </p:txBody>
      </p:sp>
      <p:sp>
        <p:nvSpPr>
          <p:cNvPr id="7" name="quadrant-tl"/>
          <p:cNvSpPr/>
          <p:nvPr/>
        </p:nvSpPr>
        <p:spPr>
          <a:xfrm>
            <a:off x="381000" y="1409700"/>
            <a:ext cx="5619750" cy="2095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quad-tl-head"/>
          <p:cNvSpPr/>
          <p:nvPr/>
        </p:nvSpPr>
        <p:spPr>
          <a:xfrm>
            <a:off x="381000" y="1409700"/>
            <a:ext cx="561975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quadrant-tl-name"/>
          <p:cNvSpPr txBox="1"/>
          <p:nvPr/>
        </p:nvSpPr>
        <p:spPr>
          <a:xfrm>
            <a:off x="723900" y="1524000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OVERALL STATUS</a:t>
            </a:r>
          </a:p>
        </p:txBody>
      </p:sp>
      <p:sp>
        <p:nvSpPr>
          <p:cNvPr id="10" name="quad-tl-icon"/>
          <p:cNvSpPr/>
          <p:nvPr/>
        </p:nvSpPr>
        <p:spPr>
          <a:xfrm>
            <a:off x="514350" y="154305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uad-tl-meta"/>
          <p:cNvSpPr txBox="1"/>
          <p:nvPr/>
        </p:nvSpPr>
        <p:spPr>
          <a:xfrm>
            <a:off x="4762500" y="15240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WEEK 3 OF 4</a:t>
            </a:r>
          </a:p>
        </p:txBody>
      </p:sp>
      <p:sp>
        <p:nvSpPr>
          <p:cNvPr id="12" name="quadrant-tr"/>
          <p:cNvSpPr/>
          <p:nvPr/>
        </p:nvSpPr>
        <p:spPr>
          <a:xfrm>
            <a:off x="6191250" y="1409700"/>
            <a:ext cx="5619750" cy="2095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quad-tr-head"/>
          <p:cNvSpPr/>
          <p:nvPr/>
        </p:nvSpPr>
        <p:spPr>
          <a:xfrm>
            <a:off x="6191250" y="1409700"/>
            <a:ext cx="561975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uadrant-tr-name"/>
          <p:cNvSpPr txBox="1"/>
          <p:nvPr/>
        </p:nvSpPr>
        <p:spPr>
          <a:xfrm>
            <a:off x="6534150" y="1524000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KEY WINS THIS PERIOD</a:t>
            </a:r>
          </a:p>
        </p:txBody>
      </p:sp>
      <p:sp>
        <p:nvSpPr>
          <p:cNvPr id="15" name="quad-tr-icon"/>
          <p:cNvSpPr/>
          <p:nvPr/>
        </p:nvSpPr>
        <p:spPr>
          <a:xfrm>
            <a:off x="6324600" y="154305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uad-tr-meta"/>
          <p:cNvSpPr txBox="1"/>
          <p:nvPr/>
        </p:nvSpPr>
        <p:spPr>
          <a:xfrm>
            <a:off x="10572750" y="15240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4 WINS</a:t>
            </a:r>
          </a:p>
        </p:txBody>
      </p:sp>
      <p:sp>
        <p:nvSpPr>
          <p:cNvPr id="17" name="quadrant-bl"/>
          <p:cNvSpPr/>
          <p:nvPr/>
        </p:nvSpPr>
        <p:spPr>
          <a:xfrm>
            <a:off x="381000" y="3657600"/>
            <a:ext cx="5619750" cy="2209800"/>
          </a:xfrm>
          <a:prstGeom prst="rect">
            <a:avLst/>
          </a:prstGeom>
          <a:solidFill>
            <a:srgbClr val="FDECEC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quad-bl-head"/>
          <p:cNvSpPr/>
          <p:nvPr/>
        </p:nvSpPr>
        <p:spPr>
          <a:xfrm>
            <a:off x="381000" y="3657600"/>
            <a:ext cx="5619750" cy="381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quadrant-bl-name"/>
          <p:cNvSpPr txBox="1"/>
          <p:nvPr/>
        </p:nvSpPr>
        <p:spPr>
          <a:xfrm>
            <a:off x="723900" y="3771900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KEY RISKS</a:t>
            </a:r>
          </a:p>
        </p:txBody>
      </p:sp>
      <p:sp>
        <p:nvSpPr>
          <p:cNvPr id="20" name="quad-bl-icon"/>
          <p:cNvSpPr/>
          <p:nvPr/>
        </p:nvSpPr>
        <p:spPr>
          <a:xfrm>
            <a:off x="514350" y="3790950"/>
            <a:ext cx="133350" cy="13335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ad-bl-meta"/>
          <p:cNvSpPr txBox="1"/>
          <p:nvPr/>
        </p:nvSpPr>
        <p:spPr>
          <a:xfrm>
            <a:off x="4762500" y="37719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E8E8"/>
                </a:solidFill>
                <a:latin typeface="Inter"/>
              </a:rPr>
              <a:t>3 OPEN</a:t>
            </a:r>
          </a:p>
        </p:txBody>
      </p:sp>
      <p:sp>
        <p:nvSpPr>
          <p:cNvPr id="22" name="quadrant-br"/>
          <p:cNvSpPr/>
          <p:nvPr/>
        </p:nvSpPr>
        <p:spPr>
          <a:xfrm>
            <a:off x="6191250" y="3657600"/>
            <a:ext cx="5619750" cy="22098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quad-br-head"/>
          <p:cNvSpPr/>
          <p:nvPr/>
        </p:nvSpPr>
        <p:spPr>
          <a:xfrm>
            <a:off x="6191250" y="3657600"/>
            <a:ext cx="5619750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quadrant-br-name"/>
          <p:cNvSpPr txBox="1"/>
          <p:nvPr/>
        </p:nvSpPr>
        <p:spPr>
          <a:xfrm>
            <a:off x="6534150" y="3771900"/>
            <a:ext cx="447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DECISIONS NEEDED</a:t>
            </a:r>
          </a:p>
        </p:txBody>
      </p:sp>
      <p:sp>
        <p:nvSpPr>
          <p:cNvPr id="25" name="quad-br-icon"/>
          <p:cNvSpPr/>
          <p:nvPr/>
        </p:nvSpPr>
        <p:spPr>
          <a:xfrm>
            <a:off x="6324600" y="3790950"/>
            <a:ext cx="133350" cy="133350"/>
          </a:xfrm>
          <a:prstGeom prst="rect">
            <a:avLst/>
          </a:prstGeom>
          <a:solidFill>
            <a:srgbClr val="F4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-br-meta"/>
          <p:cNvSpPr txBox="1"/>
          <p:nvPr/>
        </p:nvSpPr>
        <p:spPr>
          <a:xfrm>
            <a:off x="10572750" y="37719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4E3FF"/>
                </a:solidFill>
                <a:latin typeface="Inter"/>
              </a:rPr>
              <a:t>3 ASKS</a:t>
            </a:r>
          </a:p>
        </p:txBody>
      </p:sp>
      <p:sp>
        <p:nvSpPr>
          <p:cNvPr id="27" name="quadrant-tl-rag-dot"/>
          <p:cNvSpPr/>
          <p:nvPr/>
        </p:nvSpPr>
        <p:spPr>
          <a:xfrm>
            <a:off x="609600" y="2019300"/>
            <a:ext cx="533400" cy="533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quadrant-tl-rag-label"/>
          <p:cNvSpPr txBox="1"/>
          <p:nvPr/>
        </p:nvSpPr>
        <p:spPr>
          <a:xfrm>
            <a:off x="1295400" y="20002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ECC71"/>
                </a:solidFill>
                <a:latin typeface="Inter"/>
              </a:rPr>
              <a:t>GREEN</a:t>
            </a:r>
          </a:p>
        </p:txBody>
      </p:sp>
      <p:sp>
        <p:nvSpPr>
          <p:cNvPr id="29" name="quadrant-tl-rag-status"/>
          <p:cNvSpPr txBox="1"/>
          <p:nvPr/>
        </p:nvSpPr>
        <p:spPr>
          <a:xfrm>
            <a:off x="1295400" y="23050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ON TRACK</a:t>
            </a:r>
          </a:p>
        </p:txBody>
      </p:sp>
      <p:sp>
        <p:nvSpPr>
          <p:cNvPr id="30" name="quadrant-tl-body"/>
          <p:cNvSpPr txBox="1"/>
          <p:nvPr/>
        </p:nvSpPr>
        <p:spPr>
          <a:xfrm>
            <a:off x="609600" y="2743200"/>
            <a:ext cx="51625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Pilot on track for all 4 success metrics. No escalations this week. Wave 2 scope ready for steering approval.</a:t>
            </a:r>
          </a:p>
        </p:txBody>
      </p:sp>
      <p:sp>
        <p:nvSpPr>
          <p:cNvPr id="31" name="quadrant-tr-bullet-1-glyph"/>
          <p:cNvSpPr txBox="1"/>
          <p:nvPr/>
        </p:nvSpPr>
        <p:spPr>
          <a:xfrm>
            <a:off x="6324600" y="19050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✓</a:t>
            </a:r>
          </a:p>
        </p:txBody>
      </p:sp>
      <p:sp>
        <p:nvSpPr>
          <p:cNvPr id="32" name="quadrant-tr-bullet-1"/>
          <p:cNvSpPr txBox="1"/>
          <p:nvPr/>
        </p:nvSpPr>
        <p:spPr>
          <a:xfrm>
            <a:off x="6534150" y="18859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Cycle time −64% vs baseline — exceeded 50% target</a:t>
            </a:r>
          </a:p>
        </p:txBody>
      </p:sp>
      <p:sp>
        <p:nvSpPr>
          <p:cNvPr id="33" name="quadrant-tr-bullet-2-glyph"/>
          <p:cNvSpPr txBox="1"/>
          <p:nvPr/>
        </p:nvSpPr>
        <p:spPr>
          <a:xfrm>
            <a:off x="6324600" y="2247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✓</a:t>
            </a:r>
          </a:p>
        </p:txBody>
      </p:sp>
      <p:sp>
        <p:nvSpPr>
          <p:cNvPr id="34" name="quadrant-tr-bullet-2"/>
          <p:cNvSpPr txBox="1"/>
          <p:nvPr/>
        </p:nvSpPr>
        <p:spPr>
          <a:xfrm>
            <a:off x="6534150" y="22288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94% first-review sign-off — target was 85%</a:t>
            </a:r>
          </a:p>
        </p:txBody>
      </p:sp>
      <p:sp>
        <p:nvSpPr>
          <p:cNvPr id="35" name="quadrant-tr-bullet-3-glyph"/>
          <p:cNvSpPr txBox="1"/>
          <p:nvPr/>
        </p:nvSpPr>
        <p:spPr>
          <a:xfrm>
            <a:off x="6324600" y="25908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✓</a:t>
            </a:r>
          </a:p>
        </p:txBody>
      </p:sp>
      <p:sp>
        <p:nvSpPr>
          <p:cNvPr id="36" name="quadrant-tr-bullet-3"/>
          <p:cNvSpPr txBox="1"/>
          <p:nvPr/>
        </p:nvSpPr>
        <p:spPr>
          <a:xfrm>
            <a:off x="6534150" y="25717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All 4 pilot users actively engaged, no drop-offs</a:t>
            </a:r>
          </a:p>
        </p:txBody>
      </p:sp>
      <p:sp>
        <p:nvSpPr>
          <p:cNvPr id="37" name="quadrant-tr-bullet-4-glyph"/>
          <p:cNvSpPr txBox="1"/>
          <p:nvPr/>
        </p:nvSpPr>
        <p:spPr>
          <a:xfrm>
            <a:off x="6324600" y="29337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✓</a:t>
            </a:r>
          </a:p>
        </p:txBody>
      </p:sp>
      <p:sp>
        <p:nvSpPr>
          <p:cNvPr id="38" name="quadrant-tr-bullet-4"/>
          <p:cNvSpPr txBox="1"/>
          <p:nvPr/>
        </p:nvSpPr>
        <p:spPr>
          <a:xfrm>
            <a:off x="6534150" y="29146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Pattern library at 80 patterns; on track for 100 by EOM</a:t>
            </a:r>
          </a:p>
        </p:txBody>
      </p:sp>
      <p:sp>
        <p:nvSpPr>
          <p:cNvPr id="39" name="quadrant-tr-body"/>
          <p:cNvSpPr txBox="1"/>
          <p:nvPr/>
        </p:nvSpPr>
        <p:spPr>
          <a:xfrm>
            <a:off x="6305550" y="1885950"/>
            <a:ext cx="5391150" cy="1638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/>
            </a:r>
          </a:p>
        </p:txBody>
      </p:sp>
      <p:sp>
        <p:nvSpPr>
          <p:cNvPr id="40" name="quadrant-bl-bullet-1-glyph"/>
          <p:cNvSpPr txBox="1"/>
          <p:nvPr/>
        </p:nvSpPr>
        <p:spPr>
          <a:xfrm>
            <a:off x="514350" y="4152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⚑</a:t>
            </a:r>
          </a:p>
        </p:txBody>
      </p:sp>
      <p:sp>
        <p:nvSpPr>
          <p:cNvPr id="41" name="quadrant-bl-bullet-1"/>
          <p:cNvSpPr txBox="1"/>
          <p:nvPr/>
        </p:nvSpPr>
        <p:spPr>
          <a:xfrm>
            <a:off x="723900" y="4133850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Amber: 2 senior managers still ramping — coaching scheduled this week</a:t>
            </a:r>
          </a:p>
        </p:txBody>
      </p:sp>
      <p:sp>
        <p:nvSpPr>
          <p:cNvPr id="42" name="quadrant-bl-bullet-2-glyph"/>
          <p:cNvSpPr txBox="1"/>
          <p:nvPr/>
        </p:nvSpPr>
        <p:spPr>
          <a:xfrm>
            <a:off x="514350" y="4533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⚑</a:t>
            </a:r>
          </a:p>
        </p:txBody>
      </p:sp>
      <p:sp>
        <p:nvSpPr>
          <p:cNvPr id="43" name="quadrant-bl-bullet-2"/>
          <p:cNvSpPr txBox="1"/>
          <p:nvPr/>
        </p:nvSpPr>
        <p:spPr>
          <a:xfrm>
            <a:off x="723900" y="4514850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Amber: CFO transition mid-pilot — stakeholder re-alignment underway</a:t>
            </a:r>
          </a:p>
        </p:txBody>
      </p:sp>
      <p:sp>
        <p:nvSpPr>
          <p:cNvPr id="44" name="quadrant-bl-bullet-3-glyph"/>
          <p:cNvSpPr txBox="1"/>
          <p:nvPr/>
        </p:nvSpPr>
        <p:spPr>
          <a:xfrm>
            <a:off x="514350" y="4914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⚑</a:t>
            </a:r>
          </a:p>
        </p:txBody>
      </p:sp>
      <p:sp>
        <p:nvSpPr>
          <p:cNvPr id="45" name="quadrant-bl-bullet-3"/>
          <p:cNvSpPr txBox="1"/>
          <p:nvPr/>
        </p:nvSpPr>
        <p:spPr>
          <a:xfrm>
            <a:off x="723900" y="4895850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Red: IT provisioning for Wave 2 not started — blocks 6/1 kickoff</a:t>
            </a:r>
          </a:p>
        </p:txBody>
      </p:sp>
      <p:sp>
        <p:nvSpPr>
          <p:cNvPr id="46" name="quadrant-bl-bullet-4-glyph"/>
          <p:cNvSpPr txBox="1"/>
          <p:nvPr/>
        </p:nvSpPr>
        <p:spPr>
          <a:xfrm>
            <a:off x="514350" y="52959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⚑</a:t>
            </a:r>
          </a:p>
        </p:txBody>
      </p:sp>
      <p:sp>
        <p:nvSpPr>
          <p:cNvPr id="47" name="quadrant-bl-bullet-4"/>
          <p:cNvSpPr txBox="1"/>
          <p:nvPr/>
        </p:nvSpPr>
        <p:spPr>
          <a:xfrm>
            <a:off x="723900" y="5276850"/>
            <a:ext cx="5143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Amber: Vendor SOW renewal lagging — legal review still pending</a:t>
            </a:r>
          </a:p>
        </p:txBody>
      </p:sp>
      <p:sp>
        <p:nvSpPr>
          <p:cNvPr id="48" name="quadrant-bl-body"/>
          <p:cNvSpPr txBox="1"/>
          <p:nvPr/>
        </p:nvSpPr>
        <p:spPr>
          <a:xfrm>
            <a:off x="495300" y="4133850"/>
            <a:ext cx="5391150" cy="1752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/>
            </a:r>
          </a:p>
        </p:txBody>
      </p:sp>
      <p:sp>
        <p:nvSpPr>
          <p:cNvPr id="49" name="sub-ask-1"/>
          <p:cNvSpPr/>
          <p:nvPr/>
        </p:nvSpPr>
        <p:spPr>
          <a:xfrm>
            <a:off x="6324600" y="4133850"/>
            <a:ext cx="53530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ub-ask-1-accent"/>
          <p:cNvSpPr/>
          <p:nvPr/>
        </p:nvSpPr>
        <p:spPr>
          <a:xfrm>
            <a:off x="6324600" y="4133850"/>
            <a:ext cx="28575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ub-ask-1-num-bg"/>
          <p:cNvSpPr/>
          <p:nvPr/>
        </p:nvSpPr>
        <p:spPr>
          <a:xfrm>
            <a:off x="6438900" y="42291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ub-ask-1-num"/>
          <p:cNvSpPr txBox="1"/>
          <p:nvPr/>
        </p:nvSpPr>
        <p:spPr>
          <a:xfrm>
            <a:off x="6438900" y="42291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53" name="sub-ask-1-body"/>
          <p:cNvSpPr txBox="1"/>
          <p:nvPr/>
        </p:nvSpPr>
        <p:spPr>
          <a:xfrm>
            <a:off x="6724650" y="4171950"/>
            <a:ext cx="4857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Approve Wave 2 scope (+12 users, 3 new use cases)</a:t>
            </a:r>
          </a:p>
        </p:txBody>
      </p:sp>
      <p:sp>
        <p:nvSpPr>
          <p:cNvPr id="54" name="sub-ask-1-meta"/>
          <p:cNvSpPr txBox="1"/>
          <p:nvPr/>
        </p:nvSpPr>
        <p:spPr>
          <a:xfrm>
            <a:off x="6724650" y="4343400"/>
            <a:ext cx="485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MARIO · BY FRI</a:t>
            </a:r>
          </a:p>
        </p:txBody>
      </p:sp>
      <p:sp>
        <p:nvSpPr>
          <p:cNvPr id="55" name="sub-ask-2"/>
          <p:cNvSpPr/>
          <p:nvPr/>
        </p:nvSpPr>
        <p:spPr>
          <a:xfrm>
            <a:off x="6324600" y="4591050"/>
            <a:ext cx="53530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ub-ask-2-accent"/>
          <p:cNvSpPr/>
          <p:nvPr/>
        </p:nvSpPr>
        <p:spPr>
          <a:xfrm>
            <a:off x="6324600" y="4591050"/>
            <a:ext cx="28575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sub-ask-2-num-bg"/>
          <p:cNvSpPr/>
          <p:nvPr/>
        </p:nvSpPr>
        <p:spPr>
          <a:xfrm>
            <a:off x="6438900" y="46863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ub-ask-2-num"/>
          <p:cNvSpPr txBox="1"/>
          <p:nvPr/>
        </p:nvSpPr>
        <p:spPr>
          <a:xfrm>
            <a:off x="6438900" y="46863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9" name="sub-ask-2-body"/>
          <p:cNvSpPr txBox="1"/>
          <p:nvPr/>
        </p:nvSpPr>
        <p:spPr>
          <a:xfrm>
            <a:off x="6724650" y="4629150"/>
            <a:ext cx="4857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Greenlight pattern library investment to 100 patterns</a:t>
            </a:r>
          </a:p>
        </p:txBody>
      </p:sp>
      <p:sp>
        <p:nvSpPr>
          <p:cNvPr id="60" name="sub-ask-2-meta"/>
          <p:cNvSpPr txBox="1"/>
          <p:nvPr/>
        </p:nvSpPr>
        <p:spPr>
          <a:xfrm>
            <a:off x="6724650" y="4800600"/>
            <a:ext cx="485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MD · BY FRI</a:t>
            </a:r>
          </a:p>
        </p:txBody>
      </p:sp>
      <p:sp>
        <p:nvSpPr>
          <p:cNvPr id="61" name="sub-ask-3"/>
          <p:cNvSpPr/>
          <p:nvPr/>
        </p:nvSpPr>
        <p:spPr>
          <a:xfrm>
            <a:off x="6324600" y="5048250"/>
            <a:ext cx="53530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ub-ask-3-accent"/>
          <p:cNvSpPr/>
          <p:nvPr/>
        </p:nvSpPr>
        <p:spPr>
          <a:xfrm>
            <a:off x="6324600" y="5048250"/>
            <a:ext cx="28575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sub-ask-3-num-bg"/>
          <p:cNvSpPr/>
          <p:nvPr/>
        </p:nvSpPr>
        <p:spPr>
          <a:xfrm>
            <a:off x="6438900" y="51435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ub-ask-3-num"/>
          <p:cNvSpPr txBox="1"/>
          <p:nvPr/>
        </p:nvSpPr>
        <p:spPr>
          <a:xfrm>
            <a:off x="6438900" y="51435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5" name="sub-ask-3-body"/>
          <p:cNvSpPr txBox="1"/>
          <p:nvPr/>
        </p:nvSpPr>
        <p:spPr>
          <a:xfrm>
            <a:off x="6724650" y="5086350"/>
            <a:ext cx="4857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Hire 1 designer-engineer to sustain pattern velocity</a:t>
            </a:r>
          </a:p>
        </p:txBody>
      </p:sp>
      <p:sp>
        <p:nvSpPr>
          <p:cNvPr id="66" name="sub-ask-3-meta"/>
          <p:cNvSpPr txBox="1"/>
          <p:nvPr/>
        </p:nvSpPr>
        <p:spPr>
          <a:xfrm>
            <a:off x="6724650" y="5257800"/>
            <a:ext cx="485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HR · BY NEXT WEEK</a:t>
            </a:r>
          </a:p>
        </p:txBody>
      </p:sp>
      <p:sp>
        <p:nvSpPr>
          <p:cNvPr id="67" name="convergence-bg"/>
          <p:cNvSpPr/>
          <p:nvPr/>
        </p:nvSpPr>
        <p:spPr>
          <a:xfrm>
            <a:off x="381000" y="5943600"/>
            <a:ext cx="114300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onvergence-accent"/>
          <p:cNvSpPr/>
          <p:nvPr/>
        </p:nvSpPr>
        <p:spPr>
          <a:xfrm>
            <a:off x="381000" y="5943600"/>
            <a:ext cx="28575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onvergence"/>
          <p:cNvSpPr txBox="1"/>
          <p:nvPr/>
        </p:nvSpPr>
        <p:spPr>
          <a:xfrm>
            <a:off x="552450" y="5943600"/>
            <a:ext cx="110871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Three items need MD decision by Friday — without them, Wave 2 slips two weeks.</a:t>
            </a:r>
          </a:p>
        </p:txBody>
      </p:sp>
      <p:sp>
        <p:nvSpPr>
          <p:cNvPr id="7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