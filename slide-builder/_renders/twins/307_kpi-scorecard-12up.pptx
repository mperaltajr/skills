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Global Programme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KPI Scorecard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Q2 2026 · 12 key metrics across delivery, finance, and talent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8267700" y="2209800"/>
            <a:ext cx="3467100" cy="304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title"/>
          <p:cNvSpPr txBox="1"/>
          <p:nvPr/>
        </p:nvSpPr>
        <p:spPr>
          <a:xfrm>
            <a:off x="8382000" y="2209800"/>
            <a:ext cx="8572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RAG STATUS</a:t>
            </a:r>
          </a:p>
        </p:txBody>
      </p:sp>
      <p:sp>
        <p:nvSpPr>
          <p:cNvPr id="7" name="legend-1-dot"/>
          <p:cNvSpPr/>
          <p:nvPr/>
        </p:nvSpPr>
        <p:spPr>
          <a:xfrm>
            <a:off x="9239250" y="23241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9372600" y="22098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Green</a:t>
            </a:r>
          </a:p>
        </p:txBody>
      </p:sp>
      <p:sp>
        <p:nvSpPr>
          <p:cNvPr id="9" name="legend-2-dot"/>
          <p:cNvSpPr/>
          <p:nvPr/>
        </p:nvSpPr>
        <p:spPr>
          <a:xfrm>
            <a:off x="10058400" y="23241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10191750" y="22098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Amber</a:t>
            </a:r>
          </a:p>
        </p:txBody>
      </p:sp>
      <p:sp>
        <p:nvSpPr>
          <p:cNvPr id="11" name="legend-3-dot"/>
          <p:cNvSpPr/>
          <p:nvPr/>
        </p:nvSpPr>
        <p:spPr>
          <a:xfrm>
            <a:off x="10877550" y="2324100"/>
            <a:ext cx="762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11010900" y="2209800"/>
            <a:ext cx="647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Red</a:t>
            </a:r>
          </a:p>
        </p:txBody>
      </p:sp>
      <p:sp>
        <p:nvSpPr>
          <p:cNvPr id="13" name="tile-1-bg"/>
          <p:cNvSpPr/>
          <p:nvPr/>
        </p:nvSpPr>
        <p:spPr>
          <a:xfrm>
            <a:off x="457200" y="26289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le-1-rag"/>
          <p:cNvSpPr/>
          <p:nvPr/>
        </p:nvSpPr>
        <p:spPr>
          <a:xfrm>
            <a:off x="3000375" y="27432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ile-1-name"/>
          <p:cNvSpPr txBox="1"/>
          <p:nvPr/>
        </p:nvSpPr>
        <p:spPr>
          <a:xfrm>
            <a:off x="590550" y="27241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REVENUE (USD)</a:t>
            </a:r>
          </a:p>
        </p:txBody>
      </p:sp>
      <p:sp>
        <p:nvSpPr>
          <p:cNvPr id="16" name="tile-1-value"/>
          <p:cNvSpPr txBox="1"/>
          <p:nvPr/>
        </p:nvSpPr>
        <p:spPr>
          <a:xfrm>
            <a:off x="590550" y="28956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$4.8B</a:t>
            </a:r>
          </a:p>
        </p:txBody>
      </p:sp>
      <p:sp>
        <p:nvSpPr>
          <p:cNvPr id="17" name="tile-1-delta"/>
          <p:cNvSpPr txBox="1"/>
          <p:nvPr/>
        </p:nvSpPr>
        <p:spPr>
          <a:xfrm>
            <a:off x="590550" y="35623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6.2% vs Q1</a:t>
            </a:r>
          </a:p>
        </p:txBody>
      </p:sp>
      <p:sp>
        <p:nvSpPr>
          <p:cNvPr id="18" name="tile-1-spark-line"/>
          <p:cNvSpPr/>
          <p:nvPr/>
        </p:nvSpPr>
        <p:spPr>
          <a:xfrm>
            <a:off x="2314575" y="35242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ile-1-spark-dot"/>
          <p:cNvSpPr/>
          <p:nvPr/>
        </p:nvSpPr>
        <p:spPr>
          <a:xfrm>
            <a:off x="3000375" y="34861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ile-2-bg"/>
          <p:cNvSpPr/>
          <p:nvPr/>
        </p:nvSpPr>
        <p:spPr>
          <a:xfrm>
            <a:off x="3305175" y="26289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ile-2-rag"/>
          <p:cNvSpPr/>
          <p:nvPr/>
        </p:nvSpPr>
        <p:spPr>
          <a:xfrm>
            <a:off x="5848350" y="27432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ile-2-name"/>
          <p:cNvSpPr txBox="1"/>
          <p:nvPr/>
        </p:nvSpPr>
        <p:spPr>
          <a:xfrm>
            <a:off x="3438525" y="27241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EBIT MARGIN</a:t>
            </a:r>
          </a:p>
        </p:txBody>
      </p:sp>
      <p:sp>
        <p:nvSpPr>
          <p:cNvPr id="23" name="tile-2-value"/>
          <p:cNvSpPr txBox="1"/>
          <p:nvPr/>
        </p:nvSpPr>
        <p:spPr>
          <a:xfrm>
            <a:off x="3438525" y="28956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14.3%</a:t>
            </a:r>
          </a:p>
        </p:txBody>
      </p:sp>
      <p:sp>
        <p:nvSpPr>
          <p:cNvPr id="24" name="tile-2-delta"/>
          <p:cNvSpPr txBox="1"/>
          <p:nvPr/>
        </p:nvSpPr>
        <p:spPr>
          <a:xfrm>
            <a:off x="3438525" y="35623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0.4pp vs Q1</a:t>
            </a:r>
          </a:p>
        </p:txBody>
      </p:sp>
      <p:sp>
        <p:nvSpPr>
          <p:cNvPr id="25" name="tile-2-spark-line"/>
          <p:cNvSpPr/>
          <p:nvPr/>
        </p:nvSpPr>
        <p:spPr>
          <a:xfrm>
            <a:off x="5162550" y="35242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ile-2-spark-dot"/>
          <p:cNvSpPr/>
          <p:nvPr/>
        </p:nvSpPr>
        <p:spPr>
          <a:xfrm>
            <a:off x="5848350" y="34861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ile-3-bg"/>
          <p:cNvSpPr/>
          <p:nvPr/>
        </p:nvSpPr>
        <p:spPr>
          <a:xfrm>
            <a:off x="6153150" y="26289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ile-3-rag"/>
          <p:cNvSpPr/>
          <p:nvPr/>
        </p:nvSpPr>
        <p:spPr>
          <a:xfrm>
            <a:off x="8696325" y="27432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ile-3-name"/>
          <p:cNvSpPr txBox="1"/>
          <p:nvPr/>
        </p:nvSpPr>
        <p:spPr>
          <a:xfrm>
            <a:off x="6286500" y="27241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NET NEW BOOKINGS</a:t>
            </a:r>
          </a:p>
        </p:txBody>
      </p:sp>
      <p:sp>
        <p:nvSpPr>
          <p:cNvPr id="30" name="tile-3-value"/>
          <p:cNvSpPr txBox="1"/>
          <p:nvPr/>
        </p:nvSpPr>
        <p:spPr>
          <a:xfrm>
            <a:off x="6286500" y="28956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$1.2B</a:t>
            </a:r>
          </a:p>
        </p:txBody>
      </p:sp>
      <p:sp>
        <p:nvSpPr>
          <p:cNvPr id="31" name="tile-3-delta"/>
          <p:cNvSpPr txBox="1"/>
          <p:nvPr/>
        </p:nvSpPr>
        <p:spPr>
          <a:xfrm>
            <a:off x="6286500" y="35623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11.8% vs Q1</a:t>
            </a:r>
          </a:p>
        </p:txBody>
      </p:sp>
      <p:sp>
        <p:nvSpPr>
          <p:cNvPr id="32" name="tile-3-spark-line"/>
          <p:cNvSpPr/>
          <p:nvPr/>
        </p:nvSpPr>
        <p:spPr>
          <a:xfrm>
            <a:off x="8010525" y="35242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ile-3-spark-dot"/>
          <p:cNvSpPr/>
          <p:nvPr/>
        </p:nvSpPr>
        <p:spPr>
          <a:xfrm>
            <a:off x="8696325" y="34861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ile-4-bg"/>
          <p:cNvSpPr/>
          <p:nvPr/>
        </p:nvSpPr>
        <p:spPr>
          <a:xfrm>
            <a:off x="9001125" y="26289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le-4-rag"/>
          <p:cNvSpPr/>
          <p:nvPr/>
        </p:nvSpPr>
        <p:spPr>
          <a:xfrm>
            <a:off x="11544300" y="2743200"/>
            <a:ext cx="762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ile-4-name"/>
          <p:cNvSpPr txBox="1"/>
          <p:nvPr/>
        </p:nvSpPr>
        <p:spPr>
          <a:xfrm>
            <a:off x="9134475" y="27241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COST-TO-SERVE</a:t>
            </a:r>
          </a:p>
        </p:txBody>
      </p:sp>
      <p:sp>
        <p:nvSpPr>
          <p:cNvPr id="37" name="tile-4-value"/>
          <p:cNvSpPr txBox="1"/>
          <p:nvPr/>
        </p:nvSpPr>
        <p:spPr>
          <a:xfrm>
            <a:off x="9134475" y="28956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38.7%</a:t>
            </a:r>
          </a:p>
        </p:txBody>
      </p:sp>
      <p:sp>
        <p:nvSpPr>
          <p:cNvPr id="38" name="tile-4-delta"/>
          <p:cNvSpPr txBox="1"/>
          <p:nvPr/>
        </p:nvSpPr>
        <p:spPr>
          <a:xfrm>
            <a:off x="9134475" y="35623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1.1pp vs target</a:t>
            </a:r>
          </a:p>
        </p:txBody>
      </p:sp>
      <p:sp>
        <p:nvSpPr>
          <p:cNvPr id="39" name="tile-4-spark-line"/>
          <p:cNvSpPr/>
          <p:nvPr/>
        </p:nvSpPr>
        <p:spPr>
          <a:xfrm>
            <a:off x="10858500" y="35242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ile-4-spark-dot"/>
          <p:cNvSpPr/>
          <p:nvPr/>
        </p:nvSpPr>
        <p:spPr>
          <a:xfrm>
            <a:off x="11544300" y="34861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ile-5-bg"/>
          <p:cNvSpPr/>
          <p:nvPr/>
        </p:nvSpPr>
        <p:spPr>
          <a:xfrm>
            <a:off x="457200" y="39243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ile-5-rag"/>
          <p:cNvSpPr/>
          <p:nvPr/>
        </p:nvSpPr>
        <p:spPr>
          <a:xfrm>
            <a:off x="3000375" y="40386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ile-5-name"/>
          <p:cNvSpPr txBox="1"/>
          <p:nvPr/>
        </p:nvSpPr>
        <p:spPr>
          <a:xfrm>
            <a:off x="590550" y="40195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HEADCOUNT</a:t>
            </a:r>
          </a:p>
        </p:txBody>
      </p:sp>
      <p:sp>
        <p:nvSpPr>
          <p:cNvPr id="44" name="tile-5-value"/>
          <p:cNvSpPr txBox="1"/>
          <p:nvPr/>
        </p:nvSpPr>
        <p:spPr>
          <a:xfrm>
            <a:off x="590550" y="41910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52,410</a:t>
            </a:r>
          </a:p>
        </p:txBody>
      </p:sp>
      <p:sp>
        <p:nvSpPr>
          <p:cNvPr id="45" name="tile-5-delta"/>
          <p:cNvSpPr txBox="1"/>
          <p:nvPr/>
        </p:nvSpPr>
        <p:spPr>
          <a:xfrm>
            <a:off x="590550" y="48577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2.1% vs Q1</a:t>
            </a:r>
          </a:p>
        </p:txBody>
      </p:sp>
      <p:sp>
        <p:nvSpPr>
          <p:cNvPr id="46" name="tile-5-spark-line"/>
          <p:cNvSpPr/>
          <p:nvPr/>
        </p:nvSpPr>
        <p:spPr>
          <a:xfrm>
            <a:off x="2314575" y="48196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ile-5-spark-dot"/>
          <p:cNvSpPr/>
          <p:nvPr/>
        </p:nvSpPr>
        <p:spPr>
          <a:xfrm>
            <a:off x="3000375" y="47815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ile-6-bg"/>
          <p:cNvSpPr/>
          <p:nvPr/>
        </p:nvSpPr>
        <p:spPr>
          <a:xfrm>
            <a:off x="3305175" y="39243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ile-6-rag"/>
          <p:cNvSpPr/>
          <p:nvPr/>
        </p:nvSpPr>
        <p:spPr>
          <a:xfrm>
            <a:off x="5848350" y="40386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ile-6-name"/>
          <p:cNvSpPr txBox="1"/>
          <p:nvPr/>
        </p:nvSpPr>
        <p:spPr>
          <a:xfrm>
            <a:off x="3438525" y="40195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ATTRITION RATE</a:t>
            </a:r>
          </a:p>
        </p:txBody>
      </p:sp>
      <p:sp>
        <p:nvSpPr>
          <p:cNvPr id="51" name="tile-6-value"/>
          <p:cNvSpPr txBox="1"/>
          <p:nvPr/>
        </p:nvSpPr>
        <p:spPr>
          <a:xfrm>
            <a:off x="3438525" y="41910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12.4%</a:t>
            </a:r>
          </a:p>
        </p:txBody>
      </p:sp>
      <p:sp>
        <p:nvSpPr>
          <p:cNvPr id="52" name="tile-6-delta"/>
          <p:cNvSpPr txBox="1"/>
          <p:nvPr/>
        </p:nvSpPr>
        <p:spPr>
          <a:xfrm>
            <a:off x="3438525" y="48577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0.8pp vs Q1</a:t>
            </a:r>
          </a:p>
        </p:txBody>
      </p:sp>
      <p:sp>
        <p:nvSpPr>
          <p:cNvPr id="53" name="tile-6-spark-line"/>
          <p:cNvSpPr/>
          <p:nvPr/>
        </p:nvSpPr>
        <p:spPr>
          <a:xfrm>
            <a:off x="5162550" y="48196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ile-6-spark-dot"/>
          <p:cNvSpPr/>
          <p:nvPr/>
        </p:nvSpPr>
        <p:spPr>
          <a:xfrm>
            <a:off x="5848350" y="47815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ile-7-bg"/>
          <p:cNvSpPr/>
          <p:nvPr/>
        </p:nvSpPr>
        <p:spPr>
          <a:xfrm>
            <a:off x="6153150" y="39243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ile-7-rag"/>
          <p:cNvSpPr/>
          <p:nvPr/>
        </p:nvSpPr>
        <p:spPr>
          <a:xfrm>
            <a:off x="8696325" y="40386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ile-7-name"/>
          <p:cNvSpPr txBox="1"/>
          <p:nvPr/>
        </p:nvSpPr>
        <p:spPr>
          <a:xfrm>
            <a:off x="6286500" y="40195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UTILISATION</a:t>
            </a:r>
          </a:p>
        </p:txBody>
      </p:sp>
      <p:sp>
        <p:nvSpPr>
          <p:cNvPr id="58" name="tile-7-value"/>
          <p:cNvSpPr txBox="1"/>
          <p:nvPr/>
        </p:nvSpPr>
        <p:spPr>
          <a:xfrm>
            <a:off x="6286500" y="41910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88.2%</a:t>
            </a:r>
          </a:p>
        </p:txBody>
      </p:sp>
      <p:sp>
        <p:nvSpPr>
          <p:cNvPr id="59" name="tile-7-delta"/>
          <p:cNvSpPr txBox="1"/>
          <p:nvPr/>
        </p:nvSpPr>
        <p:spPr>
          <a:xfrm>
            <a:off x="6286500" y="48577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1.4pp vs Q1</a:t>
            </a:r>
          </a:p>
        </p:txBody>
      </p:sp>
      <p:sp>
        <p:nvSpPr>
          <p:cNvPr id="60" name="tile-7-spark-line"/>
          <p:cNvSpPr/>
          <p:nvPr/>
        </p:nvSpPr>
        <p:spPr>
          <a:xfrm>
            <a:off x="8010525" y="48196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ile-7-spark-dot"/>
          <p:cNvSpPr/>
          <p:nvPr/>
        </p:nvSpPr>
        <p:spPr>
          <a:xfrm>
            <a:off x="8696325" y="47815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ile-8-bg"/>
          <p:cNvSpPr/>
          <p:nvPr/>
        </p:nvSpPr>
        <p:spPr>
          <a:xfrm>
            <a:off x="9001125" y="39243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ile-8-rag"/>
          <p:cNvSpPr/>
          <p:nvPr/>
        </p:nvSpPr>
        <p:spPr>
          <a:xfrm>
            <a:off x="11544300" y="40386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ile-8-name"/>
          <p:cNvSpPr txBox="1"/>
          <p:nvPr/>
        </p:nvSpPr>
        <p:spPr>
          <a:xfrm>
            <a:off x="9134475" y="40195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CSAT SCORE</a:t>
            </a:r>
          </a:p>
        </p:txBody>
      </p:sp>
      <p:sp>
        <p:nvSpPr>
          <p:cNvPr id="65" name="tile-8-value"/>
          <p:cNvSpPr txBox="1"/>
          <p:nvPr/>
        </p:nvSpPr>
        <p:spPr>
          <a:xfrm>
            <a:off x="9134475" y="41910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8.7</a:t>
            </a:r>
          </a:p>
        </p:txBody>
      </p:sp>
      <p:sp>
        <p:nvSpPr>
          <p:cNvPr id="66" name="tile-8-delta"/>
          <p:cNvSpPr txBox="1"/>
          <p:nvPr/>
        </p:nvSpPr>
        <p:spPr>
          <a:xfrm>
            <a:off x="9134475" y="48577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0.3 vs Q1</a:t>
            </a:r>
          </a:p>
        </p:txBody>
      </p:sp>
      <p:sp>
        <p:nvSpPr>
          <p:cNvPr id="67" name="tile-8-spark-line"/>
          <p:cNvSpPr/>
          <p:nvPr/>
        </p:nvSpPr>
        <p:spPr>
          <a:xfrm>
            <a:off x="10858500" y="48196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ile-8-spark-dot"/>
          <p:cNvSpPr/>
          <p:nvPr/>
        </p:nvSpPr>
        <p:spPr>
          <a:xfrm>
            <a:off x="11544300" y="47815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ile-9-bg"/>
          <p:cNvSpPr/>
          <p:nvPr/>
        </p:nvSpPr>
        <p:spPr>
          <a:xfrm>
            <a:off x="457200" y="52197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ile-9-rag"/>
          <p:cNvSpPr/>
          <p:nvPr/>
        </p:nvSpPr>
        <p:spPr>
          <a:xfrm>
            <a:off x="3000375" y="53340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ile-9-name"/>
          <p:cNvSpPr txBox="1"/>
          <p:nvPr/>
        </p:nvSpPr>
        <p:spPr>
          <a:xfrm>
            <a:off x="590550" y="53149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SLA COMPLIANCE</a:t>
            </a:r>
          </a:p>
        </p:txBody>
      </p:sp>
      <p:sp>
        <p:nvSpPr>
          <p:cNvPr id="72" name="tile-9-value"/>
          <p:cNvSpPr txBox="1"/>
          <p:nvPr/>
        </p:nvSpPr>
        <p:spPr>
          <a:xfrm>
            <a:off x="590550" y="54864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96.1%</a:t>
            </a:r>
          </a:p>
        </p:txBody>
      </p:sp>
      <p:sp>
        <p:nvSpPr>
          <p:cNvPr id="73" name="tile-9-delta"/>
          <p:cNvSpPr txBox="1"/>
          <p:nvPr/>
        </p:nvSpPr>
        <p:spPr>
          <a:xfrm>
            <a:off x="590550" y="61531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0.9pp vs target</a:t>
            </a:r>
          </a:p>
        </p:txBody>
      </p:sp>
      <p:sp>
        <p:nvSpPr>
          <p:cNvPr id="74" name="tile-9-spark-line"/>
          <p:cNvSpPr/>
          <p:nvPr/>
        </p:nvSpPr>
        <p:spPr>
          <a:xfrm>
            <a:off x="2314575" y="61150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ile-9-spark-dot"/>
          <p:cNvSpPr/>
          <p:nvPr/>
        </p:nvSpPr>
        <p:spPr>
          <a:xfrm>
            <a:off x="3000375" y="60769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ile-10-bg"/>
          <p:cNvSpPr/>
          <p:nvPr/>
        </p:nvSpPr>
        <p:spPr>
          <a:xfrm>
            <a:off x="3305175" y="52197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ile-10-rag"/>
          <p:cNvSpPr/>
          <p:nvPr/>
        </p:nvSpPr>
        <p:spPr>
          <a:xfrm>
            <a:off x="5848350" y="5334000"/>
            <a:ext cx="762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ile-10-name"/>
          <p:cNvSpPr txBox="1"/>
          <p:nvPr/>
        </p:nvSpPr>
        <p:spPr>
          <a:xfrm>
            <a:off x="3438525" y="53149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OPEN RISKS</a:t>
            </a:r>
          </a:p>
        </p:txBody>
      </p:sp>
      <p:sp>
        <p:nvSpPr>
          <p:cNvPr id="79" name="tile-10-value"/>
          <p:cNvSpPr txBox="1"/>
          <p:nvPr/>
        </p:nvSpPr>
        <p:spPr>
          <a:xfrm>
            <a:off x="3438525" y="54864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23</a:t>
            </a:r>
          </a:p>
        </p:txBody>
      </p:sp>
      <p:sp>
        <p:nvSpPr>
          <p:cNvPr id="80" name="tile-10-delta"/>
          <p:cNvSpPr txBox="1"/>
          <p:nvPr/>
        </p:nvSpPr>
        <p:spPr>
          <a:xfrm>
            <a:off x="3438525" y="61531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8.0% vs Q1</a:t>
            </a:r>
          </a:p>
        </p:txBody>
      </p:sp>
      <p:sp>
        <p:nvSpPr>
          <p:cNvPr id="81" name="tile-10-spark-line"/>
          <p:cNvSpPr/>
          <p:nvPr/>
        </p:nvSpPr>
        <p:spPr>
          <a:xfrm>
            <a:off x="5162550" y="61150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ile-10-spark-dot"/>
          <p:cNvSpPr/>
          <p:nvPr/>
        </p:nvSpPr>
        <p:spPr>
          <a:xfrm>
            <a:off x="5848350" y="60769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ile-11-bg"/>
          <p:cNvSpPr/>
          <p:nvPr/>
        </p:nvSpPr>
        <p:spPr>
          <a:xfrm>
            <a:off x="6153150" y="52197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ile-11-rag"/>
          <p:cNvSpPr/>
          <p:nvPr/>
        </p:nvSpPr>
        <p:spPr>
          <a:xfrm>
            <a:off x="8696325" y="53340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ile-11-name"/>
          <p:cNvSpPr txBox="1"/>
          <p:nvPr/>
        </p:nvSpPr>
        <p:spPr>
          <a:xfrm>
            <a:off x="6286500" y="53149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TRAINING HOURS</a:t>
            </a:r>
          </a:p>
        </p:txBody>
      </p:sp>
      <p:sp>
        <p:nvSpPr>
          <p:cNvPr id="86" name="tile-11-value"/>
          <p:cNvSpPr txBox="1"/>
          <p:nvPr/>
        </p:nvSpPr>
        <p:spPr>
          <a:xfrm>
            <a:off x="6286500" y="54864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41.2h</a:t>
            </a:r>
          </a:p>
        </p:txBody>
      </p:sp>
      <p:sp>
        <p:nvSpPr>
          <p:cNvPr id="87" name="tile-11-delta"/>
          <p:cNvSpPr txBox="1"/>
          <p:nvPr/>
        </p:nvSpPr>
        <p:spPr>
          <a:xfrm>
            <a:off x="6286500" y="61531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5.7% vs Q1</a:t>
            </a:r>
          </a:p>
        </p:txBody>
      </p:sp>
      <p:sp>
        <p:nvSpPr>
          <p:cNvPr id="88" name="tile-11-spark-line"/>
          <p:cNvSpPr/>
          <p:nvPr/>
        </p:nvSpPr>
        <p:spPr>
          <a:xfrm>
            <a:off x="8010525" y="61150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tile-11-spark-dot"/>
          <p:cNvSpPr/>
          <p:nvPr/>
        </p:nvSpPr>
        <p:spPr>
          <a:xfrm>
            <a:off x="8696325" y="60769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ile-12-bg"/>
          <p:cNvSpPr/>
          <p:nvPr/>
        </p:nvSpPr>
        <p:spPr>
          <a:xfrm>
            <a:off x="9001125" y="5219700"/>
            <a:ext cx="2714625" cy="1162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ile-12-rag"/>
          <p:cNvSpPr/>
          <p:nvPr/>
        </p:nvSpPr>
        <p:spPr>
          <a:xfrm>
            <a:off x="11544300" y="53340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ile-12-name"/>
          <p:cNvSpPr txBox="1"/>
          <p:nvPr/>
        </p:nvSpPr>
        <p:spPr>
          <a:xfrm>
            <a:off x="9134475" y="5314950"/>
            <a:ext cx="23717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CLOUD MIGRATION</a:t>
            </a:r>
          </a:p>
        </p:txBody>
      </p:sp>
      <p:sp>
        <p:nvSpPr>
          <p:cNvPr id="93" name="tile-12-value"/>
          <p:cNvSpPr txBox="1"/>
          <p:nvPr/>
        </p:nvSpPr>
        <p:spPr>
          <a:xfrm>
            <a:off x="9134475" y="5486400"/>
            <a:ext cx="24479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71%</a:t>
            </a:r>
          </a:p>
        </p:txBody>
      </p:sp>
      <p:sp>
        <p:nvSpPr>
          <p:cNvPr id="94" name="tile-12-delta"/>
          <p:cNvSpPr txBox="1"/>
          <p:nvPr/>
        </p:nvSpPr>
        <p:spPr>
          <a:xfrm>
            <a:off x="9134475" y="6153150"/>
            <a:ext cx="2447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4.0pp vs Q1</a:t>
            </a:r>
          </a:p>
        </p:txBody>
      </p:sp>
      <p:sp>
        <p:nvSpPr>
          <p:cNvPr id="95" name="tile-12-spark-line"/>
          <p:cNvSpPr/>
          <p:nvPr/>
        </p:nvSpPr>
        <p:spPr>
          <a:xfrm>
            <a:off x="10858500" y="6115050"/>
            <a:ext cx="723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ile-12-spark-dot"/>
          <p:cNvSpPr/>
          <p:nvPr/>
        </p:nvSpPr>
        <p:spPr>
          <a:xfrm>
            <a:off x="11544300" y="60769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