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1A1A2E"/>
                </a:solidFill>
                <a:latin typeface="Inter"/>
              </a:rPr>
              <a:t>Theory of change — from four weeks of inputs to a Q3 decision.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3400" y="93345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Inputs power activities, activities produce outputs, outputs drive the outcomes that close the case.</a:t>
            </a:r>
          </a:p>
        </p:txBody>
      </p:sp>
      <p:sp>
        <p:nvSpPr>
          <p:cNvPr id="4" name="brand-rule"/>
          <p:cNvSpPr/>
          <p:nvPr/>
        </p:nvSpPr>
        <p:spPr>
          <a:xfrm>
            <a:off x="533400" y="13716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tep-1-header"/>
          <p:cNvSpPr/>
          <p:nvPr/>
        </p:nvSpPr>
        <p:spPr>
          <a:xfrm>
            <a:off x="533400" y="1809750"/>
            <a:ext cx="2647950" cy="5905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step-1-eyebrow"/>
          <p:cNvSpPr txBox="1"/>
          <p:nvPr/>
        </p:nvSpPr>
        <p:spPr>
          <a:xfrm>
            <a:off x="685800" y="1885950"/>
            <a:ext cx="23431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STAGE 1</a:t>
            </a:r>
          </a:p>
        </p:txBody>
      </p:sp>
      <p:sp>
        <p:nvSpPr>
          <p:cNvPr id="7" name="step-1-name"/>
          <p:cNvSpPr txBox="1"/>
          <p:nvPr/>
        </p:nvSpPr>
        <p:spPr>
          <a:xfrm>
            <a:off x="685800" y="2019300"/>
            <a:ext cx="2343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INPUTS</a:t>
            </a:r>
          </a:p>
        </p:txBody>
      </p:sp>
      <p:sp>
        <p:nvSpPr>
          <p:cNvPr id="8" name="step-1-desc"/>
          <p:cNvSpPr txBox="1"/>
          <p:nvPr/>
        </p:nvSpPr>
        <p:spPr>
          <a:xfrm>
            <a:off x="685800" y="2247900"/>
            <a:ext cx="2343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What we put in</a:t>
            </a:r>
          </a:p>
        </p:txBody>
      </p:sp>
      <p:sp>
        <p:nvSpPr>
          <p:cNvPr id="9" name="step-1-body"/>
          <p:cNvSpPr/>
          <p:nvPr/>
        </p:nvSpPr>
        <p:spPr>
          <a:xfrm>
            <a:off x="533400" y="2400300"/>
            <a:ext cx="2647950" cy="3124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step-1-item-1"/>
          <p:cNvSpPr txBox="1"/>
          <p:nvPr/>
        </p:nvSpPr>
        <p:spPr>
          <a:xfrm>
            <a:off x="685800" y="2533650"/>
            <a:ext cx="234315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 4 pilot users committed</a:t>
            </a:r>
          </a:p>
        </p:txBody>
      </p:sp>
      <p:sp>
        <p:nvSpPr>
          <p:cNvPr id="11" name="step-1-item-2"/>
          <p:cNvSpPr txBox="1"/>
          <p:nvPr/>
        </p:nvSpPr>
        <p:spPr>
          <a:xfrm>
            <a:off x="685800" y="3105150"/>
            <a:ext cx="234315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 Existing decks as baseline</a:t>
            </a:r>
          </a:p>
        </p:txBody>
      </p:sp>
      <p:sp>
        <p:nvSpPr>
          <p:cNvPr id="12" name="step-1-item-3"/>
          <p:cNvSpPr txBox="1"/>
          <p:nvPr/>
        </p:nvSpPr>
        <p:spPr>
          <a:xfrm>
            <a:off x="685800" y="3676650"/>
            <a:ext cx="234315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 Coaching time, 2 hrs / wk</a:t>
            </a:r>
          </a:p>
        </p:txBody>
      </p:sp>
      <p:sp>
        <p:nvSpPr>
          <p:cNvPr id="13" name="step-1-item-4"/>
          <p:cNvSpPr txBox="1"/>
          <p:nvPr/>
        </p:nvSpPr>
        <p:spPr>
          <a:xfrm>
            <a:off x="685800" y="4248150"/>
            <a:ext cx="234315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 Slide Lab tool access</a:t>
            </a:r>
          </a:p>
        </p:txBody>
      </p:sp>
      <p:sp>
        <p:nvSpPr>
          <p:cNvPr id="14" name="step-1-item-5"/>
          <p:cNvSpPr txBox="1"/>
          <p:nvPr/>
        </p:nvSpPr>
        <p:spPr>
          <a:xfrm>
            <a:off x="685800" y="4819650"/>
            <a:ext cx="234315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 4-week pilot window</a:t>
            </a:r>
          </a:p>
        </p:txBody>
      </p:sp>
      <p:sp>
        <p:nvSpPr>
          <p:cNvPr id="15" name="step-1-arrow"/>
          <p:cNvSpPr txBox="1"/>
          <p:nvPr/>
        </p:nvSpPr>
        <p:spPr>
          <a:xfrm>
            <a:off x="3209925" y="20288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▶</a:t>
            </a:r>
          </a:p>
        </p:txBody>
      </p:sp>
      <p:sp>
        <p:nvSpPr>
          <p:cNvPr id="16" name="step-2-header"/>
          <p:cNvSpPr/>
          <p:nvPr/>
        </p:nvSpPr>
        <p:spPr>
          <a:xfrm>
            <a:off x="3352800" y="1809750"/>
            <a:ext cx="2647950" cy="590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step-2-eyebrow"/>
          <p:cNvSpPr txBox="1"/>
          <p:nvPr/>
        </p:nvSpPr>
        <p:spPr>
          <a:xfrm>
            <a:off x="3505200" y="1885950"/>
            <a:ext cx="23431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STAGE 2</a:t>
            </a:r>
          </a:p>
        </p:txBody>
      </p:sp>
      <p:sp>
        <p:nvSpPr>
          <p:cNvPr id="18" name="step-2-name"/>
          <p:cNvSpPr txBox="1"/>
          <p:nvPr/>
        </p:nvSpPr>
        <p:spPr>
          <a:xfrm>
            <a:off x="3505200" y="2019300"/>
            <a:ext cx="2343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ACTIVITIES</a:t>
            </a:r>
          </a:p>
        </p:txBody>
      </p:sp>
      <p:sp>
        <p:nvSpPr>
          <p:cNvPr id="19" name="step-2-desc"/>
          <p:cNvSpPr txBox="1"/>
          <p:nvPr/>
        </p:nvSpPr>
        <p:spPr>
          <a:xfrm>
            <a:off x="3505200" y="2247900"/>
            <a:ext cx="2343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What we do</a:t>
            </a:r>
          </a:p>
        </p:txBody>
      </p:sp>
      <p:sp>
        <p:nvSpPr>
          <p:cNvPr id="20" name="step-2-body"/>
          <p:cNvSpPr/>
          <p:nvPr/>
        </p:nvSpPr>
        <p:spPr>
          <a:xfrm>
            <a:off x="3352800" y="2400300"/>
            <a:ext cx="2647950" cy="3124200"/>
          </a:xfrm>
          <a:prstGeom prst="rect">
            <a:avLst/>
          </a:prstGeom>
          <a:solidFill>
            <a:srgbClr val="F2E8FA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step-2-item-1"/>
          <p:cNvSpPr txBox="1"/>
          <p:nvPr/>
        </p:nvSpPr>
        <p:spPr>
          <a:xfrm>
            <a:off x="3505200" y="2533650"/>
            <a:ext cx="2343150" cy="6762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 Storyline coaching sessions</a:t>
            </a:r>
          </a:p>
        </p:txBody>
      </p:sp>
      <p:sp>
        <p:nvSpPr>
          <p:cNvPr id="22" name="step-2-item-2"/>
          <p:cNvSpPr txBox="1"/>
          <p:nvPr/>
        </p:nvSpPr>
        <p:spPr>
          <a:xfrm>
            <a:off x="3505200" y="3248025"/>
            <a:ext cx="2343150" cy="6762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 Deck rebuilds against patterns</a:t>
            </a:r>
          </a:p>
        </p:txBody>
      </p:sp>
      <p:sp>
        <p:nvSpPr>
          <p:cNvPr id="23" name="step-2-item-3"/>
          <p:cNvSpPr txBox="1"/>
          <p:nvPr/>
        </p:nvSpPr>
        <p:spPr>
          <a:xfrm>
            <a:off x="3505200" y="3962400"/>
            <a:ext cx="2343150" cy="6762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 Pattern-library application</a:t>
            </a:r>
          </a:p>
        </p:txBody>
      </p:sp>
      <p:sp>
        <p:nvSpPr>
          <p:cNvPr id="24" name="step-2-item-4"/>
          <p:cNvSpPr txBox="1"/>
          <p:nvPr/>
        </p:nvSpPr>
        <p:spPr>
          <a:xfrm>
            <a:off x="3505200" y="4676775"/>
            <a:ext cx="2343150" cy="6762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 Weekly retro and review</a:t>
            </a:r>
          </a:p>
        </p:txBody>
      </p:sp>
      <p:sp>
        <p:nvSpPr>
          <p:cNvPr id="25" name="step-2-arrow"/>
          <p:cNvSpPr txBox="1"/>
          <p:nvPr/>
        </p:nvSpPr>
        <p:spPr>
          <a:xfrm>
            <a:off x="6029325" y="20288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▶</a:t>
            </a:r>
          </a:p>
        </p:txBody>
      </p:sp>
      <p:sp>
        <p:nvSpPr>
          <p:cNvPr id="26" name="step-3-header"/>
          <p:cNvSpPr/>
          <p:nvPr/>
        </p:nvSpPr>
        <p:spPr>
          <a:xfrm>
            <a:off x="6172200" y="1809750"/>
            <a:ext cx="2647950" cy="5905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step-3-eyebrow"/>
          <p:cNvSpPr txBox="1"/>
          <p:nvPr/>
        </p:nvSpPr>
        <p:spPr>
          <a:xfrm>
            <a:off x="6324600" y="1885950"/>
            <a:ext cx="23431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STAGE 3</a:t>
            </a:r>
          </a:p>
        </p:txBody>
      </p:sp>
      <p:sp>
        <p:nvSpPr>
          <p:cNvPr id="28" name="step-3-name"/>
          <p:cNvSpPr txBox="1"/>
          <p:nvPr/>
        </p:nvSpPr>
        <p:spPr>
          <a:xfrm>
            <a:off x="6324600" y="2019300"/>
            <a:ext cx="2343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OUTPUTS</a:t>
            </a:r>
          </a:p>
        </p:txBody>
      </p:sp>
      <p:sp>
        <p:nvSpPr>
          <p:cNvPr id="29" name="step-3-desc"/>
          <p:cNvSpPr txBox="1"/>
          <p:nvPr/>
        </p:nvSpPr>
        <p:spPr>
          <a:xfrm>
            <a:off x="6324600" y="2247900"/>
            <a:ext cx="2343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What comes out</a:t>
            </a:r>
          </a:p>
        </p:txBody>
      </p:sp>
      <p:sp>
        <p:nvSpPr>
          <p:cNvPr id="30" name="step-3-body"/>
          <p:cNvSpPr/>
          <p:nvPr/>
        </p:nvSpPr>
        <p:spPr>
          <a:xfrm>
            <a:off x="6172200" y="2400300"/>
            <a:ext cx="2647950" cy="3124200"/>
          </a:xfrm>
          <a:prstGeom prst="rect">
            <a:avLst/>
          </a:prstGeom>
          <a:solidFill>
            <a:srgbClr val="EADBF5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step-3-item-1"/>
          <p:cNvSpPr txBox="1"/>
          <p:nvPr/>
        </p:nvSpPr>
        <p:spPr>
          <a:xfrm>
            <a:off x="6324600" y="2533650"/>
            <a:ext cx="2343150" cy="6762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 12 decks measured end-to-end</a:t>
            </a:r>
          </a:p>
        </p:txBody>
      </p:sp>
      <p:sp>
        <p:nvSpPr>
          <p:cNvPr id="32" name="step-3-item-2"/>
          <p:cNvSpPr txBox="1"/>
          <p:nvPr/>
        </p:nvSpPr>
        <p:spPr>
          <a:xfrm>
            <a:off x="6324600" y="3248025"/>
            <a:ext cx="2343150" cy="6762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 Reusable pattern library</a:t>
            </a:r>
          </a:p>
        </p:txBody>
      </p:sp>
      <p:sp>
        <p:nvSpPr>
          <p:cNvPr id="33" name="step-3-item-3"/>
          <p:cNvSpPr txBox="1"/>
          <p:nvPr/>
        </p:nvSpPr>
        <p:spPr>
          <a:xfrm>
            <a:off x="6324600" y="3962400"/>
            <a:ext cx="2343150" cy="6762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 Coaching playbook v1</a:t>
            </a:r>
          </a:p>
        </p:txBody>
      </p:sp>
      <p:sp>
        <p:nvSpPr>
          <p:cNvPr id="34" name="step-3-item-4"/>
          <p:cNvSpPr txBox="1"/>
          <p:nvPr/>
        </p:nvSpPr>
        <p:spPr>
          <a:xfrm>
            <a:off x="6324600" y="4676775"/>
            <a:ext cx="2343150" cy="6762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 Pilot scorecard published</a:t>
            </a:r>
          </a:p>
        </p:txBody>
      </p:sp>
      <p:sp>
        <p:nvSpPr>
          <p:cNvPr id="35" name="step-3-arrow"/>
          <p:cNvSpPr txBox="1"/>
          <p:nvPr/>
        </p:nvSpPr>
        <p:spPr>
          <a:xfrm>
            <a:off x="8848725" y="20288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▶</a:t>
            </a:r>
          </a:p>
        </p:txBody>
      </p:sp>
      <p:sp>
        <p:nvSpPr>
          <p:cNvPr id="36" name="step-4-header"/>
          <p:cNvSpPr/>
          <p:nvPr/>
        </p:nvSpPr>
        <p:spPr>
          <a:xfrm>
            <a:off x="8991600" y="1809750"/>
            <a:ext cx="2647950" cy="590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step-4-eyebrow"/>
          <p:cNvSpPr txBox="1"/>
          <p:nvPr/>
        </p:nvSpPr>
        <p:spPr>
          <a:xfrm>
            <a:off x="9144000" y="1885950"/>
            <a:ext cx="23431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STAGE 4</a:t>
            </a:r>
          </a:p>
        </p:txBody>
      </p:sp>
      <p:sp>
        <p:nvSpPr>
          <p:cNvPr id="38" name="step-4-name"/>
          <p:cNvSpPr txBox="1"/>
          <p:nvPr/>
        </p:nvSpPr>
        <p:spPr>
          <a:xfrm>
            <a:off x="9144000" y="2019300"/>
            <a:ext cx="2343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OUTCOMES &amp; IMPACT</a:t>
            </a:r>
          </a:p>
        </p:txBody>
      </p:sp>
      <p:sp>
        <p:nvSpPr>
          <p:cNvPr id="39" name="step-4-desc"/>
          <p:cNvSpPr txBox="1"/>
          <p:nvPr/>
        </p:nvSpPr>
        <p:spPr>
          <a:xfrm>
            <a:off x="9144000" y="2247900"/>
            <a:ext cx="2343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What changes</a:t>
            </a:r>
          </a:p>
        </p:txBody>
      </p:sp>
      <p:sp>
        <p:nvSpPr>
          <p:cNvPr id="40" name="step-4-body"/>
          <p:cNvSpPr/>
          <p:nvPr/>
        </p:nvSpPr>
        <p:spPr>
          <a:xfrm>
            <a:off x="8991600" y="2400300"/>
            <a:ext cx="2647950" cy="3124200"/>
          </a:xfrm>
          <a:prstGeom prst="rect">
            <a:avLst/>
          </a:prstGeom>
          <a:solidFill>
            <a:srgbClr val="2D0A4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step-4-item-1"/>
          <p:cNvSpPr txBox="1"/>
          <p:nvPr/>
        </p:nvSpPr>
        <p:spPr>
          <a:xfrm>
            <a:off x="9144000" y="2533650"/>
            <a:ext cx="2343150" cy="6762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-64% cycle time per deck</a:t>
            </a:r>
          </a:p>
        </p:txBody>
      </p:sp>
      <p:sp>
        <p:nvSpPr>
          <p:cNvPr id="42" name="step-4-item-2"/>
          <p:cNvSpPr txBox="1"/>
          <p:nvPr/>
        </p:nvSpPr>
        <p:spPr>
          <a:xfrm>
            <a:off x="9144000" y="3248025"/>
            <a:ext cx="2343150" cy="6762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+34pp sign-off rate at first review</a:t>
            </a:r>
          </a:p>
        </p:txBody>
      </p:sp>
      <p:sp>
        <p:nvSpPr>
          <p:cNvPr id="43" name="step-4-item-3"/>
          <p:cNvSpPr txBox="1"/>
          <p:nvPr/>
        </p:nvSpPr>
        <p:spPr>
          <a:xfrm>
            <a:off x="9144000" y="3962400"/>
            <a:ext cx="2343150" cy="6762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Replicable practice across teams</a:t>
            </a:r>
          </a:p>
        </p:txBody>
      </p:sp>
      <p:sp>
        <p:nvSpPr>
          <p:cNvPr id="44" name="step-4-item-4"/>
          <p:cNvSpPr txBox="1"/>
          <p:nvPr/>
        </p:nvSpPr>
        <p:spPr>
          <a:xfrm>
            <a:off x="9144000" y="4676775"/>
            <a:ext cx="2343150" cy="6762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 Q3 rollout decision unlocked</a:t>
            </a:r>
          </a:p>
        </p:txBody>
      </p:sp>
      <p:sp>
        <p:nvSpPr>
          <p:cNvPr id="45" name="convergence-bg"/>
          <p:cNvSpPr/>
          <p:nvPr/>
        </p:nvSpPr>
        <p:spPr>
          <a:xfrm>
            <a:off x="533400" y="5600700"/>
            <a:ext cx="11125200" cy="419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onvergence"/>
          <p:cNvSpPr txBox="1"/>
          <p:nvPr/>
        </p:nvSpPr>
        <p:spPr>
          <a:xfrm>
            <a:off x="742950" y="5600700"/>
            <a:ext cx="101727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If inputs hold and activities run on cadence, the Q3 decision lands on evidence — not opinion.</a:t>
            </a:r>
          </a:p>
        </p:txBody>
      </p:sp>
      <p:sp>
        <p:nvSpPr>
          <p:cNvPr id="47" name="convergence-mark"/>
          <p:cNvSpPr txBox="1"/>
          <p:nvPr/>
        </p:nvSpPr>
        <p:spPr>
          <a:xfrm>
            <a:off x="10896600" y="560070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200" b="1" i="0">
                <a:solidFill>
                  <a:srgbClr val="C780FF"/>
                </a:solidFill>
                <a:latin typeface="Inter"/>
              </a:rPr>
              <a:t>›››</a:t>
            </a:r>
          </a:p>
        </p:txBody>
      </p:sp>
      <p:sp>
        <p:nvSpPr>
          <p:cNvPr id="4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