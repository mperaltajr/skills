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Five decisions made, zero deferred</a:t>
            </a:r>
            <a:r>
              <a:rPr sz="1650" b="1" i="0">
                <a:solidFill>
                  <a:srgbClr val="1A1A2E"/>
                </a:solidFill>
                <a:latin typeface="Inter"/>
              </a:rPr>
              <a:t> — fastest design sprint in the program; Phase 2 scope now locked.</a:t>
            </a:r>
          </a:p>
        </p:txBody>
      </p:sp>
      <p:sp>
        <p:nvSpPr>
          <p:cNvPr id="3" name="brand-rule"/>
          <p:cNvSpPr/>
          <p:nvPr/>
        </p:nvSpPr>
        <p:spPr>
          <a:xfrm>
            <a:off x="457200" y="1238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workshop-bar"/>
          <p:cNvSpPr/>
          <p:nvPr/>
        </p:nvSpPr>
        <p:spPr>
          <a:xfrm>
            <a:off x="457200" y="1409700"/>
            <a:ext cx="11277600" cy="304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workshop-date"/>
          <p:cNvSpPr txBox="1"/>
          <p:nvPr/>
        </p:nvSpPr>
        <p:spPr>
          <a:xfrm>
            <a:off x="609600" y="1485900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May 15, 2026</a:t>
            </a:r>
          </a:p>
        </p:txBody>
      </p:sp>
      <p:sp>
        <p:nvSpPr>
          <p:cNvPr id="6" name="workshop-name"/>
          <p:cNvSpPr txBox="1"/>
          <p:nvPr/>
        </p:nvSpPr>
        <p:spPr>
          <a:xfrm>
            <a:off x="2152650" y="14859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2 Design Sprint</a:t>
            </a:r>
          </a:p>
        </p:txBody>
      </p:sp>
      <p:sp>
        <p:nvSpPr>
          <p:cNvPr id="7" name="panel-1-bg"/>
          <p:cNvSpPr/>
          <p:nvPr/>
        </p:nvSpPr>
        <p:spPr>
          <a:xfrm>
            <a:off x="457200" y="1828800"/>
            <a:ext cx="3667125" cy="3505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panel-1-accent"/>
          <p:cNvSpPr/>
          <p:nvPr/>
        </p:nvSpPr>
        <p:spPr>
          <a:xfrm>
            <a:off x="457200" y="1828800"/>
            <a:ext cx="38100" cy="3505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anel-1-heading"/>
          <p:cNvSpPr txBox="1"/>
          <p:nvPr/>
        </p:nvSpPr>
        <p:spPr>
          <a:xfrm>
            <a:off x="590550" y="19431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WHAT WE DID</a:t>
            </a:r>
          </a:p>
        </p:txBody>
      </p:sp>
      <p:sp>
        <p:nvSpPr>
          <p:cNvPr id="10" name="panel-1-body"/>
          <p:cNvSpPr txBox="1"/>
          <p:nvPr/>
        </p:nvSpPr>
        <p:spPr>
          <a:xfrm>
            <a:off x="590550" y="2190750"/>
            <a:ext cx="3400425" cy="3009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1. Aligned on data architecture principles
2. Reviewed 3 integration options
3. Completed stakeholder impact mapping
4. Ran friction log review (47 items)
5. Prioritized backlog top-20</a:t>
            </a:r>
          </a:p>
        </p:txBody>
      </p:sp>
      <p:sp>
        <p:nvSpPr>
          <p:cNvPr id="11" name="panel-2-bg"/>
          <p:cNvSpPr/>
          <p:nvPr/>
        </p:nvSpPr>
        <p:spPr>
          <a:xfrm>
            <a:off x="4257675" y="1828800"/>
            <a:ext cx="3667125" cy="3505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anel-2-accent"/>
          <p:cNvSpPr/>
          <p:nvPr/>
        </p:nvSpPr>
        <p:spPr>
          <a:xfrm>
            <a:off x="4257675" y="1828800"/>
            <a:ext cx="38100" cy="3505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anel-2-heading"/>
          <p:cNvSpPr txBox="1"/>
          <p:nvPr/>
        </p:nvSpPr>
        <p:spPr>
          <a:xfrm>
            <a:off x="4391025" y="19431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WHAT WE DECIDED</a:t>
            </a:r>
          </a:p>
        </p:txBody>
      </p:sp>
      <p:sp>
        <p:nvSpPr>
          <p:cNvPr id="14" name="panel-2-body"/>
          <p:cNvSpPr txBox="1"/>
          <p:nvPr/>
        </p:nvSpPr>
        <p:spPr>
          <a:xfrm>
            <a:off x="4391025" y="2190750"/>
            <a:ext cx="3400425" cy="3009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1. Adopt API-first integration pattern
2. Defer mobile app to Phase 3
3. Appoint Change Lead (Maya Chen)
4. Extend sprint by 2 weeks for QA
5. Approve $320K contingency draw</a:t>
            </a:r>
          </a:p>
        </p:txBody>
      </p:sp>
      <p:sp>
        <p:nvSpPr>
          <p:cNvPr id="15" name="panel-3-bg"/>
          <p:cNvSpPr/>
          <p:nvPr/>
        </p:nvSpPr>
        <p:spPr>
          <a:xfrm>
            <a:off x="8058150" y="1828800"/>
            <a:ext cx="3667125" cy="3505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anel-3-accent"/>
          <p:cNvSpPr/>
          <p:nvPr/>
        </p:nvSpPr>
        <p:spPr>
          <a:xfrm>
            <a:off x="8058150" y="1828800"/>
            <a:ext cx="38100" cy="3505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anel-3-heading"/>
          <p:cNvSpPr txBox="1"/>
          <p:nvPr/>
        </p:nvSpPr>
        <p:spPr>
          <a:xfrm>
            <a:off x="8191500" y="19431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WHAT'S NEXT</a:t>
            </a:r>
          </a:p>
        </p:txBody>
      </p:sp>
      <p:sp>
        <p:nvSpPr>
          <p:cNvPr id="18" name="panel-3-body"/>
          <p:cNvSpPr txBox="1"/>
          <p:nvPr/>
        </p:nvSpPr>
        <p:spPr>
          <a:xfrm>
            <a:off x="8191500" y="2190750"/>
            <a:ext cx="3400425" cy="3009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1. Architecture design review (May 22)
2. Vendor kickoff — DataCo (May 24)
3. User story grooming (May 28)
4. Steering committee update (June 2)
5. Phase 3 planning begins (June 15)</a:t>
            </a:r>
          </a:p>
        </p:txBody>
      </p:sp>
      <p:sp>
        <p:nvSpPr>
          <p:cNvPr id="19" name="convergence-bg"/>
          <p:cNvSpPr/>
          <p:nvPr/>
        </p:nvSpPr>
        <p:spPr>
          <a:xfrm>
            <a:off x="457200" y="5391150"/>
            <a:ext cx="112776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onvergence-accent"/>
          <p:cNvSpPr/>
          <p:nvPr/>
        </p:nvSpPr>
        <p:spPr>
          <a:xfrm>
            <a:off x="457200" y="5391150"/>
            <a:ext cx="38100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nvergence"/>
          <p:cNvSpPr txBox="1"/>
          <p:nvPr/>
        </p:nvSpPr>
        <p:spPr>
          <a:xfrm>
            <a:off x="590550" y="5391150"/>
            <a:ext cx="11010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Phase 2 scope locked. Five decisions taken in one session — no deferrals, no escalations. Next hard gate: architecture review May 22.</a:t>
            </a:r>
          </a:p>
        </p:txBody>
      </p:sp>
      <p:sp>
        <p:nvSpPr>
          <p:cNvPr id="22" name="attendees-note"/>
          <p:cNvSpPr txBox="1"/>
          <p:nvPr/>
        </p:nvSpPr>
        <p:spPr>
          <a:xfrm>
            <a:off x="457200" y="5753100"/>
            <a:ext cx="11277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ATTENDEES: 14 · DURATION: 6 HOURS · FACILITATOR: [NAME]</a:t>
            </a:r>
          </a:p>
        </p:txBody>
      </p:sp>
      <p:sp>
        <p:nvSpPr>
          <p:cNvPr id="2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