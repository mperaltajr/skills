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Why are decks slow — three levels of MECE decomposition.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8763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Branching by mutually exclusive categories surfaces where time actually leaks — not where it feels slow.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1049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ree-root"/>
          <p:cNvSpPr/>
          <p:nvPr/>
        </p:nvSpPr>
        <p:spPr>
          <a:xfrm>
            <a:off x="533400" y="3314700"/>
            <a:ext cx="2286000" cy="762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ree-root-tag"/>
          <p:cNvSpPr txBox="1"/>
          <p:nvPr/>
        </p:nvSpPr>
        <p:spPr>
          <a:xfrm>
            <a:off x="666750" y="3448050"/>
            <a:ext cx="2019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ROOT QUESTION</a:t>
            </a:r>
          </a:p>
        </p:txBody>
      </p:sp>
      <p:sp>
        <p:nvSpPr>
          <p:cNvPr id="7" name="tree-root-label"/>
          <p:cNvSpPr txBox="1"/>
          <p:nvPr/>
        </p:nvSpPr>
        <p:spPr>
          <a:xfrm>
            <a:off x="666750" y="3619500"/>
            <a:ext cx="20193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Why are decks slow to produce?</a:t>
            </a:r>
          </a:p>
        </p:txBody>
      </p:sp>
      <p:sp>
        <p:nvSpPr>
          <p:cNvPr id="8" name="tree-l1-1"/>
          <p:cNvSpPr/>
          <p:nvPr/>
        </p:nvSpPr>
        <p:spPr>
          <a:xfrm>
            <a:off x="4343400" y="1943100"/>
            <a:ext cx="1905000" cy="590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ree-l1-1-tag"/>
          <p:cNvSpPr txBox="1"/>
          <p:nvPr/>
        </p:nvSpPr>
        <p:spPr>
          <a:xfrm>
            <a:off x="4476750" y="2038350"/>
            <a:ext cx="1638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</a:t>
            </a:r>
          </a:p>
        </p:txBody>
      </p:sp>
      <p:sp>
        <p:nvSpPr>
          <p:cNvPr id="10" name="tree-l1-1-label"/>
          <p:cNvSpPr txBox="1"/>
          <p:nvPr/>
        </p:nvSpPr>
        <p:spPr>
          <a:xfrm>
            <a:off x="4476750" y="2171700"/>
            <a:ext cx="1638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Authoring is slow</a:t>
            </a:r>
          </a:p>
        </p:txBody>
      </p:sp>
      <p:sp>
        <p:nvSpPr>
          <p:cNvPr id="11" name="tree-l1-2"/>
          <p:cNvSpPr/>
          <p:nvPr/>
        </p:nvSpPr>
        <p:spPr>
          <a:xfrm>
            <a:off x="4343400" y="3400425"/>
            <a:ext cx="1905000" cy="590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ree-l1-2-tag"/>
          <p:cNvSpPr txBox="1"/>
          <p:nvPr/>
        </p:nvSpPr>
        <p:spPr>
          <a:xfrm>
            <a:off x="4476750" y="3495675"/>
            <a:ext cx="1638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</a:t>
            </a:r>
          </a:p>
        </p:txBody>
      </p:sp>
      <p:sp>
        <p:nvSpPr>
          <p:cNvPr id="13" name="tree-l1-2-label"/>
          <p:cNvSpPr txBox="1"/>
          <p:nvPr/>
        </p:nvSpPr>
        <p:spPr>
          <a:xfrm>
            <a:off x="4476750" y="3629025"/>
            <a:ext cx="1638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Reviews multiply</a:t>
            </a:r>
          </a:p>
        </p:txBody>
      </p:sp>
      <p:sp>
        <p:nvSpPr>
          <p:cNvPr id="14" name="tree-l1-3"/>
          <p:cNvSpPr/>
          <p:nvPr/>
        </p:nvSpPr>
        <p:spPr>
          <a:xfrm>
            <a:off x="4343400" y="4857750"/>
            <a:ext cx="1905000" cy="590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ree-l1-3-tag"/>
          <p:cNvSpPr txBox="1"/>
          <p:nvPr/>
        </p:nvSpPr>
        <p:spPr>
          <a:xfrm>
            <a:off x="4476750" y="4953000"/>
            <a:ext cx="1638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</a:t>
            </a:r>
          </a:p>
        </p:txBody>
      </p:sp>
      <p:sp>
        <p:nvSpPr>
          <p:cNvPr id="16" name="tree-l1-3-label"/>
          <p:cNvSpPr txBox="1"/>
          <p:nvPr/>
        </p:nvSpPr>
        <p:spPr>
          <a:xfrm>
            <a:off x="4476750" y="5086350"/>
            <a:ext cx="1638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Rework after partner</a:t>
            </a:r>
          </a:p>
        </p:txBody>
      </p:sp>
      <p:sp>
        <p:nvSpPr>
          <p:cNvPr id="17" name="tree-l2-1-1"/>
          <p:cNvSpPr/>
          <p:nvPr/>
        </p:nvSpPr>
        <p:spPr>
          <a:xfrm>
            <a:off x="7772400" y="1714500"/>
            <a:ext cx="2667000" cy="5143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ree-l2-1-1-tag"/>
          <p:cNvSpPr txBox="1"/>
          <p:nvPr/>
        </p:nvSpPr>
        <p:spPr>
          <a:xfrm>
            <a:off x="7905750" y="1771650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A1</a:t>
            </a:r>
          </a:p>
        </p:txBody>
      </p:sp>
      <p:sp>
        <p:nvSpPr>
          <p:cNvPr id="19" name="tree-l2-1-1-label"/>
          <p:cNvSpPr txBox="1"/>
          <p:nvPr/>
        </p:nvSpPr>
        <p:spPr>
          <a:xfrm>
            <a:off x="7905750" y="1905000"/>
            <a:ext cx="2400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No starting structure</a:t>
            </a:r>
          </a:p>
        </p:txBody>
      </p:sp>
      <p:sp>
        <p:nvSpPr>
          <p:cNvPr id="20" name="tree-l2-1-2"/>
          <p:cNvSpPr/>
          <p:nvPr/>
        </p:nvSpPr>
        <p:spPr>
          <a:xfrm>
            <a:off x="7772400" y="2324100"/>
            <a:ext cx="2667000" cy="5143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ree-l2-1-2-tag"/>
          <p:cNvSpPr txBox="1"/>
          <p:nvPr/>
        </p:nvSpPr>
        <p:spPr>
          <a:xfrm>
            <a:off x="7905750" y="2381250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A2</a:t>
            </a:r>
          </a:p>
        </p:txBody>
      </p:sp>
      <p:sp>
        <p:nvSpPr>
          <p:cNvPr id="22" name="tree-l2-1-2-label"/>
          <p:cNvSpPr txBox="1"/>
          <p:nvPr/>
        </p:nvSpPr>
        <p:spPr>
          <a:xfrm>
            <a:off x="7905750" y="2514600"/>
            <a:ext cx="2400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Workstreams unsynthesized</a:t>
            </a:r>
          </a:p>
        </p:txBody>
      </p:sp>
      <p:sp>
        <p:nvSpPr>
          <p:cNvPr id="23" name="tree-l2-2-1"/>
          <p:cNvSpPr/>
          <p:nvPr/>
        </p:nvSpPr>
        <p:spPr>
          <a:xfrm>
            <a:off x="7772400" y="3171825"/>
            <a:ext cx="2667000" cy="5143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ree-l2-2-1-tag"/>
          <p:cNvSpPr txBox="1"/>
          <p:nvPr/>
        </p:nvSpPr>
        <p:spPr>
          <a:xfrm>
            <a:off x="7905750" y="3228975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B1</a:t>
            </a:r>
          </a:p>
        </p:txBody>
      </p:sp>
      <p:sp>
        <p:nvSpPr>
          <p:cNvPr id="25" name="tree-l2-2-1-label"/>
          <p:cNvSpPr txBox="1"/>
          <p:nvPr/>
        </p:nvSpPr>
        <p:spPr>
          <a:xfrm>
            <a:off x="7905750" y="3362325"/>
            <a:ext cx="2400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Reviewers add ideas (no subtraction)</a:t>
            </a:r>
          </a:p>
        </p:txBody>
      </p:sp>
      <p:sp>
        <p:nvSpPr>
          <p:cNvPr id="26" name="tree-l2-2-2"/>
          <p:cNvSpPr/>
          <p:nvPr/>
        </p:nvSpPr>
        <p:spPr>
          <a:xfrm>
            <a:off x="7772400" y="3781425"/>
            <a:ext cx="2667000" cy="5143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ree-l2-2-2-tag"/>
          <p:cNvSpPr txBox="1"/>
          <p:nvPr/>
        </p:nvSpPr>
        <p:spPr>
          <a:xfrm>
            <a:off x="7905750" y="3838575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B2</a:t>
            </a:r>
          </a:p>
        </p:txBody>
      </p:sp>
      <p:sp>
        <p:nvSpPr>
          <p:cNvPr id="28" name="tree-l2-2-2-label"/>
          <p:cNvSpPr txBox="1"/>
          <p:nvPr/>
        </p:nvSpPr>
        <p:spPr>
          <a:xfrm>
            <a:off x="7905750" y="3971925"/>
            <a:ext cx="2400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Multiple parallel reviewers</a:t>
            </a:r>
          </a:p>
        </p:txBody>
      </p:sp>
      <p:sp>
        <p:nvSpPr>
          <p:cNvPr id="29" name="tree-l2-3-1"/>
          <p:cNvSpPr/>
          <p:nvPr/>
        </p:nvSpPr>
        <p:spPr>
          <a:xfrm>
            <a:off x="7772400" y="4629150"/>
            <a:ext cx="2667000" cy="5143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tree-l2-3-1-tag"/>
          <p:cNvSpPr txBox="1"/>
          <p:nvPr/>
        </p:nvSpPr>
        <p:spPr>
          <a:xfrm>
            <a:off x="7905750" y="4686300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C1</a:t>
            </a:r>
          </a:p>
        </p:txBody>
      </p:sp>
      <p:sp>
        <p:nvSpPr>
          <p:cNvPr id="31" name="tree-l2-3-1-label"/>
          <p:cNvSpPr txBox="1"/>
          <p:nvPr/>
        </p:nvSpPr>
        <p:spPr>
          <a:xfrm>
            <a:off x="7905750" y="4819650"/>
            <a:ext cx="2400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Late argument changes</a:t>
            </a:r>
          </a:p>
        </p:txBody>
      </p:sp>
      <p:sp>
        <p:nvSpPr>
          <p:cNvPr id="32" name="tree-l2-3-2"/>
          <p:cNvSpPr/>
          <p:nvPr/>
        </p:nvSpPr>
        <p:spPr>
          <a:xfrm>
            <a:off x="7772400" y="5238750"/>
            <a:ext cx="2667000" cy="5143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ree-l2-3-2-tag"/>
          <p:cNvSpPr txBox="1"/>
          <p:nvPr/>
        </p:nvSpPr>
        <p:spPr>
          <a:xfrm>
            <a:off x="7905750" y="5295900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C2</a:t>
            </a:r>
          </a:p>
        </p:txBody>
      </p:sp>
      <p:sp>
        <p:nvSpPr>
          <p:cNvPr id="34" name="tree-l2-3-2-label"/>
          <p:cNvSpPr txBox="1"/>
          <p:nvPr/>
        </p:nvSpPr>
        <p:spPr>
          <a:xfrm>
            <a:off x="7905750" y="5429250"/>
            <a:ext cx="2400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Visual treatment redone</a:t>
            </a:r>
          </a:p>
        </p:txBody>
      </p:sp>
      <p:sp>
        <p:nvSpPr>
          <p:cNvPr id="36" name="convergence"/>
          <p:cNvSpPr txBox="1"/>
          <p:nvPr/>
        </p:nvSpPr>
        <p:spPr>
          <a:xfrm>
            <a:off x="533400" y="6153150"/>
            <a:ext cx="111252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1A1A2E"/>
                </a:solidFill>
                <a:latin typeface="Inter"/>
              </a:rPr>
              <a:t>Three levels deep is enough. Beyond that, the tree branches faster than the answer matters.</a:t>
            </a:r>
          </a:p>
        </p:txBody>
      </p:sp>
      <p:sp>
        <p:nvSpPr>
          <p:cNvPr id="3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