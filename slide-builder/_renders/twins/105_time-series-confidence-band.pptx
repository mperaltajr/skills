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2D0A4E"/>
                </a:solidFill>
                <a:latin typeface="Inter"/>
              </a:rPr>
              <a:t>ARR on track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— forecast band narrows as pipeline converts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763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Projected ARR, Q1 2024 - Q4 2025 - $M - Central trend, 80% confidence band, actuals vs. forecast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1239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1-swatch"/>
          <p:cNvSpPr/>
          <p:nvPr/>
        </p:nvSpPr>
        <p:spPr>
          <a:xfrm>
            <a:off x="8229600" y="1504950"/>
            <a:ext cx="1524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label"/>
          <p:cNvSpPr txBox="1"/>
          <p:nvPr/>
        </p:nvSpPr>
        <p:spPr>
          <a:xfrm>
            <a:off x="8439150" y="1447800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Actuals</a:t>
            </a:r>
          </a:p>
        </p:txBody>
      </p:sp>
      <p:sp>
        <p:nvSpPr>
          <p:cNvPr id="7" name="legend-2-swatch"/>
          <p:cNvSpPr/>
          <p:nvPr/>
        </p:nvSpPr>
        <p:spPr>
          <a:xfrm>
            <a:off x="9372600" y="1504950"/>
            <a:ext cx="1524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2-label"/>
          <p:cNvSpPr txBox="1"/>
          <p:nvPr/>
        </p:nvSpPr>
        <p:spPr>
          <a:xfrm>
            <a:off x="9582150" y="1447800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Forecast</a:t>
            </a:r>
          </a:p>
        </p:txBody>
      </p:sp>
      <p:sp>
        <p:nvSpPr>
          <p:cNvPr id="9" name="legend-3-swatch"/>
          <p:cNvSpPr/>
          <p:nvPr/>
        </p:nvSpPr>
        <p:spPr>
          <a:xfrm>
            <a:off x="10515600" y="1504950"/>
            <a:ext cx="15240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3-label"/>
          <p:cNvSpPr txBox="1"/>
          <p:nvPr/>
        </p:nvSpPr>
        <p:spPr>
          <a:xfrm>
            <a:off x="10725150" y="1447800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80% confidence band</a:t>
            </a:r>
          </a:p>
        </p:txBody>
      </p:sp>
      <p:sp>
        <p:nvSpPr>
          <p:cNvPr id="11" name="chart-canvas"/>
          <p:cNvSpPr/>
          <p:nvPr/>
        </p:nvSpPr>
        <p:spPr>
          <a:xfrm>
            <a:off x="762000" y="1714500"/>
            <a:ext cx="10972800" cy="41910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onvergence-bg"/>
          <p:cNvSpPr/>
          <p:nvPr/>
        </p:nvSpPr>
        <p:spPr>
          <a:xfrm>
            <a:off x="609600" y="5905500"/>
            <a:ext cx="10972800" cy="41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nvergence"/>
          <p:cNvSpPr txBox="1"/>
          <p:nvPr/>
        </p:nvSpPr>
        <p:spPr>
          <a:xfrm>
            <a:off x="609600" y="590550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Band narrows from +/-$16M today to +/-$12M by Q4 2025 as late-stage deals convert — Q3 forecast range is tight enough to commit to board guidance.</a:t>
            </a:r>
          </a:p>
        </p:txBody>
      </p:sp>
      <p:sp>
        <p:nvSpPr>
          <p:cNvPr id="1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