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09600" y="190500"/>
            <a:ext cx="9525000" cy="762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b">
            <a:spAutoFit/>
          </a:bodyPr>
          <a:lstStyle/>
          <a:p>
            <a:pPr algn="l">
              <a:defRPr/>
            </a:pPr>
            <a:r>
              <a:rPr sz="2400" b="1" i="0">
                <a:solidFill>
                  <a:srgbClr val="1A1A2E"/>
                </a:solidFill>
                <a:latin typeface="Inter"/>
              </a:rPr>
              <a:t>Value Stream Map — </a:t>
            </a:r>
            <a:r>
              <a:rPr sz="2400" b="1" i="0">
                <a:solidFill>
                  <a:srgbClr val="2D0A4E"/>
                </a:solidFill>
                <a:latin typeface="Inter"/>
              </a:rPr>
              <a:t>Order-to-Cash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609600" y="1028700"/>
            <a:ext cx="83820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64748B"/>
                </a:solidFill>
                <a:latin typeface="Inter"/>
              </a:rPr>
              <a:t>Cycle time, wait time, and efficiency ratio across 6 process steps</a:t>
            </a:r>
          </a:p>
        </p:txBody>
      </p:sp>
      <p:sp>
        <p:nvSpPr>
          <p:cNvPr id="4" name="brand-rule"/>
          <p:cNvSpPr/>
          <p:nvPr/>
        </p:nvSpPr>
        <p:spPr>
          <a:xfrm>
            <a:off x="609600" y="1257300"/>
            <a:ext cx="609600" cy="2857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legend-bg"/>
          <p:cNvSpPr/>
          <p:nvPr/>
        </p:nvSpPr>
        <p:spPr>
          <a:xfrm>
            <a:off x="8382000" y="2228850"/>
            <a:ext cx="3429000" cy="285750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" name="legend-label"/>
          <p:cNvSpPr txBox="1"/>
          <p:nvPr/>
        </p:nvSpPr>
        <p:spPr>
          <a:xfrm>
            <a:off x="8477250" y="2228850"/>
            <a:ext cx="533400" cy="285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94A3B8"/>
                </a:solidFill>
                <a:latin typeface="Inter"/>
              </a:rPr>
              <a:t>LEGEND</a:t>
            </a:r>
          </a:p>
        </p:txBody>
      </p:sp>
      <p:sp>
        <p:nvSpPr>
          <p:cNvPr id="7" name="legend-va-swatch"/>
          <p:cNvSpPr/>
          <p:nvPr/>
        </p:nvSpPr>
        <p:spPr>
          <a:xfrm>
            <a:off x="9067800" y="2324100"/>
            <a:ext cx="114300" cy="95250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" name="legend-va-text"/>
          <p:cNvSpPr txBox="1"/>
          <p:nvPr/>
        </p:nvSpPr>
        <p:spPr>
          <a:xfrm>
            <a:off x="9220200" y="2228850"/>
            <a:ext cx="1238250" cy="285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64748B"/>
                </a:solidFill>
                <a:latin typeface="Inter"/>
              </a:rPr>
              <a:t>Value-Add (VA)</a:t>
            </a:r>
          </a:p>
        </p:txBody>
      </p:sp>
      <p:sp>
        <p:nvSpPr>
          <p:cNvPr id="9" name="legend-nva-swatch"/>
          <p:cNvSpPr/>
          <p:nvPr/>
        </p:nvSpPr>
        <p:spPr>
          <a:xfrm>
            <a:off x="10477500" y="2324100"/>
            <a:ext cx="114300" cy="95250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0" name="legend-nva-text"/>
          <p:cNvSpPr txBox="1"/>
          <p:nvPr/>
        </p:nvSpPr>
        <p:spPr>
          <a:xfrm>
            <a:off x="10629900" y="2228850"/>
            <a:ext cx="1333500" cy="285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64748B"/>
                </a:solidFill>
                <a:latin typeface="Inter"/>
              </a:rPr>
              <a:t>Non-Value-Add (NVA)</a:t>
            </a:r>
          </a:p>
        </p:txBody>
      </p:sp>
      <p:sp>
        <p:nvSpPr>
          <p:cNvPr id="11" name="section-header"/>
          <p:cNvSpPr txBox="1"/>
          <p:nvPr/>
        </p:nvSpPr>
        <p:spPr>
          <a:xfrm>
            <a:off x="533400" y="2628900"/>
            <a:ext cx="57150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CURRENT STATE — ORDER-TO-CASH PROCESS</a:t>
            </a:r>
          </a:p>
        </p:txBody>
      </p:sp>
      <p:sp>
        <p:nvSpPr>
          <p:cNvPr id="12" name="step-1"/>
          <p:cNvSpPr/>
          <p:nvPr/>
        </p:nvSpPr>
        <p:spPr>
          <a:xfrm>
            <a:off x="533400" y="2838450"/>
            <a:ext cx="1695450" cy="1238250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3" name="step-1-stripe"/>
          <p:cNvSpPr/>
          <p:nvPr/>
        </p:nvSpPr>
        <p:spPr>
          <a:xfrm>
            <a:off x="533400" y="2838450"/>
            <a:ext cx="1695450" cy="2857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4" name="step-1-num"/>
          <p:cNvSpPr txBox="1"/>
          <p:nvPr/>
        </p:nvSpPr>
        <p:spPr>
          <a:xfrm>
            <a:off x="628650" y="2933700"/>
            <a:ext cx="3810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01</a:t>
            </a:r>
          </a:p>
        </p:txBody>
      </p:sp>
      <p:sp>
        <p:nvSpPr>
          <p:cNvPr id="15" name="step-1-name"/>
          <p:cNvSpPr txBox="1"/>
          <p:nvPr/>
        </p:nvSpPr>
        <p:spPr>
          <a:xfrm>
            <a:off x="628650" y="3105150"/>
            <a:ext cx="1504950" cy="3429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Order Receipt</a:t>
            </a:r>
          </a:p>
        </p:txBody>
      </p:sp>
      <p:sp>
        <p:nvSpPr>
          <p:cNvPr id="16" name="step-1-rule"/>
          <p:cNvSpPr/>
          <p:nvPr/>
        </p:nvSpPr>
        <p:spPr>
          <a:xfrm>
            <a:off x="628650" y="3505200"/>
            <a:ext cx="1504950" cy="952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7" name="step-1-va"/>
          <p:cNvSpPr txBox="1"/>
          <p:nvPr/>
        </p:nvSpPr>
        <p:spPr>
          <a:xfrm>
            <a:off x="628650" y="3562350"/>
            <a:ext cx="150495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5803D"/>
                </a:solidFill>
                <a:latin typeface="Inter"/>
              </a:rPr>
              <a:t>VA: 0.5h</a:t>
            </a:r>
          </a:p>
        </p:txBody>
      </p:sp>
      <p:sp>
        <p:nvSpPr>
          <p:cNvPr id="18" name="step-1-nva"/>
          <p:cNvSpPr txBox="1"/>
          <p:nvPr/>
        </p:nvSpPr>
        <p:spPr>
          <a:xfrm>
            <a:off x="628650" y="3714750"/>
            <a:ext cx="150495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DC2626"/>
                </a:solidFill>
                <a:latin typeface="Inter"/>
              </a:rPr>
              <a:t>NVA: 4h</a:t>
            </a:r>
          </a:p>
        </p:txBody>
      </p:sp>
      <p:sp>
        <p:nvSpPr>
          <p:cNvPr id="19" name="step-1-label"/>
          <p:cNvSpPr txBox="1"/>
          <p:nvPr/>
        </p:nvSpPr>
        <p:spPr>
          <a:xfrm>
            <a:off x="628650" y="3886200"/>
            <a:ext cx="1504950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CYCLE + WAIT</a:t>
            </a:r>
          </a:p>
        </p:txBody>
      </p:sp>
      <p:sp>
        <p:nvSpPr>
          <p:cNvPr id="20" name="arrow-1"/>
          <p:cNvSpPr txBox="1"/>
          <p:nvPr/>
        </p:nvSpPr>
        <p:spPr>
          <a:xfrm>
            <a:off x="2228850" y="3343275"/>
            <a:ext cx="190500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200" b="1" i="0">
                <a:solidFill>
                  <a:srgbClr val="C780FF"/>
                </a:solidFill>
                <a:latin typeface="Inter"/>
              </a:rPr>
              <a:t>→</a:t>
            </a:r>
          </a:p>
        </p:txBody>
      </p:sp>
      <p:sp>
        <p:nvSpPr>
          <p:cNvPr id="21" name="step-2"/>
          <p:cNvSpPr/>
          <p:nvPr/>
        </p:nvSpPr>
        <p:spPr>
          <a:xfrm>
            <a:off x="2419350" y="2838450"/>
            <a:ext cx="1695450" cy="1238250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2" name="step-2-stripe"/>
          <p:cNvSpPr/>
          <p:nvPr/>
        </p:nvSpPr>
        <p:spPr>
          <a:xfrm>
            <a:off x="2419350" y="2838450"/>
            <a:ext cx="1695450" cy="2857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3" name="step-2-num"/>
          <p:cNvSpPr txBox="1"/>
          <p:nvPr/>
        </p:nvSpPr>
        <p:spPr>
          <a:xfrm>
            <a:off x="2514600" y="2933700"/>
            <a:ext cx="3810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02</a:t>
            </a:r>
          </a:p>
        </p:txBody>
      </p:sp>
      <p:sp>
        <p:nvSpPr>
          <p:cNvPr id="24" name="step-2-name"/>
          <p:cNvSpPr txBox="1"/>
          <p:nvPr/>
        </p:nvSpPr>
        <p:spPr>
          <a:xfrm>
            <a:off x="2514600" y="3105150"/>
            <a:ext cx="1504950" cy="3429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Credit Check</a:t>
            </a:r>
          </a:p>
        </p:txBody>
      </p:sp>
      <p:sp>
        <p:nvSpPr>
          <p:cNvPr id="25" name="step-2-rule"/>
          <p:cNvSpPr/>
          <p:nvPr/>
        </p:nvSpPr>
        <p:spPr>
          <a:xfrm>
            <a:off x="2514600" y="3505200"/>
            <a:ext cx="1504950" cy="952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6" name="step-2-va"/>
          <p:cNvSpPr txBox="1"/>
          <p:nvPr/>
        </p:nvSpPr>
        <p:spPr>
          <a:xfrm>
            <a:off x="2514600" y="3562350"/>
            <a:ext cx="150495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5803D"/>
                </a:solidFill>
                <a:latin typeface="Inter"/>
              </a:rPr>
              <a:t>VA: 1h</a:t>
            </a:r>
          </a:p>
        </p:txBody>
      </p:sp>
      <p:sp>
        <p:nvSpPr>
          <p:cNvPr id="27" name="step-2-nva"/>
          <p:cNvSpPr txBox="1"/>
          <p:nvPr/>
        </p:nvSpPr>
        <p:spPr>
          <a:xfrm>
            <a:off x="2514600" y="3714750"/>
            <a:ext cx="150495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DC2626"/>
                </a:solidFill>
                <a:latin typeface="Inter"/>
              </a:rPr>
              <a:t>NVA: 24h</a:t>
            </a:r>
          </a:p>
        </p:txBody>
      </p:sp>
      <p:sp>
        <p:nvSpPr>
          <p:cNvPr id="28" name="step-2-label"/>
          <p:cNvSpPr txBox="1"/>
          <p:nvPr/>
        </p:nvSpPr>
        <p:spPr>
          <a:xfrm>
            <a:off x="2514600" y="3886200"/>
            <a:ext cx="1504950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CYCLE + WAIT</a:t>
            </a:r>
          </a:p>
        </p:txBody>
      </p:sp>
      <p:sp>
        <p:nvSpPr>
          <p:cNvPr id="29" name="arrow-2"/>
          <p:cNvSpPr txBox="1"/>
          <p:nvPr/>
        </p:nvSpPr>
        <p:spPr>
          <a:xfrm>
            <a:off x="4114800" y="3343275"/>
            <a:ext cx="190500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200" b="1" i="0">
                <a:solidFill>
                  <a:srgbClr val="C780FF"/>
                </a:solidFill>
                <a:latin typeface="Inter"/>
              </a:rPr>
              <a:t>→</a:t>
            </a:r>
          </a:p>
        </p:txBody>
      </p:sp>
      <p:sp>
        <p:nvSpPr>
          <p:cNvPr id="30" name="step-3"/>
          <p:cNvSpPr/>
          <p:nvPr/>
        </p:nvSpPr>
        <p:spPr>
          <a:xfrm>
            <a:off x="4305300" y="2838450"/>
            <a:ext cx="1695450" cy="1238250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1" name="step-3-stripe"/>
          <p:cNvSpPr/>
          <p:nvPr/>
        </p:nvSpPr>
        <p:spPr>
          <a:xfrm>
            <a:off x="4305300" y="2838450"/>
            <a:ext cx="1695450" cy="2857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2" name="step-3-num"/>
          <p:cNvSpPr txBox="1"/>
          <p:nvPr/>
        </p:nvSpPr>
        <p:spPr>
          <a:xfrm>
            <a:off x="4400550" y="2933700"/>
            <a:ext cx="3810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03</a:t>
            </a:r>
          </a:p>
        </p:txBody>
      </p:sp>
      <p:sp>
        <p:nvSpPr>
          <p:cNvPr id="33" name="step-3-name"/>
          <p:cNvSpPr txBox="1"/>
          <p:nvPr/>
        </p:nvSpPr>
        <p:spPr>
          <a:xfrm>
            <a:off x="4400550" y="3105150"/>
            <a:ext cx="1504950" cy="3429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Inventory Confirm</a:t>
            </a:r>
          </a:p>
        </p:txBody>
      </p:sp>
      <p:sp>
        <p:nvSpPr>
          <p:cNvPr id="34" name="step-3-rule"/>
          <p:cNvSpPr/>
          <p:nvPr/>
        </p:nvSpPr>
        <p:spPr>
          <a:xfrm>
            <a:off x="4400550" y="3505200"/>
            <a:ext cx="1504950" cy="952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5" name="step-3-va"/>
          <p:cNvSpPr txBox="1"/>
          <p:nvPr/>
        </p:nvSpPr>
        <p:spPr>
          <a:xfrm>
            <a:off x="4400550" y="3562350"/>
            <a:ext cx="150495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5803D"/>
                </a:solidFill>
                <a:latin typeface="Inter"/>
              </a:rPr>
              <a:t>VA: 0.5h</a:t>
            </a:r>
          </a:p>
        </p:txBody>
      </p:sp>
      <p:sp>
        <p:nvSpPr>
          <p:cNvPr id="36" name="step-3-nva"/>
          <p:cNvSpPr txBox="1"/>
          <p:nvPr/>
        </p:nvSpPr>
        <p:spPr>
          <a:xfrm>
            <a:off x="4400550" y="3714750"/>
            <a:ext cx="150495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DC2626"/>
                </a:solidFill>
                <a:latin typeface="Inter"/>
              </a:rPr>
              <a:t>NVA: 2h</a:t>
            </a:r>
          </a:p>
        </p:txBody>
      </p:sp>
      <p:sp>
        <p:nvSpPr>
          <p:cNvPr id="37" name="step-3-label"/>
          <p:cNvSpPr txBox="1"/>
          <p:nvPr/>
        </p:nvSpPr>
        <p:spPr>
          <a:xfrm>
            <a:off x="4400550" y="3886200"/>
            <a:ext cx="1504950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CYCLE + WAIT</a:t>
            </a:r>
          </a:p>
        </p:txBody>
      </p:sp>
      <p:sp>
        <p:nvSpPr>
          <p:cNvPr id="38" name="arrow-3"/>
          <p:cNvSpPr txBox="1"/>
          <p:nvPr/>
        </p:nvSpPr>
        <p:spPr>
          <a:xfrm>
            <a:off x="6000750" y="3343275"/>
            <a:ext cx="190500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200" b="1" i="0">
                <a:solidFill>
                  <a:srgbClr val="C780FF"/>
                </a:solidFill>
                <a:latin typeface="Inter"/>
              </a:rPr>
              <a:t>→</a:t>
            </a:r>
          </a:p>
        </p:txBody>
      </p:sp>
      <p:sp>
        <p:nvSpPr>
          <p:cNvPr id="39" name="step-4"/>
          <p:cNvSpPr/>
          <p:nvPr/>
        </p:nvSpPr>
        <p:spPr>
          <a:xfrm>
            <a:off x="6191250" y="2838450"/>
            <a:ext cx="1695450" cy="1238250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0" name="step-4-stripe"/>
          <p:cNvSpPr/>
          <p:nvPr/>
        </p:nvSpPr>
        <p:spPr>
          <a:xfrm>
            <a:off x="6191250" y="2838450"/>
            <a:ext cx="1695450" cy="2857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1" name="step-4-num"/>
          <p:cNvSpPr txBox="1"/>
          <p:nvPr/>
        </p:nvSpPr>
        <p:spPr>
          <a:xfrm>
            <a:off x="6286500" y="2933700"/>
            <a:ext cx="3810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04</a:t>
            </a:r>
          </a:p>
        </p:txBody>
      </p:sp>
      <p:sp>
        <p:nvSpPr>
          <p:cNvPr id="42" name="step-4-name"/>
          <p:cNvSpPr txBox="1"/>
          <p:nvPr/>
        </p:nvSpPr>
        <p:spPr>
          <a:xfrm>
            <a:off x="6286500" y="3105150"/>
            <a:ext cx="1504950" cy="3429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Pick &amp; Pack</a:t>
            </a:r>
          </a:p>
        </p:txBody>
      </p:sp>
      <p:sp>
        <p:nvSpPr>
          <p:cNvPr id="43" name="step-4-rule"/>
          <p:cNvSpPr/>
          <p:nvPr/>
        </p:nvSpPr>
        <p:spPr>
          <a:xfrm>
            <a:off x="6286500" y="3505200"/>
            <a:ext cx="1504950" cy="952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4" name="step-4-va"/>
          <p:cNvSpPr txBox="1"/>
          <p:nvPr/>
        </p:nvSpPr>
        <p:spPr>
          <a:xfrm>
            <a:off x="6286500" y="3562350"/>
            <a:ext cx="150495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5803D"/>
                </a:solidFill>
                <a:latin typeface="Inter"/>
              </a:rPr>
              <a:t>VA: 4h</a:t>
            </a:r>
          </a:p>
        </p:txBody>
      </p:sp>
      <p:sp>
        <p:nvSpPr>
          <p:cNvPr id="45" name="step-4-nva"/>
          <p:cNvSpPr txBox="1"/>
          <p:nvPr/>
        </p:nvSpPr>
        <p:spPr>
          <a:xfrm>
            <a:off x="6286500" y="3714750"/>
            <a:ext cx="150495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DC2626"/>
                </a:solidFill>
                <a:latin typeface="Inter"/>
              </a:rPr>
              <a:t>NVA: 1h</a:t>
            </a:r>
          </a:p>
        </p:txBody>
      </p:sp>
      <p:sp>
        <p:nvSpPr>
          <p:cNvPr id="46" name="step-4-label"/>
          <p:cNvSpPr txBox="1"/>
          <p:nvPr/>
        </p:nvSpPr>
        <p:spPr>
          <a:xfrm>
            <a:off x="6286500" y="3886200"/>
            <a:ext cx="1504950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CYCLE + WAIT</a:t>
            </a:r>
          </a:p>
        </p:txBody>
      </p:sp>
      <p:sp>
        <p:nvSpPr>
          <p:cNvPr id="47" name="arrow-4"/>
          <p:cNvSpPr txBox="1"/>
          <p:nvPr/>
        </p:nvSpPr>
        <p:spPr>
          <a:xfrm>
            <a:off x="7886700" y="3343275"/>
            <a:ext cx="190500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200" b="1" i="0">
                <a:solidFill>
                  <a:srgbClr val="C780FF"/>
                </a:solidFill>
                <a:latin typeface="Inter"/>
              </a:rPr>
              <a:t>→</a:t>
            </a:r>
          </a:p>
        </p:txBody>
      </p:sp>
      <p:sp>
        <p:nvSpPr>
          <p:cNvPr id="48" name="step-5"/>
          <p:cNvSpPr/>
          <p:nvPr/>
        </p:nvSpPr>
        <p:spPr>
          <a:xfrm>
            <a:off x="8077200" y="2838450"/>
            <a:ext cx="1695450" cy="1238250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9" name="step-5-stripe"/>
          <p:cNvSpPr/>
          <p:nvPr/>
        </p:nvSpPr>
        <p:spPr>
          <a:xfrm>
            <a:off x="8077200" y="2838450"/>
            <a:ext cx="1695450" cy="2857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0" name="step-5-num"/>
          <p:cNvSpPr txBox="1"/>
          <p:nvPr/>
        </p:nvSpPr>
        <p:spPr>
          <a:xfrm>
            <a:off x="8172450" y="2933700"/>
            <a:ext cx="3810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05</a:t>
            </a:r>
          </a:p>
        </p:txBody>
      </p:sp>
      <p:sp>
        <p:nvSpPr>
          <p:cNvPr id="51" name="step-5-name"/>
          <p:cNvSpPr txBox="1"/>
          <p:nvPr/>
        </p:nvSpPr>
        <p:spPr>
          <a:xfrm>
            <a:off x="8172450" y="3105150"/>
            <a:ext cx="1504950" cy="3429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Dispatch</a:t>
            </a:r>
          </a:p>
        </p:txBody>
      </p:sp>
      <p:sp>
        <p:nvSpPr>
          <p:cNvPr id="52" name="step-5-rule"/>
          <p:cNvSpPr/>
          <p:nvPr/>
        </p:nvSpPr>
        <p:spPr>
          <a:xfrm>
            <a:off x="8172450" y="3505200"/>
            <a:ext cx="1504950" cy="952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3" name="step-5-va"/>
          <p:cNvSpPr txBox="1"/>
          <p:nvPr/>
        </p:nvSpPr>
        <p:spPr>
          <a:xfrm>
            <a:off x="8172450" y="3562350"/>
            <a:ext cx="150495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5803D"/>
                </a:solidFill>
                <a:latin typeface="Inter"/>
              </a:rPr>
              <a:t>VA: 2h</a:t>
            </a:r>
          </a:p>
        </p:txBody>
      </p:sp>
      <p:sp>
        <p:nvSpPr>
          <p:cNvPr id="54" name="step-5-nva"/>
          <p:cNvSpPr txBox="1"/>
          <p:nvPr/>
        </p:nvSpPr>
        <p:spPr>
          <a:xfrm>
            <a:off x="8172450" y="3714750"/>
            <a:ext cx="150495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DC2626"/>
                </a:solidFill>
                <a:latin typeface="Inter"/>
              </a:rPr>
              <a:t>NVA: 8h</a:t>
            </a:r>
          </a:p>
        </p:txBody>
      </p:sp>
      <p:sp>
        <p:nvSpPr>
          <p:cNvPr id="55" name="step-5-label"/>
          <p:cNvSpPr txBox="1"/>
          <p:nvPr/>
        </p:nvSpPr>
        <p:spPr>
          <a:xfrm>
            <a:off x="8172450" y="3886200"/>
            <a:ext cx="1504950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CYCLE + WAIT</a:t>
            </a:r>
          </a:p>
        </p:txBody>
      </p:sp>
      <p:sp>
        <p:nvSpPr>
          <p:cNvPr id="56" name="arrow-5"/>
          <p:cNvSpPr txBox="1"/>
          <p:nvPr/>
        </p:nvSpPr>
        <p:spPr>
          <a:xfrm>
            <a:off x="9772650" y="3343275"/>
            <a:ext cx="190500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200" b="1" i="0">
                <a:solidFill>
                  <a:srgbClr val="C780FF"/>
                </a:solidFill>
                <a:latin typeface="Inter"/>
              </a:rPr>
              <a:t>→</a:t>
            </a:r>
          </a:p>
        </p:txBody>
      </p:sp>
      <p:sp>
        <p:nvSpPr>
          <p:cNvPr id="57" name="step-6"/>
          <p:cNvSpPr/>
          <p:nvPr/>
        </p:nvSpPr>
        <p:spPr>
          <a:xfrm>
            <a:off x="9963150" y="2838450"/>
            <a:ext cx="1695450" cy="1238250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8" name="step-6-stripe"/>
          <p:cNvSpPr/>
          <p:nvPr/>
        </p:nvSpPr>
        <p:spPr>
          <a:xfrm>
            <a:off x="9963150" y="2838450"/>
            <a:ext cx="1695450" cy="2857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9" name="step-6-num"/>
          <p:cNvSpPr txBox="1"/>
          <p:nvPr/>
        </p:nvSpPr>
        <p:spPr>
          <a:xfrm>
            <a:off x="10058400" y="2933700"/>
            <a:ext cx="3810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06</a:t>
            </a:r>
          </a:p>
        </p:txBody>
      </p:sp>
      <p:sp>
        <p:nvSpPr>
          <p:cNvPr id="60" name="step-6-name"/>
          <p:cNvSpPr txBox="1"/>
          <p:nvPr/>
        </p:nvSpPr>
        <p:spPr>
          <a:xfrm>
            <a:off x="10058400" y="3105150"/>
            <a:ext cx="1504950" cy="3429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Invoice</a:t>
            </a:r>
          </a:p>
        </p:txBody>
      </p:sp>
      <p:sp>
        <p:nvSpPr>
          <p:cNvPr id="61" name="step-6-rule"/>
          <p:cNvSpPr/>
          <p:nvPr/>
        </p:nvSpPr>
        <p:spPr>
          <a:xfrm>
            <a:off x="10058400" y="3505200"/>
            <a:ext cx="1504950" cy="952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2" name="step-6-va"/>
          <p:cNvSpPr txBox="1"/>
          <p:nvPr/>
        </p:nvSpPr>
        <p:spPr>
          <a:xfrm>
            <a:off x="10058400" y="3562350"/>
            <a:ext cx="150495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5803D"/>
                </a:solidFill>
                <a:latin typeface="Inter"/>
              </a:rPr>
              <a:t>VA: 1h</a:t>
            </a:r>
          </a:p>
        </p:txBody>
      </p:sp>
      <p:sp>
        <p:nvSpPr>
          <p:cNvPr id="63" name="step-6-nva"/>
          <p:cNvSpPr txBox="1"/>
          <p:nvPr/>
        </p:nvSpPr>
        <p:spPr>
          <a:xfrm>
            <a:off x="10058400" y="3714750"/>
            <a:ext cx="150495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DC2626"/>
                </a:solidFill>
                <a:latin typeface="Inter"/>
              </a:rPr>
              <a:t>NVA: 24h</a:t>
            </a:r>
          </a:p>
        </p:txBody>
      </p:sp>
      <p:sp>
        <p:nvSpPr>
          <p:cNvPr id="64" name="step-6-label"/>
          <p:cNvSpPr txBox="1"/>
          <p:nvPr/>
        </p:nvSpPr>
        <p:spPr>
          <a:xfrm>
            <a:off x="10058400" y="3886200"/>
            <a:ext cx="1504950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CYCLE + WAIT</a:t>
            </a:r>
          </a:p>
        </p:txBody>
      </p:sp>
      <p:sp>
        <p:nvSpPr>
          <p:cNvPr id="65" name="kpi-1"/>
          <p:cNvSpPr/>
          <p:nvPr/>
        </p:nvSpPr>
        <p:spPr>
          <a:xfrm>
            <a:off x="533400" y="4248150"/>
            <a:ext cx="1333500" cy="1466850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6" name="kpi-1-label"/>
          <p:cNvSpPr txBox="1"/>
          <p:nvPr/>
        </p:nvSpPr>
        <p:spPr>
          <a:xfrm>
            <a:off x="666750" y="4400550"/>
            <a:ext cx="10668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94A3B8"/>
                </a:solidFill>
                <a:latin typeface="Inter"/>
              </a:rPr>
              <a:t>TOTAL LEAD TIME</a:t>
            </a:r>
          </a:p>
        </p:txBody>
      </p:sp>
      <p:sp>
        <p:nvSpPr>
          <p:cNvPr id="67" name="kpi-1-value"/>
          <p:cNvSpPr txBox="1"/>
          <p:nvPr/>
        </p:nvSpPr>
        <p:spPr>
          <a:xfrm>
            <a:off x="666750" y="4629150"/>
            <a:ext cx="1066800" cy="609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2700" b="1" i="0">
                <a:solidFill>
                  <a:srgbClr val="2D0A4E"/>
                </a:solidFill>
                <a:latin typeface="Inter"/>
              </a:rPr>
              <a:t>72</a:t>
            </a:r>
          </a:p>
        </p:txBody>
      </p:sp>
      <p:sp>
        <p:nvSpPr>
          <p:cNvPr id="68" name="kpi-1-unit"/>
          <p:cNvSpPr txBox="1"/>
          <p:nvPr/>
        </p:nvSpPr>
        <p:spPr>
          <a:xfrm>
            <a:off x="666750" y="5238750"/>
            <a:ext cx="10668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64748B"/>
                </a:solidFill>
                <a:latin typeface="Inter"/>
              </a:rPr>
              <a:t>hours</a:t>
            </a:r>
          </a:p>
        </p:txBody>
      </p:sp>
      <p:sp>
        <p:nvSpPr>
          <p:cNvPr id="69" name="kpi-2"/>
          <p:cNvSpPr/>
          <p:nvPr/>
        </p:nvSpPr>
        <p:spPr>
          <a:xfrm>
            <a:off x="1981200" y="4248150"/>
            <a:ext cx="1333500" cy="1466850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0" name="kpi-2-label"/>
          <p:cNvSpPr txBox="1"/>
          <p:nvPr/>
        </p:nvSpPr>
        <p:spPr>
          <a:xfrm>
            <a:off x="2114550" y="4400550"/>
            <a:ext cx="10668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94A3B8"/>
                </a:solidFill>
                <a:latin typeface="Inter"/>
              </a:rPr>
              <a:t>VALUE-ADD TIME</a:t>
            </a:r>
          </a:p>
        </p:txBody>
      </p:sp>
      <p:sp>
        <p:nvSpPr>
          <p:cNvPr id="71" name="kpi-2-value"/>
          <p:cNvSpPr txBox="1"/>
          <p:nvPr/>
        </p:nvSpPr>
        <p:spPr>
          <a:xfrm>
            <a:off x="2114550" y="4629150"/>
            <a:ext cx="1066800" cy="609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2700" b="1" i="0">
                <a:solidFill>
                  <a:srgbClr val="15803D"/>
                </a:solidFill>
                <a:latin typeface="Inter"/>
              </a:rPr>
              <a:t>9</a:t>
            </a:r>
          </a:p>
        </p:txBody>
      </p:sp>
      <p:sp>
        <p:nvSpPr>
          <p:cNvPr id="72" name="kpi-2-unit"/>
          <p:cNvSpPr txBox="1"/>
          <p:nvPr/>
        </p:nvSpPr>
        <p:spPr>
          <a:xfrm>
            <a:off x="2114550" y="5238750"/>
            <a:ext cx="10668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64748B"/>
                </a:solidFill>
                <a:latin typeface="Inter"/>
              </a:rPr>
              <a:t>hours</a:t>
            </a:r>
          </a:p>
        </p:txBody>
      </p:sp>
      <p:sp>
        <p:nvSpPr>
          <p:cNvPr id="73" name="kpi-3"/>
          <p:cNvSpPr/>
          <p:nvPr/>
        </p:nvSpPr>
        <p:spPr>
          <a:xfrm>
            <a:off x="3429000" y="4248150"/>
            <a:ext cx="1333500" cy="1466850"/>
          </a:xfrm>
          <a:prstGeom prst="rect">
            <a:avLst/>
          </a:prstGeom>
          <a:solidFill>
            <a:srgbClr val="2D0A4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4" name="kpi-3-label"/>
          <p:cNvSpPr txBox="1"/>
          <p:nvPr/>
        </p:nvSpPr>
        <p:spPr>
          <a:xfrm>
            <a:off x="3562350" y="4400550"/>
            <a:ext cx="10668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EFFICIENCY</a:t>
            </a:r>
          </a:p>
        </p:txBody>
      </p:sp>
      <p:sp>
        <p:nvSpPr>
          <p:cNvPr id="75" name="kpi-3-value"/>
          <p:cNvSpPr txBox="1"/>
          <p:nvPr/>
        </p:nvSpPr>
        <p:spPr>
          <a:xfrm>
            <a:off x="3562350" y="4629150"/>
            <a:ext cx="1066800" cy="609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2700" b="1" i="0">
                <a:solidFill>
                  <a:srgbClr val="FFFFFF"/>
                </a:solidFill>
                <a:latin typeface="Inter"/>
              </a:rPr>
              <a:t>12.5%</a:t>
            </a:r>
          </a:p>
        </p:txBody>
      </p:sp>
      <p:sp>
        <p:nvSpPr>
          <p:cNvPr id="76" name="kpi-3-unit"/>
          <p:cNvSpPr txBox="1"/>
          <p:nvPr/>
        </p:nvSpPr>
        <p:spPr>
          <a:xfrm>
            <a:off x="3562350" y="5238750"/>
            <a:ext cx="10668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of time adds value</a:t>
            </a:r>
          </a:p>
        </p:txBody>
      </p:sp>
      <p:sp>
        <p:nvSpPr>
          <p:cNvPr id="77" name="opp-box"/>
          <p:cNvSpPr/>
          <p:nvPr/>
        </p:nvSpPr>
        <p:spPr>
          <a:xfrm>
            <a:off x="4876800" y="4248150"/>
            <a:ext cx="6781800" cy="1466850"/>
          </a:xfrm>
          <a:prstGeom prst="rect">
            <a:avLst/>
          </a:prstGeom>
          <a:solidFill>
            <a:srgbClr val="FFF7ED"/>
          </a:solidFill>
          <a:ln w="9525"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8" name="opp-bar"/>
          <p:cNvSpPr/>
          <p:nvPr/>
        </p:nvSpPr>
        <p:spPr>
          <a:xfrm>
            <a:off x="4876800" y="4248150"/>
            <a:ext cx="38100" cy="146685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9" name="opp-tag"/>
          <p:cNvSpPr txBox="1"/>
          <p:nvPr/>
        </p:nvSpPr>
        <p:spPr>
          <a:xfrm>
            <a:off x="5048250" y="4400550"/>
            <a:ext cx="64770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92400E"/>
                </a:solidFill>
                <a:latin typeface="Inter"/>
              </a:rPr>
              <a:t>OPPORTUNITY</a:t>
            </a:r>
          </a:p>
        </p:txBody>
      </p:sp>
      <p:sp>
        <p:nvSpPr>
          <p:cNvPr id="80" name="opp-text"/>
          <p:cNvSpPr txBox="1"/>
          <p:nvPr/>
        </p:nvSpPr>
        <p:spPr>
          <a:xfrm>
            <a:off x="5048250" y="4591050"/>
            <a:ext cx="6477000" cy="990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Eliminating wait time in Credit Check and Invoice steps alone reduces lead time by 48h (67% reduction), cutting the process from 72h to 24h without changing any value-add activity.</a:t>
            </a:r>
          </a:p>
        </p:txBody>
      </p:sp>
      <p:sp>
        <p:nvSpPr>
          <p:cNvPr id="81" name="footnote-1"/>
          <p:cNvSpPr txBox="1"/>
          <p:nvPr/>
        </p:nvSpPr>
        <p:spPr>
          <a:xfrm>
            <a:off x="552450" y="6400800"/>
            <a:ext cx="110871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1. [add footnote here or delete]</a:t>
            </a:r>
          </a:p>
        </p:txBody>
      </p:sp>
      <p:sp>
        <p:nvSpPr>
          <p:cNvPr id="82" name="source"/>
          <p:cNvSpPr txBox="1"/>
          <p:nvPr/>
        </p:nvSpPr>
        <p:spPr>
          <a:xfrm>
            <a:off x="552450" y="6553200"/>
            <a:ext cx="10477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/>
            <a:r>
              <a:rPr sz="750" b="0" i="1">
                <a:solidFill>
                  <a:srgbClr val="94A3B8"/>
                </a:solidFill>
                <a:latin typeface="Inter"/>
              </a:rPr>
              <a:t>Source: [add source here or delete]</a:t>
            </a:r>
          </a:p>
        </p:txBody>
      </p:sp>
      <p:sp>
        <p:nvSpPr>
          <p:cNvPr id="83" name="page-number"/>
          <p:cNvSpPr txBox="1"/>
          <p:nvPr/>
        </p:nvSpPr>
        <p:spPr>
          <a:xfrm>
            <a:off x="11144250" y="6553200"/>
            <a:ext cx="4953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/>
            <a:r>
              <a:rPr sz="825" b="0" i="0">
                <a:solidFill>
                  <a:srgbClr val="94A3B8"/>
                </a:solidFill>
                <a:latin typeface="Inter"/>
              </a:rPr>
              <a:t>279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