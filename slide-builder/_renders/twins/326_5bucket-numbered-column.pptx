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Five priorities that will define whether this program delivers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lasting impact</a:t>
            </a:r>
            <a:r>
              <a:rPr sz="2400" b="1" i="0">
                <a:solidFill>
                  <a:srgbClr val="1A1A2E"/>
                </a:solidFill>
                <a:latin typeface="Inter"/>
              </a:rPr>
              <a:t>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Each bucket represents a distinct action area — tracked independently, resolved sequentially.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row-1-card"/>
          <p:cNvSpPr/>
          <p:nvPr/>
        </p:nvSpPr>
        <p:spPr>
          <a:xfrm>
            <a:off x="457200" y="1905000"/>
            <a:ext cx="7239000" cy="857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row-1-ghost"/>
          <p:cNvSpPr txBox="1"/>
          <p:nvPr/>
        </p:nvSpPr>
        <p:spPr>
          <a:xfrm>
            <a:off x="533400" y="1962150"/>
            <a:ext cx="666750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350" b="1" i="0">
                <a:solidFill>
                  <a:srgbClr val="C780FF"/>
                </a:solidFill>
                <a:latin typeface="Inter"/>
              </a:rPr>
              <a:t>1</a:t>
            </a:r>
          </a:p>
        </p:txBody>
      </p:sp>
      <p:sp>
        <p:nvSpPr>
          <p:cNvPr id="7" name="row-1-badge-bg"/>
          <p:cNvSpPr/>
          <p:nvPr/>
        </p:nvSpPr>
        <p:spPr>
          <a:xfrm>
            <a:off x="1200150" y="2209800"/>
            <a:ext cx="247650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row-1-badge"/>
          <p:cNvSpPr txBox="1"/>
          <p:nvPr/>
        </p:nvSpPr>
        <p:spPr>
          <a:xfrm>
            <a:off x="1200150" y="22098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9" name="row-1-title"/>
          <p:cNvSpPr txBox="1"/>
          <p:nvPr/>
        </p:nvSpPr>
        <p:spPr>
          <a:xfrm>
            <a:off x="1581150" y="2038350"/>
            <a:ext cx="61341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Establish executive sponsorship</a:t>
            </a:r>
          </a:p>
        </p:txBody>
      </p:sp>
      <p:sp>
        <p:nvSpPr>
          <p:cNvPr id="10" name="row-1-desc"/>
          <p:cNvSpPr txBox="1"/>
          <p:nvPr/>
        </p:nvSpPr>
        <p:spPr>
          <a:xfrm>
            <a:off x="1581150" y="2266950"/>
            <a:ext cx="61341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Secure named C-suite champion with decision authority over budget and scope to unblock escalations.</a:t>
            </a:r>
          </a:p>
        </p:txBody>
      </p:sp>
      <p:sp>
        <p:nvSpPr>
          <p:cNvPr id="11" name="row-2-card"/>
          <p:cNvSpPr/>
          <p:nvPr/>
        </p:nvSpPr>
        <p:spPr>
          <a:xfrm>
            <a:off x="457200" y="2819400"/>
            <a:ext cx="7239000" cy="857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row-2-ghost"/>
          <p:cNvSpPr txBox="1"/>
          <p:nvPr/>
        </p:nvSpPr>
        <p:spPr>
          <a:xfrm>
            <a:off x="533400" y="2876550"/>
            <a:ext cx="666750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350" b="1" i="0">
                <a:solidFill>
                  <a:srgbClr val="C780FF"/>
                </a:solidFill>
                <a:latin typeface="Inter"/>
              </a:rPr>
              <a:t>2</a:t>
            </a:r>
          </a:p>
        </p:txBody>
      </p:sp>
      <p:sp>
        <p:nvSpPr>
          <p:cNvPr id="13" name="row-2-badge-bg"/>
          <p:cNvSpPr/>
          <p:nvPr/>
        </p:nvSpPr>
        <p:spPr>
          <a:xfrm>
            <a:off x="1200150" y="3124200"/>
            <a:ext cx="247650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row-2-badge"/>
          <p:cNvSpPr txBox="1"/>
          <p:nvPr/>
        </p:nvSpPr>
        <p:spPr>
          <a:xfrm>
            <a:off x="1200150" y="31242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5" name="row-2-title"/>
          <p:cNvSpPr txBox="1"/>
          <p:nvPr/>
        </p:nvSpPr>
        <p:spPr>
          <a:xfrm>
            <a:off x="1581150" y="2952750"/>
            <a:ext cx="61341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Define measurable success criteria</a:t>
            </a:r>
          </a:p>
        </p:txBody>
      </p:sp>
      <p:sp>
        <p:nvSpPr>
          <p:cNvPr id="16" name="row-2-desc"/>
          <p:cNvSpPr txBox="1"/>
          <p:nvPr/>
        </p:nvSpPr>
        <p:spPr>
          <a:xfrm>
            <a:off x="1581150" y="3181350"/>
            <a:ext cx="61341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Agree KPIs before mobilisation — financial, operational, and adoption targets locked at program launch.</a:t>
            </a:r>
          </a:p>
        </p:txBody>
      </p:sp>
      <p:sp>
        <p:nvSpPr>
          <p:cNvPr id="17" name="row-3-card"/>
          <p:cNvSpPr/>
          <p:nvPr/>
        </p:nvSpPr>
        <p:spPr>
          <a:xfrm>
            <a:off x="457200" y="3733800"/>
            <a:ext cx="7239000" cy="857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row-3-ghost"/>
          <p:cNvSpPr txBox="1"/>
          <p:nvPr/>
        </p:nvSpPr>
        <p:spPr>
          <a:xfrm>
            <a:off x="533400" y="3790950"/>
            <a:ext cx="666750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350" b="1" i="0">
                <a:solidFill>
                  <a:srgbClr val="C780FF"/>
                </a:solidFill>
                <a:latin typeface="Inter"/>
              </a:rPr>
              <a:t>3</a:t>
            </a:r>
          </a:p>
        </p:txBody>
      </p:sp>
      <p:sp>
        <p:nvSpPr>
          <p:cNvPr id="19" name="row-3-badge-bg"/>
          <p:cNvSpPr/>
          <p:nvPr/>
        </p:nvSpPr>
        <p:spPr>
          <a:xfrm>
            <a:off x="1200150" y="4038600"/>
            <a:ext cx="247650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row-3-badge"/>
          <p:cNvSpPr txBox="1"/>
          <p:nvPr/>
        </p:nvSpPr>
        <p:spPr>
          <a:xfrm>
            <a:off x="1200150" y="40386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1" name="row-3-title"/>
          <p:cNvSpPr txBox="1"/>
          <p:nvPr/>
        </p:nvSpPr>
        <p:spPr>
          <a:xfrm>
            <a:off x="1581150" y="3867150"/>
            <a:ext cx="61341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Integrate into core business cadence</a:t>
            </a:r>
          </a:p>
        </p:txBody>
      </p:sp>
      <p:sp>
        <p:nvSpPr>
          <p:cNvPr id="22" name="row-3-desc"/>
          <p:cNvSpPr txBox="1"/>
          <p:nvPr/>
        </p:nvSpPr>
        <p:spPr>
          <a:xfrm>
            <a:off x="1581150" y="4095750"/>
            <a:ext cx="61341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Embed deliverables into monthly operating reviews and governance forums — not a parallel workstream.</a:t>
            </a:r>
          </a:p>
        </p:txBody>
      </p:sp>
      <p:sp>
        <p:nvSpPr>
          <p:cNvPr id="23" name="row-4-card"/>
          <p:cNvSpPr/>
          <p:nvPr/>
        </p:nvSpPr>
        <p:spPr>
          <a:xfrm>
            <a:off x="457200" y="4648200"/>
            <a:ext cx="7239000" cy="857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row-4-ghost"/>
          <p:cNvSpPr txBox="1"/>
          <p:nvPr/>
        </p:nvSpPr>
        <p:spPr>
          <a:xfrm>
            <a:off x="533400" y="4705350"/>
            <a:ext cx="666750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350" b="1" i="0">
                <a:solidFill>
                  <a:srgbClr val="C780FF"/>
                </a:solidFill>
                <a:latin typeface="Inter"/>
              </a:rPr>
              <a:t>4</a:t>
            </a:r>
          </a:p>
        </p:txBody>
      </p:sp>
      <p:sp>
        <p:nvSpPr>
          <p:cNvPr id="25" name="row-4-badge-bg"/>
          <p:cNvSpPr/>
          <p:nvPr/>
        </p:nvSpPr>
        <p:spPr>
          <a:xfrm>
            <a:off x="1200150" y="4953000"/>
            <a:ext cx="247650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row-4-badge"/>
          <p:cNvSpPr txBox="1"/>
          <p:nvPr/>
        </p:nvSpPr>
        <p:spPr>
          <a:xfrm>
            <a:off x="1200150" y="49530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7" name="row-4-title"/>
          <p:cNvSpPr txBox="1"/>
          <p:nvPr/>
        </p:nvSpPr>
        <p:spPr>
          <a:xfrm>
            <a:off x="1581150" y="4781550"/>
            <a:ext cx="61341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Deploy standardised tooling at scale</a:t>
            </a:r>
          </a:p>
        </p:txBody>
      </p:sp>
      <p:sp>
        <p:nvSpPr>
          <p:cNvPr id="28" name="row-4-desc"/>
          <p:cNvSpPr txBox="1"/>
          <p:nvPr/>
        </p:nvSpPr>
        <p:spPr>
          <a:xfrm>
            <a:off x="1581150" y="5010150"/>
            <a:ext cx="61341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Mandated playbooks, templates, and platforms — adoption tracked and enforced across all teams.</a:t>
            </a:r>
          </a:p>
        </p:txBody>
      </p:sp>
      <p:sp>
        <p:nvSpPr>
          <p:cNvPr id="29" name="row-5-card"/>
          <p:cNvSpPr/>
          <p:nvPr/>
        </p:nvSpPr>
        <p:spPr>
          <a:xfrm>
            <a:off x="457200" y="5562600"/>
            <a:ext cx="7239000" cy="857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row-5-ghost"/>
          <p:cNvSpPr txBox="1"/>
          <p:nvPr/>
        </p:nvSpPr>
        <p:spPr>
          <a:xfrm>
            <a:off x="533400" y="5619750"/>
            <a:ext cx="666750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350" b="1" i="0">
                <a:solidFill>
                  <a:srgbClr val="C780FF"/>
                </a:solidFill>
                <a:latin typeface="Inter"/>
              </a:rPr>
              <a:t>5</a:t>
            </a:r>
          </a:p>
        </p:txBody>
      </p:sp>
      <p:sp>
        <p:nvSpPr>
          <p:cNvPr id="31" name="row-5-badge-bg"/>
          <p:cNvSpPr/>
          <p:nvPr/>
        </p:nvSpPr>
        <p:spPr>
          <a:xfrm>
            <a:off x="1200150" y="5867400"/>
            <a:ext cx="247650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row-5-badge"/>
          <p:cNvSpPr txBox="1"/>
          <p:nvPr/>
        </p:nvSpPr>
        <p:spPr>
          <a:xfrm>
            <a:off x="1200150" y="58674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33" name="row-5-title"/>
          <p:cNvSpPr txBox="1"/>
          <p:nvPr/>
        </p:nvSpPr>
        <p:spPr>
          <a:xfrm>
            <a:off x="1581150" y="5695950"/>
            <a:ext cx="61341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Close capability gap with upskilling plan</a:t>
            </a:r>
          </a:p>
        </p:txBody>
      </p:sp>
      <p:sp>
        <p:nvSpPr>
          <p:cNvPr id="34" name="row-5-desc"/>
          <p:cNvSpPr txBox="1"/>
          <p:nvPr/>
        </p:nvSpPr>
        <p:spPr>
          <a:xfrm>
            <a:off x="1581150" y="5924550"/>
            <a:ext cx="61341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Structured learning pathway with role-based certification milestones tied to performance objectives.</a:t>
            </a:r>
          </a:p>
        </p:txBody>
      </p:sp>
      <p:sp>
        <p:nvSpPr>
          <p:cNvPr id="35" name="summary-panel"/>
          <p:cNvSpPr/>
          <p:nvPr/>
        </p:nvSpPr>
        <p:spPr>
          <a:xfrm>
            <a:off x="7848600" y="1905000"/>
            <a:ext cx="3886200" cy="45148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summary-header"/>
          <p:cNvSpPr txBox="1"/>
          <p:nvPr/>
        </p:nvSpPr>
        <p:spPr>
          <a:xfrm>
            <a:off x="8001000" y="2038350"/>
            <a:ext cx="3581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SUMMARY</a:t>
            </a:r>
          </a:p>
        </p:txBody>
      </p:sp>
      <p:sp>
        <p:nvSpPr>
          <p:cNvPr id="37" name="summary-rule"/>
          <p:cNvSpPr/>
          <p:nvPr/>
        </p:nvSpPr>
        <p:spPr>
          <a:xfrm>
            <a:off x="8001000" y="2247900"/>
            <a:ext cx="3581400" cy="19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comp-1-num"/>
          <p:cNvSpPr txBox="1"/>
          <p:nvPr/>
        </p:nvSpPr>
        <p:spPr>
          <a:xfrm>
            <a:off x="8001000" y="2495550"/>
            <a:ext cx="190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1</a:t>
            </a:r>
          </a:p>
        </p:txBody>
      </p:sp>
      <p:sp>
        <p:nvSpPr>
          <p:cNvPr id="39" name="comp-1-stat"/>
          <p:cNvSpPr txBox="1"/>
          <p:nvPr/>
        </p:nvSpPr>
        <p:spPr>
          <a:xfrm>
            <a:off x="8248650" y="2457450"/>
            <a:ext cx="30289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2D0A4E"/>
                </a:solidFill>
                <a:latin typeface="Inter"/>
              </a:rPr>
              <a:t>3 sponsors</a:t>
            </a:r>
          </a:p>
        </p:txBody>
      </p:sp>
      <p:sp>
        <p:nvSpPr>
          <p:cNvPr id="40" name="comp-1-label"/>
          <p:cNvSpPr txBox="1"/>
          <p:nvPr/>
        </p:nvSpPr>
        <p:spPr>
          <a:xfrm>
            <a:off x="8248650" y="2667000"/>
            <a:ext cx="3028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Exec alignment</a:t>
            </a:r>
          </a:p>
        </p:txBody>
      </p:sp>
      <p:sp>
        <p:nvSpPr>
          <p:cNvPr id="41" name="comp-1-pill"/>
          <p:cNvSpPr/>
          <p:nvPr/>
        </p:nvSpPr>
        <p:spPr>
          <a:xfrm>
            <a:off x="11010900" y="2686050"/>
            <a:ext cx="609600" cy="17145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comp-1-pill-text"/>
          <p:cNvSpPr txBox="1"/>
          <p:nvPr/>
        </p:nvSpPr>
        <p:spPr>
          <a:xfrm>
            <a:off x="11010900" y="2686050"/>
            <a:ext cx="609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065F46"/>
                </a:solidFill>
                <a:latin typeface="Inter"/>
              </a:rPr>
              <a:t>On track</a:t>
            </a:r>
          </a:p>
        </p:txBody>
      </p:sp>
      <p:sp>
        <p:nvSpPr>
          <p:cNvPr id="43" name="comp-2-divider"/>
          <p:cNvSpPr/>
          <p:nvPr/>
        </p:nvSpPr>
        <p:spPr>
          <a:xfrm>
            <a:off x="8001000" y="3171825"/>
            <a:ext cx="35814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comp-2-num"/>
          <p:cNvSpPr txBox="1"/>
          <p:nvPr/>
        </p:nvSpPr>
        <p:spPr>
          <a:xfrm>
            <a:off x="8001000" y="3286125"/>
            <a:ext cx="190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2</a:t>
            </a:r>
          </a:p>
        </p:txBody>
      </p:sp>
      <p:sp>
        <p:nvSpPr>
          <p:cNvPr id="45" name="comp-2-stat"/>
          <p:cNvSpPr txBox="1"/>
          <p:nvPr/>
        </p:nvSpPr>
        <p:spPr>
          <a:xfrm>
            <a:off x="8248650" y="3248025"/>
            <a:ext cx="30289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2D0A4E"/>
                </a:solidFill>
                <a:latin typeface="Inter"/>
              </a:rPr>
              <a:t>8 KPIs</a:t>
            </a:r>
          </a:p>
        </p:txBody>
      </p:sp>
      <p:sp>
        <p:nvSpPr>
          <p:cNvPr id="46" name="comp-2-label"/>
          <p:cNvSpPr txBox="1"/>
          <p:nvPr/>
        </p:nvSpPr>
        <p:spPr>
          <a:xfrm>
            <a:off x="8248650" y="3457575"/>
            <a:ext cx="3028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Agreed metrics</a:t>
            </a:r>
          </a:p>
        </p:txBody>
      </p:sp>
      <p:sp>
        <p:nvSpPr>
          <p:cNvPr id="47" name="comp-2-pill"/>
          <p:cNvSpPr/>
          <p:nvPr/>
        </p:nvSpPr>
        <p:spPr>
          <a:xfrm>
            <a:off x="10953750" y="3476625"/>
            <a:ext cx="666750" cy="17145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comp-2-pill-text"/>
          <p:cNvSpPr txBox="1"/>
          <p:nvPr/>
        </p:nvSpPr>
        <p:spPr>
          <a:xfrm>
            <a:off x="10953750" y="3476625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2400E"/>
                </a:solidFill>
                <a:latin typeface="Inter"/>
              </a:rPr>
              <a:t>In review</a:t>
            </a:r>
          </a:p>
        </p:txBody>
      </p:sp>
      <p:sp>
        <p:nvSpPr>
          <p:cNvPr id="49" name="comp-3-divider"/>
          <p:cNvSpPr/>
          <p:nvPr/>
        </p:nvSpPr>
        <p:spPr>
          <a:xfrm>
            <a:off x="8001000" y="3962400"/>
            <a:ext cx="35814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comp-3-num"/>
          <p:cNvSpPr txBox="1"/>
          <p:nvPr/>
        </p:nvSpPr>
        <p:spPr>
          <a:xfrm>
            <a:off x="8001000" y="4076700"/>
            <a:ext cx="190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3</a:t>
            </a:r>
          </a:p>
        </p:txBody>
      </p:sp>
      <p:sp>
        <p:nvSpPr>
          <p:cNvPr id="51" name="comp-3-stat"/>
          <p:cNvSpPr txBox="1"/>
          <p:nvPr/>
        </p:nvSpPr>
        <p:spPr>
          <a:xfrm>
            <a:off x="8248650" y="4038600"/>
            <a:ext cx="30289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2D0A4E"/>
                </a:solidFill>
                <a:latin typeface="Inter"/>
              </a:rPr>
              <a:t>2 of 4</a:t>
            </a:r>
          </a:p>
        </p:txBody>
      </p:sp>
      <p:sp>
        <p:nvSpPr>
          <p:cNvPr id="52" name="comp-3-label"/>
          <p:cNvSpPr txBox="1"/>
          <p:nvPr/>
        </p:nvSpPr>
        <p:spPr>
          <a:xfrm>
            <a:off x="8248650" y="4248150"/>
            <a:ext cx="3028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Forums embedded</a:t>
            </a:r>
          </a:p>
        </p:txBody>
      </p:sp>
      <p:sp>
        <p:nvSpPr>
          <p:cNvPr id="53" name="comp-3-pill"/>
          <p:cNvSpPr/>
          <p:nvPr/>
        </p:nvSpPr>
        <p:spPr>
          <a:xfrm>
            <a:off x="11068050" y="4267200"/>
            <a:ext cx="552450" cy="17145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comp-3-pill-text"/>
          <p:cNvSpPr txBox="1"/>
          <p:nvPr/>
        </p:nvSpPr>
        <p:spPr>
          <a:xfrm>
            <a:off x="11068050" y="4267200"/>
            <a:ext cx="552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2400E"/>
                </a:solidFill>
                <a:latin typeface="Inter"/>
              </a:rPr>
              <a:t>Partial</a:t>
            </a:r>
          </a:p>
        </p:txBody>
      </p:sp>
      <p:sp>
        <p:nvSpPr>
          <p:cNvPr id="55" name="comp-4-divider"/>
          <p:cNvSpPr/>
          <p:nvPr/>
        </p:nvSpPr>
        <p:spPr>
          <a:xfrm>
            <a:off x="8001000" y="4752975"/>
            <a:ext cx="35814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comp-4-num"/>
          <p:cNvSpPr txBox="1"/>
          <p:nvPr/>
        </p:nvSpPr>
        <p:spPr>
          <a:xfrm>
            <a:off x="8001000" y="4867275"/>
            <a:ext cx="190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4</a:t>
            </a:r>
          </a:p>
        </p:txBody>
      </p:sp>
      <p:sp>
        <p:nvSpPr>
          <p:cNvPr id="57" name="comp-4-stat"/>
          <p:cNvSpPr txBox="1"/>
          <p:nvPr/>
        </p:nvSpPr>
        <p:spPr>
          <a:xfrm>
            <a:off x="8248650" y="4829175"/>
            <a:ext cx="30289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2D0A4E"/>
                </a:solidFill>
                <a:latin typeface="Inter"/>
              </a:rPr>
              <a:t>74% adopted</a:t>
            </a:r>
          </a:p>
        </p:txBody>
      </p:sp>
      <p:sp>
        <p:nvSpPr>
          <p:cNvPr id="58" name="comp-4-label"/>
          <p:cNvSpPr txBox="1"/>
          <p:nvPr/>
        </p:nvSpPr>
        <p:spPr>
          <a:xfrm>
            <a:off x="8248650" y="5038725"/>
            <a:ext cx="3028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Tooling coverage</a:t>
            </a:r>
          </a:p>
        </p:txBody>
      </p:sp>
      <p:sp>
        <p:nvSpPr>
          <p:cNvPr id="59" name="comp-4-pill"/>
          <p:cNvSpPr/>
          <p:nvPr/>
        </p:nvSpPr>
        <p:spPr>
          <a:xfrm>
            <a:off x="11068050" y="5057775"/>
            <a:ext cx="552450" cy="17145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comp-4-pill-text"/>
          <p:cNvSpPr txBox="1"/>
          <p:nvPr/>
        </p:nvSpPr>
        <p:spPr>
          <a:xfrm>
            <a:off x="11068050" y="5057775"/>
            <a:ext cx="552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E40AF"/>
                </a:solidFill>
                <a:latin typeface="Inter"/>
              </a:rPr>
              <a:t>Scaling</a:t>
            </a:r>
          </a:p>
        </p:txBody>
      </p:sp>
      <p:sp>
        <p:nvSpPr>
          <p:cNvPr id="61" name="comp-5-divider"/>
          <p:cNvSpPr/>
          <p:nvPr/>
        </p:nvSpPr>
        <p:spPr>
          <a:xfrm>
            <a:off x="8001000" y="5543550"/>
            <a:ext cx="35814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comp-5-num"/>
          <p:cNvSpPr txBox="1"/>
          <p:nvPr/>
        </p:nvSpPr>
        <p:spPr>
          <a:xfrm>
            <a:off x="8001000" y="5657850"/>
            <a:ext cx="190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5</a:t>
            </a:r>
          </a:p>
        </p:txBody>
      </p:sp>
      <p:sp>
        <p:nvSpPr>
          <p:cNvPr id="63" name="comp-5-stat"/>
          <p:cNvSpPr txBox="1"/>
          <p:nvPr/>
        </p:nvSpPr>
        <p:spPr>
          <a:xfrm>
            <a:off x="8248650" y="5619750"/>
            <a:ext cx="30289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2D0A4E"/>
                </a:solidFill>
                <a:latin typeface="Inter"/>
              </a:rPr>
              <a:t>42 certified</a:t>
            </a:r>
          </a:p>
        </p:txBody>
      </p:sp>
      <p:sp>
        <p:nvSpPr>
          <p:cNvPr id="64" name="comp-5-label"/>
          <p:cNvSpPr txBox="1"/>
          <p:nvPr/>
        </p:nvSpPr>
        <p:spPr>
          <a:xfrm>
            <a:off x="8248650" y="5829300"/>
            <a:ext cx="3028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Upskilling cohort</a:t>
            </a:r>
          </a:p>
        </p:txBody>
      </p:sp>
      <p:sp>
        <p:nvSpPr>
          <p:cNvPr id="65" name="comp-5-pill"/>
          <p:cNvSpPr/>
          <p:nvPr/>
        </p:nvSpPr>
        <p:spPr>
          <a:xfrm>
            <a:off x="11010900" y="5848350"/>
            <a:ext cx="609600" cy="17145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comp-5-pill-text"/>
          <p:cNvSpPr txBox="1"/>
          <p:nvPr/>
        </p:nvSpPr>
        <p:spPr>
          <a:xfrm>
            <a:off x="11010900" y="5848350"/>
            <a:ext cx="609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B21B6"/>
                </a:solidFill>
                <a:latin typeface="Inter"/>
              </a:rPr>
              <a:t>Building</a:t>
            </a:r>
          </a:p>
        </p:txBody>
      </p:sp>
      <p:sp>
        <p:nvSpPr>
          <p:cNvPr id="6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6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