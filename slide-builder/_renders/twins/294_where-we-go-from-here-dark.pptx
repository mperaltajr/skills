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Where We Go From </a:t>
            </a:r>
            <a:r>
              <a:rPr sz="2400" b="1" i="0">
                <a:solidFill>
                  <a:srgbClr val="C780FF"/>
                </a:solidFill>
                <a:latin typeface="Inter"/>
              </a:rPr>
              <a:t>Here</a:t>
            </a:r>
          </a:p>
        </p:txBody>
      </p:sp>
      <p:sp>
        <p:nvSpPr>
          <p:cNvPr id="3" name="subhead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Three near-term actions and the phased roadmap behind them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7620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anel-divider"/>
          <p:cNvSpPr/>
          <p:nvPr/>
        </p:nvSpPr>
        <p:spPr>
          <a:xfrm>
            <a:off x="6858000" y="2095500"/>
            <a:ext cx="9525" cy="40957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section-label"/>
          <p:cNvSpPr txBox="1"/>
          <p:nvPr/>
        </p:nvSpPr>
        <p:spPr>
          <a:xfrm>
            <a:off x="457200" y="2095500"/>
            <a:ext cx="6286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WHERE WE GO FROM HERE</a:t>
            </a:r>
          </a:p>
        </p:txBody>
      </p:sp>
      <p:sp>
        <p:nvSpPr>
          <p:cNvPr id="7" name="headline"/>
          <p:cNvSpPr txBox="1"/>
          <p:nvPr/>
        </p:nvSpPr>
        <p:spPr>
          <a:xfrm>
            <a:off x="457200" y="2324100"/>
            <a:ext cx="6286500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FFFFFF"/>
                </a:solidFill>
                <a:latin typeface="Inter"/>
              </a:rPr>
              <a:t>Three actions to </a:t>
            </a:r>
            <a:r>
              <a:rPr sz="1800" b="1" i="0">
                <a:solidFill>
                  <a:srgbClr val="C780FF"/>
                </a:solidFill>
                <a:latin typeface="Inter"/>
              </a:rPr>
              <a:t>unlock value</a:t>
            </a:r>
          </a:p>
        </p:txBody>
      </p:sp>
      <p:sp>
        <p:nvSpPr>
          <p:cNvPr id="8" name="connector-0"/>
          <p:cNvSpPr/>
          <p:nvPr/>
        </p:nvSpPr>
        <p:spPr>
          <a:xfrm>
            <a:off x="619125" y="35242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connector-8"/>
          <p:cNvSpPr/>
          <p:nvPr/>
        </p:nvSpPr>
        <p:spPr>
          <a:xfrm>
            <a:off x="619125" y="36004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connector-16"/>
          <p:cNvSpPr/>
          <p:nvPr/>
        </p:nvSpPr>
        <p:spPr>
          <a:xfrm>
            <a:off x="619125" y="36766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connector-24"/>
          <p:cNvSpPr/>
          <p:nvPr/>
        </p:nvSpPr>
        <p:spPr>
          <a:xfrm>
            <a:off x="619125" y="37528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onnector-32"/>
          <p:cNvSpPr/>
          <p:nvPr/>
        </p:nvSpPr>
        <p:spPr>
          <a:xfrm>
            <a:off x="619125" y="38290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onnector-40"/>
          <p:cNvSpPr/>
          <p:nvPr/>
        </p:nvSpPr>
        <p:spPr>
          <a:xfrm>
            <a:off x="619125" y="39052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onnector-48"/>
          <p:cNvSpPr/>
          <p:nvPr/>
        </p:nvSpPr>
        <p:spPr>
          <a:xfrm>
            <a:off x="619125" y="39814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connector-56"/>
          <p:cNvSpPr/>
          <p:nvPr/>
        </p:nvSpPr>
        <p:spPr>
          <a:xfrm>
            <a:off x="619125" y="40576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connector-64"/>
          <p:cNvSpPr/>
          <p:nvPr/>
        </p:nvSpPr>
        <p:spPr>
          <a:xfrm>
            <a:off x="619125" y="41338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connector-72"/>
          <p:cNvSpPr/>
          <p:nvPr/>
        </p:nvSpPr>
        <p:spPr>
          <a:xfrm>
            <a:off x="619125" y="42100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onnector-80"/>
          <p:cNvSpPr/>
          <p:nvPr/>
        </p:nvSpPr>
        <p:spPr>
          <a:xfrm>
            <a:off x="619125" y="42862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onnector-88"/>
          <p:cNvSpPr/>
          <p:nvPr/>
        </p:nvSpPr>
        <p:spPr>
          <a:xfrm>
            <a:off x="619125" y="43624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connector-96"/>
          <p:cNvSpPr/>
          <p:nvPr/>
        </p:nvSpPr>
        <p:spPr>
          <a:xfrm>
            <a:off x="619125" y="44386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connector-104"/>
          <p:cNvSpPr/>
          <p:nvPr/>
        </p:nvSpPr>
        <p:spPr>
          <a:xfrm>
            <a:off x="619125" y="45148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connector-112"/>
          <p:cNvSpPr/>
          <p:nvPr/>
        </p:nvSpPr>
        <p:spPr>
          <a:xfrm>
            <a:off x="619125" y="45910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onnector-120"/>
          <p:cNvSpPr/>
          <p:nvPr/>
        </p:nvSpPr>
        <p:spPr>
          <a:xfrm>
            <a:off x="619125" y="46672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onnector-128"/>
          <p:cNvSpPr/>
          <p:nvPr/>
        </p:nvSpPr>
        <p:spPr>
          <a:xfrm>
            <a:off x="619125" y="47434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onnector-136"/>
          <p:cNvSpPr/>
          <p:nvPr/>
        </p:nvSpPr>
        <p:spPr>
          <a:xfrm>
            <a:off x="619125" y="48196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connector-144"/>
          <p:cNvSpPr/>
          <p:nvPr/>
        </p:nvSpPr>
        <p:spPr>
          <a:xfrm>
            <a:off x="619125" y="48958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onnector-152"/>
          <p:cNvSpPr/>
          <p:nvPr/>
        </p:nvSpPr>
        <p:spPr>
          <a:xfrm>
            <a:off x="619125" y="49720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onnector-160"/>
          <p:cNvSpPr/>
          <p:nvPr/>
        </p:nvSpPr>
        <p:spPr>
          <a:xfrm>
            <a:off x="619125" y="50482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connector-168"/>
          <p:cNvSpPr/>
          <p:nvPr/>
        </p:nvSpPr>
        <p:spPr>
          <a:xfrm>
            <a:off x="619125" y="51244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onnector-176"/>
          <p:cNvSpPr/>
          <p:nvPr/>
        </p:nvSpPr>
        <p:spPr>
          <a:xfrm>
            <a:off x="619125" y="52006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onnector-184"/>
          <p:cNvSpPr/>
          <p:nvPr/>
        </p:nvSpPr>
        <p:spPr>
          <a:xfrm>
            <a:off x="619125" y="52768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connector-192"/>
          <p:cNvSpPr/>
          <p:nvPr/>
        </p:nvSpPr>
        <p:spPr>
          <a:xfrm>
            <a:off x="619125" y="53530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connector-200"/>
          <p:cNvSpPr/>
          <p:nvPr/>
        </p:nvSpPr>
        <p:spPr>
          <a:xfrm>
            <a:off x="619125" y="54292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onnector-208"/>
          <p:cNvSpPr/>
          <p:nvPr/>
        </p:nvSpPr>
        <p:spPr>
          <a:xfrm>
            <a:off x="619125" y="55054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connector-216"/>
          <p:cNvSpPr/>
          <p:nvPr/>
        </p:nvSpPr>
        <p:spPr>
          <a:xfrm>
            <a:off x="619125" y="55816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connector-224"/>
          <p:cNvSpPr/>
          <p:nvPr/>
        </p:nvSpPr>
        <p:spPr>
          <a:xfrm>
            <a:off x="619125" y="56578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onnector-232"/>
          <p:cNvSpPr/>
          <p:nvPr/>
        </p:nvSpPr>
        <p:spPr>
          <a:xfrm>
            <a:off x="619125" y="57340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onnector-240"/>
          <p:cNvSpPr/>
          <p:nvPr/>
        </p:nvSpPr>
        <p:spPr>
          <a:xfrm>
            <a:off x="619125" y="58102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connector-248"/>
          <p:cNvSpPr/>
          <p:nvPr/>
        </p:nvSpPr>
        <p:spPr>
          <a:xfrm>
            <a:off x="619125" y="58864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connector-256"/>
          <p:cNvSpPr/>
          <p:nvPr/>
        </p:nvSpPr>
        <p:spPr>
          <a:xfrm>
            <a:off x="619125" y="59626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connector-264"/>
          <p:cNvSpPr/>
          <p:nvPr/>
        </p:nvSpPr>
        <p:spPr>
          <a:xfrm>
            <a:off x="619125" y="60388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connector-272"/>
          <p:cNvSpPr/>
          <p:nvPr/>
        </p:nvSpPr>
        <p:spPr>
          <a:xfrm>
            <a:off x="619125" y="61150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connector-280"/>
          <p:cNvSpPr/>
          <p:nvPr/>
        </p:nvSpPr>
        <p:spPr>
          <a:xfrm>
            <a:off x="619125" y="61912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connector-288"/>
          <p:cNvSpPr/>
          <p:nvPr/>
        </p:nvSpPr>
        <p:spPr>
          <a:xfrm>
            <a:off x="619125" y="62674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connector-296"/>
          <p:cNvSpPr/>
          <p:nvPr/>
        </p:nvSpPr>
        <p:spPr>
          <a:xfrm>
            <a:off x="619125" y="63436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onnector-304"/>
          <p:cNvSpPr/>
          <p:nvPr/>
        </p:nvSpPr>
        <p:spPr>
          <a:xfrm>
            <a:off x="619125" y="64198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onnector-312"/>
          <p:cNvSpPr/>
          <p:nvPr/>
        </p:nvSpPr>
        <p:spPr>
          <a:xfrm>
            <a:off x="619125" y="6496050"/>
            <a:ext cx="19050" cy="381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action-1-dot"/>
          <p:cNvSpPr/>
          <p:nvPr/>
        </p:nvSpPr>
        <p:spPr>
          <a:xfrm>
            <a:off x="571500" y="3448050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action-1-number-bg"/>
          <p:cNvSpPr txBox="1"/>
          <p:nvPr/>
        </p:nvSpPr>
        <p:spPr>
          <a:xfrm>
            <a:off x="457200" y="3238500"/>
            <a:ext cx="4381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3300" b="1" i="0">
                <a:solidFill>
                  <a:srgbClr val="553677"/>
                </a:solidFill>
                <a:latin typeface="Inter"/>
              </a:rPr>
              <a:t>1</a:t>
            </a:r>
          </a:p>
        </p:txBody>
      </p:sp>
      <p:sp>
        <p:nvSpPr>
          <p:cNvPr id="50" name="action-1-title"/>
          <p:cNvSpPr txBox="1"/>
          <p:nvPr/>
        </p:nvSpPr>
        <p:spPr>
          <a:xfrm>
            <a:off x="990600" y="33147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Align on a single operating model</a:t>
            </a:r>
          </a:p>
        </p:txBody>
      </p:sp>
      <p:sp>
        <p:nvSpPr>
          <p:cNvPr id="51" name="action-1-desc"/>
          <p:cNvSpPr txBox="1"/>
          <p:nvPr/>
        </p:nvSpPr>
        <p:spPr>
          <a:xfrm>
            <a:off x="990600" y="3543300"/>
            <a:ext cx="5715000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Consolidate fragmented processes into one authoritative framework owned by a cross-functional steering group.</a:t>
            </a:r>
          </a:p>
        </p:txBody>
      </p:sp>
      <p:sp>
        <p:nvSpPr>
          <p:cNvPr id="52" name="action-2-dot"/>
          <p:cNvSpPr/>
          <p:nvPr/>
        </p:nvSpPr>
        <p:spPr>
          <a:xfrm>
            <a:off x="571500" y="4457700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action-2-number-bg"/>
          <p:cNvSpPr txBox="1"/>
          <p:nvPr/>
        </p:nvSpPr>
        <p:spPr>
          <a:xfrm>
            <a:off x="457200" y="4248150"/>
            <a:ext cx="4381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3300" b="1" i="0">
                <a:solidFill>
                  <a:srgbClr val="553677"/>
                </a:solidFill>
                <a:latin typeface="Inter"/>
              </a:rPr>
              <a:t>2</a:t>
            </a:r>
          </a:p>
        </p:txBody>
      </p:sp>
      <p:sp>
        <p:nvSpPr>
          <p:cNvPr id="54" name="action-2-title"/>
          <p:cNvSpPr txBox="1"/>
          <p:nvPr/>
        </p:nvSpPr>
        <p:spPr>
          <a:xfrm>
            <a:off x="990600" y="432435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Instrument the data pipeline end-to-end</a:t>
            </a:r>
          </a:p>
        </p:txBody>
      </p:sp>
      <p:sp>
        <p:nvSpPr>
          <p:cNvPr id="55" name="action-2-desc"/>
          <p:cNvSpPr txBox="1"/>
          <p:nvPr/>
        </p:nvSpPr>
        <p:spPr>
          <a:xfrm>
            <a:off x="990600" y="4552950"/>
            <a:ext cx="5715000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Deploy lightweight telemetry at each handoff point so latency and quality gaps become immediately visible.</a:t>
            </a:r>
          </a:p>
        </p:txBody>
      </p:sp>
      <p:sp>
        <p:nvSpPr>
          <p:cNvPr id="56" name="action-3-dot"/>
          <p:cNvSpPr/>
          <p:nvPr/>
        </p:nvSpPr>
        <p:spPr>
          <a:xfrm>
            <a:off x="571500" y="5467350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action-3-number-bg"/>
          <p:cNvSpPr txBox="1"/>
          <p:nvPr/>
        </p:nvSpPr>
        <p:spPr>
          <a:xfrm>
            <a:off x="457200" y="5257800"/>
            <a:ext cx="4381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3300" b="1" i="0">
                <a:solidFill>
                  <a:srgbClr val="553677"/>
                </a:solidFill>
                <a:latin typeface="Inter"/>
              </a:rPr>
              <a:t>3</a:t>
            </a:r>
          </a:p>
        </p:txBody>
      </p:sp>
      <p:sp>
        <p:nvSpPr>
          <p:cNvPr id="58" name="action-3-title"/>
          <p:cNvSpPr txBox="1"/>
          <p:nvPr/>
        </p:nvSpPr>
        <p:spPr>
          <a:xfrm>
            <a:off x="990600" y="53340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Scale the pilot to two additional regions</a:t>
            </a:r>
          </a:p>
        </p:txBody>
      </p:sp>
      <p:sp>
        <p:nvSpPr>
          <p:cNvPr id="59" name="action-3-desc"/>
          <p:cNvSpPr txBox="1"/>
          <p:nvPr/>
        </p:nvSpPr>
        <p:spPr>
          <a:xfrm>
            <a:off x="990600" y="5562600"/>
            <a:ext cx="5715000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Apply learnings from the EMEA pilot to APAC and NAM with adapted change management and local governance.</a:t>
            </a:r>
          </a:p>
        </p:txBody>
      </p:sp>
      <p:sp>
        <p:nvSpPr>
          <p:cNvPr id="60" name="timeline-label"/>
          <p:cNvSpPr txBox="1"/>
          <p:nvPr/>
        </p:nvSpPr>
        <p:spPr>
          <a:xfrm>
            <a:off x="7620000" y="2667000"/>
            <a:ext cx="4114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PHASED ROADMAP</a:t>
            </a:r>
          </a:p>
        </p:txBody>
      </p:sp>
      <p:sp>
        <p:nvSpPr>
          <p:cNvPr id="61" name="arrow-head"/>
          <p:cNvSpPr txBox="1"/>
          <p:nvPr/>
        </p:nvSpPr>
        <p:spPr>
          <a:xfrm>
            <a:off x="7181850" y="603885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350" b="0" i="0">
                <a:solidFill>
                  <a:srgbClr val="A100FF"/>
                </a:solidFill>
                <a:latin typeface="Inter"/>
              </a:rPr>
              <a:t>▼</a:t>
            </a:r>
          </a:p>
        </p:txBody>
      </p:sp>
      <p:sp>
        <p:nvSpPr>
          <p:cNvPr id="62" name="arrow-shaft"/>
          <p:cNvSpPr/>
          <p:nvPr/>
        </p:nvSpPr>
        <p:spPr>
          <a:xfrm>
            <a:off x="7286625" y="3048000"/>
            <a:ext cx="28575" cy="3009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milestone-1-node"/>
          <p:cNvSpPr/>
          <p:nvPr/>
        </p:nvSpPr>
        <p:spPr>
          <a:xfrm>
            <a:off x="7219950" y="3086100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milestone-1-pip"/>
          <p:cNvSpPr/>
          <p:nvPr/>
        </p:nvSpPr>
        <p:spPr>
          <a:xfrm>
            <a:off x="7581900" y="308610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milestone-1-period"/>
          <p:cNvSpPr txBox="1"/>
          <p:nvPr/>
        </p:nvSpPr>
        <p:spPr>
          <a:xfrm>
            <a:off x="7715250" y="304800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NOW</a:t>
            </a:r>
          </a:p>
        </p:txBody>
      </p:sp>
      <p:sp>
        <p:nvSpPr>
          <p:cNvPr id="66" name="milestone-1-outcome"/>
          <p:cNvSpPr txBox="1"/>
          <p:nvPr/>
        </p:nvSpPr>
        <p:spPr>
          <a:xfrm>
            <a:off x="7715250" y="3257550"/>
            <a:ext cx="3924300" cy="7143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Steering group chartered; operating model draft circulated for sign-off.</a:t>
            </a:r>
          </a:p>
        </p:txBody>
      </p:sp>
      <p:sp>
        <p:nvSpPr>
          <p:cNvPr id="67" name="milestone-2-node"/>
          <p:cNvSpPr/>
          <p:nvPr/>
        </p:nvSpPr>
        <p:spPr>
          <a:xfrm>
            <a:off x="7219950" y="4067175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milestone-2-pip"/>
          <p:cNvSpPr/>
          <p:nvPr/>
        </p:nvSpPr>
        <p:spPr>
          <a:xfrm>
            <a:off x="7581900" y="4067175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milestone-2-period"/>
          <p:cNvSpPr txBox="1"/>
          <p:nvPr/>
        </p:nvSpPr>
        <p:spPr>
          <a:xfrm>
            <a:off x="7715250" y="4029075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30 DAYS</a:t>
            </a:r>
          </a:p>
        </p:txBody>
      </p:sp>
      <p:sp>
        <p:nvSpPr>
          <p:cNvPr id="70" name="milestone-2-outcome"/>
          <p:cNvSpPr txBox="1"/>
          <p:nvPr/>
        </p:nvSpPr>
        <p:spPr>
          <a:xfrm>
            <a:off x="7715250" y="4238625"/>
            <a:ext cx="3924300" cy="7143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Telemetry deployed; first data-quality dashboard published to stakeholders.</a:t>
            </a:r>
          </a:p>
        </p:txBody>
      </p:sp>
      <p:sp>
        <p:nvSpPr>
          <p:cNvPr id="71" name="milestone-3-node"/>
          <p:cNvSpPr/>
          <p:nvPr/>
        </p:nvSpPr>
        <p:spPr>
          <a:xfrm>
            <a:off x="7219950" y="5048250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milestone-3-pip"/>
          <p:cNvSpPr/>
          <p:nvPr/>
        </p:nvSpPr>
        <p:spPr>
          <a:xfrm>
            <a:off x="7581900" y="504825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milestone-3-period"/>
          <p:cNvSpPr txBox="1"/>
          <p:nvPr/>
        </p:nvSpPr>
        <p:spPr>
          <a:xfrm>
            <a:off x="7715250" y="501015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90 DAYS</a:t>
            </a:r>
          </a:p>
        </p:txBody>
      </p:sp>
      <p:sp>
        <p:nvSpPr>
          <p:cNvPr id="74" name="milestone-3-outcome"/>
          <p:cNvSpPr txBox="1"/>
          <p:nvPr/>
        </p:nvSpPr>
        <p:spPr>
          <a:xfrm>
            <a:off x="7715250" y="5219700"/>
            <a:ext cx="3924300" cy="7143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Scaled model live in two regions; KPIs reported to executive board.</a:t>
            </a:r>
          </a:p>
        </p:txBody>
      </p:sp>
      <p:sp>
        <p:nvSpPr>
          <p:cNvPr id="7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294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