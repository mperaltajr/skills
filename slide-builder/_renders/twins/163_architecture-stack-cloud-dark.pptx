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Cloud Architecture Stack — </a:t>
            </a:r>
            <a:r>
              <a:rPr sz="1950" b="1" i="0">
                <a:solidFill>
                  <a:srgbClr val="C780FF"/>
                </a:solidFill>
                <a:latin typeface="Inter"/>
              </a:rPr>
              <a:t>Layer by Layer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Mapping IaaS, PaaS, and SaaS services to business consumption patterns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arrow-shaft"/>
          <p:cNvSpPr/>
          <p:nvPr/>
        </p:nvSpPr>
        <p:spPr>
          <a:xfrm>
            <a:off x="571500" y="2286000"/>
            <a:ext cx="28575" cy="3810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arrow-head"/>
          <p:cNvSpPr txBox="1"/>
          <p:nvPr/>
        </p:nvSpPr>
        <p:spPr>
          <a:xfrm>
            <a:off x="457200" y="213360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▲</a:t>
            </a:r>
          </a:p>
        </p:txBody>
      </p:sp>
      <p:sp>
        <p:nvSpPr>
          <p:cNvPr id="7" name="arrow-label"/>
          <p:cNvSpPr txBox="1"/>
          <p:nvPr/>
        </p:nvSpPr>
        <p:spPr>
          <a:xfrm>
            <a:off x="457200" y="411480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ABSTRACTION</a:t>
            </a:r>
          </a:p>
        </p:txBody>
      </p:sp>
      <p:sp>
        <p:nvSpPr>
          <p:cNvPr id="8" name="layer-users-bg"/>
          <p:cNvSpPr/>
          <p:nvPr/>
        </p:nvSpPr>
        <p:spPr>
          <a:xfrm>
            <a:off x="838200" y="2095500"/>
            <a:ext cx="8667750" cy="942975"/>
          </a:xfrm>
          <a:prstGeom prst="rect">
            <a:avLst/>
          </a:prstGeom>
          <a:solidFill>
            <a:srgbClr val="351A52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ayer-users-label"/>
          <p:cNvSpPr txBox="1"/>
          <p:nvPr/>
        </p:nvSpPr>
        <p:spPr>
          <a:xfrm>
            <a:off x="971550" y="2095500"/>
            <a:ext cx="762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USERS</a:t>
            </a:r>
          </a:p>
        </p:txBody>
      </p:sp>
      <p:sp>
        <p:nvSpPr>
          <p:cNvPr id="10" name="layer-users-chips"/>
          <p:cNvSpPr txBox="1"/>
          <p:nvPr/>
        </p:nvSpPr>
        <p:spPr>
          <a:xfrm>
            <a:off x="1790700" y="2095500"/>
            <a:ext cx="7620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Web Browser  •  Mobile App  •  API Client  •  Partner Portal</a:t>
            </a:r>
          </a:p>
        </p:txBody>
      </p:sp>
      <p:sp>
        <p:nvSpPr>
          <p:cNvPr id="11" name="layer-saas-bg"/>
          <p:cNvSpPr/>
          <p:nvPr/>
        </p:nvSpPr>
        <p:spPr>
          <a:xfrm>
            <a:off x="838200" y="3095625"/>
            <a:ext cx="8667750" cy="9429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ayer-saas-label"/>
          <p:cNvSpPr txBox="1"/>
          <p:nvPr/>
        </p:nvSpPr>
        <p:spPr>
          <a:xfrm>
            <a:off x="971550" y="3095625"/>
            <a:ext cx="762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SAAS</a:t>
            </a:r>
          </a:p>
        </p:txBody>
      </p:sp>
      <p:sp>
        <p:nvSpPr>
          <p:cNvPr id="13" name="layer-saas-chips"/>
          <p:cNvSpPr txBox="1"/>
          <p:nvPr/>
        </p:nvSpPr>
        <p:spPr>
          <a:xfrm>
            <a:off x="1790700" y="3095625"/>
            <a:ext cx="7620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Microsoft 365  •  Salesforce  •  ServiceNow  •  Workday  •  Power BI</a:t>
            </a:r>
          </a:p>
        </p:txBody>
      </p:sp>
      <p:sp>
        <p:nvSpPr>
          <p:cNvPr id="14" name="layer-paas-bg"/>
          <p:cNvSpPr/>
          <p:nvPr/>
        </p:nvSpPr>
        <p:spPr>
          <a:xfrm>
            <a:off x="838200" y="4095750"/>
            <a:ext cx="8667750" cy="942975"/>
          </a:xfrm>
          <a:prstGeom prst="rect">
            <a:avLst/>
          </a:prstGeom>
          <a:solidFill>
            <a:srgbClr val="4A2976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layer-paas-label"/>
          <p:cNvSpPr txBox="1"/>
          <p:nvPr/>
        </p:nvSpPr>
        <p:spPr>
          <a:xfrm>
            <a:off x="971550" y="4095750"/>
            <a:ext cx="762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PAAS</a:t>
            </a:r>
          </a:p>
        </p:txBody>
      </p:sp>
      <p:sp>
        <p:nvSpPr>
          <p:cNvPr id="16" name="layer-paas-chips"/>
          <p:cNvSpPr txBox="1"/>
          <p:nvPr/>
        </p:nvSpPr>
        <p:spPr>
          <a:xfrm>
            <a:off x="1790700" y="4095750"/>
            <a:ext cx="7620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Azure App Service  •  Cloud Run  •  AWS Lambda  •  Azure SQL  •  API Mgmt</a:t>
            </a:r>
          </a:p>
        </p:txBody>
      </p:sp>
      <p:sp>
        <p:nvSpPr>
          <p:cNvPr id="17" name="layer-iaas-bg"/>
          <p:cNvSpPr/>
          <p:nvPr/>
        </p:nvSpPr>
        <p:spPr>
          <a:xfrm>
            <a:off x="838200" y="5095875"/>
            <a:ext cx="8667750" cy="942975"/>
          </a:xfrm>
          <a:prstGeom prst="rect">
            <a:avLst/>
          </a:prstGeom>
          <a:solidFill>
            <a:srgbClr val="1A0530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layer-iaas-label"/>
          <p:cNvSpPr txBox="1"/>
          <p:nvPr/>
        </p:nvSpPr>
        <p:spPr>
          <a:xfrm>
            <a:off x="971550" y="5095875"/>
            <a:ext cx="762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IAAS</a:t>
            </a:r>
          </a:p>
        </p:txBody>
      </p:sp>
      <p:sp>
        <p:nvSpPr>
          <p:cNvPr id="19" name="layer-iaas-chips"/>
          <p:cNvSpPr txBox="1"/>
          <p:nvPr/>
        </p:nvSpPr>
        <p:spPr>
          <a:xfrm>
            <a:off x="1790700" y="5095875"/>
            <a:ext cx="7620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VMs / Compute  •  Virtual Network  •  Blob Storage  •  Load Balancer  •  DNS / CDN</a:t>
            </a:r>
          </a:p>
        </p:txBody>
      </p:sp>
      <p:sp>
        <p:nvSpPr>
          <p:cNvPr id="20" name="annot-users-bg"/>
          <p:cNvSpPr/>
          <p:nvPr/>
        </p:nvSpPr>
        <p:spPr>
          <a:xfrm>
            <a:off x="9639300" y="2095500"/>
            <a:ext cx="2095500" cy="942975"/>
          </a:xfrm>
          <a:prstGeom prst="rect">
            <a:avLst/>
          </a:prstGeom>
          <a:solidFill>
            <a:srgbClr val="35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annot-users-accent"/>
          <p:cNvSpPr/>
          <p:nvPr/>
        </p:nvSpPr>
        <p:spPr>
          <a:xfrm>
            <a:off x="9639300" y="2095500"/>
            <a:ext cx="28575" cy="942975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annot-users-label"/>
          <p:cNvSpPr txBox="1"/>
          <p:nvPr/>
        </p:nvSpPr>
        <p:spPr>
          <a:xfrm>
            <a:off x="9772650" y="2152650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PRESENTATION</a:t>
            </a:r>
          </a:p>
        </p:txBody>
      </p:sp>
      <p:sp>
        <p:nvSpPr>
          <p:cNvPr id="23" name="annot-users-body"/>
          <p:cNvSpPr txBox="1"/>
          <p:nvPr/>
        </p:nvSpPr>
        <p:spPr>
          <a:xfrm>
            <a:off x="9772650" y="2305050"/>
            <a:ext cx="182880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End-user touchpoints consuming services via browser, mobile, or third-party integrations.</a:t>
            </a:r>
          </a:p>
        </p:txBody>
      </p:sp>
      <p:sp>
        <p:nvSpPr>
          <p:cNvPr id="24" name="annot-saas-bg"/>
          <p:cNvSpPr/>
          <p:nvPr/>
        </p:nvSpPr>
        <p:spPr>
          <a:xfrm>
            <a:off x="9639300" y="3095625"/>
            <a:ext cx="2095500" cy="94297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annot-saas-accent"/>
          <p:cNvSpPr/>
          <p:nvPr/>
        </p:nvSpPr>
        <p:spPr>
          <a:xfrm>
            <a:off x="9639300" y="3095625"/>
            <a:ext cx="28575" cy="9429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annot-saas-label"/>
          <p:cNvSpPr txBox="1"/>
          <p:nvPr/>
        </p:nvSpPr>
        <p:spPr>
          <a:xfrm>
            <a:off x="9772650" y="3152775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SOFTWARE AS A SERVICE</a:t>
            </a:r>
          </a:p>
        </p:txBody>
      </p:sp>
      <p:sp>
        <p:nvSpPr>
          <p:cNvPr id="27" name="annot-saas-body"/>
          <p:cNvSpPr txBox="1"/>
          <p:nvPr/>
        </p:nvSpPr>
        <p:spPr>
          <a:xfrm>
            <a:off x="9772650" y="3305175"/>
            <a:ext cx="182880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Fully managed applications. No infra ownership; consumed via subscription and configured, not coded.</a:t>
            </a:r>
          </a:p>
        </p:txBody>
      </p:sp>
      <p:sp>
        <p:nvSpPr>
          <p:cNvPr id="28" name="annot-paas-bg"/>
          <p:cNvSpPr/>
          <p:nvPr/>
        </p:nvSpPr>
        <p:spPr>
          <a:xfrm>
            <a:off x="9639300" y="4095750"/>
            <a:ext cx="2095500" cy="942975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annot-paas-accent"/>
          <p:cNvSpPr/>
          <p:nvPr/>
        </p:nvSpPr>
        <p:spPr>
          <a:xfrm>
            <a:off x="9639300" y="4095750"/>
            <a:ext cx="28575" cy="9429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annot-paas-label"/>
          <p:cNvSpPr txBox="1"/>
          <p:nvPr/>
        </p:nvSpPr>
        <p:spPr>
          <a:xfrm>
            <a:off x="9772650" y="4152900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PLATFORM AS A SERVICE</a:t>
            </a:r>
          </a:p>
        </p:txBody>
      </p:sp>
      <p:sp>
        <p:nvSpPr>
          <p:cNvPr id="31" name="annot-paas-body"/>
          <p:cNvSpPr txBox="1"/>
          <p:nvPr/>
        </p:nvSpPr>
        <p:spPr>
          <a:xfrm>
            <a:off x="9772650" y="4305300"/>
            <a:ext cx="182880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Managed runtimes, databases, and middleware. Teams deploy code; cloud owns OS patching and scaling.</a:t>
            </a:r>
          </a:p>
        </p:txBody>
      </p:sp>
      <p:sp>
        <p:nvSpPr>
          <p:cNvPr id="32" name="annot-iaas-bg"/>
          <p:cNvSpPr/>
          <p:nvPr/>
        </p:nvSpPr>
        <p:spPr>
          <a:xfrm>
            <a:off x="9639300" y="5095875"/>
            <a:ext cx="2095500" cy="942975"/>
          </a:xfrm>
          <a:prstGeom prst="rect">
            <a:avLst/>
          </a:prstGeom>
          <a:solidFill>
            <a:srgbClr val="2A1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annot-iaas-accent"/>
          <p:cNvSpPr/>
          <p:nvPr/>
        </p:nvSpPr>
        <p:spPr>
          <a:xfrm>
            <a:off x="9639300" y="5095875"/>
            <a:ext cx="28575" cy="9429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annot-iaas-label"/>
          <p:cNvSpPr txBox="1"/>
          <p:nvPr/>
        </p:nvSpPr>
        <p:spPr>
          <a:xfrm>
            <a:off x="9772650" y="5153025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INFRASTRUCTURE AS A SERVICE</a:t>
            </a:r>
          </a:p>
        </p:txBody>
      </p:sp>
      <p:sp>
        <p:nvSpPr>
          <p:cNvPr id="35" name="annot-iaas-body"/>
          <p:cNvSpPr txBox="1"/>
          <p:nvPr/>
        </p:nvSpPr>
        <p:spPr>
          <a:xfrm>
            <a:off x="9772650" y="5305425"/>
            <a:ext cx="182880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Raw compute, storage, and networking. Maximum control; team is responsible for OS, patching, and HA.</a:t>
            </a:r>
          </a:p>
        </p:txBody>
      </p:sp>
      <p:sp>
        <p:nvSpPr>
          <p:cNvPr id="3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