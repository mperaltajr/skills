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brand-rule"/>
          <p:cNvSpPr/>
          <p:nvPr/>
        </p:nvSpPr>
        <p:spPr>
          <a:xfrm>
            <a:off x="0" y="609600"/>
            <a:ext cx="121920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itle"/>
          <p:cNvSpPr txBox="1"/>
          <p:nvPr/>
        </p:nvSpPr>
        <p:spPr>
          <a:xfrm>
            <a:off x="381000" y="26670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0" i="0">
                <a:solidFill>
                  <a:srgbClr val="FFFFFF"/>
                </a:solidFill>
                <a:latin typeface="Inter"/>
              </a:rPr>
              <a:t>90-day plan — three phases, one runway from foundation to scale.</a:t>
            </a:r>
          </a:p>
        </p:txBody>
      </p:sp>
      <p:sp>
        <p:nvSpPr>
          <p:cNvPr id="5" name="timeline-axis"/>
          <p:cNvSpPr/>
          <p:nvPr/>
        </p:nvSpPr>
        <p:spPr>
          <a:xfrm>
            <a:off x="838200" y="1085850"/>
            <a:ext cx="3505200" cy="476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meline-seg-2"/>
          <p:cNvSpPr/>
          <p:nvPr/>
        </p:nvSpPr>
        <p:spPr>
          <a:xfrm>
            <a:off x="4343400" y="1085850"/>
            <a:ext cx="3505200" cy="476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imeline-seg-3"/>
          <p:cNvSpPr/>
          <p:nvPr/>
        </p:nvSpPr>
        <p:spPr>
          <a:xfrm>
            <a:off x="7848600" y="1085850"/>
            <a:ext cx="3505200" cy="476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imeline-tick-1-label"/>
          <p:cNvSpPr txBox="1"/>
          <p:nvPr/>
        </p:nvSpPr>
        <p:spPr>
          <a:xfrm>
            <a:off x="838200" y="12573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Days 1–30  ·  “Roll down the runway”</a:t>
            </a:r>
          </a:p>
        </p:txBody>
      </p:sp>
      <p:sp>
        <p:nvSpPr>
          <p:cNvPr id="9" name="timeline-tick-2-label"/>
          <p:cNvSpPr txBox="1"/>
          <p:nvPr/>
        </p:nvSpPr>
        <p:spPr>
          <a:xfrm>
            <a:off x="4343400" y="12573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Days 31–60  ·  “Liftoff”</a:t>
            </a:r>
          </a:p>
        </p:txBody>
      </p:sp>
      <p:sp>
        <p:nvSpPr>
          <p:cNvPr id="10" name="timeline-tick-3-label"/>
          <p:cNvSpPr txBox="1"/>
          <p:nvPr/>
        </p:nvSpPr>
        <p:spPr>
          <a:xfrm>
            <a:off x="7848600" y="1257300"/>
            <a:ext cx="3505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Days 61–90  ·  “Initial climb”</a:t>
            </a:r>
          </a:p>
        </p:txBody>
      </p:sp>
      <p:sp>
        <p:nvSpPr>
          <p:cNvPr id="11" name="table-frame"/>
          <p:cNvSpPr/>
          <p:nvPr/>
        </p:nvSpPr>
        <p:spPr>
          <a:xfrm>
            <a:off x="381000" y="1657350"/>
            <a:ext cx="11430000" cy="428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able-head-bg"/>
          <p:cNvSpPr/>
          <p:nvPr/>
        </p:nvSpPr>
        <p:spPr>
          <a:xfrm>
            <a:off x="381000" y="1657350"/>
            <a:ext cx="11430000" cy="3429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able-col-1-header"/>
          <p:cNvSpPr txBox="1"/>
          <p:nvPr/>
        </p:nvSpPr>
        <p:spPr>
          <a:xfrm>
            <a:off x="514350" y="1657350"/>
            <a:ext cx="15811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</a:t>
            </a:r>
          </a:p>
        </p:txBody>
      </p:sp>
      <p:sp>
        <p:nvSpPr>
          <p:cNvPr id="14" name="table-col-2-header"/>
          <p:cNvSpPr txBox="1"/>
          <p:nvPr/>
        </p:nvSpPr>
        <p:spPr>
          <a:xfrm>
            <a:off x="2228850" y="1657350"/>
            <a:ext cx="1771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OBJECTIVE</a:t>
            </a:r>
          </a:p>
        </p:txBody>
      </p:sp>
      <p:sp>
        <p:nvSpPr>
          <p:cNvPr id="15" name="table-col-3-header"/>
          <p:cNvSpPr txBox="1"/>
          <p:nvPr/>
        </p:nvSpPr>
        <p:spPr>
          <a:xfrm>
            <a:off x="4133850" y="1657350"/>
            <a:ext cx="55816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ACTIONS</a:t>
            </a:r>
          </a:p>
        </p:txBody>
      </p:sp>
      <p:sp>
        <p:nvSpPr>
          <p:cNvPr id="16" name="table-col-4-header"/>
          <p:cNvSpPr txBox="1"/>
          <p:nvPr/>
        </p:nvSpPr>
        <p:spPr>
          <a:xfrm>
            <a:off x="9848850" y="1657350"/>
            <a:ext cx="19621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OUTPUT · PROOF OF PROGRESS</a:t>
            </a:r>
          </a:p>
        </p:txBody>
      </p:sp>
      <p:sp>
        <p:nvSpPr>
          <p:cNvPr id="17" name="phase-1-stripe"/>
          <p:cNvSpPr/>
          <p:nvPr/>
        </p:nvSpPr>
        <p:spPr>
          <a:xfrm>
            <a:off x="381000" y="2000250"/>
            <a:ext cx="47625" cy="1314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hase-1-days"/>
          <p:cNvSpPr txBox="1"/>
          <p:nvPr/>
        </p:nvSpPr>
        <p:spPr>
          <a:xfrm>
            <a:off x="561975" y="21336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Days 1–30</a:t>
            </a:r>
          </a:p>
        </p:txBody>
      </p:sp>
      <p:sp>
        <p:nvSpPr>
          <p:cNvPr id="19" name="phase-1-name"/>
          <p:cNvSpPr txBox="1"/>
          <p:nvPr/>
        </p:nvSpPr>
        <p:spPr>
          <a:xfrm>
            <a:off x="561975" y="2343150"/>
            <a:ext cx="1533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2D0A4E"/>
                </a:solidFill>
                <a:latin typeface="Inter"/>
              </a:rPr>
              <a:t>“Access &amp; foundation”</a:t>
            </a:r>
          </a:p>
        </p:txBody>
      </p:sp>
      <p:sp>
        <p:nvSpPr>
          <p:cNvPr id="20" name="phase-1-objective"/>
          <p:cNvSpPr txBox="1"/>
          <p:nvPr/>
        </p:nvSpPr>
        <p:spPr>
          <a:xfrm>
            <a:off x="2228850" y="2133600"/>
            <a:ext cx="16383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trusted access at senior levels and align on business priorities.</a:t>
            </a:r>
          </a:p>
        </p:txBody>
      </p:sp>
      <p:sp>
        <p:nvSpPr>
          <p:cNvPr id="21" name="phase-1-action-1"/>
          <p:cNvSpPr txBox="1"/>
          <p:nvPr/>
        </p:nvSpPr>
        <p:spPr>
          <a:xfrm>
            <a:off x="4133850" y="21336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Align on priority domains; conduct executive listening sessions.</a:t>
            </a:r>
          </a:p>
        </p:txBody>
      </p:sp>
      <p:sp>
        <p:nvSpPr>
          <p:cNvPr id="22" name="phase-1-action-2"/>
          <p:cNvSpPr txBox="1"/>
          <p:nvPr/>
        </p:nvSpPr>
        <p:spPr>
          <a:xfrm>
            <a:off x="4133850" y="24765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Focus discussions on outcome gaps, value leakage, and partner blind spots.</a:t>
            </a:r>
          </a:p>
        </p:txBody>
      </p:sp>
      <p:sp>
        <p:nvSpPr>
          <p:cNvPr id="23" name="phase-1-action-3"/>
          <p:cNvSpPr txBox="1"/>
          <p:nvPr/>
        </p:nvSpPr>
        <p:spPr>
          <a:xfrm>
            <a:off x="4133850" y="28194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Establish a monthly executive touch-point cadence.</a:t>
            </a:r>
          </a:p>
        </p:txBody>
      </p:sp>
      <p:sp>
        <p:nvSpPr>
          <p:cNvPr id="24" name="phase-1-output-1"/>
          <p:cNvSpPr txBox="1"/>
          <p:nvPr/>
        </p:nvSpPr>
        <p:spPr>
          <a:xfrm>
            <a:off x="9848850" y="21336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• Shared view of executive priorities &amp; pain points</a:t>
            </a:r>
          </a:p>
        </p:txBody>
      </p:sp>
      <p:sp>
        <p:nvSpPr>
          <p:cNvPr id="25" name="phase-1-output-2"/>
          <p:cNvSpPr txBox="1"/>
          <p:nvPr/>
        </p:nvSpPr>
        <p:spPr>
          <a:xfrm>
            <a:off x="9848850" y="26289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• 1–2 senior sponsors aligned to approach</a:t>
            </a:r>
          </a:p>
        </p:txBody>
      </p:sp>
      <p:sp>
        <p:nvSpPr>
          <p:cNvPr id="26" name="row-2-bg"/>
          <p:cNvSpPr/>
          <p:nvPr/>
        </p:nvSpPr>
        <p:spPr>
          <a:xfrm>
            <a:off x="381000" y="3314700"/>
            <a:ext cx="11430000" cy="1314450"/>
          </a:xfrm>
          <a:prstGeom prst="rect">
            <a:avLst/>
          </a:prstGeom>
          <a:solidFill>
            <a:srgbClr val="F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ow-2-rule"/>
          <p:cNvSpPr/>
          <p:nvPr/>
        </p:nvSpPr>
        <p:spPr>
          <a:xfrm>
            <a:off x="381000" y="3314700"/>
            <a:ext cx="11430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hase-2-stripe"/>
          <p:cNvSpPr/>
          <p:nvPr/>
        </p:nvSpPr>
        <p:spPr>
          <a:xfrm>
            <a:off x="381000" y="3314700"/>
            <a:ext cx="47625" cy="1314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hase-2-days"/>
          <p:cNvSpPr txBox="1"/>
          <p:nvPr/>
        </p:nvSpPr>
        <p:spPr>
          <a:xfrm>
            <a:off x="561975" y="344805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Days 31–60</a:t>
            </a:r>
          </a:p>
        </p:txBody>
      </p:sp>
      <p:sp>
        <p:nvSpPr>
          <p:cNvPr id="30" name="phase-2-name"/>
          <p:cNvSpPr txBox="1"/>
          <p:nvPr/>
        </p:nvSpPr>
        <p:spPr>
          <a:xfrm>
            <a:off x="561975" y="3657600"/>
            <a:ext cx="1533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5C2D87"/>
                </a:solidFill>
                <a:latin typeface="Inter"/>
              </a:rPr>
              <a:t>“Credibility &amp; proof”</a:t>
            </a:r>
          </a:p>
        </p:txBody>
      </p:sp>
      <p:sp>
        <p:nvSpPr>
          <p:cNvPr id="31" name="phase-2-objective"/>
          <p:cNvSpPr txBox="1"/>
          <p:nvPr/>
        </p:nvSpPr>
        <p:spPr>
          <a:xfrm>
            <a:off x="2228850" y="3448050"/>
            <a:ext cx="16383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Demonstrate value and shift perception from delivery vendor to trusted advisor.</a:t>
            </a:r>
          </a:p>
        </p:txBody>
      </p:sp>
      <p:sp>
        <p:nvSpPr>
          <p:cNvPr id="32" name="phase-2-action-1"/>
          <p:cNvSpPr txBox="1"/>
          <p:nvPr/>
        </p:nvSpPr>
        <p:spPr>
          <a:xfrm>
            <a:off x="4133850" y="344805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Deliver targeted, domain-specific insights via lightweight POVs.</a:t>
            </a:r>
          </a:p>
        </p:txBody>
      </p:sp>
      <p:sp>
        <p:nvSpPr>
          <p:cNvPr id="33" name="phase-2-action-2"/>
          <p:cNvSpPr txBox="1"/>
          <p:nvPr/>
        </p:nvSpPr>
        <p:spPr>
          <a:xfrm>
            <a:off x="4133850" y="379095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Facilitate decision-focused working sessions with leaders.</a:t>
            </a:r>
          </a:p>
        </p:txBody>
      </p:sp>
      <p:sp>
        <p:nvSpPr>
          <p:cNvPr id="34" name="phase-2-action-3"/>
          <p:cNvSpPr txBox="1"/>
          <p:nvPr/>
        </p:nvSpPr>
        <p:spPr>
          <a:xfrm>
            <a:off x="4133850" y="413385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Embed insights directly into active programs and live discussions.</a:t>
            </a:r>
          </a:p>
        </p:txBody>
      </p:sp>
      <p:sp>
        <p:nvSpPr>
          <p:cNvPr id="35" name="phase-2-output-1"/>
          <p:cNvSpPr txBox="1"/>
          <p:nvPr/>
        </p:nvSpPr>
        <p:spPr>
          <a:xfrm>
            <a:off x="9848850" y="344805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• Leaders begin pulling us into discussions</a:t>
            </a:r>
          </a:p>
        </p:txBody>
      </p:sp>
      <p:sp>
        <p:nvSpPr>
          <p:cNvPr id="36" name="phase-2-output-2"/>
          <p:cNvSpPr txBox="1"/>
          <p:nvPr/>
        </p:nvSpPr>
        <p:spPr>
          <a:xfrm>
            <a:off x="9848850" y="394335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• Evidence of improved decisions and value clarity</a:t>
            </a:r>
          </a:p>
        </p:txBody>
      </p:sp>
      <p:sp>
        <p:nvSpPr>
          <p:cNvPr id="37" name="row-3-rule"/>
          <p:cNvSpPr/>
          <p:nvPr/>
        </p:nvSpPr>
        <p:spPr>
          <a:xfrm>
            <a:off x="381000" y="4629150"/>
            <a:ext cx="114300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hase-3-stripe"/>
          <p:cNvSpPr/>
          <p:nvPr/>
        </p:nvSpPr>
        <p:spPr>
          <a:xfrm>
            <a:off x="381000" y="4629150"/>
            <a:ext cx="47625" cy="1314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hase-3-days"/>
          <p:cNvSpPr txBox="1"/>
          <p:nvPr/>
        </p:nvSpPr>
        <p:spPr>
          <a:xfrm>
            <a:off x="561975" y="47625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Days 61–90</a:t>
            </a:r>
          </a:p>
        </p:txBody>
      </p:sp>
      <p:sp>
        <p:nvSpPr>
          <p:cNvPr id="40" name="phase-3-name"/>
          <p:cNvSpPr txBox="1"/>
          <p:nvPr/>
        </p:nvSpPr>
        <p:spPr>
          <a:xfrm>
            <a:off x="561975" y="4972050"/>
            <a:ext cx="15335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A100FF"/>
                </a:solidFill>
                <a:latin typeface="Inter"/>
              </a:rPr>
              <a:t>“Scale &amp; positioning”</a:t>
            </a:r>
          </a:p>
        </p:txBody>
      </p:sp>
      <p:sp>
        <p:nvSpPr>
          <p:cNvPr id="41" name="phase-3-objective"/>
          <p:cNvSpPr txBox="1"/>
          <p:nvPr/>
        </p:nvSpPr>
        <p:spPr>
          <a:xfrm>
            <a:off x="2228850" y="4762500"/>
            <a:ext cx="16383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Institutionalize the role in the operating rhythm and decision-making cycle.</a:t>
            </a:r>
          </a:p>
        </p:txBody>
      </p:sp>
      <p:sp>
        <p:nvSpPr>
          <p:cNvPr id="42" name="phase-3-action-1"/>
          <p:cNvSpPr txBox="1"/>
          <p:nvPr/>
        </p:nvSpPr>
        <p:spPr>
          <a:xfrm>
            <a:off x="4133850" y="47625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Launch quarterly operational value reviews — jointly owned with the client.</a:t>
            </a:r>
          </a:p>
        </p:txBody>
      </p:sp>
      <p:sp>
        <p:nvSpPr>
          <p:cNvPr id="43" name="phase-3-action-2"/>
          <p:cNvSpPr txBox="1"/>
          <p:nvPr/>
        </p:nvSpPr>
        <p:spPr>
          <a:xfrm>
            <a:off x="4133850" y="51054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Position as connector across operations, transformation, and value.</a:t>
            </a:r>
          </a:p>
        </p:txBody>
      </p:sp>
      <p:sp>
        <p:nvSpPr>
          <p:cNvPr id="44" name="phase-3-action-3"/>
          <p:cNvSpPr txBox="1"/>
          <p:nvPr/>
        </p:nvSpPr>
        <p:spPr>
          <a:xfrm>
            <a:off x="4133850" y="5448300"/>
            <a:ext cx="54483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Embed capability into account governance and investment cycles.</a:t>
            </a:r>
          </a:p>
        </p:txBody>
      </p:sp>
      <p:sp>
        <p:nvSpPr>
          <p:cNvPr id="45" name="phase-3-output-1"/>
          <p:cNvSpPr txBox="1"/>
          <p:nvPr/>
        </p:nvSpPr>
        <p:spPr>
          <a:xfrm>
            <a:off x="9848850" y="47625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• Consistently present in decision-making forums</a:t>
            </a:r>
          </a:p>
        </p:txBody>
      </p:sp>
      <p:sp>
        <p:nvSpPr>
          <p:cNvPr id="46" name="phase-3-output-2"/>
          <p:cNvSpPr txBox="1"/>
          <p:nvPr/>
        </p:nvSpPr>
        <p:spPr>
          <a:xfrm>
            <a:off x="9848850" y="52578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• Role embedded in operating model — expected, not optional</a:t>
            </a:r>
          </a:p>
        </p:txBody>
      </p:sp>
      <p:sp>
        <p:nvSpPr>
          <p:cNvPr id="4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