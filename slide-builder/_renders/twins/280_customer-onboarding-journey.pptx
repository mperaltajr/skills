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Customer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Onboarding Journey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— Five Stages to Advocacy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Touchpoints, emotional arc, and improvement opportunities across the full onboarding lifecycle.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age-1-header"/>
          <p:cNvSpPr/>
          <p:nvPr/>
        </p:nvSpPr>
        <p:spPr>
          <a:xfrm>
            <a:off x="533400" y="2228850"/>
            <a:ext cx="2162175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age-1-num"/>
          <p:cNvSpPr txBox="1"/>
          <p:nvPr/>
        </p:nvSpPr>
        <p:spPr>
          <a:xfrm>
            <a:off x="628650" y="2228850"/>
            <a:ext cx="2857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7" name="stage-1-name"/>
          <p:cNvSpPr txBox="1"/>
          <p:nvPr/>
        </p:nvSpPr>
        <p:spPr>
          <a:xfrm>
            <a:off x="933450" y="2228850"/>
            <a:ext cx="16859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SIGN-UP</a:t>
            </a:r>
          </a:p>
        </p:txBody>
      </p:sp>
      <p:sp>
        <p:nvSpPr>
          <p:cNvPr id="8" name="stage-2-header"/>
          <p:cNvSpPr/>
          <p:nvPr/>
        </p:nvSpPr>
        <p:spPr>
          <a:xfrm>
            <a:off x="2771775" y="2228850"/>
            <a:ext cx="2162175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stage-2-num"/>
          <p:cNvSpPr txBox="1"/>
          <p:nvPr/>
        </p:nvSpPr>
        <p:spPr>
          <a:xfrm>
            <a:off x="2867025" y="2228850"/>
            <a:ext cx="2857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0" name="stage-2-name"/>
          <p:cNvSpPr txBox="1"/>
          <p:nvPr/>
        </p:nvSpPr>
        <p:spPr>
          <a:xfrm>
            <a:off x="3171825" y="2228850"/>
            <a:ext cx="16859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WELCOME &amp; SETUP</a:t>
            </a:r>
          </a:p>
        </p:txBody>
      </p:sp>
      <p:sp>
        <p:nvSpPr>
          <p:cNvPr id="11" name="stage-3-header"/>
          <p:cNvSpPr/>
          <p:nvPr/>
        </p:nvSpPr>
        <p:spPr>
          <a:xfrm>
            <a:off x="5010150" y="2228850"/>
            <a:ext cx="2162175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stage-3-num"/>
          <p:cNvSpPr txBox="1"/>
          <p:nvPr/>
        </p:nvSpPr>
        <p:spPr>
          <a:xfrm>
            <a:off x="5105400" y="2228850"/>
            <a:ext cx="2857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13" name="stage-3-name"/>
          <p:cNvSpPr txBox="1"/>
          <p:nvPr/>
        </p:nvSpPr>
        <p:spPr>
          <a:xfrm>
            <a:off x="5410200" y="2228850"/>
            <a:ext cx="16859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FIRST USE</a:t>
            </a:r>
          </a:p>
        </p:txBody>
      </p:sp>
      <p:sp>
        <p:nvSpPr>
          <p:cNvPr id="14" name="stage-4-header"/>
          <p:cNvSpPr/>
          <p:nvPr/>
        </p:nvSpPr>
        <p:spPr>
          <a:xfrm>
            <a:off x="7248525" y="2228850"/>
            <a:ext cx="2162175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tage-4-num"/>
          <p:cNvSpPr txBox="1"/>
          <p:nvPr/>
        </p:nvSpPr>
        <p:spPr>
          <a:xfrm>
            <a:off x="7343775" y="2228850"/>
            <a:ext cx="2857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16" name="stage-4-name"/>
          <p:cNvSpPr txBox="1"/>
          <p:nvPr/>
        </p:nvSpPr>
        <p:spPr>
          <a:xfrm>
            <a:off x="7648575" y="2228850"/>
            <a:ext cx="16859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HABIT FORMATION</a:t>
            </a:r>
          </a:p>
        </p:txBody>
      </p:sp>
      <p:sp>
        <p:nvSpPr>
          <p:cNvPr id="17" name="stage-5-header"/>
          <p:cNvSpPr/>
          <p:nvPr/>
        </p:nvSpPr>
        <p:spPr>
          <a:xfrm>
            <a:off x="9486900" y="2228850"/>
            <a:ext cx="2162175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age-5-num"/>
          <p:cNvSpPr txBox="1"/>
          <p:nvPr/>
        </p:nvSpPr>
        <p:spPr>
          <a:xfrm>
            <a:off x="9582150" y="2228850"/>
            <a:ext cx="2857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19" name="stage-5-name"/>
          <p:cNvSpPr txBox="1"/>
          <p:nvPr/>
        </p:nvSpPr>
        <p:spPr>
          <a:xfrm>
            <a:off x="9886950" y="2228850"/>
            <a:ext cx="16859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ADVOCACY</a:t>
            </a:r>
          </a:p>
        </p:txBody>
      </p:sp>
      <p:sp>
        <p:nvSpPr>
          <p:cNvPr id="20" name="tp-1-1-bg"/>
          <p:cNvSpPr/>
          <p:nvPr/>
        </p:nvSpPr>
        <p:spPr>
          <a:xfrm>
            <a:off x="533400" y="2686050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p-1-1-dot"/>
          <p:cNvSpPr/>
          <p:nvPr/>
        </p:nvSpPr>
        <p:spPr>
          <a:xfrm>
            <a:off x="628650" y="283845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p-1-1-text"/>
          <p:cNvSpPr txBox="1"/>
          <p:nvPr/>
        </p:nvSpPr>
        <p:spPr>
          <a:xfrm>
            <a:off x="742950" y="2686050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Signup page</a:t>
            </a:r>
          </a:p>
        </p:txBody>
      </p:sp>
      <p:sp>
        <p:nvSpPr>
          <p:cNvPr id="23" name="tp-1-2-bg"/>
          <p:cNvSpPr/>
          <p:nvPr/>
        </p:nvSpPr>
        <p:spPr>
          <a:xfrm>
            <a:off x="533400" y="3114675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p-1-2-dot"/>
          <p:cNvSpPr/>
          <p:nvPr/>
        </p:nvSpPr>
        <p:spPr>
          <a:xfrm>
            <a:off x="628650" y="326707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p-1-2-text"/>
          <p:cNvSpPr txBox="1"/>
          <p:nvPr/>
        </p:nvSpPr>
        <p:spPr>
          <a:xfrm>
            <a:off x="742950" y="3114675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Email confirmation</a:t>
            </a:r>
          </a:p>
        </p:txBody>
      </p:sp>
      <p:sp>
        <p:nvSpPr>
          <p:cNvPr id="26" name="tp-1-3-bg"/>
          <p:cNvSpPr/>
          <p:nvPr/>
        </p:nvSpPr>
        <p:spPr>
          <a:xfrm>
            <a:off x="533400" y="3543300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p-1-3-dot"/>
          <p:cNvSpPr/>
          <p:nvPr/>
        </p:nvSpPr>
        <p:spPr>
          <a:xfrm>
            <a:off x="628650" y="369570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p-1-3-text"/>
          <p:cNvSpPr txBox="1"/>
          <p:nvPr/>
        </p:nvSpPr>
        <p:spPr>
          <a:xfrm>
            <a:off x="742950" y="3543300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Welcome email</a:t>
            </a:r>
          </a:p>
        </p:txBody>
      </p:sp>
      <p:sp>
        <p:nvSpPr>
          <p:cNvPr id="29" name="tp-2-1-bg"/>
          <p:cNvSpPr/>
          <p:nvPr/>
        </p:nvSpPr>
        <p:spPr>
          <a:xfrm>
            <a:off x="2771775" y="2686050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p-2-1-dot"/>
          <p:cNvSpPr/>
          <p:nvPr/>
        </p:nvSpPr>
        <p:spPr>
          <a:xfrm>
            <a:off x="2867025" y="283845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p-2-1-text"/>
          <p:cNvSpPr txBox="1"/>
          <p:nvPr/>
        </p:nvSpPr>
        <p:spPr>
          <a:xfrm>
            <a:off x="2981325" y="2686050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Setup wizard</a:t>
            </a:r>
          </a:p>
        </p:txBody>
      </p:sp>
      <p:sp>
        <p:nvSpPr>
          <p:cNvPr id="32" name="tp-2-2-bg"/>
          <p:cNvSpPr/>
          <p:nvPr/>
        </p:nvSpPr>
        <p:spPr>
          <a:xfrm>
            <a:off x="2771775" y="3114675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p-2-2-dot"/>
          <p:cNvSpPr/>
          <p:nvPr/>
        </p:nvSpPr>
        <p:spPr>
          <a:xfrm>
            <a:off x="2867025" y="326707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tp-2-2-text"/>
          <p:cNvSpPr txBox="1"/>
          <p:nvPr/>
        </p:nvSpPr>
        <p:spPr>
          <a:xfrm>
            <a:off x="2981325" y="3114675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Configuration call</a:t>
            </a:r>
          </a:p>
        </p:txBody>
      </p:sp>
      <p:sp>
        <p:nvSpPr>
          <p:cNvPr id="35" name="tp-2-3-bg"/>
          <p:cNvSpPr/>
          <p:nvPr/>
        </p:nvSpPr>
        <p:spPr>
          <a:xfrm>
            <a:off x="2771775" y="3543300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p-2-3-dot"/>
          <p:cNvSpPr/>
          <p:nvPr/>
        </p:nvSpPr>
        <p:spPr>
          <a:xfrm>
            <a:off x="2867025" y="369570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p-2-3-text"/>
          <p:cNvSpPr txBox="1"/>
          <p:nvPr/>
        </p:nvSpPr>
        <p:spPr>
          <a:xfrm>
            <a:off x="2981325" y="3543300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Resource portal</a:t>
            </a:r>
          </a:p>
        </p:txBody>
      </p:sp>
      <p:sp>
        <p:nvSpPr>
          <p:cNvPr id="38" name="tp-3-1-bg"/>
          <p:cNvSpPr/>
          <p:nvPr/>
        </p:nvSpPr>
        <p:spPr>
          <a:xfrm>
            <a:off x="5010150" y="2686050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p-3-1-dot"/>
          <p:cNvSpPr/>
          <p:nvPr/>
        </p:nvSpPr>
        <p:spPr>
          <a:xfrm>
            <a:off x="5105400" y="283845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p-3-1-text"/>
          <p:cNvSpPr txBox="1"/>
          <p:nvPr/>
        </p:nvSpPr>
        <p:spPr>
          <a:xfrm>
            <a:off x="5219700" y="2686050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Tutorial</a:t>
            </a:r>
          </a:p>
        </p:txBody>
      </p:sp>
      <p:sp>
        <p:nvSpPr>
          <p:cNvPr id="41" name="tp-3-2-bg"/>
          <p:cNvSpPr/>
          <p:nvPr/>
        </p:nvSpPr>
        <p:spPr>
          <a:xfrm>
            <a:off x="5010150" y="3114675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tp-3-2-dot"/>
          <p:cNvSpPr/>
          <p:nvPr/>
        </p:nvSpPr>
        <p:spPr>
          <a:xfrm>
            <a:off x="5105400" y="326707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p-3-2-text"/>
          <p:cNvSpPr txBox="1"/>
          <p:nvPr/>
        </p:nvSpPr>
        <p:spPr>
          <a:xfrm>
            <a:off x="5219700" y="3114675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Support chat</a:t>
            </a:r>
          </a:p>
        </p:txBody>
      </p:sp>
      <p:sp>
        <p:nvSpPr>
          <p:cNvPr id="44" name="tp-3-3-bg"/>
          <p:cNvSpPr/>
          <p:nvPr/>
        </p:nvSpPr>
        <p:spPr>
          <a:xfrm>
            <a:off x="5010150" y="3543300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tp-3-3-dot"/>
          <p:cNvSpPr/>
          <p:nvPr/>
        </p:nvSpPr>
        <p:spPr>
          <a:xfrm>
            <a:off x="5105400" y="369570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p-3-3-text"/>
          <p:cNvSpPr txBox="1"/>
          <p:nvPr/>
        </p:nvSpPr>
        <p:spPr>
          <a:xfrm>
            <a:off x="5219700" y="3543300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Check-in email</a:t>
            </a:r>
          </a:p>
        </p:txBody>
      </p:sp>
      <p:sp>
        <p:nvSpPr>
          <p:cNvPr id="47" name="tp-4-1-bg"/>
          <p:cNvSpPr/>
          <p:nvPr/>
        </p:nvSpPr>
        <p:spPr>
          <a:xfrm>
            <a:off x="7248525" y="2686050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p-4-1-dot"/>
          <p:cNvSpPr/>
          <p:nvPr/>
        </p:nvSpPr>
        <p:spPr>
          <a:xfrm>
            <a:off x="7343775" y="283845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p-4-1-text"/>
          <p:cNvSpPr txBox="1"/>
          <p:nvPr/>
        </p:nvSpPr>
        <p:spPr>
          <a:xfrm>
            <a:off x="7458075" y="2686050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Weekly digest</a:t>
            </a:r>
          </a:p>
        </p:txBody>
      </p:sp>
      <p:sp>
        <p:nvSpPr>
          <p:cNvPr id="50" name="tp-4-2-bg"/>
          <p:cNvSpPr/>
          <p:nvPr/>
        </p:nvSpPr>
        <p:spPr>
          <a:xfrm>
            <a:off x="7248525" y="3114675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tp-4-2-dot"/>
          <p:cNvSpPr/>
          <p:nvPr/>
        </p:nvSpPr>
        <p:spPr>
          <a:xfrm>
            <a:off x="7343775" y="326707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p-4-2-text"/>
          <p:cNvSpPr txBox="1"/>
          <p:nvPr/>
        </p:nvSpPr>
        <p:spPr>
          <a:xfrm>
            <a:off x="7458075" y="3114675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Usage tips</a:t>
            </a:r>
          </a:p>
        </p:txBody>
      </p:sp>
      <p:sp>
        <p:nvSpPr>
          <p:cNvPr id="53" name="tp-4-3-bg"/>
          <p:cNvSpPr/>
          <p:nvPr/>
        </p:nvSpPr>
        <p:spPr>
          <a:xfrm>
            <a:off x="7248525" y="3543300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p-4-3-dot"/>
          <p:cNvSpPr/>
          <p:nvPr/>
        </p:nvSpPr>
        <p:spPr>
          <a:xfrm>
            <a:off x="7343775" y="369570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p-4-3-text"/>
          <p:cNvSpPr txBox="1"/>
          <p:nvPr/>
        </p:nvSpPr>
        <p:spPr>
          <a:xfrm>
            <a:off x="7458075" y="3543300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Success team call</a:t>
            </a:r>
          </a:p>
        </p:txBody>
      </p:sp>
      <p:sp>
        <p:nvSpPr>
          <p:cNvPr id="56" name="tp-5-1-bg"/>
          <p:cNvSpPr/>
          <p:nvPr/>
        </p:nvSpPr>
        <p:spPr>
          <a:xfrm>
            <a:off x="9486900" y="2686050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p-5-1-dot"/>
          <p:cNvSpPr/>
          <p:nvPr/>
        </p:nvSpPr>
        <p:spPr>
          <a:xfrm>
            <a:off x="9582150" y="283845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p-5-1-text"/>
          <p:cNvSpPr txBox="1"/>
          <p:nvPr/>
        </p:nvSpPr>
        <p:spPr>
          <a:xfrm>
            <a:off x="9696450" y="2686050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NPS survey</a:t>
            </a:r>
          </a:p>
        </p:txBody>
      </p:sp>
      <p:sp>
        <p:nvSpPr>
          <p:cNvPr id="59" name="tp-5-2-bg"/>
          <p:cNvSpPr/>
          <p:nvPr/>
        </p:nvSpPr>
        <p:spPr>
          <a:xfrm>
            <a:off x="9486900" y="3114675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tp-5-2-dot"/>
          <p:cNvSpPr/>
          <p:nvPr/>
        </p:nvSpPr>
        <p:spPr>
          <a:xfrm>
            <a:off x="9582150" y="326707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tp-5-2-text"/>
          <p:cNvSpPr txBox="1"/>
          <p:nvPr/>
        </p:nvSpPr>
        <p:spPr>
          <a:xfrm>
            <a:off x="9696450" y="3114675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Case study ask</a:t>
            </a:r>
          </a:p>
        </p:txBody>
      </p:sp>
      <p:sp>
        <p:nvSpPr>
          <p:cNvPr id="62" name="tp-5-3-bg"/>
          <p:cNvSpPr/>
          <p:nvPr/>
        </p:nvSpPr>
        <p:spPr>
          <a:xfrm>
            <a:off x="9486900" y="3543300"/>
            <a:ext cx="2162175" cy="371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tp-5-3-dot"/>
          <p:cNvSpPr/>
          <p:nvPr/>
        </p:nvSpPr>
        <p:spPr>
          <a:xfrm>
            <a:off x="9582150" y="369570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p-5-3-text"/>
          <p:cNvSpPr txBox="1"/>
          <p:nvPr/>
        </p:nvSpPr>
        <p:spPr>
          <a:xfrm>
            <a:off x="9696450" y="3543300"/>
            <a:ext cx="18954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Referral program</a:t>
            </a:r>
          </a:p>
        </p:txBody>
      </p:sp>
      <p:sp>
        <p:nvSpPr>
          <p:cNvPr id="65" name="emotion-baseline"/>
          <p:cNvSpPr/>
          <p:nvPr/>
        </p:nvSpPr>
        <p:spPr>
          <a:xfrm>
            <a:off x="533400" y="468630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66" name="emotion-line-1"/>
          <p:cNvCxnSpPr/>
          <p:nvPr/>
        </p:nvCxnSpPr>
        <p:spPr>
          <a:xfrm flipV="1">
            <a:off x="1609725" y="4352925"/>
            <a:ext cx="2238375" cy="10477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motion-line-2"/>
          <p:cNvCxnSpPr/>
          <p:nvPr/>
        </p:nvCxnSpPr>
        <p:spPr>
          <a:xfrm>
            <a:off x="3848100" y="4352925"/>
            <a:ext cx="2238375" cy="14287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emotion-line-3"/>
          <p:cNvCxnSpPr/>
          <p:nvPr/>
        </p:nvCxnSpPr>
        <p:spPr>
          <a:xfrm flipV="1">
            <a:off x="6086475" y="4276725"/>
            <a:ext cx="2238375" cy="21907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emotion-line-4"/>
          <p:cNvCxnSpPr/>
          <p:nvPr/>
        </p:nvCxnSpPr>
        <p:spPr>
          <a:xfrm flipV="1">
            <a:off x="8324850" y="4162425"/>
            <a:ext cx="2238375" cy="114300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emotion-dot-1"/>
          <p:cNvSpPr/>
          <p:nvPr/>
        </p:nvSpPr>
        <p:spPr>
          <a:xfrm>
            <a:off x="1552575" y="4400550"/>
            <a:ext cx="114300" cy="114300"/>
          </a:xfrm>
          <a:prstGeom prst="ellipse">
            <a:avLst/>
          </a:prstGeom>
          <a:solidFill>
            <a:srgbClr val="A100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emotion-face-1"/>
          <p:cNvSpPr txBox="1"/>
          <p:nvPr/>
        </p:nvSpPr>
        <p:spPr>
          <a:xfrm>
            <a:off x="1457325" y="4152900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1A1A2E"/>
                </a:solidFill>
                <a:latin typeface="Inter"/>
              </a:rPr>
              <a:t>😐</a:t>
            </a:r>
          </a:p>
        </p:txBody>
      </p:sp>
      <p:sp>
        <p:nvSpPr>
          <p:cNvPr id="72" name="emotion-score-1"/>
          <p:cNvSpPr txBox="1"/>
          <p:nvPr/>
        </p:nvSpPr>
        <p:spPr>
          <a:xfrm>
            <a:off x="1457325" y="453390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40</a:t>
            </a:r>
          </a:p>
        </p:txBody>
      </p:sp>
      <p:sp>
        <p:nvSpPr>
          <p:cNvPr id="73" name="emotion-dot-2"/>
          <p:cNvSpPr/>
          <p:nvPr/>
        </p:nvSpPr>
        <p:spPr>
          <a:xfrm>
            <a:off x="3790950" y="4295775"/>
            <a:ext cx="114300" cy="114300"/>
          </a:xfrm>
          <a:prstGeom prst="ellipse">
            <a:avLst/>
          </a:prstGeom>
          <a:solidFill>
            <a:srgbClr val="A100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emotion-face-2"/>
          <p:cNvSpPr txBox="1"/>
          <p:nvPr/>
        </p:nvSpPr>
        <p:spPr>
          <a:xfrm>
            <a:off x="3695700" y="404812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1A1A2E"/>
                </a:solidFill>
                <a:latin typeface="Inter"/>
              </a:rPr>
              <a:t>😊</a:t>
            </a:r>
          </a:p>
        </p:txBody>
      </p:sp>
      <p:sp>
        <p:nvSpPr>
          <p:cNvPr id="75" name="emotion-score-2"/>
          <p:cNvSpPr txBox="1"/>
          <p:nvPr/>
        </p:nvSpPr>
        <p:spPr>
          <a:xfrm>
            <a:off x="3695700" y="442912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55</a:t>
            </a:r>
          </a:p>
        </p:txBody>
      </p:sp>
      <p:sp>
        <p:nvSpPr>
          <p:cNvPr id="76" name="emotion-dot-3"/>
          <p:cNvSpPr/>
          <p:nvPr/>
        </p:nvSpPr>
        <p:spPr>
          <a:xfrm>
            <a:off x="6029325" y="4438650"/>
            <a:ext cx="114300" cy="1143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emotion-face-3"/>
          <p:cNvSpPr txBox="1"/>
          <p:nvPr/>
        </p:nvSpPr>
        <p:spPr>
          <a:xfrm>
            <a:off x="5934075" y="4191000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1A1A2E"/>
                </a:solidFill>
                <a:latin typeface="Inter"/>
              </a:rPr>
              <a:t>😤</a:t>
            </a:r>
          </a:p>
        </p:txBody>
      </p:sp>
      <p:sp>
        <p:nvSpPr>
          <p:cNvPr id="78" name="emotion-score-3"/>
          <p:cNvSpPr txBox="1"/>
          <p:nvPr/>
        </p:nvSpPr>
        <p:spPr>
          <a:xfrm>
            <a:off x="5934075" y="457200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35</a:t>
            </a:r>
          </a:p>
        </p:txBody>
      </p:sp>
      <p:sp>
        <p:nvSpPr>
          <p:cNvPr id="79" name="emotion-dot-4"/>
          <p:cNvSpPr/>
          <p:nvPr/>
        </p:nvSpPr>
        <p:spPr>
          <a:xfrm>
            <a:off x="8267700" y="4219575"/>
            <a:ext cx="114300" cy="114300"/>
          </a:xfrm>
          <a:prstGeom prst="ellipse">
            <a:avLst/>
          </a:prstGeom>
          <a:solidFill>
            <a:srgbClr val="A100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emotion-face-4"/>
          <p:cNvSpPr txBox="1"/>
          <p:nvPr/>
        </p:nvSpPr>
        <p:spPr>
          <a:xfrm>
            <a:off x="8172450" y="397192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1A1A2E"/>
                </a:solidFill>
                <a:latin typeface="Inter"/>
              </a:rPr>
              <a:t>😌</a:t>
            </a:r>
          </a:p>
        </p:txBody>
      </p:sp>
      <p:sp>
        <p:nvSpPr>
          <p:cNvPr id="81" name="emotion-score-4"/>
          <p:cNvSpPr txBox="1"/>
          <p:nvPr/>
        </p:nvSpPr>
        <p:spPr>
          <a:xfrm>
            <a:off x="8172450" y="435292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65</a:t>
            </a:r>
          </a:p>
        </p:txBody>
      </p:sp>
      <p:sp>
        <p:nvSpPr>
          <p:cNvPr id="82" name="emotion-dot-5"/>
          <p:cNvSpPr/>
          <p:nvPr/>
        </p:nvSpPr>
        <p:spPr>
          <a:xfrm>
            <a:off x="10506075" y="4105275"/>
            <a:ext cx="114300" cy="114300"/>
          </a:xfrm>
          <a:prstGeom prst="ellipse">
            <a:avLst/>
          </a:prstGeom>
          <a:solidFill>
            <a:srgbClr val="A100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emotion-face-5"/>
          <p:cNvSpPr txBox="1"/>
          <p:nvPr/>
        </p:nvSpPr>
        <p:spPr>
          <a:xfrm>
            <a:off x="10410825" y="385762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1A1A2E"/>
                </a:solidFill>
                <a:latin typeface="Inter"/>
              </a:rPr>
              <a:t>🤩</a:t>
            </a:r>
          </a:p>
        </p:txBody>
      </p:sp>
      <p:sp>
        <p:nvSpPr>
          <p:cNvPr id="84" name="emotion-score-5"/>
          <p:cNvSpPr txBox="1"/>
          <p:nvPr/>
        </p:nvSpPr>
        <p:spPr>
          <a:xfrm>
            <a:off x="10410825" y="423862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80</a:t>
            </a:r>
          </a:p>
        </p:txBody>
      </p:sp>
      <p:sp>
        <p:nvSpPr>
          <p:cNvPr id="85" name="pain-callout-bg"/>
          <p:cNvSpPr/>
          <p:nvPr/>
        </p:nvSpPr>
        <p:spPr>
          <a:xfrm>
            <a:off x="4371975" y="4857750"/>
            <a:ext cx="3429000" cy="20955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pain-callout-text"/>
          <p:cNvSpPr txBox="1"/>
          <p:nvPr/>
        </p:nvSpPr>
        <p:spPr>
          <a:xfrm>
            <a:off x="4371975" y="4857750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⚠ 42% of users drop off at first complex configuration step</a:t>
            </a:r>
          </a:p>
        </p:txBody>
      </p:sp>
      <p:sp>
        <p:nvSpPr>
          <p:cNvPr id="87" name="opp-1-bg"/>
          <p:cNvSpPr/>
          <p:nvPr/>
        </p:nvSpPr>
        <p:spPr>
          <a:xfrm>
            <a:off x="533400" y="5143500"/>
            <a:ext cx="2162175" cy="1295400"/>
          </a:xfrm>
          <a:prstGeom prst="rect">
            <a:avLst/>
          </a:prstGeom>
          <a:solidFill>
            <a:srgbClr val="F0FDF4"/>
          </a:solidFill>
          <a:ln w="9525">
            <a:solidFill>
              <a:srgbClr val="A7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opp-1-1-check"/>
          <p:cNvSpPr txBox="1"/>
          <p:nvPr/>
        </p:nvSpPr>
        <p:spPr>
          <a:xfrm>
            <a:off x="609600" y="5219700"/>
            <a:ext cx="133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89" name="opp-1-1-text"/>
          <p:cNvSpPr txBox="1"/>
          <p:nvPr/>
        </p:nvSpPr>
        <p:spPr>
          <a:xfrm>
            <a:off x="762000" y="5219700"/>
            <a:ext cx="18573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Simplify form fields &amp; reduce friction at registration</a:t>
            </a:r>
          </a:p>
        </p:txBody>
      </p:sp>
      <p:sp>
        <p:nvSpPr>
          <p:cNvPr id="90" name="opp-1-2-check"/>
          <p:cNvSpPr txBox="1"/>
          <p:nvPr/>
        </p:nvSpPr>
        <p:spPr>
          <a:xfrm>
            <a:off x="609600" y="5524500"/>
            <a:ext cx="133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91" name="opp-1-2-text"/>
          <p:cNvSpPr txBox="1"/>
          <p:nvPr/>
        </p:nvSpPr>
        <p:spPr>
          <a:xfrm>
            <a:off x="762000" y="5524500"/>
            <a:ext cx="18573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A/B test confirm email subject lines</a:t>
            </a:r>
          </a:p>
        </p:txBody>
      </p:sp>
      <p:sp>
        <p:nvSpPr>
          <p:cNvPr id="92" name="opp-2-bg"/>
          <p:cNvSpPr/>
          <p:nvPr/>
        </p:nvSpPr>
        <p:spPr>
          <a:xfrm>
            <a:off x="2771775" y="5143500"/>
            <a:ext cx="2162175" cy="1295400"/>
          </a:xfrm>
          <a:prstGeom prst="rect">
            <a:avLst/>
          </a:prstGeom>
          <a:solidFill>
            <a:srgbClr val="F0FDF4"/>
          </a:solidFill>
          <a:ln w="9525">
            <a:solidFill>
              <a:srgbClr val="A7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opp-2-1-check"/>
          <p:cNvSpPr txBox="1"/>
          <p:nvPr/>
        </p:nvSpPr>
        <p:spPr>
          <a:xfrm>
            <a:off x="2847975" y="5219700"/>
            <a:ext cx="133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94" name="opp-2-1-text"/>
          <p:cNvSpPr txBox="1"/>
          <p:nvPr/>
        </p:nvSpPr>
        <p:spPr>
          <a:xfrm>
            <a:off x="3000375" y="5219700"/>
            <a:ext cx="18573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Personalise wizard steps by use case</a:t>
            </a:r>
          </a:p>
        </p:txBody>
      </p:sp>
      <p:sp>
        <p:nvSpPr>
          <p:cNvPr id="95" name="opp-2-2-check"/>
          <p:cNvSpPr txBox="1"/>
          <p:nvPr/>
        </p:nvSpPr>
        <p:spPr>
          <a:xfrm>
            <a:off x="2847975" y="5524500"/>
            <a:ext cx="133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96" name="opp-2-2-text"/>
          <p:cNvSpPr txBox="1"/>
          <p:nvPr/>
        </p:nvSpPr>
        <p:spPr>
          <a:xfrm>
            <a:off x="3000375" y="5524500"/>
            <a:ext cx="18573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Offer self-serve config as alternative to call</a:t>
            </a:r>
          </a:p>
        </p:txBody>
      </p:sp>
      <p:sp>
        <p:nvSpPr>
          <p:cNvPr id="97" name="opp-3-bg"/>
          <p:cNvSpPr/>
          <p:nvPr/>
        </p:nvSpPr>
        <p:spPr>
          <a:xfrm>
            <a:off x="5010150" y="5143500"/>
            <a:ext cx="2162175" cy="12954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opp-3-1-check"/>
          <p:cNvSpPr txBox="1"/>
          <p:nvPr/>
        </p:nvSpPr>
        <p:spPr>
          <a:xfrm>
            <a:off x="5086350" y="5219700"/>
            <a:ext cx="133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✓</a:t>
            </a:r>
          </a:p>
        </p:txBody>
      </p:sp>
      <p:sp>
        <p:nvSpPr>
          <p:cNvPr id="99" name="opp-3-1-text"/>
          <p:cNvSpPr txBox="1"/>
          <p:nvPr/>
        </p:nvSpPr>
        <p:spPr>
          <a:xfrm>
            <a:off x="5238750" y="5219700"/>
            <a:ext cx="18573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Break complex config into guided micro-steps</a:t>
            </a:r>
          </a:p>
        </p:txBody>
      </p:sp>
      <p:sp>
        <p:nvSpPr>
          <p:cNvPr id="100" name="opp-3-2-check"/>
          <p:cNvSpPr txBox="1"/>
          <p:nvPr/>
        </p:nvSpPr>
        <p:spPr>
          <a:xfrm>
            <a:off x="5086350" y="5524500"/>
            <a:ext cx="133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✓</a:t>
            </a:r>
          </a:p>
        </p:txBody>
      </p:sp>
      <p:sp>
        <p:nvSpPr>
          <p:cNvPr id="101" name="opp-3-2-text"/>
          <p:cNvSpPr txBox="1"/>
          <p:nvPr/>
        </p:nvSpPr>
        <p:spPr>
          <a:xfrm>
            <a:off x="5238750" y="5524500"/>
            <a:ext cx="18573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Trigger proactive chat at drop-off point</a:t>
            </a:r>
          </a:p>
        </p:txBody>
      </p:sp>
      <p:sp>
        <p:nvSpPr>
          <p:cNvPr id="102" name="opp-4-bg"/>
          <p:cNvSpPr/>
          <p:nvPr/>
        </p:nvSpPr>
        <p:spPr>
          <a:xfrm>
            <a:off x="7248525" y="5143500"/>
            <a:ext cx="2162175" cy="1295400"/>
          </a:xfrm>
          <a:prstGeom prst="rect">
            <a:avLst/>
          </a:prstGeom>
          <a:solidFill>
            <a:srgbClr val="F0FDF4"/>
          </a:solidFill>
          <a:ln w="9525">
            <a:solidFill>
              <a:srgbClr val="A7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opp-4-1-check"/>
          <p:cNvSpPr txBox="1"/>
          <p:nvPr/>
        </p:nvSpPr>
        <p:spPr>
          <a:xfrm>
            <a:off x="7324725" y="5219700"/>
            <a:ext cx="133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104" name="opp-4-1-text"/>
          <p:cNvSpPr txBox="1"/>
          <p:nvPr/>
        </p:nvSpPr>
        <p:spPr>
          <a:xfrm>
            <a:off x="7477125" y="5219700"/>
            <a:ext cx="18573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Tailor digest to usage patterns per segment</a:t>
            </a:r>
          </a:p>
        </p:txBody>
      </p:sp>
      <p:sp>
        <p:nvSpPr>
          <p:cNvPr id="105" name="opp-4-2-check"/>
          <p:cNvSpPr txBox="1"/>
          <p:nvPr/>
        </p:nvSpPr>
        <p:spPr>
          <a:xfrm>
            <a:off x="7324725" y="5524500"/>
            <a:ext cx="133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106" name="opp-4-2-text"/>
          <p:cNvSpPr txBox="1"/>
          <p:nvPr/>
        </p:nvSpPr>
        <p:spPr>
          <a:xfrm>
            <a:off x="7477125" y="5524500"/>
            <a:ext cx="18573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Gamify milestones to reinforce habit loops</a:t>
            </a:r>
          </a:p>
        </p:txBody>
      </p:sp>
      <p:sp>
        <p:nvSpPr>
          <p:cNvPr id="107" name="opp-5-bg"/>
          <p:cNvSpPr/>
          <p:nvPr/>
        </p:nvSpPr>
        <p:spPr>
          <a:xfrm>
            <a:off x="9486900" y="5143500"/>
            <a:ext cx="2162175" cy="1295400"/>
          </a:xfrm>
          <a:prstGeom prst="rect">
            <a:avLst/>
          </a:prstGeom>
          <a:solidFill>
            <a:srgbClr val="F0FDF4"/>
          </a:solidFill>
          <a:ln w="9525">
            <a:solidFill>
              <a:srgbClr val="A7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opp-5-1-check"/>
          <p:cNvSpPr txBox="1"/>
          <p:nvPr/>
        </p:nvSpPr>
        <p:spPr>
          <a:xfrm>
            <a:off x="9563100" y="5219700"/>
            <a:ext cx="133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109" name="opp-5-1-text"/>
          <p:cNvSpPr txBox="1"/>
          <p:nvPr/>
        </p:nvSpPr>
        <p:spPr>
          <a:xfrm>
            <a:off x="9715500" y="5219700"/>
            <a:ext cx="18573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Automate referral rewards at NPS ≥9</a:t>
            </a:r>
          </a:p>
        </p:txBody>
      </p:sp>
      <p:sp>
        <p:nvSpPr>
          <p:cNvPr id="110" name="opp-5-2-check"/>
          <p:cNvSpPr txBox="1"/>
          <p:nvPr/>
        </p:nvSpPr>
        <p:spPr>
          <a:xfrm>
            <a:off x="9563100" y="5524500"/>
            <a:ext cx="133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111" name="opp-5-2-text"/>
          <p:cNvSpPr txBox="1"/>
          <p:nvPr/>
        </p:nvSpPr>
        <p:spPr>
          <a:xfrm>
            <a:off x="9715500" y="5524500"/>
            <a:ext cx="18573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Co-create case studies with champions</a:t>
            </a:r>
          </a:p>
        </p:txBody>
      </p:sp>
      <p:sp>
        <p:nvSpPr>
          <p:cNvPr id="11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1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