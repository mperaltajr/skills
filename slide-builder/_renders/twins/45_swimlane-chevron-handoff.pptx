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Two skills, one workflow — the thinking is locked before a single slide is designed.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HOW STORYLINE-HELPER AND SLIDE-BUILDER WORK IN SEQUENCE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ane-1-label-bg"/>
          <p:cNvSpPr/>
          <p:nvPr/>
        </p:nvSpPr>
        <p:spPr>
          <a:xfrm>
            <a:off x="533400" y="1714500"/>
            <a:ext cx="914400" cy="2152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ane-1-label"/>
          <p:cNvSpPr txBox="1"/>
          <p:nvPr/>
        </p:nvSpPr>
        <p:spPr>
          <a:xfrm>
            <a:off x="533400" y="1743075"/>
            <a:ext cx="91440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STORYLINE-HELPER</a:t>
            </a:r>
          </a:p>
        </p:txBody>
      </p:sp>
      <p:sp>
        <p:nvSpPr>
          <p:cNvPr id="7" name="lane-1-body-bg"/>
          <p:cNvSpPr/>
          <p:nvPr/>
        </p:nvSpPr>
        <p:spPr>
          <a:xfrm>
            <a:off x="1447800" y="1714500"/>
            <a:ext cx="10210800" cy="2152650"/>
          </a:xfrm>
          <a:prstGeom prst="rect">
            <a:avLst/>
          </a:prstGeom>
          <a:solidFill>
            <a:srgbClr val="F6EC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ane-1-eyebrow"/>
          <p:cNvSpPr txBox="1"/>
          <p:nvPr/>
        </p:nvSpPr>
        <p:spPr>
          <a:xfrm>
            <a:off x="1619250" y="1828800"/>
            <a:ext cx="986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STRUCTURES THE THINKING</a:t>
            </a:r>
          </a:p>
        </p:txBody>
      </p:sp>
      <p:sp>
        <p:nvSpPr>
          <p:cNvPr id="9" name="lane-1-step-1-head"/>
          <p:cNvSpPr/>
          <p:nvPr/>
        </p:nvSpPr>
        <p:spPr>
          <a:xfrm>
            <a:off x="1581150" y="2057400"/>
            <a:ext cx="1952625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ane-1-step-1-num"/>
          <p:cNvSpPr txBox="1"/>
          <p:nvPr/>
        </p:nvSpPr>
        <p:spPr>
          <a:xfrm>
            <a:off x="1657350" y="209550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</a:t>
            </a:r>
          </a:p>
        </p:txBody>
      </p:sp>
      <p:sp>
        <p:nvSpPr>
          <p:cNvPr id="11" name="lane-1-step-1-name"/>
          <p:cNvSpPr txBox="1"/>
          <p:nvPr/>
        </p:nvSpPr>
        <p:spPr>
          <a:xfrm>
            <a:off x="1657350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Template intake</a:t>
            </a:r>
          </a:p>
        </p:txBody>
      </p:sp>
      <p:sp>
        <p:nvSpPr>
          <p:cNvPr id="12" name="lane-1-step-1-body-bg"/>
          <p:cNvSpPr/>
          <p:nvPr/>
        </p:nvSpPr>
        <p:spPr>
          <a:xfrm>
            <a:off x="1581150" y="2476500"/>
            <a:ext cx="1952625" cy="1276350"/>
          </a:xfrm>
          <a:prstGeom prst="rect">
            <a:avLst/>
          </a:prstGeom>
          <a:solidFill>
            <a:srgbClr val="E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ane-1-step-1-body"/>
          <p:cNvSpPr txBox="1"/>
          <p:nvPr/>
        </p:nvSpPr>
        <p:spPr>
          <a:xfrm>
            <a:off x="1676400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Reads fonts, colors &amp; layouts from your .pptx automatically</a:t>
            </a:r>
          </a:p>
        </p:txBody>
      </p:sp>
      <p:sp>
        <p:nvSpPr>
          <p:cNvPr id="14" name="lane-1-step-2-head"/>
          <p:cNvSpPr/>
          <p:nvPr/>
        </p:nvSpPr>
        <p:spPr>
          <a:xfrm>
            <a:off x="3571875" y="2057400"/>
            <a:ext cx="1952625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ane-1-step-2-num"/>
          <p:cNvSpPr txBox="1"/>
          <p:nvPr/>
        </p:nvSpPr>
        <p:spPr>
          <a:xfrm>
            <a:off x="3648075" y="209550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2</a:t>
            </a:r>
          </a:p>
        </p:txBody>
      </p:sp>
      <p:sp>
        <p:nvSpPr>
          <p:cNvPr id="16" name="lane-1-step-2-name"/>
          <p:cNvSpPr txBox="1"/>
          <p:nvPr/>
        </p:nvSpPr>
        <p:spPr>
          <a:xfrm>
            <a:off x="3648075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Opening question</a:t>
            </a:r>
          </a:p>
        </p:txBody>
      </p:sp>
      <p:sp>
        <p:nvSpPr>
          <p:cNvPr id="17" name="lane-1-step-2-body-bg"/>
          <p:cNvSpPr/>
          <p:nvPr/>
        </p:nvSpPr>
        <p:spPr>
          <a:xfrm>
            <a:off x="3571875" y="2476500"/>
            <a:ext cx="1952625" cy="1276350"/>
          </a:xfrm>
          <a:prstGeom prst="rect">
            <a:avLst/>
          </a:prstGeom>
          <a:solidFill>
            <a:srgbClr val="E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ane-1-step-2-body"/>
          <p:cNvSpPr txBox="1"/>
          <p:nvPr/>
        </p:nvSpPr>
        <p:spPr>
          <a:xfrm>
            <a:off x="3667125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What are you trying to communicate? — starts the structured conversation</a:t>
            </a:r>
          </a:p>
        </p:txBody>
      </p:sp>
      <p:sp>
        <p:nvSpPr>
          <p:cNvPr id="19" name="lane-1-step-3-head"/>
          <p:cNvSpPr/>
          <p:nvPr/>
        </p:nvSpPr>
        <p:spPr>
          <a:xfrm>
            <a:off x="5562600" y="2057400"/>
            <a:ext cx="1952625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ane-1-step-3-num"/>
          <p:cNvSpPr txBox="1"/>
          <p:nvPr/>
        </p:nvSpPr>
        <p:spPr>
          <a:xfrm>
            <a:off x="5638800" y="209550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3</a:t>
            </a:r>
          </a:p>
        </p:txBody>
      </p:sp>
      <p:sp>
        <p:nvSpPr>
          <p:cNvPr id="21" name="lane-1-step-3-name"/>
          <p:cNvSpPr txBox="1"/>
          <p:nvPr/>
        </p:nvSpPr>
        <p:spPr>
          <a:xfrm>
            <a:off x="5638800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Audience + context</a:t>
            </a:r>
          </a:p>
        </p:txBody>
      </p:sp>
      <p:sp>
        <p:nvSpPr>
          <p:cNvPr id="22" name="lane-1-step-3-body-bg"/>
          <p:cNvSpPr/>
          <p:nvPr/>
        </p:nvSpPr>
        <p:spPr>
          <a:xfrm>
            <a:off x="5562600" y="2476500"/>
            <a:ext cx="1952625" cy="1276350"/>
          </a:xfrm>
          <a:prstGeom prst="rect">
            <a:avLst/>
          </a:prstGeom>
          <a:solidFill>
            <a:srgbClr val="E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lane-1-step-3-body"/>
          <p:cNvSpPr txBox="1"/>
          <p:nvPr/>
        </p:nvSpPr>
        <p:spPr>
          <a:xfrm>
            <a:off x="5657850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Who sees this, what they already know, what they need to believe</a:t>
            </a:r>
          </a:p>
        </p:txBody>
      </p:sp>
      <p:sp>
        <p:nvSpPr>
          <p:cNvPr id="24" name="lane-1-step-4-head"/>
          <p:cNvSpPr/>
          <p:nvPr/>
        </p:nvSpPr>
        <p:spPr>
          <a:xfrm>
            <a:off x="7553325" y="2057400"/>
            <a:ext cx="1952625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lane-1-step-4-num"/>
          <p:cNvSpPr txBox="1"/>
          <p:nvPr/>
        </p:nvSpPr>
        <p:spPr>
          <a:xfrm>
            <a:off x="7629525" y="209550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26" name="lane-1-step-4-name"/>
          <p:cNvSpPr txBox="1"/>
          <p:nvPr/>
        </p:nvSpPr>
        <p:spPr>
          <a:xfrm>
            <a:off x="7629525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Infer &amp; confirm</a:t>
            </a:r>
          </a:p>
        </p:txBody>
      </p:sp>
      <p:sp>
        <p:nvSpPr>
          <p:cNvPr id="27" name="lane-1-step-4-body-bg"/>
          <p:cNvSpPr/>
          <p:nvPr/>
        </p:nvSpPr>
        <p:spPr>
          <a:xfrm>
            <a:off x="7553325" y="2476500"/>
            <a:ext cx="1952625" cy="1276350"/>
          </a:xfrm>
          <a:prstGeom prst="rect">
            <a:avLst/>
          </a:prstGeom>
          <a:solidFill>
            <a:srgbClr val="E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lane-1-step-4-body"/>
          <p:cNvSpPr txBox="1"/>
          <p:nvPr/>
        </p:nvSpPr>
        <p:spPr>
          <a:xfrm>
            <a:off x="7648575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Page type, mode and governing thought reflected back — confirmed before deeper</a:t>
            </a:r>
          </a:p>
        </p:txBody>
      </p:sp>
      <p:sp>
        <p:nvSpPr>
          <p:cNvPr id="29" name="lane-1-step-5-head"/>
          <p:cNvSpPr/>
          <p:nvPr/>
        </p:nvSpPr>
        <p:spPr>
          <a:xfrm>
            <a:off x="9544050" y="2057400"/>
            <a:ext cx="1952625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lane-1-step-5-num"/>
          <p:cNvSpPr txBox="1"/>
          <p:nvPr/>
        </p:nvSpPr>
        <p:spPr>
          <a:xfrm>
            <a:off x="9620250" y="209550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</a:t>
            </a:r>
          </a:p>
        </p:txBody>
      </p:sp>
      <p:sp>
        <p:nvSpPr>
          <p:cNvPr id="31" name="lane-1-step-5-name"/>
          <p:cNvSpPr txBox="1"/>
          <p:nvPr/>
        </p:nvSpPr>
        <p:spPr>
          <a:xfrm>
            <a:off x="9620250" y="226695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Sharpen structure → Brief</a:t>
            </a:r>
          </a:p>
        </p:txBody>
      </p:sp>
      <p:sp>
        <p:nvSpPr>
          <p:cNvPr id="32" name="lane-1-step-5-body-bg"/>
          <p:cNvSpPr/>
          <p:nvPr/>
        </p:nvSpPr>
        <p:spPr>
          <a:xfrm>
            <a:off x="9544050" y="2476500"/>
            <a:ext cx="1952625" cy="1276350"/>
          </a:xfrm>
          <a:prstGeom prst="rect">
            <a:avLst/>
          </a:prstGeom>
          <a:solidFill>
            <a:srgbClr val="E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lane-1-step-5-body"/>
          <p:cNvSpPr txBox="1"/>
          <p:nvPr/>
        </p:nvSpPr>
        <p:spPr>
          <a:xfrm>
            <a:off x="9639300" y="2552700"/>
            <a:ext cx="1762125" cy="1123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2-4 supporting buckets, evidence, risks — structured brief produced</a:t>
            </a:r>
          </a:p>
        </p:txBody>
      </p:sp>
      <p:sp>
        <p:nvSpPr>
          <p:cNvPr id="34" name="handoff-bg"/>
          <p:cNvSpPr/>
          <p:nvPr/>
        </p:nvSpPr>
        <p:spPr>
          <a:xfrm>
            <a:off x="533400" y="3867150"/>
            <a:ext cx="11125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handoff-pill"/>
          <p:cNvSpPr/>
          <p:nvPr/>
        </p:nvSpPr>
        <p:spPr>
          <a:xfrm>
            <a:off x="2476500" y="3914775"/>
            <a:ext cx="723900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handoff-pill-text"/>
          <p:cNvSpPr txBox="1"/>
          <p:nvPr/>
        </p:nvSpPr>
        <p:spPr>
          <a:xfrm>
            <a:off x="2476500" y="3914775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▼  STRUCTURED BRIEF HANDOFF — GOVERNING THOUGHT · AUDIENCE · STRUCTURE · EVIDENCE · RISKS CONFIRMED  ▼</a:t>
            </a:r>
          </a:p>
        </p:txBody>
      </p:sp>
      <p:sp>
        <p:nvSpPr>
          <p:cNvPr id="37" name="lane-2-label-bg"/>
          <p:cNvSpPr/>
          <p:nvPr/>
        </p:nvSpPr>
        <p:spPr>
          <a:xfrm>
            <a:off x="533400" y="4171950"/>
            <a:ext cx="914400" cy="21526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lane-2-label"/>
          <p:cNvSpPr txBox="1"/>
          <p:nvPr/>
        </p:nvSpPr>
        <p:spPr>
          <a:xfrm>
            <a:off x="533400" y="4200525"/>
            <a:ext cx="91440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SLIDE-BUILDER</a:t>
            </a:r>
          </a:p>
        </p:txBody>
      </p:sp>
      <p:sp>
        <p:nvSpPr>
          <p:cNvPr id="39" name="lane-2-body-bg"/>
          <p:cNvSpPr/>
          <p:nvPr/>
        </p:nvSpPr>
        <p:spPr>
          <a:xfrm>
            <a:off x="1447800" y="4171950"/>
            <a:ext cx="10210800" cy="2152650"/>
          </a:xfrm>
          <a:prstGeom prst="rect">
            <a:avLst/>
          </a:prstGeom>
          <a:solidFill>
            <a:srgbClr val="F1E8FB"/>
          </a:solidFill>
          <a:ln w="1905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lane-2-eyebrow"/>
          <p:cNvSpPr txBox="1"/>
          <p:nvPr/>
        </p:nvSpPr>
        <p:spPr>
          <a:xfrm>
            <a:off x="1619250" y="4286250"/>
            <a:ext cx="9867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DESIGNS AND BUILDS THE SLIDE</a:t>
            </a:r>
          </a:p>
        </p:txBody>
      </p:sp>
      <p:sp>
        <p:nvSpPr>
          <p:cNvPr id="41" name="lane-2-step-1-head"/>
          <p:cNvSpPr/>
          <p:nvPr/>
        </p:nvSpPr>
        <p:spPr>
          <a:xfrm>
            <a:off x="1581150" y="4514850"/>
            <a:ext cx="1952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lane-2-step-1-num"/>
          <p:cNvSpPr txBox="1"/>
          <p:nvPr/>
        </p:nvSpPr>
        <p:spPr>
          <a:xfrm>
            <a:off x="1657350" y="455295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6</a:t>
            </a:r>
          </a:p>
        </p:txBody>
      </p:sp>
      <p:sp>
        <p:nvSpPr>
          <p:cNvPr id="43" name="lane-2-step-1-name"/>
          <p:cNvSpPr txBox="1"/>
          <p:nvPr/>
        </p:nvSpPr>
        <p:spPr>
          <a:xfrm>
            <a:off x="1657350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Read brief + rules</a:t>
            </a:r>
          </a:p>
        </p:txBody>
      </p:sp>
      <p:sp>
        <p:nvSpPr>
          <p:cNvPr id="44" name="lane-2-step-1-body-bg"/>
          <p:cNvSpPr/>
          <p:nvPr/>
        </p:nvSpPr>
        <p:spPr>
          <a:xfrm>
            <a:off x="1581150" y="4933950"/>
            <a:ext cx="1952625" cy="1390650"/>
          </a:xfrm>
          <a:prstGeom prst="rect">
            <a:avLst/>
          </a:prstGeom>
          <a:solidFill>
            <a:srgbClr val="E4D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ane-2-step-1-body"/>
          <p:cNvSpPr txBox="1"/>
          <p:nvPr/>
        </p:nvSpPr>
        <p:spPr>
          <a:xfrm>
            <a:off x="1676400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Applies MBB slide rules and page-type conventions to the brief</a:t>
            </a:r>
          </a:p>
        </p:txBody>
      </p:sp>
      <p:sp>
        <p:nvSpPr>
          <p:cNvPr id="46" name="lane-2-step-2-head"/>
          <p:cNvSpPr/>
          <p:nvPr/>
        </p:nvSpPr>
        <p:spPr>
          <a:xfrm>
            <a:off x="3571875" y="4514850"/>
            <a:ext cx="1952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lane-2-step-2-num"/>
          <p:cNvSpPr txBox="1"/>
          <p:nvPr/>
        </p:nvSpPr>
        <p:spPr>
          <a:xfrm>
            <a:off x="3648075" y="455295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7</a:t>
            </a:r>
          </a:p>
        </p:txBody>
      </p:sp>
      <p:sp>
        <p:nvSpPr>
          <p:cNvPr id="48" name="lane-2-step-2-name"/>
          <p:cNvSpPr txBox="1"/>
          <p:nvPr/>
        </p:nvSpPr>
        <p:spPr>
          <a:xfrm>
            <a:off x="3648075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Generate mockups</a:t>
            </a:r>
          </a:p>
        </p:txBody>
      </p:sp>
      <p:sp>
        <p:nvSpPr>
          <p:cNvPr id="49" name="lane-2-step-2-body-bg"/>
          <p:cNvSpPr/>
          <p:nvPr/>
        </p:nvSpPr>
        <p:spPr>
          <a:xfrm>
            <a:off x="3571875" y="4933950"/>
            <a:ext cx="1952625" cy="1390650"/>
          </a:xfrm>
          <a:prstGeom prst="rect">
            <a:avLst/>
          </a:prstGeom>
          <a:solidFill>
            <a:srgbClr val="E4D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lane-2-step-2-body"/>
          <p:cNvSpPr txBox="1"/>
          <p:nvPr/>
        </p:nvSpPr>
        <p:spPr>
          <a:xfrm>
            <a:off x="3667125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3-4 structurally distinct HTML/SVG variations — each a different layout bet</a:t>
            </a:r>
          </a:p>
        </p:txBody>
      </p:sp>
      <p:sp>
        <p:nvSpPr>
          <p:cNvPr id="51" name="lane-2-step-3-head"/>
          <p:cNvSpPr/>
          <p:nvPr/>
        </p:nvSpPr>
        <p:spPr>
          <a:xfrm>
            <a:off x="5562600" y="4514850"/>
            <a:ext cx="1952625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lane-2-step-3-num"/>
          <p:cNvSpPr txBox="1"/>
          <p:nvPr/>
        </p:nvSpPr>
        <p:spPr>
          <a:xfrm>
            <a:off x="5638800" y="455295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8</a:t>
            </a:r>
          </a:p>
        </p:txBody>
      </p:sp>
      <p:sp>
        <p:nvSpPr>
          <p:cNvPr id="53" name="lane-2-step-3-name"/>
          <p:cNvSpPr txBox="1"/>
          <p:nvPr/>
        </p:nvSpPr>
        <p:spPr>
          <a:xfrm>
            <a:off x="5638800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Select + refine</a:t>
            </a:r>
          </a:p>
        </p:txBody>
      </p:sp>
      <p:sp>
        <p:nvSpPr>
          <p:cNvPr id="54" name="lane-2-step-3-body-bg"/>
          <p:cNvSpPr/>
          <p:nvPr/>
        </p:nvSpPr>
        <p:spPr>
          <a:xfrm>
            <a:off x="5562600" y="4933950"/>
            <a:ext cx="1952625" cy="1390650"/>
          </a:xfrm>
          <a:prstGeom prst="rect">
            <a:avLst/>
          </a:prstGeom>
          <a:solidFill>
            <a:srgbClr val="E4D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lane-2-step-3-body"/>
          <p:cNvSpPr txBox="1"/>
          <p:nvPr/>
        </p:nvSpPr>
        <p:spPr>
          <a:xfrm>
            <a:off x="5657850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React, combine options or request changes — nothing locked until approved</a:t>
            </a:r>
          </a:p>
        </p:txBody>
      </p:sp>
      <p:sp>
        <p:nvSpPr>
          <p:cNvPr id="56" name="lane-2-step-4-head"/>
          <p:cNvSpPr/>
          <p:nvPr/>
        </p:nvSpPr>
        <p:spPr>
          <a:xfrm>
            <a:off x="9544050" y="4514850"/>
            <a:ext cx="1952625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lane-2-step-4-num"/>
          <p:cNvSpPr txBox="1"/>
          <p:nvPr/>
        </p:nvSpPr>
        <p:spPr>
          <a:xfrm>
            <a:off x="9620250" y="4552950"/>
            <a:ext cx="17145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</a:t>
            </a:r>
          </a:p>
        </p:txBody>
      </p:sp>
      <p:sp>
        <p:nvSpPr>
          <p:cNvPr id="58" name="lane-2-step-4-name"/>
          <p:cNvSpPr txBox="1"/>
          <p:nvPr/>
        </p:nvSpPr>
        <p:spPr>
          <a:xfrm>
            <a:off x="9620250" y="4724400"/>
            <a:ext cx="1800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+ QA → .pptx ✓</a:t>
            </a:r>
          </a:p>
        </p:txBody>
      </p:sp>
      <p:sp>
        <p:nvSpPr>
          <p:cNvPr id="59" name="lane-2-step-4-body-bg"/>
          <p:cNvSpPr/>
          <p:nvPr/>
        </p:nvSpPr>
        <p:spPr>
          <a:xfrm>
            <a:off x="9544050" y="4933950"/>
            <a:ext cx="1952625" cy="1390650"/>
          </a:xfrm>
          <a:prstGeom prst="rect">
            <a:avLst/>
          </a:prstGeom>
          <a:solidFill>
            <a:srgbClr val="E0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lane-2-step-4-body"/>
          <p:cNvSpPr txBox="1"/>
          <p:nvPr/>
        </p:nvSpPr>
        <p:spPr>
          <a:xfrm>
            <a:off x="9639300" y="5010150"/>
            <a:ext cx="1762125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Built on client template, QA'd as PDF, delivered as clickable file link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