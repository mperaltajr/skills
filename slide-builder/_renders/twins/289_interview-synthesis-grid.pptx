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Interview Synthesis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Stakeholder Sentiment Grid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Aggregated signals across 5 roles × 4 strategic themes ·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2-avatar"/>
          <p:cNvSpPr/>
          <p:nvPr/>
        </p:nvSpPr>
        <p:spPr>
          <a:xfrm>
            <a:off x="2581275" y="2247900"/>
            <a:ext cx="304800" cy="3048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l-2-avatar-text"/>
          <p:cNvSpPr txBox="1"/>
          <p:nvPr/>
        </p:nvSpPr>
        <p:spPr>
          <a:xfrm>
            <a:off x="2581275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CE</a:t>
            </a:r>
          </a:p>
        </p:txBody>
      </p:sp>
      <p:sp>
        <p:nvSpPr>
          <p:cNvPr id="7" name="col-2-role"/>
          <p:cNvSpPr txBox="1"/>
          <p:nvPr/>
        </p:nvSpPr>
        <p:spPr>
          <a:xfrm>
            <a:off x="2257425" y="25908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CEO</a:t>
            </a:r>
          </a:p>
        </p:txBody>
      </p:sp>
      <p:sp>
        <p:nvSpPr>
          <p:cNvPr id="8" name="col-3-avatar"/>
          <p:cNvSpPr/>
          <p:nvPr/>
        </p:nvSpPr>
        <p:spPr>
          <a:xfrm>
            <a:off x="4086225" y="2247900"/>
            <a:ext cx="304800" cy="3048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l-3-avatar-text"/>
          <p:cNvSpPr txBox="1"/>
          <p:nvPr/>
        </p:nvSpPr>
        <p:spPr>
          <a:xfrm>
            <a:off x="4086225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CF</a:t>
            </a:r>
          </a:p>
        </p:txBody>
      </p:sp>
      <p:sp>
        <p:nvSpPr>
          <p:cNvPr id="10" name="col-3-role"/>
          <p:cNvSpPr txBox="1"/>
          <p:nvPr/>
        </p:nvSpPr>
        <p:spPr>
          <a:xfrm>
            <a:off x="3762375" y="25908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CFO</a:t>
            </a:r>
          </a:p>
        </p:txBody>
      </p:sp>
      <p:sp>
        <p:nvSpPr>
          <p:cNvPr id="11" name="col-4-avatar"/>
          <p:cNvSpPr/>
          <p:nvPr/>
        </p:nvSpPr>
        <p:spPr>
          <a:xfrm>
            <a:off x="5591175" y="2247900"/>
            <a:ext cx="304800" cy="3048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l-4-avatar-text"/>
          <p:cNvSpPr txBox="1"/>
          <p:nvPr/>
        </p:nvSpPr>
        <p:spPr>
          <a:xfrm>
            <a:off x="5591175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VO</a:t>
            </a:r>
          </a:p>
        </p:txBody>
      </p:sp>
      <p:sp>
        <p:nvSpPr>
          <p:cNvPr id="13" name="col-4-role"/>
          <p:cNvSpPr txBox="1"/>
          <p:nvPr/>
        </p:nvSpPr>
        <p:spPr>
          <a:xfrm>
            <a:off x="5267325" y="25908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VP Ops</a:t>
            </a:r>
          </a:p>
        </p:txBody>
      </p:sp>
      <p:sp>
        <p:nvSpPr>
          <p:cNvPr id="14" name="col-5-avatar"/>
          <p:cNvSpPr/>
          <p:nvPr/>
        </p:nvSpPr>
        <p:spPr>
          <a:xfrm>
            <a:off x="7096125" y="2247900"/>
            <a:ext cx="304800" cy="3048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l-5-avatar-text"/>
          <p:cNvSpPr txBox="1"/>
          <p:nvPr/>
        </p:nvSpPr>
        <p:spPr>
          <a:xfrm>
            <a:off x="7096125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</a:t>
            </a:r>
          </a:p>
        </p:txBody>
      </p:sp>
      <p:sp>
        <p:nvSpPr>
          <p:cNvPr id="16" name="col-5-role"/>
          <p:cNvSpPr txBox="1"/>
          <p:nvPr/>
        </p:nvSpPr>
        <p:spPr>
          <a:xfrm>
            <a:off x="6772275" y="25908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Dir IT</a:t>
            </a:r>
          </a:p>
        </p:txBody>
      </p:sp>
      <p:sp>
        <p:nvSpPr>
          <p:cNvPr id="17" name="col-6-avatar"/>
          <p:cNvSpPr/>
          <p:nvPr/>
        </p:nvSpPr>
        <p:spPr>
          <a:xfrm>
            <a:off x="8601075" y="2247900"/>
            <a:ext cx="304800" cy="3048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l-6-avatar-text"/>
          <p:cNvSpPr txBox="1"/>
          <p:nvPr/>
        </p:nvSpPr>
        <p:spPr>
          <a:xfrm>
            <a:off x="8601075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MG</a:t>
            </a:r>
          </a:p>
        </p:txBody>
      </p:sp>
      <p:sp>
        <p:nvSpPr>
          <p:cNvPr id="19" name="col-6-role"/>
          <p:cNvSpPr txBox="1"/>
          <p:nvPr/>
        </p:nvSpPr>
        <p:spPr>
          <a:xfrm>
            <a:off x="8277225" y="25908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Manager</a:t>
            </a:r>
          </a:p>
        </p:txBody>
      </p:sp>
      <p:sp>
        <p:nvSpPr>
          <p:cNvPr id="20" name="row-1-bg"/>
          <p:cNvSpPr/>
          <p:nvPr/>
        </p:nvSpPr>
        <p:spPr>
          <a:xfrm>
            <a:off x="457200" y="2838450"/>
            <a:ext cx="90678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-1-theme"/>
          <p:cNvSpPr txBox="1"/>
          <p:nvPr/>
        </p:nvSpPr>
        <p:spPr>
          <a:xfrm>
            <a:off x="571500" y="2952750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CULTURE</a:t>
            </a:r>
          </a:p>
        </p:txBody>
      </p:sp>
      <p:sp>
        <p:nvSpPr>
          <p:cNvPr id="22" name="row-1-desc"/>
          <p:cNvSpPr txBox="1"/>
          <p:nvPr/>
        </p:nvSpPr>
        <p:spPr>
          <a:xfrm>
            <a:off x="571500" y="3124200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Org mindset &amp; change readiness</a:t>
            </a:r>
          </a:p>
        </p:txBody>
      </p:sp>
      <p:sp>
        <p:nvSpPr>
          <p:cNvPr id="23" name="row-1-cell-2-bg"/>
          <p:cNvSpPr/>
          <p:nvPr/>
        </p:nvSpPr>
        <p:spPr>
          <a:xfrm>
            <a:off x="2600325" y="305752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1-cell-2"/>
          <p:cNvSpPr txBox="1"/>
          <p:nvPr/>
        </p:nvSpPr>
        <p:spPr>
          <a:xfrm>
            <a:off x="2600325" y="30575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25" name="row-1-cell-3-bg"/>
          <p:cNvSpPr/>
          <p:nvPr/>
        </p:nvSpPr>
        <p:spPr>
          <a:xfrm>
            <a:off x="4105275" y="3057525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1-cell-3"/>
          <p:cNvSpPr txBox="1"/>
          <p:nvPr/>
        </p:nvSpPr>
        <p:spPr>
          <a:xfrm>
            <a:off x="4105275" y="30575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27" name="row-1-cell-4-bg"/>
          <p:cNvSpPr/>
          <p:nvPr/>
        </p:nvSpPr>
        <p:spPr>
          <a:xfrm>
            <a:off x="5610225" y="305752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1-cell-4"/>
          <p:cNvSpPr txBox="1"/>
          <p:nvPr/>
        </p:nvSpPr>
        <p:spPr>
          <a:xfrm>
            <a:off x="5610225" y="30575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29" name="row-1-cell-5-bg"/>
          <p:cNvSpPr/>
          <p:nvPr/>
        </p:nvSpPr>
        <p:spPr>
          <a:xfrm>
            <a:off x="7115175" y="3057525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ow-1-cell-5"/>
          <p:cNvSpPr txBox="1"/>
          <p:nvPr/>
        </p:nvSpPr>
        <p:spPr>
          <a:xfrm>
            <a:off x="7115175" y="30575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31" name="row-1-cell-6-bg"/>
          <p:cNvSpPr/>
          <p:nvPr/>
        </p:nvSpPr>
        <p:spPr>
          <a:xfrm>
            <a:off x="8620125" y="3057525"/>
            <a:ext cx="266700" cy="2667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1-cell-6"/>
          <p:cNvSpPr txBox="1"/>
          <p:nvPr/>
        </p:nvSpPr>
        <p:spPr>
          <a:xfrm>
            <a:off x="8620125" y="30575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✕</a:t>
            </a:r>
          </a:p>
        </p:txBody>
      </p:sp>
      <p:sp>
        <p:nvSpPr>
          <p:cNvPr id="33" name="row-2-bg"/>
          <p:cNvSpPr/>
          <p:nvPr/>
        </p:nvSpPr>
        <p:spPr>
          <a:xfrm>
            <a:off x="457200" y="3552825"/>
            <a:ext cx="9067800" cy="7143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ow-2-theme"/>
          <p:cNvSpPr txBox="1"/>
          <p:nvPr/>
        </p:nvSpPr>
        <p:spPr>
          <a:xfrm>
            <a:off x="571500" y="3667125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</a:t>
            </a:r>
          </a:p>
        </p:txBody>
      </p:sp>
      <p:sp>
        <p:nvSpPr>
          <p:cNvPr id="35" name="row-2-desc"/>
          <p:cNvSpPr txBox="1"/>
          <p:nvPr/>
        </p:nvSpPr>
        <p:spPr>
          <a:xfrm>
            <a:off x="571500" y="3838575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Workflow efficiency &amp; standards</a:t>
            </a:r>
          </a:p>
        </p:txBody>
      </p:sp>
      <p:sp>
        <p:nvSpPr>
          <p:cNvPr id="36" name="row-2-cell-2-bg"/>
          <p:cNvSpPr/>
          <p:nvPr/>
        </p:nvSpPr>
        <p:spPr>
          <a:xfrm>
            <a:off x="2600325" y="3771900"/>
            <a:ext cx="266700" cy="2667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-2-cell-2"/>
          <p:cNvSpPr txBox="1"/>
          <p:nvPr/>
        </p:nvSpPr>
        <p:spPr>
          <a:xfrm>
            <a:off x="2600325" y="37719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✕</a:t>
            </a:r>
          </a:p>
        </p:txBody>
      </p:sp>
      <p:sp>
        <p:nvSpPr>
          <p:cNvPr id="38" name="row-2-cell-3-bg"/>
          <p:cNvSpPr/>
          <p:nvPr/>
        </p:nvSpPr>
        <p:spPr>
          <a:xfrm>
            <a:off x="4105275" y="3771900"/>
            <a:ext cx="266700" cy="2667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row-2-cell-3"/>
          <p:cNvSpPr txBox="1"/>
          <p:nvPr/>
        </p:nvSpPr>
        <p:spPr>
          <a:xfrm>
            <a:off x="4105275" y="37719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✕</a:t>
            </a:r>
          </a:p>
        </p:txBody>
      </p:sp>
      <p:sp>
        <p:nvSpPr>
          <p:cNvPr id="40" name="row-2-cell-4-bg"/>
          <p:cNvSpPr/>
          <p:nvPr/>
        </p:nvSpPr>
        <p:spPr>
          <a:xfrm>
            <a:off x="5610225" y="3771900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2-cell-4"/>
          <p:cNvSpPr txBox="1"/>
          <p:nvPr/>
        </p:nvSpPr>
        <p:spPr>
          <a:xfrm>
            <a:off x="5610225" y="37719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42" name="row-2-cell-5-bg"/>
          <p:cNvSpPr/>
          <p:nvPr/>
        </p:nvSpPr>
        <p:spPr>
          <a:xfrm>
            <a:off x="7115175" y="3771900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2-cell-5"/>
          <p:cNvSpPr txBox="1"/>
          <p:nvPr/>
        </p:nvSpPr>
        <p:spPr>
          <a:xfrm>
            <a:off x="7115175" y="37719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4" name="row-2-cell-6-bg"/>
          <p:cNvSpPr/>
          <p:nvPr/>
        </p:nvSpPr>
        <p:spPr>
          <a:xfrm>
            <a:off x="8620125" y="3771900"/>
            <a:ext cx="266700" cy="2667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2-cell-6"/>
          <p:cNvSpPr txBox="1"/>
          <p:nvPr/>
        </p:nvSpPr>
        <p:spPr>
          <a:xfrm>
            <a:off x="8620125" y="37719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✕</a:t>
            </a:r>
          </a:p>
        </p:txBody>
      </p:sp>
      <p:sp>
        <p:nvSpPr>
          <p:cNvPr id="46" name="row-3-bg"/>
          <p:cNvSpPr/>
          <p:nvPr/>
        </p:nvSpPr>
        <p:spPr>
          <a:xfrm>
            <a:off x="457200" y="4267200"/>
            <a:ext cx="90678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ow-3-theme"/>
          <p:cNvSpPr txBox="1"/>
          <p:nvPr/>
        </p:nvSpPr>
        <p:spPr>
          <a:xfrm>
            <a:off x="571500" y="4381500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</a:t>
            </a:r>
          </a:p>
        </p:txBody>
      </p:sp>
      <p:sp>
        <p:nvSpPr>
          <p:cNvPr id="48" name="row-3-desc"/>
          <p:cNvSpPr txBox="1"/>
          <p:nvPr/>
        </p:nvSpPr>
        <p:spPr>
          <a:xfrm>
            <a:off x="571500" y="4552950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Tool adoption &amp; data maturity</a:t>
            </a:r>
          </a:p>
        </p:txBody>
      </p:sp>
      <p:sp>
        <p:nvSpPr>
          <p:cNvPr id="49" name="row-3-cell-2-bg"/>
          <p:cNvSpPr/>
          <p:nvPr/>
        </p:nvSpPr>
        <p:spPr>
          <a:xfrm>
            <a:off x="2600325" y="448627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ow-3-cell-2"/>
          <p:cNvSpPr txBox="1"/>
          <p:nvPr/>
        </p:nvSpPr>
        <p:spPr>
          <a:xfrm>
            <a:off x="2600325" y="44862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51" name="row-3-cell-3-bg"/>
          <p:cNvSpPr/>
          <p:nvPr/>
        </p:nvSpPr>
        <p:spPr>
          <a:xfrm>
            <a:off x="4105275" y="448627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ow-3-cell-3"/>
          <p:cNvSpPr txBox="1"/>
          <p:nvPr/>
        </p:nvSpPr>
        <p:spPr>
          <a:xfrm>
            <a:off x="4105275" y="44862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53" name="row-3-cell-4-bg"/>
          <p:cNvSpPr/>
          <p:nvPr/>
        </p:nvSpPr>
        <p:spPr>
          <a:xfrm>
            <a:off x="5610225" y="4486275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3-cell-4"/>
          <p:cNvSpPr txBox="1"/>
          <p:nvPr/>
        </p:nvSpPr>
        <p:spPr>
          <a:xfrm>
            <a:off x="5610225" y="44862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55" name="row-3-cell-5-bg"/>
          <p:cNvSpPr/>
          <p:nvPr/>
        </p:nvSpPr>
        <p:spPr>
          <a:xfrm>
            <a:off x="7115175" y="448627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row-3-cell-5"/>
          <p:cNvSpPr txBox="1"/>
          <p:nvPr/>
        </p:nvSpPr>
        <p:spPr>
          <a:xfrm>
            <a:off x="7115175" y="44862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57" name="row-3-cell-6-bg"/>
          <p:cNvSpPr/>
          <p:nvPr/>
        </p:nvSpPr>
        <p:spPr>
          <a:xfrm>
            <a:off x="8620125" y="4486275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3-cell-6"/>
          <p:cNvSpPr txBox="1"/>
          <p:nvPr/>
        </p:nvSpPr>
        <p:spPr>
          <a:xfrm>
            <a:off x="8620125" y="44862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59" name="row-4-bg"/>
          <p:cNvSpPr/>
          <p:nvPr/>
        </p:nvSpPr>
        <p:spPr>
          <a:xfrm>
            <a:off x="457200" y="4981575"/>
            <a:ext cx="9067800" cy="7143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ow-4-theme"/>
          <p:cNvSpPr txBox="1"/>
          <p:nvPr/>
        </p:nvSpPr>
        <p:spPr>
          <a:xfrm>
            <a:off x="571500" y="5095875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LEADERSHIP</a:t>
            </a:r>
          </a:p>
        </p:txBody>
      </p:sp>
      <p:sp>
        <p:nvSpPr>
          <p:cNvPr id="61" name="row-4-desc"/>
          <p:cNvSpPr txBox="1"/>
          <p:nvPr/>
        </p:nvSpPr>
        <p:spPr>
          <a:xfrm>
            <a:off x="571500" y="5267325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Vision alignment &amp; sponsorship</a:t>
            </a:r>
          </a:p>
        </p:txBody>
      </p:sp>
      <p:sp>
        <p:nvSpPr>
          <p:cNvPr id="62" name="row-4-cell-2-bg"/>
          <p:cNvSpPr/>
          <p:nvPr/>
        </p:nvSpPr>
        <p:spPr>
          <a:xfrm>
            <a:off x="2600325" y="5200650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ow-4-cell-2"/>
          <p:cNvSpPr txBox="1"/>
          <p:nvPr/>
        </p:nvSpPr>
        <p:spPr>
          <a:xfrm>
            <a:off x="2600325" y="52006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64" name="row-4-cell-3-bg"/>
          <p:cNvSpPr/>
          <p:nvPr/>
        </p:nvSpPr>
        <p:spPr>
          <a:xfrm>
            <a:off x="4105275" y="5200650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4-cell-3"/>
          <p:cNvSpPr txBox="1"/>
          <p:nvPr/>
        </p:nvSpPr>
        <p:spPr>
          <a:xfrm>
            <a:off x="4105275" y="52006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66" name="row-4-cell-4-bg"/>
          <p:cNvSpPr/>
          <p:nvPr/>
        </p:nvSpPr>
        <p:spPr>
          <a:xfrm>
            <a:off x="5610225" y="5200650"/>
            <a:ext cx="266700" cy="2667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ow-4-cell-4"/>
          <p:cNvSpPr txBox="1"/>
          <p:nvPr/>
        </p:nvSpPr>
        <p:spPr>
          <a:xfrm>
            <a:off x="5610225" y="52006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✕</a:t>
            </a:r>
          </a:p>
        </p:txBody>
      </p:sp>
      <p:sp>
        <p:nvSpPr>
          <p:cNvPr id="68" name="row-4-cell-5-bg"/>
          <p:cNvSpPr/>
          <p:nvPr/>
        </p:nvSpPr>
        <p:spPr>
          <a:xfrm>
            <a:off x="7115175" y="5200650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ow-4-cell-5"/>
          <p:cNvSpPr txBox="1"/>
          <p:nvPr/>
        </p:nvSpPr>
        <p:spPr>
          <a:xfrm>
            <a:off x="7115175" y="52006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70" name="row-4-cell-6-bg"/>
          <p:cNvSpPr/>
          <p:nvPr/>
        </p:nvSpPr>
        <p:spPr>
          <a:xfrm>
            <a:off x="8620125" y="5200650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ow-4-cell-6"/>
          <p:cNvSpPr txBox="1"/>
          <p:nvPr/>
        </p:nvSpPr>
        <p:spPr>
          <a:xfrm>
            <a:off x="8620125" y="52006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72" name="row-5-bg"/>
          <p:cNvSpPr/>
          <p:nvPr/>
        </p:nvSpPr>
        <p:spPr>
          <a:xfrm>
            <a:off x="457200" y="5695950"/>
            <a:ext cx="9067800" cy="7143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ow-5-theme"/>
          <p:cNvSpPr txBox="1"/>
          <p:nvPr/>
        </p:nvSpPr>
        <p:spPr>
          <a:xfrm>
            <a:off x="571500" y="5810250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CONSENSUS</a:t>
            </a:r>
          </a:p>
        </p:txBody>
      </p:sp>
      <p:sp>
        <p:nvSpPr>
          <p:cNvPr id="74" name="row-5-desc"/>
          <p:cNvSpPr txBox="1"/>
          <p:nvPr/>
        </p:nvSpPr>
        <p:spPr>
          <a:xfrm>
            <a:off x="571500" y="5981700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0E0"/>
                </a:solidFill>
                <a:latin typeface="Inter"/>
              </a:rPr>
              <a:t>Majority view per theme</a:t>
            </a:r>
          </a:p>
        </p:txBody>
      </p:sp>
      <p:sp>
        <p:nvSpPr>
          <p:cNvPr id="75" name="row-5-cell-2-bg"/>
          <p:cNvSpPr/>
          <p:nvPr/>
        </p:nvSpPr>
        <p:spPr>
          <a:xfrm>
            <a:off x="2600325" y="591502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5-cell-2"/>
          <p:cNvSpPr txBox="1"/>
          <p:nvPr/>
        </p:nvSpPr>
        <p:spPr>
          <a:xfrm>
            <a:off x="2600325" y="59150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77" name="row-5-cell-3-bg"/>
          <p:cNvSpPr/>
          <p:nvPr/>
        </p:nvSpPr>
        <p:spPr>
          <a:xfrm>
            <a:off x="4105275" y="5915025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ow-5-cell-3"/>
          <p:cNvSpPr txBox="1"/>
          <p:nvPr/>
        </p:nvSpPr>
        <p:spPr>
          <a:xfrm>
            <a:off x="4105275" y="59150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79" name="row-5-cell-4-bg"/>
          <p:cNvSpPr/>
          <p:nvPr/>
        </p:nvSpPr>
        <p:spPr>
          <a:xfrm>
            <a:off x="5610225" y="5915025"/>
            <a:ext cx="266700" cy="2667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ow-5-cell-4"/>
          <p:cNvSpPr txBox="1"/>
          <p:nvPr/>
        </p:nvSpPr>
        <p:spPr>
          <a:xfrm>
            <a:off x="5610225" y="59150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81" name="row-5-cell-5-bg"/>
          <p:cNvSpPr/>
          <p:nvPr/>
        </p:nvSpPr>
        <p:spPr>
          <a:xfrm>
            <a:off x="7115175" y="5915025"/>
            <a:ext cx="266700" cy="2667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ow-5-cell-5"/>
          <p:cNvSpPr txBox="1"/>
          <p:nvPr/>
        </p:nvSpPr>
        <p:spPr>
          <a:xfrm>
            <a:off x="7115175" y="59150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83" name="row-5-cell-6-bg"/>
          <p:cNvSpPr/>
          <p:nvPr/>
        </p:nvSpPr>
        <p:spPr>
          <a:xfrm>
            <a:off x="8620125" y="5915025"/>
            <a:ext cx="266700" cy="2667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ow-5-cell-6"/>
          <p:cNvSpPr txBox="1"/>
          <p:nvPr/>
        </p:nvSpPr>
        <p:spPr>
          <a:xfrm>
            <a:off x="8620125" y="59150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✕</a:t>
            </a:r>
          </a:p>
        </p:txBody>
      </p:sp>
      <p:sp>
        <p:nvSpPr>
          <p:cNvPr id="85" name="kt-header"/>
          <p:cNvSpPr txBox="1"/>
          <p:nvPr/>
        </p:nvSpPr>
        <p:spPr>
          <a:xfrm>
            <a:off x="9639300" y="2209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KEY THEMES</a:t>
            </a:r>
          </a:p>
        </p:txBody>
      </p:sp>
      <p:sp>
        <p:nvSpPr>
          <p:cNvPr id="86" name="kt-rule"/>
          <p:cNvSpPr/>
          <p:nvPr/>
        </p:nvSpPr>
        <p:spPr>
          <a:xfrm>
            <a:off x="9639300" y="2419350"/>
            <a:ext cx="20955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kt-item-1-bg"/>
          <p:cNvSpPr/>
          <p:nvPr/>
        </p:nvSpPr>
        <p:spPr>
          <a:xfrm>
            <a:off x="9639300" y="2495550"/>
            <a:ext cx="2095500" cy="752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kt-item-1-bar"/>
          <p:cNvSpPr/>
          <p:nvPr/>
        </p:nvSpPr>
        <p:spPr>
          <a:xfrm>
            <a:off x="9639300" y="2495550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kt-item-1-label"/>
          <p:cNvSpPr txBox="1"/>
          <p:nvPr/>
        </p:nvSpPr>
        <p:spPr>
          <a:xfrm>
            <a:off x="9734550" y="2552700"/>
            <a:ext cx="1943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CULTURE</a:t>
            </a:r>
          </a:p>
        </p:txBody>
      </p:sp>
      <p:sp>
        <p:nvSpPr>
          <p:cNvPr id="90" name="kt-item-1-text"/>
          <p:cNvSpPr txBox="1"/>
          <p:nvPr/>
        </p:nvSpPr>
        <p:spPr>
          <a:xfrm>
            <a:off x="9734550" y="2686050"/>
            <a:ext cx="194310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Leadership and Ops are aligned; frontline staff remain hesitant to change.</a:t>
            </a:r>
          </a:p>
        </p:txBody>
      </p:sp>
      <p:sp>
        <p:nvSpPr>
          <p:cNvPr id="91" name="kt-item-2-bg"/>
          <p:cNvSpPr/>
          <p:nvPr/>
        </p:nvSpPr>
        <p:spPr>
          <a:xfrm>
            <a:off x="9639300" y="3286125"/>
            <a:ext cx="2095500" cy="752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kt-item-2-bar"/>
          <p:cNvSpPr/>
          <p:nvPr/>
        </p:nvSpPr>
        <p:spPr>
          <a:xfrm>
            <a:off x="9639300" y="3286125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kt-item-2-label"/>
          <p:cNvSpPr txBox="1"/>
          <p:nvPr/>
        </p:nvSpPr>
        <p:spPr>
          <a:xfrm>
            <a:off x="9734550" y="3343275"/>
            <a:ext cx="1943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PROCESS</a:t>
            </a:r>
          </a:p>
        </p:txBody>
      </p:sp>
      <p:sp>
        <p:nvSpPr>
          <p:cNvPr id="94" name="kt-item-2-text"/>
          <p:cNvSpPr txBox="1"/>
          <p:nvPr/>
        </p:nvSpPr>
        <p:spPr>
          <a:xfrm>
            <a:off x="9734550" y="3476625"/>
            <a:ext cx="194310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Widespread friction in workflows; only IT sees structured improvement efforts.</a:t>
            </a:r>
          </a:p>
        </p:txBody>
      </p:sp>
      <p:sp>
        <p:nvSpPr>
          <p:cNvPr id="95" name="kt-item-3-bg"/>
          <p:cNvSpPr/>
          <p:nvPr/>
        </p:nvSpPr>
        <p:spPr>
          <a:xfrm>
            <a:off x="9639300" y="4076700"/>
            <a:ext cx="2095500" cy="752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kt-item-3-bar"/>
          <p:cNvSpPr/>
          <p:nvPr/>
        </p:nvSpPr>
        <p:spPr>
          <a:xfrm>
            <a:off x="9639300" y="4076700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kt-item-3-label"/>
          <p:cNvSpPr txBox="1"/>
          <p:nvPr/>
        </p:nvSpPr>
        <p:spPr>
          <a:xfrm>
            <a:off x="9734550" y="4133850"/>
            <a:ext cx="1943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TECHNOLOGY</a:t>
            </a:r>
          </a:p>
        </p:txBody>
      </p:sp>
      <p:sp>
        <p:nvSpPr>
          <p:cNvPr id="98" name="kt-item-3-text"/>
          <p:cNvSpPr txBox="1"/>
          <p:nvPr/>
        </p:nvSpPr>
        <p:spPr>
          <a:xfrm>
            <a:off x="9734550" y="4267200"/>
            <a:ext cx="194310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Strong top-down confidence; middle management adoption lags behind.</a:t>
            </a:r>
          </a:p>
        </p:txBody>
      </p:sp>
      <p:sp>
        <p:nvSpPr>
          <p:cNvPr id="99" name="kt-item-4-bg"/>
          <p:cNvSpPr/>
          <p:nvPr/>
        </p:nvSpPr>
        <p:spPr>
          <a:xfrm>
            <a:off x="9639300" y="4867275"/>
            <a:ext cx="2095500" cy="752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kt-item-4-bar"/>
          <p:cNvSpPr/>
          <p:nvPr/>
        </p:nvSpPr>
        <p:spPr>
          <a:xfrm>
            <a:off x="9639300" y="4867275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kt-item-4-label"/>
          <p:cNvSpPr txBox="1"/>
          <p:nvPr/>
        </p:nvSpPr>
        <p:spPr>
          <a:xfrm>
            <a:off x="9734550" y="4924425"/>
            <a:ext cx="1943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LEADERSHIP</a:t>
            </a:r>
          </a:p>
        </p:txBody>
      </p:sp>
      <p:sp>
        <p:nvSpPr>
          <p:cNvPr id="102" name="kt-item-4-text"/>
          <p:cNvSpPr txBox="1"/>
          <p:nvPr/>
        </p:nvSpPr>
        <p:spPr>
          <a:xfrm>
            <a:off x="9734550" y="5057775"/>
            <a:ext cx="194310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C-suite vision is set but VP Ops sponsorship gap creates execution risk.</a:t>
            </a:r>
          </a:p>
        </p:txBody>
      </p:sp>
      <p:sp>
        <p:nvSpPr>
          <p:cNvPr id="103" name="kt-item-5-bg"/>
          <p:cNvSpPr/>
          <p:nvPr/>
        </p:nvSpPr>
        <p:spPr>
          <a:xfrm>
            <a:off x="9639300" y="5657850"/>
            <a:ext cx="2095500" cy="7524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kt-item-5-bar"/>
          <p:cNvSpPr/>
          <p:nvPr/>
        </p:nvSpPr>
        <p:spPr>
          <a:xfrm>
            <a:off x="9639300" y="5657850"/>
            <a:ext cx="28575" cy="7524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kt-item-5-label"/>
          <p:cNvSpPr txBox="1"/>
          <p:nvPr/>
        </p:nvSpPr>
        <p:spPr>
          <a:xfrm>
            <a:off x="9734550" y="5715000"/>
            <a:ext cx="1943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0E0"/>
                </a:solidFill>
                <a:latin typeface="Inter"/>
              </a:rPr>
              <a:t>CONSENSUS</a:t>
            </a:r>
          </a:p>
        </p:txBody>
      </p:sp>
      <p:sp>
        <p:nvSpPr>
          <p:cNvPr id="106" name="kt-item-5-text"/>
          <p:cNvSpPr txBox="1"/>
          <p:nvPr/>
        </p:nvSpPr>
        <p:spPr>
          <a:xfrm>
            <a:off x="9734550" y="5848350"/>
            <a:ext cx="194310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Tech &amp; Culture are strengths; Process is the primary transformation lever.</a:t>
            </a:r>
          </a:p>
        </p:txBody>
      </p:sp>
      <p:sp>
        <p:nvSpPr>
          <p:cNvPr id="10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