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What changed in four weeks of pilot.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Same teams, same deck volume. Different discipline — and the workflow followed.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efore-panel-bg"/>
          <p:cNvSpPr/>
          <p:nvPr/>
        </p:nvSpPr>
        <p:spPr>
          <a:xfrm>
            <a:off x="533400" y="2095500"/>
            <a:ext cx="4676775" cy="3238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efore-panel-label"/>
          <p:cNvSpPr txBox="1"/>
          <p:nvPr/>
        </p:nvSpPr>
        <p:spPr>
          <a:xfrm>
            <a:off x="762000" y="2266950"/>
            <a:ext cx="4219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BEFORE · WEEK 0</a:t>
            </a:r>
          </a:p>
        </p:txBody>
      </p:sp>
      <p:sp>
        <p:nvSpPr>
          <p:cNvPr id="7" name="before-panel-heading"/>
          <p:cNvSpPr txBox="1"/>
          <p:nvPr/>
        </p:nvSpPr>
        <p:spPr>
          <a:xfrm>
            <a:off x="762000" y="2495550"/>
            <a:ext cx="42195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1A1A2E"/>
                </a:solidFill>
                <a:latin typeface="Inter"/>
              </a:rPr>
              <a:t>Disconnected deck workflow</a:t>
            </a:r>
          </a:p>
        </p:txBody>
      </p:sp>
      <p:sp>
        <p:nvSpPr>
          <p:cNvPr id="8" name="before-panel-body"/>
          <p:cNvSpPr txBox="1"/>
          <p:nvPr/>
        </p:nvSpPr>
        <p:spPr>
          <a:xfrm>
            <a:off x="762000" y="2914650"/>
            <a:ext cx="4219575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Slide deck assembled bottom-up from workstream findings
• Argument lost as bullets compound across review cycles
• Three rounds of partner edits per deck typical
• 11 days median from kickoff to final</a:t>
            </a:r>
          </a:p>
        </p:txBody>
      </p:sp>
      <p:sp>
        <p:nvSpPr>
          <p:cNvPr id="9" name="transformation-arrow-label-top"/>
          <p:cNvSpPr txBox="1"/>
          <p:nvPr/>
        </p:nvSpPr>
        <p:spPr>
          <a:xfrm>
            <a:off x="5210175" y="3181350"/>
            <a:ext cx="1771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PILOT</a:t>
            </a:r>
          </a:p>
        </p:txBody>
      </p:sp>
      <p:sp>
        <p:nvSpPr>
          <p:cNvPr id="10" name="transformation-arrow"/>
          <p:cNvSpPr/>
          <p:nvPr/>
        </p:nvSpPr>
        <p:spPr>
          <a:xfrm>
            <a:off x="5286375" y="3476625"/>
            <a:ext cx="1619250" cy="47625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ransformation-arrow-label-bottom"/>
          <p:cNvSpPr txBox="1"/>
          <p:nvPr/>
        </p:nvSpPr>
        <p:spPr>
          <a:xfrm>
            <a:off x="5210175" y="4057650"/>
            <a:ext cx="1771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WEEKS 1–4</a:t>
            </a:r>
          </a:p>
        </p:txBody>
      </p:sp>
      <p:sp>
        <p:nvSpPr>
          <p:cNvPr id="12" name="after-panel-bg"/>
          <p:cNvSpPr/>
          <p:nvPr/>
        </p:nvSpPr>
        <p:spPr>
          <a:xfrm>
            <a:off x="6981825" y="2000250"/>
            <a:ext cx="4676775" cy="3333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after-panel-label"/>
          <p:cNvSpPr txBox="1"/>
          <p:nvPr/>
        </p:nvSpPr>
        <p:spPr>
          <a:xfrm>
            <a:off x="7210425" y="2228850"/>
            <a:ext cx="4219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AFTER · WEEK 4</a:t>
            </a:r>
          </a:p>
        </p:txBody>
      </p:sp>
      <p:sp>
        <p:nvSpPr>
          <p:cNvPr id="14" name="after-panel-heading"/>
          <p:cNvSpPr txBox="1"/>
          <p:nvPr/>
        </p:nvSpPr>
        <p:spPr>
          <a:xfrm>
            <a:off x="7210425" y="2457450"/>
            <a:ext cx="42195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Structured argument-first workflow</a:t>
            </a:r>
          </a:p>
        </p:txBody>
      </p:sp>
      <p:sp>
        <p:nvSpPr>
          <p:cNvPr id="15" name="after-panel-body"/>
          <p:cNvSpPr txBox="1"/>
          <p:nvPr/>
        </p:nvSpPr>
        <p:spPr>
          <a:xfrm>
            <a:off x="7210425" y="2876550"/>
            <a:ext cx="4219575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Governing thought drives the deck structure
• Each slide carries one argument; reviews sharpen, not pile on
• One round of partner edits
• 5 days median from kickoff to final</a:t>
            </a:r>
          </a:p>
        </p:txBody>
      </p:sp>
      <p:sp>
        <p:nvSpPr>
          <p:cNvPr id="16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change isn't a tool — it's a discipline. The tool just enforces it.</a:t>
            </a:r>
          </a:p>
        </p:txBody>
      </p:sp>
      <p:sp>
        <p:nvSpPr>
          <p:cNvPr id="1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