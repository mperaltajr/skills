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C780FF"/>
                </a:solidFill>
                <a:latin typeface="Inter"/>
              </a:rPr>
              <a:t>Accelerated path to Senior requires ML proficiency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70% of recent promotions met the ML competency threshold early — Data Analytics Career Ladder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3825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6-bg"/>
          <p:cNvSpPr/>
          <p:nvPr/>
        </p:nvSpPr>
        <p:spPr>
          <a:xfrm>
            <a:off x="457200" y="2095500"/>
            <a:ext cx="4733925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6-label"/>
          <p:cNvSpPr txBox="1"/>
          <p:nvPr/>
        </p:nvSpPr>
        <p:spPr>
          <a:xfrm>
            <a:off x="590550" y="230505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L6</a:t>
            </a:r>
          </a:p>
        </p:txBody>
      </p:sp>
      <p:sp>
        <p:nvSpPr>
          <p:cNvPr id="7" name="tier-6-name"/>
          <p:cNvSpPr txBox="1"/>
          <p:nvPr/>
        </p:nvSpPr>
        <p:spPr>
          <a:xfrm>
            <a:off x="1200150" y="22288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Director, Analytics</a:t>
            </a:r>
          </a:p>
        </p:txBody>
      </p:sp>
      <p:sp>
        <p:nvSpPr>
          <p:cNvPr id="8" name="tier-6-desc"/>
          <p:cNvSpPr txBox="1"/>
          <p:nvPr/>
        </p:nvSpPr>
        <p:spPr>
          <a:xfrm>
            <a:off x="1200150" y="24193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12+ yrs</a:t>
            </a:r>
          </a:p>
        </p:txBody>
      </p:sp>
      <p:sp>
        <p:nvSpPr>
          <p:cNvPr id="9" name="tier-6-body"/>
          <p:cNvSpPr txBox="1"/>
          <p:nvPr/>
        </p:nvSpPr>
        <p:spPr>
          <a:xfrm>
            <a:off x="2743200" y="2190750"/>
            <a:ext cx="13049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Enterprise analytics strategy &amp; P&amp;L ownership · C-suite stakeholder management &amp; executive storytelling · Cross-portfolio talent development &amp; org design</a:t>
            </a:r>
          </a:p>
        </p:txBody>
      </p:sp>
      <p:sp>
        <p:nvSpPr>
          <p:cNvPr id="10" name="tier-target-chip"/>
          <p:cNvSpPr txBox="1"/>
          <p:nvPr/>
        </p:nvSpPr>
        <p:spPr>
          <a:xfrm>
            <a:off x="4333875" y="230505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1" name="tier-5-bg"/>
          <p:cNvSpPr/>
          <p:nvPr/>
        </p:nvSpPr>
        <p:spPr>
          <a:xfrm>
            <a:off x="457200" y="2752725"/>
            <a:ext cx="59721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ier-5-label"/>
          <p:cNvSpPr txBox="1"/>
          <p:nvPr/>
        </p:nvSpPr>
        <p:spPr>
          <a:xfrm>
            <a:off x="590550" y="29622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L5</a:t>
            </a:r>
          </a:p>
        </p:txBody>
      </p:sp>
      <p:sp>
        <p:nvSpPr>
          <p:cNvPr id="13" name="tier-5-name"/>
          <p:cNvSpPr txBox="1"/>
          <p:nvPr/>
        </p:nvSpPr>
        <p:spPr>
          <a:xfrm>
            <a:off x="1200150" y="28860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Analytics Manager</a:t>
            </a:r>
          </a:p>
        </p:txBody>
      </p:sp>
      <p:sp>
        <p:nvSpPr>
          <p:cNvPr id="14" name="tier-5-desc"/>
          <p:cNvSpPr txBox="1"/>
          <p:nvPr/>
        </p:nvSpPr>
        <p:spPr>
          <a:xfrm>
            <a:off x="1200150" y="307657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8-12 yrs</a:t>
            </a:r>
          </a:p>
        </p:txBody>
      </p:sp>
      <p:sp>
        <p:nvSpPr>
          <p:cNvPr id="15" name="tier-5-body"/>
          <p:cNvSpPr txBox="1"/>
          <p:nvPr/>
        </p:nvSpPr>
        <p:spPr>
          <a:xfrm>
            <a:off x="2743200" y="2847975"/>
            <a:ext cx="254317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 leadership &amp; performance management (5-10 reports) · Program-level roadmap planning &amp; budget accountability · Advanced ML deployment &amp; production monitoring</a:t>
            </a:r>
          </a:p>
        </p:txBody>
      </p:sp>
      <p:sp>
        <p:nvSpPr>
          <p:cNvPr id="16" name="tier-4-bg"/>
          <p:cNvSpPr/>
          <p:nvPr/>
        </p:nvSpPr>
        <p:spPr>
          <a:xfrm>
            <a:off x="457200" y="3409950"/>
            <a:ext cx="7210425" cy="609600"/>
          </a:xfrm>
          <a:prstGeom prst="rect">
            <a:avLst/>
          </a:prstGeom>
          <a:solidFill>
            <a:srgbClr val="7B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ier-4-label"/>
          <p:cNvSpPr txBox="1"/>
          <p:nvPr/>
        </p:nvSpPr>
        <p:spPr>
          <a:xfrm>
            <a:off x="590550" y="36195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L4</a:t>
            </a:r>
          </a:p>
        </p:txBody>
      </p:sp>
      <p:sp>
        <p:nvSpPr>
          <p:cNvPr id="18" name="tier-4-name"/>
          <p:cNvSpPr txBox="1"/>
          <p:nvPr/>
        </p:nvSpPr>
        <p:spPr>
          <a:xfrm>
            <a:off x="1200150" y="354330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Lead Analyst</a:t>
            </a:r>
          </a:p>
        </p:txBody>
      </p:sp>
      <p:sp>
        <p:nvSpPr>
          <p:cNvPr id="19" name="tier-4-desc"/>
          <p:cNvSpPr txBox="1"/>
          <p:nvPr/>
        </p:nvSpPr>
        <p:spPr>
          <a:xfrm>
            <a:off x="1200150" y="373380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5-8 yrs</a:t>
            </a:r>
          </a:p>
        </p:txBody>
      </p:sp>
      <p:sp>
        <p:nvSpPr>
          <p:cNvPr id="20" name="tier-4-body"/>
          <p:cNvSpPr txBox="1"/>
          <p:nvPr/>
        </p:nvSpPr>
        <p:spPr>
          <a:xfrm>
            <a:off x="2743200" y="350520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Cross-functional project leadership &amp; deliverable ownership · ML model development, validation &amp; business interpretation · Mentoring junior analysts &amp; setting team data standards</a:t>
            </a:r>
          </a:p>
        </p:txBody>
      </p:sp>
      <p:sp>
        <p:nvSpPr>
          <p:cNvPr id="21" name="tier-3-bg"/>
          <p:cNvSpPr/>
          <p:nvPr/>
        </p:nvSpPr>
        <p:spPr>
          <a:xfrm>
            <a:off x="457200" y="4067175"/>
            <a:ext cx="8458200" cy="609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ier-current-arrow"/>
          <p:cNvSpPr/>
          <p:nvPr/>
        </p:nvSpPr>
        <p:spPr>
          <a:xfrm>
            <a:off x="457200" y="4067175"/>
            <a:ext cx="3810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ier-3-label"/>
          <p:cNvSpPr txBox="1"/>
          <p:nvPr/>
        </p:nvSpPr>
        <p:spPr>
          <a:xfrm>
            <a:off x="590550" y="427672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L3</a:t>
            </a:r>
          </a:p>
        </p:txBody>
      </p:sp>
      <p:sp>
        <p:nvSpPr>
          <p:cNvPr id="24" name="tier-3-name"/>
          <p:cNvSpPr txBox="1"/>
          <p:nvPr/>
        </p:nvSpPr>
        <p:spPr>
          <a:xfrm>
            <a:off x="1200150" y="42005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Senior Analyst</a:t>
            </a:r>
          </a:p>
        </p:txBody>
      </p:sp>
      <p:sp>
        <p:nvSpPr>
          <p:cNvPr id="25" name="tier-3-desc"/>
          <p:cNvSpPr txBox="1"/>
          <p:nvPr/>
        </p:nvSpPr>
        <p:spPr>
          <a:xfrm>
            <a:off x="1200150" y="439102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3-5 yrs</a:t>
            </a:r>
          </a:p>
        </p:txBody>
      </p:sp>
      <p:sp>
        <p:nvSpPr>
          <p:cNvPr id="26" name="tier-3-body"/>
          <p:cNvSpPr txBox="1"/>
          <p:nvPr/>
        </p:nvSpPr>
        <p:spPr>
          <a:xfrm>
            <a:off x="2743200" y="416242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End-to-end pipeline ownership in Python / SQL / Spark · ML proficiency (regression, classification, clustering) · Stakeholder-facing insight communication &amp; self-service BI</a:t>
            </a:r>
          </a:p>
        </p:txBody>
      </p:sp>
      <p:sp>
        <p:nvSpPr>
          <p:cNvPr id="27" name="tier-current-chip-bg"/>
          <p:cNvSpPr/>
          <p:nvPr/>
        </p:nvSpPr>
        <p:spPr>
          <a:xfrm>
            <a:off x="7867650" y="4257675"/>
            <a:ext cx="9144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ier-current-chip"/>
          <p:cNvSpPr txBox="1"/>
          <p:nvPr/>
        </p:nvSpPr>
        <p:spPr>
          <a:xfrm>
            <a:off x="7867650" y="4257675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LEVEL</a:t>
            </a:r>
          </a:p>
        </p:txBody>
      </p:sp>
      <p:sp>
        <p:nvSpPr>
          <p:cNvPr id="29" name="tier-2-bg"/>
          <p:cNvSpPr/>
          <p:nvPr/>
        </p:nvSpPr>
        <p:spPr>
          <a:xfrm>
            <a:off x="457200" y="4724400"/>
            <a:ext cx="9810750" cy="609600"/>
          </a:xfrm>
          <a:prstGeom prst="rect">
            <a:avLst/>
          </a:prstGeom>
          <a:solidFill>
            <a:srgbClr val="462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ier-2-label"/>
          <p:cNvSpPr txBox="1"/>
          <p:nvPr/>
        </p:nvSpPr>
        <p:spPr>
          <a:xfrm>
            <a:off x="590550" y="493395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L2</a:t>
            </a:r>
          </a:p>
        </p:txBody>
      </p:sp>
      <p:sp>
        <p:nvSpPr>
          <p:cNvPr id="31" name="tier-2-name"/>
          <p:cNvSpPr txBox="1"/>
          <p:nvPr/>
        </p:nvSpPr>
        <p:spPr>
          <a:xfrm>
            <a:off x="1200150" y="48577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Analyst II</a:t>
            </a:r>
          </a:p>
        </p:txBody>
      </p:sp>
      <p:sp>
        <p:nvSpPr>
          <p:cNvPr id="32" name="tier-2-desc"/>
          <p:cNvSpPr txBox="1"/>
          <p:nvPr/>
        </p:nvSpPr>
        <p:spPr>
          <a:xfrm>
            <a:off x="1200150" y="50482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1-3 yrs</a:t>
            </a:r>
          </a:p>
        </p:txBody>
      </p:sp>
      <p:sp>
        <p:nvSpPr>
          <p:cNvPr id="33" name="tier-2-body"/>
          <p:cNvSpPr txBox="1"/>
          <p:nvPr/>
        </p:nvSpPr>
        <p:spPr>
          <a:xfrm>
            <a:off x="2743200" y="4819650"/>
            <a:ext cx="638175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Advanced SQL querying, ETL development &amp; data modelling · Dashboard &amp; report development (Tableau / Power BI) · Introduction to statistical analysis &amp; A/B testing</a:t>
            </a:r>
          </a:p>
        </p:txBody>
      </p:sp>
      <p:sp>
        <p:nvSpPr>
          <p:cNvPr id="34" name="tier-1-bg"/>
          <p:cNvSpPr/>
          <p:nvPr/>
        </p:nvSpPr>
        <p:spPr>
          <a:xfrm>
            <a:off x="457200" y="5381625"/>
            <a:ext cx="11277600" cy="609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er-1-label"/>
          <p:cNvSpPr txBox="1"/>
          <p:nvPr/>
        </p:nvSpPr>
        <p:spPr>
          <a:xfrm>
            <a:off x="590550" y="55911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L1</a:t>
            </a:r>
          </a:p>
        </p:txBody>
      </p:sp>
      <p:sp>
        <p:nvSpPr>
          <p:cNvPr id="36" name="tier-1-name"/>
          <p:cNvSpPr txBox="1"/>
          <p:nvPr/>
        </p:nvSpPr>
        <p:spPr>
          <a:xfrm>
            <a:off x="1200150" y="55149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Analyst I</a:t>
            </a:r>
          </a:p>
        </p:txBody>
      </p:sp>
      <p:sp>
        <p:nvSpPr>
          <p:cNvPr id="37" name="tier-1-desc"/>
          <p:cNvSpPr txBox="1"/>
          <p:nvPr/>
        </p:nvSpPr>
        <p:spPr>
          <a:xfrm>
            <a:off x="1200150" y="570547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0-1 yr</a:t>
            </a:r>
          </a:p>
        </p:txBody>
      </p:sp>
      <p:sp>
        <p:nvSpPr>
          <p:cNvPr id="38" name="tier-1-body"/>
          <p:cNvSpPr txBox="1"/>
          <p:nvPr/>
        </p:nvSpPr>
        <p:spPr>
          <a:xfrm>
            <a:off x="2743200" y="5476875"/>
            <a:ext cx="78486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Foundational SQL &amp; data extraction from structured sources · Excel / Google Sheets proficiency &amp; basic data storytelling · Data quality checks, documentation &amp; process adherence</a:t>
            </a:r>
          </a:p>
        </p:txBody>
      </p:sp>
      <p:sp>
        <p:nvSpPr>
          <p:cNvPr id="39" name="progression-arrow"/>
          <p:cNvSpPr/>
          <p:nvPr/>
        </p:nvSpPr>
        <p:spPr>
          <a:xfrm>
            <a:off x="11449050" y="2286000"/>
            <a:ext cx="19050" cy="3238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ogression-arrow-label"/>
          <p:cNvSpPr txBox="1"/>
          <p:nvPr/>
        </p:nvSpPr>
        <p:spPr>
          <a:xfrm>
            <a:off x="11163300" y="39243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PROGRESSION</a:t>
            </a:r>
          </a:p>
        </p:txBody>
      </p:sp>
      <p:sp>
        <p:nvSpPr>
          <p:cNvPr id="41" name="convergence"/>
          <p:cNvSpPr txBox="1"/>
          <p:nvPr/>
        </p:nvSpPr>
        <p:spPr>
          <a:xfrm>
            <a:off x="609600" y="62865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70% of promotions to Senior Analyst met the ML proficiency threshold before the standard tenure — accelerated path is ML-gated.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