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Balanced Scorecard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Strategic Performance Overview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7429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Objectives, measures, and initiative status across all four perspectives · FY 2026 Q2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8839200" y="2209800"/>
            <a:ext cx="2895600" cy="304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dot"/>
          <p:cNvSpPr/>
          <p:nvPr/>
        </p:nvSpPr>
        <p:spPr>
          <a:xfrm>
            <a:off x="8953500" y="2314575"/>
            <a:ext cx="85725" cy="8572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1-label"/>
          <p:cNvSpPr txBox="1"/>
          <p:nvPr/>
        </p:nvSpPr>
        <p:spPr>
          <a:xfrm>
            <a:off x="9105900" y="2209800"/>
            <a:ext cx="723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Track</a:t>
            </a:r>
          </a:p>
        </p:txBody>
      </p:sp>
      <p:sp>
        <p:nvSpPr>
          <p:cNvPr id="8" name="legend-2-dot"/>
          <p:cNvSpPr/>
          <p:nvPr/>
        </p:nvSpPr>
        <p:spPr>
          <a:xfrm>
            <a:off x="9867900" y="2314575"/>
            <a:ext cx="85725" cy="857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2-label"/>
          <p:cNvSpPr txBox="1"/>
          <p:nvPr/>
        </p:nvSpPr>
        <p:spPr>
          <a:xfrm>
            <a:off x="10020300" y="2209800"/>
            <a:ext cx="723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At Risk</a:t>
            </a:r>
          </a:p>
        </p:txBody>
      </p:sp>
      <p:sp>
        <p:nvSpPr>
          <p:cNvPr id="10" name="legend-3-dot"/>
          <p:cNvSpPr/>
          <p:nvPr/>
        </p:nvSpPr>
        <p:spPr>
          <a:xfrm>
            <a:off x="10782300" y="2314575"/>
            <a:ext cx="85725" cy="857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egend-3-label"/>
          <p:cNvSpPr txBox="1"/>
          <p:nvPr/>
        </p:nvSpPr>
        <p:spPr>
          <a:xfrm>
            <a:off x="10934700" y="2209800"/>
            <a:ext cx="7239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Off Track</a:t>
            </a:r>
          </a:p>
        </p:txBody>
      </p:sp>
      <p:sp>
        <p:nvSpPr>
          <p:cNvPr id="12" name="persp-1-header"/>
          <p:cNvSpPr/>
          <p:nvPr/>
        </p:nvSpPr>
        <p:spPr>
          <a:xfrm>
            <a:off x="457200" y="2667000"/>
            <a:ext cx="2714625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ersp-1-header-text"/>
          <p:cNvSpPr txBox="1"/>
          <p:nvPr/>
        </p:nvSpPr>
        <p:spPr>
          <a:xfrm>
            <a:off x="571500" y="2667000"/>
            <a:ext cx="24860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FINANCIAL</a:t>
            </a:r>
          </a:p>
        </p:txBody>
      </p:sp>
      <p:sp>
        <p:nvSpPr>
          <p:cNvPr id="14" name="persp-1-measure-1-bg"/>
          <p:cNvSpPr/>
          <p:nvPr/>
        </p:nvSpPr>
        <p:spPr>
          <a:xfrm>
            <a:off x="457200" y="3276600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ersp-1-measure-1-obj"/>
          <p:cNvSpPr txBox="1"/>
          <p:nvPr/>
        </p:nvSpPr>
        <p:spPr>
          <a:xfrm>
            <a:off x="571500" y="3371850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Grow revenue by expanding key accounts</a:t>
            </a:r>
          </a:p>
        </p:txBody>
      </p:sp>
      <p:sp>
        <p:nvSpPr>
          <p:cNvPr id="16" name="persp-1-measure-1-measure"/>
          <p:cNvSpPr txBox="1"/>
          <p:nvPr/>
        </p:nvSpPr>
        <p:spPr>
          <a:xfrm>
            <a:off x="571500" y="375285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YoY revenue growth</a:t>
            </a:r>
          </a:p>
        </p:txBody>
      </p:sp>
      <p:sp>
        <p:nvSpPr>
          <p:cNvPr id="17" name="persp-1-measure-1-target"/>
          <p:cNvSpPr txBox="1"/>
          <p:nvPr/>
        </p:nvSpPr>
        <p:spPr>
          <a:xfrm>
            <a:off x="571500" y="392430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+12%</a:t>
            </a:r>
          </a:p>
        </p:txBody>
      </p:sp>
      <p:sp>
        <p:nvSpPr>
          <p:cNvPr id="18" name="persp-1-measure-1-init"/>
          <p:cNvSpPr txBox="1"/>
          <p:nvPr/>
        </p:nvSpPr>
        <p:spPr>
          <a:xfrm>
            <a:off x="571500" y="4133850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Key Account Acceleration Program</a:t>
            </a:r>
          </a:p>
        </p:txBody>
      </p:sp>
      <p:sp>
        <p:nvSpPr>
          <p:cNvPr id="19" name="persp-1-measure-1-pill"/>
          <p:cNvSpPr/>
          <p:nvPr/>
        </p:nvSpPr>
        <p:spPr>
          <a:xfrm>
            <a:off x="571500" y="4524375"/>
            <a:ext cx="8001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ersp-1-measure-1-pill-dot"/>
          <p:cNvSpPr/>
          <p:nvPr/>
        </p:nvSpPr>
        <p:spPr>
          <a:xfrm>
            <a:off x="647700" y="45720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ersp-1-measure-1-pill-text"/>
          <p:cNvSpPr txBox="1"/>
          <p:nvPr/>
        </p:nvSpPr>
        <p:spPr>
          <a:xfrm>
            <a:off x="762000" y="45243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TRACK</a:t>
            </a:r>
          </a:p>
        </p:txBody>
      </p:sp>
      <p:sp>
        <p:nvSpPr>
          <p:cNvPr id="22" name="persp-1-measure-2-bg"/>
          <p:cNvSpPr/>
          <p:nvPr/>
        </p:nvSpPr>
        <p:spPr>
          <a:xfrm>
            <a:off x="457200" y="4867275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ersp-1-measure-2-obj"/>
          <p:cNvSpPr txBox="1"/>
          <p:nvPr/>
        </p:nvSpPr>
        <p:spPr>
          <a:xfrm>
            <a:off x="571500" y="4962525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Improve operating margin</a:t>
            </a:r>
          </a:p>
        </p:txBody>
      </p:sp>
      <p:sp>
        <p:nvSpPr>
          <p:cNvPr id="24" name="persp-1-measure-2-measure"/>
          <p:cNvSpPr txBox="1"/>
          <p:nvPr/>
        </p:nvSpPr>
        <p:spPr>
          <a:xfrm>
            <a:off x="571500" y="534352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Operating margin</a:t>
            </a:r>
          </a:p>
        </p:txBody>
      </p:sp>
      <p:sp>
        <p:nvSpPr>
          <p:cNvPr id="25" name="persp-1-measure-2-target"/>
          <p:cNvSpPr txBox="1"/>
          <p:nvPr/>
        </p:nvSpPr>
        <p:spPr>
          <a:xfrm>
            <a:off x="571500" y="551497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18%</a:t>
            </a:r>
          </a:p>
        </p:txBody>
      </p:sp>
      <p:sp>
        <p:nvSpPr>
          <p:cNvPr id="26" name="persp-1-measure-2-init"/>
          <p:cNvSpPr txBox="1"/>
          <p:nvPr/>
        </p:nvSpPr>
        <p:spPr>
          <a:xfrm>
            <a:off x="571500" y="5724525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Cost Efficiency &amp; Automation Drive</a:t>
            </a:r>
          </a:p>
        </p:txBody>
      </p:sp>
      <p:sp>
        <p:nvSpPr>
          <p:cNvPr id="27" name="persp-1-measure-2-pill"/>
          <p:cNvSpPr/>
          <p:nvPr/>
        </p:nvSpPr>
        <p:spPr>
          <a:xfrm>
            <a:off x="571500" y="6115050"/>
            <a:ext cx="74295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ersp-1-measure-2-pill-dot"/>
          <p:cNvSpPr/>
          <p:nvPr/>
        </p:nvSpPr>
        <p:spPr>
          <a:xfrm>
            <a:off x="647700" y="6162675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ersp-1-measure-2-pill-text"/>
          <p:cNvSpPr txBox="1"/>
          <p:nvPr/>
        </p:nvSpPr>
        <p:spPr>
          <a:xfrm>
            <a:off x="762000" y="6115050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AT RISK</a:t>
            </a:r>
          </a:p>
        </p:txBody>
      </p:sp>
      <p:sp>
        <p:nvSpPr>
          <p:cNvPr id="30" name="persp-2-header"/>
          <p:cNvSpPr/>
          <p:nvPr/>
        </p:nvSpPr>
        <p:spPr>
          <a:xfrm>
            <a:off x="3305175" y="2667000"/>
            <a:ext cx="2714625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ersp-2-header-text"/>
          <p:cNvSpPr txBox="1"/>
          <p:nvPr/>
        </p:nvSpPr>
        <p:spPr>
          <a:xfrm>
            <a:off x="3419475" y="2667000"/>
            <a:ext cx="24860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CUSTOMER</a:t>
            </a:r>
          </a:p>
        </p:txBody>
      </p:sp>
      <p:sp>
        <p:nvSpPr>
          <p:cNvPr id="32" name="persp-2-measure-1-bg"/>
          <p:cNvSpPr/>
          <p:nvPr/>
        </p:nvSpPr>
        <p:spPr>
          <a:xfrm>
            <a:off x="3305175" y="3276600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ersp-2-measure-1-obj"/>
          <p:cNvSpPr txBox="1"/>
          <p:nvPr/>
        </p:nvSpPr>
        <p:spPr>
          <a:xfrm>
            <a:off x="3419475" y="3371850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Increase client satisfaction</a:t>
            </a:r>
          </a:p>
        </p:txBody>
      </p:sp>
      <p:sp>
        <p:nvSpPr>
          <p:cNvPr id="34" name="persp-2-measure-1-measure"/>
          <p:cNvSpPr txBox="1"/>
          <p:nvPr/>
        </p:nvSpPr>
        <p:spPr>
          <a:xfrm>
            <a:off x="3419475" y="375285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Net Promoter Score (NPS)</a:t>
            </a:r>
          </a:p>
        </p:txBody>
      </p:sp>
      <p:sp>
        <p:nvSpPr>
          <p:cNvPr id="35" name="persp-2-measure-1-target"/>
          <p:cNvSpPr txBox="1"/>
          <p:nvPr/>
        </p:nvSpPr>
        <p:spPr>
          <a:xfrm>
            <a:off x="3419475" y="392430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≥ 55</a:t>
            </a:r>
          </a:p>
        </p:txBody>
      </p:sp>
      <p:sp>
        <p:nvSpPr>
          <p:cNvPr id="36" name="persp-2-measure-1-init"/>
          <p:cNvSpPr txBox="1"/>
          <p:nvPr/>
        </p:nvSpPr>
        <p:spPr>
          <a:xfrm>
            <a:off x="3419475" y="4133850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Voice of Client Feedback Loop</a:t>
            </a:r>
          </a:p>
        </p:txBody>
      </p:sp>
      <p:sp>
        <p:nvSpPr>
          <p:cNvPr id="37" name="persp-2-measure-1-pill"/>
          <p:cNvSpPr/>
          <p:nvPr/>
        </p:nvSpPr>
        <p:spPr>
          <a:xfrm>
            <a:off x="3419475" y="4524375"/>
            <a:ext cx="8001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persp-2-measure-1-pill-dot"/>
          <p:cNvSpPr/>
          <p:nvPr/>
        </p:nvSpPr>
        <p:spPr>
          <a:xfrm>
            <a:off x="3495675" y="45720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ersp-2-measure-1-pill-text"/>
          <p:cNvSpPr txBox="1"/>
          <p:nvPr/>
        </p:nvSpPr>
        <p:spPr>
          <a:xfrm>
            <a:off x="3609975" y="45243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TRACK</a:t>
            </a:r>
          </a:p>
        </p:txBody>
      </p:sp>
      <p:sp>
        <p:nvSpPr>
          <p:cNvPr id="40" name="persp-2-measure-2-bg"/>
          <p:cNvSpPr/>
          <p:nvPr/>
        </p:nvSpPr>
        <p:spPr>
          <a:xfrm>
            <a:off x="3305175" y="4867275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ersp-2-measure-2-obj"/>
          <p:cNvSpPr txBox="1"/>
          <p:nvPr/>
        </p:nvSpPr>
        <p:spPr>
          <a:xfrm>
            <a:off x="3419475" y="4962525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Reduce client churn</a:t>
            </a:r>
          </a:p>
        </p:txBody>
      </p:sp>
      <p:sp>
        <p:nvSpPr>
          <p:cNvPr id="42" name="persp-2-measure-2-measure"/>
          <p:cNvSpPr txBox="1"/>
          <p:nvPr/>
        </p:nvSpPr>
        <p:spPr>
          <a:xfrm>
            <a:off x="3419475" y="534352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Annual retention rate</a:t>
            </a:r>
          </a:p>
        </p:txBody>
      </p:sp>
      <p:sp>
        <p:nvSpPr>
          <p:cNvPr id="43" name="persp-2-measure-2-target"/>
          <p:cNvSpPr txBox="1"/>
          <p:nvPr/>
        </p:nvSpPr>
        <p:spPr>
          <a:xfrm>
            <a:off x="3419475" y="551497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92%</a:t>
            </a:r>
          </a:p>
        </p:txBody>
      </p:sp>
      <p:sp>
        <p:nvSpPr>
          <p:cNvPr id="44" name="persp-2-measure-2-init"/>
          <p:cNvSpPr txBox="1"/>
          <p:nvPr/>
        </p:nvSpPr>
        <p:spPr>
          <a:xfrm>
            <a:off x="3419475" y="5724525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Proactive Renewal Engagement</a:t>
            </a:r>
          </a:p>
        </p:txBody>
      </p:sp>
      <p:sp>
        <p:nvSpPr>
          <p:cNvPr id="45" name="persp-2-measure-2-pill"/>
          <p:cNvSpPr/>
          <p:nvPr/>
        </p:nvSpPr>
        <p:spPr>
          <a:xfrm>
            <a:off x="3419475" y="6115050"/>
            <a:ext cx="8001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ersp-2-measure-2-pill-dot"/>
          <p:cNvSpPr/>
          <p:nvPr/>
        </p:nvSpPr>
        <p:spPr>
          <a:xfrm>
            <a:off x="3495675" y="6162675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persp-2-measure-2-pill-text"/>
          <p:cNvSpPr txBox="1"/>
          <p:nvPr/>
        </p:nvSpPr>
        <p:spPr>
          <a:xfrm>
            <a:off x="3609975" y="6115050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TRACK</a:t>
            </a:r>
          </a:p>
        </p:txBody>
      </p:sp>
      <p:sp>
        <p:nvSpPr>
          <p:cNvPr id="48" name="persp-3-header"/>
          <p:cNvSpPr/>
          <p:nvPr/>
        </p:nvSpPr>
        <p:spPr>
          <a:xfrm>
            <a:off x="6153150" y="2667000"/>
            <a:ext cx="2714625" cy="5334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persp-3-header-text"/>
          <p:cNvSpPr txBox="1"/>
          <p:nvPr/>
        </p:nvSpPr>
        <p:spPr>
          <a:xfrm>
            <a:off x="6267450" y="2667000"/>
            <a:ext cx="24860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INTERNAL PROCESS</a:t>
            </a:r>
          </a:p>
        </p:txBody>
      </p:sp>
      <p:sp>
        <p:nvSpPr>
          <p:cNvPr id="50" name="persp-3-measure-1-bg"/>
          <p:cNvSpPr/>
          <p:nvPr/>
        </p:nvSpPr>
        <p:spPr>
          <a:xfrm>
            <a:off x="6153150" y="3276600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persp-3-measure-1-obj"/>
          <p:cNvSpPr txBox="1"/>
          <p:nvPr/>
        </p:nvSpPr>
        <p:spPr>
          <a:xfrm>
            <a:off x="6267450" y="3371850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Accelerate delivery cycle time</a:t>
            </a:r>
          </a:p>
        </p:txBody>
      </p:sp>
      <p:sp>
        <p:nvSpPr>
          <p:cNvPr id="52" name="persp-3-measure-1-measure"/>
          <p:cNvSpPr txBox="1"/>
          <p:nvPr/>
        </p:nvSpPr>
        <p:spPr>
          <a:xfrm>
            <a:off x="6267450" y="375285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Avg. delivery (weeks)</a:t>
            </a:r>
          </a:p>
        </p:txBody>
      </p:sp>
      <p:sp>
        <p:nvSpPr>
          <p:cNvPr id="53" name="persp-3-measure-1-target"/>
          <p:cNvSpPr txBox="1"/>
          <p:nvPr/>
        </p:nvSpPr>
        <p:spPr>
          <a:xfrm>
            <a:off x="6267450" y="392430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≤ 14 wks</a:t>
            </a:r>
          </a:p>
        </p:txBody>
      </p:sp>
      <p:sp>
        <p:nvSpPr>
          <p:cNvPr id="54" name="persp-3-measure-1-init"/>
          <p:cNvSpPr txBox="1"/>
          <p:nvPr/>
        </p:nvSpPr>
        <p:spPr>
          <a:xfrm>
            <a:off x="6267450" y="4133850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Agile Delivery Framework Rollout</a:t>
            </a:r>
          </a:p>
        </p:txBody>
      </p:sp>
      <p:sp>
        <p:nvSpPr>
          <p:cNvPr id="55" name="persp-3-measure-1-pill"/>
          <p:cNvSpPr/>
          <p:nvPr/>
        </p:nvSpPr>
        <p:spPr>
          <a:xfrm>
            <a:off x="6267450" y="4524375"/>
            <a:ext cx="74295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6" name="persp-3-measure-1-pill-dot"/>
          <p:cNvSpPr/>
          <p:nvPr/>
        </p:nvSpPr>
        <p:spPr>
          <a:xfrm>
            <a:off x="6343650" y="4572000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persp-3-measure-1-pill-text"/>
          <p:cNvSpPr txBox="1"/>
          <p:nvPr/>
        </p:nvSpPr>
        <p:spPr>
          <a:xfrm>
            <a:off x="6457950" y="4524375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AT RISK</a:t>
            </a:r>
          </a:p>
        </p:txBody>
      </p:sp>
      <p:sp>
        <p:nvSpPr>
          <p:cNvPr id="58" name="persp-3-measure-2-bg"/>
          <p:cNvSpPr/>
          <p:nvPr/>
        </p:nvSpPr>
        <p:spPr>
          <a:xfrm>
            <a:off x="6153150" y="4867275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persp-3-measure-2-obj"/>
          <p:cNvSpPr txBox="1"/>
          <p:nvPr/>
        </p:nvSpPr>
        <p:spPr>
          <a:xfrm>
            <a:off x="6267450" y="4962525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Reduce delivery defect rate</a:t>
            </a:r>
          </a:p>
        </p:txBody>
      </p:sp>
      <p:sp>
        <p:nvSpPr>
          <p:cNvPr id="60" name="persp-3-measure-2-measure"/>
          <p:cNvSpPr txBox="1"/>
          <p:nvPr/>
        </p:nvSpPr>
        <p:spPr>
          <a:xfrm>
            <a:off x="6267450" y="534352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Defects per 1,000 deliverables</a:t>
            </a:r>
          </a:p>
        </p:txBody>
      </p:sp>
      <p:sp>
        <p:nvSpPr>
          <p:cNvPr id="61" name="persp-3-measure-2-target"/>
          <p:cNvSpPr txBox="1"/>
          <p:nvPr/>
        </p:nvSpPr>
        <p:spPr>
          <a:xfrm>
            <a:off x="6267450" y="551497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&lt; 5</a:t>
            </a:r>
          </a:p>
        </p:txBody>
      </p:sp>
      <p:sp>
        <p:nvSpPr>
          <p:cNvPr id="62" name="persp-3-measure-2-init"/>
          <p:cNvSpPr txBox="1"/>
          <p:nvPr/>
        </p:nvSpPr>
        <p:spPr>
          <a:xfrm>
            <a:off x="6267450" y="5724525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Quality Gate Standardisation</a:t>
            </a:r>
          </a:p>
        </p:txBody>
      </p:sp>
      <p:sp>
        <p:nvSpPr>
          <p:cNvPr id="63" name="persp-3-measure-2-pill"/>
          <p:cNvSpPr/>
          <p:nvPr/>
        </p:nvSpPr>
        <p:spPr>
          <a:xfrm>
            <a:off x="6267450" y="6115050"/>
            <a:ext cx="85725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persp-3-measure-2-pill-dot"/>
          <p:cNvSpPr/>
          <p:nvPr/>
        </p:nvSpPr>
        <p:spPr>
          <a:xfrm>
            <a:off x="6343650" y="6162675"/>
            <a:ext cx="7620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persp-3-measure-2-pill-text"/>
          <p:cNvSpPr txBox="1"/>
          <p:nvPr/>
        </p:nvSpPr>
        <p:spPr>
          <a:xfrm>
            <a:off x="6457950" y="6115050"/>
            <a:ext cx="6286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OFF TRACK</a:t>
            </a:r>
          </a:p>
        </p:txBody>
      </p:sp>
      <p:sp>
        <p:nvSpPr>
          <p:cNvPr id="66" name="persp-4-header"/>
          <p:cNvSpPr/>
          <p:nvPr/>
        </p:nvSpPr>
        <p:spPr>
          <a:xfrm>
            <a:off x="9001125" y="2667000"/>
            <a:ext cx="2714625" cy="5334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7" name="persp-4-header-text"/>
          <p:cNvSpPr txBox="1"/>
          <p:nvPr/>
        </p:nvSpPr>
        <p:spPr>
          <a:xfrm>
            <a:off x="9115425" y="2667000"/>
            <a:ext cx="2486025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LEARNING &amp; GROWTH</a:t>
            </a:r>
          </a:p>
        </p:txBody>
      </p:sp>
      <p:sp>
        <p:nvSpPr>
          <p:cNvPr id="68" name="persp-4-measure-1-bg"/>
          <p:cNvSpPr/>
          <p:nvPr/>
        </p:nvSpPr>
        <p:spPr>
          <a:xfrm>
            <a:off x="9001125" y="3276600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persp-4-measure-1-obj"/>
          <p:cNvSpPr txBox="1"/>
          <p:nvPr/>
        </p:nvSpPr>
        <p:spPr>
          <a:xfrm>
            <a:off x="9115425" y="3371850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Build AI &amp; data capability at scale</a:t>
            </a:r>
          </a:p>
        </p:txBody>
      </p:sp>
      <p:sp>
        <p:nvSpPr>
          <p:cNvPr id="70" name="persp-4-measure-1-measure"/>
          <p:cNvSpPr txBox="1"/>
          <p:nvPr/>
        </p:nvSpPr>
        <p:spPr>
          <a:xfrm>
            <a:off x="9115425" y="375285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Certified practitioners</a:t>
            </a:r>
          </a:p>
        </p:txBody>
      </p:sp>
      <p:sp>
        <p:nvSpPr>
          <p:cNvPr id="71" name="persp-4-measure-1-target"/>
          <p:cNvSpPr txBox="1"/>
          <p:nvPr/>
        </p:nvSpPr>
        <p:spPr>
          <a:xfrm>
            <a:off x="9115425" y="3924300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500</a:t>
            </a:r>
          </a:p>
        </p:txBody>
      </p:sp>
      <p:sp>
        <p:nvSpPr>
          <p:cNvPr id="72" name="persp-4-measure-1-init"/>
          <p:cNvSpPr txBox="1"/>
          <p:nvPr/>
        </p:nvSpPr>
        <p:spPr>
          <a:xfrm>
            <a:off x="9115425" y="4133850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AI Talent Academy Launch</a:t>
            </a:r>
          </a:p>
        </p:txBody>
      </p:sp>
      <p:sp>
        <p:nvSpPr>
          <p:cNvPr id="73" name="persp-4-measure-1-pill"/>
          <p:cNvSpPr/>
          <p:nvPr/>
        </p:nvSpPr>
        <p:spPr>
          <a:xfrm>
            <a:off x="9115425" y="4524375"/>
            <a:ext cx="80010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4" name="persp-4-measure-1-pill-dot"/>
          <p:cNvSpPr/>
          <p:nvPr/>
        </p:nvSpPr>
        <p:spPr>
          <a:xfrm>
            <a:off x="9191625" y="4572000"/>
            <a:ext cx="76200" cy="76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persp-4-measure-1-pill-text"/>
          <p:cNvSpPr txBox="1"/>
          <p:nvPr/>
        </p:nvSpPr>
        <p:spPr>
          <a:xfrm>
            <a:off x="9305925" y="4524375"/>
            <a:ext cx="571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TRACK</a:t>
            </a:r>
          </a:p>
        </p:txBody>
      </p:sp>
      <p:sp>
        <p:nvSpPr>
          <p:cNvPr id="76" name="persp-4-measure-2-bg"/>
          <p:cNvSpPr/>
          <p:nvPr/>
        </p:nvSpPr>
        <p:spPr>
          <a:xfrm>
            <a:off x="9001125" y="4867275"/>
            <a:ext cx="2714625" cy="1514475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persp-4-measure-2-obj"/>
          <p:cNvSpPr txBox="1"/>
          <p:nvPr/>
        </p:nvSpPr>
        <p:spPr>
          <a:xfrm>
            <a:off x="9115425" y="4962525"/>
            <a:ext cx="2486025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Improve employee engagement</a:t>
            </a:r>
          </a:p>
        </p:txBody>
      </p:sp>
      <p:sp>
        <p:nvSpPr>
          <p:cNvPr id="78" name="persp-4-measure-2-measure"/>
          <p:cNvSpPr txBox="1"/>
          <p:nvPr/>
        </p:nvSpPr>
        <p:spPr>
          <a:xfrm>
            <a:off x="9115425" y="534352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Measure:</a:t>
            </a:r>
            <a:r>
              <a:rPr sz="1050" b="0" i="0">
                <a:solidFill>
                  <a:srgbClr val="64748B"/>
                </a:solidFill>
                <a:latin typeface="Inter"/>
              </a:rPr>
              <a:t> Engagement index score</a:t>
            </a:r>
          </a:p>
        </p:txBody>
      </p:sp>
      <p:sp>
        <p:nvSpPr>
          <p:cNvPr id="79" name="persp-4-measure-2-target"/>
          <p:cNvSpPr txBox="1"/>
          <p:nvPr/>
        </p:nvSpPr>
        <p:spPr>
          <a:xfrm>
            <a:off x="9115425" y="5514975"/>
            <a:ext cx="2486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Target:</a:t>
            </a:r>
            <a:r>
              <a:rPr sz="1050" b="1" i="0">
                <a:solidFill>
                  <a:srgbClr val="5C2D87"/>
                </a:solidFill>
                <a:latin typeface="Inter"/>
              </a:rPr>
              <a:t> ≥ 78%</a:t>
            </a:r>
          </a:p>
        </p:txBody>
      </p:sp>
      <p:sp>
        <p:nvSpPr>
          <p:cNvPr id="80" name="persp-4-measure-2-init"/>
          <p:cNvSpPr txBox="1"/>
          <p:nvPr/>
        </p:nvSpPr>
        <p:spPr>
          <a:xfrm>
            <a:off x="9115425" y="5724525"/>
            <a:ext cx="248602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Flexible Career Pathway Program</a:t>
            </a:r>
          </a:p>
        </p:txBody>
      </p:sp>
      <p:sp>
        <p:nvSpPr>
          <p:cNvPr id="81" name="persp-4-measure-2-pill"/>
          <p:cNvSpPr/>
          <p:nvPr/>
        </p:nvSpPr>
        <p:spPr>
          <a:xfrm>
            <a:off x="9115425" y="6115050"/>
            <a:ext cx="742950" cy="1714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2" name="persp-4-measure-2-pill-dot"/>
          <p:cNvSpPr/>
          <p:nvPr/>
        </p:nvSpPr>
        <p:spPr>
          <a:xfrm>
            <a:off x="9191625" y="6162675"/>
            <a:ext cx="7620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3" name="persp-4-measure-2-pill-text"/>
          <p:cNvSpPr txBox="1"/>
          <p:nvPr/>
        </p:nvSpPr>
        <p:spPr>
          <a:xfrm>
            <a:off x="9305925" y="6115050"/>
            <a:ext cx="5143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AT RISK</a:t>
            </a:r>
          </a:p>
        </p:txBody>
      </p:sp>
      <p:sp>
        <p:nvSpPr>
          <p:cNvPr id="8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8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8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