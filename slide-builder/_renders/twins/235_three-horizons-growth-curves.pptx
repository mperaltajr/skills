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Managing the Portfolio Across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Three Horizons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Balancing today's core, emerging growth, and future options to sustain long-term value creation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457200" y="1257300"/>
            <a:ext cx="8686800" cy="49911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hart-canvas-label"/>
          <p:cNvSpPr txBox="1"/>
          <p:nvPr/>
        </p:nvSpPr>
        <p:spPr>
          <a:xfrm>
            <a:off x="457200" y="3638550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[ SVG growth-curve chart: H1/H2/H3 horizons — rendered at twin-gen time ]</a:t>
            </a:r>
          </a:p>
        </p:txBody>
      </p:sp>
      <p:sp>
        <p:nvSpPr>
          <p:cNvPr id="7" name="horizon-1-card"/>
          <p:cNvSpPr/>
          <p:nvPr/>
        </p:nvSpPr>
        <p:spPr>
          <a:xfrm>
            <a:off x="9372600" y="1257300"/>
            <a:ext cx="2362200" cy="1600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horizon-1-bar"/>
          <p:cNvSpPr/>
          <p:nvPr/>
        </p:nvSpPr>
        <p:spPr>
          <a:xfrm>
            <a:off x="9372600" y="1257300"/>
            <a:ext cx="38100" cy="16002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horizon-1-name"/>
          <p:cNvSpPr txBox="1"/>
          <p:nvPr/>
        </p:nvSpPr>
        <p:spPr>
          <a:xfrm>
            <a:off x="9486900" y="1352550"/>
            <a:ext cx="2171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H1 — CORE BUSINESS</a:t>
            </a:r>
          </a:p>
        </p:txBody>
      </p:sp>
      <p:sp>
        <p:nvSpPr>
          <p:cNvPr id="10" name="horizon-1-desc"/>
          <p:cNvSpPr txBox="1"/>
          <p:nvPr/>
        </p:nvSpPr>
        <p:spPr>
          <a:xfrm>
            <a:off x="9486900" y="1524000"/>
            <a:ext cx="21717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Defend and extend the existing business. Maximize near-term profitability while managing decline.</a:t>
            </a:r>
          </a:p>
        </p:txBody>
      </p:sp>
      <p:sp>
        <p:nvSpPr>
          <p:cNvPr id="11" name="horizon-1-body"/>
          <p:cNvSpPr txBox="1"/>
          <p:nvPr/>
        </p:nvSpPr>
        <p:spPr>
          <a:xfrm>
            <a:off x="9486900" y="1905000"/>
            <a:ext cx="21717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Cost optimization &amp; margin improvement
· Customer retention programs
· Core product enhancements
· Operational excellence initiatives</a:t>
            </a:r>
          </a:p>
        </p:txBody>
      </p:sp>
      <p:sp>
        <p:nvSpPr>
          <p:cNvPr id="12" name="horizon-2-card"/>
          <p:cNvSpPr/>
          <p:nvPr/>
        </p:nvSpPr>
        <p:spPr>
          <a:xfrm>
            <a:off x="9372600" y="2952750"/>
            <a:ext cx="2362200" cy="1600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horizon-2-bar"/>
          <p:cNvSpPr/>
          <p:nvPr/>
        </p:nvSpPr>
        <p:spPr>
          <a:xfrm>
            <a:off x="9372600" y="2952750"/>
            <a:ext cx="38100" cy="16002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horizon-2-name"/>
          <p:cNvSpPr txBox="1"/>
          <p:nvPr/>
        </p:nvSpPr>
        <p:spPr>
          <a:xfrm>
            <a:off x="9486900" y="3048000"/>
            <a:ext cx="2171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H2 — EMERGING GROWTH</a:t>
            </a:r>
          </a:p>
        </p:txBody>
      </p:sp>
      <p:sp>
        <p:nvSpPr>
          <p:cNvPr id="15" name="horizon-2-desc"/>
          <p:cNvSpPr txBox="1"/>
          <p:nvPr/>
        </p:nvSpPr>
        <p:spPr>
          <a:xfrm>
            <a:off x="9486900" y="3219450"/>
            <a:ext cx="21717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Scale up businesses with proven models. Bridge from core to future; requires active investment.</a:t>
            </a:r>
          </a:p>
        </p:txBody>
      </p:sp>
      <p:sp>
        <p:nvSpPr>
          <p:cNvPr id="16" name="horizon-2-body"/>
          <p:cNvSpPr txBox="1"/>
          <p:nvPr/>
        </p:nvSpPr>
        <p:spPr>
          <a:xfrm>
            <a:off x="9486900" y="3600450"/>
            <a:ext cx="21717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Adjacent market expansion
· New channel development
· Platform &amp; ecosystem plays
· Strategic acquisitions / JVs</a:t>
            </a:r>
          </a:p>
        </p:txBody>
      </p:sp>
      <p:sp>
        <p:nvSpPr>
          <p:cNvPr id="17" name="horizon-3-card"/>
          <p:cNvSpPr/>
          <p:nvPr/>
        </p:nvSpPr>
        <p:spPr>
          <a:xfrm>
            <a:off x="9372600" y="4648200"/>
            <a:ext cx="2362200" cy="1600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horizon-3-bar"/>
          <p:cNvSpPr/>
          <p:nvPr/>
        </p:nvSpPr>
        <p:spPr>
          <a:xfrm>
            <a:off x="9372600" y="4648200"/>
            <a:ext cx="38100" cy="1600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horizon-3-name"/>
          <p:cNvSpPr txBox="1"/>
          <p:nvPr/>
        </p:nvSpPr>
        <p:spPr>
          <a:xfrm>
            <a:off x="9486900" y="4743450"/>
            <a:ext cx="2171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H3 — FUTURE OPTIONS</a:t>
            </a:r>
          </a:p>
        </p:txBody>
      </p:sp>
      <p:sp>
        <p:nvSpPr>
          <p:cNvPr id="20" name="horizon-3-desc"/>
          <p:cNvSpPr txBox="1"/>
          <p:nvPr/>
        </p:nvSpPr>
        <p:spPr>
          <a:xfrm>
            <a:off x="9486900" y="4914900"/>
            <a:ext cx="21717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Seed tomorrow's growth engines. High uncertainty; small bets that become tomorrow's H2s.</a:t>
            </a:r>
          </a:p>
        </p:txBody>
      </p:sp>
      <p:sp>
        <p:nvSpPr>
          <p:cNvPr id="21" name="horizon-3-body"/>
          <p:cNvSpPr txBox="1"/>
          <p:nvPr/>
        </p:nvSpPr>
        <p:spPr>
          <a:xfrm>
            <a:off x="9486900" y="5295900"/>
            <a:ext cx="21717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Emerging technology pilots
· New business model experiments
· Venture / incubator investments
· Disruptive innovation programs</a:t>
            </a:r>
          </a:p>
        </p:txBody>
      </p:sp>
      <p:sp>
        <p:nvSpPr>
          <p:cNvPr id="2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