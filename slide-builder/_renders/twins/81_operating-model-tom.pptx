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66700"/>
            <a:ext cx="11239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Slide Lab target operating model — six dimensions, one method.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38200"/>
            <a:ext cx="100965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TOM is only useful when every dimension reinforces the others. Six dimensions, each with three to four components, define how Slide Lab runs as the default deck-building method across the practice.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3825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shape"/>
          <p:cNvSpPr/>
          <p:nvPr/>
        </p:nvSpPr>
        <p:spPr>
          <a:xfrm>
            <a:off x="457200" y="1676400"/>
            <a:ext cx="3667125" cy="1885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accent"/>
          <p:cNvSpPr/>
          <p:nvPr/>
        </p:nvSpPr>
        <p:spPr>
          <a:xfrm>
            <a:off x="457200" y="16764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card-1-num"/>
          <p:cNvSpPr txBox="1"/>
          <p:nvPr/>
        </p:nvSpPr>
        <p:spPr>
          <a:xfrm>
            <a:off x="628650" y="18288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8" name="card-1-icon"/>
          <p:cNvSpPr/>
          <p:nvPr/>
        </p:nvSpPr>
        <p:spPr>
          <a:xfrm>
            <a:off x="971550" y="18478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ard-1-heading"/>
          <p:cNvSpPr txBox="1"/>
          <p:nvPr/>
        </p:nvSpPr>
        <p:spPr>
          <a:xfrm>
            <a:off x="1238250" y="18478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</a:t>
            </a:r>
          </a:p>
        </p:txBody>
      </p:sp>
      <p:sp>
        <p:nvSpPr>
          <p:cNvPr id="10" name="card-1-tagline"/>
          <p:cNvSpPr txBox="1"/>
          <p:nvPr/>
        </p:nvSpPr>
        <p:spPr>
          <a:xfrm>
            <a:off x="628650" y="21526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Vision, priorities, value bundles</a:t>
            </a:r>
          </a:p>
        </p:txBody>
      </p:sp>
      <p:sp>
        <p:nvSpPr>
          <p:cNvPr id="11" name="card-1-component-1-dot"/>
          <p:cNvSpPr/>
          <p:nvPr/>
        </p:nvSpPr>
        <p:spPr>
          <a:xfrm>
            <a:off x="628650" y="24955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1-component-1"/>
          <p:cNvSpPr txBox="1"/>
          <p:nvPr/>
        </p:nvSpPr>
        <p:spPr>
          <a:xfrm>
            <a:off x="723900" y="24193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Slide Lab as default method for client work</a:t>
            </a:r>
          </a:p>
        </p:txBody>
      </p:sp>
      <p:sp>
        <p:nvSpPr>
          <p:cNvPr id="13" name="card-1-component-2-dot"/>
          <p:cNvSpPr/>
          <p:nvPr/>
        </p:nvSpPr>
        <p:spPr>
          <a:xfrm>
            <a:off x="628650" y="27051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ard-1-component-2"/>
          <p:cNvSpPr txBox="1"/>
          <p:nvPr/>
        </p:nvSpPr>
        <p:spPr>
          <a:xfrm>
            <a:off x="723900" y="26289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Pattern library as practice IP</a:t>
            </a:r>
          </a:p>
        </p:txBody>
      </p:sp>
      <p:sp>
        <p:nvSpPr>
          <p:cNvPr id="15" name="card-1-component-3-dot"/>
          <p:cNvSpPr/>
          <p:nvPr/>
        </p:nvSpPr>
        <p:spPr>
          <a:xfrm>
            <a:off x="628650" y="29146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rd-1-component-3"/>
          <p:cNvSpPr txBox="1"/>
          <p:nvPr/>
        </p:nvSpPr>
        <p:spPr>
          <a:xfrm>
            <a:off x="723900" y="28384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Brand portability across client templates</a:t>
            </a:r>
          </a:p>
        </p:txBody>
      </p:sp>
      <p:sp>
        <p:nvSpPr>
          <p:cNvPr id="17" name="card-2-shape"/>
          <p:cNvSpPr/>
          <p:nvPr/>
        </p:nvSpPr>
        <p:spPr>
          <a:xfrm>
            <a:off x="4257675" y="1676400"/>
            <a:ext cx="3667125" cy="1885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ard-2-accent"/>
          <p:cNvSpPr/>
          <p:nvPr/>
        </p:nvSpPr>
        <p:spPr>
          <a:xfrm>
            <a:off x="4257675" y="16764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2-num"/>
          <p:cNvSpPr txBox="1"/>
          <p:nvPr/>
        </p:nvSpPr>
        <p:spPr>
          <a:xfrm>
            <a:off x="4429125" y="18288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20" name="card-2-icon"/>
          <p:cNvSpPr/>
          <p:nvPr/>
        </p:nvSpPr>
        <p:spPr>
          <a:xfrm>
            <a:off x="4772025" y="18478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ard-2-heading"/>
          <p:cNvSpPr txBox="1"/>
          <p:nvPr/>
        </p:nvSpPr>
        <p:spPr>
          <a:xfrm>
            <a:off x="5038725" y="18478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PROCESS</a:t>
            </a:r>
          </a:p>
        </p:txBody>
      </p:sp>
      <p:sp>
        <p:nvSpPr>
          <p:cNvPr id="22" name="card-2-tagline"/>
          <p:cNvSpPr txBox="1"/>
          <p:nvPr/>
        </p:nvSpPr>
        <p:spPr>
          <a:xfrm>
            <a:off x="4429125" y="21526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How work flows, gates, hand-offs</a:t>
            </a:r>
          </a:p>
        </p:txBody>
      </p:sp>
      <p:sp>
        <p:nvSpPr>
          <p:cNvPr id="23" name="card-2-component-1-dot"/>
          <p:cNvSpPr/>
          <p:nvPr/>
        </p:nvSpPr>
        <p:spPr>
          <a:xfrm>
            <a:off x="4429125" y="24955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ard-2-component-1"/>
          <p:cNvSpPr txBox="1"/>
          <p:nvPr/>
        </p:nvSpPr>
        <p:spPr>
          <a:xfrm>
            <a:off x="4524375" y="24193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Storyline session before drafting</a:t>
            </a:r>
          </a:p>
        </p:txBody>
      </p:sp>
      <p:sp>
        <p:nvSpPr>
          <p:cNvPr id="25" name="card-2-component-2-dot"/>
          <p:cNvSpPr/>
          <p:nvPr/>
        </p:nvSpPr>
        <p:spPr>
          <a:xfrm>
            <a:off x="4429125" y="27051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ard-2-component-2"/>
          <p:cNvSpPr txBox="1"/>
          <p:nvPr/>
        </p:nvSpPr>
        <p:spPr>
          <a:xfrm>
            <a:off x="4524375" y="26289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Gated by QC checklist before delivery</a:t>
            </a:r>
          </a:p>
        </p:txBody>
      </p:sp>
      <p:sp>
        <p:nvSpPr>
          <p:cNvPr id="27" name="card-2-component-3-dot"/>
          <p:cNvSpPr/>
          <p:nvPr/>
        </p:nvSpPr>
        <p:spPr>
          <a:xfrm>
            <a:off x="4429125" y="29146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ard-2-component-3"/>
          <p:cNvSpPr txBox="1"/>
          <p:nvPr/>
        </p:nvSpPr>
        <p:spPr>
          <a:xfrm>
            <a:off x="4524375" y="28384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Coach pairing on first three decks</a:t>
            </a:r>
          </a:p>
        </p:txBody>
      </p:sp>
      <p:sp>
        <p:nvSpPr>
          <p:cNvPr id="29" name="card-3-shape"/>
          <p:cNvSpPr/>
          <p:nvPr/>
        </p:nvSpPr>
        <p:spPr>
          <a:xfrm>
            <a:off x="8058150" y="1676400"/>
            <a:ext cx="3667125" cy="188595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ard-3-accent"/>
          <p:cNvSpPr/>
          <p:nvPr/>
        </p:nvSpPr>
        <p:spPr>
          <a:xfrm>
            <a:off x="8058150" y="1676400"/>
            <a:ext cx="3667125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ard-3-focus"/>
          <p:cNvSpPr txBox="1"/>
          <p:nvPr/>
        </p:nvSpPr>
        <p:spPr>
          <a:xfrm>
            <a:off x="11153775" y="1771650"/>
            <a:ext cx="476250" cy="1333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txBody>
          <a:bodyPr wrap="square" tIns="19050" rIns="38100" bIns="19050" lIns="381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FOCUS</a:t>
            </a:r>
          </a:p>
        </p:txBody>
      </p:sp>
      <p:sp>
        <p:nvSpPr>
          <p:cNvPr id="32" name="card-3-num"/>
          <p:cNvSpPr txBox="1"/>
          <p:nvPr/>
        </p:nvSpPr>
        <p:spPr>
          <a:xfrm>
            <a:off x="8229600" y="18288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33" name="card-3-icon"/>
          <p:cNvSpPr/>
          <p:nvPr/>
        </p:nvSpPr>
        <p:spPr>
          <a:xfrm>
            <a:off x="8572500" y="18478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rd-3-heading"/>
          <p:cNvSpPr txBox="1"/>
          <p:nvPr/>
        </p:nvSpPr>
        <p:spPr>
          <a:xfrm>
            <a:off x="8839200" y="18478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ORGANIZATION</a:t>
            </a:r>
          </a:p>
        </p:txBody>
      </p:sp>
      <p:sp>
        <p:nvSpPr>
          <p:cNvPr id="35" name="card-3-tagline"/>
          <p:cNvSpPr txBox="1"/>
          <p:nvPr/>
        </p:nvSpPr>
        <p:spPr>
          <a:xfrm>
            <a:off x="8229600" y="21526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Roles, structure, decision rights</a:t>
            </a:r>
          </a:p>
        </p:txBody>
      </p:sp>
      <p:sp>
        <p:nvSpPr>
          <p:cNvPr id="36" name="card-3-component-1-dot"/>
          <p:cNvSpPr/>
          <p:nvPr/>
        </p:nvSpPr>
        <p:spPr>
          <a:xfrm>
            <a:off x="8229600" y="24955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rd-3-component-1"/>
          <p:cNvSpPr txBox="1"/>
          <p:nvPr/>
        </p:nvSpPr>
        <p:spPr>
          <a:xfrm>
            <a:off x="8324850" y="24193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Coach role — embedded per practice</a:t>
            </a:r>
          </a:p>
        </p:txBody>
      </p:sp>
      <p:sp>
        <p:nvSpPr>
          <p:cNvPr id="38" name="card-3-component-2-dot"/>
          <p:cNvSpPr/>
          <p:nvPr/>
        </p:nvSpPr>
        <p:spPr>
          <a:xfrm>
            <a:off x="8229600" y="27051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ard-3-component-2"/>
          <p:cNvSpPr txBox="1"/>
          <p:nvPr/>
        </p:nvSpPr>
        <p:spPr>
          <a:xfrm>
            <a:off x="8324850" y="26289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Pattern librarian — owns the catalog</a:t>
            </a:r>
          </a:p>
        </p:txBody>
      </p:sp>
      <p:sp>
        <p:nvSpPr>
          <p:cNvPr id="40" name="card-3-component-3-dot"/>
          <p:cNvSpPr/>
          <p:nvPr/>
        </p:nvSpPr>
        <p:spPr>
          <a:xfrm>
            <a:off x="8229600" y="29146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ard-3-component-3"/>
          <p:cNvSpPr txBox="1"/>
          <p:nvPr/>
        </p:nvSpPr>
        <p:spPr>
          <a:xfrm>
            <a:off x="8324850" y="28384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Practice champions — one per team</a:t>
            </a:r>
          </a:p>
        </p:txBody>
      </p:sp>
      <p:sp>
        <p:nvSpPr>
          <p:cNvPr id="42" name="card-4-shape"/>
          <p:cNvSpPr/>
          <p:nvPr/>
        </p:nvSpPr>
        <p:spPr>
          <a:xfrm>
            <a:off x="457200" y="3695700"/>
            <a:ext cx="3667125" cy="1885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ard-4-accent"/>
          <p:cNvSpPr/>
          <p:nvPr/>
        </p:nvSpPr>
        <p:spPr>
          <a:xfrm>
            <a:off x="457200" y="36957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ard-4-num"/>
          <p:cNvSpPr txBox="1"/>
          <p:nvPr/>
        </p:nvSpPr>
        <p:spPr>
          <a:xfrm>
            <a:off x="628650" y="38481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45" name="card-4-icon"/>
          <p:cNvSpPr/>
          <p:nvPr/>
        </p:nvSpPr>
        <p:spPr>
          <a:xfrm>
            <a:off x="971550" y="38671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ard-4-heading"/>
          <p:cNvSpPr txBox="1"/>
          <p:nvPr/>
        </p:nvSpPr>
        <p:spPr>
          <a:xfrm>
            <a:off x="1238250" y="38671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PEOPLE</a:t>
            </a:r>
          </a:p>
        </p:txBody>
      </p:sp>
      <p:sp>
        <p:nvSpPr>
          <p:cNvPr id="47" name="card-4-tagline"/>
          <p:cNvSpPr txBox="1"/>
          <p:nvPr/>
        </p:nvSpPr>
        <p:spPr>
          <a:xfrm>
            <a:off x="628650" y="41719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Skills, learning, performance</a:t>
            </a:r>
          </a:p>
        </p:txBody>
      </p:sp>
      <p:sp>
        <p:nvSpPr>
          <p:cNvPr id="48" name="card-4-component-1-dot"/>
          <p:cNvSpPr/>
          <p:nvPr/>
        </p:nvSpPr>
        <p:spPr>
          <a:xfrm>
            <a:off x="628650" y="45148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ard-4-component-1"/>
          <p:cNvSpPr txBox="1"/>
          <p:nvPr/>
        </p:nvSpPr>
        <p:spPr>
          <a:xfrm>
            <a:off x="723900" y="44386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90-min onboarding for every consultant</a:t>
            </a:r>
          </a:p>
        </p:txBody>
      </p:sp>
      <p:sp>
        <p:nvSpPr>
          <p:cNvPr id="50" name="card-4-component-2-dot"/>
          <p:cNvSpPr/>
          <p:nvPr/>
        </p:nvSpPr>
        <p:spPr>
          <a:xfrm>
            <a:off x="628650" y="47244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ard-4-component-2"/>
          <p:cNvSpPr txBox="1"/>
          <p:nvPr/>
        </p:nvSpPr>
        <p:spPr>
          <a:xfrm>
            <a:off x="723900" y="46482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Practice champion certification</a:t>
            </a:r>
          </a:p>
        </p:txBody>
      </p:sp>
      <p:sp>
        <p:nvSpPr>
          <p:cNvPr id="52" name="card-4-component-3-dot"/>
          <p:cNvSpPr/>
          <p:nvPr/>
        </p:nvSpPr>
        <p:spPr>
          <a:xfrm>
            <a:off x="628650" y="49339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ard-4-component-3"/>
          <p:cNvSpPr txBox="1"/>
          <p:nvPr/>
        </p:nvSpPr>
        <p:spPr>
          <a:xfrm>
            <a:off x="723900" y="48577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Coach development track — quarterly</a:t>
            </a:r>
          </a:p>
        </p:txBody>
      </p:sp>
      <p:sp>
        <p:nvSpPr>
          <p:cNvPr id="54" name="card-5-shape"/>
          <p:cNvSpPr/>
          <p:nvPr/>
        </p:nvSpPr>
        <p:spPr>
          <a:xfrm>
            <a:off x="4257675" y="3695700"/>
            <a:ext cx="3667125" cy="1885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ard-5-accent"/>
          <p:cNvSpPr/>
          <p:nvPr/>
        </p:nvSpPr>
        <p:spPr>
          <a:xfrm>
            <a:off x="4257675" y="36957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ard-5-num"/>
          <p:cNvSpPr txBox="1"/>
          <p:nvPr/>
        </p:nvSpPr>
        <p:spPr>
          <a:xfrm>
            <a:off x="4429125" y="38481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A100FF"/>
                </a:solidFill>
                <a:latin typeface="Inter"/>
              </a:rPr>
              <a:t>05</a:t>
            </a:r>
          </a:p>
        </p:txBody>
      </p:sp>
      <p:sp>
        <p:nvSpPr>
          <p:cNvPr id="57" name="card-5-icon"/>
          <p:cNvSpPr/>
          <p:nvPr/>
        </p:nvSpPr>
        <p:spPr>
          <a:xfrm>
            <a:off x="4772025" y="38671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ard-5-heading"/>
          <p:cNvSpPr txBox="1"/>
          <p:nvPr/>
        </p:nvSpPr>
        <p:spPr>
          <a:xfrm>
            <a:off x="5038725" y="38671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</a:t>
            </a:r>
          </a:p>
        </p:txBody>
      </p:sp>
      <p:sp>
        <p:nvSpPr>
          <p:cNvPr id="59" name="card-5-tagline"/>
          <p:cNvSpPr txBox="1"/>
          <p:nvPr/>
        </p:nvSpPr>
        <p:spPr>
          <a:xfrm>
            <a:off x="4429125" y="41719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Platforms, tools, integration</a:t>
            </a:r>
          </a:p>
        </p:txBody>
      </p:sp>
      <p:sp>
        <p:nvSpPr>
          <p:cNvPr id="60" name="card-5-component-1-dot"/>
          <p:cNvSpPr/>
          <p:nvPr/>
        </p:nvSpPr>
        <p:spPr>
          <a:xfrm>
            <a:off x="4429125" y="45148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card-5-component-1"/>
          <p:cNvSpPr txBox="1"/>
          <p:nvPr/>
        </p:nvSpPr>
        <p:spPr>
          <a:xfrm>
            <a:off x="4524375" y="44386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Claude Code as the substrate</a:t>
            </a:r>
          </a:p>
        </p:txBody>
      </p:sp>
      <p:sp>
        <p:nvSpPr>
          <p:cNvPr id="62" name="card-5-component-2-dot"/>
          <p:cNvSpPr/>
          <p:nvPr/>
        </p:nvSpPr>
        <p:spPr>
          <a:xfrm>
            <a:off x="4429125" y="47244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card-5-component-2"/>
          <p:cNvSpPr txBox="1"/>
          <p:nvPr/>
        </p:nvSpPr>
        <p:spPr>
          <a:xfrm>
            <a:off x="4524375" y="46482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HTML → PPTX render engine</a:t>
            </a:r>
          </a:p>
        </p:txBody>
      </p:sp>
      <p:sp>
        <p:nvSpPr>
          <p:cNvPr id="64" name="card-5-component-3-dot"/>
          <p:cNvSpPr/>
          <p:nvPr/>
        </p:nvSpPr>
        <p:spPr>
          <a:xfrm>
            <a:off x="4429125" y="49339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card-5-component-3"/>
          <p:cNvSpPr txBox="1"/>
          <p:nvPr/>
        </p:nvSpPr>
        <p:spPr>
          <a:xfrm>
            <a:off x="4524375" y="48577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Pattern library — versioned, shared</a:t>
            </a:r>
          </a:p>
        </p:txBody>
      </p:sp>
      <p:sp>
        <p:nvSpPr>
          <p:cNvPr id="66" name="card-6-shape"/>
          <p:cNvSpPr/>
          <p:nvPr/>
        </p:nvSpPr>
        <p:spPr>
          <a:xfrm>
            <a:off x="8058150" y="3695700"/>
            <a:ext cx="3667125" cy="18859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card-6-accent"/>
          <p:cNvSpPr/>
          <p:nvPr/>
        </p:nvSpPr>
        <p:spPr>
          <a:xfrm>
            <a:off x="8058150" y="3695700"/>
            <a:ext cx="3667125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ard-6-num"/>
          <p:cNvSpPr txBox="1"/>
          <p:nvPr/>
        </p:nvSpPr>
        <p:spPr>
          <a:xfrm>
            <a:off x="8229600" y="3848100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A100FF"/>
                </a:solidFill>
                <a:latin typeface="Inter"/>
              </a:rPr>
              <a:t>06</a:t>
            </a:r>
          </a:p>
        </p:txBody>
      </p:sp>
      <p:sp>
        <p:nvSpPr>
          <p:cNvPr id="69" name="card-6-icon"/>
          <p:cNvSpPr/>
          <p:nvPr/>
        </p:nvSpPr>
        <p:spPr>
          <a:xfrm>
            <a:off x="8572500" y="3867150"/>
            <a:ext cx="2095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ard-6-heading"/>
          <p:cNvSpPr txBox="1"/>
          <p:nvPr/>
        </p:nvSpPr>
        <p:spPr>
          <a:xfrm>
            <a:off x="8839200" y="3867150"/>
            <a:ext cx="27527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GOVERNANCE</a:t>
            </a:r>
          </a:p>
        </p:txBody>
      </p:sp>
      <p:sp>
        <p:nvSpPr>
          <p:cNvPr id="71" name="card-6-tagline"/>
          <p:cNvSpPr txBox="1"/>
          <p:nvPr/>
        </p:nvSpPr>
        <p:spPr>
          <a:xfrm>
            <a:off x="8229600" y="4171950"/>
            <a:ext cx="33242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Cadence, escalation, decision forums</a:t>
            </a:r>
          </a:p>
        </p:txBody>
      </p:sp>
      <p:sp>
        <p:nvSpPr>
          <p:cNvPr id="72" name="card-6-component-1-dot"/>
          <p:cNvSpPr/>
          <p:nvPr/>
        </p:nvSpPr>
        <p:spPr>
          <a:xfrm>
            <a:off x="8229600" y="45148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card-6-component-1"/>
          <p:cNvSpPr txBox="1"/>
          <p:nvPr/>
        </p:nvSpPr>
        <p:spPr>
          <a:xfrm>
            <a:off x="8324850" y="44386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Weekly pilot review</a:t>
            </a:r>
          </a:p>
        </p:txBody>
      </p:sp>
      <p:sp>
        <p:nvSpPr>
          <p:cNvPr id="74" name="card-6-component-2-dot"/>
          <p:cNvSpPr/>
          <p:nvPr/>
        </p:nvSpPr>
        <p:spPr>
          <a:xfrm>
            <a:off x="8229600" y="47244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card-6-component-2"/>
          <p:cNvSpPr txBox="1"/>
          <p:nvPr/>
        </p:nvSpPr>
        <p:spPr>
          <a:xfrm>
            <a:off x="8324850" y="464820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Monthly practice forum</a:t>
            </a:r>
          </a:p>
        </p:txBody>
      </p:sp>
      <p:sp>
        <p:nvSpPr>
          <p:cNvPr id="76" name="card-6-component-3-dot"/>
          <p:cNvSpPr/>
          <p:nvPr/>
        </p:nvSpPr>
        <p:spPr>
          <a:xfrm>
            <a:off x="8229600" y="493395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card-6-component-3"/>
          <p:cNvSpPr txBox="1"/>
          <p:nvPr/>
        </p:nvSpPr>
        <p:spPr>
          <a:xfrm>
            <a:off x="8324850" y="4857750"/>
            <a:ext cx="32289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Quarterly evolution &amp; roadmap</a:t>
            </a:r>
          </a:p>
        </p:txBody>
      </p:sp>
      <p:sp>
        <p:nvSpPr>
          <p:cNvPr id="78" name="convergence"/>
          <p:cNvSpPr txBox="1"/>
          <p:nvPr/>
        </p:nvSpPr>
        <p:spPr>
          <a:xfrm>
            <a:off x="457200" y="6248400"/>
            <a:ext cx="11277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SIX DIMENSIONS · ONE OPERATING MODEL · ONE METHOD.</a:t>
            </a:r>
          </a:p>
        </p:txBody>
      </p:sp>
      <p:sp>
        <p:nvSpPr>
          <p:cNvPr id="7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