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11239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Six numbers from four weeks — the pilot in shorthand.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Each tile is a single measured fact from the twelve decks built during the controlled rollout.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metric-1-tile"/>
          <p:cNvSpPr/>
          <p:nvPr/>
        </p:nvSpPr>
        <p:spPr>
          <a:xfrm>
            <a:off x="457200" y="2095500"/>
            <a:ext cx="3657600" cy="19240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metric-1-value"/>
          <p:cNvSpPr txBox="1"/>
          <p:nvPr/>
        </p:nvSpPr>
        <p:spPr>
          <a:xfrm>
            <a:off x="723900" y="2400300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54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7" name="metric-1-unit"/>
          <p:cNvSpPr txBox="1"/>
          <p:nvPr/>
        </p:nvSpPr>
        <p:spPr>
          <a:xfrm>
            <a:off x="1181100" y="253365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700" b="1" i="0">
                <a:solidFill>
                  <a:srgbClr val="A100FF"/>
                </a:solidFill>
                <a:latin typeface="Inter"/>
              </a:rPr>
              <a:t>d</a:t>
            </a:r>
          </a:p>
        </p:txBody>
      </p:sp>
      <p:sp>
        <p:nvSpPr>
          <p:cNvPr id="8" name="metric-1-label"/>
          <p:cNvSpPr txBox="1"/>
          <p:nvPr/>
        </p:nvSpPr>
        <p:spPr>
          <a:xfrm>
            <a:off x="723900" y="3486150"/>
            <a:ext cx="31242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CYCLE TIME, MEDIAN
BRIEF TO FINAL DECK</a:t>
            </a:r>
          </a:p>
        </p:txBody>
      </p:sp>
      <p:sp>
        <p:nvSpPr>
          <p:cNvPr id="9" name="metric-2-tile"/>
          <p:cNvSpPr/>
          <p:nvPr/>
        </p:nvSpPr>
        <p:spPr>
          <a:xfrm>
            <a:off x="4267200" y="2095500"/>
            <a:ext cx="3657600" cy="1924050"/>
          </a:xfrm>
          <a:prstGeom prst="rect">
            <a:avLst/>
          </a:prstGeom>
          <a:solidFill>
            <a:srgbClr val="1A0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metric-2-value"/>
          <p:cNvSpPr txBox="1"/>
          <p:nvPr/>
        </p:nvSpPr>
        <p:spPr>
          <a:xfrm>
            <a:off x="4533900" y="2400300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5400" b="1" i="0">
                <a:solidFill>
                  <a:srgbClr val="FFFFFF"/>
                </a:solidFill>
                <a:latin typeface="Inter"/>
              </a:rPr>
              <a:t>94</a:t>
            </a:r>
          </a:p>
        </p:txBody>
      </p:sp>
      <p:sp>
        <p:nvSpPr>
          <p:cNvPr id="11" name="metric-2-unit"/>
          <p:cNvSpPr txBox="1"/>
          <p:nvPr/>
        </p:nvSpPr>
        <p:spPr>
          <a:xfrm>
            <a:off x="5419725" y="253365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700" b="1" i="0">
                <a:solidFill>
                  <a:srgbClr val="C780FF"/>
                </a:solidFill>
                <a:latin typeface="Inter"/>
              </a:rPr>
              <a:t>%</a:t>
            </a:r>
          </a:p>
        </p:txBody>
      </p:sp>
      <p:sp>
        <p:nvSpPr>
          <p:cNvPr id="12" name="metric-2-label"/>
          <p:cNvSpPr txBox="1"/>
          <p:nvPr/>
        </p:nvSpPr>
        <p:spPr>
          <a:xfrm>
            <a:off x="4533900" y="3486150"/>
            <a:ext cx="31242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FIRST-REVIEW SIGN-OFF
NO REVISION LOOP</a:t>
            </a:r>
          </a:p>
        </p:txBody>
      </p:sp>
      <p:sp>
        <p:nvSpPr>
          <p:cNvPr id="13" name="metric-3-tile"/>
          <p:cNvSpPr/>
          <p:nvPr/>
        </p:nvSpPr>
        <p:spPr>
          <a:xfrm>
            <a:off x="8077200" y="2095500"/>
            <a:ext cx="3657600" cy="19240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metric-3-value"/>
          <p:cNvSpPr txBox="1"/>
          <p:nvPr/>
        </p:nvSpPr>
        <p:spPr>
          <a:xfrm>
            <a:off x="8343900" y="2400300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5400" b="1" i="0">
                <a:solidFill>
                  <a:srgbClr val="FFFFFF"/>
                </a:solidFill>
                <a:latin typeface="Inter"/>
              </a:rPr>
              <a:t>12</a:t>
            </a:r>
          </a:p>
        </p:txBody>
      </p:sp>
      <p:sp>
        <p:nvSpPr>
          <p:cNvPr id="15" name="metric-3-label"/>
          <p:cNvSpPr txBox="1"/>
          <p:nvPr/>
        </p:nvSpPr>
        <p:spPr>
          <a:xfrm>
            <a:off x="8343900" y="3486150"/>
            <a:ext cx="31242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PILOT DECKS MEASURED
ACROSS FOUR PRACTICES</a:t>
            </a:r>
          </a:p>
        </p:txBody>
      </p:sp>
      <p:sp>
        <p:nvSpPr>
          <p:cNvPr id="16" name="metric-4-tile"/>
          <p:cNvSpPr/>
          <p:nvPr/>
        </p:nvSpPr>
        <p:spPr>
          <a:xfrm>
            <a:off x="457200" y="4171950"/>
            <a:ext cx="3657600" cy="19240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metric-4-prefix"/>
          <p:cNvSpPr txBox="1"/>
          <p:nvPr/>
        </p:nvSpPr>
        <p:spPr>
          <a:xfrm>
            <a:off x="723900" y="4610100"/>
            <a:ext cx="3810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700" b="1" i="0">
                <a:solidFill>
                  <a:srgbClr val="A100FF"/>
                </a:solidFill>
                <a:latin typeface="Inter"/>
              </a:rPr>
              <a:t>$</a:t>
            </a:r>
          </a:p>
        </p:txBody>
      </p:sp>
      <p:sp>
        <p:nvSpPr>
          <p:cNvPr id="18" name="metric-4-value"/>
          <p:cNvSpPr txBox="1"/>
          <p:nvPr/>
        </p:nvSpPr>
        <p:spPr>
          <a:xfrm>
            <a:off x="990600" y="4476750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5400" b="1" i="0">
                <a:solidFill>
                  <a:srgbClr val="FFFFFF"/>
                </a:solidFill>
                <a:latin typeface="Inter"/>
              </a:rPr>
              <a:t>420</a:t>
            </a:r>
          </a:p>
        </p:txBody>
      </p:sp>
      <p:sp>
        <p:nvSpPr>
          <p:cNvPr id="19" name="metric-4-unit"/>
          <p:cNvSpPr txBox="1"/>
          <p:nvPr/>
        </p:nvSpPr>
        <p:spPr>
          <a:xfrm>
            <a:off x="2295525" y="461010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700" b="1" i="0">
                <a:solidFill>
                  <a:srgbClr val="A100FF"/>
                </a:solidFill>
                <a:latin typeface="Inter"/>
              </a:rPr>
              <a:t>K</a:t>
            </a:r>
          </a:p>
        </p:txBody>
      </p:sp>
      <p:sp>
        <p:nvSpPr>
          <p:cNvPr id="20" name="metric-4-label"/>
          <p:cNvSpPr txBox="1"/>
          <p:nvPr/>
        </p:nvSpPr>
        <p:spPr>
          <a:xfrm>
            <a:off x="723900" y="5562600"/>
            <a:ext cx="31242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ANNUALIZED SAVINGS
PROJECTED AT SCALE</a:t>
            </a:r>
          </a:p>
        </p:txBody>
      </p:sp>
      <p:sp>
        <p:nvSpPr>
          <p:cNvPr id="21" name="metric-5-tile"/>
          <p:cNvSpPr/>
          <p:nvPr/>
        </p:nvSpPr>
        <p:spPr>
          <a:xfrm>
            <a:off x="4267200" y="4171950"/>
            <a:ext cx="3657600" cy="19240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metric-5-value"/>
          <p:cNvSpPr txBox="1"/>
          <p:nvPr/>
        </p:nvSpPr>
        <p:spPr>
          <a:xfrm>
            <a:off x="4533900" y="4476750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54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3" name="metric-5-label"/>
          <p:cNvSpPr txBox="1"/>
          <p:nvPr/>
        </p:nvSpPr>
        <p:spPr>
          <a:xfrm>
            <a:off x="4533900" y="5562600"/>
            <a:ext cx="31242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PARTNER EDITS PER DECK
DOWN FROM EIGHT</a:t>
            </a:r>
          </a:p>
        </p:txBody>
      </p:sp>
      <p:sp>
        <p:nvSpPr>
          <p:cNvPr id="24" name="metric-6-tile"/>
          <p:cNvSpPr/>
          <p:nvPr/>
        </p:nvSpPr>
        <p:spPr>
          <a:xfrm>
            <a:off x="8077200" y="4171950"/>
            <a:ext cx="3657600" cy="19240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metric-6-value"/>
          <p:cNvSpPr txBox="1"/>
          <p:nvPr/>
        </p:nvSpPr>
        <p:spPr>
          <a:xfrm>
            <a:off x="8343900" y="4476750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5400" b="1" i="0">
                <a:solidFill>
                  <a:srgbClr val="FFFFFF"/>
                </a:solidFill>
                <a:latin typeface="Inter"/>
              </a:rPr>
              <a:t>0</a:t>
            </a:r>
          </a:p>
        </p:txBody>
      </p:sp>
      <p:sp>
        <p:nvSpPr>
          <p:cNvPr id="26" name="metric-6-label"/>
          <p:cNvSpPr txBox="1"/>
          <p:nvPr/>
        </p:nvSpPr>
        <p:spPr>
          <a:xfrm>
            <a:off x="8343900" y="5562600"/>
            <a:ext cx="31242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BUILD ERRORS
IN PRODUCTION</a:t>
            </a:r>
          </a:p>
        </p:txBody>
      </p:sp>
      <p:sp>
        <p:nvSpPr>
          <p:cNvPr id="2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