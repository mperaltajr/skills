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7810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Capability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Maturity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Assessment Grid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Current-state rating across five dimensions · target state identified per dimension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8382000" y="647700"/>
            <a:ext cx="19050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8629650" y="6096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Current State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8382000" y="819150"/>
            <a:ext cx="190500" cy="95250"/>
          </a:xfrm>
          <a:prstGeom prst="rect">
            <a:avLst/>
          </a:prstGeom>
          <a:solidFill>
            <a:srgbClr val="F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8629650" y="78105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Target State</a:t>
            </a:r>
          </a:p>
        </p:txBody>
      </p:sp>
      <p:sp>
        <p:nvSpPr>
          <p:cNvPr id="9" name="legend-3-label"/>
          <p:cNvSpPr txBox="1"/>
          <p:nvPr/>
        </p:nvSpPr>
        <p:spPr>
          <a:xfrm>
            <a:off x="8382000" y="9525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→ Progress direction</a:t>
            </a:r>
          </a:p>
        </p:txBody>
      </p:sp>
      <p:sp>
        <p:nvSpPr>
          <p:cNvPr id="10" name="level-1-header"/>
          <p:cNvSpPr/>
          <p:nvPr/>
        </p:nvSpPr>
        <p:spPr>
          <a:xfrm>
            <a:off x="2019300" y="1333500"/>
            <a:ext cx="1905000" cy="36195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vel-1-num"/>
          <p:cNvSpPr txBox="1"/>
          <p:nvPr/>
        </p:nvSpPr>
        <p:spPr>
          <a:xfrm>
            <a:off x="2019300" y="13716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46A3"/>
                </a:solidFill>
                <a:latin typeface="Inter"/>
              </a:rPr>
              <a:t>L1</a:t>
            </a:r>
          </a:p>
        </p:txBody>
      </p:sp>
      <p:sp>
        <p:nvSpPr>
          <p:cNvPr id="12" name="level-1-name"/>
          <p:cNvSpPr txBox="1"/>
          <p:nvPr/>
        </p:nvSpPr>
        <p:spPr>
          <a:xfrm>
            <a:off x="2019300" y="1504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46A3"/>
                </a:solidFill>
                <a:latin typeface="Inter"/>
              </a:rPr>
              <a:t>Initial</a:t>
            </a:r>
          </a:p>
        </p:txBody>
      </p:sp>
      <p:sp>
        <p:nvSpPr>
          <p:cNvPr id="13" name="level-2-header"/>
          <p:cNvSpPr/>
          <p:nvPr/>
        </p:nvSpPr>
        <p:spPr>
          <a:xfrm>
            <a:off x="3962400" y="1333500"/>
            <a:ext cx="1905000" cy="361950"/>
          </a:xfrm>
          <a:prstGeom prst="rect">
            <a:avLst/>
          </a:prstGeom>
          <a:solidFill>
            <a:srgbClr val="D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evel-2-num"/>
          <p:cNvSpPr txBox="1"/>
          <p:nvPr/>
        </p:nvSpPr>
        <p:spPr>
          <a:xfrm>
            <a:off x="3962400" y="13716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L2</a:t>
            </a:r>
          </a:p>
        </p:txBody>
      </p:sp>
      <p:sp>
        <p:nvSpPr>
          <p:cNvPr id="15" name="level-2-name"/>
          <p:cNvSpPr txBox="1"/>
          <p:nvPr/>
        </p:nvSpPr>
        <p:spPr>
          <a:xfrm>
            <a:off x="3962400" y="1504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Managed</a:t>
            </a:r>
          </a:p>
        </p:txBody>
      </p:sp>
      <p:sp>
        <p:nvSpPr>
          <p:cNvPr id="16" name="level-3-header"/>
          <p:cNvSpPr/>
          <p:nvPr/>
        </p:nvSpPr>
        <p:spPr>
          <a:xfrm>
            <a:off x="5905500" y="1333500"/>
            <a:ext cx="1905000" cy="361950"/>
          </a:xfrm>
          <a:prstGeom prst="rect">
            <a:avLst/>
          </a:prstGeom>
          <a:solidFill>
            <a:srgbClr val="C3A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evel-3-num"/>
          <p:cNvSpPr txBox="1"/>
          <p:nvPr/>
        </p:nvSpPr>
        <p:spPr>
          <a:xfrm>
            <a:off x="5905500" y="13716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1E75"/>
                </a:solidFill>
                <a:latin typeface="Inter"/>
              </a:rPr>
              <a:t>L3</a:t>
            </a:r>
          </a:p>
        </p:txBody>
      </p:sp>
      <p:sp>
        <p:nvSpPr>
          <p:cNvPr id="18" name="level-3-name"/>
          <p:cNvSpPr txBox="1"/>
          <p:nvPr/>
        </p:nvSpPr>
        <p:spPr>
          <a:xfrm>
            <a:off x="5905500" y="1504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1E75"/>
                </a:solidFill>
                <a:latin typeface="Inter"/>
              </a:rPr>
              <a:t>Defined</a:t>
            </a:r>
          </a:p>
        </p:txBody>
      </p:sp>
      <p:sp>
        <p:nvSpPr>
          <p:cNvPr id="19" name="level-4-header"/>
          <p:cNvSpPr/>
          <p:nvPr/>
        </p:nvSpPr>
        <p:spPr>
          <a:xfrm>
            <a:off x="7848600" y="1333500"/>
            <a:ext cx="1905000" cy="361950"/>
          </a:xfrm>
          <a:prstGeom prst="rect">
            <a:avLst/>
          </a:prstGeom>
          <a:solidFill>
            <a:srgbClr val="A9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evel-4-num"/>
          <p:cNvSpPr txBox="1"/>
          <p:nvPr/>
        </p:nvSpPr>
        <p:spPr>
          <a:xfrm>
            <a:off x="7848600" y="13716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L4</a:t>
            </a:r>
          </a:p>
        </p:txBody>
      </p:sp>
      <p:sp>
        <p:nvSpPr>
          <p:cNvPr id="21" name="level-4-name"/>
          <p:cNvSpPr txBox="1"/>
          <p:nvPr/>
        </p:nvSpPr>
        <p:spPr>
          <a:xfrm>
            <a:off x="7848600" y="1504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Quantified</a:t>
            </a:r>
          </a:p>
        </p:txBody>
      </p:sp>
      <p:sp>
        <p:nvSpPr>
          <p:cNvPr id="22" name="level-5-header"/>
          <p:cNvSpPr/>
          <p:nvPr/>
        </p:nvSpPr>
        <p:spPr>
          <a:xfrm>
            <a:off x="9791700" y="1333500"/>
            <a:ext cx="19050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level-5-num"/>
          <p:cNvSpPr txBox="1"/>
          <p:nvPr/>
        </p:nvSpPr>
        <p:spPr>
          <a:xfrm>
            <a:off x="9791700" y="137160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L5</a:t>
            </a:r>
          </a:p>
        </p:txBody>
      </p:sp>
      <p:sp>
        <p:nvSpPr>
          <p:cNvPr id="24" name="level-5-name"/>
          <p:cNvSpPr txBox="1"/>
          <p:nvPr/>
        </p:nvSpPr>
        <p:spPr>
          <a:xfrm>
            <a:off x="9791700" y="1504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Optimizing</a:t>
            </a:r>
          </a:p>
        </p:txBody>
      </p:sp>
      <p:sp>
        <p:nvSpPr>
          <p:cNvPr id="25" name="dim-1-header"/>
          <p:cNvSpPr/>
          <p:nvPr/>
        </p:nvSpPr>
        <p:spPr>
          <a:xfrm>
            <a:off x="457200" y="1733550"/>
            <a:ext cx="1524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dim-1-num"/>
          <p:cNvSpPr txBox="1"/>
          <p:nvPr/>
        </p:nvSpPr>
        <p:spPr>
          <a:xfrm>
            <a:off x="552450" y="18097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27" name="dim-1-name"/>
          <p:cNvSpPr txBox="1"/>
          <p:nvPr/>
        </p:nvSpPr>
        <p:spPr>
          <a:xfrm>
            <a:off x="552450" y="19240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 &amp; Governance</a:t>
            </a:r>
          </a:p>
        </p:txBody>
      </p:sp>
      <p:sp>
        <p:nvSpPr>
          <p:cNvPr id="28" name="cell-1-1"/>
          <p:cNvSpPr/>
          <p:nvPr/>
        </p:nvSpPr>
        <p:spPr>
          <a:xfrm>
            <a:off x="2019300" y="17335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ell-1-1-text"/>
          <p:cNvSpPr txBox="1"/>
          <p:nvPr/>
        </p:nvSpPr>
        <p:spPr>
          <a:xfrm>
            <a:off x="2076450" y="17907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Ad hoc decisions; no formal policy</a:t>
            </a:r>
          </a:p>
        </p:txBody>
      </p:sp>
      <p:sp>
        <p:nvSpPr>
          <p:cNvPr id="30" name="cell-1-2"/>
          <p:cNvSpPr/>
          <p:nvPr/>
        </p:nvSpPr>
        <p:spPr>
          <a:xfrm>
            <a:off x="3962400" y="1733550"/>
            <a:ext cx="1905000" cy="85725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ell-1-2-text"/>
          <p:cNvSpPr txBox="1"/>
          <p:nvPr/>
        </p:nvSpPr>
        <p:spPr>
          <a:xfrm>
            <a:off x="4019550" y="17907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Governance structure in place; reactive oversight</a:t>
            </a:r>
          </a:p>
        </p:txBody>
      </p:sp>
      <p:sp>
        <p:nvSpPr>
          <p:cNvPr id="32" name="cell-1-3"/>
          <p:cNvSpPr/>
          <p:nvPr/>
        </p:nvSpPr>
        <p:spPr>
          <a:xfrm>
            <a:off x="5905500" y="1733550"/>
            <a:ext cx="1905000" cy="857250"/>
          </a:xfrm>
          <a:prstGeom prst="rect">
            <a:avLst/>
          </a:prstGeom>
          <a:solidFill>
            <a:srgbClr val="FBF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ell-1-3-text"/>
          <p:cNvSpPr txBox="1"/>
          <p:nvPr/>
        </p:nvSpPr>
        <p:spPr>
          <a:xfrm>
            <a:off x="5962650" y="17907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Proactive governance; cross-function alignment</a:t>
            </a:r>
          </a:p>
        </p:txBody>
      </p:sp>
      <p:sp>
        <p:nvSpPr>
          <p:cNvPr id="34" name="cell-1-4"/>
          <p:cNvSpPr/>
          <p:nvPr/>
        </p:nvSpPr>
        <p:spPr>
          <a:xfrm>
            <a:off x="7848600" y="17335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ell-1-4-text"/>
          <p:cNvSpPr txBox="1"/>
          <p:nvPr/>
        </p:nvSpPr>
        <p:spPr>
          <a:xfrm>
            <a:off x="7905750" y="17907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Metrics-driven decisions; benchmarked</a:t>
            </a:r>
          </a:p>
        </p:txBody>
      </p:sp>
      <p:sp>
        <p:nvSpPr>
          <p:cNvPr id="36" name="cell-1-5"/>
          <p:cNvSpPr/>
          <p:nvPr/>
        </p:nvSpPr>
        <p:spPr>
          <a:xfrm>
            <a:off x="9791700" y="17335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ell-1-5-text"/>
          <p:cNvSpPr txBox="1"/>
          <p:nvPr/>
        </p:nvSpPr>
        <p:spPr>
          <a:xfrm>
            <a:off x="9848850" y="17907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Continuous strategy refinement; self-optimising</a:t>
            </a:r>
          </a:p>
        </p:txBody>
      </p:sp>
      <p:sp>
        <p:nvSpPr>
          <p:cNvPr id="38" name="dim-2-header"/>
          <p:cNvSpPr/>
          <p:nvPr/>
        </p:nvSpPr>
        <p:spPr>
          <a:xfrm>
            <a:off x="457200" y="2628900"/>
            <a:ext cx="1524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dim-2-num"/>
          <p:cNvSpPr txBox="1"/>
          <p:nvPr/>
        </p:nvSpPr>
        <p:spPr>
          <a:xfrm>
            <a:off x="552450" y="27051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40" name="dim-2-name"/>
          <p:cNvSpPr txBox="1"/>
          <p:nvPr/>
        </p:nvSpPr>
        <p:spPr>
          <a:xfrm>
            <a:off x="552450" y="281940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Analytics</a:t>
            </a:r>
          </a:p>
        </p:txBody>
      </p:sp>
      <p:sp>
        <p:nvSpPr>
          <p:cNvPr id="41" name="cell-2-1"/>
          <p:cNvSpPr/>
          <p:nvPr/>
        </p:nvSpPr>
        <p:spPr>
          <a:xfrm>
            <a:off x="2019300" y="2628900"/>
            <a:ext cx="1905000" cy="85725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ell-2-1-text"/>
          <p:cNvSpPr txBox="1"/>
          <p:nvPr/>
        </p:nvSpPr>
        <p:spPr>
          <a:xfrm>
            <a:off x="2076450" y="26860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Siloed data; manual exports</a:t>
            </a:r>
          </a:p>
        </p:txBody>
      </p:sp>
      <p:sp>
        <p:nvSpPr>
          <p:cNvPr id="43" name="cell-2-2"/>
          <p:cNvSpPr/>
          <p:nvPr/>
        </p:nvSpPr>
        <p:spPr>
          <a:xfrm>
            <a:off x="3962400" y="2628900"/>
            <a:ext cx="1905000" cy="857250"/>
          </a:xfrm>
          <a:prstGeom prst="rect">
            <a:avLst/>
          </a:prstGeom>
          <a:solidFill>
            <a:srgbClr val="FBF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ell-2-2-text"/>
          <p:cNvSpPr txBox="1"/>
          <p:nvPr/>
        </p:nvSpPr>
        <p:spPr>
          <a:xfrm>
            <a:off x="4019550" y="26860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Central data platform; basic dashboards</a:t>
            </a:r>
          </a:p>
        </p:txBody>
      </p:sp>
      <p:sp>
        <p:nvSpPr>
          <p:cNvPr id="45" name="cell-2-3"/>
          <p:cNvSpPr/>
          <p:nvPr/>
        </p:nvSpPr>
        <p:spPr>
          <a:xfrm>
            <a:off x="5905500" y="262890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ell-2-3-text"/>
          <p:cNvSpPr txBox="1"/>
          <p:nvPr/>
        </p:nvSpPr>
        <p:spPr>
          <a:xfrm>
            <a:off x="5962650" y="26860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Standardised data models; self-serve</a:t>
            </a:r>
          </a:p>
        </p:txBody>
      </p:sp>
      <p:sp>
        <p:nvSpPr>
          <p:cNvPr id="47" name="cell-2-4"/>
          <p:cNvSpPr/>
          <p:nvPr/>
        </p:nvSpPr>
        <p:spPr>
          <a:xfrm>
            <a:off x="7848600" y="262890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ell-2-4-text"/>
          <p:cNvSpPr txBox="1"/>
          <p:nvPr/>
        </p:nvSpPr>
        <p:spPr>
          <a:xfrm>
            <a:off x="7905750" y="26860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Predictive models in production; ML ops</a:t>
            </a:r>
          </a:p>
        </p:txBody>
      </p:sp>
      <p:sp>
        <p:nvSpPr>
          <p:cNvPr id="49" name="cell-2-5"/>
          <p:cNvSpPr/>
          <p:nvPr/>
        </p:nvSpPr>
        <p:spPr>
          <a:xfrm>
            <a:off x="9791700" y="262890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ell-2-5-text"/>
          <p:cNvSpPr txBox="1"/>
          <p:nvPr/>
        </p:nvSpPr>
        <p:spPr>
          <a:xfrm>
            <a:off x="9848850" y="26860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AI-driven insights; real-time data fabric</a:t>
            </a:r>
          </a:p>
        </p:txBody>
      </p:sp>
      <p:sp>
        <p:nvSpPr>
          <p:cNvPr id="51" name="dim-3-header"/>
          <p:cNvSpPr/>
          <p:nvPr/>
        </p:nvSpPr>
        <p:spPr>
          <a:xfrm>
            <a:off x="457200" y="3524250"/>
            <a:ext cx="1524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dim-3-num"/>
          <p:cNvSpPr txBox="1"/>
          <p:nvPr/>
        </p:nvSpPr>
        <p:spPr>
          <a:xfrm>
            <a:off x="552450" y="36004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53" name="dim-3-name"/>
          <p:cNvSpPr txBox="1"/>
          <p:nvPr/>
        </p:nvSpPr>
        <p:spPr>
          <a:xfrm>
            <a:off x="552450" y="37147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&amp; Infra</a:t>
            </a:r>
          </a:p>
        </p:txBody>
      </p:sp>
      <p:sp>
        <p:nvSpPr>
          <p:cNvPr id="54" name="cell-3-1"/>
          <p:cNvSpPr/>
          <p:nvPr/>
        </p:nvSpPr>
        <p:spPr>
          <a:xfrm>
            <a:off x="2019300" y="35242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ell-3-1-text"/>
          <p:cNvSpPr txBox="1"/>
          <p:nvPr/>
        </p:nvSpPr>
        <p:spPr>
          <a:xfrm>
            <a:off x="2076450" y="35814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Legacy monoliths; manual deployments</a:t>
            </a:r>
          </a:p>
        </p:txBody>
      </p:sp>
      <p:sp>
        <p:nvSpPr>
          <p:cNvPr id="56" name="cell-3-2"/>
          <p:cNvSpPr/>
          <p:nvPr/>
        </p:nvSpPr>
        <p:spPr>
          <a:xfrm>
            <a:off x="3962400" y="35242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ell-3-2-text"/>
          <p:cNvSpPr txBox="1"/>
          <p:nvPr/>
        </p:nvSpPr>
        <p:spPr>
          <a:xfrm>
            <a:off x="4019550" y="35814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Basic CI/CD pipeline; cloud migration started</a:t>
            </a:r>
          </a:p>
        </p:txBody>
      </p:sp>
      <p:sp>
        <p:nvSpPr>
          <p:cNvPr id="58" name="cell-3-3"/>
          <p:cNvSpPr/>
          <p:nvPr/>
        </p:nvSpPr>
        <p:spPr>
          <a:xfrm>
            <a:off x="5905500" y="3524250"/>
            <a:ext cx="1905000" cy="85725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ell-3-3-text"/>
          <p:cNvSpPr txBox="1"/>
          <p:nvPr/>
        </p:nvSpPr>
        <p:spPr>
          <a:xfrm>
            <a:off x="5962650" y="35814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Cloud-native stack; automated pipelines</a:t>
            </a:r>
          </a:p>
        </p:txBody>
      </p:sp>
      <p:sp>
        <p:nvSpPr>
          <p:cNvPr id="60" name="cell-3-4"/>
          <p:cNvSpPr/>
          <p:nvPr/>
        </p:nvSpPr>
        <p:spPr>
          <a:xfrm>
            <a:off x="7848600" y="3524250"/>
            <a:ext cx="1905000" cy="857250"/>
          </a:xfrm>
          <a:prstGeom prst="rect">
            <a:avLst/>
          </a:prstGeom>
          <a:solidFill>
            <a:srgbClr val="FBF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ell-3-4-text"/>
          <p:cNvSpPr txBox="1"/>
          <p:nvPr/>
        </p:nvSpPr>
        <p:spPr>
          <a:xfrm>
            <a:off x="7905750" y="35814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FinOps optimised; zero-trust security</a:t>
            </a:r>
          </a:p>
        </p:txBody>
      </p:sp>
      <p:sp>
        <p:nvSpPr>
          <p:cNvPr id="62" name="cell-3-5"/>
          <p:cNvSpPr/>
          <p:nvPr/>
        </p:nvSpPr>
        <p:spPr>
          <a:xfrm>
            <a:off x="9791700" y="35242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ell-3-5-text"/>
          <p:cNvSpPr txBox="1"/>
          <p:nvPr/>
        </p:nvSpPr>
        <p:spPr>
          <a:xfrm>
            <a:off x="9848850" y="35814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Self-healing infra; autonomous scaling</a:t>
            </a:r>
          </a:p>
        </p:txBody>
      </p:sp>
      <p:sp>
        <p:nvSpPr>
          <p:cNvPr id="64" name="dim-4-header"/>
          <p:cNvSpPr/>
          <p:nvPr/>
        </p:nvSpPr>
        <p:spPr>
          <a:xfrm>
            <a:off x="457200" y="4419600"/>
            <a:ext cx="1524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dim-4-num"/>
          <p:cNvSpPr txBox="1"/>
          <p:nvPr/>
        </p:nvSpPr>
        <p:spPr>
          <a:xfrm>
            <a:off x="552450" y="44958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66" name="dim-4-name"/>
          <p:cNvSpPr txBox="1"/>
          <p:nvPr/>
        </p:nvSpPr>
        <p:spPr>
          <a:xfrm>
            <a:off x="552450" y="461010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People &amp; Culture</a:t>
            </a:r>
          </a:p>
        </p:txBody>
      </p:sp>
      <p:sp>
        <p:nvSpPr>
          <p:cNvPr id="67" name="cell-4-1"/>
          <p:cNvSpPr/>
          <p:nvPr/>
        </p:nvSpPr>
        <p:spPr>
          <a:xfrm>
            <a:off x="2019300" y="441960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ell-4-1-text"/>
          <p:cNvSpPr txBox="1"/>
          <p:nvPr/>
        </p:nvSpPr>
        <p:spPr>
          <a:xfrm>
            <a:off x="2076450" y="44767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Change-resistant culture; skills gaps unquantified</a:t>
            </a:r>
          </a:p>
        </p:txBody>
      </p:sp>
      <p:sp>
        <p:nvSpPr>
          <p:cNvPr id="69" name="cell-4-2"/>
          <p:cNvSpPr/>
          <p:nvPr/>
        </p:nvSpPr>
        <p:spPr>
          <a:xfrm>
            <a:off x="3962400" y="4419600"/>
            <a:ext cx="1905000" cy="85725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ell-4-2-text"/>
          <p:cNvSpPr txBox="1"/>
          <p:nvPr/>
        </p:nvSpPr>
        <p:spPr>
          <a:xfrm>
            <a:off x="4019550" y="44767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Training programmes launched; champions forming</a:t>
            </a:r>
          </a:p>
        </p:txBody>
      </p:sp>
      <p:sp>
        <p:nvSpPr>
          <p:cNvPr id="71" name="cell-4-3"/>
          <p:cNvSpPr/>
          <p:nvPr/>
        </p:nvSpPr>
        <p:spPr>
          <a:xfrm>
            <a:off x="5905500" y="4419600"/>
            <a:ext cx="1905000" cy="857250"/>
          </a:xfrm>
          <a:prstGeom prst="rect">
            <a:avLst/>
          </a:prstGeom>
          <a:solidFill>
            <a:srgbClr val="FBF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ell-4-3-text"/>
          <p:cNvSpPr txBox="1"/>
          <p:nvPr/>
        </p:nvSpPr>
        <p:spPr>
          <a:xfrm>
            <a:off x="5962650" y="44767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Digital fluency baseline met; agile embedded</a:t>
            </a:r>
          </a:p>
        </p:txBody>
      </p:sp>
      <p:sp>
        <p:nvSpPr>
          <p:cNvPr id="73" name="cell-4-4"/>
          <p:cNvSpPr/>
          <p:nvPr/>
        </p:nvSpPr>
        <p:spPr>
          <a:xfrm>
            <a:off x="7848600" y="441960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ell-4-4-text"/>
          <p:cNvSpPr txBox="1"/>
          <p:nvPr/>
        </p:nvSpPr>
        <p:spPr>
          <a:xfrm>
            <a:off x="7905750" y="44767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Skills marketplace live; mobility driving retention</a:t>
            </a:r>
          </a:p>
        </p:txBody>
      </p:sp>
      <p:sp>
        <p:nvSpPr>
          <p:cNvPr id="75" name="cell-4-5"/>
          <p:cNvSpPr/>
          <p:nvPr/>
        </p:nvSpPr>
        <p:spPr>
          <a:xfrm>
            <a:off x="9791700" y="441960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ell-4-5-text"/>
          <p:cNvSpPr txBox="1"/>
          <p:nvPr/>
        </p:nvSpPr>
        <p:spPr>
          <a:xfrm>
            <a:off x="9848850" y="447675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Learning culture institutionalised; AI augments</a:t>
            </a:r>
          </a:p>
        </p:txBody>
      </p:sp>
      <p:sp>
        <p:nvSpPr>
          <p:cNvPr id="77" name="dim-5-header"/>
          <p:cNvSpPr/>
          <p:nvPr/>
        </p:nvSpPr>
        <p:spPr>
          <a:xfrm>
            <a:off x="457200" y="5314950"/>
            <a:ext cx="1524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dim-5-num"/>
          <p:cNvSpPr txBox="1"/>
          <p:nvPr/>
        </p:nvSpPr>
        <p:spPr>
          <a:xfrm>
            <a:off x="552450" y="53911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05</a:t>
            </a:r>
          </a:p>
        </p:txBody>
      </p:sp>
      <p:sp>
        <p:nvSpPr>
          <p:cNvPr id="79" name="dim-5-name"/>
          <p:cNvSpPr txBox="1"/>
          <p:nvPr/>
        </p:nvSpPr>
        <p:spPr>
          <a:xfrm>
            <a:off x="552450" y="55054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 Experience</a:t>
            </a:r>
          </a:p>
        </p:txBody>
      </p:sp>
      <p:sp>
        <p:nvSpPr>
          <p:cNvPr id="80" name="cell-5-1"/>
          <p:cNvSpPr/>
          <p:nvPr/>
        </p:nvSpPr>
        <p:spPr>
          <a:xfrm>
            <a:off x="2019300" y="53149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cell-5-1-text"/>
          <p:cNvSpPr txBox="1"/>
          <p:nvPr/>
        </p:nvSpPr>
        <p:spPr>
          <a:xfrm>
            <a:off x="2076450" y="53721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Inconsistent journeys; NPS not tracked</a:t>
            </a:r>
          </a:p>
        </p:txBody>
      </p:sp>
      <p:sp>
        <p:nvSpPr>
          <p:cNvPr id="82" name="cell-5-2"/>
          <p:cNvSpPr/>
          <p:nvPr/>
        </p:nvSpPr>
        <p:spPr>
          <a:xfrm>
            <a:off x="3962400" y="53149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cell-5-2-text"/>
          <p:cNvSpPr txBox="1"/>
          <p:nvPr/>
        </p:nvSpPr>
        <p:spPr>
          <a:xfrm>
            <a:off x="4019550" y="53721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NPS in place; basic segmentation</a:t>
            </a:r>
          </a:p>
        </p:txBody>
      </p:sp>
      <p:sp>
        <p:nvSpPr>
          <p:cNvPr id="84" name="cell-5-3"/>
          <p:cNvSpPr/>
          <p:nvPr/>
        </p:nvSpPr>
        <p:spPr>
          <a:xfrm>
            <a:off x="5905500" y="5314950"/>
            <a:ext cx="1905000" cy="857250"/>
          </a:xfrm>
          <a:prstGeom prst="rect">
            <a:avLst/>
          </a:prstGeom>
          <a:solidFill>
            <a:srgbClr val="A100FF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cell-5-3-text"/>
          <p:cNvSpPr txBox="1"/>
          <p:nvPr/>
        </p:nvSpPr>
        <p:spPr>
          <a:xfrm>
            <a:off x="5962650" y="53721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Omni-channel orchestration; real-time feedback</a:t>
            </a:r>
          </a:p>
        </p:txBody>
      </p:sp>
      <p:sp>
        <p:nvSpPr>
          <p:cNvPr id="86" name="cell-5-4"/>
          <p:cNvSpPr/>
          <p:nvPr/>
        </p:nvSpPr>
        <p:spPr>
          <a:xfrm>
            <a:off x="7848600" y="5314950"/>
            <a:ext cx="1905000" cy="857250"/>
          </a:xfrm>
          <a:prstGeom prst="rect">
            <a:avLst/>
          </a:prstGeom>
          <a:solidFill>
            <a:srgbClr val="FBF5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cell-5-4-text"/>
          <p:cNvSpPr txBox="1"/>
          <p:nvPr/>
        </p:nvSpPr>
        <p:spPr>
          <a:xfrm>
            <a:off x="7905750" y="53721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Personalisation at scale; CX linked to P&amp;L</a:t>
            </a:r>
          </a:p>
        </p:txBody>
      </p:sp>
      <p:sp>
        <p:nvSpPr>
          <p:cNvPr id="88" name="cell-5-5"/>
          <p:cNvSpPr/>
          <p:nvPr/>
        </p:nvSpPr>
        <p:spPr>
          <a:xfrm>
            <a:off x="9791700" y="5314950"/>
            <a:ext cx="1905000" cy="857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cell-5-5-text"/>
          <p:cNvSpPr txBox="1"/>
          <p:nvPr/>
        </p:nvSpPr>
        <p:spPr>
          <a:xfrm>
            <a:off x="9848850" y="5372100"/>
            <a:ext cx="1790700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Anticipatory CX; emotion AI deployed</a:t>
            </a:r>
          </a:p>
        </p:txBody>
      </p:sp>
      <p:sp>
        <p:nvSpPr>
          <p:cNvPr id="9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