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3400" y="266700"/>
            <a:ext cx="10477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1A1A2E"/>
                </a:solidFill>
                <a:latin typeface="Inter"/>
              </a:rPr>
              <a:t>Three rollout options — pros and cons, with our recommendation.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3400" y="1104900"/>
            <a:ext cx="9525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Pick option B — the cons are addressable; the pros are not replaceable.</a:t>
            </a:r>
          </a:p>
        </p:txBody>
      </p:sp>
      <p:sp>
        <p:nvSpPr>
          <p:cNvPr id="4" name="brand-rule"/>
          <p:cNvSpPr/>
          <p:nvPr/>
        </p:nvSpPr>
        <p:spPr>
          <a:xfrm>
            <a:off x="533400" y="144780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ompare-col-1-header"/>
          <p:cNvSpPr txBox="1"/>
          <p:nvPr/>
        </p:nvSpPr>
        <p:spPr>
          <a:xfrm>
            <a:off x="666750" y="1619250"/>
            <a:ext cx="25336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OPTION</a:t>
            </a:r>
          </a:p>
        </p:txBody>
      </p:sp>
      <p:sp>
        <p:nvSpPr>
          <p:cNvPr id="6" name="compare-col-2-header"/>
          <p:cNvSpPr txBox="1"/>
          <p:nvPr/>
        </p:nvSpPr>
        <p:spPr>
          <a:xfrm>
            <a:off x="3429000" y="1619250"/>
            <a:ext cx="3238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PROS</a:t>
            </a:r>
          </a:p>
        </p:txBody>
      </p:sp>
      <p:sp>
        <p:nvSpPr>
          <p:cNvPr id="7" name="compare-col-3-header"/>
          <p:cNvSpPr txBox="1"/>
          <p:nvPr/>
        </p:nvSpPr>
        <p:spPr>
          <a:xfrm>
            <a:off x="6896100" y="1619250"/>
            <a:ext cx="3238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CONS</a:t>
            </a:r>
          </a:p>
        </p:txBody>
      </p:sp>
      <p:sp>
        <p:nvSpPr>
          <p:cNvPr id="8" name="compare-col-4-header"/>
          <p:cNvSpPr txBox="1"/>
          <p:nvPr/>
        </p:nvSpPr>
        <p:spPr>
          <a:xfrm>
            <a:off x="10229850" y="1619250"/>
            <a:ext cx="14287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RECOMMENDATION</a:t>
            </a:r>
          </a:p>
        </p:txBody>
      </p:sp>
      <p:sp>
        <p:nvSpPr>
          <p:cNvPr id="9" name="row-1-opt-bg"/>
          <p:cNvSpPr/>
          <p:nvPr/>
        </p:nvSpPr>
        <p:spPr>
          <a:xfrm>
            <a:off x="533400" y="1866900"/>
            <a:ext cx="2667000" cy="11811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row-1-opt-stripe"/>
          <p:cNvSpPr/>
          <p:nvPr/>
        </p:nvSpPr>
        <p:spPr>
          <a:xfrm>
            <a:off x="533400" y="1866900"/>
            <a:ext cx="38100" cy="11811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compare-row-1-letter"/>
          <p:cNvSpPr txBox="1"/>
          <p:nvPr/>
        </p:nvSpPr>
        <p:spPr>
          <a:xfrm>
            <a:off x="666750" y="1981200"/>
            <a:ext cx="24003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OPTION A</a:t>
            </a:r>
          </a:p>
        </p:txBody>
      </p:sp>
      <p:sp>
        <p:nvSpPr>
          <p:cNvPr id="12" name="compare-row-1-label"/>
          <p:cNvSpPr txBox="1"/>
          <p:nvPr/>
        </p:nvSpPr>
        <p:spPr>
          <a:xfrm>
            <a:off x="666750" y="2133600"/>
            <a:ext cx="24003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INTERNAL PILOT</a:t>
            </a:r>
          </a:p>
        </p:txBody>
      </p:sp>
      <p:sp>
        <p:nvSpPr>
          <p:cNvPr id="13" name="compare-row-1-desc"/>
          <p:cNvSpPr txBox="1"/>
          <p:nvPr/>
        </p:nvSpPr>
        <p:spPr>
          <a:xfrm>
            <a:off x="666750" y="2381250"/>
            <a:ext cx="240030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Run inside one practice; stay quiet externally.</a:t>
            </a:r>
          </a:p>
        </p:txBody>
      </p:sp>
      <p:sp>
        <p:nvSpPr>
          <p:cNvPr id="14" name="row-1-pros-bg"/>
          <p:cNvSpPr/>
          <p:nvPr/>
        </p:nvSpPr>
        <p:spPr>
          <a:xfrm>
            <a:off x="3295650" y="1866900"/>
            <a:ext cx="3371850" cy="1181100"/>
          </a:xfrm>
          <a:prstGeom prst="rect">
            <a:avLst/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compare-row-1-pros-item-1"/>
          <p:cNvSpPr txBox="1"/>
          <p:nvPr/>
        </p:nvSpPr>
        <p:spPr>
          <a:xfrm>
            <a:off x="3429000" y="196215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4532D"/>
                </a:solidFill>
                <a:latin typeface="Inter"/>
              </a:rPr>
              <a:t>✓  Low risk, reversible</a:t>
            </a:r>
          </a:p>
        </p:txBody>
      </p:sp>
      <p:sp>
        <p:nvSpPr>
          <p:cNvPr id="16" name="compare-row-1-pros-item-2"/>
          <p:cNvSpPr txBox="1"/>
          <p:nvPr/>
        </p:nvSpPr>
        <p:spPr>
          <a:xfrm>
            <a:off x="3429000" y="228600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4532D"/>
                </a:solidFill>
                <a:latin typeface="Inter"/>
              </a:rPr>
              <a:t>✓  Internal-only — no external exposure</a:t>
            </a:r>
          </a:p>
        </p:txBody>
      </p:sp>
      <p:sp>
        <p:nvSpPr>
          <p:cNvPr id="17" name="compare-row-1-pros-item-3"/>
          <p:cNvSpPr txBox="1"/>
          <p:nvPr/>
        </p:nvSpPr>
        <p:spPr>
          <a:xfrm>
            <a:off x="3429000" y="260985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4532D"/>
                </a:solidFill>
                <a:latin typeface="Inter"/>
              </a:rPr>
              <a:t>✓  Cheap to start</a:t>
            </a:r>
          </a:p>
        </p:txBody>
      </p:sp>
      <p:sp>
        <p:nvSpPr>
          <p:cNvPr id="18" name="row-1-cons-bg"/>
          <p:cNvSpPr/>
          <p:nvPr/>
        </p:nvSpPr>
        <p:spPr>
          <a:xfrm>
            <a:off x="6762750" y="1866900"/>
            <a:ext cx="3371850" cy="1181100"/>
          </a:xfrm>
          <a:prstGeom prst="rect">
            <a:avLst/>
          </a:prstGeom>
          <a:solidFill>
            <a:srgbClr val="FECACA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ompare-row-1-cons-item-1"/>
          <p:cNvSpPr txBox="1"/>
          <p:nvPr/>
        </p:nvSpPr>
        <p:spPr>
          <a:xfrm>
            <a:off x="6896100" y="196215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7F1D1D"/>
                </a:solidFill>
                <a:latin typeface="Inter"/>
              </a:rPr>
              <a:t>✕  Limited learning — small sample</a:t>
            </a:r>
          </a:p>
        </p:txBody>
      </p:sp>
      <p:sp>
        <p:nvSpPr>
          <p:cNvPr id="20" name="compare-row-1-cons-item-2"/>
          <p:cNvSpPr txBox="1"/>
          <p:nvPr/>
        </p:nvSpPr>
        <p:spPr>
          <a:xfrm>
            <a:off x="6896100" y="228600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7F1D1D"/>
                </a:solidFill>
                <a:latin typeface="Inter"/>
              </a:rPr>
              <a:t>✕  Slow ramp to firm-wide value</a:t>
            </a:r>
          </a:p>
        </p:txBody>
      </p:sp>
      <p:sp>
        <p:nvSpPr>
          <p:cNvPr id="21" name="compare-row-1-cons-item-3"/>
          <p:cNvSpPr txBox="1"/>
          <p:nvPr/>
        </p:nvSpPr>
        <p:spPr>
          <a:xfrm>
            <a:off x="6896100" y="260985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7F1D1D"/>
                </a:solidFill>
                <a:latin typeface="Inter"/>
              </a:rPr>
              <a:t>✕  No firm-wide signal of commitment</a:t>
            </a:r>
          </a:p>
        </p:txBody>
      </p:sp>
      <p:sp>
        <p:nvSpPr>
          <p:cNvPr id="22" name="compare-row-1-rec"/>
          <p:cNvSpPr/>
          <p:nvPr/>
        </p:nvSpPr>
        <p:spPr>
          <a:xfrm>
            <a:off x="10229850" y="1866900"/>
            <a:ext cx="14287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compare-row-1-rec-mark"/>
          <p:cNvSpPr txBox="1"/>
          <p:nvPr/>
        </p:nvSpPr>
        <p:spPr>
          <a:xfrm>
            <a:off x="10229850" y="1981200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94A3B8"/>
                </a:solidFill>
                <a:latin typeface="Inter"/>
              </a:rPr>
              <a:t>—</a:t>
            </a:r>
          </a:p>
        </p:txBody>
      </p:sp>
      <p:sp>
        <p:nvSpPr>
          <p:cNvPr id="24" name="compare-row-1-rec-note"/>
          <p:cNvSpPr txBox="1"/>
          <p:nvPr/>
        </p:nvSpPr>
        <p:spPr>
          <a:xfrm>
            <a:off x="10306050" y="2324100"/>
            <a:ext cx="127635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Too small to learn from</a:t>
            </a:r>
          </a:p>
        </p:txBody>
      </p:sp>
      <p:sp>
        <p:nvSpPr>
          <p:cNvPr id="25" name="row-2-opt-bg"/>
          <p:cNvSpPr/>
          <p:nvPr/>
        </p:nvSpPr>
        <p:spPr>
          <a:xfrm>
            <a:off x="533400" y="3124200"/>
            <a:ext cx="2667000" cy="1181100"/>
          </a:xfrm>
          <a:prstGeom prst="rect">
            <a:avLst/>
          </a:prstGeom>
          <a:solidFill>
            <a:srgbClr val="FFFFFF"/>
          </a:solidFill>
          <a:ln w="254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row-2-opt-stripe"/>
          <p:cNvSpPr/>
          <p:nvPr/>
        </p:nvSpPr>
        <p:spPr>
          <a:xfrm>
            <a:off x="533400" y="3124200"/>
            <a:ext cx="38100" cy="1181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compare-row-2-letter"/>
          <p:cNvSpPr txBox="1"/>
          <p:nvPr/>
        </p:nvSpPr>
        <p:spPr>
          <a:xfrm>
            <a:off x="666750" y="3238500"/>
            <a:ext cx="24003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OPTION B · RECOMMENDED</a:t>
            </a:r>
          </a:p>
        </p:txBody>
      </p:sp>
      <p:sp>
        <p:nvSpPr>
          <p:cNvPr id="28" name="compare-row-2-label"/>
          <p:cNvSpPr txBox="1"/>
          <p:nvPr/>
        </p:nvSpPr>
        <p:spPr>
          <a:xfrm>
            <a:off x="666750" y="3390900"/>
            <a:ext cx="24003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FULL PRACTICE ROLLOUT</a:t>
            </a:r>
          </a:p>
        </p:txBody>
      </p:sp>
      <p:sp>
        <p:nvSpPr>
          <p:cNvPr id="29" name="compare-row-2-desc"/>
          <p:cNvSpPr txBox="1"/>
          <p:nvPr/>
        </p:nvSpPr>
        <p:spPr>
          <a:xfrm>
            <a:off x="666750" y="3638550"/>
            <a:ext cx="240030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Ship to the whole practice; measure and publish.</a:t>
            </a:r>
          </a:p>
        </p:txBody>
      </p:sp>
      <p:sp>
        <p:nvSpPr>
          <p:cNvPr id="30" name="row-2-pros-bg"/>
          <p:cNvSpPr/>
          <p:nvPr/>
        </p:nvSpPr>
        <p:spPr>
          <a:xfrm>
            <a:off x="3295650" y="3124200"/>
            <a:ext cx="3371850" cy="1181100"/>
          </a:xfrm>
          <a:prstGeom prst="rect">
            <a:avLst/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ompare-row-2-pros-item-1"/>
          <p:cNvSpPr txBox="1"/>
          <p:nvPr/>
        </p:nvSpPr>
        <p:spPr>
          <a:xfrm>
            <a:off x="3429000" y="321945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4532D"/>
                </a:solidFill>
                <a:latin typeface="Inter"/>
              </a:rPr>
              <a:t>✓  Real measurement at meaningful N</a:t>
            </a:r>
          </a:p>
        </p:txBody>
      </p:sp>
      <p:sp>
        <p:nvSpPr>
          <p:cNvPr id="32" name="compare-row-2-pros-item-2"/>
          <p:cNvSpPr txBox="1"/>
          <p:nvPr/>
        </p:nvSpPr>
        <p:spPr>
          <a:xfrm>
            <a:off x="3429000" y="354330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4532D"/>
                </a:solidFill>
                <a:latin typeface="Inter"/>
              </a:rPr>
              <a:t>✓  Builds the case for firm-wide scale</a:t>
            </a:r>
          </a:p>
        </p:txBody>
      </p:sp>
      <p:sp>
        <p:nvSpPr>
          <p:cNvPr id="33" name="compare-row-2-pros-item-3"/>
          <p:cNvSpPr txBox="1"/>
          <p:nvPr/>
        </p:nvSpPr>
        <p:spPr>
          <a:xfrm>
            <a:off x="3429000" y="386715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4532D"/>
                </a:solidFill>
                <a:latin typeface="Inter"/>
              </a:rPr>
              <a:t>✓  Demonstrates leadership commitment</a:t>
            </a:r>
          </a:p>
        </p:txBody>
      </p:sp>
      <p:sp>
        <p:nvSpPr>
          <p:cNvPr id="34" name="row-2-cons-bg"/>
          <p:cNvSpPr/>
          <p:nvPr/>
        </p:nvSpPr>
        <p:spPr>
          <a:xfrm>
            <a:off x="6762750" y="3124200"/>
            <a:ext cx="3371850" cy="1181100"/>
          </a:xfrm>
          <a:prstGeom prst="rect">
            <a:avLst/>
          </a:prstGeom>
          <a:solidFill>
            <a:srgbClr val="FECACA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compare-row-2-cons-item-1"/>
          <p:cNvSpPr txBox="1"/>
          <p:nvPr/>
        </p:nvSpPr>
        <p:spPr>
          <a:xfrm>
            <a:off x="6896100" y="321945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7F1D1D"/>
                </a:solidFill>
                <a:latin typeface="Inter"/>
              </a:rPr>
              <a:t>✕  Higher initial investment</a:t>
            </a:r>
          </a:p>
        </p:txBody>
      </p:sp>
      <p:sp>
        <p:nvSpPr>
          <p:cNvPr id="36" name="compare-row-2-cons-item-2"/>
          <p:cNvSpPr txBox="1"/>
          <p:nvPr/>
        </p:nvSpPr>
        <p:spPr>
          <a:xfrm>
            <a:off x="6896100" y="354330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7F1D1D"/>
                </a:solidFill>
                <a:latin typeface="Inter"/>
              </a:rPr>
              <a:t>✕  Exposes early failure visibly</a:t>
            </a:r>
          </a:p>
        </p:txBody>
      </p:sp>
      <p:sp>
        <p:nvSpPr>
          <p:cNvPr id="37" name="compare-row-2-cons-item-3"/>
          <p:cNvSpPr txBox="1"/>
          <p:nvPr/>
        </p:nvSpPr>
        <p:spPr>
          <a:xfrm>
            <a:off x="6896100" y="386715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7F1D1D"/>
                </a:solidFill>
                <a:latin typeface="Inter"/>
              </a:rPr>
              <a:t>✕  Requires onboarding bandwidth</a:t>
            </a:r>
          </a:p>
        </p:txBody>
      </p:sp>
      <p:sp>
        <p:nvSpPr>
          <p:cNvPr id="38" name="compare-row-2-rec"/>
          <p:cNvSpPr/>
          <p:nvPr/>
        </p:nvSpPr>
        <p:spPr>
          <a:xfrm>
            <a:off x="10229850" y="3124200"/>
            <a:ext cx="1428750" cy="1181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compare-row-2-rec-mark"/>
          <p:cNvSpPr txBox="1"/>
          <p:nvPr/>
        </p:nvSpPr>
        <p:spPr>
          <a:xfrm>
            <a:off x="10229850" y="3238500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PICK</a:t>
            </a:r>
          </a:p>
        </p:txBody>
      </p:sp>
      <p:sp>
        <p:nvSpPr>
          <p:cNvPr id="40" name="compare-row-2-rec-note"/>
          <p:cNvSpPr txBox="1"/>
          <p:nvPr/>
        </p:nvSpPr>
        <p:spPr>
          <a:xfrm>
            <a:off x="10306050" y="3581400"/>
            <a:ext cx="127635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Best risk-adjusted learning</a:t>
            </a:r>
          </a:p>
        </p:txBody>
      </p:sp>
      <p:sp>
        <p:nvSpPr>
          <p:cNvPr id="41" name="row-3-opt-bg"/>
          <p:cNvSpPr/>
          <p:nvPr/>
        </p:nvSpPr>
        <p:spPr>
          <a:xfrm>
            <a:off x="533400" y="4381500"/>
            <a:ext cx="2667000" cy="11811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row-3-opt-stripe"/>
          <p:cNvSpPr/>
          <p:nvPr/>
        </p:nvSpPr>
        <p:spPr>
          <a:xfrm>
            <a:off x="533400" y="4381500"/>
            <a:ext cx="38100" cy="11811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compare-row-3-letter"/>
          <p:cNvSpPr txBox="1"/>
          <p:nvPr/>
        </p:nvSpPr>
        <p:spPr>
          <a:xfrm>
            <a:off x="666750" y="4495800"/>
            <a:ext cx="24003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OPTION C</a:t>
            </a:r>
          </a:p>
        </p:txBody>
      </p:sp>
      <p:sp>
        <p:nvSpPr>
          <p:cNvPr id="44" name="compare-row-3-label"/>
          <p:cNvSpPr txBox="1"/>
          <p:nvPr/>
        </p:nvSpPr>
        <p:spPr>
          <a:xfrm>
            <a:off x="666750" y="4648200"/>
            <a:ext cx="24003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FIRM-WIDE LICENSE</a:t>
            </a:r>
          </a:p>
        </p:txBody>
      </p:sp>
      <p:sp>
        <p:nvSpPr>
          <p:cNvPr id="45" name="compare-row-3-desc"/>
          <p:cNvSpPr txBox="1"/>
          <p:nvPr/>
        </p:nvSpPr>
        <p:spPr>
          <a:xfrm>
            <a:off x="666750" y="4895850"/>
            <a:ext cx="240030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Buy a vendor product; deploy everywhere.</a:t>
            </a:r>
          </a:p>
        </p:txBody>
      </p:sp>
      <p:sp>
        <p:nvSpPr>
          <p:cNvPr id="46" name="row-3-pros-bg"/>
          <p:cNvSpPr/>
          <p:nvPr/>
        </p:nvSpPr>
        <p:spPr>
          <a:xfrm>
            <a:off x="3295650" y="4381500"/>
            <a:ext cx="3371850" cy="1181100"/>
          </a:xfrm>
          <a:prstGeom prst="rect">
            <a:avLst/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compare-row-3-pros-item-1"/>
          <p:cNvSpPr txBox="1"/>
          <p:nvPr/>
        </p:nvSpPr>
        <p:spPr>
          <a:xfrm>
            <a:off x="3429000" y="447675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4532D"/>
                </a:solidFill>
                <a:latin typeface="Inter"/>
              </a:rPr>
              <a:t>✓  Vendor support out of the box</a:t>
            </a:r>
          </a:p>
        </p:txBody>
      </p:sp>
      <p:sp>
        <p:nvSpPr>
          <p:cNvPr id="48" name="compare-row-3-pros-item-2"/>
          <p:cNvSpPr txBox="1"/>
          <p:nvPr/>
        </p:nvSpPr>
        <p:spPr>
          <a:xfrm>
            <a:off x="3429000" y="480060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4532D"/>
                </a:solidFill>
                <a:latin typeface="Inter"/>
              </a:rPr>
              <a:t>✓  Scale is immediate</a:t>
            </a:r>
          </a:p>
        </p:txBody>
      </p:sp>
      <p:sp>
        <p:nvSpPr>
          <p:cNvPr id="49" name="compare-row-3-pros-item-3"/>
          <p:cNvSpPr txBox="1"/>
          <p:nvPr/>
        </p:nvSpPr>
        <p:spPr>
          <a:xfrm>
            <a:off x="3429000" y="512445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4532D"/>
                </a:solidFill>
                <a:latin typeface="Inter"/>
              </a:rPr>
              <a:t>✓  Predictable cost line</a:t>
            </a:r>
          </a:p>
        </p:txBody>
      </p:sp>
      <p:sp>
        <p:nvSpPr>
          <p:cNvPr id="50" name="row-3-cons-bg"/>
          <p:cNvSpPr/>
          <p:nvPr/>
        </p:nvSpPr>
        <p:spPr>
          <a:xfrm>
            <a:off x="6762750" y="4381500"/>
            <a:ext cx="3371850" cy="1181100"/>
          </a:xfrm>
          <a:prstGeom prst="rect">
            <a:avLst/>
          </a:prstGeom>
          <a:solidFill>
            <a:srgbClr val="FECACA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compare-row-3-cons-item-1"/>
          <p:cNvSpPr txBox="1"/>
          <p:nvPr/>
        </p:nvSpPr>
        <p:spPr>
          <a:xfrm>
            <a:off x="6896100" y="447675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7F1D1D"/>
                </a:solidFill>
                <a:latin typeface="Inter"/>
              </a:rPr>
              <a:t>✕  No internal IP — nothing proprietary</a:t>
            </a:r>
          </a:p>
        </p:txBody>
      </p:sp>
      <p:sp>
        <p:nvSpPr>
          <p:cNvPr id="52" name="compare-row-3-cons-item-2"/>
          <p:cNvSpPr txBox="1"/>
          <p:nvPr/>
        </p:nvSpPr>
        <p:spPr>
          <a:xfrm>
            <a:off x="6896100" y="480060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7F1D1D"/>
                </a:solidFill>
                <a:latin typeface="Inter"/>
              </a:rPr>
              <a:t>✕  Vendor lock-in on roadmap &amp; price</a:t>
            </a:r>
          </a:p>
        </p:txBody>
      </p:sp>
      <p:sp>
        <p:nvSpPr>
          <p:cNvPr id="53" name="compare-row-3-cons-item-3"/>
          <p:cNvSpPr txBox="1"/>
          <p:nvPr/>
        </p:nvSpPr>
        <p:spPr>
          <a:xfrm>
            <a:off x="6896100" y="512445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7F1D1D"/>
                </a:solidFill>
                <a:latin typeface="Inter"/>
              </a:rPr>
              <a:t>✕  Can't tune to our taste or templates</a:t>
            </a:r>
          </a:p>
        </p:txBody>
      </p:sp>
      <p:sp>
        <p:nvSpPr>
          <p:cNvPr id="54" name="compare-row-3-rec"/>
          <p:cNvSpPr/>
          <p:nvPr/>
        </p:nvSpPr>
        <p:spPr>
          <a:xfrm>
            <a:off x="10229850" y="4381500"/>
            <a:ext cx="14287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compare-row-3-rec-mark"/>
          <p:cNvSpPr txBox="1"/>
          <p:nvPr/>
        </p:nvSpPr>
        <p:spPr>
          <a:xfrm>
            <a:off x="10229850" y="4495800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94A3B8"/>
                </a:solidFill>
                <a:latin typeface="Inter"/>
              </a:rPr>
              <a:t>—</a:t>
            </a:r>
          </a:p>
        </p:txBody>
      </p:sp>
      <p:sp>
        <p:nvSpPr>
          <p:cNvPr id="56" name="compare-row-3-rec-note"/>
          <p:cNvSpPr txBox="1"/>
          <p:nvPr/>
        </p:nvSpPr>
        <p:spPr>
          <a:xfrm>
            <a:off x="10306050" y="4838700"/>
            <a:ext cx="127635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Surrenders the IP advantage</a:t>
            </a:r>
          </a:p>
        </p:txBody>
      </p:sp>
      <p:sp>
        <p:nvSpPr>
          <p:cNvPr id="57" name="convergence-bg"/>
          <p:cNvSpPr/>
          <p:nvPr/>
        </p:nvSpPr>
        <p:spPr>
          <a:xfrm>
            <a:off x="533400" y="5600700"/>
            <a:ext cx="11125200" cy="3619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convergence-accent"/>
          <p:cNvSpPr/>
          <p:nvPr/>
        </p:nvSpPr>
        <p:spPr>
          <a:xfrm>
            <a:off x="533400" y="5600700"/>
            <a:ext cx="28575" cy="3619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convergence"/>
          <p:cNvSpPr txBox="1"/>
          <p:nvPr/>
        </p:nvSpPr>
        <p:spPr>
          <a:xfrm>
            <a:off x="742950" y="5600700"/>
            <a:ext cx="107061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1">
                <a:solidFill>
                  <a:srgbClr val="FFFFFF"/>
                </a:solidFill>
                <a:latin typeface="Inter"/>
              </a:rPr>
              <a:t>Pick option B — the cons are addressable; the pros are not replaceable.</a:t>
            </a:r>
          </a:p>
        </p:txBody>
      </p:sp>
      <p:sp>
        <p:nvSpPr>
          <p:cNvPr id="60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61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2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61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