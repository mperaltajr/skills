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Building a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Competitive Edge</a:t>
            </a:r>
            <a:r>
              <a:rPr sz="2400" b="1" i="0">
                <a:solidFill>
                  <a:srgbClr val="FFFFFF"/>
                </a:solidFill>
                <a:latin typeface="Inter"/>
              </a:rPr>
              <a:t> Through Core Competencies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Structured view of capability domains, key disciplines, and differentiation drivers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609600" y="2095500"/>
            <a:ext cx="10972800" cy="3810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ree-root-bg"/>
          <p:cNvSpPr/>
          <p:nvPr/>
        </p:nvSpPr>
        <p:spPr>
          <a:xfrm>
            <a:off x="4953000" y="2247900"/>
            <a:ext cx="2286000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ree-root"/>
          <p:cNvSpPr txBox="1"/>
          <p:nvPr/>
        </p:nvSpPr>
        <p:spPr>
          <a:xfrm>
            <a:off x="4953000" y="2247900"/>
            <a:ext cx="2286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Core Competency Platform</a:t>
            </a:r>
          </a:p>
        </p:txBody>
      </p:sp>
      <p:sp>
        <p:nvSpPr>
          <p:cNvPr id="8" name="tree-branch-1-bg"/>
          <p:cNvSpPr/>
          <p:nvPr/>
        </p:nvSpPr>
        <p:spPr>
          <a:xfrm>
            <a:off x="2076450" y="2971800"/>
            <a:ext cx="2476500" cy="3048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ree-branch-1-name"/>
          <p:cNvSpPr txBox="1"/>
          <p:nvPr/>
        </p:nvSpPr>
        <p:spPr>
          <a:xfrm>
            <a:off x="2076450" y="29718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Technology &amp; Engineering</a:t>
            </a:r>
          </a:p>
        </p:txBody>
      </p:sp>
      <p:sp>
        <p:nvSpPr>
          <p:cNvPr id="10" name="tree-branch-1-leaf-1-bg"/>
          <p:cNvSpPr/>
          <p:nvPr/>
        </p:nvSpPr>
        <p:spPr>
          <a:xfrm>
            <a:off x="2076450" y="3505200"/>
            <a:ext cx="2476500" cy="36195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ree-branch-1-leaf-1"/>
          <p:cNvSpPr txBox="1"/>
          <p:nvPr/>
        </p:nvSpPr>
        <p:spPr>
          <a:xfrm>
            <a:off x="2076450" y="35433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Cloud Architecture</a:t>
            </a:r>
          </a:p>
        </p:txBody>
      </p:sp>
      <p:sp>
        <p:nvSpPr>
          <p:cNvPr id="12" name="tree-branch-1-leaf-1-sub"/>
          <p:cNvSpPr txBox="1"/>
          <p:nvPr/>
        </p:nvSpPr>
        <p:spPr>
          <a:xfrm>
            <a:off x="2076450" y="36957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Multi-cloud &amp; hybrid platforms</a:t>
            </a:r>
          </a:p>
        </p:txBody>
      </p:sp>
      <p:sp>
        <p:nvSpPr>
          <p:cNvPr id="13" name="tree-branch-1-leaf-2-bg"/>
          <p:cNvSpPr/>
          <p:nvPr/>
        </p:nvSpPr>
        <p:spPr>
          <a:xfrm>
            <a:off x="2076450" y="3943350"/>
            <a:ext cx="2476500" cy="36195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ree-branch-1-leaf-2"/>
          <p:cNvSpPr txBox="1"/>
          <p:nvPr/>
        </p:nvSpPr>
        <p:spPr>
          <a:xfrm>
            <a:off x="2076450" y="398145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AI / ML Solutions</a:t>
            </a:r>
          </a:p>
        </p:txBody>
      </p:sp>
      <p:sp>
        <p:nvSpPr>
          <p:cNvPr id="15" name="tree-branch-1-leaf-2-sub"/>
          <p:cNvSpPr txBox="1"/>
          <p:nvPr/>
        </p:nvSpPr>
        <p:spPr>
          <a:xfrm>
            <a:off x="2076450" y="413385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Applied intelligence at scale</a:t>
            </a:r>
          </a:p>
        </p:txBody>
      </p:sp>
      <p:sp>
        <p:nvSpPr>
          <p:cNvPr id="16" name="tree-branch-1-leaf-3-bg"/>
          <p:cNvSpPr/>
          <p:nvPr/>
        </p:nvSpPr>
        <p:spPr>
          <a:xfrm>
            <a:off x="2076450" y="4381500"/>
            <a:ext cx="2476500" cy="36195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ree-branch-1-leaf-3"/>
          <p:cNvSpPr txBox="1"/>
          <p:nvPr/>
        </p:nvSpPr>
        <p:spPr>
          <a:xfrm>
            <a:off x="2076450" y="44196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Cybersecurity</a:t>
            </a:r>
          </a:p>
        </p:txBody>
      </p:sp>
      <p:sp>
        <p:nvSpPr>
          <p:cNvPr id="18" name="tree-branch-1-leaf-3-sub"/>
          <p:cNvSpPr txBox="1"/>
          <p:nvPr/>
        </p:nvSpPr>
        <p:spPr>
          <a:xfrm>
            <a:off x="2076450" y="45720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Zero-trust &amp; threat response</a:t>
            </a:r>
          </a:p>
        </p:txBody>
      </p:sp>
      <p:sp>
        <p:nvSpPr>
          <p:cNvPr id="19" name="tree-branch-2-bg"/>
          <p:cNvSpPr/>
          <p:nvPr/>
        </p:nvSpPr>
        <p:spPr>
          <a:xfrm>
            <a:off x="4857750" y="2971800"/>
            <a:ext cx="2476500" cy="3048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ree-branch-2-name"/>
          <p:cNvSpPr txBox="1"/>
          <p:nvPr/>
        </p:nvSpPr>
        <p:spPr>
          <a:xfrm>
            <a:off x="4857750" y="29718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Industry Expertise</a:t>
            </a:r>
          </a:p>
        </p:txBody>
      </p:sp>
      <p:sp>
        <p:nvSpPr>
          <p:cNvPr id="21" name="tree-branch-2-leaf-1-bg"/>
          <p:cNvSpPr/>
          <p:nvPr/>
        </p:nvSpPr>
        <p:spPr>
          <a:xfrm>
            <a:off x="4857750" y="3505200"/>
            <a:ext cx="2476500" cy="36195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ree-branch-2-leaf-1"/>
          <p:cNvSpPr txBox="1"/>
          <p:nvPr/>
        </p:nvSpPr>
        <p:spPr>
          <a:xfrm>
            <a:off x="4857750" y="35433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Sector Knowledge</a:t>
            </a:r>
          </a:p>
        </p:txBody>
      </p:sp>
      <p:sp>
        <p:nvSpPr>
          <p:cNvPr id="23" name="tree-branch-2-leaf-1-sub"/>
          <p:cNvSpPr txBox="1"/>
          <p:nvPr/>
        </p:nvSpPr>
        <p:spPr>
          <a:xfrm>
            <a:off x="4857750" y="36957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Deep domain specialists</a:t>
            </a:r>
          </a:p>
        </p:txBody>
      </p:sp>
      <p:sp>
        <p:nvSpPr>
          <p:cNvPr id="24" name="tree-branch-2-leaf-2-bg"/>
          <p:cNvSpPr/>
          <p:nvPr/>
        </p:nvSpPr>
        <p:spPr>
          <a:xfrm>
            <a:off x="4857750" y="3943350"/>
            <a:ext cx="2476500" cy="36195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ree-branch-2-leaf-2"/>
          <p:cNvSpPr txBox="1"/>
          <p:nvPr/>
        </p:nvSpPr>
        <p:spPr>
          <a:xfrm>
            <a:off x="4857750" y="398145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Regulatory Acumen</a:t>
            </a:r>
          </a:p>
        </p:txBody>
      </p:sp>
      <p:sp>
        <p:nvSpPr>
          <p:cNvPr id="26" name="tree-branch-2-leaf-2-sub"/>
          <p:cNvSpPr txBox="1"/>
          <p:nvPr/>
        </p:nvSpPr>
        <p:spPr>
          <a:xfrm>
            <a:off x="4857750" y="413385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Compliance &amp; policy alignment</a:t>
            </a:r>
          </a:p>
        </p:txBody>
      </p:sp>
      <p:sp>
        <p:nvSpPr>
          <p:cNvPr id="27" name="tree-branch-2-leaf-3-bg"/>
          <p:cNvSpPr/>
          <p:nvPr/>
        </p:nvSpPr>
        <p:spPr>
          <a:xfrm>
            <a:off x="4857750" y="4381500"/>
            <a:ext cx="2476500" cy="36195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ree-branch-2-leaf-3"/>
          <p:cNvSpPr txBox="1"/>
          <p:nvPr/>
        </p:nvSpPr>
        <p:spPr>
          <a:xfrm>
            <a:off x="4857750" y="44196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Market Intelligence</a:t>
            </a:r>
          </a:p>
        </p:txBody>
      </p:sp>
      <p:sp>
        <p:nvSpPr>
          <p:cNvPr id="29" name="tree-branch-2-leaf-3-sub"/>
          <p:cNvSpPr txBox="1"/>
          <p:nvPr/>
        </p:nvSpPr>
        <p:spPr>
          <a:xfrm>
            <a:off x="4857750" y="45720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Trend analysis &amp; benchmarking</a:t>
            </a:r>
          </a:p>
        </p:txBody>
      </p:sp>
      <p:sp>
        <p:nvSpPr>
          <p:cNvPr id="30" name="tree-branch-3-bg"/>
          <p:cNvSpPr/>
          <p:nvPr/>
        </p:nvSpPr>
        <p:spPr>
          <a:xfrm>
            <a:off x="7639050" y="2971800"/>
            <a:ext cx="2476500" cy="3048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ree-branch-3-name"/>
          <p:cNvSpPr txBox="1"/>
          <p:nvPr/>
        </p:nvSpPr>
        <p:spPr>
          <a:xfrm>
            <a:off x="7639050" y="29718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Delivery &amp; Operations</a:t>
            </a:r>
          </a:p>
        </p:txBody>
      </p:sp>
      <p:sp>
        <p:nvSpPr>
          <p:cNvPr id="32" name="tree-branch-3-leaf-1-bg"/>
          <p:cNvSpPr/>
          <p:nvPr/>
        </p:nvSpPr>
        <p:spPr>
          <a:xfrm>
            <a:off x="7639050" y="3505200"/>
            <a:ext cx="2476500" cy="36195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ree-branch-3-leaf-1"/>
          <p:cNvSpPr txBox="1"/>
          <p:nvPr/>
        </p:nvSpPr>
        <p:spPr>
          <a:xfrm>
            <a:off x="7639050" y="35433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Agile Execution</a:t>
            </a:r>
          </a:p>
        </p:txBody>
      </p:sp>
      <p:sp>
        <p:nvSpPr>
          <p:cNvPr id="34" name="tree-branch-3-leaf-1-sub"/>
          <p:cNvSpPr txBox="1"/>
          <p:nvPr/>
        </p:nvSpPr>
        <p:spPr>
          <a:xfrm>
            <a:off x="7639050" y="36957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Iterative delivery frameworks</a:t>
            </a:r>
          </a:p>
        </p:txBody>
      </p:sp>
      <p:sp>
        <p:nvSpPr>
          <p:cNvPr id="35" name="tree-branch-3-leaf-2-bg"/>
          <p:cNvSpPr/>
          <p:nvPr/>
        </p:nvSpPr>
        <p:spPr>
          <a:xfrm>
            <a:off x="7639050" y="3943350"/>
            <a:ext cx="2476500" cy="36195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tree-branch-3-leaf-2"/>
          <p:cNvSpPr txBox="1"/>
          <p:nvPr/>
        </p:nvSpPr>
        <p:spPr>
          <a:xfrm>
            <a:off x="7639050" y="398145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Talent &amp; Culture</a:t>
            </a:r>
          </a:p>
        </p:txBody>
      </p:sp>
      <p:sp>
        <p:nvSpPr>
          <p:cNvPr id="37" name="tree-branch-3-leaf-2-sub"/>
          <p:cNvSpPr txBox="1"/>
          <p:nvPr/>
        </p:nvSpPr>
        <p:spPr>
          <a:xfrm>
            <a:off x="7639050" y="413385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High-performance teaming</a:t>
            </a:r>
          </a:p>
        </p:txBody>
      </p:sp>
      <p:sp>
        <p:nvSpPr>
          <p:cNvPr id="38" name="diff-label"/>
          <p:cNvSpPr txBox="1"/>
          <p:nvPr/>
        </p:nvSpPr>
        <p:spPr>
          <a:xfrm>
            <a:off x="723900" y="56007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COMPETITIVE DIFFERENTIATION</a:t>
            </a:r>
          </a:p>
        </p:txBody>
      </p:sp>
      <p:sp>
        <p:nvSpPr>
          <p:cNvPr id="39" name="diff-chip-1"/>
          <p:cNvSpPr txBox="1"/>
          <p:nvPr/>
        </p:nvSpPr>
        <p:spPr>
          <a:xfrm>
            <a:off x="2895600" y="5562600"/>
            <a:ext cx="2743200" cy="228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End-to-End Integration</a:t>
            </a:r>
          </a:p>
        </p:txBody>
      </p:sp>
      <p:sp>
        <p:nvSpPr>
          <p:cNvPr id="40" name="diff-chip-2"/>
          <p:cNvSpPr txBox="1"/>
          <p:nvPr/>
        </p:nvSpPr>
        <p:spPr>
          <a:xfrm>
            <a:off x="5753100" y="5562600"/>
            <a:ext cx="2743200" cy="228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Proprietary Toolchain</a:t>
            </a:r>
          </a:p>
        </p:txBody>
      </p:sp>
      <p:sp>
        <p:nvSpPr>
          <p:cNvPr id="41" name="diff-chip-3"/>
          <p:cNvSpPr txBox="1"/>
          <p:nvPr/>
        </p:nvSpPr>
        <p:spPr>
          <a:xfrm>
            <a:off x="8610600" y="5562600"/>
            <a:ext cx="2743200" cy="228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Global Talent Network</a:t>
            </a:r>
          </a:p>
        </p:txBody>
      </p:sp>
      <p:sp>
        <p:nvSpPr>
          <p:cNvPr id="4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