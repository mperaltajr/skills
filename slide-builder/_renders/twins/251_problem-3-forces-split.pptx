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panel"/>
          <p:cNvSpPr/>
          <p:nvPr/>
        </p:nvSpPr>
        <p:spPr>
          <a:xfrm>
            <a:off x="0" y="0"/>
            <a:ext cx="3905250" cy="65532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eyebrow"/>
          <p:cNvSpPr txBox="1"/>
          <p:nvPr/>
        </p:nvSpPr>
        <p:spPr>
          <a:xfrm>
            <a:off x="381000" y="781050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THE PROBLEM</a:t>
            </a:r>
          </a:p>
        </p:txBody>
      </p:sp>
      <p:sp>
        <p:nvSpPr>
          <p:cNvPr id="4" name="hero-statement"/>
          <p:cNvSpPr txBox="1"/>
          <p:nvPr/>
        </p:nvSpPr>
        <p:spPr>
          <a:xfrm>
            <a:off x="381000" y="1104900"/>
            <a:ext cx="31432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Consultants rarely lack ideas — they struggle to cut through them.</a:t>
            </a:r>
          </a:p>
        </p:txBody>
      </p:sp>
      <p:sp>
        <p:nvSpPr>
          <p:cNvPr id="5" name="hero-rule"/>
          <p:cNvSpPr/>
          <p:nvPr/>
        </p:nvSpPr>
        <p:spPr>
          <a:xfrm>
            <a:off x="381000" y="3581400"/>
            <a:ext cx="3810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hero-context"/>
          <p:cNvSpPr txBox="1"/>
          <p:nvPr/>
        </p:nvSpPr>
        <p:spPr>
          <a:xfrm>
            <a:off x="381000" y="3810000"/>
            <a:ext cx="314325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0" i="0">
                <a:solidFill>
                  <a:srgbClr val="C780FF"/>
                </a:solidFill>
                <a:latin typeface="Inter"/>
              </a:rPr>
              <a:t>Not a knowledge gap. Not a skill deficit. A structural problem — and structural problems have structural solutions.</a:t>
            </a:r>
          </a:p>
        </p:txBody>
      </p:sp>
      <p:sp>
        <p:nvSpPr>
          <p:cNvPr id="7" name="forces-label"/>
          <p:cNvSpPr txBox="1"/>
          <p:nvPr/>
        </p:nvSpPr>
        <p:spPr>
          <a:xfrm>
            <a:off x="4286250" y="781050"/>
            <a:ext cx="7524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THREE COMPOUNDING FORCES</a:t>
            </a:r>
          </a:p>
        </p:txBody>
      </p:sp>
      <p:sp>
        <p:nvSpPr>
          <p:cNvPr id="8" name="card-1-body-bg"/>
          <p:cNvSpPr/>
          <p:nvPr/>
        </p:nvSpPr>
        <p:spPr>
          <a:xfrm>
            <a:off x="4286250" y="1047750"/>
            <a:ext cx="7524750" cy="16383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accent"/>
          <p:cNvSpPr/>
          <p:nvPr/>
        </p:nvSpPr>
        <p:spPr>
          <a:xfrm>
            <a:off x="4286250" y="1047750"/>
            <a:ext cx="38100" cy="1638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ard-1-icon-bg"/>
          <p:cNvSpPr/>
          <p:nvPr/>
        </p:nvSpPr>
        <p:spPr>
          <a:xfrm>
            <a:off x="4514850" y="1638300"/>
            <a:ext cx="4572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1-icon"/>
          <p:cNvSpPr txBox="1"/>
          <p:nvPr/>
        </p:nvSpPr>
        <p:spPr>
          <a:xfrm>
            <a:off x="4514850" y="1638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3000">
                <a:solidFill>
                  <a:srgbClr val="FFFFFF"/>
                </a:solidFill>
                <a:latin typeface="Segoe UI Symbol"/>
              </a:rPr>
              <a:t>📄</a:t>
            </a:r>
          </a:p>
        </p:txBody>
      </p:sp>
      <p:sp>
        <p:nvSpPr>
          <p:cNvPr id="12" name="card-1-heading"/>
          <p:cNvSpPr txBox="1"/>
          <p:nvPr/>
        </p:nvSpPr>
        <p:spPr>
          <a:xfrm>
            <a:off x="5143500" y="1219200"/>
            <a:ext cx="6496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Too much to say</a:t>
            </a:r>
          </a:p>
        </p:txBody>
      </p:sp>
      <p:sp>
        <p:nvSpPr>
          <p:cNvPr id="13" name="card-1-body"/>
          <p:cNvSpPr txBox="1"/>
          <p:nvPr/>
        </p:nvSpPr>
        <p:spPr>
          <a:xfrm>
            <a:off x="5143500" y="1485900"/>
            <a:ext cx="6496050" cy="1104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Knowing what to cut is harder than knowing what to include. Every workstream generates legitimate findings.</a:t>
            </a:r>
          </a:p>
        </p:txBody>
      </p:sp>
      <p:sp>
        <p:nvSpPr>
          <p:cNvPr id="14" name="card-2-body-bg"/>
          <p:cNvSpPr/>
          <p:nvPr/>
        </p:nvSpPr>
        <p:spPr>
          <a:xfrm>
            <a:off x="4286250" y="2781300"/>
            <a:ext cx="7524750" cy="16383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2-accent"/>
          <p:cNvSpPr/>
          <p:nvPr/>
        </p:nvSpPr>
        <p:spPr>
          <a:xfrm>
            <a:off x="4286250" y="2781300"/>
            <a:ext cx="38100" cy="1638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icon-bg"/>
          <p:cNvSpPr/>
          <p:nvPr/>
        </p:nvSpPr>
        <p:spPr>
          <a:xfrm>
            <a:off x="4514850" y="3371850"/>
            <a:ext cx="4572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2-icon"/>
          <p:cNvSpPr txBox="1"/>
          <p:nvPr/>
        </p:nvSpPr>
        <p:spPr>
          <a:xfrm>
            <a:off x="4514850" y="33718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3000">
                <a:solidFill>
                  <a:srgbClr val="FFFFFF"/>
                </a:solidFill>
                <a:latin typeface="Segoe UI Symbol"/>
              </a:rPr>
              <a:t>👥</a:t>
            </a:r>
          </a:p>
        </p:txBody>
      </p:sp>
      <p:sp>
        <p:nvSpPr>
          <p:cNvPr id="18" name="card-2-heading"/>
          <p:cNvSpPr txBox="1"/>
          <p:nvPr/>
        </p:nvSpPr>
        <p:spPr>
          <a:xfrm>
            <a:off x="5143500" y="2952750"/>
            <a:ext cx="6496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Too many cooks</a:t>
            </a:r>
          </a:p>
        </p:txBody>
      </p:sp>
      <p:sp>
        <p:nvSpPr>
          <p:cNvPr id="19" name="card-2-body"/>
          <p:cNvSpPr txBox="1"/>
          <p:nvPr/>
        </p:nvSpPr>
        <p:spPr>
          <a:xfrm>
            <a:off x="5143500" y="3219450"/>
            <a:ext cx="6496050" cy="1104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Every collaborator has a view on what belongs on the page — more opinions mean harder choices, not a richer argument.</a:t>
            </a:r>
          </a:p>
        </p:txBody>
      </p:sp>
      <p:sp>
        <p:nvSpPr>
          <p:cNvPr id="20" name="card-3-body-bg"/>
          <p:cNvSpPr/>
          <p:nvPr/>
        </p:nvSpPr>
        <p:spPr>
          <a:xfrm>
            <a:off x="4286250" y="4514850"/>
            <a:ext cx="7524750" cy="16383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3-accent"/>
          <p:cNvSpPr/>
          <p:nvPr/>
        </p:nvSpPr>
        <p:spPr>
          <a:xfrm>
            <a:off x="4286250" y="4514850"/>
            <a:ext cx="38100" cy="1638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rd-3-icon-bg"/>
          <p:cNvSpPr/>
          <p:nvPr/>
        </p:nvSpPr>
        <p:spPr>
          <a:xfrm>
            <a:off x="4514850" y="5105400"/>
            <a:ext cx="4572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icon"/>
          <p:cNvSpPr txBox="1"/>
          <p:nvPr/>
        </p:nvSpPr>
        <p:spPr>
          <a:xfrm>
            <a:off x="4514850" y="5105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3000">
                <a:solidFill>
                  <a:srgbClr val="FFFFFF"/>
                </a:solidFill>
                <a:latin typeface="Segoe UI Symbol"/>
              </a:rPr>
              <a:t>→</a:t>
            </a:r>
          </a:p>
        </p:txBody>
      </p:sp>
      <p:sp>
        <p:nvSpPr>
          <p:cNvPr id="24" name="card-3-heading"/>
          <p:cNvSpPr txBox="1"/>
          <p:nvPr/>
        </p:nvSpPr>
        <p:spPr>
          <a:xfrm>
            <a:off x="5143500" y="4686300"/>
            <a:ext cx="6496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The audience needs what's next</a:t>
            </a:r>
          </a:p>
        </p:txBody>
      </p:sp>
      <p:sp>
        <p:nvSpPr>
          <p:cNvPr id="25" name="card-3-body"/>
          <p:cNvSpPr txBox="1"/>
          <p:nvPr/>
        </p:nvSpPr>
        <p:spPr>
          <a:xfrm>
            <a:off x="5143500" y="4953000"/>
            <a:ext cx="6496050" cy="1104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They don't need to understand all the work — they need to understand the next step.</a:t>
            </a:r>
          </a:p>
        </p:txBody>
      </p:sp>
      <p:sp>
        <p:nvSpPr>
          <p:cNvPr id="2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