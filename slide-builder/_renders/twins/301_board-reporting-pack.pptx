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Board reporting pack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summary, decisions &amp; risks.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Board Pack · Q2 2026 · Pre-read summary for non-executive directors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kpi-strip"/>
          <p:cNvSpPr/>
          <p:nvPr/>
        </p:nvSpPr>
        <p:spPr>
          <a:xfrm>
            <a:off x="457200" y="1695450"/>
            <a:ext cx="11277600" cy="723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kpi-1-accent"/>
          <p:cNvSpPr/>
          <p:nvPr/>
        </p:nvSpPr>
        <p:spPr>
          <a:xfrm>
            <a:off x="457200" y="1695450"/>
            <a:ext cx="22479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kpi-1-divider"/>
          <p:cNvSpPr/>
          <p:nvPr/>
        </p:nvSpPr>
        <p:spPr>
          <a:xfrm>
            <a:off x="2695575" y="1752600"/>
            <a:ext cx="9525" cy="6096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kpi-1-name"/>
          <p:cNvSpPr txBox="1"/>
          <p:nvPr/>
        </p:nvSpPr>
        <p:spPr>
          <a:xfrm>
            <a:off x="590550" y="1847850"/>
            <a:ext cx="1981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REVENUE YTD</a:t>
            </a:r>
          </a:p>
        </p:txBody>
      </p:sp>
      <p:sp>
        <p:nvSpPr>
          <p:cNvPr id="9" name="kpi-1-value"/>
          <p:cNvSpPr txBox="1"/>
          <p:nvPr/>
        </p:nvSpPr>
        <p:spPr>
          <a:xfrm>
            <a:off x="590550" y="20193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$2.4B</a:t>
            </a:r>
          </a:p>
        </p:txBody>
      </p:sp>
      <p:sp>
        <p:nvSpPr>
          <p:cNvPr id="10" name="kpi-1-delta"/>
          <p:cNvSpPr txBox="1"/>
          <p:nvPr/>
        </p:nvSpPr>
        <p:spPr>
          <a:xfrm>
            <a:off x="590550" y="22098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+8%</a:t>
            </a:r>
          </a:p>
        </p:txBody>
      </p:sp>
      <p:sp>
        <p:nvSpPr>
          <p:cNvPr id="11" name="kpi-2-accent"/>
          <p:cNvSpPr/>
          <p:nvPr/>
        </p:nvSpPr>
        <p:spPr>
          <a:xfrm>
            <a:off x="2705100" y="1695450"/>
            <a:ext cx="22479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kpi-2-divider"/>
          <p:cNvSpPr/>
          <p:nvPr/>
        </p:nvSpPr>
        <p:spPr>
          <a:xfrm>
            <a:off x="4943475" y="1752600"/>
            <a:ext cx="9525" cy="6096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kpi-2-name"/>
          <p:cNvSpPr txBox="1"/>
          <p:nvPr/>
        </p:nvSpPr>
        <p:spPr>
          <a:xfrm>
            <a:off x="2838450" y="1847850"/>
            <a:ext cx="1981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EBITDA MARGIN</a:t>
            </a:r>
          </a:p>
        </p:txBody>
      </p:sp>
      <p:sp>
        <p:nvSpPr>
          <p:cNvPr id="14" name="kpi-2-value"/>
          <p:cNvSpPr txBox="1"/>
          <p:nvPr/>
        </p:nvSpPr>
        <p:spPr>
          <a:xfrm>
            <a:off x="2838450" y="20193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22.1%</a:t>
            </a:r>
          </a:p>
        </p:txBody>
      </p:sp>
      <p:sp>
        <p:nvSpPr>
          <p:cNvPr id="15" name="kpi-2-delta"/>
          <p:cNvSpPr txBox="1"/>
          <p:nvPr/>
        </p:nvSpPr>
        <p:spPr>
          <a:xfrm>
            <a:off x="2838450" y="22098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+1.4pp</a:t>
            </a:r>
          </a:p>
        </p:txBody>
      </p:sp>
      <p:sp>
        <p:nvSpPr>
          <p:cNvPr id="16" name="kpi-3-accent"/>
          <p:cNvSpPr/>
          <p:nvPr/>
        </p:nvSpPr>
        <p:spPr>
          <a:xfrm>
            <a:off x="4953000" y="1695450"/>
            <a:ext cx="22479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kpi-3-divider"/>
          <p:cNvSpPr/>
          <p:nvPr/>
        </p:nvSpPr>
        <p:spPr>
          <a:xfrm>
            <a:off x="7191375" y="1752600"/>
            <a:ext cx="9525" cy="6096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kpi-3-name"/>
          <p:cNvSpPr txBox="1"/>
          <p:nvPr/>
        </p:nvSpPr>
        <p:spPr>
          <a:xfrm>
            <a:off x="5086350" y="1847850"/>
            <a:ext cx="1981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CASH POSITION</a:t>
            </a:r>
          </a:p>
        </p:txBody>
      </p:sp>
      <p:sp>
        <p:nvSpPr>
          <p:cNvPr id="19" name="kpi-3-value"/>
          <p:cNvSpPr txBox="1"/>
          <p:nvPr/>
        </p:nvSpPr>
        <p:spPr>
          <a:xfrm>
            <a:off x="5086350" y="20193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$640M</a:t>
            </a:r>
          </a:p>
        </p:txBody>
      </p:sp>
      <p:sp>
        <p:nvSpPr>
          <p:cNvPr id="20" name="kpi-3-delta"/>
          <p:cNvSpPr txBox="1"/>
          <p:nvPr/>
        </p:nvSpPr>
        <p:spPr>
          <a:xfrm>
            <a:off x="5086350" y="22098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−4%</a:t>
            </a:r>
          </a:p>
        </p:txBody>
      </p:sp>
      <p:sp>
        <p:nvSpPr>
          <p:cNvPr id="21" name="kpi-4-accent"/>
          <p:cNvSpPr/>
          <p:nvPr/>
        </p:nvSpPr>
        <p:spPr>
          <a:xfrm>
            <a:off x="7200900" y="1695450"/>
            <a:ext cx="22479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kpi-4-divider"/>
          <p:cNvSpPr/>
          <p:nvPr/>
        </p:nvSpPr>
        <p:spPr>
          <a:xfrm>
            <a:off x="9439275" y="1752600"/>
            <a:ext cx="9525" cy="6096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kpi-4-name"/>
          <p:cNvSpPr txBox="1"/>
          <p:nvPr/>
        </p:nvSpPr>
        <p:spPr>
          <a:xfrm>
            <a:off x="7334250" y="1847850"/>
            <a:ext cx="1981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NPS SCORE</a:t>
            </a:r>
          </a:p>
        </p:txBody>
      </p:sp>
      <p:sp>
        <p:nvSpPr>
          <p:cNvPr id="24" name="kpi-4-value"/>
          <p:cNvSpPr txBox="1"/>
          <p:nvPr/>
        </p:nvSpPr>
        <p:spPr>
          <a:xfrm>
            <a:off x="7334250" y="20193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+68</a:t>
            </a:r>
          </a:p>
        </p:txBody>
      </p:sp>
      <p:sp>
        <p:nvSpPr>
          <p:cNvPr id="25" name="kpi-4-delta"/>
          <p:cNvSpPr txBox="1"/>
          <p:nvPr/>
        </p:nvSpPr>
        <p:spPr>
          <a:xfrm>
            <a:off x="7334250" y="22098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+5pts</a:t>
            </a:r>
          </a:p>
        </p:txBody>
      </p:sp>
      <p:sp>
        <p:nvSpPr>
          <p:cNvPr id="26" name="kpi-5-accent"/>
          <p:cNvSpPr/>
          <p:nvPr/>
        </p:nvSpPr>
        <p:spPr>
          <a:xfrm>
            <a:off x="9448800" y="1695450"/>
            <a:ext cx="22479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kpi-5-name"/>
          <p:cNvSpPr txBox="1"/>
          <p:nvPr/>
        </p:nvSpPr>
        <p:spPr>
          <a:xfrm>
            <a:off x="9582150" y="1847850"/>
            <a:ext cx="1981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HEADCOUNT</a:t>
            </a:r>
          </a:p>
        </p:txBody>
      </p:sp>
      <p:sp>
        <p:nvSpPr>
          <p:cNvPr id="28" name="kpi-5-value"/>
          <p:cNvSpPr txBox="1"/>
          <p:nvPr/>
        </p:nvSpPr>
        <p:spPr>
          <a:xfrm>
            <a:off x="9582150" y="20193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12,480</a:t>
            </a:r>
          </a:p>
        </p:txBody>
      </p:sp>
      <p:sp>
        <p:nvSpPr>
          <p:cNvPr id="29" name="kpi-5-delta"/>
          <p:cNvSpPr txBox="1"/>
          <p:nvPr/>
        </p:nvSpPr>
        <p:spPr>
          <a:xfrm>
            <a:off x="9582150" y="22098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■ +0.3%</a:t>
            </a:r>
          </a:p>
        </p:txBody>
      </p:sp>
      <p:sp>
        <p:nvSpPr>
          <p:cNvPr id="30" name="agenda-zone-label"/>
          <p:cNvSpPr txBox="1"/>
          <p:nvPr/>
        </p:nvSpPr>
        <p:spPr>
          <a:xfrm>
            <a:off x="457200" y="2552700"/>
            <a:ext cx="6991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BOARD AGENDA</a:t>
            </a:r>
          </a:p>
        </p:txBody>
      </p:sp>
      <p:sp>
        <p:nvSpPr>
          <p:cNvPr id="31" name="agenda-zone-rule"/>
          <p:cNvSpPr/>
          <p:nvPr/>
        </p:nvSpPr>
        <p:spPr>
          <a:xfrm>
            <a:off x="457200" y="2762250"/>
            <a:ext cx="699135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agenda-1-divider"/>
          <p:cNvSpPr/>
          <p:nvPr/>
        </p:nvSpPr>
        <p:spPr>
          <a:xfrm>
            <a:off x="457200" y="3467100"/>
            <a:ext cx="69913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genda-1-num-bg"/>
          <p:cNvSpPr/>
          <p:nvPr/>
        </p:nvSpPr>
        <p:spPr>
          <a:xfrm>
            <a:off x="457200" y="303847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genda-1-num"/>
          <p:cNvSpPr txBox="1"/>
          <p:nvPr/>
        </p:nvSpPr>
        <p:spPr>
          <a:xfrm>
            <a:off x="457200" y="30384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5" name="agenda-1-topic"/>
          <p:cNvSpPr txBox="1"/>
          <p:nvPr/>
        </p:nvSpPr>
        <p:spPr>
          <a:xfrm>
            <a:off x="838200" y="2971800"/>
            <a:ext cx="603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Q2 Financial Performance — revenue, margin &amp; cash bridge</a:t>
            </a:r>
          </a:p>
        </p:txBody>
      </p:sp>
      <p:sp>
        <p:nvSpPr>
          <p:cNvPr id="36" name="agenda-1-presenter"/>
          <p:cNvSpPr txBox="1"/>
          <p:nvPr/>
        </p:nvSpPr>
        <p:spPr>
          <a:xfrm>
            <a:off x="838200" y="3162300"/>
            <a:ext cx="6038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CFO · Sarah Mitchell</a:t>
            </a:r>
          </a:p>
        </p:txBody>
      </p:sp>
      <p:sp>
        <p:nvSpPr>
          <p:cNvPr id="37" name="agenda-1-time"/>
          <p:cNvSpPr txBox="1"/>
          <p:nvPr/>
        </p:nvSpPr>
        <p:spPr>
          <a:xfrm>
            <a:off x="6877050" y="30099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20 min</a:t>
            </a:r>
          </a:p>
        </p:txBody>
      </p:sp>
      <p:sp>
        <p:nvSpPr>
          <p:cNvPr id="38" name="agenda-1-time-label"/>
          <p:cNvSpPr txBox="1"/>
          <p:nvPr/>
        </p:nvSpPr>
        <p:spPr>
          <a:xfrm>
            <a:off x="6877050" y="318135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TIME ALLOC.</a:t>
            </a:r>
          </a:p>
        </p:txBody>
      </p:sp>
      <p:sp>
        <p:nvSpPr>
          <p:cNvPr id="39" name="agenda-2-divider"/>
          <p:cNvSpPr/>
          <p:nvPr/>
        </p:nvSpPr>
        <p:spPr>
          <a:xfrm>
            <a:off x="457200" y="4086225"/>
            <a:ext cx="69913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agenda-2-num-bg"/>
          <p:cNvSpPr/>
          <p:nvPr/>
        </p:nvSpPr>
        <p:spPr>
          <a:xfrm>
            <a:off x="457200" y="36576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agenda-2-num"/>
          <p:cNvSpPr txBox="1"/>
          <p:nvPr/>
        </p:nvSpPr>
        <p:spPr>
          <a:xfrm>
            <a:off x="457200" y="3657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2" name="agenda-2-topic"/>
          <p:cNvSpPr txBox="1"/>
          <p:nvPr/>
        </p:nvSpPr>
        <p:spPr>
          <a:xfrm>
            <a:off x="838200" y="3590925"/>
            <a:ext cx="603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Strategic Initiatives Update — cloud transformation &amp; M&amp;A pipeline</a:t>
            </a:r>
          </a:p>
        </p:txBody>
      </p:sp>
      <p:sp>
        <p:nvSpPr>
          <p:cNvPr id="43" name="agenda-2-presenter"/>
          <p:cNvSpPr txBox="1"/>
          <p:nvPr/>
        </p:nvSpPr>
        <p:spPr>
          <a:xfrm>
            <a:off x="838200" y="3781425"/>
            <a:ext cx="6038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CEO · James Okafor</a:t>
            </a:r>
          </a:p>
        </p:txBody>
      </p:sp>
      <p:sp>
        <p:nvSpPr>
          <p:cNvPr id="44" name="agenda-2-time"/>
          <p:cNvSpPr txBox="1"/>
          <p:nvPr/>
        </p:nvSpPr>
        <p:spPr>
          <a:xfrm>
            <a:off x="6877050" y="362902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25 min</a:t>
            </a:r>
          </a:p>
        </p:txBody>
      </p:sp>
      <p:sp>
        <p:nvSpPr>
          <p:cNvPr id="45" name="agenda-2-time-label"/>
          <p:cNvSpPr txBox="1"/>
          <p:nvPr/>
        </p:nvSpPr>
        <p:spPr>
          <a:xfrm>
            <a:off x="6877050" y="3800475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TIME ALLOC.</a:t>
            </a:r>
          </a:p>
        </p:txBody>
      </p:sp>
      <p:sp>
        <p:nvSpPr>
          <p:cNvPr id="46" name="agenda-3-divider"/>
          <p:cNvSpPr/>
          <p:nvPr/>
        </p:nvSpPr>
        <p:spPr>
          <a:xfrm>
            <a:off x="457200" y="4705350"/>
            <a:ext cx="69913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agenda-3-num-bg"/>
          <p:cNvSpPr/>
          <p:nvPr/>
        </p:nvSpPr>
        <p:spPr>
          <a:xfrm>
            <a:off x="457200" y="427672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agenda-3-num"/>
          <p:cNvSpPr txBox="1"/>
          <p:nvPr/>
        </p:nvSpPr>
        <p:spPr>
          <a:xfrm>
            <a:off x="457200" y="427672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9" name="agenda-3-topic"/>
          <p:cNvSpPr txBox="1"/>
          <p:nvPr/>
        </p:nvSpPr>
        <p:spPr>
          <a:xfrm>
            <a:off x="838200" y="4210050"/>
            <a:ext cx="603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Risk &amp; Compliance Review — regulatory horizon &amp; open actions</a:t>
            </a:r>
          </a:p>
        </p:txBody>
      </p:sp>
      <p:sp>
        <p:nvSpPr>
          <p:cNvPr id="50" name="agenda-3-presenter"/>
          <p:cNvSpPr txBox="1"/>
          <p:nvPr/>
        </p:nvSpPr>
        <p:spPr>
          <a:xfrm>
            <a:off x="838200" y="4400550"/>
            <a:ext cx="6038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CRO · Dana Voss</a:t>
            </a:r>
          </a:p>
        </p:txBody>
      </p:sp>
      <p:sp>
        <p:nvSpPr>
          <p:cNvPr id="51" name="agenda-3-time"/>
          <p:cNvSpPr txBox="1"/>
          <p:nvPr/>
        </p:nvSpPr>
        <p:spPr>
          <a:xfrm>
            <a:off x="6877050" y="42481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15 min</a:t>
            </a:r>
          </a:p>
        </p:txBody>
      </p:sp>
      <p:sp>
        <p:nvSpPr>
          <p:cNvPr id="52" name="agenda-3-time-label"/>
          <p:cNvSpPr txBox="1"/>
          <p:nvPr/>
        </p:nvSpPr>
        <p:spPr>
          <a:xfrm>
            <a:off x="6877050" y="441960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TIME ALLOC.</a:t>
            </a:r>
          </a:p>
        </p:txBody>
      </p:sp>
      <p:sp>
        <p:nvSpPr>
          <p:cNvPr id="53" name="agenda-4-divider"/>
          <p:cNvSpPr/>
          <p:nvPr/>
        </p:nvSpPr>
        <p:spPr>
          <a:xfrm>
            <a:off x="457200" y="5324475"/>
            <a:ext cx="69913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agenda-4-num-bg"/>
          <p:cNvSpPr/>
          <p:nvPr/>
        </p:nvSpPr>
        <p:spPr>
          <a:xfrm>
            <a:off x="457200" y="48958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agenda-4-num"/>
          <p:cNvSpPr txBox="1"/>
          <p:nvPr/>
        </p:nvSpPr>
        <p:spPr>
          <a:xfrm>
            <a:off x="457200" y="48958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6" name="agenda-4-topic"/>
          <p:cNvSpPr txBox="1"/>
          <p:nvPr/>
        </p:nvSpPr>
        <p:spPr>
          <a:xfrm>
            <a:off x="838200" y="4829175"/>
            <a:ext cx="603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People &amp; Culture Scorecard — attrition, DEI targets &amp; engagement</a:t>
            </a:r>
          </a:p>
        </p:txBody>
      </p:sp>
      <p:sp>
        <p:nvSpPr>
          <p:cNvPr id="57" name="agenda-4-presenter"/>
          <p:cNvSpPr txBox="1"/>
          <p:nvPr/>
        </p:nvSpPr>
        <p:spPr>
          <a:xfrm>
            <a:off x="838200" y="5019675"/>
            <a:ext cx="6038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CHRO · Priya Nair</a:t>
            </a:r>
          </a:p>
        </p:txBody>
      </p:sp>
      <p:sp>
        <p:nvSpPr>
          <p:cNvPr id="58" name="agenda-4-time"/>
          <p:cNvSpPr txBox="1"/>
          <p:nvPr/>
        </p:nvSpPr>
        <p:spPr>
          <a:xfrm>
            <a:off x="6877050" y="48672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10 min</a:t>
            </a:r>
          </a:p>
        </p:txBody>
      </p:sp>
      <p:sp>
        <p:nvSpPr>
          <p:cNvPr id="59" name="agenda-4-time-label"/>
          <p:cNvSpPr txBox="1"/>
          <p:nvPr/>
        </p:nvSpPr>
        <p:spPr>
          <a:xfrm>
            <a:off x="6877050" y="5038725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TIME ALLOC.</a:t>
            </a:r>
          </a:p>
        </p:txBody>
      </p:sp>
      <p:sp>
        <p:nvSpPr>
          <p:cNvPr id="60" name="agenda-5-num-bg"/>
          <p:cNvSpPr/>
          <p:nvPr/>
        </p:nvSpPr>
        <p:spPr>
          <a:xfrm>
            <a:off x="457200" y="5514975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agenda-5-num"/>
          <p:cNvSpPr txBox="1"/>
          <p:nvPr/>
        </p:nvSpPr>
        <p:spPr>
          <a:xfrm>
            <a:off x="457200" y="5514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2" name="agenda-5-topic"/>
          <p:cNvSpPr txBox="1"/>
          <p:nvPr/>
        </p:nvSpPr>
        <p:spPr>
          <a:xfrm>
            <a:off x="838200" y="5448300"/>
            <a:ext cx="603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Decisions &amp; Close — three board approvals required this session</a:t>
            </a:r>
          </a:p>
        </p:txBody>
      </p:sp>
      <p:sp>
        <p:nvSpPr>
          <p:cNvPr id="63" name="agenda-5-presenter"/>
          <p:cNvSpPr txBox="1"/>
          <p:nvPr/>
        </p:nvSpPr>
        <p:spPr>
          <a:xfrm>
            <a:off x="838200" y="5638800"/>
            <a:ext cx="6038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Board Chair · Helen Tran</a:t>
            </a:r>
          </a:p>
        </p:txBody>
      </p:sp>
      <p:sp>
        <p:nvSpPr>
          <p:cNvPr id="64" name="agenda-5-time"/>
          <p:cNvSpPr txBox="1"/>
          <p:nvPr/>
        </p:nvSpPr>
        <p:spPr>
          <a:xfrm>
            <a:off x="6877050" y="54864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10 min</a:t>
            </a:r>
          </a:p>
        </p:txBody>
      </p:sp>
      <p:sp>
        <p:nvSpPr>
          <p:cNvPr id="65" name="agenda-5-time-label"/>
          <p:cNvSpPr txBox="1"/>
          <p:nvPr/>
        </p:nvSpPr>
        <p:spPr>
          <a:xfrm>
            <a:off x="6877050" y="565785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TIME ALLOC.</a:t>
            </a:r>
          </a:p>
        </p:txBody>
      </p:sp>
      <p:sp>
        <p:nvSpPr>
          <p:cNvPr id="66" name="decisions-card"/>
          <p:cNvSpPr/>
          <p:nvPr/>
        </p:nvSpPr>
        <p:spPr>
          <a:xfrm>
            <a:off x="7620000" y="2552700"/>
            <a:ext cx="4114800" cy="1524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decisions-card-label"/>
          <p:cNvSpPr txBox="1"/>
          <p:nvPr/>
        </p:nvSpPr>
        <p:spPr>
          <a:xfrm>
            <a:off x="7753350" y="2667000"/>
            <a:ext cx="3848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DECISIONS REQUIRED</a:t>
            </a:r>
          </a:p>
        </p:txBody>
      </p:sp>
      <p:sp>
        <p:nvSpPr>
          <p:cNvPr id="68" name="decisions-rule"/>
          <p:cNvSpPr/>
          <p:nvPr/>
        </p:nvSpPr>
        <p:spPr>
          <a:xfrm>
            <a:off x="7753350" y="2838450"/>
            <a:ext cx="38481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decision-1-checkbox"/>
          <p:cNvSpPr/>
          <p:nvPr/>
        </p:nvSpPr>
        <p:spPr>
          <a:xfrm>
            <a:off x="7753350" y="2971800"/>
            <a:ext cx="1143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decision-1-text"/>
          <p:cNvSpPr txBox="1"/>
          <p:nvPr/>
        </p:nvSpPr>
        <p:spPr>
          <a:xfrm>
            <a:off x="7924800" y="2933700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Approve H2 capital allocation of $180M</a:t>
            </a:r>
          </a:p>
        </p:txBody>
      </p:sp>
      <p:sp>
        <p:nvSpPr>
          <p:cNvPr id="71" name="decision-1-owner"/>
          <p:cNvSpPr txBox="1"/>
          <p:nvPr/>
        </p:nvSpPr>
        <p:spPr>
          <a:xfrm>
            <a:off x="7924800" y="314325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OWNER: CFO</a:t>
            </a:r>
          </a:p>
        </p:txBody>
      </p:sp>
      <p:sp>
        <p:nvSpPr>
          <p:cNvPr id="72" name="decision-2-checkbox"/>
          <p:cNvSpPr/>
          <p:nvPr/>
        </p:nvSpPr>
        <p:spPr>
          <a:xfrm>
            <a:off x="7753350" y="3314700"/>
            <a:ext cx="1143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decision-2-text"/>
          <p:cNvSpPr txBox="1"/>
          <p:nvPr/>
        </p:nvSpPr>
        <p:spPr>
          <a:xfrm>
            <a:off x="7924800" y="3276600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Ratify proposed acquisition of DataBridge Inc.</a:t>
            </a:r>
          </a:p>
        </p:txBody>
      </p:sp>
      <p:sp>
        <p:nvSpPr>
          <p:cNvPr id="74" name="decision-2-owner"/>
          <p:cNvSpPr txBox="1"/>
          <p:nvPr/>
        </p:nvSpPr>
        <p:spPr>
          <a:xfrm>
            <a:off x="7924800" y="348615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OWNER: CEO &amp; LEGAL</a:t>
            </a:r>
          </a:p>
        </p:txBody>
      </p:sp>
      <p:sp>
        <p:nvSpPr>
          <p:cNvPr id="75" name="decision-3-checkbox"/>
          <p:cNvSpPr/>
          <p:nvPr/>
        </p:nvSpPr>
        <p:spPr>
          <a:xfrm>
            <a:off x="7753350" y="3657600"/>
            <a:ext cx="1143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decision-3-text"/>
          <p:cNvSpPr txBox="1"/>
          <p:nvPr/>
        </p:nvSpPr>
        <p:spPr>
          <a:xfrm>
            <a:off x="7924800" y="3619500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Endorse revised ESG targets for FY2027</a:t>
            </a:r>
          </a:p>
        </p:txBody>
      </p:sp>
      <p:sp>
        <p:nvSpPr>
          <p:cNvPr id="77" name="decision-3-owner"/>
          <p:cNvSpPr txBox="1"/>
          <p:nvPr/>
        </p:nvSpPr>
        <p:spPr>
          <a:xfrm>
            <a:off x="7924800" y="382905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OWNER: BOARD CHAIR</a:t>
            </a:r>
          </a:p>
        </p:txBody>
      </p:sp>
      <p:sp>
        <p:nvSpPr>
          <p:cNvPr id="78" name="risks-label"/>
          <p:cNvSpPr txBox="1"/>
          <p:nvPr/>
        </p:nvSpPr>
        <p:spPr>
          <a:xfrm>
            <a:off x="7620000" y="4210050"/>
            <a:ext cx="411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RISKS</a:t>
            </a:r>
          </a:p>
        </p:txBody>
      </p:sp>
      <p:sp>
        <p:nvSpPr>
          <p:cNvPr id="79" name="risks-rule"/>
          <p:cNvSpPr/>
          <p:nvPr/>
        </p:nvSpPr>
        <p:spPr>
          <a:xfrm>
            <a:off x="7620000" y="4362450"/>
            <a:ext cx="41148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isk-1-divider"/>
          <p:cNvSpPr/>
          <p:nvPr/>
        </p:nvSpPr>
        <p:spPr>
          <a:xfrm>
            <a:off x="7620000" y="4943475"/>
            <a:ext cx="4114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isk-1-dot"/>
          <p:cNvSpPr/>
          <p:nvPr/>
        </p:nvSpPr>
        <p:spPr>
          <a:xfrm>
            <a:off x="7620000" y="4495800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isk-1-text"/>
          <p:cNvSpPr txBox="1"/>
          <p:nvPr/>
        </p:nvSpPr>
        <p:spPr>
          <a:xfrm>
            <a:off x="7772400" y="4438650"/>
            <a:ext cx="39624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Regulatory scrutiny on AI model licensing — EU ruling expected Q3</a:t>
            </a:r>
          </a:p>
        </p:txBody>
      </p:sp>
      <p:sp>
        <p:nvSpPr>
          <p:cNvPr id="83" name="risk-2-divider"/>
          <p:cNvSpPr/>
          <p:nvPr/>
        </p:nvSpPr>
        <p:spPr>
          <a:xfrm>
            <a:off x="7620000" y="5457825"/>
            <a:ext cx="4114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isk-2-dot"/>
          <p:cNvSpPr/>
          <p:nvPr/>
        </p:nvSpPr>
        <p:spPr>
          <a:xfrm>
            <a:off x="7620000" y="5010150"/>
            <a:ext cx="85725" cy="857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isk-2-text"/>
          <p:cNvSpPr txBox="1"/>
          <p:nvPr/>
        </p:nvSpPr>
        <p:spPr>
          <a:xfrm>
            <a:off x="7772400" y="4953000"/>
            <a:ext cx="39624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Talent attrition in engineering — voluntary turnover +3pp YoY</a:t>
            </a:r>
          </a:p>
        </p:txBody>
      </p:sp>
      <p:sp>
        <p:nvSpPr>
          <p:cNvPr id="86" name="risk-3-dot"/>
          <p:cNvSpPr/>
          <p:nvPr/>
        </p:nvSpPr>
        <p:spPr>
          <a:xfrm>
            <a:off x="7620000" y="5524500"/>
            <a:ext cx="85725" cy="857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isk-3-text"/>
          <p:cNvSpPr txBox="1"/>
          <p:nvPr/>
        </p:nvSpPr>
        <p:spPr>
          <a:xfrm>
            <a:off x="7772400" y="5467350"/>
            <a:ext cx="39624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Cyber programme on track — SOC 2 Type II audit closes 15 Jun</a:t>
            </a:r>
          </a:p>
        </p:txBody>
      </p:sp>
      <p:sp>
        <p:nvSpPr>
          <p:cNvPr id="8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