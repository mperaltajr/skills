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81000" y="190500"/>
            <a:ext cx="11430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Revenue growth and </a:t>
            </a:r>
            <a:r>
              <a:rPr sz="1650" b="1" i="0">
                <a:solidFill>
                  <a:srgbClr val="C780FF"/>
                </a:solidFill>
                <a:latin typeface="Inter"/>
              </a:rPr>
              <a:t>NPS improvement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are strongly correlated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381000" y="1028700"/>
            <a:ext cx="11430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Q1 2025 – Q4 2026 · Eight-quarter trend · Pearson r = 0.94</a:t>
            </a:r>
          </a:p>
        </p:txBody>
      </p:sp>
      <p:sp>
        <p:nvSpPr>
          <p:cNvPr id="4" name="brand-rule"/>
          <p:cNvSpPr/>
          <p:nvPr/>
        </p:nvSpPr>
        <p:spPr>
          <a:xfrm>
            <a:off x="3810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line"/>
          <p:cNvSpPr/>
          <p:nvPr/>
        </p:nvSpPr>
        <p:spPr>
          <a:xfrm>
            <a:off x="8172450" y="2257425"/>
            <a:ext cx="2095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dot"/>
          <p:cNvSpPr/>
          <p:nvPr/>
        </p:nvSpPr>
        <p:spPr>
          <a:xfrm>
            <a:off x="8439150" y="22383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1-label"/>
          <p:cNvSpPr txBox="1"/>
          <p:nvPr/>
        </p:nvSpPr>
        <p:spPr>
          <a:xfrm>
            <a:off x="8553450" y="219075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Revenue $M (left axis)</a:t>
            </a:r>
          </a:p>
        </p:txBody>
      </p:sp>
      <p:sp>
        <p:nvSpPr>
          <p:cNvPr id="8" name="legend-2-line"/>
          <p:cNvSpPr/>
          <p:nvPr/>
        </p:nvSpPr>
        <p:spPr>
          <a:xfrm>
            <a:off x="10115550" y="2257425"/>
            <a:ext cx="209550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2-dot"/>
          <p:cNvSpPr/>
          <p:nvPr/>
        </p:nvSpPr>
        <p:spPr>
          <a:xfrm>
            <a:off x="10382250" y="2238375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10496550" y="2190750"/>
            <a:ext cx="1238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NPS Score (right axis)</a:t>
            </a:r>
          </a:p>
        </p:txBody>
      </p:sp>
      <p:sp>
        <p:nvSpPr>
          <p:cNvPr id="11" name="grid-0"/>
          <p:cNvSpPr/>
          <p:nvPr/>
        </p:nvSpPr>
        <p:spPr>
          <a:xfrm>
            <a:off x="857250" y="2571750"/>
            <a:ext cx="68580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grid-1"/>
          <p:cNvSpPr/>
          <p:nvPr/>
        </p:nvSpPr>
        <p:spPr>
          <a:xfrm>
            <a:off x="857250" y="3143250"/>
            <a:ext cx="68580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grid-2"/>
          <p:cNvSpPr/>
          <p:nvPr/>
        </p:nvSpPr>
        <p:spPr>
          <a:xfrm>
            <a:off x="857250" y="3714750"/>
            <a:ext cx="68580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grid-3"/>
          <p:cNvSpPr/>
          <p:nvPr/>
        </p:nvSpPr>
        <p:spPr>
          <a:xfrm>
            <a:off x="857250" y="4286250"/>
            <a:ext cx="68580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grid-4"/>
          <p:cNvSpPr/>
          <p:nvPr/>
        </p:nvSpPr>
        <p:spPr>
          <a:xfrm>
            <a:off x="857250" y="4857750"/>
            <a:ext cx="68580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grid-5"/>
          <p:cNvSpPr/>
          <p:nvPr/>
        </p:nvSpPr>
        <p:spPr>
          <a:xfrm>
            <a:off x="857250" y="5429250"/>
            <a:ext cx="68580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y-axis-left"/>
          <p:cNvSpPr/>
          <p:nvPr/>
        </p:nvSpPr>
        <p:spPr>
          <a:xfrm>
            <a:off x="857250" y="2571750"/>
            <a:ext cx="9525" cy="3429000"/>
          </a:xfrm>
          <a:prstGeom prst="rect">
            <a:avLst/>
          </a:prstGeom>
          <a:solidFill>
            <a:srgbClr val="45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y-axis-right"/>
          <p:cNvSpPr/>
          <p:nvPr/>
        </p:nvSpPr>
        <p:spPr>
          <a:xfrm>
            <a:off x="7715250" y="2571750"/>
            <a:ext cx="9525" cy="3429000"/>
          </a:xfrm>
          <a:prstGeom prst="rect">
            <a:avLst/>
          </a:prstGeom>
          <a:solidFill>
            <a:srgbClr val="452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y-left-0"/>
          <p:cNvSpPr txBox="1"/>
          <p:nvPr/>
        </p:nvSpPr>
        <p:spPr>
          <a:xfrm>
            <a:off x="381000" y="592455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0</a:t>
            </a:r>
          </a:p>
        </p:txBody>
      </p:sp>
      <p:sp>
        <p:nvSpPr>
          <p:cNvPr id="21" name="y-left-1"/>
          <p:cNvSpPr txBox="1"/>
          <p:nvPr/>
        </p:nvSpPr>
        <p:spPr>
          <a:xfrm>
            <a:off x="381000" y="535305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100</a:t>
            </a:r>
          </a:p>
        </p:txBody>
      </p:sp>
      <p:sp>
        <p:nvSpPr>
          <p:cNvPr id="22" name="y-left-2"/>
          <p:cNvSpPr txBox="1"/>
          <p:nvPr/>
        </p:nvSpPr>
        <p:spPr>
          <a:xfrm>
            <a:off x="381000" y="478155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200</a:t>
            </a:r>
          </a:p>
        </p:txBody>
      </p:sp>
      <p:sp>
        <p:nvSpPr>
          <p:cNvPr id="23" name="y-left-3"/>
          <p:cNvSpPr txBox="1"/>
          <p:nvPr/>
        </p:nvSpPr>
        <p:spPr>
          <a:xfrm>
            <a:off x="381000" y="421005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300</a:t>
            </a:r>
          </a:p>
        </p:txBody>
      </p:sp>
      <p:sp>
        <p:nvSpPr>
          <p:cNvPr id="24" name="y-left-4"/>
          <p:cNvSpPr txBox="1"/>
          <p:nvPr/>
        </p:nvSpPr>
        <p:spPr>
          <a:xfrm>
            <a:off x="381000" y="363855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400</a:t>
            </a:r>
          </a:p>
        </p:txBody>
      </p:sp>
      <p:sp>
        <p:nvSpPr>
          <p:cNvPr id="25" name="y-left-5"/>
          <p:cNvSpPr txBox="1"/>
          <p:nvPr/>
        </p:nvSpPr>
        <p:spPr>
          <a:xfrm>
            <a:off x="381000" y="306705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500</a:t>
            </a:r>
          </a:p>
        </p:txBody>
      </p:sp>
      <p:sp>
        <p:nvSpPr>
          <p:cNvPr id="26" name="y-left-6"/>
          <p:cNvSpPr txBox="1"/>
          <p:nvPr/>
        </p:nvSpPr>
        <p:spPr>
          <a:xfrm>
            <a:off x="381000" y="249555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600</a:t>
            </a:r>
          </a:p>
        </p:txBody>
      </p:sp>
      <p:sp>
        <p:nvSpPr>
          <p:cNvPr id="27" name="y-left-title"/>
          <p:cNvSpPr txBox="1"/>
          <p:nvPr/>
        </p:nvSpPr>
        <p:spPr>
          <a:xfrm>
            <a:off x="381000" y="24384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Revenue $M</a:t>
            </a:r>
          </a:p>
        </p:txBody>
      </p:sp>
      <p:sp>
        <p:nvSpPr>
          <p:cNvPr id="28" name="y-right-0"/>
          <p:cNvSpPr txBox="1"/>
          <p:nvPr/>
        </p:nvSpPr>
        <p:spPr>
          <a:xfrm>
            <a:off x="7772400" y="592455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38A169"/>
                </a:solidFill>
                <a:latin typeface="Inter"/>
              </a:rPr>
              <a:t>0</a:t>
            </a:r>
          </a:p>
        </p:txBody>
      </p:sp>
      <p:sp>
        <p:nvSpPr>
          <p:cNvPr id="29" name="y-right-1"/>
          <p:cNvSpPr txBox="1"/>
          <p:nvPr/>
        </p:nvSpPr>
        <p:spPr>
          <a:xfrm>
            <a:off x="7772400" y="50673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38A169"/>
                </a:solidFill>
                <a:latin typeface="Inter"/>
              </a:rPr>
              <a:t>20</a:t>
            </a:r>
          </a:p>
        </p:txBody>
      </p:sp>
      <p:sp>
        <p:nvSpPr>
          <p:cNvPr id="30" name="y-right-2"/>
          <p:cNvSpPr txBox="1"/>
          <p:nvPr/>
        </p:nvSpPr>
        <p:spPr>
          <a:xfrm>
            <a:off x="7772400" y="421005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38A169"/>
                </a:solidFill>
                <a:latin typeface="Inter"/>
              </a:rPr>
              <a:t>40</a:t>
            </a:r>
          </a:p>
        </p:txBody>
      </p:sp>
      <p:sp>
        <p:nvSpPr>
          <p:cNvPr id="31" name="y-right-3"/>
          <p:cNvSpPr txBox="1"/>
          <p:nvPr/>
        </p:nvSpPr>
        <p:spPr>
          <a:xfrm>
            <a:off x="7772400" y="3352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38A169"/>
                </a:solidFill>
                <a:latin typeface="Inter"/>
              </a:rPr>
              <a:t>60</a:t>
            </a:r>
          </a:p>
        </p:txBody>
      </p:sp>
      <p:sp>
        <p:nvSpPr>
          <p:cNvPr id="32" name="y-right-4"/>
          <p:cNvSpPr txBox="1"/>
          <p:nvPr/>
        </p:nvSpPr>
        <p:spPr>
          <a:xfrm>
            <a:off x="7772400" y="249555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38A169"/>
                </a:solidFill>
                <a:latin typeface="Inter"/>
              </a:rPr>
              <a:t>80</a:t>
            </a:r>
          </a:p>
        </p:txBody>
      </p:sp>
      <p:sp>
        <p:nvSpPr>
          <p:cNvPr id="33" name="y-right-title"/>
          <p:cNvSpPr txBox="1"/>
          <p:nvPr/>
        </p:nvSpPr>
        <p:spPr>
          <a:xfrm>
            <a:off x="7524750" y="24384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38A169"/>
                </a:solidFill>
                <a:latin typeface="Inter"/>
              </a:rPr>
              <a:t>NPS Score</a:t>
            </a:r>
          </a:p>
        </p:txBody>
      </p:sp>
      <p:sp>
        <p:nvSpPr>
          <p:cNvPr id="34" name="x-0"/>
          <p:cNvSpPr txBox="1"/>
          <p:nvPr/>
        </p:nvSpPr>
        <p:spPr>
          <a:xfrm>
            <a:off x="628650" y="605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Q1'25</a:t>
            </a:r>
          </a:p>
        </p:txBody>
      </p:sp>
      <p:sp>
        <p:nvSpPr>
          <p:cNvPr id="35" name="x-1"/>
          <p:cNvSpPr txBox="1"/>
          <p:nvPr/>
        </p:nvSpPr>
        <p:spPr>
          <a:xfrm>
            <a:off x="1600200" y="605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Q2'25</a:t>
            </a:r>
          </a:p>
        </p:txBody>
      </p:sp>
      <p:sp>
        <p:nvSpPr>
          <p:cNvPr id="36" name="x-2"/>
          <p:cNvSpPr txBox="1"/>
          <p:nvPr/>
        </p:nvSpPr>
        <p:spPr>
          <a:xfrm>
            <a:off x="2581275" y="605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Q3'25</a:t>
            </a:r>
          </a:p>
        </p:txBody>
      </p:sp>
      <p:sp>
        <p:nvSpPr>
          <p:cNvPr id="37" name="x-3"/>
          <p:cNvSpPr txBox="1"/>
          <p:nvPr/>
        </p:nvSpPr>
        <p:spPr>
          <a:xfrm>
            <a:off x="3562350" y="605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Q4'25</a:t>
            </a:r>
          </a:p>
        </p:txBody>
      </p:sp>
      <p:sp>
        <p:nvSpPr>
          <p:cNvPr id="38" name="x-4"/>
          <p:cNvSpPr txBox="1"/>
          <p:nvPr/>
        </p:nvSpPr>
        <p:spPr>
          <a:xfrm>
            <a:off x="4543425" y="605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Q1'26</a:t>
            </a:r>
          </a:p>
        </p:txBody>
      </p:sp>
      <p:sp>
        <p:nvSpPr>
          <p:cNvPr id="39" name="x-5"/>
          <p:cNvSpPr txBox="1"/>
          <p:nvPr/>
        </p:nvSpPr>
        <p:spPr>
          <a:xfrm>
            <a:off x="5524500" y="605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Q2'26</a:t>
            </a:r>
          </a:p>
        </p:txBody>
      </p:sp>
      <p:sp>
        <p:nvSpPr>
          <p:cNvPr id="40" name="x-6"/>
          <p:cNvSpPr txBox="1"/>
          <p:nvPr/>
        </p:nvSpPr>
        <p:spPr>
          <a:xfrm>
            <a:off x="6505575" y="605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Q3'26</a:t>
            </a:r>
          </a:p>
        </p:txBody>
      </p:sp>
      <p:sp>
        <p:nvSpPr>
          <p:cNvPr id="41" name="x-7"/>
          <p:cNvSpPr txBox="1"/>
          <p:nvPr/>
        </p:nvSpPr>
        <p:spPr>
          <a:xfrm>
            <a:off x="7486650" y="605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Q4'26</a:t>
            </a:r>
          </a:p>
        </p:txBody>
      </p:sp>
      <p:sp>
        <p:nvSpPr>
          <p:cNvPr id="42" name="alignment-zone"/>
          <p:cNvSpPr/>
          <p:nvPr/>
        </p:nvSpPr>
        <p:spPr>
          <a:xfrm>
            <a:off x="3495675" y="2762250"/>
            <a:ext cx="2552700" cy="3048000"/>
          </a:xfrm>
          <a:prstGeom prst="rect">
            <a:avLst/>
          </a:prstGeom>
          <a:solidFill>
            <a:srgbClr val="4E1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alignment-label"/>
          <p:cNvSpPr txBox="1"/>
          <p:nvPr/>
        </p:nvSpPr>
        <p:spPr>
          <a:xfrm>
            <a:off x="3495675" y="2628900"/>
            <a:ext cx="2552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Alignment zone</a:t>
            </a:r>
          </a:p>
        </p:txBody>
      </p:sp>
      <p:sp>
        <p:nvSpPr>
          <p:cNvPr id="44" name="rev-line-0-0"/>
          <p:cNvSpPr/>
          <p:nvPr/>
        </p:nvSpPr>
        <p:spPr>
          <a:xfrm>
            <a:off x="857250" y="4171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ev-line-0-2"/>
          <p:cNvSpPr/>
          <p:nvPr/>
        </p:nvSpPr>
        <p:spPr>
          <a:xfrm>
            <a:off x="876300" y="4162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ev-line-0-4"/>
          <p:cNvSpPr/>
          <p:nvPr/>
        </p:nvSpPr>
        <p:spPr>
          <a:xfrm>
            <a:off x="895350" y="4162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ev-line-0-6"/>
          <p:cNvSpPr/>
          <p:nvPr/>
        </p:nvSpPr>
        <p:spPr>
          <a:xfrm>
            <a:off x="914400" y="4162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ev-line-0-8"/>
          <p:cNvSpPr/>
          <p:nvPr/>
        </p:nvSpPr>
        <p:spPr>
          <a:xfrm>
            <a:off x="933450" y="4152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rev-line-0-10"/>
          <p:cNvSpPr/>
          <p:nvPr/>
        </p:nvSpPr>
        <p:spPr>
          <a:xfrm>
            <a:off x="952500" y="4152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ev-line-0-12"/>
          <p:cNvSpPr/>
          <p:nvPr/>
        </p:nvSpPr>
        <p:spPr>
          <a:xfrm>
            <a:off x="971550" y="4152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rev-line-0-14"/>
          <p:cNvSpPr/>
          <p:nvPr/>
        </p:nvSpPr>
        <p:spPr>
          <a:xfrm>
            <a:off x="990600" y="4152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ev-line-0-16"/>
          <p:cNvSpPr/>
          <p:nvPr/>
        </p:nvSpPr>
        <p:spPr>
          <a:xfrm>
            <a:off x="1009650" y="4143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ev-line-0-18"/>
          <p:cNvSpPr/>
          <p:nvPr/>
        </p:nvSpPr>
        <p:spPr>
          <a:xfrm>
            <a:off x="1028700" y="4143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ev-line-0-20"/>
          <p:cNvSpPr/>
          <p:nvPr/>
        </p:nvSpPr>
        <p:spPr>
          <a:xfrm>
            <a:off x="1047750" y="4143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rev-line-0-22"/>
          <p:cNvSpPr/>
          <p:nvPr/>
        </p:nvSpPr>
        <p:spPr>
          <a:xfrm>
            <a:off x="1066800" y="4133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rev-line-0-24"/>
          <p:cNvSpPr/>
          <p:nvPr/>
        </p:nvSpPr>
        <p:spPr>
          <a:xfrm>
            <a:off x="1085850" y="4133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ev-line-0-26"/>
          <p:cNvSpPr/>
          <p:nvPr/>
        </p:nvSpPr>
        <p:spPr>
          <a:xfrm>
            <a:off x="1104900" y="4133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ev-line-0-28"/>
          <p:cNvSpPr/>
          <p:nvPr/>
        </p:nvSpPr>
        <p:spPr>
          <a:xfrm>
            <a:off x="1123950" y="4133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rev-line-0-30"/>
          <p:cNvSpPr/>
          <p:nvPr/>
        </p:nvSpPr>
        <p:spPr>
          <a:xfrm>
            <a:off x="1143000" y="4124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rev-line-0-32"/>
          <p:cNvSpPr/>
          <p:nvPr/>
        </p:nvSpPr>
        <p:spPr>
          <a:xfrm>
            <a:off x="1162050" y="4124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rev-line-0-34"/>
          <p:cNvSpPr/>
          <p:nvPr/>
        </p:nvSpPr>
        <p:spPr>
          <a:xfrm>
            <a:off x="1181100" y="4124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rev-line-0-36"/>
          <p:cNvSpPr/>
          <p:nvPr/>
        </p:nvSpPr>
        <p:spPr>
          <a:xfrm>
            <a:off x="1200150" y="4124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rev-line-0-38"/>
          <p:cNvSpPr/>
          <p:nvPr/>
        </p:nvSpPr>
        <p:spPr>
          <a:xfrm>
            <a:off x="1219200" y="4114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rev-line-0-40"/>
          <p:cNvSpPr/>
          <p:nvPr/>
        </p:nvSpPr>
        <p:spPr>
          <a:xfrm>
            <a:off x="1238250" y="4114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ev-line-0-42"/>
          <p:cNvSpPr/>
          <p:nvPr/>
        </p:nvSpPr>
        <p:spPr>
          <a:xfrm>
            <a:off x="1257300" y="4114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rev-line-0-44"/>
          <p:cNvSpPr/>
          <p:nvPr/>
        </p:nvSpPr>
        <p:spPr>
          <a:xfrm>
            <a:off x="1276350" y="4105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ev-line-0-46"/>
          <p:cNvSpPr/>
          <p:nvPr/>
        </p:nvSpPr>
        <p:spPr>
          <a:xfrm>
            <a:off x="1295400" y="4105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rev-line-0-48"/>
          <p:cNvSpPr/>
          <p:nvPr/>
        </p:nvSpPr>
        <p:spPr>
          <a:xfrm>
            <a:off x="1314450" y="4105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rev-line-0-50"/>
          <p:cNvSpPr/>
          <p:nvPr/>
        </p:nvSpPr>
        <p:spPr>
          <a:xfrm>
            <a:off x="1333500" y="4105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rev-line-0-52"/>
          <p:cNvSpPr/>
          <p:nvPr/>
        </p:nvSpPr>
        <p:spPr>
          <a:xfrm>
            <a:off x="1352550" y="4095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rev-line-0-54"/>
          <p:cNvSpPr/>
          <p:nvPr/>
        </p:nvSpPr>
        <p:spPr>
          <a:xfrm>
            <a:off x="1371600" y="4095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rev-line-0-56"/>
          <p:cNvSpPr/>
          <p:nvPr/>
        </p:nvSpPr>
        <p:spPr>
          <a:xfrm>
            <a:off x="1390650" y="4095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rev-line-0-58"/>
          <p:cNvSpPr/>
          <p:nvPr/>
        </p:nvSpPr>
        <p:spPr>
          <a:xfrm>
            <a:off x="1409700" y="4095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rev-line-0-60"/>
          <p:cNvSpPr/>
          <p:nvPr/>
        </p:nvSpPr>
        <p:spPr>
          <a:xfrm>
            <a:off x="1428750" y="40862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ev-line-0-62"/>
          <p:cNvSpPr/>
          <p:nvPr/>
        </p:nvSpPr>
        <p:spPr>
          <a:xfrm>
            <a:off x="1447800" y="40862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ev-line-0-64"/>
          <p:cNvSpPr/>
          <p:nvPr/>
        </p:nvSpPr>
        <p:spPr>
          <a:xfrm>
            <a:off x="1466850" y="40862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rev-line-0-66"/>
          <p:cNvSpPr/>
          <p:nvPr/>
        </p:nvSpPr>
        <p:spPr>
          <a:xfrm>
            <a:off x="1485900" y="4076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rev-line-0-68"/>
          <p:cNvSpPr/>
          <p:nvPr/>
        </p:nvSpPr>
        <p:spPr>
          <a:xfrm>
            <a:off x="1504950" y="4076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rev-line-0-70"/>
          <p:cNvSpPr/>
          <p:nvPr/>
        </p:nvSpPr>
        <p:spPr>
          <a:xfrm>
            <a:off x="1524000" y="4076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ev-line-0-72"/>
          <p:cNvSpPr/>
          <p:nvPr/>
        </p:nvSpPr>
        <p:spPr>
          <a:xfrm>
            <a:off x="1543050" y="4076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rev-line-0-74"/>
          <p:cNvSpPr/>
          <p:nvPr/>
        </p:nvSpPr>
        <p:spPr>
          <a:xfrm>
            <a:off x="1562100" y="4067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rev-line-0-76"/>
          <p:cNvSpPr/>
          <p:nvPr/>
        </p:nvSpPr>
        <p:spPr>
          <a:xfrm>
            <a:off x="1581150" y="4067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rev-line-0-78"/>
          <p:cNvSpPr/>
          <p:nvPr/>
        </p:nvSpPr>
        <p:spPr>
          <a:xfrm>
            <a:off x="1600200" y="4067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ev-line-0-80"/>
          <p:cNvSpPr/>
          <p:nvPr/>
        </p:nvSpPr>
        <p:spPr>
          <a:xfrm>
            <a:off x="1619250" y="4067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ev-line-0-82"/>
          <p:cNvSpPr/>
          <p:nvPr/>
        </p:nvSpPr>
        <p:spPr>
          <a:xfrm>
            <a:off x="1638300" y="4057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rev-line-0-84"/>
          <p:cNvSpPr/>
          <p:nvPr/>
        </p:nvSpPr>
        <p:spPr>
          <a:xfrm>
            <a:off x="1657350" y="4057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ev-line-0-86"/>
          <p:cNvSpPr/>
          <p:nvPr/>
        </p:nvSpPr>
        <p:spPr>
          <a:xfrm>
            <a:off x="1676400" y="4057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rev-line-0-88"/>
          <p:cNvSpPr/>
          <p:nvPr/>
        </p:nvSpPr>
        <p:spPr>
          <a:xfrm>
            <a:off x="1695450" y="4048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rev-line-0-90"/>
          <p:cNvSpPr/>
          <p:nvPr/>
        </p:nvSpPr>
        <p:spPr>
          <a:xfrm>
            <a:off x="1714500" y="4048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rev-line-0-92"/>
          <p:cNvSpPr/>
          <p:nvPr/>
        </p:nvSpPr>
        <p:spPr>
          <a:xfrm>
            <a:off x="1733550" y="4048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rev-line-0-94"/>
          <p:cNvSpPr/>
          <p:nvPr/>
        </p:nvSpPr>
        <p:spPr>
          <a:xfrm>
            <a:off x="1752600" y="4048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rev-line-0-96"/>
          <p:cNvSpPr/>
          <p:nvPr/>
        </p:nvSpPr>
        <p:spPr>
          <a:xfrm>
            <a:off x="1771650" y="4038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rev-line-0-98"/>
          <p:cNvSpPr/>
          <p:nvPr/>
        </p:nvSpPr>
        <p:spPr>
          <a:xfrm>
            <a:off x="1790700" y="4038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rev-line-0-100"/>
          <p:cNvSpPr/>
          <p:nvPr/>
        </p:nvSpPr>
        <p:spPr>
          <a:xfrm>
            <a:off x="1809750" y="4038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ev-line-1-0"/>
          <p:cNvSpPr/>
          <p:nvPr/>
        </p:nvSpPr>
        <p:spPr>
          <a:xfrm>
            <a:off x="1828800" y="4038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rev-line-1-2"/>
          <p:cNvSpPr/>
          <p:nvPr/>
        </p:nvSpPr>
        <p:spPr>
          <a:xfrm>
            <a:off x="1847850" y="40290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rev-line-1-4"/>
          <p:cNvSpPr/>
          <p:nvPr/>
        </p:nvSpPr>
        <p:spPr>
          <a:xfrm>
            <a:off x="1866900" y="40290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rev-line-1-6"/>
          <p:cNvSpPr/>
          <p:nvPr/>
        </p:nvSpPr>
        <p:spPr>
          <a:xfrm>
            <a:off x="1885950" y="4019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rev-line-1-8"/>
          <p:cNvSpPr/>
          <p:nvPr/>
        </p:nvSpPr>
        <p:spPr>
          <a:xfrm>
            <a:off x="1905000" y="4019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rev-line-1-10"/>
          <p:cNvSpPr/>
          <p:nvPr/>
        </p:nvSpPr>
        <p:spPr>
          <a:xfrm>
            <a:off x="1924050" y="4010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rev-line-1-12"/>
          <p:cNvSpPr/>
          <p:nvPr/>
        </p:nvSpPr>
        <p:spPr>
          <a:xfrm>
            <a:off x="1943100" y="4010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rev-line-1-14"/>
          <p:cNvSpPr/>
          <p:nvPr/>
        </p:nvSpPr>
        <p:spPr>
          <a:xfrm>
            <a:off x="1962150" y="4010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rev-line-1-16"/>
          <p:cNvSpPr/>
          <p:nvPr/>
        </p:nvSpPr>
        <p:spPr>
          <a:xfrm>
            <a:off x="1981200" y="40005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rev-line-1-18"/>
          <p:cNvSpPr/>
          <p:nvPr/>
        </p:nvSpPr>
        <p:spPr>
          <a:xfrm>
            <a:off x="2000250" y="40005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rev-line-1-20"/>
          <p:cNvSpPr/>
          <p:nvPr/>
        </p:nvSpPr>
        <p:spPr>
          <a:xfrm>
            <a:off x="2019300" y="3990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rev-line-1-22"/>
          <p:cNvSpPr/>
          <p:nvPr/>
        </p:nvSpPr>
        <p:spPr>
          <a:xfrm>
            <a:off x="2038350" y="3990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rev-line-1-24"/>
          <p:cNvSpPr/>
          <p:nvPr/>
        </p:nvSpPr>
        <p:spPr>
          <a:xfrm>
            <a:off x="2057400" y="3981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rev-line-1-26"/>
          <p:cNvSpPr/>
          <p:nvPr/>
        </p:nvSpPr>
        <p:spPr>
          <a:xfrm>
            <a:off x="2076450" y="3981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rev-line-1-28"/>
          <p:cNvSpPr/>
          <p:nvPr/>
        </p:nvSpPr>
        <p:spPr>
          <a:xfrm>
            <a:off x="2095500" y="3981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rev-line-1-30"/>
          <p:cNvSpPr/>
          <p:nvPr/>
        </p:nvSpPr>
        <p:spPr>
          <a:xfrm>
            <a:off x="2114550" y="39719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rev-line-1-32"/>
          <p:cNvSpPr/>
          <p:nvPr/>
        </p:nvSpPr>
        <p:spPr>
          <a:xfrm>
            <a:off x="2133600" y="39719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rev-line-1-34"/>
          <p:cNvSpPr/>
          <p:nvPr/>
        </p:nvSpPr>
        <p:spPr>
          <a:xfrm>
            <a:off x="2152650" y="3962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rev-line-1-36"/>
          <p:cNvSpPr/>
          <p:nvPr/>
        </p:nvSpPr>
        <p:spPr>
          <a:xfrm>
            <a:off x="2171700" y="3962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rev-line-1-38"/>
          <p:cNvSpPr/>
          <p:nvPr/>
        </p:nvSpPr>
        <p:spPr>
          <a:xfrm>
            <a:off x="2190750" y="39528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rev-line-1-40"/>
          <p:cNvSpPr/>
          <p:nvPr/>
        </p:nvSpPr>
        <p:spPr>
          <a:xfrm>
            <a:off x="2209800" y="39528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rev-line-1-42"/>
          <p:cNvSpPr/>
          <p:nvPr/>
        </p:nvSpPr>
        <p:spPr>
          <a:xfrm>
            <a:off x="2228850" y="39528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rev-line-1-44"/>
          <p:cNvSpPr/>
          <p:nvPr/>
        </p:nvSpPr>
        <p:spPr>
          <a:xfrm>
            <a:off x="2247900" y="3943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rev-line-1-46"/>
          <p:cNvSpPr/>
          <p:nvPr/>
        </p:nvSpPr>
        <p:spPr>
          <a:xfrm>
            <a:off x="2266950" y="3943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rev-line-1-48"/>
          <p:cNvSpPr/>
          <p:nvPr/>
        </p:nvSpPr>
        <p:spPr>
          <a:xfrm>
            <a:off x="2286000" y="39338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rev-line-1-50"/>
          <p:cNvSpPr/>
          <p:nvPr/>
        </p:nvSpPr>
        <p:spPr>
          <a:xfrm>
            <a:off x="2305050" y="39338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rev-line-1-52"/>
          <p:cNvSpPr/>
          <p:nvPr/>
        </p:nvSpPr>
        <p:spPr>
          <a:xfrm>
            <a:off x="2324100" y="3924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2" name="rev-line-1-54"/>
          <p:cNvSpPr/>
          <p:nvPr/>
        </p:nvSpPr>
        <p:spPr>
          <a:xfrm>
            <a:off x="2343150" y="3924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3" name="rev-line-1-56"/>
          <p:cNvSpPr/>
          <p:nvPr/>
        </p:nvSpPr>
        <p:spPr>
          <a:xfrm>
            <a:off x="2362200" y="3924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rev-line-1-58"/>
          <p:cNvSpPr/>
          <p:nvPr/>
        </p:nvSpPr>
        <p:spPr>
          <a:xfrm>
            <a:off x="2381250" y="3914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5" name="rev-line-1-60"/>
          <p:cNvSpPr/>
          <p:nvPr/>
        </p:nvSpPr>
        <p:spPr>
          <a:xfrm>
            <a:off x="2400300" y="3914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rev-line-1-62"/>
          <p:cNvSpPr/>
          <p:nvPr/>
        </p:nvSpPr>
        <p:spPr>
          <a:xfrm>
            <a:off x="2419350" y="39052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7" name="rev-line-1-64"/>
          <p:cNvSpPr/>
          <p:nvPr/>
        </p:nvSpPr>
        <p:spPr>
          <a:xfrm>
            <a:off x="2438400" y="39052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8" name="rev-line-1-66"/>
          <p:cNvSpPr/>
          <p:nvPr/>
        </p:nvSpPr>
        <p:spPr>
          <a:xfrm>
            <a:off x="2457450" y="3895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rev-line-1-68"/>
          <p:cNvSpPr/>
          <p:nvPr/>
        </p:nvSpPr>
        <p:spPr>
          <a:xfrm>
            <a:off x="2476500" y="3895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rev-line-1-70"/>
          <p:cNvSpPr/>
          <p:nvPr/>
        </p:nvSpPr>
        <p:spPr>
          <a:xfrm>
            <a:off x="2495550" y="3895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rev-line-1-72"/>
          <p:cNvSpPr/>
          <p:nvPr/>
        </p:nvSpPr>
        <p:spPr>
          <a:xfrm>
            <a:off x="2514600" y="38862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2" name="rev-line-1-74"/>
          <p:cNvSpPr/>
          <p:nvPr/>
        </p:nvSpPr>
        <p:spPr>
          <a:xfrm>
            <a:off x="2533650" y="38862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rev-line-1-76"/>
          <p:cNvSpPr/>
          <p:nvPr/>
        </p:nvSpPr>
        <p:spPr>
          <a:xfrm>
            <a:off x="2552700" y="3876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4" name="rev-line-1-78"/>
          <p:cNvSpPr/>
          <p:nvPr/>
        </p:nvSpPr>
        <p:spPr>
          <a:xfrm>
            <a:off x="2571750" y="3876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5" name="rev-line-1-80"/>
          <p:cNvSpPr/>
          <p:nvPr/>
        </p:nvSpPr>
        <p:spPr>
          <a:xfrm>
            <a:off x="2590800" y="3867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rev-line-1-82"/>
          <p:cNvSpPr/>
          <p:nvPr/>
        </p:nvSpPr>
        <p:spPr>
          <a:xfrm>
            <a:off x="2609850" y="3867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rev-line-1-84"/>
          <p:cNvSpPr/>
          <p:nvPr/>
        </p:nvSpPr>
        <p:spPr>
          <a:xfrm>
            <a:off x="2628900" y="3867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rev-line-1-86"/>
          <p:cNvSpPr/>
          <p:nvPr/>
        </p:nvSpPr>
        <p:spPr>
          <a:xfrm>
            <a:off x="2647950" y="38576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rev-line-1-88"/>
          <p:cNvSpPr/>
          <p:nvPr/>
        </p:nvSpPr>
        <p:spPr>
          <a:xfrm>
            <a:off x="2667000" y="38576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rev-line-1-90"/>
          <p:cNvSpPr/>
          <p:nvPr/>
        </p:nvSpPr>
        <p:spPr>
          <a:xfrm>
            <a:off x="2686050" y="38481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rev-line-1-92"/>
          <p:cNvSpPr/>
          <p:nvPr/>
        </p:nvSpPr>
        <p:spPr>
          <a:xfrm>
            <a:off x="2705100" y="38481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2" name="rev-line-1-94"/>
          <p:cNvSpPr/>
          <p:nvPr/>
        </p:nvSpPr>
        <p:spPr>
          <a:xfrm>
            <a:off x="2724150" y="3838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3" name="rev-line-1-96"/>
          <p:cNvSpPr/>
          <p:nvPr/>
        </p:nvSpPr>
        <p:spPr>
          <a:xfrm>
            <a:off x="2743200" y="3838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4" name="rev-line-1-98"/>
          <p:cNvSpPr/>
          <p:nvPr/>
        </p:nvSpPr>
        <p:spPr>
          <a:xfrm>
            <a:off x="2762250" y="3838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5" name="rev-line-1-100"/>
          <p:cNvSpPr/>
          <p:nvPr/>
        </p:nvSpPr>
        <p:spPr>
          <a:xfrm>
            <a:off x="2781300" y="3829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rev-line-1-102"/>
          <p:cNvSpPr/>
          <p:nvPr/>
        </p:nvSpPr>
        <p:spPr>
          <a:xfrm>
            <a:off x="2800350" y="3829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7" name="rev-line-2-0"/>
          <p:cNvSpPr/>
          <p:nvPr/>
        </p:nvSpPr>
        <p:spPr>
          <a:xfrm>
            <a:off x="2809875" y="3829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8" name="rev-line-2-2"/>
          <p:cNvSpPr/>
          <p:nvPr/>
        </p:nvSpPr>
        <p:spPr>
          <a:xfrm>
            <a:off x="2828925" y="38195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9" name="rev-line-2-4"/>
          <p:cNvSpPr/>
          <p:nvPr/>
        </p:nvSpPr>
        <p:spPr>
          <a:xfrm>
            <a:off x="2847975" y="38195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0" name="rev-line-2-6"/>
          <p:cNvSpPr/>
          <p:nvPr/>
        </p:nvSpPr>
        <p:spPr>
          <a:xfrm>
            <a:off x="2867025" y="38100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1" name="rev-line-2-8"/>
          <p:cNvSpPr/>
          <p:nvPr/>
        </p:nvSpPr>
        <p:spPr>
          <a:xfrm>
            <a:off x="2886075" y="38100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2" name="rev-line-2-10"/>
          <p:cNvSpPr/>
          <p:nvPr/>
        </p:nvSpPr>
        <p:spPr>
          <a:xfrm>
            <a:off x="2905125" y="3800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3" name="rev-line-2-12"/>
          <p:cNvSpPr/>
          <p:nvPr/>
        </p:nvSpPr>
        <p:spPr>
          <a:xfrm>
            <a:off x="2924175" y="3800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4" name="rev-line-2-14"/>
          <p:cNvSpPr/>
          <p:nvPr/>
        </p:nvSpPr>
        <p:spPr>
          <a:xfrm>
            <a:off x="2943225" y="3800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5" name="rev-line-2-16"/>
          <p:cNvSpPr/>
          <p:nvPr/>
        </p:nvSpPr>
        <p:spPr>
          <a:xfrm>
            <a:off x="2962275" y="3790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6" name="rev-line-2-18"/>
          <p:cNvSpPr/>
          <p:nvPr/>
        </p:nvSpPr>
        <p:spPr>
          <a:xfrm>
            <a:off x="2981325" y="3790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7" name="rev-line-2-20"/>
          <p:cNvSpPr/>
          <p:nvPr/>
        </p:nvSpPr>
        <p:spPr>
          <a:xfrm>
            <a:off x="3000375" y="3781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8" name="rev-line-2-22"/>
          <p:cNvSpPr/>
          <p:nvPr/>
        </p:nvSpPr>
        <p:spPr>
          <a:xfrm>
            <a:off x="3019425" y="3781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9" name="rev-line-2-24"/>
          <p:cNvSpPr/>
          <p:nvPr/>
        </p:nvSpPr>
        <p:spPr>
          <a:xfrm>
            <a:off x="3038475" y="3781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0" name="rev-line-2-26"/>
          <p:cNvSpPr/>
          <p:nvPr/>
        </p:nvSpPr>
        <p:spPr>
          <a:xfrm>
            <a:off x="3057525" y="3771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1" name="rev-line-2-28"/>
          <p:cNvSpPr/>
          <p:nvPr/>
        </p:nvSpPr>
        <p:spPr>
          <a:xfrm>
            <a:off x="3076575" y="3771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2" name="rev-line-2-30"/>
          <p:cNvSpPr/>
          <p:nvPr/>
        </p:nvSpPr>
        <p:spPr>
          <a:xfrm>
            <a:off x="3095625" y="3762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3" name="rev-line-2-32"/>
          <p:cNvSpPr/>
          <p:nvPr/>
        </p:nvSpPr>
        <p:spPr>
          <a:xfrm>
            <a:off x="3114675" y="3762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4" name="rev-line-2-34"/>
          <p:cNvSpPr/>
          <p:nvPr/>
        </p:nvSpPr>
        <p:spPr>
          <a:xfrm>
            <a:off x="3133725" y="3762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5" name="rev-line-2-36"/>
          <p:cNvSpPr/>
          <p:nvPr/>
        </p:nvSpPr>
        <p:spPr>
          <a:xfrm>
            <a:off x="3152775" y="3752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6" name="rev-line-2-38"/>
          <p:cNvSpPr/>
          <p:nvPr/>
        </p:nvSpPr>
        <p:spPr>
          <a:xfrm>
            <a:off x="3171825" y="3752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7" name="rev-line-2-40"/>
          <p:cNvSpPr/>
          <p:nvPr/>
        </p:nvSpPr>
        <p:spPr>
          <a:xfrm>
            <a:off x="3190875" y="3743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8" name="rev-line-2-42"/>
          <p:cNvSpPr/>
          <p:nvPr/>
        </p:nvSpPr>
        <p:spPr>
          <a:xfrm>
            <a:off x="3209925" y="3743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9" name="rev-line-2-44"/>
          <p:cNvSpPr/>
          <p:nvPr/>
        </p:nvSpPr>
        <p:spPr>
          <a:xfrm>
            <a:off x="3228975" y="3743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0" name="rev-line-2-46"/>
          <p:cNvSpPr/>
          <p:nvPr/>
        </p:nvSpPr>
        <p:spPr>
          <a:xfrm>
            <a:off x="3248025" y="3733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1" name="rev-line-2-48"/>
          <p:cNvSpPr/>
          <p:nvPr/>
        </p:nvSpPr>
        <p:spPr>
          <a:xfrm>
            <a:off x="3267075" y="3733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2" name="rev-line-2-50"/>
          <p:cNvSpPr/>
          <p:nvPr/>
        </p:nvSpPr>
        <p:spPr>
          <a:xfrm>
            <a:off x="3286125" y="3724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3" name="rev-line-2-52"/>
          <p:cNvSpPr/>
          <p:nvPr/>
        </p:nvSpPr>
        <p:spPr>
          <a:xfrm>
            <a:off x="3305175" y="3724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4" name="rev-line-2-54"/>
          <p:cNvSpPr/>
          <p:nvPr/>
        </p:nvSpPr>
        <p:spPr>
          <a:xfrm>
            <a:off x="3324225" y="3714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5" name="rev-line-2-56"/>
          <p:cNvSpPr/>
          <p:nvPr/>
        </p:nvSpPr>
        <p:spPr>
          <a:xfrm>
            <a:off x="3343275" y="3714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6" name="rev-line-2-58"/>
          <p:cNvSpPr/>
          <p:nvPr/>
        </p:nvSpPr>
        <p:spPr>
          <a:xfrm>
            <a:off x="3362325" y="3714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7" name="rev-line-2-60"/>
          <p:cNvSpPr/>
          <p:nvPr/>
        </p:nvSpPr>
        <p:spPr>
          <a:xfrm>
            <a:off x="3381375" y="37052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8" name="rev-line-2-62"/>
          <p:cNvSpPr/>
          <p:nvPr/>
        </p:nvSpPr>
        <p:spPr>
          <a:xfrm>
            <a:off x="3400425" y="37052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9" name="rev-line-2-64"/>
          <p:cNvSpPr/>
          <p:nvPr/>
        </p:nvSpPr>
        <p:spPr>
          <a:xfrm>
            <a:off x="3419475" y="3695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0" name="rev-line-2-66"/>
          <p:cNvSpPr/>
          <p:nvPr/>
        </p:nvSpPr>
        <p:spPr>
          <a:xfrm>
            <a:off x="3438525" y="3695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1" name="rev-line-2-68"/>
          <p:cNvSpPr/>
          <p:nvPr/>
        </p:nvSpPr>
        <p:spPr>
          <a:xfrm>
            <a:off x="3457575" y="3695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2" name="rev-line-2-70"/>
          <p:cNvSpPr/>
          <p:nvPr/>
        </p:nvSpPr>
        <p:spPr>
          <a:xfrm>
            <a:off x="3476625" y="3686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3" name="rev-line-2-72"/>
          <p:cNvSpPr/>
          <p:nvPr/>
        </p:nvSpPr>
        <p:spPr>
          <a:xfrm>
            <a:off x="3495675" y="3686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4" name="rev-line-2-74"/>
          <p:cNvSpPr/>
          <p:nvPr/>
        </p:nvSpPr>
        <p:spPr>
          <a:xfrm>
            <a:off x="3514725" y="3676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5" name="rev-line-2-76"/>
          <p:cNvSpPr/>
          <p:nvPr/>
        </p:nvSpPr>
        <p:spPr>
          <a:xfrm>
            <a:off x="3533775" y="3676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6" name="rev-line-2-78"/>
          <p:cNvSpPr/>
          <p:nvPr/>
        </p:nvSpPr>
        <p:spPr>
          <a:xfrm>
            <a:off x="3552825" y="3676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7" name="rev-line-2-80"/>
          <p:cNvSpPr/>
          <p:nvPr/>
        </p:nvSpPr>
        <p:spPr>
          <a:xfrm>
            <a:off x="3571875" y="3667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8" name="rev-line-2-82"/>
          <p:cNvSpPr/>
          <p:nvPr/>
        </p:nvSpPr>
        <p:spPr>
          <a:xfrm>
            <a:off x="3590925" y="3667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9" name="rev-line-2-84"/>
          <p:cNvSpPr/>
          <p:nvPr/>
        </p:nvSpPr>
        <p:spPr>
          <a:xfrm>
            <a:off x="3609975" y="3657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0" name="rev-line-2-86"/>
          <p:cNvSpPr/>
          <p:nvPr/>
        </p:nvSpPr>
        <p:spPr>
          <a:xfrm>
            <a:off x="3629025" y="3657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1" name="rev-line-2-88"/>
          <p:cNvSpPr/>
          <p:nvPr/>
        </p:nvSpPr>
        <p:spPr>
          <a:xfrm>
            <a:off x="3648075" y="3657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2" name="rev-line-2-90"/>
          <p:cNvSpPr/>
          <p:nvPr/>
        </p:nvSpPr>
        <p:spPr>
          <a:xfrm>
            <a:off x="3667125" y="36480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3" name="rev-line-2-92"/>
          <p:cNvSpPr/>
          <p:nvPr/>
        </p:nvSpPr>
        <p:spPr>
          <a:xfrm>
            <a:off x="3686175" y="36480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4" name="rev-line-2-94"/>
          <p:cNvSpPr/>
          <p:nvPr/>
        </p:nvSpPr>
        <p:spPr>
          <a:xfrm>
            <a:off x="3705225" y="3638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5" name="rev-line-2-96"/>
          <p:cNvSpPr/>
          <p:nvPr/>
        </p:nvSpPr>
        <p:spPr>
          <a:xfrm>
            <a:off x="3724275" y="3638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6" name="rev-line-2-98"/>
          <p:cNvSpPr/>
          <p:nvPr/>
        </p:nvSpPr>
        <p:spPr>
          <a:xfrm>
            <a:off x="3743325" y="3638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7" name="rev-line-2-100"/>
          <p:cNvSpPr/>
          <p:nvPr/>
        </p:nvSpPr>
        <p:spPr>
          <a:xfrm>
            <a:off x="3762375" y="3629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8" name="rev-line-2-102"/>
          <p:cNvSpPr/>
          <p:nvPr/>
        </p:nvSpPr>
        <p:spPr>
          <a:xfrm>
            <a:off x="3781425" y="3629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9" name="rev-line-3-0"/>
          <p:cNvSpPr/>
          <p:nvPr/>
        </p:nvSpPr>
        <p:spPr>
          <a:xfrm>
            <a:off x="3790950" y="3629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0" name="rev-line-3-2"/>
          <p:cNvSpPr/>
          <p:nvPr/>
        </p:nvSpPr>
        <p:spPr>
          <a:xfrm>
            <a:off x="3810000" y="36195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1" name="rev-line-3-4"/>
          <p:cNvSpPr/>
          <p:nvPr/>
        </p:nvSpPr>
        <p:spPr>
          <a:xfrm>
            <a:off x="3829050" y="36195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2" name="rev-line-3-6"/>
          <p:cNvSpPr/>
          <p:nvPr/>
        </p:nvSpPr>
        <p:spPr>
          <a:xfrm>
            <a:off x="3848100" y="36195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3" name="rev-line-3-8"/>
          <p:cNvSpPr/>
          <p:nvPr/>
        </p:nvSpPr>
        <p:spPr>
          <a:xfrm>
            <a:off x="3867150" y="3609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4" name="rev-line-3-10"/>
          <p:cNvSpPr/>
          <p:nvPr/>
        </p:nvSpPr>
        <p:spPr>
          <a:xfrm>
            <a:off x="3886200" y="3609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5" name="rev-line-3-12"/>
          <p:cNvSpPr/>
          <p:nvPr/>
        </p:nvSpPr>
        <p:spPr>
          <a:xfrm>
            <a:off x="3905250" y="3609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6" name="rev-line-3-14"/>
          <p:cNvSpPr/>
          <p:nvPr/>
        </p:nvSpPr>
        <p:spPr>
          <a:xfrm>
            <a:off x="3924300" y="3600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7" name="rev-line-3-16"/>
          <p:cNvSpPr/>
          <p:nvPr/>
        </p:nvSpPr>
        <p:spPr>
          <a:xfrm>
            <a:off x="3943350" y="3600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8" name="rev-line-3-18"/>
          <p:cNvSpPr/>
          <p:nvPr/>
        </p:nvSpPr>
        <p:spPr>
          <a:xfrm>
            <a:off x="3962400" y="3600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9" name="rev-line-3-20"/>
          <p:cNvSpPr/>
          <p:nvPr/>
        </p:nvSpPr>
        <p:spPr>
          <a:xfrm>
            <a:off x="3981450" y="3600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0" name="rev-line-3-22"/>
          <p:cNvSpPr/>
          <p:nvPr/>
        </p:nvSpPr>
        <p:spPr>
          <a:xfrm>
            <a:off x="4000500" y="35909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1" name="rev-line-3-24"/>
          <p:cNvSpPr/>
          <p:nvPr/>
        </p:nvSpPr>
        <p:spPr>
          <a:xfrm>
            <a:off x="4019550" y="35909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2" name="rev-line-3-26"/>
          <p:cNvSpPr/>
          <p:nvPr/>
        </p:nvSpPr>
        <p:spPr>
          <a:xfrm>
            <a:off x="4038600" y="35909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3" name="rev-line-3-28"/>
          <p:cNvSpPr/>
          <p:nvPr/>
        </p:nvSpPr>
        <p:spPr>
          <a:xfrm>
            <a:off x="4057650" y="3581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4" name="rev-line-3-30"/>
          <p:cNvSpPr/>
          <p:nvPr/>
        </p:nvSpPr>
        <p:spPr>
          <a:xfrm>
            <a:off x="4076700" y="3581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5" name="rev-line-3-32"/>
          <p:cNvSpPr/>
          <p:nvPr/>
        </p:nvSpPr>
        <p:spPr>
          <a:xfrm>
            <a:off x="4095750" y="3581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6" name="rev-line-3-34"/>
          <p:cNvSpPr/>
          <p:nvPr/>
        </p:nvSpPr>
        <p:spPr>
          <a:xfrm>
            <a:off x="4114800" y="3581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7" name="rev-line-3-36"/>
          <p:cNvSpPr/>
          <p:nvPr/>
        </p:nvSpPr>
        <p:spPr>
          <a:xfrm>
            <a:off x="4133850" y="35718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8" name="rev-line-3-38"/>
          <p:cNvSpPr/>
          <p:nvPr/>
        </p:nvSpPr>
        <p:spPr>
          <a:xfrm>
            <a:off x="4152900" y="35718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9" name="rev-line-3-40"/>
          <p:cNvSpPr/>
          <p:nvPr/>
        </p:nvSpPr>
        <p:spPr>
          <a:xfrm>
            <a:off x="4171950" y="35718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0" name="rev-line-3-42"/>
          <p:cNvSpPr/>
          <p:nvPr/>
        </p:nvSpPr>
        <p:spPr>
          <a:xfrm>
            <a:off x="4191000" y="3562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1" name="rev-line-3-44"/>
          <p:cNvSpPr/>
          <p:nvPr/>
        </p:nvSpPr>
        <p:spPr>
          <a:xfrm>
            <a:off x="4210050" y="3562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2" name="rev-line-3-46"/>
          <p:cNvSpPr/>
          <p:nvPr/>
        </p:nvSpPr>
        <p:spPr>
          <a:xfrm>
            <a:off x="4229100" y="3562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3" name="rev-line-3-48"/>
          <p:cNvSpPr/>
          <p:nvPr/>
        </p:nvSpPr>
        <p:spPr>
          <a:xfrm>
            <a:off x="4248150" y="3562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4" name="rev-line-3-50"/>
          <p:cNvSpPr/>
          <p:nvPr/>
        </p:nvSpPr>
        <p:spPr>
          <a:xfrm>
            <a:off x="4267200" y="35528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5" name="rev-line-3-52"/>
          <p:cNvSpPr/>
          <p:nvPr/>
        </p:nvSpPr>
        <p:spPr>
          <a:xfrm>
            <a:off x="4286250" y="35528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6" name="rev-line-3-54"/>
          <p:cNvSpPr/>
          <p:nvPr/>
        </p:nvSpPr>
        <p:spPr>
          <a:xfrm>
            <a:off x="4305300" y="35528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7" name="rev-line-3-56"/>
          <p:cNvSpPr/>
          <p:nvPr/>
        </p:nvSpPr>
        <p:spPr>
          <a:xfrm>
            <a:off x="4324350" y="3543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8" name="rev-line-3-58"/>
          <p:cNvSpPr/>
          <p:nvPr/>
        </p:nvSpPr>
        <p:spPr>
          <a:xfrm>
            <a:off x="4343400" y="3543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9" name="rev-line-3-60"/>
          <p:cNvSpPr/>
          <p:nvPr/>
        </p:nvSpPr>
        <p:spPr>
          <a:xfrm>
            <a:off x="4362450" y="3543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0" name="rev-line-3-62"/>
          <p:cNvSpPr/>
          <p:nvPr/>
        </p:nvSpPr>
        <p:spPr>
          <a:xfrm>
            <a:off x="4381500" y="3533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1" name="rev-line-3-64"/>
          <p:cNvSpPr/>
          <p:nvPr/>
        </p:nvSpPr>
        <p:spPr>
          <a:xfrm>
            <a:off x="4400550" y="3533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2" name="rev-line-3-66"/>
          <p:cNvSpPr/>
          <p:nvPr/>
        </p:nvSpPr>
        <p:spPr>
          <a:xfrm>
            <a:off x="4419600" y="3533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3" name="rev-line-3-68"/>
          <p:cNvSpPr/>
          <p:nvPr/>
        </p:nvSpPr>
        <p:spPr>
          <a:xfrm>
            <a:off x="4438650" y="3533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4" name="rev-line-3-70"/>
          <p:cNvSpPr/>
          <p:nvPr/>
        </p:nvSpPr>
        <p:spPr>
          <a:xfrm>
            <a:off x="4457700" y="35242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5" name="rev-line-3-72"/>
          <p:cNvSpPr/>
          <p:nvPr/>
        </p:nvSpPr>
        <p:spPr>
          <a:xfrm>
            <a:off x="4476750" y="35242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6" name="rev-line-3-74"/>
          <p:cNvSpPr/>
          <p:nvPr/>
        </p:nvSpPr>
        <p:spPr>
          <a:xfrm>
            <a:off x="4495800" y="35242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7" name="rev-line-3-76"/>
          <p:cNvSpPr/>
          <p:nvPr/>
        </p:nvSpPr>
        <p:spPr>
          <a:xfrm>
            <a:off x="4514850" y="3514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8" name="rev-line-3-78"/>
          <p:cNvSpPr/>
          <p:nvPr/>
        </p:nvSpPr>
        <p:spPr>
          <a:xfrm>
            <a:off x="4533900" y="3514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9" name="rev-line-3-80"/>
          <p:cNvSpPr/>
          <p:nvPr/>
        </p:nvSpPr>
        <p:spPr>
          <a:xfrm>
            <a:off x="4552950" y="3514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0" name="rev-line-3-82"/>
          <p:cNvSpPr/>
          <p:nvPr/>
        </p:nvSpPr>
        <p:spPr>
          <a:xfrm>
            <a:off x="4572000" y="3514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1" name="rev-line-3-84"/>
          <p:cNvSpPr/>
          <p:nvPr/>
        </p:nvSpPr>
        <p:spPr>
          <a:xfrm>
            <a:off x="4591050" y="35052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2" name="rev-line-3-86"/>
          <p:cNvSpPr/>
          <p:nvPr/>
        </p:nvSpPr>
        <p:spPr>
          <a:xfrm>
            <a:off x="4610100" y="35052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3" name="rev-line-3-88"/>
          <p:cNvSpPr/>
          <p:nvPr/>
        </p:nvSpPr>
        <p:spPr>
          <a:xfrm>
            <a:off x="4629150" y="35052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4" name="rev-line-3-90"/>
          <p:cNvSpPr/>
          <p:nvPr/>
        </p:nvSpPr>
        <p:spPr>
          <a:xfrm>
            <a:off x="4648200" y="3495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5" name="rev-line-3-92"/>
          <p:cNvSpPr/>
          <p:nvPr/>
        </p:nvSpPr>
        <p:spPr>
          <a:xfrm>
            <a:off x="4667250" y="3495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6" name="rev-line-3-94"/>
          <p:cNvSpPr/>
          <p:nvPr/>
        </p:nvSpPr>
        <p:spPr>
          <a:xfrm>
            <a:off x="4686300" y="3495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7" name="rev-line-3-96"/>
          <p:cNvSpPr/>
          <p:nvPr/>
        </p:nvSpPr>
        <p:spPr>
          <a:xfrm>
            <a:off x="4705350" y="3495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8" name="rev-line-3-98"/>
          <p:cNvSpPr/>
          <p:nvPr/>
        </p:nvSpPr>
        <p:spPr>
          <a:xfrm>
            <a:off x="4724400" y="3486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9" name="rev-line-3-100"/>
          <p:cNvSpPr/>
          <p:nvPr/>
        </p:nvSpPr>
        <p:spPr>
          <a:xfrm>
            <a:off x="4743450" y="3486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0" name="rev-line-3-102"/>
          <p:cNvSpPr/>
          <p:nvPr/>
        </p:nvSpPr>
        <p:spPr>
          <a:xfrm>
            <a:off x="4762500" y="3486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1" name="rev-line-4-0"/>
          <p:cNvSpPr/>
          <p:nvPr/>
        </p:nvSpPr>
        <p:spPr>
          <a:xfrm>
            <a:off x="4772025" y="3486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2" name="rev-line-4-2"/>
          <p:cNvSpPr/>
          <p:nvPr/>
        </p:nvSpPr>
        <p:spPr>
          <a:xfrm>
            <a:off x="4791075" y="34766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3" name="rev-line-4-4"/>
          <p:cNvSpPr/>
          <p:nvPr/>
        </p:nvSpPr>
        <p:spPr>
          <a:xfrm>
            <a:off x="4810125" y="34766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4" name="rev-line-4-6"/>
          <p:cNvSpPr/>
          <p:nvPr/>
        </p:nvSpPr>
        <p:spPr>
          <a:xfrm>
            <a:off x="4829175" y="34766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5" name="rev-line-4-8"/>
          <p:cNvSpPr/>
          <p:nvPr/>
        </p:nvSpPr>
        <p:spPr>
          <a:xfrm>
            <a:off x="4848225" y="34671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6" name="rev-line-4-10"/>
          <p:cNvSpPr/>
          <p:nvPr/>
        </p:nvSpPr>
        <p:spPr>
          <a:xfrm>
            <a:off x="4867275" y="34671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7" name="rev-line-4-12"/>
          <p:cNvSpPr/>
          <p:nvPr/>
        </p:nvSpPr>
        <p:spPr>
          <a:xfrm>
            <a:off x="4886325" y="34671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8" name="rev-line-4-14"/>
          <p:cNvSpPr/>
          <p:nvPr/>
        </p:nvSpPr>
        <p:spPr>
          <a:xfrm>
            <a:off x="4905375" y="3457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9" name="rev-line-4-16"/>
          <p:cNvSpPr/>
          <p:nvPr/>
        </p:nvSpPr>
        <p:spPr>
          <a:xfrm>
            <a:off x="4924425" y="3457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0" name="rev-line-4-18"/>
          <p:cNvSpPr/>
          <p:nvPr/>
        </p:nvSpPr>
        <p:spPr>
          <a:xfrm>
            <a:off x="4943475" y="3457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1" name="rev-line-4-20"/>
          <p:cNvSpPr/>
          <p:nvPr/>
        </p:nvSpPr>
        <p:spPr>
          <a:xfrm>
            <a:off x="4962525" y="3448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2" name="rev-line-4-22"/>
          <p:cNvSpPr/>
          <p:nvPr/>
        </p:nvSpPr>
        <p:spPr>
          <a:xfrm>
            <a:off x="4981575" y="3448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3" name="rev-line-4-24"/>
          <p:cNvSpPr/>
          <p:nvPr/>
        </p:nvSpPr>
        <p:spPr>
          <a:xfrm>
            <a:off x="5000625" y="3448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4" name="rev-line-4-26"/>
          <p:cNvSpPr/>
          <p:nvPr/>
        </p:nvSpPr>
        <p:spPr>
          <a:xfrm>
            <a:off x="5019675" y="34385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5" name="rev-line-4-28"/>
          <p:cNvSpPr/>
          <p:nvPr/>
        </p:nvSpPr>
        <p:spPr>
          <a:xfrm>
            <a:off x="5038725" y="34385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6" name="rev-line-4-30"/>
          <p:cNvSpPr/>
          <p:nvPr/>
        </p:nvSpPr>
        <p:spPr>
          <a:xfrm>
            <a:off x="5057775" y="34385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7" name="rev-line-4-32"/>
          <p:cNvSpPr/>
          <p:nvPr/>
        </p:nvSpPr>
        <p:spPr>
          <a:xfrm>
            <a:off x="5076825" y="34385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8" name="rev-line-4-34"/>
          <p:cNvSpPr/>
          <p:nvPr/>
        </p:nvSpPr>
        <p:spPr>
          <a:xfrm>
            <a:off x="5095875" y="34290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9" name="rev-line-4-36"/>
          <p:cNvSpPr/>
          <p:nvPr/>
        </p:nvSpPr>
        <p:spPr>
          <a:xfrm>
            <a:off x="5114925" y="34290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0" name="rev-line-4-38"/>
          <p:cNvSpPr/>
          <p:nvPr/>
        </p:nvSpPr>
        <p:spPr>
          <a:xfrm>
            <a:off x="5133975" y="34290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1" name="rev-line-4-40"/>
          <p:cNvSpPr/>
          <p:nvPr/>
        </p:nvSpPr>
        <p:spPr>
          <a:xfrm>
            <a:off x="5153025" y="3419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2" name="rev-line-4-42"/>
          <p:cNvSpPr/>
          <p:nvPr/>
        </p:nvSpPr>
        <p:spPr>
          <a:xfrm>
            <a:off x="5172075" y="3419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3" name="rev-line-4-44"/>
          <p:cNvSpPr/>
          <p:nvPr/>
        </p:nvSpPr>
        <p:spPr>
          <a:xfrm>
            <a:off x="5191125" y="3419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4" name="rev-line-4-46"/>
          <p:cNvSpPr/>
          <p:nvPr/>
        </p:nvSpPr>
        <p:spPr>
          <a:xfrm>
            <a:off x="5210175" y="3409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5" name="rev-line-4-48"/>
          <p:cNvSpPr/>
          <p:nvPr/>
        </p:nvSpPr>
        <p:spPr>
          <a:xfrm>
            <a:off x="5229225" y="3409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6" name="rev-line-4-50"/>
          <p:cNvSpPr/>
          <p:nvPr/>
        </p:nvSpPr>
        <p:spPr>
          <a:xfrm>
            <a:off x="5248275" y="3409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7" name="rev-line-4-52"/>
          <p:cNvSpPr/>
          <p:nvPr/>
        </p:nvSpPr>
        <p:spPr>
          <a:xfrm>
            <a:off x="5267325" y="3400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8" name="rev-line-4-54"/>
          <p:cNvSpPr/>
          <p:nvPr/>
        </p:nvSpPr>
        <p:spPr>
          <a:xfrm>
            <a:off x="5286375" y="3400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9" name="rev-line-4-56"/>
          <p:cNvSpPr/>
          <p:nvPr/>
        </p:nvSpPr>
        <p:spPr>
          <a:xfrm>
            <a:off x="5305425" y="34004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0" name="rev-line-4-58"/>
          <p:cNvSpPr/>
          <p:nvPr/>
        </p:nvSpPr>
        <p:spPr>
          <a:xfrm>
            <a:off x="5324475" y="3390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1" name="rev-line-4-60"/>
          <p:cNvSpPr/>
          <p:nvPr/>
        </p:nvSpPr>
        <p:spPr>
          <a:xfrm>
            <a:off x="5343525" y="3390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2" name="rev-line-4-62"/>
          <p:cNvSpPr/>
          <p:nvPr/>
        </p:nvSpPr>
        <p:spPr>
          <a:xfrm>
            <a:off x="5362575" y="3390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3" name="rev-line-4-64"/>
          <p:cNvSpPr/>
          <p:nvPr/>
        </p:nvSpPr>
        <p:spPr>
          <a:xfrm>
            <a:off x="5381625" y="33909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4" name="rev-line-4-66"/>
          <p:cNvSpPr/>
          <p:nvPr/>
        </p:nvSpPr>
        <p:spPr>
          <a:xfrm>
            <a:off x="5400675" y="3381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5" name="rev-line-4-68"/>
          <p:cNvSpPr/>
          <p:nvPr/>
        </p:nvSpPr>
        <p:spPr>
          <a:xfrm>
            <a:off x="5419725" y="3381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6" name="rev-line-4-70"/>
          <p:cNvSpPr/>
          <p:nvPr/>
        </p:nvSpPr>
        <p:spPr>
          <a:xfrm>
            <a:off x="5438775" y="33813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7" name="rev-line-4-72"/>
          <p:cNvSpPr/>
          <p:nvPr/>
        </p:nvSpPr>
        <p:spPr>
          <a:xfrm>
            <a:off x="5457825" y="3371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8" name="rev-line-4-74"/>
          <p:cNvSpPr/>
          <p:nvPr/>
        </p:nvSpPr>
        <p:spPr>
          <a:xfrm>
            <a:off x="5476875" y="3371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9" name="rev-line-4-76"/>
          <p:cNvSpPr/>
          <p:nvPr/>
        </p:nvSpPr>
        <p:spPr>
          <a:xfrm>
            <a:off x="5495925" y="33718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0" name="rev-line-4-78"/>
          <p:cNvSpPr/>
          <p:nvPr/>
        </p:nvSpPr>
        <p:spPr>
          <a:xfrm>
            <a:off x="5514975" y="3362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1" name="rev-line-4-80"/>
          <p:cNvSpPr/>
          <p:nvPr/>
        </p:nvSpPr>
        <p:spPr>
          <a:xfrm>
            <a:off x="5534025" y="3362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2" name="rev-line-4-82"/>
          <p:cNvSpPr/>
          <p:nvPr/>
        </p:nvSpPr>
        <p:spPr>
          <a:xfrm>
            <a:off x="5553075" y="33623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3" name="rev-line-4-84"/>
          <p:cNvSpPr/>
          <p:nvPr/>
        </p:nvSpPr>
        <p:spPr>
          <a:xfrm>
            <a:off x="5572125" y="3352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4" name="rev-line-4-86"/>
          <p:cNvSpPr/>
          <p:nvPr/>
        </p:nvSpPr>
        <p:spPr>
          <a:xfrm>
            <a:off x="5591175" y="3352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5" name="rev-line-4-88"/>
          <p:cNvSpPr/>
          <p:nvPr/>
        </p:nvSpPr>
        <p:spPr>
          <a:xfrm>
            <a:off x="5610225" y="3352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6" name="rev-line-4-90"/>
          <p:cNvSpPr/>
          <p:nvPr/>
        </p:nvSpPr>
        <p:spPr>
          <a:xfrm>
            <a:off x="5629275" y="33528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7" name="rev-line-4-92"/>
          <p:cNvSpPr/>
          <p:nvPr/>
        </p:nvSpPr>
        <p:spPr>
          <a:xfrm>
            <a:off x="5648325" y="3343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8" name="rev-line-4-94"/>
          <p:cNvSpPr/>
          <p:nvPr/>
        </p:nvSpPr>
        <p:spPr>
          <a:xfrm>
            <a:off x="5667375" y="3343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9" name="rev-line-4-96"/>
          <p:cNvSpPr/>
          <p:nvPr/>
        </p:nvSpPr>
        <p:spPr>
          <a:xfrm>
            <a:off x="5686425" y="33432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0" name="rev-line-4-98"/>
          <p:cNvSpPr/>
          <p:nvPr/>
        </p:nvSpPr>
        <p:spPr>
          <a:xfrm>
            <a:off x="5705475" y="3333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1" name="rev-line-4-100"/>
          <p:cNvSpPr/>
          <p:nvPr/>
        </p:nvSpPr>
        <p:spPr>
          <a:xfrm>
            <a:off x="5724525" y="3333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2" name="rev-line-4-102"/>
          <p:cNvSpPr/>
          <p:nvPr/>
        </p:nvSpPr>
        <p:spPr>
          <a:xfrm>
            <a:off x="5743575" y="3333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3" name="rev-line-5-0"/>
          <p:cNvSpPr/>
          <p:nvPr/>
        </p:nvSpPr>
        <p:spPr>
          <a:xfrm>
            <a:off x="5753100" y="33337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4" name="rev-line-5-2"/>
          <p:cNvSpPr/>
          <p:nvPr/>
        </p:nvSpPr>
        <p:spPr>
          <a:xfrm>
            <a:off x="5772150" y="33242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5" name="rev-line-5-4"/>
          <p:cNvSpPr/>
          <p:nvPr/>
        </p:nvSpPr>
        <p:spPr>
          <a:xfrm>
            <a:off x="5791200" y="33242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6" name="rev-line-5-6"/>
          <p:cNvSpPr/>
          <p:nvPr/>
        </p:nvSpPr>
        <p:spPr>
          <a:xfrm>
            <a:off x="5810250" y="33242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7" name="rev-line-5-8"/>
          <p:cNvSpPr/>
          <p:nvPr/>
        </p:nvSpPr>
        <p:spPr>
          <a:xfrm>
            <a:off x="5829300" y="3314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8" name="rev-line-5-10"/>
          <p:cNvSpPr/>
          <p:nvPr/>
        </p:nvSpPr>
        <p:spPr>
          <a:xfrm>
            <a:off x="5848350" y="3314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9" name="rev-line-5-12"/>
          <p:cNvSpPr/>
          <p:nvPr/>
        </p:nvSpPr>
        <p:spPr>
          <a:xfrm>
            <a:off x="5867400" y="3314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0" name="rev-line-5-14"/>
          <p:cNvSpPr/>
          <p:nvPr/>
        </p:nvSpPr>
        <p:spPr>
          <a:xfrm>
            <a:off x="5886450" y="33147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1" name="rev-line-5-16"/>
          <p:cNvSpPr/>
          <p:nvPr/>
        </p:nvSpPr>
        <p:spPr>
          <a:xfrm>
            <a:off x="5905500" y="3305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2" name="rev-line-5-18"/>
          <p:cNvSpPr/>
          <p:nvPr/>
        </p:nvSpPr>
        <p:spPr>
          <a:xfrm>
            <a:off x="5924550" y="3305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3" name="rev-line-5-20"/>
          <p:cNvSpPr/>
          <p:nvPr/>
        </p:nvSpPr>
        <p:spPr>
          <a:xfrm>
            <a:off x="5943600" y="3305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4" name="rev-line-5-22"/>
          <p:cNvSpPr/>
          <p:nvPr/>
        </p:nvSpPr>
        <p:spPr>
          <a:xfrm>
            <a:off x="5962650" y="33051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5" name="rev-line-5-24"/>
          <p:cNvSpPr/>
          <p:nvPr/>
        </p:nvSpPr>
        <p:spPr>
          <a:xfrm>
            <a:off x="5981700" y="3295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6" name="rev-line-5-26"/>
          <p:cNvSpPr/>
          <p:nvPr/>
        </p:nvSpPr>
        <p:spPr>
          <a:xfrm>
            <a:off x="6000750" y="3295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7" name="rev-line-5-28"/>
          <p:cNvSpPr/>
          <p:nvPr/>
        </p:nvSpPr>
        <p:spPr>
          <a:xfrm>
            <a:off x="6019800" y="32956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8" name="rev-line-5-30"/>
          <p:cNvSpPr/>
          <p:nvPr/>
        </p:nvSpPr>
        <p:spPr>
          <a:xfrm>
            <a:off x="6038850" y="3286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9" name="rev-line-5-32"/>
          <p:cNvSpPr/>
          <p:nvPr/>
        </p:nvSpPr>
        <p:spPr>
          <a:xfrm>
            <a:off x="6057900" y="3286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0" name="rev-line-5-34"/>
          <p:cNvSpPr/>
          <p:nvPr/>
        </p:nvSpPr>
        <p:spPr>
          <a:xfrm>
            <a:off x="6076950" y="3286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1" name="rev-line-5-36"/>
          <p:cNvSpPr/>
          <p:nvPr/>
        </p:nvSpPr>
        <p:spPr>
          <a:xfrm>
            <a:off x="6096000" y="32861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2" name="rev-line-5-38"/>
          <p:cNvSpPr/>
          <p:nvPr/>
        </p:nvSpPr>
        <p:spPr>
          <a:xfrm>
            <a:off x="6115050" y="3276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3" name="rev-line-5-40"/>
          <p:cNvSpPr/>
          <p:nvPr/>
        </p:nvSpPr>
        <p:spPr>
          <a:xfrm>
            <a:off x="6134100" y="3276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4" name="rev-line-5-42"/>
          <p:cNvSpPr/>
          <p:nvPr/>
        </p:nvSpPr>
        <p:spPr>
          <a:xfrm>
            <a:off x="6153150" y="3276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5" name="rev-line-5-44"/>
          <p:cNvSpPr/>
          <p:nvPr/>
        </p:nvSpPr>
        <p:spPr>
          <a:xfrm>
            <a:off x="6172200" y="32766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6" name="rev-line-5-46"/>
          <p:cNvSpPr/>
          <p:nvPr/>
        </p:nvSpPr>
        <p:spPr>
          <a:xfrm>
            <a:off x="6191250" y="32670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7" name="rev-line-5-48"/>
          <p:cNvSpPr/>
          <p:nvPr/>
        </p:nvSpPr>
        <p:spPr>
          <a:xfrm>
            <a:off x="6210300" y="32670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8" name="rev-line-5-50"/>
          <p:cNvSpPr/>
          <p:nvPr/>
        </p:nvSpPr>
        <p:spPr>
          <a:xfrm>
            <a:off x="6229350" y="32670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9" name="rev-line-5-52"/>
          <p:cNvSpPr/>
          <p:nvPr/>
        </p:nvSpPr>
        <p:spPr>
          <a:xfrm>
            <a:off x="6248400" y="3257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0" name="rev-line-5-54"/>
          <p:cNvSpPr/>
          <p:nvPr/>
        </p:nvSpPr>
        <p:spPr>
          <a:xfrm>
            <a:off x="6267450" y="3257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1" name="rev-line-5-56"/>
          <p:cNvSpPr/>
          <p:nvPr/>
        </p:nvSpPr>
        <p:spPr>
          <a:xfrm>
            <a:off x="6286500" y="3257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2" name="rev-line-5-58"/>
          <p:cNvSpPr/>
          <p:nvPr/>
        </p:nvSpPr>
        <p:spPr>
          <a:xfrm>
            <a:off x="6305550" y="32575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3" name="rev-line-5-60"/>
          <p:cNvSpPr/>
          <p:nvPr/>
        </p:nvSpPr>
        <p:spPr>
          <a:xfrm>
            <a:off x="6324600" y="3248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4" name="rev-line-5-62"/>
          <p:cNvSpPr/>
          <p:nvPr/>
        </p:nvSpPr>
        <p:spPr>
          <a:xfrm>
            <a:off x="6343650" y="3248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5" name="rev-line-5-64"/>
          <p:cNvSpPr/>
          <p:nvPr/>
        </p:nvSpPr>
        <p:spPr>
          <a:xfrm>
            <a:off x="6362700" y="3248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6" name="rev-line-5-66"/>
          <p:cNvSpPr/>
          <p:nvPr/>
        </p:nvSpPr>
        <p:spPr>
          <a:xfrm>
            <a:off x="6381750" y="32480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7" name="rev-line-5-68"/>
          <p:cNvSpPr/>
          <p:nvPr/>
        </p:nvSpPr>
        <p:spPr>
          <a:xfrm>
            <a:off x="6400800" y="32385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8" name="rev-line-5-70"/>
          <p:cNvSpPr/>
          <p:nvPr/>
        </p:nvSpPr>
        <p:spPr>
          <a:xfrm>
            <a:off x="6419850" y="32385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9" name="rev-line-5-72"/>
          <p:cNvSpPr/>
          <p:nvPr/>
        </p:nvSpPr>
        <p:spPr>
          <a:xfrm>
            <a:off x="6438900" y="32385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0" name="rev-line-5-74"/>
          <p:cNvSpPr/>
          <p:nvPr/>
        </p:nvSpPr>
        <p:spPr>
          <a:xfrm>
            <a:off x="6457950" y="3228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1" name="rev-line-5-76"/>
          <p:cNvSpPr/>
          <p:nvPr/>
        </p:nvSpPr>
        <p:spPr>
          <a:xfrm>
            <a:off x="6477000" y="3228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2" name="rev-line-5-78"/>
          <p:cNvSpPr/>
          <p:nvPr/>
        </p:nvSpPr>
        <p:spPr>
          <a:xfrm>
            <a:off x="6496050" y="3228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3" name="rev-line-5-80"/>
          <p:cNvSpPr/>
          <p:nvPr/>
        </p:nvSpPr>
        <p:spPr>
          <a:xfrm>
            <a:off x="6515100" y="32289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4" name="rev-line-5-82"/>
          <p:cNvSpPr/>
          <p:nvPr/>
        </p:nvSpPr>
        <p:spPr>
          <a:xfrm>
            <a:off x="6534150" y="3219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5" name="rev-line-5-84"/>
          <p:cNvSpPr/>
          <p:nvPr/>
        </p:nvSpPr>
        <p:spPr>
          <a:xfrm>
            <a:off x="6553200" y="3219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6" name="rev-line-5-86"/>
          <p:cNvSpPr/>
          <p:nvPr/>
        </p:nvSpPr>
        <p:spPr>
          <a:xfrm>
            <a:off x="6572250" y="3219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7" name="rev-line-5-88"/>
          <p:cNvSpPr/>
          <p:nvPr/>
        </p:nvSpPr>
        <p:spPr>
          <a:xfrm>
            <a:off x="6591300" y="32194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8" name="rev-line-5-90"/>
          <p:cNvSpPr/>
          <p:nvPr/>
        </p:nvSpPr>
        <p:spPr>
          <a:xfrm>
            <a:off x="6610350" y="32099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9" name="rev-line-5-92"/>
          <p:cNvSpPr/>
          <p:nvPr/>
        </p:nvSpPr>
        <p:spPr>
          <a:xfrm>
            <a:off x="6629400" y="32099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0" name="rev-line-5-94"/>
          <p:cNvSpPr/>
          <p:nvPr/>
        </p:nvSpPr>
        <p:spPr>
          <a:xfrm>
            <a:off x="6648450" y="32099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1" name="rev-line-5-96"/>
          <p:cNvSpPr/>
          <p:nvPr/>
        </p:nvSpPr>
        <p:spPr>
          <a:xfrm>
            <a:off x="6667500" y="3200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2" name="rev-line-5-98"/>
          <p:cNvSpPr/>
          <p:nvPr/>
        </p:nvSpPr>
        <p:spPr>
          <a:xfrm>
            <a:off x="6686550" y="3200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3" name="rev-line-5-100"/>
          <p:cNvSpPr/>
          <p:nvPr/>
        </p:nvSpPr>
        <p:spPr>
          <a:xfrm>
            <a:off x="6705600" y="3200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4" name="rev-line-5-102"/>
          <p:cNvSpPr/>
          <p:nvPr/>
        </p:nvSpPr>
        <p:spPr>
          <a:xfrm>
            <a:off x="6724650" y="3200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5" name="rev-line-6-0"/>
          <p:cNvSpPr/>
          <p:nvPr/>
        </p:nvSpPr>
        <p:spPr>
          <a:xfrm>
            <a:off x="6734175" y="32004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6" name="rev-line-6-2"/>
          <p:cNvSpPr/>
          <p:nvPr/>
        </p:nvSpPr>
        <p:spPr>
          <a:xfrm>
            <a:off x="6753225" y="31908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7" name="rev-line-6-4"/>
          <p:cNvSpPr/>
          <p:nvPr/>
        </p:nvSpPr>
        <p:spPr>
          <a:xfrm>
            <a:off x="6772275" y="31908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8" name="rev-line-6-6"/>
          <p:cNvSpPr/>
          <p:nvPr/>
        </p:nvSpPr>
        <p:spPr>
          <a:xfrm>
            <a:off x="6791325" y="3181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9" name="rev-line-6-8"/>
          <p:cNvSpPr/>
          <p:nvPr/>
        </p:nvSpPr>
        <p:spPr>
          <a:xfrm>
            <a:off x="6810375" y="3181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0" name="rev-line-6-10"/>
          <p:cNvSpPr/>
          <p:nvPr/>
        </p:nvSpPr>
        <p:spPr>
          <a:xfrm>
            <a:off x="6829425" y="31813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1" name="rev-line-6-12"/>
          <p:cNvSpPr/>
          <p:nvPr/>
        </p:nvSpPr>
        <p:spPr>
          <a:xfrm>
            <a:off x="6848475" y="31718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2" name="rev-line-6-14"/>
          <p:cNvSpPr/>
          <p:nvPr/>
        </p:nvSpPr>
        <p:spPr>
          <a:xfrm>
            <a:off x="6867525" y="31718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3" name="rev-line-6-16"/>
          <p:cNvSpPr/>
          <p:nvPr/>
        </p:nvSpPr>
        <p:spPr>
          <a:xfrm>
            <a:off x="6886575" y="31718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4" name="rev-line-6-18"/>
          <p:cNvSpPr/>
          <p:nvPr/>
        </p:nvSpPr>
        <p:spPr>
          <a:xfrm>
            <a:off x="6905625" y="3162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5" name="rev-line-6-20"/>
          <p:cNvSpPr/>
          <p:nvPr/>
        </p:nvSpPr>
        <p:spPr>
          <a:xfrm>
            <a:off x="6924675" y="3162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6" name="rev-line-6-22"/>
          <p:cNvSpPr/>
          <p:nvPr/>
        </p:nvSpPr>
        <p:spPr>
          <a:xfrm>
            <a:off x="6943725" y="31623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7" name="rev-line-6-24"/>
          <p:cNvSpPr/>
          <p:nvPr/>
        </p:nvSpPr>
        <p:spPr>
          <a:xfrm>
            <a:off x="6962775" y="3152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8" name="rev-line-6-26"/>
          <p:cNvSpPr/>
          <p:nvPr/>
        </p:nvSpPr>
        <p:spPr>
          <a:xfrm>
            <a:off x="6981825" y="3152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9" name="rev-line-6-28"/>
          <p:cNvSpPr/>
          <p:nvPr/>
        </p:nvSpPr>
        <p:spPr>
          <a:xfrm>
            <a:off x="7000875" y="31527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0" name="rev-line-6-30"/>
          <p:cNvSpPr/>
          <p:nvPr/>
        </p:nvSpPr>
        <p:spPr>
          <a:xfrm>
            <a:off x="7019925" y="31432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1" name="rev-line-6-32"/>
          <p:cNvSpPr/>
          <p:nvPr/>
        </p:nvSpPr>
        <p:spPr>
          <a:xfrm>
            <a:off x="7038975" y="31432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2" name="rev-line-6-34"/>
          <p:cNvSpPr/>
          <p:nvPr/>
        </p:nvSpPr>
        <p:spPr>
          <a:xfrm>
            <a:off x="7058025" y="31432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3" name="rev-line-6-36"/>
          <p:cNvSpPr/>
          <p:nvPr/>
        </p:nvSpPr>
        <p:spPr>
          <a:xfrm>
            <a:off x="7077075" y="3133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4" name="rev-line-6-38"/>
          <p:cNvSpPr/>
          <p:nvPr/>
        </p:nvSpPr>
        <p:spPr>
          <a:xfrm>
            <a:off x="7096125" y="3133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5" name="rev-line-6-40"/>
          <p:cNvSpPr/>
          <p:nvPr/>
        </p:nvSpPr>
        <p:spPr>
          <a:xfrm>
            <a:off x="7115175" y="31337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6" name="rev-line-6-42"/>
          <p:cNvSpPr/>
          <p:nvPr/>
        </p:nvSpPr>
        <p:spPr>
          <a:xfrm>
            <a:off x="7134225" y="31242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7" name="rev-line-6-44"/>
          <p:cNvSpPr/>
          <p:nvPr/>
        </p:nvSpPr>
        <p:spPr>
          <a:xfrm>
            <a:off x="7153275" y="31242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8" name="rev-line-6-46"/>
          <p:cNvSpPr/>
          <p:nvPr/>
        </p:nvSpPr>
        <p:spPr>
          <a:xfrm>
            <a:off x="7172325" y="3114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9" name="rev-line-6-48"/>
          <p:cNvSpPr/>
          <p:nvPr/>
        </p:nvSpPr>
        <p:spPr>
          <a:xfrm>
            <a:off x="7191375" y="3114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0" name="rev-line-6-50"/>
          <p:cNvSpPr/>
          <p:nvPr/>
        </p:nvSpPr>
        <p:spPr>
          <a:xfrm>
            <a:off x="7210425" y="31146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1" name="rev-line-6-52"/>
          <p:cNvSpPr/>
          <p:nvPr/>
        </p:nvSpPr>
        <p:spPr>
          <a:xfrm>
            <a:off x="7229475" y="3105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2" name="rev-line-6-54"/>
          <p:cNvSpPr/>
          <p:nvPr/>
        </p:nvSpPr>
        <p:spPr>
          <a:xfrm>
            <a:off x="7248525" y="3105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3" name="rev-line-6-56"/>
          <p:cNvSpPr/>
          <p:nvPr/>
        </p:nvSpPr>
        <p:spPr>
          <a:xfrm>
            <a:off x="7267575" y="31051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4" name="rev-line-6-58"/>
          <p:cNvSpPr/>
          <p:nvPr/>
        </p:nvSpPr>
        <p:spPr>
          <a:xfrm>
            <a:off x="7286625" y="30956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5" name="rev-line-6-60"/>
          <p:cNvSpPr/>
          <p:nvPr/>
        </p:nvSpPr>
        <p:spPr>
          <a:xfrm>
            <a:off x="7305675" y="30956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6" name="rev-line-6-62"/>
          <p:cNvSpPr/>
          <p:nvPr/>
        </p:nvSpPr>
        <p:spPr>
          <a:xfrm>
            <a:off x="7324725" y="30956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7" name="rev-line-6-64"/>
          <p:cNvSpPr/>
          <p:nvPr/>
        </p:nvSpPr>
        <p:spPr>
          <a:xfrm>
            <a:off x="7343775" y="30861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8" name="rev-line-6-66"/>
          <p:cNvSpPr/>
          <p:nvPr/>
        </p:nvSpPr>
        <p:spPr>
          <a:xfrm>
            <a:off x="7362825" y="30861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9" name="rev-line-6-68"/>
          <p:cNvSpPr/>
          <p:nvPr/>
        </p:nvSpPr>
        <p:spPr>
          <a:xfrm>
            <a:off x="7381875" y="30861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0" name="rev-line-6-70"/>
          <p:cNvSpPr/>
          <p:nvPr/>
        </p:nvSpPr>
        <p:spPr>
          <a:xfrm>
            <a:off x="7400925" y="3076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1" name="rev-line-6-72"/>
          <p:cNvSpPr/>
          <p:nvPr/>
        </p:nvSpPr>
        <p:spPr>
          <a:xfrm>
            <a:off x="7419975" y="3076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2" name="rev-line-6-74"/>
          <p:cNvSpPr/>
          <p:nvPr/>
        </p:nvSpPr>
        <p:spPr>
          <a:xfrm>
            <a:off x="7439025" y="30765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3" name="rev-line-6-76"/>
          <p:cNvSpPr/>
          <p:nvPr/>
        </p:nvSpPr>
        <p:spPr>
          <a:xfrm>
            <a:off x="7458075" y="3067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4" name="rev-line-6-78"/>
          <p:cNvSpPr/>
          <p:nvPr/>
        </p:nvSpPr>
        <p:spPr>
          <a:xfrm>
            <a:off x="7477125" y="3067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5" name="rev-line-6-80"/>
          <p:cNvSpPr/>
          <p:nvPr/>
        </p:nvSpPr>
        <p:spPr>
          <a:xfrm>
            <a:off x="7496175" y="30670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6" name="rev-line-6-82"/>
          <p:cNvSpPr/>
          <p:nvPr/>
        </p:nvSpPr>
        <p:spPr>
          <a:xfrm>
            <a:off x="7515225" y="30575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7" name="rev-line-6-84"/>
          <p:cNvSpPr/>
          <p:nvPr/>
        </p:nvSpPr>
        <p:spPr>
          <a:xfrm>
            <a:off x="7534275" y="305752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8" name="rev-line-6-86"/>
          <p:cNvSpPr/>
          <p:nvPr/>
        </p:nvSpPr>
        <p:spPr>
          <a:xfrm>
            <a:off x="7553325" y="30480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9" name="rev-line-6-88"/>
          <p:cNvSpPr/>
          <p:nvPr/>
        </p:nvSpPr>
        <p:spPr>
          <a:xfrm>
            <a:off x="7572375" y="30480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0" name="rev-line-6-90"/>
          <p:cNvSpPr/>
          <p:nvPr/>
        </p:nvSpPr>
        <p:spPr>
          <a:xfrm>
            <a:off x="7591425" y="304800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1" name="rev-line-6-92"/>
          <p:cNvSpPr/>
          <p:nvPr/>
        </p:nvSpPr>
        <p:spPr>
          <a:xfrm>
            <a:off x="7610475" y="3038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2" name="rev-line-6-94"/>
          <p:cNvSpPr/>
          <p:nvPr/>
        </p:nvSpPr>
        <p:spPr>
          <a:xfrm>
            <a:off x="7629525" y="3038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3" name="rev-line-6-96"/>
          <p:cNvSpPr/>
          <p:nvPr/>
        </p:nvSpPr>
        <p:spPr>
          <a:xfrm>
            <a:off x="7648575" y="3038475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4" name="rev-line-6-98"/>
          <p:cNvSpPr/>
          <p:nvPr/>
        </p:nvSpPr>
        <p:spPr>
          <a:xfrm>
            <a:off x="7667625" y="3028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5" name="rev-line-6-100"/>
          <p:cNvSpPr/>
          <p:nvPr/>
        </p:nvSpPr>
        <p:spPr>
          <a:xfrm>
            <a:off x="7686675" y="3028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6" name="rev-line-6-102"/>
          <p:cNvSpPr/>
          <p:nvPr/>
        </p:nvSpPr>
        <p:spPr>
          <a:xfrm>
            <a:off x="7705725" y="3028950"/>
            <a:ext cx="190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7" name="rev-dot-0"/>
          <p:cNvSpPr/>
          <p:nvPr/>
        </p:nvSpPr>
        <p:spPr>
          <a:xfrm>
            <a:off x="828675" y="41433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8" name="rev-dot-1"/>
          <p:cNvSpPr/>
          <p:nvPr/>
        </p:nvSpPr>
        <p:spPr>
          <a:xfrm>
            <a:off x="1800225" y="401002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9" name="rev-dot-2"/>
          <p:cNvSpPr/>
          <p:nvPr/>
        </p:nvSpPr>
        <p:spPr>
          <a:xfrm>
            <a:off x="2781300" y="38004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0" name="rev-dot-3"/>
          <p:cNvSpPr/>
          <p:nvPr/>
        </p:nvSpPr>
        <p:spPr>
          <a:xfrm>
            <a:off x="3762375" y="360045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1" name="rev-dot-4"/>
          <p:cNvSpPr/>
          <p:nvPr/>
        </p:nvSpPr>
        <p:spPr>
          <a:xfrm>
            <a:off x="4743450" y="34575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2" name="rev-dot-5"/>
          <p:cNvSpPr/>
          <p:nvPr/>
        </p:nvSpPr>
        <p:spPr>
          <a:xfrm>
            <a:off x="5724525" y="33051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3" name="rev-dot-6"/>
          <p:cNvSpPr/>
          <p:nvPr/>
        </p:nvSpPr>
        <p:spPr>
          <a:xfrm>
            <a:off x="6705600" y="317182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4" name="rev-dot-7"/>
          <p:cNvSpPr/>
          <p:nvPr/>
        </p:nvSpPr>
        <p:spPr>
          <a:xfrm>
            <a:off x="7686675" y="3000375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5" name="nps-line-0-0"/>
          <p:cNvSpPr/>
          <p:nvPr/>
        </p:nvSpPr>
        <p:spPr>
          <a:xfrm>
            <a:off x="857250" y="42005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6" name="nps-line-0-6"/>
          <p:cNvSpPr/>
          <p:nvPr/>
        </p:nvSpPr>
        <p:spPr>
          <a:xfrm>
            <a:off x="914400" y="41910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7" name="nps-line-0-12"/>
          <p:cNvSpPr/>
          <p:nvPr/>
        </p:nvSpPr>
        <p:spPr>
          <a:xfrm>
            <a:off x="971550" y="41814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8" name="nps-line-0-18"/>
          <p:cNvSpPr/>
          <p:nvPr/>
        </p:nvSpPr>
        <p:spPr>
          <a:xfrm>
            <a:off x="1028700" y="41814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9" name="nps-line-0-24"/>
          <p:cNvSpPr/>
          <p:nvPr/>
        </p:nvSpPr>
        <p:spPr>
          <a:xfrm>
            <a:off x="1085850" y="41719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0" name="nps-line-0-30"/>
          <p:cNvSpPr/>
          <p:nvPr/>
        </p:nvSpPr>
        <p:spPr>
          <a:xfrm>
            <a:off x="1143000" y="41719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1" name="nps-line-0-36"/>
          <p:cNvSpPr/>
          <p:nvPr/>
        </p:nvSpPr>
        <p:spPr>
          <a:xfrm>
            <a:off x="1200150" y="41624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2" name="nps-line-0-42"/>
          <p:cNvSpPr/>
          <p:nvPr/>
        </p:nvSpPr>
        <p:spPr>
          <a:xfrm>
            <a:off x="1257300" y="41624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3" name="nps-line-0-48"/>
          <p:cNvSpPr/>
          <p:nvPr/>
        </p:nvSpPr>
        <p:spPr>
          <a:xfrm>
            <a:off x="1314450" y="41529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4" name="nps-line-0-54"/>
          <p:cNvSpPr/>
          <p:nvPr/>
        </p:nvSpPr>
        <p:spPr>
          <a:xfrm>
            <a:off x="1371600" y="41529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5" name="nps-line-0-60"/>
          <p:cNvSpPr/>
          <p:nvPr/>
        </p:nvSpPr>
        <p:spPr>
          <a:xfrm>
            <a:off x="1428750" y="41433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6" name="nps-line-0-66"/>
          <p:cNvSpPr/>
          <p:nvPr/>
        </p:nvSpPr>
        <p:spPr>
          <a:xfrm>
            <a:off x="1485900" y="41433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7" name="nps-line-0-72"/>
          <p:cNvSpPr/>
          <p:nvPr/>
        </p:nvSpPr>
        <p:spPr>
          <a:xfrm>
            <a:off x="1543050" y="41338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8" name="nps-line-0-78"/>
          <p:cNvSpPr/>
          <p:nvPr/>
        </p:nvSpPr>
        <p:spPr>
          <a:xfrm>
            <a:off x="1600200" y="41338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9" name="nps-line-0-84"/>
          <p:cNvSpPr/>
          <p:nvPr/>
        </p:nvSpPr>
        <p:spPr>
          <a:xfrm>
            <a:off x="1657350" y="41243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0" name="nps-line-0-90"/>
          <p:cNvSpPr/>
          <p:nvPr/>
        </p:nvSpPr>
        <p:spPr>
          <a:xfrm>
            <a:off x="1714500" y="41243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1" name="nps-line-0-96"/>
          <p:cNvSpPr/>
          <p:nvPr/>
        </p:nvSpPr>
        <p:spPr>
          <a:xfrm>
            <a:off x="1771650" y="41148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2" name="nps-line-1-0"/>
          <p:cNvSpPr/>
          <p:nvPr/>
        </p:nvSpPr>
        <p:spPr>
          <a:xfrm>
            <a:off x="1828800" y="41148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3" name="nps-line-1-6"/>
          <p:cNvSpPr/>
          <p:nvPr/>
        </p:nvSpPr>
        <p:spPr>
          <a:xfrm>
            <a:off x="1885950" y="40957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4" name="nps-line-1-12"/>
          <p:cNvSpPr/>
          <p:nvPr/>
        </p:nvSpPr>
        <p:spPr>
          <a:xfrm>
            <a:off x="1943100" y="40862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5" name="nps-line-1-18"/>
          <p:cNvSpPr/>
          <p:nvPr/>
        </p:nvSpPr>
        <p:spPr>
          <a:xfrm>
            <a:off x="2000250" y="40767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6" name="nps-line-1-24"/>
          <p:cNvSpPr/>
          <p:nvPr/>
        </p:nvSpPr>
        <p:spPr>
          <a:xfrm>
            <a:off x="2057400" y="40671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7" name="nps-line-1-30"/>
          <p:cNvSpPr/>
          <p:nvPr/>
        </p:nvSpPr>
        <p:spPr>
          <a:xfrm>
            <a:off x="2114550" y="40576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8" name="nps-line-1-36"/>
          <p:cNvSpPr/>
          <p:nvPr/>
        </p:nvSpPr>
        <p:spPr>
          <a:xfrm>
            <a:off x="2171700" y="40481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9" name="nps-line-1-42"/>
          <p:cNvSpPr/>
          <p:nvPr/>
        </p:nvSpPr>
        <p:spPr>
          <a:xfrm>
            <a:off x="2228850" y="40386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0" name="nps-line-1-48"/>
          <p:cNvSpPr/>
          <p:nvPr/>
        </p:nvSpPr>
        <p:spPr>
          <a:xfrm>
            <a:off x="2286000" y="40290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1" name="nps-line-1-54"/>
          <p:cNvSpPr/>
          <p:nvPr/>
        </p:nvSpPr>
        <p:spPr>
          <a:xfrm>
            <a:off x="2343150" y="40195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2" name="nps-line-1-60"/>
          <p:cNvSpPr/>
          <p:nvPr/>
        </p:nvSpPr>
        <p:spPr>
          <a:xfrm>
            <a:off x="2400300" y="40100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3" name="nps-line-1-66"/>
          <p:cNvSpPr/>
          <p:nvPr/>
        </p:nvSpPr>
        <p:spPr>
          <a:xfrm>
            <a:off x="2457450" y="40005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4" name="nps-line-1-72"/>
          <p:cNvSpPr/>
          <p:nvPr/>
        </p:nvSpPr>
        <p:spPr>
          <a:xfrm>
            <a:off x="2514600" y="39909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5" name="nps-line-1-78"/>
          <p:cNvSpPr/>
          <p:nvPr/>
        </p:nvSpPr>
        <p:spPr>
          <a:xfrm>
            <a:off x="2571750" y="39814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6" name="nps-line-1-84"/>
          <p:cNvSpPr/>
          <p:nvPr/>
        </p:nvSpPr>
        <p:spPr>
          <a:xfrm>
            <a:off x="2628900" y="39719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7" name="nps-line-1-90"/>
          <p:cNvSpPr/>
          <p:nvPr/>
        </p:nvSpPr>
        <p:spPr>
          <a:xfrm>
            <a:off x="2686050" y="39624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8" name="nps-line-1-96"/>
          <p:cNvSpPr/>
          <p:nvPr/>
        </p:nvSpPr>
        <p:spPr>
          <a:xfrm>
            <a:off x="2743200" y="39528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9" name="nps-line-1-102"/>
          <p:cNvSpPr/>
          <p:nvPr/>
        </p:nvSpPr>
        <p:spPr>
          <a:xfrm>
            <a:off x="2800350" y="39433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0" name="nps-line-2-0"/>
          <p:cNvSpPr/>
          <p:nvPr/>
        </p:nvSpPr>
        <p:spPr>
          <a:xfrm>
            <a:off x="2809875" y="39433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1" name="nps-line-2-6"/>
          <p:cNvSpPr/>
          <p:nvPr/>
        </p:nvSpPr>
        <p:spPr>
          <a:xfrm>
            <a:off x="2867025" y="39338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2" name="nps-line-2-12"/>
          <p:cNvSpPr/>
          <p:nvPr/>
        </p:nvSpPr>
        <p:spPr>
          <a:xfrm>
            <a:off x="2924175" y="39243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3" name="nps-line-2-18"/>
          <p:cNvSpPr/>
          <p:nvPr/>
        </p:nvSpPr>
        <p:spPr>
          <a:xfrm>
            <a:off x="2981325" y="39147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4" name="nps-line-2-24"/>
          <p:cNvSpPr/>
          <p:nvPr/>
        </p:nvSpPr>
        <p:spPr>
          <a:xfrm>
            <a:off x="3038475" y="39052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5" name="nps-line-2-30"/>
          <p:cNvSpPr/>
          <p:nvPr/>
        </p:nvSpPr>
        <p:spPr>
          <a:xfrm>
            <a:off x="3095625" y="39052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6" name="nps-line-2-36"/>
          <p:cNvSpPr/>
          <p:nvPr/>
        </p:nvSpPr>
        <p:spPr>
          <a:xfrm>
            <a:off x="3152775" y="38957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7" name="nps-line-2-42"/>
          <p:cNvSpPr/>
          <p:nvPr/>
        </p:nvSpPr>
        <p:spPr>
          <a:xfrm>
            <a:off x="3209925" y="38862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8" name="nps-line-2-48"/>
          <p:cNvSpPr/>
          <p:nvPr/>
        </p:nvSpPr>
        <p:spPr>
          <a:xfrm>
            <a:off x="3267075" y="38766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9" name="nps-line-2-54"/>
          <p:cNvSpPr/>
          <p:nvPr/>
        </p:nvSpPr>
        <p:spPr>
          <a:xfrm>
            <a:off x="3324225" y="38766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0" name="nps-line-2-60"/>
          <p:cNvSpPr/>
          <p:nvPr/>
        </p:nvSpPr>
        <p:spPr>
          <a:xfrm>
            <a:off x="3381375" y="38671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1" name="nps-line-2-66"/>
          <p:cNvSpPr/>
          <p:nvPr/>
        </p:nvSpPr>
        <p:spPr>
          <a:xfrm>
            <a:off x="3438525" y="38576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2" name="nps-line-2-72"/>
          <p:cNvSpPr/>
          <p:nvPr/>
        </p:nvSpPr>
        <p:spPr>
          <a:xfrm>
            <a:off x="3495675" y="38481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3" name="nps-line-2-78"/>
          <p:cNvSpPr/>
          <p:nvPr/>
        </p:nvSpPr>
        <p:spPr>
          <a:xfrm>
            <a:off x="3552825" y="38481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4" name="nps-line-2-84"/>
          <p:cNvSpPr/>
          <p:nvPr/>
        </p:nvSpPr>
        <p:spPr>
          <a:xfrm>
            <a:off x="3609975" y="38385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5" name="nps-line-2-90"/>
          <p:cNvSpPr/>
          <p:nvPr/>
        </p:nvSpPr>
        <p:spPr>
          <a:xfrm>
            <a:off x="3667125" y="38290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6" name="nps-line-2-96"/>
          <p:cNvSpPr/>
          <p:nvPr/>
        </p:nvSpPr>
        <p:spPr>
          <a:xfrm>
            <a:off x="3724275" y="38195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7" name="nps-line-2-102"/>
          <p:cNvSpPr/>
          <p:nvPr/>
        </p:nvSpPr>
        <p:spPr>
          <a:xfrm>
            <a:off x="3781425" y="38195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8" name="nps-line-3-0"/>
          <p:cNvSpPr/>
          <p:nvPr/>
        </p:nvSpPr>
        <p:spPr>
          <a:xfrm>
            <a:off x="3790950" y="38195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9" name="nps-line-3-6"/>
          <p:cNvSpPr/>
          <p:nvPr/>
        </p:nvSpPr>
        <p:spPr>
          <a:xfrm>
            <a:off x="3848100" y="38004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0" name="nps-line-3-12"/>
          <p:cNvSpPr/>
          <p:nvPr/>
        </p:nvSpPr>
        <p:spPr>
          <a:xfrm>
            <a:off x="3905250" y="37909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1" name="nps-line-3-18"/>
          <p:cNvSpPr/>
          <p:nvPr/>
        </p:nvSpPr>
        <p:spPr>
          <a:xfrm>
            <a:off x="3962400" y="37814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2" name="nps-line-3-24"/>
          <p:cNvSpPr/>
          <p:nvPr/>
        </p:nvSpPr>
        <p:spPr>
          <a:xfrm>
            <a:off x="4019550" y="37719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3" name="nps-line-3-30"/>
          <p:cNvSpPr/>
          <p:nvPr/>
        </p:nvSpPr>
        <p:spPr>
          <a:xfrm>
            <a:off x="4076700" y="37623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4" name="nps-line-3-36"/>
          <p:cNvSpPr/>
          <p:nvPr/>
        </p:nvSpPr>
        <p:spPr>
          <a:xfrm>
            <a:off x="4133850" y="37528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5" name="nps-line-3-42"/>
          <p:cNvSpPr/>
          <p:nvPr/>
        </p:nvSpPr>
        <p:spPr>
          <a:xfrm>
            <a:off x="4191000" y="37433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6" name="nps-line-3-48"/>
          <p:cNvSpPr/>
          <p:nvPr/>
        </p:nvSpPr>
        <p:spPr>
          <a:xfrm>
            <a:off x="4248150" y="37338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7" name="nps-line-3-54"/>
          <p:cNvSpPr/>
          <p:nvPr/>
        </p:nvSpPr>
        <p:spPr>
          <a:xfrm>
            <a:off x="4305300" y="37242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8" name="nps-line-3-60"/>
          <p:cNvSpPr/>
          <p:nvPr/>
        </p:nvSpPr>
        <p:spPr>
          <a:xfrm>
            <a:off x="4362450" y="37147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9" name="nps-line-3-66"/>
          <p:cNvSpPr/>
          <p:nvPr/>
        </p:nvSpPr>
        <p:spPr>
          <a:xfrm>
            <a:off x="4419600" y="37052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0" name="nps-line-3-72"/>
          <p:cNvSpPr/>
          <p:nvPr/>
        </p:nvSpPr>
        <p:spPr>
          <a:xfrm>
            <a:off x="4476750" y="36957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1" name="nps-line-3-78"/>
          <p:cNvSpPr/>
          <p:nvPr/>
        </p:nvSpPr>
        <p:spPr>
          <a:xfrm>
            <a:off x="4533900" y="36861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2" name="nps-line-3-84"/>
          <p:cNvSpPr/>
          <p:nvPr/>
        </p:nvSpPr>
        <p:spPr>
          <a:xfrm>
            <a:off x="4591050" y="36766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3" name="nps-line-3-90"/>
          <p:cNvSpPr/>
          <p:nvPr/>
        </p:nvSpPr>
        <p:spPr>
          <a:xfrm>
            <a:off x="4648200" y="36671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4" name="nps-line-3-96"/>
          <p:cNvSpPr/>
          <p:nvPr/>
        </p:nvSpPr>
        <p:spPr>
          <a:xfrm>
            <a:off x="4705350" y="36576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5" name="nps-line-3-102"/>
          <p:cNvSpPr/>
          <p:nvPr/>
        </p:nvSpPr>
        <p:spPr>
          <a:xfrm>
            <a:off x="4762500" y="36480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6" name="nps-line-4-0"/>
          <p:cNvSpPr/>
          <p:nvPr/>
        </p:nvSpPr>
        <p:spPr>
          <a:xfrm>
            <a:off x="4772025" y="36480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7" name="nps-line-4-6"/>
          <p:cNvSpPr/>
          <p:nvPr/>
        </p:nvSpPr>
        <p:spPr>
          <a:xfrm>
            <a:off x="4829175" y="36385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8" name="nps-line-4-12"/>
          <p:cNvSpPr/>
          <p:nvPr/>
        </p:nvSpPr>
        <p:spPr>
          <a:xfrm>
            <a:off x="4886325" y="36290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9" name="nps-line-4-18"/>
          <p:cNvSpPr/>
          <p:nvPr/>
        </p:nvSpPr>
        <p:spPr>
          <a:xfrm>
            <a:off x="4943475" y="36195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0" name="nps-line-4-24"/>
          <p:cNvSpPr/>
          <p:nvPr/>
        </p:nvSpPr>
        <p:spPr>
          <a:xfrm>
            <a:off x="5000625" y="36099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1" name="nps-line-4-30"/>
          <p:cNvSpPr/>
          <p:nvPr/>
        </p:nvSpPr>
        <p:spPr>
          <a:xfrm>
            <a:off x="5057775" y="36004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2" name="nps-line-4-36"/>
          <p:cNvSpPr/>
          <p:nvPr/>
        </p:nvSpPr>
        <p:spPr>
          <a:xfrm>
            <a:off x="5114925" y="36004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3" name="nps-line-4-42"/>
          <p:cNvSpPr/>
          <p:nvPr/>
        </p:nvSpPr>
        <p:spPr>
          <a:xfrm>
            <a:off x="5172075" y="35909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4" name="nps-line-4-48"/>
          <p:cNvSpPr/>
          <p:nvPr/>
        </p:nvSpPr>
        <p:spPr>
          <a:xfrm>
            <a:off x="5229225" y="35814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5" name="nps-line-4-54"/>
          <p:cNvSpPr/>
          <p:nvPr/>
        </p:nvSpPr>
        <p:spPr>
          <a:xfrm>
            <a:off x="5286375" y="35718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6" name="nps-line-4-60"/>
          <p:cNvSpPr/>
          <p:nvPr/>
        </p:nvSpPr>
        <p:spPr>
          <a:xfrm>
            <a:off x="5343525" y="35623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7" name="nps-line-4-66"/>
          <p:cNvSpPr/>
          <p:nvPr/>
        </p:nvSpPr>
        <p:spPr>
          <a:xfrm>
            <a:off x="5400675" y="35623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8" name="nps-line-4-72"/>
          <p:cNvSpPr/>
          <p:nvPr/>
        </p:nvSpPr>
        <p:spPr>
          <a:xfrm>
            <a:off x="5457825" y="35528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9" name="nps-line-4-78"/>
          <p:cNvSpPr/>
          <p:nvPr/>
        </p:nvSpPr>
        <p:spPr>
          <a:xfrm>
            <a:off x="5514975" y="35433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0" name="nps-line-4-84"/>
          <p:cNvSpPr/>
          <p:nvPr/>
        </p:nvSpPr>
        <p:spPr>
          <a:xfrm>
            <a:off x="5572125" y="35337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1" name="nps-line-4-90"/>
          <p:cNvSpPr/>
          <p:nvPr/>
        </p:nvSpPr>
        <p:spPr>
          <a:xfrm>
            <a:off x="5629275" y="35242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2" name="nps-line-4-96"/>
          <p:cNvSpPr/>
          <p:nvPr/>
        </p:nvSpPr>
        <p:spPr>
          <a:xfrm>
            <a:off x="5686425" y="35147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3" name="nps-line-4-102"/>
          <p:cNvSpPr/>
          <p:nvPr/>
        </p:nvSpPr>
        <p:spPr>
          <a:xfrm>
            <a:off x="5743575" y="35147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4" name="nps-line-5-0"/>
          <p:cNvSpPr/>
          <p:nvPr/>
        </p:nvSpPr>
        <p:spPr>
          <a:xfrm>
            <a:off x="5753100" y="35147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5" name="nps-line-5-6"/>
          <p:cNvSpPr/>
          <p:nvPr/>
        </p:nvSpPr>
        <p:spPr>
          <a:xfrm>
            <a:off x="5810250" y="35052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6" name="nps-line-5-12"/>
          <p:cNvSpPr/>
          <p:nvPr/>
        </p:nvSpPr>
        <p:spPr>
          <a:xfrm>
            <a:off x="5867400" y="34956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7" name="nps-line-5-18"/>
          <p:cNvSpPr/>
          <p:nvPr/>
        </p:nvSpPr>
        <p:spPr>
          <a:xfrm>
            <a:off x="5924550" y="34861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8" name="nps-line-5-24"/>
          <p:cNvSpPr/>
          <p:nvPr/>
        </p:nvSpPr>
        <p:spPr>
          <a:xfrm>
            <a:off x="5981700" y="34766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9" name="nps-line-5-30"/>
          <p:cNvSpPr/>
          <p:nvPr/>
        </p:nvSpPr>
        <p:spPr>
          <a:xfrm>
            <a:off x="6038850" y="34766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0" name="nps-line-5-36"/>
          <p:cNvSpPr/>
          <p:nvPr/>
        </p:nvSpPr>
        <p:spPr>
          <a:xfrm>
            <a:off x="6096000" y="34671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1" name="nps-line-5-42"/>
          <p:cNvSpPr/>
          <p:nvPr/>
        </p:nvSpPr>
        <p:spPr>
          <a:xfrm>
            <a:off x="6153150" y="34575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2" name="nps-line-5-48"/>
          <p:cNvSpPr/>
          <p:nvPr/>
        </p:nvSpPr>
        <p:spPr>
          <a:xfrm>
            <a:off x="6210300" y="34480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3" name="nps-line-5-54"/>
          <p:cNvSpPr/>
          <p:nvPr/>
        </p:nvSpPr>
        <p:spPr>
          <a:xfrm>
            <a:off x="6267450" y="34480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4" name="nps-line-5-60"/>
          <p:cNvSpPr/>
          <p:nvPr/>
        </p:nvSpPr>
        <p:spPr>
          <a:xfrm>
            <a:off x="6324600" y="34385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5" name="nps-line-5-66"/>
          <p:cNvSpPr/>
          <p:nvPr/>
        </p:nvSpPr>
        <p:spPr>
          <a:xfrm>
            <a:off x="6381750" y="34290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6" name="nps-line-5-72"/>
          <p:cNvSpPr/>
          <p:nvPr/>
        </p:nvSpPr>
        <p:spPr>
          <a:xfrm>
            <a:off x="6438900" y="34194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7" name="nps-line-5-78"/>
          <p:cNvSpPr/>
          <p:nvPr/>
        </p:nvSpPr>
        <p:spPr>
          <a:xfrm>
            <a:off x="6496050" y="34194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8" name="nps-line-5-84"/>
          <p:cNvSpPr/>
          <p:nvPr/>
        </p:nvSpPr>
        <p:spPr>
          <a:xfrm>
            <a:off x="6553200" y="34099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9" name="nps-line-5-90"/>
          <p:cNvSpPr/>
          <p:nvPr/>
        </p:nvSpPr>
        <p:spPr>
          <a:xfrm>
            <a:off x="6610350" y="34004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0" name="nps-line-5-96"/>
          <p:cNvSpPr/>
          <p:nvPr/>
        </p:nvSpPr>
        <p:spPr>
          <a:xfrm>
            <a:off x="6667500" y="33909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1" name="nps-line-5-102"/>
          <p:cNvSpPr/>
          <p:nvPr/>
        </p:nvSpPr>
        <p:spPr>
          <a:xfrm>
            <a:off x="6724650" y="33909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2" name="nps-line-6-0"/>
          <p:cNvSpPr/>
          <p:nvPr/>
        </p:nvSpPr>
        <p:spPr>
          <a:xfrm>
            <a:off x="6734175" y="33909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3" name="nps-line-6-6"/>
          <p:cNvSpPr/>
          <p:nvPr/>
        </p:nvSpPr>
        <p:spPr>
          <a:xfrm>
            <a:off x="6791325" y="33718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4" name="nps-line-6-12"/>
          <p:cNvSpPr/>
          <p:nvPr/>
        </p:nvSpPr>
        <p:spPr>
          <a:xfrm>
            <a:off x="6848475" y="33623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5" name="nps-line-6-18"/>
          <p:cNvSpPr/>
          <p:nvPr/>
        </p:nvSpPr>
        <p:spPr>
          <a:xfrm>
            <a:off x="6905625" y="33528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6" name="nps-line-6-24"/>
          <p:cNvSpPr/>
          <p:nvPr/>
        </p:nvSpPr>
        <p:spPr>
          <a:xfrm>
            <a:off x="6962775" y="33432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7" name="nps-line-6-30"/>
          <p:cNvSpPr/>
          <p:nvPr/>
        </p:nvSpPr>
        <p:spPr>
          <a:xfrm>
            <a:off x="7019925" y="33337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8" name="nps-line-6-36"/>
          <p:cNvSpPr/>
          <p:nvPr/>
        </p:nvSpPr>
        <p:spPr>
          <a:xfrm>
            <a:off x="7077075" y="33242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9" name="nps-line-6-42"/>
          <p:cNvSpPr/>
          <p:nvPr/>
        </p:nvSpPr>
        <p:spPr>
          <a:xfrm>
            <a:off x="7134225" y="33147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0" name="nps-line-6-48"/>
          <p:cNvSpPr/>
          <p:nvPr/>
        </p:nvSpPr>
        <p:spPr>
          <a:xfrm>
            <a:off x="7191375" y="33051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1" name="nps-line-6-54"/>
          <p:cNvSpPr/>
          <p:nvPr/>
        </p:nvSpPr>
        <p:spPr>
          <a:xfrm>
            <a:off x="7248525" y="32956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2" name="nps-line-6-60"/>
          <p:cNvSpPr/>
          <p:nvPr/>
        </p:nvSpPr>
        <p:spPr>
          <a:xfrm>
            <a:off x="7305675" y="32861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3" name="nps-line-6-66"/>
          <p:cNvSpPr/>
          <p:nvPr/>
        </p:nvSpPr>
        <p:spPr>
          <a:xfrm>
            <a:off x="7362825" y="32766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4" name="nps-line-6-72"/>
          <p:cNvSpPr/>
          <p:nvPr/>
        </p:nvSpPr>
        <p:spPr>
          <a:xfrm>
            <a:off x="7419975" y="32670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5" name="nps-line-6-78"/>
          <p:cNvSpPr/>
          <p:nvPr/>
        </p:nvSpPr>
        <p:spPr>
          <a:xfrm>
            <a:off x="7477125" y="32575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6" name="nps-line-6-84"/>
          <p:cNvSpPr/>
          <p:nvPr/>
        </p:nvSpPr>
        <p:spPr>
          <a:xfrm>
            <a:off x="7534275" y="324802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7" name="nps-line-6-90"/>
          <p:cNvSpPr/>
          <p:nvPr/>
        </p:nvSpPr>
        <p:spPr>
          <a:xfrm>
            <a:off x="7591425" y="323850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8" name="nps-line-6-96"/>
          <p:cNvSpPr/>
          <p:nvPr/>
        </p:nvSpPr>
        <p:spPr>
          <a:xfrm>
            <a:off x="7648575" y="3228975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9" name="nps-line-6-102"/>
          <p:cNvSpPr/>
          <p:nvPr/>
        </p:nvSpPr>
        <p:spPr>
          <a:xfrm>
            <a:off x="7705725" y="3219450"/>
            <a:ext cx="28575" cy="1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0" name="nps-dot-0"/>
          <p:cNvSpPr/>
          <p:nvPr/>
        </p:nvSpPr>
        <p:spPr>
          <a:xfrm>
            <a:off x="828675" y="4171950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1" name="nps-dot-1"/>
          <p:cNvSpPr/>
          <p:nvPr/>
        </p:nvSpPr>
        <p:spPr>
          <a:xfrm>
            <a:off x="1800225" y="4086225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2" name="nps-dot-2"/>
          <p:cNvSpPr/>
          <p:nvPr/>
        </p:nvSpPr>
        <p:spPr>
          <a:xfrm>
            <a:off x="2781300" y="3914775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3" name="nps-dot-3"/>
          <p:cNvSpPr/>
          <p:nvPr/>
        </p:nvSpPr>
        <p:spPr>
          <a:xfrm>
            <a:off x="3762375" y="3790950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4" name="nps-dot-4"/>
          <p:cNvSpPr/>
          <p:nvPr/>
        </p:nvSpPr>
        <p:spPr>
          <a:xfrm>
            <a:off x="4743450" y="3619500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5" name="nps-dot-5"/>
          <p:cNvSpPr/>
          <p:nvPr/>
        </p:nvSpPr>
        <p:spPr>
          <a:xfrm>
            <a:off x="5724525" y="3486150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6" name="nps-dot-6"/>
          <p:cNvSpPr/>
          <p:nvPr/>
        </p:nvSpPr>
        <p:spPr>
          <a:xfrm>
            <a:off x="6705600" y="3362325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7" name="nps-dot-7"/>
          <p:cNvSpPr/>
          <p:nvPr/>
        </p:nvSpPr>
        <p:spPr>
          <a:xfrm>
            <a:off x="7686675" y="3190875"/>
            <a:ext cx="57150" cy="571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8" name="section-label"/>
          <p:cNvSpPr txBox="1"/>
          <p:nvPr/>
        </p:nvSpPr>
        <p:spPr>
          <a:xfrm>
            <a:off x="8382000" y="2476500"/>
            <a:ext cx="3429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CORRELATION</a:t>
            </a:r>
          </a:p>
        </p:txBody>
      </p:sp>
      <p:sp>
        <p:nvSpPr>
          <p:cNvPr id="549" name="stat-card-bg"/>
          <p:cNvSpPr/>
          <p:nvPr/>
        </p:nvSpPr>
        <p:spPr>
          <a:xfrm>
            <a:off x="8382000" y="2724150"/>
            <a:ext cx="3429000" cy="857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0" name="stat-number"/>
          <p:cNvSpPr txBox="1"/>
          <p:nvPr/>
        </p:nvSpPr>
        <p:spPr>
          <a:xfrm>
            <a:off x="8553450" y="2857500"/>
            <a:ext cx="3086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C780FF"/>
                </a:solidFill>
                <a:latin typeface="Inter"/>
              </a:rPr>
              <a:t>r = 0.94</a:t>
            </a:r>
          </a:p>
        </p:txBody>
      </p:sp>
      <p:sp>
        <p:nvSpPr>
          <p:cNvPr id="551" name="stat-label"/>
          <p:cNvSpPr txBox="1"/>
          <p:nvPr/>
        </p:nvSpPr>
        <p:spPr>
          <a:xfrm>
            <a:off x="8553450" y="3295650"/>
            <a:ext cx="3086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PEARSON CORRELATION · Q1 2025 – Q4 2026</a:t>
            </a:r>
          </a:p>
        </p:txBody>
      </p:sp>
      <p:sp>
        <p:nvSpPr>
          <p:cNvPr id="552" name="insight-card-bg"/>
          <p:cNvSpPr/>
          <p:nvPr/>
        </p:nvSpPr>
        <p:spPr>
          <a:xfrm>
            <a:off x="8382000" y="3714750"/>
            <a:ext cx="3429000" cy="19050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3" name="insight-1"/>
          <p:cNvSpPr txBox="1"/>
          <p:nvPr/>
        </p:nvSpPr>
        <p:spPr>
          <a:xfrm>
            <a:off x="8534400" y="3848100"/>
            <a:ext cx="312420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• Revenue grew +62% ($320M → $520M) as NPS climbed 23 points — the two curves move in near-lockstep.</a:t>
            </a:r>
          </a:p>
        </p:txBody>
      </p:sp>
      <p:sp>
        <p:nvSpPr>
          <p:cNvPr id="554" name="insight-2"/>
          <p:cNvSpPr txBox="1"/>
          <p:nvPr/>
        </p:nvSpPr>
        <p:spPr>
          <a:xfrm>
            <a:off x="8534400" y="4762500"/>
            <a:ext cx="312420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• The Alignment zone (Q4'25 – Q2'26) marks the inflection: both metrics steepened after CX programme deployment.</a:t>
            </a:r>
          </a:p>
        </p:txBody>
      </p:sp>
      <p:sp>
        <p:nvSpPr>
          <p:cNvPr id="55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56" name="source"/>
          <p:cNvSpPr txBox="1"/>
          <p:nvPr/>
        </p:nvSpPr>
        <p:spPr>
          <a:xfrm>
            <a:off x="8382000" y="575310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Finance BI dashboard v4.2 &amp; Customer Insights survey (n ≈ 2,400/quarter).</a:t>
            </a:r>
          </a:p>
        </p:txBody>
      </p:sp>
      <p:sp>
        <p:nvSpPr>
          <p:cNvPr id="55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