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FFFFFF"/>
                </a:solidFill>
                <a:latin typeface="Inter"/>
              </a:rPr>
              <a:t>Cycle-time sensitivity — storyline coaching is the biggest lever.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Six factors move cycle time; one moves it almost twice as much as the next.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panel-bg"/>
          <p:cNvSpPr/>
          <p:nvPr/>
        </p:nvSpPr>
        <p:spPr>
          <a:xfrm>
            <a:off x="533400" y="2095500"/>
            <a:ext cx="8286750" cy="34671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723900" y="22288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DAYS VS. 14-DAY BASELINE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962650" y="2257425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6096000" y="222885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Reduces cycle time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7334250" y="2257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7467600" y="2228850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Increases cycle time</a:t>
            </a:r>
          </a:p>
        </p:txBody>
      </p:sp>
      <p:sp>
        <p:nvSpPr>
          <p:cNvPr id="11" name="chart-baseline-axis"/>
          <p:cNvSpPr/>
          <p:nvPr/>
        </p:nvSpPr>
        <p:spPr>
          <a:xfrm>
            <a:off x="5343525" y="2647950"/>
            <a:ext cx="19050" cy="2533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hart-tick-1-label"/>
          <p:cNvSpPr txBox="1"/>
          <p:nvPr/>
        </p:nvSpPr>
        <p:spPr>
          <a:xfrm>
            <a:off x="205740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-6d</a:t>
            </a:r>
          </a:p>
        </p:txBody>
      </p:sp>
      <p:sp>
        <p:nvSpPr>
          <p:cNvPr id="13" name="chart-tick-2-label"/>
          <p:cNvSpPr txBox="1"/>
          <p:nvPr/>
        </p:nvSpPr>
        <p:spPr>
          <a:xfrm>
            <a:off x="3114675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-4d</a:t>
            </a:r>
          </a:p>
        </p:txBody>
      </p:sp>
      <p:sp>
        <p:nvSpPr>
          <p:cNvPr id="14" name="chart-tick-3-label"/>
          <p:cNvSpPr txBox="1"/>
          <p:nvPr/>
        </p:nvSpPr>
        <p:spPr>
          <a:xfrm>
            <a:off x="417195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-2d</a:t>
            </a:r>
          </a:p>
        </p:txBody>
      </p:sp>
      <p:sp>
        <p:nvSpPr>
          <p:cNvPr id="15" name="chart-tick-4-label"/>
          <p:cNvSpPr txBox="1"/>
          <p:nvPr/>
        </p:nvSpPr>
        <p:spPr>
          <a:xfrm>
            <a:off x="5229225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0</a:t>
            </a:r>
          </a:p>
        </p:txBody>
      </p:sp>
      <p:sp>
        <p:nvSpPr>
          <p:cNvPr id="16" name="chart-tick-5-label"/>
          <p:cNvSpPr txBox="1"/>
          <p:nvPr/>
        </p:nvSpPr>
        <p:spPr>
          <a:xfrm>
            <a:off x="628650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+2d</a:t>
            </a:r>
          </a:p>
        </p:txBody>
      </p:sp>
      <p:sp>
        <p:nvSpPr>
          <p:cNvPr id="17" name="chart-tick-6-label"/>
          <p:cNvSpPr txBox="1"/>
          <p:nvPr/>
        </p:nvSpPr>
        <p:spPr>
          <a:xfrm>
            <a:off x="7343775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+4d</a:t>
            </a:r>
          </a:p>
        </p:txBody>
      </p:sp>
      <p:sp>
        <p:nvSpPr>
          <p:cNvPr id="18" name="chart-tick-7-label"/>
          <p:cNvSpPr txBox="1"/>
          <p:nvPr/>
        </p:nvSpPr>
        <p:spPr>
          <a:xfrm>
            <a:off x="8401050" y="52578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+6d</a:t>
            </a:r>
          </a:p>
        </p:txBody>
      </p:sp>
      <p:sp>
        <p:nvSpPr>
          <p:cNvPr id="19" name="chart-axis-label"/>
          <p:cNvSpPr txBox="1"/>
          <p:nvPr/>
        </p:nvSpPr>
        <p:spPr>
          <a:xfrm>
            <a:off x="2171700" y="5410200"/>
            <a:ext cx="6343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Change vs. baseline (days)</a:t>
            </a:r>
          </a:p>
        </p:txBody>
      </p:sp>
      <p:sp>
        <p:nvSpPr>
          <p:cNvPr id="20" name="chart-subtitle"/>
          <p:cNvSpPr txBox="1"/>
          <p:nvPr/>
        </p:nvSpPr>
        <p:spPr>
          <a:xfrm>
            <a:off x="2019300" y="541020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Baseline: 14 days</a:t>
            </a:r>
          </a:p>
        </p:txBody>
      </p:sp>
      <p:sp>
        <p:nvSpPr>
          <p:cNvPr id="21" name="bar-1-label"/>
          <p:cNvSpPr txBox="1"/>
          <p:nvPr/>
        </p:nvSpPr>
        <p:spPr>
          <a:xfrm>
            <a:off x="704850" y="29241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 session present</a:t>
            </a:r>
          </a:p>
        </p:txBody>
      </p:sp>
      <p:sp>
        <p:nvSpPr>
          <p:cNvPr id="22" name="bar-1-neg-bar"/>
          <p:cNvSpPr/>
          <p:nvPr/>
        </p:nvSpPr>
        <p:spPr>
          <a:xfrm>
            <a:off x="2171700" y="2895600"/>
            <a:ext cx="3171825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1-neg-val"/>
          <p:cNvSpPr txBox="1"/>
          <p:nvPr/>
        </p:nvSpPr>
        <p:spPr>
          <a:xfrm>
            <a:off x="1828800" y="291465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-6d</a:t>
            </a:r>
          </a:p>
        </p:txBody>
      </p:sp>
      <p:sp>
        <p:nvSpPr>
          <p:cNvPr id="24" name="bar-2-label"/>
          <p:cNvSpPr txBox="1"/>
          <p:nvPr/>
        </p:nvSpPr>
        <p:spPr>
          <a:xfrm>
            <a:off x="704850" y="32956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Pattern library size</a:t>
            </a:r>
          </a:p>
        </p:txBody>
      </p:sp>
      <p:sp>
        <p:nvSpPr>
          <p:cNvPr id="25" name="bar-2-neg-bar"/>
          <p:cNvSpPr/>
          <p:nvPr/>
        </p:nvSpPr>
        <p:spPr>
          <a:xfrm>
            <a:off x="3762375" y="3267075"/>
            <a:ext cx="15811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ar-2-neg-val"/>
          <p:cNvSpPr txBox="1"/>
          <p:nvPr/>
        </p:nvSpPr>
        <p:spPr>
          <a:xfrm>
            <a:off x="3419475" y="328612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-3d</a:t>
            </a:r>
          </a:p>
        </p:txBody>
      </p:sp>
      <p:sp>
        <p:nvSpPr>
          <p:cNvPr id="27" name="bar-2-pos-bar"/>
          <p:cNvSpPr/>
          <p:nvPr/>
        </p:nvSpPr>
        <p:spPr>
          <a:xfrm>
            <a:off x="5343525" y="3267075"/>
            <a:ext cx="5238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ar-2-pos-val"/>
          <p:cNvSpPr txBox="1"/>
          <p:nvPr/>
        </p:nvSpPr>
        <p:spPr>
          <a:xfrm>
            <a:off x="5905500" y="328612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+1d</a:t>
            </a:r>
          </a:p>
        </p:txBody>
      </p:sp>
      <p:sp>
        <p:nvSpPr>
          <p:cNvPr id="29" name="bar-3-label"/>
          <p:cNvSpPr txBox="1"/>
          <p:nvPr/>
        </p:nvSpPr>
        <p:spPr>
          <a:xfrm>
            <a:off x="704850" y="36671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Reviewer count</a:t>
            </a:r>
          </a:p>
        </p:txBody>
      </p:sp>
      <p:sp>
        <p:nvSpPr>
          <p:cNvPr id="30" name="bar-3-pos-bar"/>
          <p:cNvSpPr/>
          <p:nvPr/>
        </p:nvSpPr>
        <p:spPr>
          <a:xfrm>
            <a:off x="5343525" y="3638550"/>
            <a:ext cx="2114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r-3-pos-val"/>
          <p:cNvSpPr txBox="1"/>
          <p:nvPr/>
        </p:nvSpPr>
        <p:spPr>
          <a:xfrm>
            <a:off x="7496175" y="36576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+4d</a:t>
            </a:r>
          </a:p>
        </p:txBody>
      </p:sp>
      <p:sp>
        <p:nvSpPr>
          <p:cNvPr id="32" name="bar-4-label"/>
          <p:cNvSpPr txBox="1"/>
          <p:nvPr/>
        </p:nvSpPr>
        <p:spPr>
          <a:xfrm>
            <a:off x="704850" y="403860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Partner pre-read</a:t>
            </a:r>
          </a:p>
        </p:txBody>
      </p:sp>
      <p:sp>
        <p:nvSpPr>
          <p:cNvPr id="33" name="bar-4-neg-bar"/>
          <p:cNvSpPr/>
          <p:nvPr/>
        </p:nvSpPr>
        <p:spPr>
          <a:xfrm>
            <a:off x="4286250" y="4010025"/>
            <a:ext cx="1057275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ar-4-neg-val"/>
          <p:cNvSpPr txBox="1"/>
          <p:nvPr/>
        </p:nvSpPr>
        <p:spPr>
          <a:xfrm>
            <a:off x="3943350" y="40290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-2d</a:t>
            </a:r>
          </a:p>
        </p:txBody>
      </p:sp>
      <p:sp>
        <p:nvSpPr>
          <p:cNvPr id="35" name="bar-4-pos-bar"/>
          <p:cNvSpPr/>
          <p:nvPr/>
        </p:nvSpPr>
        <p:spPr>
          <a:xfrm>
            <a:off x="5343525" y="4010025"/>
            <a:ext cx="10572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ar-4-pos-val"/>
          <p:cNvSpPr txBox="1"/>
          <p:nvPr/>
        </p:nvSpPr>
        <p:spPr>
          <a:xfrm>
            <a:off x="6438900" y="40290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+2d</a:t>
            </a:r>
          </a:p>
        </p:txBody>
      </p:sp>
      <p:sp>
        <p:nvSpPr>
          <p:cNvPr id="37" name="bar-5-label"/>
          <p:cNvSpPr txBox="1"/>
          <p:nvPr/>
        </p:nvSpPr>
        <p:spPr>
          <a:xfrm>
            <a:off x="704850" y="44100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Junior on team</a:t>
            </a:r>
          </a:p>
        </p:txBody>
      </p:sp>
      <p:sp>
        <p:nvSpPr>
          <p:cNvPr id="38" name="bar-5-pos-bar"/>
          <p:cNvSpPr/>
          <p:nvPr/>
        </p:nvSpPr>
        <p:spPr>
          <a:xfrm>
            <a:off x="5343525" y="4381500"/>
            <a:ext cx="10572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ar-5-pos-val"/>
          <p:cNvSpPr txBox="1"/>
          <p:nvPr/>
        </p:nvSpPr>
        <p:spPr>
          <a:xfrm>
            <a:off x="6438900" y="44005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+2d</a:t>
            </a:r>
          </a:p>
        </p:txBody>
      </p:sp>
      <p:sp>
        <p:nvSpPr>
          <p:cNvPr id="40" name="bar-6-label"/>
          <p:cNvSpPr txBox="1"/>
          <p:nvPr/>
        </p:nvSpPr>
        <p:spPr>
          <a:xfrm>
            <a:off x="704850" y="47815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Brand template complexity</a:t>
            </a:r>
          </a:p>
        </p:txBody>
      </p:sp>
      <p:sp>
        <p:nvSpPr>
          <p:cNvPr id="41" name="bar-6-pos-bar"/>
          <p:cNvSpPr/>
          <p:nvPr/>
        </p:nvSpPr>
        <p:spPr>
          <a:xfrm>
            <a:off x="5343525" y="4752975"/>
            <a:ext cx="52387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ar-6-pos-val"/>
          <p:cNvSpPr txBox="1"/>
          <p:nvPr/>
        </p:nvSpPr>
        <p:spPr>
          <a:xfrm>
            <a:off x="5905500" y="477202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+1d</a:t>
            </a:r>
          </a:p>
        </p:txBody>
      </p:sp>
      <p:sp>
        <p:nvSpPr>
          <p:cNvPr id="43" name="annot-bg"/>
          <p:cNvSpPr/>
          <p:nvPr/>
        </p:nvSpPr>
        <p:spPr>
          <a:xfrm>
            <a:off x="8991600" y="2095500"/>
            <a:ext cx="2667000" cy="34671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annot-header"/>
          <p:cNvSpPr txBox="1"/>
          <p:nvPr/>
        </p:nvSpPr>
        <p:spPr>
          <a:xfrm>
            <a:off x="9163050" y="2305050"/>
            <a:ext cx="2324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TOP 3 SENSITIVITIES</a:t>
            </a:r>
          </a:p>
        </p:txBody>
      </p:sp>
      <p:sp>
        <p:nvSpPr>
          <p:cNvPr id="45" name="annot-sub"/>
          <p:cNvSpPr txBox="1"/>
          <p:nvPr/>
        </p:nvSpPr>
        <p:spPr>
          <a:xfrm>
            <a:off x="9163050" y="2495550"/>
            <a:ext cx="2324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Where to invest first — and where not to bother.</a:t>
            </a:r>
          </a:p>
        </p:txBody>
      </p:sp>
      <p:sp>
        <p:nvSpPr>
          <p:cNvPr id="46" name="annot-1-marker"/>
          <p:cNvSpPr txBox="1"/>
          <p:nvPr/>
        </p:nvSpPr>
        <p:spPr>
          <a:xfrm>
            <a:off x="9163050" y="30480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7" name="annot-1-label"/>
          <p:cNvSpPr txBox="1"/>
          <p:nvPr/>
        </p:nvSpPr>
        <p:spPr>
          <a:xfrm>
            <a:off x="9410700" y="30289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 session present (-6d)</a:t>
            </a:r>
          </a:p>
        </p:txBody>
      </p:sp>
      <p:sp>
        <p:nvSpPr>
          <p:cNvPr id="48" name="annot-1-body"/>
          <p:cNvSpPr txBox="1"/>
          <p:nvPr/>
        </p:nvSpPr>
        <p:spPr>
          <a:xfrm>
            <a:off x="9410700" y="3219450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Single biggest lever. Coaching upstream prevents 60% of rework cycles downstream.</a:t>
            </a:r>
          </a:p>
        </p:txBody>
      </p:sp>
      <p:sp>
        <p:nvSpPr>
          <p:cNvPr id="49" name="annot-2-marker"/>
          <p:cNvSpPr txBox="1"/>
          <p:nvPr/>
        </p:nvSpPr>
        <p:spPr>
          <a:xfrm>
            <a:off x="9163050" y="38481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0" name="annot-2-label"/>
          <p:cNvSpPr txBox="1"/>
          <p:nvPr/>
        </p:nvSpPr>
        <p:spPr>
          <a:xfrm>
            <a:off x="9410700" y="38290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Reviewer count (+4d)</a:t>
            </a:r>
          </a:p>
        </p:txBody>
      </p:sp>
      <p:sp>
        <p:nvSpPr>
          <p:cNvPr id="51" name="annot-2-body"/>
          <p:cNvSpPr txBox="1"/>
          <p:nvPr/>
        </p:nvSpPr>
        <p:spPr>
          <a:xfrm>
            <a:off x="9410700" y="4019550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Each extra reviewer adds ~1.3 days. Cap at two for non-exec decks.</a:t>
            </a:r>
          </a:p>
        </p:txBody>
      </p:sp>
      <p:sp>
        <p:nvSpPr>
          <p:cNvPr id="52" name="annot-3-marker"/>
          <p:cNvSpPr txBox="1"/>
          <p:nvPr/>
        </p:nvSpPr>
        <p:spPr>
          <a:xfrm>
            <a:off x="9163050" y="46482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3" name="annot-3-label"/>
          <p:cNvSpPr txBox="1"/>
          <p:nvPr/>
        </p:nvSpPr>
        <p:spPr>
          <a:xfrm>
            <a:off x="9410700" y="46291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Pattern library size (-3d)</a:t>
            </a:r>
          </a:p>
        </p:txBody>
      </p:sp>
      <p:sp>
        <p:nvSpPr>
          <p:cNvPr id="54" name="annot-3-body"/>
          <p:cNvSpPr txBox="1"/>
          <p:nvPr/>
        </p:nvSpPr>
        <p:spPr>
          <a:xfrm>
            <a:off x="9410700" y="4819650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Doubling the library cuts build time by a fifth. Keep investing in skeletons.</a:t>
            </a:r>
          </a:p>
        </p:txBody>
      </p:sp>
      <p:sp>
        <p:nvSpPr>
          <p:cNvPr id="55" name="convergence-bg"/>
          <p:cNvSpPr/>
          <p:nvPr/>
        </p:nvSpPr>
        <p:spPr>
          <a:xfrm>
            <a:off x="533400" y="5619750"/>
            <a:ext cx="11125200" cy="3429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nvergence-accent"/>
          <p:cNvSpPr/>
          <p:nvPr/>
        </p:nvSpPr>
        <p:spPr>
          <a:xfrm>
            <a:off x="533400" y="5619750"/>
            <a:ext cx="28575" cy="342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nvergence"/>
          <p:cNvSpPr txBox="1"/>
          <p:nvPr/>
        </p:nvSpPr>
        <p:spPr>
          <a:xfrm>
            <a:off x="742950" y="5619750"/>
            <a:ext cx="107061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Invest in storyline coaching first — it moves the needle twice as much as anything else on the list.</a:t>
            </a:r>
          </a:p>
        </p:txBody>
      </p:sp>
      <p:sp>
        <p:nvSpPr>
          <p:cNvPr id="5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