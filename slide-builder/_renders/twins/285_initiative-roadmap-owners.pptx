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2026 Programme Roadmap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Initiatives &amp; Owners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Delivery schedule by quarter with accountable lead and milestone status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8191500" y="2228850"/>
            <a:ext cx="3619500" cy="285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label"/>
          <p:cNvSpPr txBox="1"/>
          <p:nvPr/>
        </p:nvSpPr>
        <p:spPr>
          <a:xfrm>
            <a:off x="8286750" y="2228850"/>
            <a:ext cx="5334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STATUS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8877300" y="2333625"/>
            <a:ext cx="11430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9029700" y="2228850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Complete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9925050" y="2333625"/>
            <a:ext cx="1143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10077450" y="2228850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On Track</a:t>
            </a:r>
          </a:p>
        </p:txBody>
      </p:sp>
      <p:sp>
        <p:nvSpPr>
          <p:cNvPr id="11" name="legend-3-swatch"/>
          <p:cNvSpPr/>
          <p:nvPr/>
        </p:nvSpPr>
        <p:spPr>
          <a:xfrm>
            <a:off x="10972800" y="2333625"/>
            <a:ext cx="1143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3-label"/>
          <p:cNvSpPr txBox="1"/>
          <p:nvPr/>
        </p:nvSpPr>
        <p:spPr>
          <a:xfrm>
            <a:off x="11125200" y="2228850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At Risk</a:t>
            </a:r>
          </a:p>
        </p:txBody>
      </p:sp>
      <p:sp>
        <p:nvSpPr>
          <p:cNvPr id="13" name="qhead-init-bg"/>
          <p:cNvSpPr/>
          <p:nvPr/>
        </p:nvSpPr>
        <p:spPr>
          <a:xfrm>
            <a:off x="533400" y="2667000"/>
            <a:ext cx="190500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head-init"/>
          <p:cNvSpPr txBox="1"/>
          <p:nvPr/>
        </p:nvSpPr>
        <p:spPr>
          <a:xfrm>
            <a:off x="628650" y="2667000"/>
            <a:ext cx="17145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INITIATIVE</a:t>
            </a:r>
          </a:p>
        </p:txBody>
      </p:sp>
      <p:sp>
        <p:nvSpPr>
          <p:cNvPr id="15" name="qhead-owner-bg"/>
          <p:cNvSpPr/>
          <p:nvPr/>
        </p:nvSpPr>
        <p:spPr>
          <a:xfrm>
            <a:off x="2438400" y="2667000"/>
            <a:ext cx="85725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head-owner"/>
          <p:cNvSpPr txBox="1"/>
          <p:nvPr/>
        </p:nvSpPr>
        <p:spPr>
          <a:xfrm>
            <a:off x="2438400" y="2667000"/>
            <a:ext cx="8572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17" name="qhead-q1-bg"/>
          <p:cNvSpPr/>
          <p:nvPr/>
        </p:nvSpPr>
        <p:spPr>
          <a:xfrm>
            <a:off x="3295650" y="2667000"/>
            <a:ext cx="2085975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qhead-q1"/>
          <p:cNvSpPr txBox="1"/>
          <p:nvPr/>
        </p:nvSpPr>
        <p:spPr>
          <a:xfrm>
            <a:off x="3295650" y="2667000"/>
            <a:ext cx="20859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Q1 · JAN – MAR</a:t>
            </a:r>
          </a:p>
        </p:txBody>
      </p:sp>
      <p:sp>
        <p:nvSpPr>
          <p:cNvPr id="19" name="qhead-q2-bg"/>
          <p:cNvSpPr/>
          <p:nvPr/>
        </p:nvSpPr>
        <p:spPr>
          <a:xfrm>
            <a:off x="5381625" y="2667000"/>
            <a:ext cx="2085975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qhead-q2"/>
          <p:cNvSpPr txBox="1"/>
          <p:nvPr/>
        </p:nvSpPr>
        <p:spPr>
          <a:xfrm>
            <a:off x="5381625" y="2667000"/>
            <a:ext cx="20859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Q2 · APR – JUN</a:t>
            </a:r>
          </a:p>
        </p:txBody>
      </p:sp>
      <p:sp>
        <p:nvSpPr>
          <p:cNvPr id="21" name="qhead-q3-bg"/>
          <p:cNvSpPr/>
          <p:nvPr/>
        </p:nvSpPr>
        <p:spPr>
          <a:xfrm>
            <a:off x="7467600" y="2667000"/>
            <a:ext cx="2085975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qhead-q3"/>
          <p:cNvSpPr txBox="1"/>
          <p:nvPr/>
        </p:nvSpPr>
        <p:spPr>
          <a:xfrm>
            <a:off x="7467600" y="2667000"/>
            <a:ext cx="20859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Q3 · JUL – SEP</a:t>
            </a:r>
          </a:p>
        </p:txBody>
      </p:sp>
      <p:sp>
        <p:nvSpPr>
          <p:cNvPr id="23" name="qhead-q4-bg"/>
          <p:cNvSpPr/>
          <p:nvPr/>
        </p:nvSpPr>
        <p:spPr>
          <a:xfrm>
            <a:off x="9553575" y="2667000"/>
            <a:ext cx="2085975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head-q4"/>
          <p:cNvSpPr txBox="1"/>
          <p:nvPr/>
        </p:nvSpPr>
        <p:spPr>
          <a:xfrm>
            <a:off x="9553575" y="2667000"/>
            <a:ext cx="20859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Q4 · OCT – DEC</a:t>
            </a:r>
          </a:p>
        </p:txBody>
      </p:sp>
      <p:sp>
        <p:nvSpPr>
          <p:cNvPr id="25" name="mhead-init-bg"/>
          <p:cNvSpPr/>
          <p:nvPr/>
        </p:nvSpPr>
        <p:spPr>
          <a:xfrm>
            <a:off x="533400" y="2914650"/>
            <a:ext cx="190500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mhead-init"/>
          <p:cNvSpPr txBox="1"/>
          <p:nvPr/>
        </p:nvSpPr>
        <p:spPr>
          <a:xfrm>
            <a:off x="628650" y="291465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Initiative</a:t>
            </a:r>
          </a:p>
        </p:txBody>
      </p:sp>
      <p:sp>
        <p:nvSpPr>
          <p:cNvPr id="27" name="mhead-owner-bg"/>
          <p:cNvSpPr/>
          <p:nvPr/>
        </p:nvSpPr>
        <p:spPr>
          <a:xfrm>
            <a:off x="2438400" y="2914650"/>
            <a:ext cx="857250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mhead-owner"/>
          <p:cNvSpPr txBox="1"/>
          <p:nvPr/>
        </p:nvSpPr>
        <p:spPr>
          <a:xfrm>
            <a:off x="2438400" y="291465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Owner</a:t>
            </a:r>
          </a:p>
        </p:txBody>
      </p:sp>
      <p:sp>
        <p:nvSpPr>
          <p:cNvPr id="29" name="mhead-1-bg"/>
          <p:cNvSpPr/>
          <p:nvPr/>
        </p:nvSpPr>
        <p:spPr>
          <a:xfrm>
            <a:off x="3295650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mhead-1"/>
          <p:cNvSpPr txBox="1"/>
          <p:nvPr/>
        </p:nvSpPr>
        <p:spPr>
          <a:xfrm>
            <a:off x="3295650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Jan</a:t>
            </a:r>
          </a:p>
        </p:txBody>
      </p:sp>
      <p:sp>
        <p:nvSpPr>
          <p:cNvPr id="31" name="mhead-2-bg"/>
          <p:cNvSpPr/>
          <p:nvPr/>
        </p:nvSpPr>
        <p:spPr>
          <a:xfrm>
            <a:off x="3990975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mhead-2"/>
          <p:cNvSpPr txBox="1"/>
          <p:nvPr/>
        </p:nvSpPr>
        <p:spPr>
          <a:xfrm>
            <a:off x="3990975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Feb</a:t>
            </a:r>
          </a:p>
        </p:txBody>
      </p:sp>
      <p:sp>
        <p:nvSpPr>
          <p:cNvPr id="33" name="mhead-3-bg"/>
          <p:cNvSpPr/>
          <p:nvPr/>
        </p:nvSpPr>
        <p:spPr>
          <a:xfrm>
            <a:off x="4686300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mhead-3"/>
          <p:cNvSpPr txBox="1"/>
          <p:nvPr/>
        </p:nvSpPr>
        <p:spPr>
          <a:xfrm>
            <a:off x="4686300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Mar</a:t>
            </a:r>
          </a:p>
        </p:txBody>
      </p:sp>
      <p:sp>
        <p:nvSpPr>
          <p:cNvPr id="35" name="mhead-4-bg"/>
          <p:cNvSpPr/>
          <p:nvPr/>
        </p:nvSpPr>
        <p:spPr>
          <a:xfrm>
            <a:off x="5381625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mhead-4"/>
          <p:cNvSpPr txBox="1"/>
          <p:nvPr/>
        </p:nvSpPr>
        <p:spPr>
          <a:xfrm>
            <a:off x="5381625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Apr</a:t>
            </a:r>
          </a:p>
        </p:txBody>
      </p:sp>
      <p:sp>
        <p:nvSpPr>
          <p:cNvPr id="37" name="mhead-5-bg"/>
          <p:cNvSpPr/>
          <p:nvPr/>
        </p:nvSpPr>
        <p:spPr>
          <a:xfrm>
            <a:off x="6076950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mhead-5"/>
          <p:cNvSpPr txBox="1"/>
          <p:nvPr/>
        </p:nvSpPr>
        <p:spPr>
          <a:xfrm>
            <a:off x="6076950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May</a:t>
            </a:r>
          </a:p>
        </p:txBody>
      </p:sp>
      <p:sp>
        <p:nvSpPr>
          <p:cNvPr id="39" name="mhead-6-bg"/>
          <p:cNvSpPr/>
          <p:nvPr/>
        </p:nvSpPr>
        <p:spPr>
          <a:xfrm>
            <a:off x="6772275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mhead-6"/>
          <p:cNvSpPr txBox="1"/>
          <p:nvPr/>
        </p:nvSpPr>
        <p:spPr>
          <a:xfrm>
            <a:off x="6772275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Jun</a:t>
            </a:r>
          </a:p>
        </p:txBody>
      </p:sp>
      <p:sp>
        <p:nvSpPr>
          <p:cNvPr id="41" name="mhead-7-bg"/>
          <p:cNvSpPr/>
          <p:nvPr/>
        </p:nvSpPr>
        <p:spPr>
          <a:xfrm>
            <a:off x="7467600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mhead-7"/>
          <p:cNvSpPr txBox="1"/>
          <p:nvPr/>
        </p:nvSpPr>
        <p:spPr>
          <a:xfrm>
            <a:off x="7467600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Jul</a:t>
            </a:r>
          </a:p>
        </p:txBody>
      </p:sp>
      <p:sp>
        <p:nvSpPr>
          <p:cNvPr id="43" name="mhead-8-bg"/>
          <p:cNvSpPr/>
          <p:nvPr/>
        </p:nvSpPr>
        <p:spPr>
          <a:xfrm>
            <a:off x="8162925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mhead-8"/>
          <p:cNvSpPr txBox="1"/>
          <p:nvPr/>
        </p:nvSpPr>
        <p:spPr>
          <a:xfrm>
            <a:off x="8162925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Aug</a:t>
            </a:r>
          </a:p>
        </p:txBody>
      </p:sp>
      <p:sp>
        <p:nvSpPr>
          <p:cNvPr id="45" name="mhead-9-bg"/>
          <p:cNvSpPr/>
          <p:nvPr/>
        </p:nvSpPr>
        <p:spPr>
          <a:xfrm>
            <a:off x="8858250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mhead-9"/>
          <p:cNvSpPr txBox="1"/>
          <p:nvPr/>
        </p:nvSpPr>
        <p:spPr>
          <a:xfrm>
            <a:off x="8858250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Sep</a:t>
            </a:r>
          </a:p>
        </p:txBody>
      </p:sp>
      <p:sp>
        <p:nvSpPr>
          <p:cNvPr id="47" name="mhead-10-bg"/>
          <p:cNvSpPr/>
          <p:nvPr/>
        </p:nvSpPr>
        <p:spPr>
          <a:xfrm>
            <a:off x="9553575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mhead-10"/>
          <p:cNvSpPr txBox="1"/>
          <p:nvPr/>
        </p:nvSpPr>
        <p:spPr>
          <a:xfrm>
            <a:off x="9553575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Oct</a:t>
            </a:r>
          </a:p>
        </p:txBody>
      </p:sp>
      <p:sp>
        <p:nvSpPr>
          <p:cNvPr id="49" name="mhead-11-bg"/>
          <p:cNvSpPr/>
          <p:nvPr/>
        </p:nvSpPr>
        <p:spPr>
          <a:xfrm>
            <a:off x="10248900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mhead-11"/>
          <p:cNvSpPr txBox="1"/>
          <p:nvPr/>
        </p:nvSpPr>
        <p:spPr>
          <a:xfrm>
            <a:off x="10248900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Nov</a:t>
            </a:r>
          </a:p>
        </p:txBody>
      </p:sp>
      <p:sp>
        <p:nvSpPr>
          <p:cNvPr id="51" name="mhead-12-bg"/>
          <p:cNvSpPr/>
          <p:nvPr/>
        </p:nvSpPr>
        <p:spPr>
          <a:xfrm>
            <a:off x="10944225" y="2914650"/>
            <a:ext cx="695325" cy="209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mhead-12"/>
          <p:cNvSpPr txBox="1"/>
          <p:nvPr/>
        </p:nvSpPr>
        <p:spPr>
          <a:xfrm>
            <a:off x="10944225" y="2914650"/>
            <a:ext cx="6953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Dec</a:t>
            </a:r>
          </a:p>
        </p:txBody>
      </p:sp>
      <p:sp>
        <p:nvSpPr>
          <p:cNvPr id="53" name="row-1-bg"/>
          <p:cNvSpPr/>
          <p:nvPr/>
        </p:nvSpPr>
        <p:spPr>
          <a:xfrm>
            <a:off x="533400" y="3124200"/>
            <a:ext cx="11125200" cy="638175"/>
          </a:xfrm>
          <a:prstGeom prst="rect">
            <a:avLst/>
          </a:prstGeom>
          <a:solidFill>
            <a:srgbClr val="FD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1-name"/>
          <p:cNvSpPr txBox="1"/>
          <p:nvPr/>
        </p:nvSpPr>
        <p:spPr>
          <a:xfrm>
            <a:off x="628650" y="32194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Platform Migration</a:t>
            </a:r>
          </a:p>
        </p:txBody>
      </p:sp>
      <p:sp>
        <p:nvSpPr>
          <p:cNvPr id="55" name="row-1-sub"/>
          <p:cNvSpPr txBox="1"/>
          <p:nvPr/>
        </p:nvSpPr>
        <p:spPr>
          <a:xfrm>
            <a:off x="628650" y="34099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Cloud data lake &amp; ETL re-platform</a:t>
            </a:r>
          </a:p>
        </p:txBody>
      </p:sp>
      <p:sp>
        <p:nvSpPr>
          <p:cNvPr id="56" name="row-1-init-rule"/>
          <p:cNvSpPr/>
          <p:nvPr/>
        </p:nvSpPr>
        <p:spPr>
          <a:xfrm>
            <a:off x="2428875" y="3124200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1-avatar"/>
          <p:cNvSpPr/>
          <p:nvPr/>
        </p:nvSpPr>
        <p:spPr>
          <a:xfrm>
            <a:off x="2733675" y="320040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1-avatar-text"/>
          <p:cNvSpPr txBox="1"/>
          <p:nvPr/>
        </p:nvSpPr>
        <p:spPr>
          <a:xfrm>
            <a:off x="2733675" y="32004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SR</a:t>
            </a:r>
          </a:p>
        </p:txBody>
      </p:sp>
      <p:sp>
        <p:nvSpPr>
          <p:cNvPr id="59" name="row-1-owner-name"/>
          <p:cNvSpPr txBox="1"/>
          <p:nvPr/>
        </p:nvSpPr>
        <p:spPr>
          <a:xfrm>
            <a:off x="2438400" y="348615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S. Rivera</a:t>
            </a:r>
          </a:p>
        </p:txBody>
      </p:sp>
      <p:sp>
        <p:nvSpPr>
          <p:cNvPr id="60" name="row-1-owner-rule"/>
          <p:cNvSpPr/>
          <p:nvPr/>
        </p:nvSpPr>
        <p:spPr>
          <a:xfrm>
            <a:off x="3286125" y="3124200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ow-1-bar-1"/>
          <p:cNvSpPr/>
          <p:nvPr/>
        </p:nvSpPr>
        <p:spPr>
          <a:xfrm>
            <a:off x="3324225" y="3352800"/>
            <a:ext cx="2028825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row-1-bar-2"/>
          <p:cNvSpPr/>
          <p:nvPr/>
        </p:nvSpPr>
        <p:spPr>
          <a:xfrm>
            <a:off x="5410200" y="3352800"/>
            <a:ext cx="1333500" cy="1714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ow-1-bottom"/>
          <p:cNvSpPr/>
          <p:nvPr/>
        </p:nvSpPr>
        <p:spPr>
          <a:xfrm>
            <a:off x="533400" y="375285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ow-2-bg"/>
          <p:cNvSpPr/>
          <p:nvPr/>
        </p:nvSpPr>
        <p:spPr>
          <a:xfrm>
            <a:off x="533400" y="3762375"/>
            <a:ext cx="11125200" cy="63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2-name"/>
          <p:cNvSpPr txBox="1"/>
          <p:nvPr/>
        </p:nvSpPr>
        <p:spPr>
          <a:xfrm>
            <a:off x="628650" y="385762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CX Portal Rebuild</a:t>
            </a:r>
          </a:p>
        </p:txBody>
      </p:sp>
      <p:sp>
        <p:nvSpPr>
          <p:cNvPr id="66" name="row-2-sub"/>
          <p:cNvSpPr txBox="1"/>
          <p:nvPr/>
        </p:nvSpPr>
        <p:spPr>
          <a:xfrm>
            <a:off x="628650" y="404812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Customer-facing self-service overhaul</a:t>
            </a:r>
          </a:p>
        </p:txBody>
      </p:sp>
      <p:sp>
        <p:nvSpPr>
          <p:cNvPr id="67" name="row-2-init-rule"/>
          <p:cNvSpPr/>
          <p:nvPr/>
        </p:nvSpPr>
        <p:spPr>
          <a:xfrm>
            <a:off x="2428875" y="3762375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ow-2-avatar"/>
          <p:cNvSpPr/>
          <p:nvPr/>
        </p:nvSpPr>
        <p:spPr>
          <a:xfrm>
            <a:off x="2733675" y="3838575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ow-2-avatar-text"/>
          <p:cNvSpPr txBox="1"/>
          <p:nvPr/>
        </p:nvSpPr>
        <p:spPr>
          <a:xfrm>
            <a:off x="2733675" y="383857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LP</a:t>
            </a:r>
          </a:p>
        </p:txBody>
      </p:sp>
      <p:sp>
        <p:nvSpPr>
          <p:cNvPr id="70" name="row-2-owner-name"/>
          <p:cNvSpPr txBox="1"/>
          <p:nvPr/>
        </p:nvSpPr>
        <p:spPr>
          <a:xfrm>
            <a:off x="2438400" y="412432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L. Park</a:t>
            </a:r>
          </a:p>
        </p:txBody>
      </p:sp>
      <p:sp>
        <p:nvSpPr>
          <p:cNvPr id="71" name="row-2-owner-rule"/>
          <p:cNvSpPr/>
          <p:nvPr/>
        </p:nvSpPr>
        <p:spPr>
          <a:xfrm>
            <a:off x="3286125" y="3762375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row-2-bar-1"/>
          <p:cNvSpPr/>
          <p:nvPr/>
        </p:nvSpPr>
        <p:spPr>
          <a:xfrm>
            <a:off x="5410200" y="3990975"/>
            <a:ext cx="20288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ow-2-bar-2"/>
          <p:cNvSpPr/>
          <p:nvPr/>
        </p:nvSpPr>
        <p:spPr>
          <a:xfrm>
            <a:off x="7496175" y="3990975"/>
            <a:ext cx="133350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ow-2-bottom"/>
          <p:cNvSpPr/>
          <p:nvPr/>
        </p:nvSpPr>
        <p:spPr>
          <a:xfrm>
            <a:off x="533400" y="4391025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ow-3-bg"/>
          <p:cNvSpPr/>
          <p:nvPr/>
        </p:nvSpPr>
        <p:spPr>
          <a:xfrm>
            <a:off x="533400" y="4400550"/>
            <a:ext cx="11125200" cy="638175"/>
          </a:xfrm>
          <a:prstGeom prst="rect">
            <a:avLst/>
          </a:prstGeom>
          <a:solidFill>
            <a:srgbClr val="FD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3-name"/>
          <p:cNvSpPr txBox="1"/>
          <p:nvPr/>
        </p:nvSpPr>
        <p:spPr>
          <a:xfrm>
            <a:off x="628650" y="44958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ERP Consolidation</a:t>
            </a:r>
          </a:p>
        </p:txBody>
      </p:sp>
      <p:sp>
        <p:nvSpPr>
          <p:cNvPr id="77" name="row-3-sub"/>
          <p:cNvSpPr txBox="1"/>
          <p:nvPr/>
        </p:nvSpPr>
        <p:spPr>
          <a:xfrm>
            <a:off x="628650" y="46863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Finance &amp; HR system unification</a:t>
            </a:r>
          </a:p>
        </p:txBody>
      </p:sp>
      <p:sp>
        <p:nvSpPr>
          <p:cNvPr id="78" name="row-3-init-rule"/>
          <p:cNvSpPr/>
          <p:nvPr/>
        </p:nvSpPr>
        <p:spPr>
          <a:xfrm>
            <a:off x="2428875" y="4400550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ow-3-avatar"/>
          <p:cNvSpPr/>
          <p:nvPr/>
        </p:nvSpPr>
        <p:spPr>
          <a:xfrm>
            <a:off x="2733675" y="447675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ow-3-avatar-text"/>
          <p:cNvSpPr txBox="1"/>
          <p:nvPr/>
        </p:nvSpPr>
        <p:spPr>
          <a:xfrm>
            <a:off x="2733675" y="44767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MK</a:t>
            </a:r>
          </a:p>
        </p:txBody>
      </p:sp>
      <p:sp>
        <p:nvSpPr>
          <p:cNvPr id="81" name="row-3-owner-name"/>
          <p:cNvSpPr txBox="1"/>
          <p:nvPr/>
        </p:nvSpPr>
        <p:spPr>
          <a:xfrm>
            <a:off x="2438400" y="476250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M. Kim</a:t>
            </a:r>
          </a:p>
        </p:txBody>
      </p:sp>
      <p:sp>
        <p:nvSpPr>
          <p:cNvPr id="82" name="row-3-owner-rule"/>
          <p:cNvSpPr/>
          <p:nvPr/>
        </p:nvSpPr>
        <p:spPr>
          <a:xfrm>
            <a:off x="3286125" y="4400550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row-3-bar-1"/>
          <p:cNvSpPr/>
          <p:nvPr/>
        </p:nvSpPr>
        <p:spPr>
          <a:xfrm>
            <a:off x="3324225" y="4629150"/>
            <a:ext cx="4114800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ow-3-bar-2"/>
          <p:cNvSpPr/>
          <p:nvPr/>
        </p:nvSpPr>
        <p:spPr>
          <a:xfrm>
            <a:off x="7496175" y="4629150"/>
            <a:ext cx="63817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ow-3-bottom"/>
          <p:cNvSpPr/>
          <p:nvPr/>
        </p:nvSpPr>
        <p:spPr>
          <a:xfrm>
            <a:off x="533400" y="50292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ow-4-bg"/>
          <p:cNvSpPr/>
          <p:nvPr/>
        </p:nvSpPr>
        <p:spPr>
          <a:xfrm>
            <a:off x="533400" y="5038725"/>
            <a:ext cx="11125200" cy="63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ow-4-name"/>
          <p:cNvSpPr txBox="1"/>
          <p:nvPr/>
        </p:nvSpPr>
        <p:spPr>
          <a:xfrm>
            <a:off x="628650" y="513397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AI Ops Tooling</a:t>
            </a:r>
          </a:p>
        </p:txBody>
      </p:sp>
      <p:sp>
        <p:nvSpPr>
          <p:cNvPr id="88" name="row-4-sub"/>
          <p:cNvSpPr txBox="1"/>
          <p:nvPr/>
        </p:nvSpPr>
        <p:spPr>
          <a:xfrm>
            <a:off x="628650" y="5324475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MLOps pipeline &amp; monitoring layer</a:t>
            </a:r>
          </a:p>
        </p:txBody>
      </p:sp>
      <p:sp>
        <p:nvSpPr>
          <p:cNvPr id="89" name="row-4-init-rule"/>
          <p:cNvSpPr/>
          <p:nvPr/>
        </p:nvSpPr>
        <p:spPr>
          <a:xfrm>
            <a:off x="2428875" y="5038725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row-4-avatar"/>
          <p:cNvSpPr/>
          <p:nvPr/>
        </p:nvSpPr>
        <p:spPr>
          <a:xfrm>
            <a:off x="2733675" y="5114925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row-4-avatar-text"/>
          <p:cNvSpPr txBox="1"/>
          <p:nvPr/>
        </p:nvSpPr>
        <p:spPr>
          <a:xfrm>
            <a:off x="2733675" y="5114925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JT</a:t>
            </a:r>
          </a:p>
        </p:txBody>
      </p:sp>
      <p:sp>
        <p:nvSpPr>
          <p:cNvPr id="92" name="row-4-owner-name"/>
          <p:cNvSpPr txBox="1"/>
          <p:nvPr/>
        </p:nvSpPr>
        <p:spPr>
          <a:xfrm>
            <a:off x="2438400" y="5400675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J. Torres</a:t>
            </a:r>
          </a:p>
        </p:txBody>
      </p:sp>
      <p:sp>
        <p:nvSpPr>
          <p:cNvPr id="93" name="row-4-owner-rule"/>
          <p:cNvSpPr/>
          <p:nvPr/>
        </p:nvSpPr>
        <p:spPr>
          <a:xfrm>
            <a:off x="3286125" y="5038725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row-4-bar-1"/>
          <p:cNvSpPr/>
          <p:nvPr/>
        </p:nvSpPr>
        <p:spPr>
          <a:xfrm>
            <a:off x="8191500" y="5267325"/>
            <a:ext cx="1333500" cy="1714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ow-4-bar-2"/>
          <p:cNvSpPr/>
          <p:nvPr/>
        </p:nvSpPr>
        <p:spPr>
          <a:xfrm>
            <a:off x="9582150" y="5267325"/>
            <a:ext cx="1333500" cy="1714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row-5-bg"/>
          <p:cNvSpPr/>
          <p:nvPr/>
        </p:nvSpPr>
        <p:spPr>
          <a:xfrm>
            <a:off x="533400" y="5676900"/>
            <a:ext cx="11125200" cy="638175"/>
          </a:xfrm>
          <a:prstGeom prst="rect">
            <a:avLst/>
          </a:prstGeom>
          <a:solidFill>
            <a:srgbClr val="FD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row-5-name"/>
          <p:cNvSpPr txBox="1"/>
          <p:nvPr/>
        </p:nvSpPr>
        <p:spPr>
          <a:xfrm>
            <a:off x="628650" y="57721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Security &amp; Compliance</a:t>
            </a:r>
          </a:p>
        </p:txBody>
      </p:sp>
      <p:sp>
        <p:nvSpPr>
          <p:cNvPr id="99" name="row-5-sub"/>
          <p:cNvSpPr txBox="1"/>
          <p:nvPr/>
        </p:nvSpPr>
        <p:spPr>
          <a:xfrm>
            <a:off x="628650" y="59626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ISO 27001 gap remediation &amp; audit</a:t>
            </a:r>
          </a:p>
        </p:txBody>
      </p:sp>
      <p:sp>
        <p:nvSpPr>
          <p:cNvPr id="100" name="row-5-init-rule"/>
          <p:cNvSpPr/>
          <p:nvPr/>
        </p:nvSpPr>
        <p:spPr>
          <a:xfrm>
            <a:off x="2428875" y="5676900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row-5-avatar"/>
          <p:cNvSpPr/>
          <p:nvPr/>
        </p:nvSpPr>
        <p:spPr>
          <a:xfrm>
            <a:off x="2733675" y="5753100"/>
            <a:ext cx="266700" cy="2667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row-5-avatar-text"/>
          <p:cNvSpPr txBox="1"/>
          <p:nvPr/>
        </p:nvSpPr>
        <p:spPr>
          <a:xfrm>
            <a:off x="2733675" y="57531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</a:t>
            </a:r>
          </a:p>
        </p:txBody>
      </p:sp>
      <p:sp>
        <p:nvSpPr>
          <p:cNvPr id="103" name="row-5-owner-name"/>
          <p:cNvSpPr txBox="1"/>
          <p:nvPr/>
        </p:nvSpPr>
        <p:spPr>
          <a:xfrm>
            <a:off x="2438400" y="6038850"/>
            <a:ext cx="857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A. Nwosu</a:t>
            </a:r>
          </a:p>
        </p:txBody>
      </p:sp>
      <p:sp>
        <p:nvSpPr>
          <p:cNvPr id="104" name="row-5-owner-rule"/>
          <p:cNvSpPr/>
          <p:nvPr/>
        </p:nvSpPr>
        <p:spPr>
          <a:xfrm>
            <a:off x="3286125" y="5676900"/>
            <a:ext cx="9525" cy="6381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ow-5-bar-1"/>
          <p:cNvSpPr/>
          <p:nvPr/>
        </p:nvSpPr>
        <p:spPr>
          <a:xfrm>
            <a:off x="4019550" y="5905500"/>
            <a:ext cx="133350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ow-5-bar-2"/>
          <p:cNvSpPr/>
          <p:nvPr/>
        </p:nvSpPr>
        <p:spPr>
          <a:xfrm>
            <a:off x="7496175" y="5905500"/>
            <a:ext cx="2028825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row-5-bar-3"/>
          <p:cNvSpPr/>
          <p:nvPr/>
        </p:nvSpPr>
        <p:spPr>
          <a:xfrm>
            <a:off x="9582150" y="5905500"/>
            <a:ext cx="133350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