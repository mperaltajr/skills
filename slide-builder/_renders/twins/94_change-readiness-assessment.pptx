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Wave 2 change readiness — awareness is there, ability isn't.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838200"/>
            <a:ext cx="9982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ADKAR scoring across the consulting org: people know Slide Lab exists and roughly half want it, but knowledge and ability gaps will stall adoption unless coaching and reinforcement land before Wave 2 kicks off.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763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eyebrow"/>
          <p:cNvSpPr txBox="1"/>
          <p:nvPr/>
        </p:nvSpPr>
        <p:spPr>
          <a:xfrm>
            <a:off x="533400" y="1905000"/>
            <a:ext cx="11125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ADKAR READINESS MODEL · N = 142 RESPONDENTS · SURVEY + MANAGER INTERVIEWS, APR 2026</a:t>
            </a:r>
          </a:p>
        </p:txBody>
      </p:sp>
      <p:sp>
        <p:nvSpPr>
          <p:cNvPr id="6" name="stage-1"/>
          <p:cNvSpPr/>
          <p:nvPr/>
        </p:nvSpPr>
        <p:spPr>
          <a:xfrm>
            <a:off x="533400" y="2095500"/>
            <a:ext cx="2114550" cy="3162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age-1-accent"/>
          <p:cNvSpPr/>
          <p:nvPr/>
        </p:nvSpPr>
        <p:spPr>
          <a:xfrm>
            <a:off x="533400" y="2095500"/>
            <a:ext cx="2114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age-1-letter"/>
          <p:cNvSpPr txBox="1"/>
          <p:nvPr/>
        </p:nvSpPr>
        <p:spPr>
          <a:xfrm>
            <a:off x="666750" y="22479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A100FF"/>
                </a:solidFill>
                <a:latin typeface="Inter"/>
              </a:rPr>
              <a:t>A</a:t>
            </a:r>
          </a:p>
        </p:txBody>
      </p:sp>
      <p:sp>
        <p:nvSpPr>
          <p:cNvPr id="9" name="stage-1-name"/>
          <p:cNvSpPr txBox="1"/>
          <p:nvPr/>
        </p:nvSpPr>
        <p:spPr>
          <a:xfrm>
            <a:off x="666750" y="2895600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AWARENESS</a:t>
            </a:r>
          </a:p>
        </p:txBody>
      </p:sp>
      <p:sp>
        <p:nvSpPr>
          <p:cNvPr id="10" name="stage-1-definition"/>
          <p:cNvSpPr txBox="1"/>
          <p:nvPr/>
        </p:nvSpPr>
        <p:spPr>
          <a:xfrm>
            <a:off x="666750" y="3086100"/>
            <a:ext cx="18478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Know the change is happening and why.</a:t>
            </a:r>
          </a:p>
        </p:txBody>
      </p:sp>
      <p:sp>
        <p:nvSpPr>
          <p:cNvPr id="11" name="stage-1-meter-label"/>
          <p:cNvSpPr txBox="1"/>
          <p:nvPr/>
        </p:nvSpPr>
        <p:spPr>
          <a:xfrm>
            <a:off x="666750" y="3543300"/>
            <a:ext cx="1847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CURRENT LEVEL</a:t>
            </a:r>
          </a:p>
        </p:txBody>
      </p:sp>
      <p:sp>
        <p:nvSpPr>
          <p:cNvPr id="12" name="stage-1-meter-dot-1"/>
          <p:cNvSpPr/>
          <p:nvPr/>
        </p:nvSpPr>
        <p:spPr>
          <a:xfrm>
            <a:off x="666750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tage-1-meter-dot-2"/>
          <p:cNvSpPr/>
          <p:nvPr/>
        </p:nvSpPr>
        <p:spPr>
          <a:xfrm>
            <a:off x="847725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age-1-meter-dot-3"/>
          <p:cNvSpPr/>
          <p:nvPr/>
        </p:nvSpPr>
        <p:spPr>
          <a:xfrm>
            <a:off x="1028700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tage-1-meter-dot-4"/>
          <p:cNvSpPr/>
          <p:nvPr/>
        </p:nvSpPr>
        <p:spPr>
          <a:xfrm>
            <a:off x="1209675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age-1-meter-dot-5"/>
          <p:cNvSpPr/>
          <p:nvPr/>
        </p:nvSpPr>
        <p:spPr>
          <a:xfrm>
            <a:off x="139065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age-1-meter"/>
          <p:cNvSpPr/>
          <p:nvPr/>
        </p:nvSpPr>
        <p:spPr>
          <a:xfrm>
            <a:off x="666750" y="3714750"/>
            <a:ext cx="8572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age-1-score"/>
          <p:cNvSpPr txBox="1"/>
          <p:nvPr/>
        </p:nvSpPr>
        <p:spPr>
          <a:xfrm>
            <a:off x="666750" y="3924300"/>
            <a:ext cx="1847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4 / 5</a:t>
            </a:r>
          </a:p>
        </p:txBody>
      </p:sp>
      <p:sp>
        <p:nvSpPr>
          <p:cNvPr id="19" name="stage-1-status"/>
          <p:cNvSpPr/>
          <p:nvPr/>
        </p:nvSpPr>
        <p:spPr>
          <a:xfrm>
            <a:off x="666750" y="4171950"/>
            <a:ext cx="1847850" cy="2095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tage-1-status-pip"/>
          <p:cNvSpPr/>
          <p:nvPr/>
        </p:nvSpPr>
        <p:spPr>
          <a:xfrm>
            <a:off x="742950" y="4229100"/>
            <a:ext cx="9525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age-1-status-label"/>
          <p:cNvSpPr txBox="1"/>
          <p:nvPr/>
        </p:nvSpPr>
        <p:spPr>
          <a:xfrm>
            <a:off x="876300" y="4200525"/>
            <a:ext cx="1638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ON TRACK</a:t>
            </a:r>
          </a:p>
        </p:txBody>
      </p:sp>
      <p:sp>
        <p:nvSpPr>
          <p:cNvPr id="22" name="stage-1-obs-divider"/>
          <p:cNvSpPr/>
          <p:nvPr/>
        </p:nvSpPr>
        <p:spPr>
          <a:xfrm>
            <a:off x="666750" y="4476750"/>
            <a:ext cx="1847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age-1-observation"/>
          <p:cNvSpPr txBox="1"/>
          <p:nvPr/>
        </p:nvSpPr>
        <p:spPr>
          <a:xfrm>
            <a:off x="666750" y="4514850"/>
            <a:ext cx="184785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Most consultants know Slide Lab exists; town hall and MD email drove broad reach.</a:t>
            </a:r>
          </a:p>
        </p:txBody>
      </p:sp>
      <p:sp>
        <p:nvSpPr>
          <p:cNvPr id="24" name="stage-2"/>
          <p:cNvSpPr/>
          <p:nvPr/>
        </p:nvSpPr>
        <p:spPr>
          <a:xfrm>
            <a:off x="2781300" y="2095500"/>
            <a:ext cx="2114550" cy="3162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age-2-accent"/>
          <p:cNvSpPr/>
          <p:nvPr/>
        </p:nvSpPr>
        <p:spPr>
          <a:xfrm>
            <a:off x="2781300" y="2095500"/>
            <a:ext cx="2114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stage-2-letter"/>
          <p:cNvSpPr txBox="1"/>
          <p:nvPr/>
        </p:nvSpPr>
        <p:spPr>
          <a:xfrm>
            <a:off x="2914650" y="22479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A100FF"/>
                </a:solidFill>
                <a:latin typeface="Inter"/>
              </a:rPr>
              <a:t>D</a:t>
            </a:r>
          </a:p>
        </p:txBody>
      </p:sp>
      <p:sp>
        <p:nvSpPr>
          <p:cNvPr id="27" name="stage-2-name"/>
          <p:cNvSpPr txBox="1"/>
          <p:nvPr/>
        </p:nvSpPr>
        <p:spPr>
          <a:xfrm>
            <a:off x="2914650" y="2895600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DESIRE</a:t>
            </a:r>
          </a:p>
        </p:txBody>
      </p:sp>
      <p:sp>
        <p:nvSpPr>
          <p:cNvPr id="28" name="stage-2-definition"/>
          <p:cNvSpPr txBox="1"/>
          <p:nvPr/>
        </p:nvSpPr>
        <p:spPr>
          <a:xfrm>
            <a:off x="2914650" y="3086100"/>
            <a:ext cx="18478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Want to participate and support the change.</a:t>
            </a:r>
          </a:p>
        </p:txBody>
      </p:sp>
      <p:sp>
        <p:nvSpPr>
          <p:cNvPr id="29" name="stage-2-meter-label"/>
          <p:cNvSpPr txBox="1"/>
          <p:nvPr/>
        </p:nvSpPr>
        <p:spPr>
          <a:xfrm>
            <a:off x="2914650" y="3543300"/>
            <a:ext cx="1847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CURRENT LEVEL</a:t>
            </a:r>
          </a:p>
        </p:txBody>
      </p:sp>
      <p:sp>
        <p:nvSpPr>
          <p:cNvPr id="30" name="stage-2-meter-dot-1"/>
          <p:cNvSpPr/>
          <p:nvPr/>
        </p:nvSpPr>
        <p:spPr>
          <a:xfrm>
            <a:off x="2914650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age-2-meter-dot-2"/>
          <p:cNvSpPr/>
          <p:nvPr/>
        </p:nvSpPr>
        <p:spPr>
          <a:xfrm>
            <a:off x="3095625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tage-2-meter-dot-3"/>
          <p:cNvSpPr/>
          <p:nvPr/>
        </p:nvSpPr>
        <p:spPr>
          <a:xfrm>
            <a:off x="3276600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tage-2-meter-dot-4"/>
          <p:cNvSpPr/>
          <p:nvPr/>
        </p:nvSpPr>
        <p:spPr>
          <a:xfrm>
            <a:off x="3457575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tage-2-meter-dot-5"/>
          <p:cNvSpPr/>
          <p:nvPr/>
        </p:nvSpPr>
        <p:spPr>
          <a:xfrm>
            <a:off x="363855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tage-2-meter"/>
          <p:cNvSpPr/>
          <p:nvPr/>
        </p:nvSpPr>
        <p:spPr>
          <a:xfrm>
            <a:off x="2914650" y="3714750"/>
            <a:ext cx="8572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tage-2-score"/>
          <p:cNvSpPr txBox="1"/>
          <p:nvPr/>
        </p:nvSpPr>
        <p:spPr>
          <a:xfrm>
            <a:off x="2914650" y="3924300"/>
            <a:ext cx="1847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 / 5</a:t>
            </a:r>
          </a:p>
        </p:txBody>
      </p:sp>
      <p:sp>
        <p:nvSpPr>
          <p:cNvPr id="37" name="stage-2-status"/>
          <p:cNvSpPr/>
          <p:nvPr/>
        </p:nvSpPr>
        <p:spPr>
          <a:xfrm>
            <a:off x="2914650" y="4171950"/>
            <a:ext cx="1847850" cy="2095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tage-2-status-pip"/>
          <p:cNvSpPr/>
          <p:nvPr/>
        </p:nvSpPr>
        <p:spPr>
          <a:xfrm>
            <a:off x="2990850" y="4229100"/>
            <a:ext cx="9525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stage-2-status-label"/>
          <p:cNvSpPr txBox="1"/>
          <p:nvPr/>
        </p:nvSpPr>
        <p:spPr>
          <a:xfrm>
            <a:off x="3124200" y="4200525"/>
            <a:ext cx="1638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45309"/>
                </a:solidFill>
                <a:latin typeface="Inter"/>
              </a:rPr>
              <a:t>WATCH</a:t>
            </a:r>
          </a:p>
        </p:txBody>
      </p:sp>
      <p:sp>
        <p:nvSpPr>
          <p:cNvPr id="40" name="stage-2-obs-divider"/>
          <p:cNvSpPr/>
          <p:nvPr/>
        </p:nvSpPr>
        <p:spPr>
          <a:xfrm>
            <a:off x="2914650" y="4476750"/>
            <a:ext cx="1847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stage-2-observation"/>
          <p:cNvSpPr txBox="1"/>
          <p:nvPr/>
        </p:nvSpPr>
        <p:spPr>
          <a:xfrm>
            <a:off x="2914650" y="4514850"/>
            <a:ext cx="184785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~50% actively want it; the other half see it as "another tool" on top of existing workflow.</a:t>
            </a:r>
          </a:p>
        </p:txBody>
      </p:sp>
      <p:sp>
        <p:nvSpPr>
          <p:cNvPr id="42" name="stage-3"/>
          <p:cNvSpPr/>
          <p:nvPr/>
        </p:nvSpPr>
        <p:spPr>
          <a:xfrm>
            <a:off x="5029200" y="2095500"/>
            <a:ext cx="2114550" cy="3162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stage-3-accent"/>
          <p:cNvSpPr/>
          <p:nvPr/>
        </p:nvSpPr>
        <p:spPr>
          <a:xfrm>
            <a:off x="5029200" y="2095500"/>
            <a:ext cx="2114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age-3-letter"/>
          <p:cNvSpPr txBox="1"/>
          <p:nvPr/>
        </p:nvSpPr>
        <p:spPr>
          <a:xfrm>
            <a:off x="5162550" y="22479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A100FF"/>
                </a:solidFill>
                <a:latin typeface="Inter"/>
              </a:rPr>
              <a:t>K</a:t>
            </a:r>
          </a:p>
        </p:txBody>
      </p:sp>
      <p:sp>
        <p:nvSpPr>
          <p:cNvPr id="45" name="stage-3-name"/>
          <p:cNvSpPr txBox="1"/>
          <p:nvPr/>
        </p:nvSpPr>
        <p:spPr>
          <a:xfrm>
            <a:off x="5162550" y="2895600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KNOWLEDGE</a:t>
            </a:r>
          </a:p>
        </p:txBody>
      </p:sp>
      <p:sp>
        <p:nvSpPr>
          <p:cNvPr id="46" name="stage-3-definition"/>
          <p:cNvSpPr txBox="1"/>
          <p:nvPr/>
        </p:nvSpPr>
        <p:spPr>
          <a:xfrm>
            <a:off x="5162550" y="3086100"/>
            <a:ext cx="18478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Know how to change — the skills and steps.</a:t>
            </a:r>
          </a:p>
        </p:txBody>
      </p:sp>
      <p:sp>
        <p:nvSpPr>
          <p:cNvPr id="47" name="stage-3-meter-label"/>
          <p:cNvSpPr txBox="1"/>
          <p:nvPr/>
        </p:nvSpPr>
        <p:spPr>
          <a:xfrm>
            <a:off x="5162550" y="3543300"/>
            <a:ext cx="1847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CURRENT LEVEL</a:t>
            </a:r>
          </a:p>
        </p:txBody>
      </p:sp>
      <p:sp>
        <p:nvSpPr>
          <p:cNvPr id="48" name="stage-3-meter-dot-1"/>
          <p:cNvSpPr/>
          <p:nvPr/>
        </p:nvSpPr>
        <p:spPr>
          <a:xfrm>
            <a:off x="5162550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stage-3-meter-dot-2"/>
          <p:cNvSpPr/>
          <p:nvPr/>
        </p:nvSpPr>
        <p:spPr>
          <a:xfrm>
            <a:off x="5343525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tage-3-meter-dot-3"/>
          <p:cNvSpPr/>
          <p:nvPr/>
        </p:nvSpPr>
        <p:spPr>
          <a:xfrm>
            <a:off x="552450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tage-3-meter-dot-4"/>
          <p:cNvSpPr/>
          <p:nvPr/>
        </p:nvSpPr>
        <p:spPr>
          <a:xfrm>
            <a:off x="5705475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tage-3-meter-dot-5"/>
          <p:cNvSpPr/>
          <p:nvPr/>
        </p:nvSpPr>
        <p:spPr>
          <a:xfrm>
            <a:off x="588645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stage-3-meter"/>
          <p:cNvSpPr/>
          <p:nvPr/>
        </p:nvSpPr>
        <p:spPr>
          <a:xfrm>
            <a:off x="5162550" y="3714750"/>
            <a:ext cx="8572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stage-3-score"/>
          <p:cNvSpPr txBox="1"/>
          <p:nvPr/>
        </p:nvSpPr>
        <p:spPr>
          <a:xfrm>
            <a:off x="5162550" y="3924300"/>
            <a:ext cx="1847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 / 5</a:t>
            </a:r>
          </a:p>
        </p:txBody>
      </p:sp>
      <p:sp>
        <p:nvSpPr>
          <p:cNvPr id="55" name="stage-3-status"/>
          <p:cNvSpPr/>
          <p:nvPr/>
        </p:nvSpPr>
        <p:spPr>
          <a:xfrm>
            <a:off x="5162550" y="4171950"/>
            <a:ext cx="1847850" cy="2095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tage-3-status-pip"/>
          <p:cNvSpPr/>
          <p:nvPr/>
        </p:nvSpPr>
        <p:spPr>
          <a:xfrm>
            <a:off x="5238750" y="4229100"/>
            <a:ext cx="9525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stage-3-status-label"/>
          <p:cNvSpPr txBox="1"/>
          <p:nvPr/>
        </p:nvSpPr>
        <p:spPr>
          <a:xfrm>
            <a:off x="5372100" y="4200525"/>
            <a:ext cx="1638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GAP</a:t>
            </a:r>
          </a:p>
        </p:txBody>
      </p:sp>
      <p:sp>
        <p:nvSpPr>
          <p:cNvPr id="58" name="stage-3-obs-divider"/>
          <p:cNvSpPr/>
          <p:nvPr/>
        </p:nvSpPr>
        <p:spPr>
          <a:xfrm>
            <a:off x="5162550" y="4476750"/>
            <a:ext cx="1847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tage-3-observation"/>
          <p:cNvSpPr txBox="1"/>
          <p:nvPr/>
        </p:nvSpPr>
        <p:spPr>
          <a:xfrm>
            <a:off x="5162550" y="4514850"/>
            <a:ext cx="184785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Only the 14 champions know how it actually works; no enablement materials yet for the broader org.</a:t>
            </a:r>
          </a:p>
        </p:txBody>
      </p:sp>
      <p:sp>
        <p:nvSpPr>
          <p:cNvPr id="60" name="stage-4"/>
          <p:cNvSpPr/>
          <p:nvPr/>
        </p:nvSpPr>
        <p:spPr>
          <a:xfrm>
            <a:off x="7277100" y="2095500"/>
            <a:ext cx="2114550" cy="3162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tage-4-accent"/>
          <p:cNvSpPr/>
          <p:nvPr/>
        </p:nvSpPr>
        <p:spPr>
          <a:xfrm>
            <a:off x="7277100" y="2095500"/>
            <a:ext cx="2114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tage-4-letter"/>
          <p:cNvSpPr txBox="1"/>
          <p:nvPr/>
        </p:nvSpPr>
        <p:spPr>
          <a:xfrm>
            <a:off x="7410450" y="22479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A100FF"/>
                </a:solidFill>
                <a:latin typeface="Inter"/>
              </a:rPr>
              <a:t>A</a:t>
            </a:r>
          </a:p>
        </p:txBody>
      </p:sp>
      <p:sp>
        <p:nvSpPr>
          <p:cNvPr id="63" name="stage-4-name"/>
          <p:cNvSpPr txBox="1"/>
          <p:nvPr/>
        </p:nvSpPr>
        <p:spPr>
          <a:xfrm>
            <a:off x="7410450" y="2895600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ABILITY</a:t>
            </a:r>
          </a:p>
        </p:txBody>
      </p:sp>
      <p:sp>
        <p:nvSpPr>
          <p:cNvPr id="64" name="stage-4-definition"/>
          <p:cNvSpPr txBox="1"/>
          <p:nvPr/>
        </p:nvSpPr>
        <p:spPr>
          <a:xfrm>
            <a:off x="7410450" y="3086100"/>
            <a:ext cx="18478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Can demonstrate the change in real work.</a:t>
            </a:r>
          </a:p>
        </p:txBody>
      </p:sp>
      <p:sp>
        <p:nvSpPr>
          <p:cNvPr id="65" name="stage-4-meter-label"/>
          <p:cNvSpPr txBox="1"/>
          <p:nvPr/>
        </p:nvSpPr>
        <p:spPr>
          <a:xfrm>
            <a:off x="7410450" y="3543300"/>
            <a:ext cx="1847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CURRENT LEVEL</a:t>
            </a:r>
          </a:p>
        </p:txBody>
      </p:sp>
      <p:sp>
        <p:nvSpPr>
          <p:cNvPr id="66" name="stage-4-meter-dot-1"/>
          <p:cNvSpPr/>
          <p:nvPr/>
        </p:nvSpPr>
        <p:spPr>
          <a:xfrm>
            <a:off x="7410450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stage-4-meter-dot-2"/>
          <p:cNvSpPr/>
          <p:nvPr/>
        </p:nvSpPr>
        <p:spPr>
          <a:xfrm>
            <a:off x="7591425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stage-4-meter-dot-3"/>
          <p:cNvSpPr/>
          <p:nvPr/>
        </p:nvSpPr>
        <p:spPr>
          <a:xfrm>
            <a:off x="777240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stage-4-meter-dot-4"/>
          <p:cNvSpPr/>
          <p:nvPr/>
        </p:nvSpPr>
        <p:spPr>
          <a:xfrm>
            <a:off x="7953375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stage-4-meter-dot-5"/>
          <p:cNvSpPr/>
          <p:nvPr/>
        </p:nvSpPr>
        <p:spPr>
          <a:xfrm>
            <a:off x="813435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stage-4-meter"/>
          <p:cNvSpPr/>
          <p:nvPr/>
        </p:nvSpPr>
        <p:spPr>
          <a:xfrm>
            <a:off x="7410450" y="3714750"/>
            <a:ext cx="8572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stage-4-score"/>
          <p:cNvSpPr txBox="1"/>
          <p:nvPr/>
        </p:nvSpPr>
        <p:spPr>
          <a:xfrm>
            <a:off x="7410450" y="3924300"/>
            <a:ext cx="1847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 / 5</a:t>
            </a:r>
          </a:p>
        </p:txBody>
      </p:sp>
      <p:sp>
        <p:nvSpPr>
          <p:cNvPr id="73" name="stage-4-status"/>
          <p:cNvSpPr/>
          <p:nvPr/>
        </p:nvSpPr>
        <p:spPr>
          <a:xfrm>
            <a:off x="7410450" y="4171950"/>
            <a:ext cx="1847850" cy="2095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stage-4-status-pip"/>
          <p:cNvSpPr/>
          <p:nvPr/>
        </p:nvSpPr>
        <p:spPr>
          <a:xfrm>
            <a:off x="7486650" y="4229100"/>
            <a:ext cx="9525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stage-4-status-label"/>
          <p:cNvSpPr txBox="1"/>
          <p:nvPr/>
        </p:nvSpPr>
        <p:spPr>
          <a:xfrm>
            <a:off x="7620000" y="4200525"/>
            <a:ext cx="1638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GAP</a:t>
            </a:r>
          </a:p>
        </p:txBody>
      </p:sp>
      <p:sp>
        <p:nvSpPr>
          <p:cNvPr id="76" name="stage-4-obs-divider"/>
          <p:cNvSpPr/>
          <p:nvPr/>
        </p:nvSpPr>
        <p:spPr>
          <a:xfrm>
            <a:off x="7410450" y="4476750"/>
            <a:ext cx="1847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stage-4-observation"/>
          <p:cNvSpPr txBox="1"/>
          <p:nvPr/>
        </p:nvSpPr>
        <p:spPr>
          <a:xfrm>
            <a:off x="7410450" y="4514850"/>
            <a:ext cx="184785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Low — first attempts stall on framing and briefs; needs structured coaching, not just docs.</a:t>
            </a:r>
          </a:p>
        </p:txBody>
      </p:sp>
      <p:sp>
        <p:nvSpPr>
          <p:cNvPr id="78" name="stage-5"/>
          <p:cNvSpPr/>
          <p:nvPr/>
        </p:nvSpPr>
        <p:spPr>
          <a:xfrm>
            <a:off x="9525000" y="2095500"/>
            <a:ext cx="2114550" cy="31623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stage-5-accent"/>
          <p:cNvSpPr/>
          <p:nvPr/>
        </p:nvSpPr>
        <p:spPr>
          <a:xfrm>
            <a:off x="9525000" y="2095500"/>
            <a:ext cx="21145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stage-5-letter"/>
          <p:cNvSpPr txBox="1"/>
          <p:nvPr/>
        </p:nvSpPr>
        <p:spPr>
          <a:xfrm>
            <a:off x="9658350" y="2247900"/>
            <a:ext cx="6667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A100FF"/>
                </a:solidFill>
                <a:latin typeface="Inter"/>
              </a:rPr>
              <a:t>R</a:t>
            </a:r>
          </a:p>
        </p:txBody>
      </p:sp>
      <p:sp>
        <p:nvSpPr>
          <p:cNvPr id="81" name="stage-5-name"/>
          <p:cNvSpPr txBox="1"/>
          <p:nvPr/>
        </p:nvSpPr>
        <p:spPr>
          <a:xfrm>
            <a:off x="9658350" y="2895600"/>
            <a:ext cx="1847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REINFORCEMENT</a:t>
            </a:r>
          </a:p>
        </p:txBody>
      </p:sp>
      <p:sp>
        <p:nvSpPr>
          <p:cNvPr id="82" name="stage-5-definition"/>
          <p:cNvSpPr txBox="1"/>
          <p:nvPr/>
        </p:nvSpPr>
        <p:spPr>
          <a:xfrm>
            <a:off x="9658350" y="3086100"/>
            <a:ext cx="18478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Sustain the change — recognition, metrics, rituals.</a:t>
            </a:r>
          </a:p>
        </p:txBody>
      </p:sp>
      <p:sp>
        <p:nvSpPr>
          <p:cNvPr id="83" name="stage-5-meter-label"/>
          <p:cNvSpPr txBox="1"/>
          <p:nvPr/>
        </p:nvSpPr>
        <p:spPr>
          <a:xfrm>
            <a:off x="9658350" y="3543300"/>
            <a:ext cx="1847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CURRENT LEVEL</a:t>
            </a:r>
          </a:p>
        </p:txBody>
      </p:sp>
      <p:sp>
        <p:nvSpPr>
          <p:cNvPr id="84" name="stage-5-meter-dot-1"/>
          <p:cNvSpPr/>
          <p:nvPr/>
        </p:nvSpPr>
        <p:spPr>
          <a:xfrm>
            <a:off x="9658350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stage-5-meter-dot-2"/>
          <p:cNvSpPr/>
          <p:nvPr/>
        </p:nvSpPr>
        <p:spPr>
          <a:xfrm>
            <a:off x="9839325" y="3714750"/>
            <a:ext cx="1333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stage-5-meter-dot-3"/>
          <p:cNvSpPr/>
          <p:nvPr/>
        </p:nvSpPr>
        <p:spPr>
          <a:xfrm>
            <a:off x="1002030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stage-5-meter-dot-4"/>
          <p:cNvSpPr/>
          <p:nvPr/>
        </p:nvSpPr>
        <p:spPr>
          <a:xfrm>
            <a:off x="10201275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stage-5-meter-dot-5"/>
          <p:cNvSpPr/>
          <p:nvPr/>
        </p:nvSpPr>
        <p:spPr>
          <a:xfrm>
            <a:off x="10382250" y="3714750"/>
            <a:ext cx="13335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stage-5-meter"/>
          <p:cNvSpPr/>
          <p:nvPr/>
        </p:nvSpPr>
        <p:spPr>
          <a:xfrm>
            <a:off x="9658350" y="3714750"/>
            <a:ext cx="85725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stage-5-score"/>
          <p:cNvSpPr txBox="1"/>
          <p:nvPr/>
        </p:nvSpPr>
        <p:spPr>
          <a:xfrm>
            <a:off x="9658350" y="3924300"/>
            <a:ext cx="18478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 / 5</a:t>
            </a:r>
          </a:p>
        </p:txBody>
      </p:sp>
      <p:sp>
        <p:nvSpPr>
          <p:cNvPr id="91" name="stage-5-status"/>
          <p:cNvSpPr/>
          <p:nvPr/>
        </p:nvSpPr>
        <p:spPr>
          <a:xfrm>
            <a:off x="9658350" y="4171950"/>
            <a:ext cx="1847850" cy="2095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stage-5-status-pip"/>
          <p:cNvSpPr/>
          <p:nvPr/>
        </p:nvSpPr>
        <p:spPr>
          <a:xfrm>
            <a:off x="9734550" y="4229100"/>
            <a:ext cx="9525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stage-5-status-label"/>
          <p:cNvSpPr txBox="1"/>
          <p:nvPr/>
        </p:nvSpPr>
        <p:spPr>
          <a:xfrm>
            <a:off x="9867900" y="4200525"/>
            <a:ext cx="1638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GAP</a:t>
            </a:r>
          </a:p>
        </p:txBody>
      </p:sp>
      <p:sp>
        <p:nvSpPr>
          <p:cNvPr id="94" name="stage-5-obs-divider"/>
          <p:cNvSpPr/>
          <p:nvPr/>
        </p:nvSpPr>
        <p:spPr>
          <a:xfrm>
            <a:off x="9658350" y="4476750"/>
            <a:ext cx="1847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stage-5-observation"/>
          <p:cNvSpPr txBox="1"/>
          <p:nvPr/>
        </p:nvSpPr>
        <p:spPr>
          <a:xfrm>
            <a:off x="9658350" y="4514850"/>
            <a:ext cx="184785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Scoreboard exists but nobody watches it; no MD recognition tied to Slide Lab usage.</a:t>
            </a:r>
          </a:p>
        </p:txBody>
      </p:sp>
      <p:sp>
        <p:nvSpPr>
          <p:cNvPr id="96" name="readiness-strip"/>
          <p:cNvSpPr/>
          <p:nvPr/>
        </p:nvSpPr>
        <p:spPr>
          <a:xfrm>
            <a:off x="533400" y="5105400"/>
            <a:ext cx="111252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readiness-label"/>
          <p:cNvSpPr txBox="1"/>
          <p:nvPr/>
        </p:nvSpPr>
        <p:spPr>
          <a:xfrm>
            <a:off x="685800" y="5181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OVERALL READINESS</a:t>
            </a:r>
          </a:p>
        </p:txBody>
      </p:sp>
      <p:sp>
        <p:nvSpPr>
          <p:cNvPr id="98" name="readiness-score"/>
          <p:cNvSpPr txBox="1"/>
          <p:nvPr/>
        </p:nvSpPr>
        <p:spPr>
          <a:xfrm>
            <a:off x="685800" y="53149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65%</a:t>
            </a:r>
          </a:p>
        </p:txBody>
      </p:sp>
      <p:sp>
        <p:nvSpPr>
          <p:cNvPr id="99" name="readiness-bar-track"/>
          <p:cNvSpPr/>
          <p:nvPr/>
        </p:nvSpPr>
        <p:spPr>
          <a:xfrm>
            <a:off x="2667000" y="5314950"/>
            <a:ext cx="7048500" cy="133350"/>
          </a:xfrm>
          <a:prstGeom prst="rect">
            <a:avLst/>
          </a:prstGeom>
          <a:solidFill>
            <a:srgbClr val="EDE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readiness-bar-fill"/>
          <p:cNvSpPr/>
          <p:nvPr/>
        </p:nvSpPr>
        <p:spPr>
          <a:xfrm>
            <a:off x="2667000" y="5314950"/>
            <a:ext cx="458152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readiness-tick-1"/>
          <p:cNvSpPr txBox="1"/>
          <p:nvPr/>
        </p:nvSpPr>
        <p:spPr>
          <a:xfrm>
            <a:off x="2514600" y="546735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0%</a:t>
            </a:r>
          </a:p>
        </p:txBody>
      </p:sp>
      <p:sp>
        <p:nvSpPr>
          <p:cNvPr id="102" name="readiness-tick-2"/>
          <p:cNvSpPr txBox="1"/>
          <p:nvPr/>
        </p:nvSpPr>
        <p:spPr>
          <a:xfrm>
            <a:off x="4276725" y="546735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25%</a:t>
            </a:r>
          </a:p>
        </p:txBody>
      </p:sp>
      <p:sp>
        <p:nvSpPr>
          <p:cNvPr id="103" name="readiness-tick-3"/>
          <p:cNvSpPr txBox="1"/>
          <p:nvPr/>
        </p:nvSpPr>
        <p:spPr>
          <a:xfrm>
            <a:off x="6038850" y="546735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50%</a:t>
            </a:r>
          </a:p>
        </p:txBody>
      </p:sp>
      <p:sp>
        <p:nvSpPr>
          <p:cNvPr id="104" name="readiness-tick-4"/>
          <p:cNvSpPr txBox="1"/>
          <p:nvPr/>
        </p:nvSpPr>
        <p:spPr>
          <a:xfrm>
            <a:off x="7800975" y="546735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75%</a:t>
            </a:r>
          </a:p>
        </p:txBody>
      </p:sp>
      <p:sp>
        <p:nvSpPr>
          <p:cNvPr id="105" name="readiness-tick-5"/>
          <p:cNvSpPr txBox="1"/>
          <p:nvPr/>
        </p:nvSpPr>
        <p:spPr>
          <a:xfrm>
            <a:off x="9563100" y="546735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100%</a:t>
            </a:r>
          </a:p>
        </p:txBody>
      </p:sp>
      <p:sp>
        <p:nvSpPr>
          <p:cNvPr id="106" name="readiness-verdict"/>
          <p:cNvSpPr txBox="1"/>
          <p:nvPr/>
        </p:nvSpPr>
        <p:spPr>
          <a:xfrm>
            <a:off x="10134600" y="5257800"/>
            <a:ext cx="1333500" cy="228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38100" rIns="76200" bIns="3810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59E0B"/>
                </a:solidFill>
                <a:latin typeface="Inter"/>
              </a:rPr>
              <a:t>NEEDS WORK</a:t>
            </a:r>
          </a:p>
        </p:txBody>
      </p:sp>
      <p:sp>
        <p:nvSpPr>
          <p:cNvPr id="107" name="convergence-bg"/>
          <p:cNvSpPr/>
          <p:nvPr/>
        </p:nvSpPr>
        <p:spPr>
          <a:xfrm>
            <a:off x="609600" y="588645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convergence"/>
          <p:cNvSpPr txBox="1"/>
          <p:nvPr/>
        </p:nvSpPr>
        <p:spPr>
          <a:xfrm>
            <a:off x="609600" y="588645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Awareness is solved; the next 6 weeks have to move K, A, and R from red to amber — or Wave 2 launches into an org that can't actually use the tool.</a:t>
            </a:r>
          </a:p>
        </p:txBody>
      </p:sp>
      <p:sp>
        <p:nvSpPr>
          <p:cNvPr id="10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