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Hypothesis Testing — </a:t>
            </a:r>
            <a:r>
              <a:rPr sz="1650" b="1" i="0">
                <a:solidFill>
                  <a:srgbClr val="C780FF"/>
                </a:solidFill>
                <a:latin typeface="Inter"/>
              </a:rPr>
              <a:t>Revenue Leakage Root Causes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Structured evidence review across four primary hypotheses · Wave 2 fieldwork,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hyp-1-bg"/>
          <p:cNvSpPr/>
          <p:nvPr/>
        </p:nvSpPr>
        <p:spPr>
          <a:xfrm>
            <a:off x="457200" y="2095500"/>
            <a:ext cx="5572125" cy="17621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hyp-1-statement"/>
          <p:cNvSpPr txBox="1"/>
          <p:nvPr/>
        </p:nvSpPr>
        <p:spPr>
          <a:xfrm>
            <a:off x="628650" y="2228850"/>
            <a:ext cx="4524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Pricing exceptions granted outside policy are the primary driver of margin erosion</a:t>
            </a:r>
          </a:p>
        </p:txBody>
      </p:sp>
      <p:sp>
        <p:nvSpPr>
          <p:cNvPr id="7" name="hyp-1-pill"/>
          <p:cNvSpPr/>
          <p:nvPr/>
        </p:nvSpPr>
        <p:spPr>
          <a:xfrm>
            <a:off x="5153025" y="2228850"/>
            <a:ext cx="742950" cy="171450"/>
          </a:xfrm>
          <a:prstGeom prst="rect">
            <a:avLst/>
          </a:prstGeom>
          <a:solidFill>
            <a:srgbClr val="4A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hyp-1-status"/>
          <p:cNvSpPr txBox="1"/>
          <p:nvPr/>
        </p:nvSpPr>
        <p:spPr>
          <a:xfrm>
            <a:off x="5153025" y="22288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4ADE80"/>
                </a:solidFill>
                <a:latin typeface="Inter"/>
              </a:rPr>
              <a:t>CONFIRMED</a:t>
            </a:r>
          </a:p>
        </p:txBody>
      </p:sp>
      <p:sp>
        <p:nvSpPr>
          <p:cNvPr id="9" name="hyp-1-ev-1-dot"/>
          <p:cNvSpPr/>
          <p:nvPr/>
        </p:nvSpPr>
        <p:spPr>
          <a:xfrm>
            <a:off x="628650" y="27813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hyp-1-ev-1"/>
          <p:cNvSpPr txBox="1"/>
          <p:nvPr/>
        </p:nvSpPr>
        <p:spPr>
          <a:xfrm>
            <a:off x="742950" y="27241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43% of deals in sample had at least one unauthorized discount applied post-approval</a:t>
            </a:r>
          </a:p>
        </p:txBody>
      </p:sp>
      <p:sp>
        <p:nvSpPr>
          <p:cNvPr id="11" name="hyp-1-ev-2-dot"/>
          <p:cNvSpPr/>
          <p:nvPr/>
        </p:nvSpPr>
        <p:spPr>
          <a:xfrm>
            <a:off x="628650" y="31242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hyp-1-ev-2"/>
          <p:cNvSpPr txBox="1"/>
          <p:nvPr/>
        </p:nvSpPr>
        <p:spPr>
          <a:xfrm>
            <a:off x="742950" y="30670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Average exception size 18pp below floor; finance reconciliation shows $12M gap YTD</a:t>
            </a:r>
          </a:p>
        </p:txBody>
      </p:sp>
      <p:sp>
        <p:nvSpPr>
          <p:cNvPr id="13" name="hyp-1-ev-3-dot"/>
          <p:cNvSpPr/>
          <p:nvPr/>
        </p:nvSpPr>
        <p:spPr>
          <a:xfrm>
            <a:off x="628650" y="34671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hyp-1-ev-3"/>
          <p:cNvSpPr txBox="1"/>
          <p:nvPr/>
        </p:nvSpPr>
        <p:spPr>
          <a:xfrm>
            <a:off x="742950" y="34099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Three BUs confirmed no escalation path exists for field-level overrides</a:t>
            </a:r>
          </a:p>
        </p:txBody>
      </p:sp>
      <p:sp>
        <p:nvSpPr>
          <p:cNvPr id="15" name="hyp-1-conf-label"/>
          <p:cNvSpPr txBox="1"/>
          <p:nvPr/>
        </p:nvSpPr>
        <p:spPr>
          <a:xfrm>
            <a:off x="628650" y="3514725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CONFIDENCE</a:t>
            </a:r>
          </a:p>
        </p:txBody>
      </p:sp>
      <p:sp>
        <p:nvSpPr>
          <p:cNvPr id="16" name="hyp-1-conf-pct"/>
          <p:cNvSpPr txBox="1"/>
          <p:nvPr/>
        </p:nvSpPr>
        <p:spPr>
          <a:xfrm>
            <a:off x="5553075" y="351472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87%</a:t>
            </a:r>
          </a:p>
        </p:txBody>
      </p:sp>
      <p:sp>
        <p:nvSpPr>
          <p:cNvPr id="17" name="hyp-1-track"/>
          <p:cNvSpPr/>
          <p:nvPr/>
        </p:nvSpPr>
        <p:spPr>
          <a:xfrm>
            <a:off x="628650" y="3629025"/>
            <a:ext cx="5229225" cy="38100"/>
          </a:xfrm>
          <a:prstGeom prst="rect">
            <a:avLst/>
          </a:prstGeom>
          <a:solidFill>
            <a:srgbClr val="3D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hyp-1-fill"/>
          <p:cNvSpPr/>
          <p:nvPr/>
        </p:nvSpPr>
        <p:spPr>
          <a:xfrm>
            <a:off x="628650" y="3629025"/>
            <a:ext cx="4543425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hyp-2-bg"/>
          <p:cNvSpPr/>
          <p:nvPr/>
        </p:nvSpPr>
        <p:spPr>
          <a:xfrm>
            <a:off x="6162675" y="2095500"/>
            <a:ext cx="5572125" cy="17621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hyp-2-statement"/>
          <p:cNvSpPr txBox="1"/>
          <p:nvPr/>
        </p:nvSpPr>
        <p:spPr>
          <a:xfrm>
            <a:off x="6334125" y="2228850"/>
            <a:ext cx="4524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Contract renewal delays are caused by legal review bottlenecks in the approval chain</a:t>
            </a:r>
          </a:p>
        </p:txBody>
      </p:sp>
      <p:sp>
        <p:nvSpPr>
          <p:cNvPr id="21" name="hyp-2-pill"/>
          <p:cNvSpPr/>
          <p:nvPr/>
        </p:nvSpPr>
        <p:spPr>
          <a:xfrm>
            <a:off x="10858500" y="2228850"/>
            <a:ext cx="742950" cy="171450"/>
          </a:xfrm>
          <a:prstGeom prst="rect">
            <a:avLst/>
          </a:prstGeom>
          <a:solidFill>
            <a:srgbClr val="4A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hyp-2-status"/>
          <p:cNvSpPr txBox="1"/>
          <p:nvPr/>
        </p:nvSpPr>
        <p:spPr>
          <a:xfrm>
            <a:off x="10858500" y="2228850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87171"/>
                </a:solidFill>
                <a:latin typeface="Inter"/>
              </a:rPr>
              <a:t>REFUTED</a:t>
            </a:r>
          </a:p>
        </p:txBody>
      </p:sp>
      <p:sp>
        <p:nvSpPr>
          <p:cNvPr id="23" name="hyp-2-ev-1-dot"/>
          <p:cNvSpPr/>
          <p:nvPr/>
        </p:nvSpPr>
        <p:spPr>
          <a:xfrm>
            <a:off x="6334125" y="27813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hyp-2-ev-1"/>
          <p:cNvSpPr txBox="1"/>
          <p:nvPr/>
        </p:nvSpPr>
        <p:spPr>
          <a:xfrm>
            <a:off x="6448425" y="27241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Legal turnaround avg 2.1 days vs. 11.4-day total cycle; not the binding constraint</a:t>
            </a:r>
          </a:p>
        </p:txBody>
      </p:sp>
      <p:sp>
        <p:nvSpPr>
          <p:cNvPr id="25" name="hyp-2-ev-2-dot"/>
          <p:cNvSpPr/>
          <p:nvPr/>
        </p:nvSpPr>
        <p:spPr>
          <a:xfrm>
            <a:off x="6334125" y="31242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hyp-2-ev-2"/>
          <p:cNvSpPr txBox="1"/>
          <p:nvPr/>
        </p:nvSpPr>
        <p:spPr>
          <a:xfrm>
            <a:off x="6448425" y="30670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Root cause traced to incomplete commercial data packages submitted by sales ops</a:t>
            </a:r>
          </a:p>
        </p:txBody>
      </p:sp>
      <p:sp>
        <p:nvSpPr>
          <p:cNvPr id="27" name="hyp-2-ev-3-dot"/>
          <p:cNvSpPr/>
          <p:nvPr/>
        </p:nvSpPr>
        <p:spPr>
          <a:xfrm>
            <a:off x="6334125" y="3467100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hyp-2-ev-3"/>
          <p:cNvSpPr txBox="1"/>
          <p:nvPr/>
        </p:nvSpPr>
        <p:spPr>
          <a:xfrm>
            <a:off x="6448425" y="3409950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Interviews with 8 legal reviewers confirmed consistent SLA adherence</a:t>
            </a:r>
          </a:p>
        </p:txBody>
      </p:sp>
      <p:sp>
        <p:nvSpPr>
          <p:cNvPr id="29" name="hyp-2-conf-label"/>
          <p:cNvSpPr txBox="1"/>
          <p:nvPr/>
        </p:nvSpPr>
        <p:spPr>
          <a:xfrm>
            <a:off x="6334125" y="3514725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CONFIDENCE</a:t>
            </a:r>
          </a:p>
        </p:txBody>
      </p:sp>
      <p:sp>
        <p:nvSpPr>
          <p:cNvPr id="30" name="hyp-2-conf-pct"/>
          <p:cNvSpPr txBox="1"/>
          <p:nvPr/>
        </p:nvSpPr>
        <p:spPr>
          <a:xfrm>
            <a:off x="11258550" y="351472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91%</a:t>
            </a:r>
          </a:p>
        </p:txBody>
      </p:sp>
      <p:sp>
        <p:nvSpPr>
          <p:cNvPr id="31" name="hyp-2-track"/>
          <p:cNvSpPr/>
          <p:nvPr/>
        </p:nvSpPr>
        <p:spPr>
          <a:xfrm>
            <a:off x="6334125" y="3629025"/>
            <a:ext cx="5229225" cy="38100"/>
          </a:xfrm>
          <a:prstGeom prst="rect">
            <a:avLst/>
          </a:prstGeom>
          <a:solidFill>
            <a:srgbClr val="3D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hyp-2-fill"/>
          <p:cNvSpPr/>
          <p:nvPr/>
        </p:nvSpPr>
        <p:spPr>
          <a:xfrm>
            <a:off x="6334125" y="3629025"/>
            <a:ext cx="4752975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hyp-3-bg"/>
          <p:cNvSpPr/>
          <p:nvPr/>
        </p:nvSpPr>
        <p:spPr>
          <a:xfrm>
            <a:off x="457200" y="3990975"/>
            <a:ext cx="5572125" cy="17621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hyp-3-statement"/>
          <p:cNvSpPr txBox="1"/>
          <p:nvPr/>
        </p:nvSpPr>
        <p:spPr>
          <a:xfrm>
            <a:off x="628650" y="4124325"/>
            <a:ext cx="4524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Rebate accrual mismatches stem from ERP configuration gaps introduced in 2024 migration</a:t>
            </a:r>
          </a:p>
        </p:txBody>
      </p:sp>
      <p:sp>
        <p:nvSpPr>
          <p:cNvPr id="35" name="hyp-3-pill"/>
          <p:cNvSpPr/>
          <p:nvPr/>
        </p:nvSpPr>
        <p:spPr>
          <a:xfrm>
            <a:off x="5153025" y="4124325"/>
            <a:ext cx="742950" cy="171450"/>
          </a:xfrm>
          <a:prstGeom prst="rect">
            <a:avLst/>
          </a:prstGeom>
          <a:solidFill>
            <a:srgbClr val="4A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hyp-3-status"/>
          <p:cNvSpPr txBox="1"/>
          <p:nvPr/>
        </p:nvSpPr>
        <p:spPr>
          <a:xfrm>
            <a:off x="5153025" y="412432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CD34D"/>
                </a:solidFill>
                <a:latin typeface="Inter"/>
              </a:rPr>
              <a:t>TESTING</a:t>
            </a:r>
          </a:p>
        </p:txBody>
      </p:sp>
      <p:sp>
        <p:nvSpPr>
          <p:cNvPr id="37" name="hyp-3-ev-1-dot"/>
          <p:cNvSpPr/>
          <p:nvPr/>
        </p:nvSpPr>
        <p:spPr>
          <a:xfrm>
            <a:off x="628650" y="46767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hyp-3-ev-1"/>
          <p:cNvSpPr txBox="1"/>
          <p:nvPr/>
        </p:nvSpPr>
        <p:spPr>
          <a:xfrm>
            <a:off x="742950" y="46196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Preliminary data pull shows 7 accrual rule sets not migrated from legacy SAP</a:t>
            </a:r>
          </a:p>
        </p:txBody>
      </p:sp>
      <p:sp>
        <p:nvSpPr>
          <p:cNvPr id="39" name="hyp-3-ev-2-dot"/>
          <p:cNvSpPr/>
          <p:nvPr/>
        </p:nvSpPr>
        <p:spPr>
          <a:xfrm>
            <a:off x="628650" y="50196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hyp-3-ev-2"/>
          <p:cNvSpPr txBox="1"/>
          <p:nvPr/>
        </p:nvSpPr>
        <p:spPr>
          <a:xfrm>
            <a:off x="742950" y="49625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IT team validating scope; full reconciliation expected by 23 May</a:t>
            </a:r>
          </a:p>
        </p:txBody>
      </p:sp>
      <p:sp>
        <p:nvSpPr>
          <p:cNvPr id="41" name="hyp-3-ev-3-dot"/>
          <p:cNvSpPr/>
          <p:nvPr/>
        </p:nvSpPr>
        <p:spPr>
          <a:xfrm>
            <a:off x="628650" y="53625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hyp-3-ev-3"/>
          <p:cNvSpPr txBox="1"/>
          <p:nvPr/>
        </p:nvSpPr>
        <p:spPr>
          <a:xfrm>
            <a:off x="742950" y="53054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Two customer complaints referencing incorrect rebate statements support the signal</a:t>
            </a:r>
          </a:p>
        </p:txBody>
      </p:sp>
      <p:sp>
        <p:nvSpPr>
          <p:cNvPr id="43" name="hyp-3-conf-label"/>
          <p:cNvSpPr txBox="1"/>
          <p:nvPr/>
        </p:nvSpPr>
        <p:spPr>
          <a:xfrm>
            <a:off x="628650" y="5410200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CONFIDENCE</a:t>
            </a:r>
          </a:p>
        </p:txBody>
      </p:sp>
      <p:sp>
        <p:nvSpPr>
          <p:cNvPr id="44" name="hyp-3-conf-pct"/>
          <p:cNvSpPr txBox="1"/>
          <p:nvPr/>
        </p:nvSpPr>
        <p:spPr>
          <a:xfrm>
            <a:off x="5553075" y="54102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54%</a:t>
            </a:r>
          </a:p>
        </p:txBody>
      </p:sp>
      <p:sp>
        <p:nvSpPr>
          <p:cNvPr id="45" name="hyp-3-track"/>
          <p:cNvSpPr/>
          <p:nvPr/>
        </p:nvSpPr>
        <p:spPr>
          <a:xfrm>
            <a:off x="628650" y="5524500"/>
            <a:ext cx="5229225" cy="38100"/>
          </a:xfrm>
          <a:prstGeom prst="rect">
            <a:avLst/>
          </a:prstGeom>
          <a:solidFill>
            <a:srgbClr val="3D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hyp-3-fill"/>
          <p:cNvSpPr/>
          <p:nvPr/>
        </p:nvSpPr>
        <p:spPr>
          <a:xfrm>
            <a:off x="628650" y="5524500"/>
            <a:ext cx="2819400" cy="3810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hyp-4-bg"/>
          <p:cNvSpPr/>
          <p:nvPr/>
        </p:nvSpPr>
        <p:spPr>
          <a:xfrm>
            <a:off x="6162675" y="3990975"/>
            <a:ext cx="5572125" cy="17621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hyp-4-statement"/>
          <p:cNvSpPr txBox="1"/>
          <p:nvPr/>
        </p:nvSpPr>
        <p:spPr>
          <a:xfrm>
            <a:off x="6334125" y="4124325"/>
            <a:ext cx="45243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Channel partner invoicing errors account for a material share of unreconciled cash items</a:t>
            </a:r>
          </a:p>
        </p:txBody>
      </p:sp>
      <p:sp>
        <p:nvSpPr>
          <p:cNvPr id="49" name="hyp-4-pill"/>
          <p:cNvSpPr/>
          <p:nvPr/>
        </p:nvSpPr>
        <p:spPr>
          <a:xfrm>
            <a:off x="10858500" y="4124325"/>
            <a:ext cx="742950" cy="171450"/>
          </a:xfrm>
          <a:prstGeom prst="rect">
            <a:avLst/>
          </a:prstGeom>
          <a:solidFill>
            <a:srgbClr val="4A3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hyp-4-status"/>
          <p:cNvSpPr txBox="1"/>
          <p:nvPr/>
        </p:nvSpPr>
        <p:spPr>
          <a:xfrm>
            <a:off x="10858500" y="4124325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PENDING</a:t>
            </a:r>
          </a:p>
        </p:txBody>
      </p:sp>
      <p:sp>
        <p:nvSpPr>
          <p:cNvPr id="51" name="hyp-4-ev-1-dot"/>
          <p:cNvSpPr/>
          <p:nvPr/>
        </p:nvSpPr>
        <p:spPr>
          <a:xfrm>
            <a:off x="6334125" y="46767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hyp-4-ev-1"/>
          <p:cNvSpPr txBox="1"/>
          <p:nvPr/>
        </p:nvSpPr>
        <p:spPr>
          <a:xfrm>
            <a:off x="6448425" y="46196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Partner billing data access requested; awaiting NDA countersignature from 3 partners</a:t>
            </a:r>
          </a:p>
        </p:txBody>
      </p:sp>
      <p:sp>
        <p:nvSpPr>
          <p:cNvPr id="53" name="hyp-4-ev-2-dot"/>
          <p:cNvSpPr/>
          <p:nvPr/>
        </p:nvSpPr>
        <p:spPr>
          <a:xfrm>
            <a:off x="6334125" y="50196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hyp-4-ev-2"/>
          <p:cNvSpPr txBox="1"/>
          <p:nvPr/>
        </p:nvSpPr>
        <p:spPr>
          <a:xfrm>
            <a:off x="6448425" y="49625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Internal AR flags suggest ~$4M in disputed items; attribution unconfirmed</a:t>
            </a:r>
          </a:p>
        </p:txBody>
      </p:sp>
      <p:sp>
        <p:nvSpPr>
          <p:cNvPr id="55" name="hyp-4-ev-3-dot"/>
          <p:cNvSpPr/>
          <p:nvPr/>
        </p:nvSpPr>
        <p:spPr>
          <a:xfrm>
            <a:off x="6334125" y="5362575"/>
            <a:ext cx="381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hyp-4-ev-3"/>
          <p:cNvSpPr txBox="1"/>
          <p:nvPr/>
        </p:nvSpPr>
        <p:spPr>
          <a:xfrm>
            <a:off x="6448425" y="5305425"/>
            <a:ext cx="51149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Scoping interview with channel ops scheduled for 27 May</a:t>
            </a:r>
          </a:p>
        </p:txBody>
      </p:sp>
      <p:sp>
        <p:nvSpPr>
          <p:cNvPr id="57" name="hyp-4-conf-label"/>
          <p:cNvSpPr txBox="1"/>
          <p:nvPr/>
        </p:nvSpPr>
        <p:spPr>
          <a:xfrm>
            <a:off x="6334125" y="5410200"/>
            <a:ext cx="1143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CONFIDENCE</a:t>
            </a:r>
          </a:p>
        </p:txBody>
      </p:sp>
      <p:sp>
        <p:nvSpPr>
          <p:cNvPr id="58" name="hyp-4-conf-pct"/>
          <p:cNvSpPr txBox="1"/>
          <p:nvPr/>
        </p:nvSpPr>
        <p:spPr>
          <a:xfrm>
            <a:off x="11258550" y="54102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22%</a:t>
            </a:r>
          </a:p>
        </p:txBody>
      </p:sp>
      <p:sp>
        <p:nvSpPr>
          <p:cNvPr id="59" name="hyp-4-track"/>
          <p:cNvSpPr/>
          <p:nvPr/>
        </p:nvSpPr>
        <p:spPr>
          <a:xfrm>
            <a:off x="6334125" y="5524500"/>
            <a:ext cx="5229225" cy="38100"/>
          </a:xfrm>
          <a:prstGeom prst="rect">
            <a:avLst/>
          </a:prstGeom>
          <a:solidFill>
            <a:srgbClr val="3D2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hyp-4-fill"/>
          <p:cNvSpPr/>
          <p:nvPr/>
        </p:nvSpPr>
        <p:spPr>
          <a:xfrm>
            <a:off x="6334125" y="5524500"/>
            <a:ext cx="1143000" cy="38100"/>
          </a:xfrm>
          <a:prstGeom prst="rect">
            <a:avLst/>
          </a:prstGeom>
          <a:solidFill>
            <a:srgbClr val="9C8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working-strip-bg"/>
          <p:cNvSpPr/>
          <p:nvPr/>
        </p:nvSpPr>
        <p:spPr>
          <a:xfrm>
            <a:off x="457200" y="5810250"/>
            <a:ext cx="11277600" cy="533400"/>
          </a:xfrm>
          <a:prstGeom prst="rect">
            <a:avLst/>
          </a:prstGeom>
          <a:solidFill>
            <a:srgbClr val="4A2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strip-label"/>
          <p:cNvSpPr txBox="1"/>
          <p:nvPr/>
        </p:nvSpPr>
        <p:spPr>
          <a:xfrm>
            <a:off x="609600" y="5886450"/>
            <a:ext cx="1524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WORKING HYPOTHESIS</a:t>
            </a:r>
          </a:p>
        </p:txBody>
      </p:sp>
      <p:sp>
        <p:nvSpPr>
          <p:cNvPr id="63" name="strip-divider"/>
          <p:cNvSpPr/>
          <p:nvPr/>
        </p:nvSpPr>
        <p:spPr>
          <a:xfrm>
            <a:off x="2190750" y="5981700"/>
            <a:ext cx="9525" cy="19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trip-text"/>
          <p:cNvSpPr txBox="1"/>
          <p:nvPr/>
        </p:nvSpPr>
        <p:spPr>
          <a:xfrm>
            <a:off x="2343150" y="5886450"/>
            <a:ext cx="92392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Revenue leakage is primarily structural — driven by policy gaps and data quality failures — not by deliberate misconduct or external market factors, and is therefore recoverable through process and system controls.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291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