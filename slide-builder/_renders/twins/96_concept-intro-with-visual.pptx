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What is a governing thought — and why every deck needs one.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9334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One sentence the deck has to prove — everything else either supports it or doesn't belong.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620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rm-1-label"/>
          <p:cNvSpPr txBox="1"/>
          <p:nvPr/>
        </p:nvSpPr>
        <p:spPr>
          <a:xfrm>
            <a:off x="609600" y="1885950"/>
            <a:ext cx="5219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TERM</a:t>
            </a:r>
          </a:p>
        </p:txBody>
      </p:sp>
      <p:sp>
        <p:nvSpPr>
          <p:cNvPr id="6" name="term-1-word"/>
          <p:cNvSpPr txBox="1"/>
          <p:nvPr/>
        </p:nvSpPr>
        <p:spPr>
          <a:xfrm>
            <a:off x="609600" y="2114550"/>
            <a:ext cx="52197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Governing
thought</a:t>
            </a:r>
          </a:p>
        </p:txBody>
      </p:sp>
      <p:sp>
        <p:nvSpPr>
          <p:cNvPr id="7" name="term-1-rule"/>
          <p:cNvSpPr/>
          <p:nvPr/>
        </p:nvSpPr>
        <p:spPr>
          <a:xfrm>
            <a:off x="609600" y="3219450"/>
            <a:ext cx="6858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rm-1-def"/>
          <p:cNvSpPr txBox="1"/>
          <p:nvPr/>
        </p:nvSpPr>
        <p:spPr>
          <a:xfrm>
            <a:off x="609600" y="3429000"/>
            <a:ext cx="521970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1A1A2E"/>
                </a:solidFill>
                <a:latin typeface="Inter"/>
              </a:rPr>
              <a:t>The single sentence the entire deck has to prove. If the deck were one sentence, it's this one. Every slide either supports it — or it doesn't belong.</a:t>
            </a:r>
          </a:p>
        </p:txBody>
      </p:sp>
      <p:sp>
        <p:nvSpPr>
          <p:cNvPr id="9" name="term-1-example"/>
          <p:cNvSpPr/>
          <p:nvPr/>
        </p:nvSpPr>
        <p:spPr>
          <a:xfrm>
            <a:off x="609600" y="4438650"/>
            <a:ext cx="5219700" cy="857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rm-1-example-accent"/>
          <p:cNvSpPr/>
          <p:nvPr/>
        </p:nvSpPr>
        <p:spPr>
          <a:xfrm>
            <a:off x="609600" y="4438650"/>
            <a:ext cx="28575" cy="857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rm-1-example-label"/>
          <p:cNvSpPr txBox="1"/>
          <p:nvPr/>
        </p:nvSpPr>
        <p:spPr>
          <a:xfrm>
            <a:off x="762000" y="4552950"/>
            <a:ext cx="491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EXAMPLE</a:t>
            </a:r>
          </a:p>
        </p:txBody>
      </p:sp>
      <p:sp>
        <p:nvSpPr>
          <p:cNvPr id="12" name="term-1-example-text"/>
          <p:cNvSpPr txBox="1"/>
          <p:nvPr/>
        </p:nvSpPr>
        <p:spPr>
          <a:xfrm>
            <a:off x="762000" y="4743450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"Our strategy practice will lead Q3 sign-off rates by 30 points."</a:t>
            </a:r>
          </a:p>
        </p:txBody>
      </p:sp>
      <p:sp>
        <p:nvSpPr>
          <p:cNvPr id="13" name="visual-caption-top"/>
          <p:cNvSpPr txBox="1"/>
          <p:nvPr/>
        </p:nvSpPr>
        <p:spPr>
          <a:xfrm>
            <a:off x="6362700" y="1885950"/>
            <a:ext cx="5219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HOW IT HOLDS THE DECK TOGETHER</a:t>
            </a:r>
          </a:p>
        </p:txBody>
      </p:sp>
      <p:sp>
        <p:nvSpPr>
          <p:cNvPr id="14" name="chart-canvas"/>
          <p:cNvSpPr/>
          <p:nvPr/>
        </p:nvSpPr>
        <p:spPr>
          <a:xfrm>
            <a:off x="6362700" y="2152650"/>
            <a:ext cx="5219700" cy="3238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hart-canvas-placeholder"/>
          <p:cNvSpPr txBox="1"/>
          <p:nvPr/>
        </p:nvSpPr>
        <p:spPr>
          <a:xfrm>
            <a:off x="6362700" y="2152650"/>
            <a:ext cx="5219700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HUB-AND-SPOKE DIAGRAM — Governing Thought hub + 4 slide nodes ]</a:t>
            </a:r>
          </a:p>
        </p:txBody>
      </p:sp>
      <p:sp>
        <p:nvSpPr>
          <p:cNvPr id="16" name="visual-caption-bottom"/>
          <p:cNvSpPr txBox="1"/>
          <p:nvPr/>
        </p:nvSpPr>
        <p:spPr>
          <a:xfrm>
            <a:off x="6553200" y="5467350"/>
            <a:ext cx="48387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Hub-and-spoke — one thought at the center, every supporting slide pointed back at it.</a:t>
            </a:r>
          </a:p>
        </p:txBody>
      </p:sp>
      <p:sp>
        <p:nvSpPr>
          <p:cNvPr id="17" name="convergence-bg"/>
          <p:cNvSpPr/>
          <p:nvPr/>
        </p:nvSpPr>
        <p:spPr>
          <a:xfrm>
            <a:off x="609600" y="5886450"/>
            <a:ext cx="10972800" cy="4381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nvergence"/>
          <p:cNvSpPr txBox="1"/>
          <p:nvPr/>
        </p:nvSpPr>
        <p:spPr>
          <a:xfrm>
            <a:off x="609600" y="5886450"/>
            <a:ext cx="109728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If a slide doesn't trace back to the hub, it doesn't belong in the deck.</a:t>
            </a:r>
          </a:p>
        </p:txBody>
      </p:sp>
      <p:sp>
        <p:nvSpPr>
          <p:cNvPr id="19" name="convergence-accent"/>
          <p:cNvSpPr/>
          <p:nvPr/>
        </p:nvSpPr>
        <p:spPr>
          <a:xfrm>
            <a:off x="609600" y="5886450"/>
            <a:ext cx="38100" cy="438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