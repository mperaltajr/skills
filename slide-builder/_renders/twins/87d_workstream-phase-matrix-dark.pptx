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19050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WORKSTREAMS × PHASES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7810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Four workstreams × four phases — sixteen plays.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cell names the play that workstream runs in that phase. Read down for a workstream's arc; across for a phase end-to-end.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7635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ase-legend"/>
          <p:cNvSpPr/>
          <p:nvPr/>
        </p:nvSpPr>
        <p:spPr>
          <a:xfrm>
            <a:off x="8915400" y="1524000"/>
            <a:ext cx="2667000" cy="381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9010650" y="1647825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CURRENT PHASE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10153650" y="1657350"/>
            <a:ext cx="209550" cy="133350"/>
          </a:xfrm>
          <a:prstGeom prst="rect">
            <a:avLst/>
          </a:prstGeom>
          <a:solidFill>
            <a:srgbClr val="4D2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swatch-border"/>
          <p:cNvSpPr/>
          <p:nvPr/>
        </p:nvSpPr>
        <p:spPr>
          <a:xfrm>
            <a:off x="10153650" y="1657350"/>
            <a:ext cx="209550" cy="133350"/>
          </a:xfrm>
          <a:prstGeom prst="rect">
            <a:avLst/>
          </a:prstGeom>
          <a:solidFill>
            <a:srgbClr val="4D2C73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1-label"/>
          <p:cNvSpPr txBox="1"/>
          <p:nvPr/>
        </p:nvSpPr>
        <p:spPr>
          <a:xfrm>
            <a:off x="10439400" y="1647825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 phase</a:t>
            </a:r>
          </a:p>
        </p:txBody>
      </p:sp>
      <p:sp>
        <p:nvSpPr>
          <p:cNvPr id="11" name="table-header-bg"/>
          <p:cNvSpPr/>
          <p:nvPr/>
        </p:nvSpPr>
        <p:spPr>
          <a:xfrm>
            <a:off x="457200" y="2095500"/>
            <a:ext cx="1127760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urrent-phase-accent"/>
          <p:cNvSpPr/>
          <p:nvPr/>
        </p:nvSpPr>
        <p:spPr>
          <a:xfrm>
            <a:off x="4619625" y="2095500"/>
            <a:ext cx="2362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col-1-header"/>
          <p:cNvSpPr txBox="1"/>
          <p:nvPr/>
        </p:nvSpPr>
        <p:spPr>
          <a:xfrm>
            <a:off x="533400" y="219075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</a:t>
            </a:r>
          </a:p>
        </p:txBody>
      </p:sp>
      <p:sp>
        <p:nvSpPr>
          <p:cNvPr id="14" name="table-col-2-header"/>
          <p:cNvSpPr txBox="1"/>
          <p:nvPr/>
        </p:nvSpPr>
        <p:spPr>
          <a:xfrm>
            <a:off x="2333625" y="2190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SETUP</a:t>
            </a:r>
          </a:p>
        </p:txBody>
      </p:sp>
      <p:sp>
        <p:nvSpPr>
          <p:cNvPr id="15" name="table-col-2-phase-num"/>
          <p:cNvSpPr txBox="1"/>
          <p:nvPr/>
        </p:nvSpPr>
        <p:spPr>
          <a:xfrm>
            <a:off x="2333625" y="236220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1</a:t>
            </a:r>
          </a:p>
        </p:txBody>
      </p:sp>
      <p:sp>
        <p:nvSpPr>
          <p:cNvPr id="16" name="table-col-3-header"/>
          <p:cNvSpPr txBox="1"/>
          <p:nvPr/>
        </p:nvSpPr>
        <p:spPr>
          <a:xfrm>
            <a:off x="4695825" y="2190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</a:t>
            </a:r>
          </a:p>
        </p:txBody>
      </p:sp>
      <p:sp>
        <p:nvSpPr>
          <p:cNvPr id="17" name="table-col-3-phase-num"/>
          <p:cNvSpPr txBox="1"/>
          <p:nvPr/>
        </p:nvSpPr>
        <p:spPr>
          <a:xfrm>
            <a:off x="4695825" y="236220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2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7058025" y="2190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SCALE</a:t>
            </a:r>
          </a:p>
        </p:txBody>
      </p:sp>
      <p:sp>
        <p:nvSpPr>
          <p:cNvPr id="19" name="table-col-4-phase-num"/>
          <p:cNvSpPr txBox="1"/>
          <p:nvPr/>
        </p:nvSpPr>
        <p:spPr>
          <a:xfrm>
            <a:off x="7058025" y="236220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3</a:t>
            </a:r>
          </a:p>
        </p:txBody>
      </p:sp>
      <p:sp>
        <p:nvSpPr>
          <p:cNvPr id="20" name="table-col-5-header"/>
          <p:cNvSpPr txBox="1"/>
          <p:nvPr/>
        </p:nvSpPr>
        <p:spPr>
          <a:xfrm>
            <a:off x="9420225" y="2190750"/>
            <a:ext cx="2209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SUSTAIN</a:t>
            </a:r>
          </a:p>
        </p:txBody>
      </p:sp>
      <p:sp>
        <p:nvSpPr>
          <p:cNvPr id="21" name="table-col-5-phase-num"/>
          <p:cNvSpPr txBox="1"/>
          <p:nvPr/>
        </p:nvSpPr>
        <p:spPr>
          <a:xfrm>
            <a:off x="9420225" y="236220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PHASE 4</a:t>
            </a:r>
          </a:p>
        </p:txBody>
      </p:sp>
      <p:sp>
        <p:nvSpPr>
          <p:cNvPr id="22" name="table-row-1-cell-1"/>
          <p:cNvSpPr/>
          <p:nvPr/>
        </p:nvSpPr>
        <p:spPr>
          <a:xfrm>
            <a:off x="457200" y="2571750"/>
            <a:ext cx="1800225" cy="685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num"/>
          <p:cNvSpPr txBox="1"/>
          <p:nvPr/>
        </p:nvSpPr>
        <p:spPr>
          <a:xfrm>
            <a:off x="571500" y="268605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WS 1</a:t>
            </a:r>
          </a:p>
        </p:txBody>
      </p:sp>
      <p:sp>
        <p:nvSpPr>
          <p:cNvPr id="24" name="table-row-1-cell-1-name"/>
          <p:cNvSpPr txBox="1"/>
          <p:nvPr/>
        </p:nvSpPr>
        <p:spPr>
          <a:xfrm>
            <a:off x="571500" y="285750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Strategy</a:t>
            </a:r>
          </a:p>
        </p:txBody>
      </p:sp>
      <p:sp>
        <p:nvSpPr>
          <p:cNvPr id="25" name="table-row-1-cell-2"/>
          <p:cNvSpPr/>
          <p:nvPr/>
        </p:nvSpPr>
        <p:spPr>
          <a:xfrm>
            <a:off x="2257425" y="25717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1-cell-2-bullet-1-dot"/>
          <p:cNvSpPr/>
          <p:nvPr/>
        </p:nvSpPr>
        <p:spPr>
          <a:xfrm>
            <a:off x="2352675" y="27527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1-cell-2-item-1"/>
          <p:cNvSpPr txBox="1"/>
          <p:nvPr/>
        </p:nvSpPr>
        <p:spPr>
          <a:xfrm>
            <a:off x="2447925" y="26860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Define success metrics</a:t>
            </a:r>
          </a:p>
        </p:txBody>
      </p:sp>
      <p:sp>
        <p:nvSpPr>
          <p:cNvPr id="28" name="table-row-1-cell-2-bullet-2-dot"/>
          <p:cNvSpPr/>
          <p:nvPr/>
        </p:nvSpPr>
        <p:spPr>
          <a:xfrm>
            <a:off x="2352675" y="29622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1-cell-2-item-2"/>
          <p:cNvSpPr txBox="1"/>
          <p:nvPr/>
        </p:nvSpPr>
        <p:spPr>
          <a:xfrm>
            <a:off x="2447925" y="28956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Align on scope &amp; guardrails</a:t>
            </a:r>
          </a:p>
        </p:txBody>
      </p:sp>
      <p:sp>
        <p:nvSpPr>
          <p:cNvPr id="30" name="table-row-1-cell-3"/>
          <p:cNvSpPr/>
          <p:nvPr/>
        </p:nvSpPr>
        <p:spPr>
          <a:xfrm>
            <a:off x="4619625" y="2571750"/>
            <a:ext cx="2362200" cy="685800"/>
          </a:xfrm>
          <a:prstGeom prst="rect">
            <a:avLst/>
          </a:prstGeom>
          <a:solidFill>
            <a:srgbClr val="4D2C73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1-cell-3-bullet-1-dot"/>
          <p:cNvSpPr/>
          <p:nvPr/>
        </p:nvSpPr>
        <p:spPr>
          <a:xfrm>
            <a:off x="4714875" y="27527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1-cell-3-item-1"/>
          <p:cNvSpPr txBox="1"/>
          <p:nvPr/>
        </p:nvSpPr>
        <p:spPr>
          <a:xfrm>
            <a:off x="4810125" y="26860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Weekly check-ins</a:t>
            </a:r>
          </a:p>
        </p:txBody>
      </p:sp>
      <p:sp>
        <p:nvSpPr>
          <p:cNvPr id="33" name="table-row-1-cell-3-bullet-2-dot"/>
          <p:cNvSpPr/>
          <p:nvPr/>
        </p:nvSpPr>
        <p:spPr>
          <a:xfrm>
            <a:off x="4714875" y="29622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able-row-1-cell-3-item-2"/>
          <p:cNvSpPr txBox="1"/>
          <p:nvPr/>
        </p:nvSpPr>
        <p:spPr>
          <a:xfrm>
            <a:off x="4810125" y="28956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Steer mid-pilot pivots</a:t>
            </a:r>
          </a:p>
        </p:txBody>
      </p:sp>
      <p:sp>
        <p:nvSpPr>
          <p:cNvPr id="35" name="table-row-1-cell-4"/>
          <p:cNvSpPr/>
          <p:nvPr/>
        </p:nvSpPr>
        <p:spPr>
          <a:xfrm>
            <a:off x="6981825" y="25717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1-cell-4-bullet-1-dot"/>
          <p:cNvSpPr/>
          <p:nvPr/>
        </p:nvSpPr>
        <p:spPr>
          <a:xfrm>
            <a:off x="7077075" y="27527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1-cell-4-item-1"/>
          <p:cNvSpPr txBox="1"/>
          <p:nvPr/>
        </p:nvSpPr>
        <p:spPr>
          <a:xfrm>
            <a:off x="7172325" y="26860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Quarterly review</a:t>
            </a:r>
          </a:p>
        </p:txBody>
      </p:sp>
      <p:sp>
        <p:nvSpPr>
          <p:cNvPr id="38" name="table-row-1-cell-4-bullet-2-dot"/>
          <p:cNvSpPr/>
          <p:nvPr/>
        </p:nvSpPr>
        <p:spPr>
          <a:xfrm>
            <a:off x="7077075" y="29622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1-cell-4-item-2"/>
          <p:cNvSpPr txBox="1"/>
          <p:nvPr/>
        </p:nvSpPr>
        <p:spPr>
          <a:xfrm>
            <a:off x="7172325" y="28956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Reset targets per practice</a:t>
            </a:r>
          </a:p>
        </p:txBody>
      </p:sp>
      <p:sp>
        <p:nvSpPr>
          <p:cNvPr id="40" name="table-row-1-cell-5"/>
          <p:cNvSpPr/>
          <p:nvPr/>
        </p:nvSpPr>
        <p:spPr>
          <a:xfrm>
            <a:off x="9344025" y="25717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1-cell-5-bullet-1-dot"/>
          <p:cNvSpPr/>
          <p:nvPr/>
        </p:nvSpPr>
        <p:spPr>
          <a:xfrm>
            <a:off x="9439275" y="27527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able-row-1-cell-5-item-1"/>
          <p:cNvSpPr txBox="1"/>
          <p:nvPr/>
        </p:nvSpPr>
        <p:spPr>
          <a:xfrm>
            <a:off x="9534525" y="26860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BAU governance</a:t>
            </a:r>
          </a:p>
        </p:txBody>
      </p:sp>
      <p:sp>
        <p:nvSpPr>
          <p:cNvPr id="43" name="table-row-1-cell-5-bullet-2-dot"/>
          <p:cNvSpPr/>
          <p:nvPr/>
        </p:nvSpPr>
        <p:spPr>
          <a:xfrm>
            <a:off x="9439275" y="29622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1-cell-5-item-2"/>
          <p:cNvSpPr txBox="1"/>
          <p:nvPr/>
        </p:nvSpPr>
        <p:spPr>
          <a:xfrm>
            <a:off x="9534525" y="28956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Annual strategy refresh</a:t>
            </a:r>
          </a:p>
        </p:txBody>
      </p:sp>
      <p:sp>
        <p:nvSpPr>
          <p:cNvPr id="45" name="table-row-2-cell-1"/>
          <p:cNvSpPr/>
          <p:nvPr/>
        </p:nvSpPr>
        <p:spPr>
          <a:xfrm>
            <a:off x="457200" y="3257550"/>
            <a:ext cx="1800225" cy="685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2-num"/>
          <p:cNvSpPr txBox="1"/>
          <p:nvPr/>
        </p:nvSpPr>
        <p:spPr>
          <a:xfrm>
            <a:off x="571500" y="337185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WS 2</a:t>
            </a:r>
          </a:p>
        </p:txBody>
      </p:sp>
      <p:sp>
        <p:nvSpPr>
          <p:cNvPr id="47" name="table-row-2-cell-1-name"/>
          <p:cNvSpPr txBox="1"/>
          <p:nvPr/>
        </p:nvSpPr>
        <p:spPr>
          <a:xfrm>
            <a:off x="571500" y="354330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</a:t>
            </a:r>
          </a:p>
        </p:txBody>
      </p:sp>
      <p:sp>
        <p:nvSpPr>
          <p:cNvPr id="48" name="table-row-2-cell-2"/>
          <p:cNvSpPr/>
          <p:nvPr/>
        </p:nvSpPr>
        <p:spPr>
          <a:xfrm>
            <a:off x="2257425" y="32575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2-cell-2-bullet-1-dot"/>
          <p:cNvSpPr/>
          <p:nvPr/>
        </p:nvSpPr>
        <p:spPr>
          <a:xfrm>
            <a:off x="2352675" y="34385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2-cell-2-item-1"/>
          <p:cNvSpPr txBox="1"/>
          <p:nvPr/>
        </p:nvSpPr>
        <p:spPr>
          <a:xfrm>
            <a:off x="2447925" y="33718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Tool provisioning</a:t>
            </a:r>
          </a:p>
        </p:txBody>
      </p:sp>
      <p:sp>
        <p:nvSpPr>
          <p:cNvPr id="51" name="table-row-2-cell-2-bullet-2-dot"/>
          <p:cNvSpPr/>
          <p:nvPr/>
        </p:nvSpPr>
        <p:spPr>
          <a:xfrm>
            <a:off x="2352675" y="36480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2-cell-2-item-2"/>
          <p:cNvSpPr txBox="1"/>
          <p:nvPr/>
        </p:nvSpPr>
        <p:spPr>
          <a:xfrm>
            <a:off x="2447925" y="35814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Skeleton library v1</a:t>
            </a:r>
          </a:p>
        </p:txBody>
      </p:sp>
      <p:sp>
        <p:nvSpPr>
          <p:cNvPr id="53" name="table-row-2-cell-3"/>
          <p:cNvSpPr/>
          <p:nvPr/>
        </p:nvSpPr>
        <p:spPr>
          <a:xfrm>
            <a:off x="4619625" y="3257550"/>
            <a:ext cx="2362200" cy="685800"/>
          </a:xfrm>
          <a:prstGeom prst="rect">
            <a:avLst/>
          </a:prstGeom>
          <a:solidFill>
            <a:srgbClr val="4D2C73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2-cell-3-bullet-1-dot"/>
          <p:cNvSpPr/>
          <p:nvPr/>
        </p:nvSpPr>
        <p:spPr>
          <a:xfrm>
            <a:off x="4714875" y="34385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2-cell-3-item-1"/>
          <p:cNvSpPr txBox="1"/>
          <p:nvPr/>
        </p:nvSpPr>
        <p:spPr>
          <a:xfrm>
            <a:off x="4810125" y="33718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Live pattern library use</a:t>
            </a:r>
          </a:p>
        </p:txBody>
      </p:sp>
      <p:sp>
        <p:nvSpPr>
          <p:cNvPr id="56" name="table-row-2-cell-3-bullet-2-dot"/>
          <p:cNvSpPr/>
          <p:nvPr/>
        </p:nvSpPr>
        <p:spPr>
          <a:xfrm>
            <a:off x="4714875" y="36480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2-cell-3-item-2"/>
          <p:cNvSpPr txBox="1"/>
          <p:nvPr/>
        </p:nvSpPr>
        <p:spPr>
          <a:xfrm>
            <a:off x="4810125" y="35814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Rapid iteration on gaps</a:t>
            </a:r>
          </a:p>
        </p:txBody>
      </p:sp>
      <p:sp>
        <p:nvSpPr>
          <p:cNvPr id="58" name="table-row-2-cell-4"/>
          <p:cNvSpPr/>
          <p:nvPr/>
        </p:nvSpPr>
        <p:spPr>
          <a:xfrm>
            <a:off x="6981825" y="32575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2-cell-4-bullet-1-dot"/>
          <p:cNvSpPr/>
          <p:nvPr/>
        </p:nvSpPr>
        <p:spPr>
          <a:xfrm>
            <a:off x="7077075" y="34385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ble-row-2-cell-4-item-1"/>
          <p:cNvSpPr txBox="1"/>
          <p:nvPr/>
        </p:nvSpPr>
        <p:spPr>
          <a:xfrm>
            <a:off x="7172325" y="33718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HTML → PPTX engine</a:t>
            </a:r>
          </a:p>
        </p:txBody>
      </p:sp>
      <p:sp>
        <p:nvSpPr>
          <p:cNvPr id="61" name="table-row-2-cell-4-bullet-2-dot"/>
          <p:cNvSpPr/>
          <p:nvPr/>
        </p:nvSpPr>
        <p:spPr>
          <a:xfrm>
            <a:off x="7077075" y="36480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2-cell-4-item-2"/>
          <p:cNvSpPr txBox="1"/>
          <p:nvPr/>
        </p:nvSpPr>
        <p:spPr>
          <a:xfrm>
            <a:off x="7172325" y="35814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Self-serve onboarding</a:t>
            </a:r>
          </a:p>
        </p:txBody>
      </p:sp>
      <p:sp>
        <p:nvSpPr>
          <p:cNvPr id="63" name="table-row-2-cell-5"/>
          <p:cNvSpPr/>
          <p:nvPr/>
        </p:nvSpPr>
        <p:spPr>
          <a:xfrm>
            <a:off x="9344025" y="32575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2-cell-5-bullet-1-dot"/>
          <p:cNvSpPr/>
          <p:nvPr/>
        </p:nvSpPr>
        <p:spPr>
          <a:xfrm>
            <a:off x="9439275" y="34385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2-cell-5-item-1"/>
          <p:cNvSpPr txBox="1"/>
          <p:nvPr/>
        </p:nvSpPr>
        <p:spPr>
          <a:xfrm>
            <a:off x="9534525" y="33718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contributions</a:t>
            </a:r>
          </a:p>
        </p:txBody>
      </p:sp>
      <p:sp>
        <p:nvSpPr>
          <p:cNvPr id="66" name="table-row-2-cell-5-bullet-2-dot"/>
          <p:cNvSpPr/>
          <p:nvPr/>
        </p:nvSpPr>
        <p:spPr>
          <a:xfrm>
            <a:off x="9439275" y="36480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2-cell-5-item-2"/>
          <p:cNvSpPr txBox="1"/>
          <p:nvPr/>
        </p:nvSpPr>
        <p:spPr>
          <a:xfrm>
            <a:off x="9534525" y="35814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Quarterly release cadence</a:t>
            </a:r>
          </a:p>
        </p:txBody>
      </p:sp>
      <p:sp>
        <p:nvSpPr>
          <p:cNvPr id="68" name="table-row-3-cell-1"/>
          <p:cNvSpPr/>
          <p:nvPr/>
        </p:nvSpPr>
        <p:spPr>
          <a:xfrm>
            <a:off x="457200" y="3943350"/>
            <a:ext cx="1800225" cy="685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3-num"/>
          <p:cNvSpPr txBox="1"/>
          <p:nvPr/>
        </p:nvSpPr>
        <p:spPr>
          <a:xfrm>
            <a:off x="571500" y="405765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WS 3</a:t>
            </a:r>
          </a:p>
        </p:txBody>
      </p:sp>
      <p:sp>
        <p:nvSpPr>
          <p:cNvPr id="70" name="table-row-3-cell-1-name"/>
          <p:cNvSpPr txBox="1"/>
          <p:nvPr/>
        </p:nvSpPr>
        <p:spPr>
          <a:xfrm>
            <a:off x="571500" y="422910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Coach</a:t>
            </a:r>
          </a:p>
        </p:txBody>
      </p:sp>
      <p:sp>
        <p:nvSpPr>
          <p:cNvPr id="71" name="table-row-3-cell-2"/>
          <p:cNvSpPr/>
          <p:nvPr/>
        </p:nvSpPr>
        <p:spPr>
          <a:xfrm>
            <a:off x="2257425" y="39433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3-cell-2-bullet-1-dot"/>
          <p:cNvSpPr/>
          <p:nvPr/>
        </p:nvSpPr>
        <p:spPr>
          <a:xfrm>
            <a:off x="2352675" y="41243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3-cell-2-item-1"/>
          <p:cNvSpPr txBox="1"/>
          <p:nvPr/>
        </p:nvSpPr>
        <p:spPr>
          <a:xfrm>
            <a:off x="2447925" y="40576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Onboarding plan</a:t>
            </a:r>
          </a:p>
        </p:txBody>
      </p:sp>
      <p:sp>
        <p:nvSpPr>
          <p:cNvPr id="74" name="table-row-3-cell-2-bullet-2-dot"/>
          <p:cNvSpPr/>
          <p:nvPr/>
        </p:nvSpPr>
        <p:spPr>
          <a:xfrm>
            <a:off x="2352675" y="43338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3-cell-2-item-2"/>
          <p:cNvSpPr txBox="1"/>
          <p:nvPr/>
        </p:nvSpPr>
        <p:spPr>
          <a:xfrm>
            <a:off x="2447925" y="42672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Recruit pilot consultants</a:t>
            </a:r>
          </a:p>
        </p:txBody>
      </p:sp>
      <p:sp>
        <p:nvSpPr>
          <p:cNvPr id="76" name="table-row-3-cell-3"/>
          <p:cNvSpPr/>
          <p:nvPr/>
        </p:nvSpPr>
        <p:spPr>
          <a:xfrm>
            <a:off x="4619625" y="3943350"/>
            <a:ext cx="2362200" cy="685800"/>
          </a:xfrm>
          <a:prstGeom prst="rect">
            <a:avLst/>
          </a:prstGeom>
          <a:solidFill>
            <a:srgbClr val="4D2C73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3-cell-3-bullet-1-dot"/>
          <p:cNvSpPr/>
          <p:nvPr/>
        </p:nvSpPr>
        <p:spPr>
          <a:xfrm>
            <a:off x="4714875" y="41243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3-cell-3-item-1"/>
          <p:cNvSpPr txBox="1"/>
          <p:nvPr/>
        </p:nvSpPr>
        <p:spPr>
          <a:xfrm>
            <a:off x="4810125" y="40576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Daily coaching</a:t>
            </a:r>
          </a:p>
        </p:txBody>
      </p:sp>
      <p:sp>
        <p:nvSpPr>
          <p:cNvPr id="79" name="table-row-3-cell-3-bullet-2-dot"/>
          <p:cNvSpPr/>
          <p:nvPr/>
        </p:nvSpPr>
        <p:spPr>
          <a:xfrm>
            <a:off x="4714875" y="43338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3-cell-3-item-2"/>
          <p:cNvSpPr txBox="1"/>
          <p:nvPr/>
        </p:nvSpPr>
        <p:spPr>
          <a:xfrm>
            <a:off x="4810125" y="42672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Office hours &amp; pairing</a:t>
            </a:r>
          </a:p>
        </p:txBody>
      </p:sp>
      <p:sp>
        <p:nvSpPr>
          <p:cNvPr id="81" name="table-row-3-cell-4"/>
          <p:cNvSpPr/>
          <p:nvPr/>
        </p:nvSpPr>
        <p:spPr>
          <a:xfrm>
            <a:off x="6981825" y="39433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3-cell-4-bullet-1-dot"/>
          <p:cNvSpPr/>
          <p:nvPr/>
        </p:nvSpPr>
        <p:spPr>
          <a:xfrm>
            <a:off x="7077075" y="41243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3-cell-4-item-1"/>
          <p:cNvSpPr txBox="1"/>
          <p:nvPr/>
        </p:nvSpPr>
        <p:spPr>
          <a:xfrm>
            <a:off x="7172325" y="40576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 certification</a:t>
            </a:r>
          </a:p>
        </p:txBody>
      </p:sp>
      <p:sp>
        <p:nvSpPr>
          <p:cNvPr id="84" name="table-row-3-cell-4-bullet-2-dot"/>
          <p:cNvSpPr/>
          <p:nvPr/>
        </p:nvSpPr>
        <p:spPr>
          <a:xfrm>
            <a:off x="7077075" y="43338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3-cell-4-item-2"/>
          <p:cNvSpPr txBox="1"/>
          <p:nvPr/>
        </p:nvSpPr>
        <p:spPr>
          <a:xfrm>
            <a:off x="7172325" y="42672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Train-the-trainer rollout</a:t>
            </a:r>
          </a:p>
        </p:txBody>
      </p:sp>
      <p:sp>
        <p:nvSpPr>
          <p:cNvPr id="86" name="table-row-3-cell-5"/>
          <p:cNvSpPr/>
          <p:nvPr/>
        </p:nvSpPr>
        <p:spPr>
          <a:xfrm>
            <a:off x="9344025" y="39433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table-row-3-cell-5-bullet-1-dot"/>
          <p:cNvSpPr/>
          <p:nvPr/>
        </p:nvSpPr>
        <p:spPr>
          <a:xfrm>
            <a:off x="9439275" y="41243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3-cell-5-item-1"/>
          <p:cNvSpPr txBox="1"/>
          <p:nvPr/>
        </p:nvSpPr>
        <p:spPr>
          <a:xfrm>
            <a:off x="9534525" y="40576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Champion community</a:t>
            </a:r>
          </a:p>
        </p:txBody>
      </p:sp>
      <p:sp>
        <p:nvSpPr>
          <p:cNvPr id="89" name="table-row-3-cell-5-bullet-2-dot"/>
          <p:cNvSpPr/>
          <p:nvPr/>
        </p:nvSpPr>
        <p:spPr>
          <a:xfrm>
            <a:off x="9439275" y="43338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3-cell-5-item-2"/>
          <p:cNvSpPr txBox="1"/>
          <p:nvPr/>
        </p:nvSpPr>
        <p:spPr>
          <a:xfrm>
            <a:off x="9534525" y="42672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Peer review rituals</a:t>
            </a:r>
          </a:p>
        </p:txBody>
      </p:sp>
      <p:sp>
        <p:nvSpPr>
          <p:cNvPr id="91" name="table-row-4-cell-1"/>
          <p:cNvSpPr/>
          <p:nvPr/>
        </p:nvSpPr>
        <p:spPr>
          <a:xfrm>
            <a:off x="457200" y="4629150"/>
            <a:ext cx="1800225" cy="6858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4-num"/>
          <p:cNvSpPr txBox="1"/>
          <p:nvPr/>
        </p:nvSpPr>
        <p:spPr>
          <a:xfrm>
            <a:off x="571500" y="4743450"/>
            <a:ext cx="1571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WS 4</a:t>
            </a:r>
          </a:p>
        </p:txBody>
      </p:sp>
      <p:sp>
        <p:nvSpPr>
          <p:cNvPr id="93" name="table-row-4-cell-1-name"/>
          <p:cNvSpPr txBox="1"/>
          <p:nvPr/>
        </p:nvSpPr>
        <p:spPr>
          <a:xfrm>
            <a:off x="571500" y="491490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Measure</a:t>
            </a:r>
          </a:p>
        </p:txBody>
      </p:sp>
      <p:sp>
        <p:nvSpPr>
          <p:cNvPr id="94" name="table-row-4-cell-2"/>
          <p:cNvSpPr/>
          <p:nvPr/>
        </p:nvSpPr>
        <p:spPr>
          <a:xfrm>
            <a:off x="2257425" y="46291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able-row-4-cell-2-bullet-1-dot"/>
          <p:cNvSpPr/>
          <p:nvPr/>
        </p:nvSpPr>
        <p:spPr>
          <a:xfrm>
            <a:off x="2352675" y="48101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row-4-cell-2-item-1"/>
          <p:cNvSpPr txBox="1"/>
          <p:nvPr/>
        </p:nvSpPr>
        <p:spPr>
          <a:xfrm>
            <a:off x="2447925" y="4743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Baseline capture</a:t>
            </a:r>
          </a:p>
        </p:txBody>
      </p:sp>
      <p:sp>
        <p:nvSpPr>
          <p:cNvPr id="97" name="table-row-4-cell-2-bullet-2-dot"/>
          <p:cNvSpPr/>
          <p:nvPr/>
        </p:nvSpPr>
        <p:spPr>
          <a:xfrm>
            <a:off x="2352675" y="50196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table-row-4-cell-2-item-2"/>
          <p:cNvSpPr txBox="1"/>
          <p:nvPr/>
        </p:nvSpPr>
        <p:spPr>
          <a:xfrm>
            <a:off x="2447925" y="4953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Instrument the workflow</a:t>
            </a:r>
          </a:p>
        </p:txBody>
      </p:sp>
      <p:sp>
        <p:nvSpPr>
          <p:cNvPr id="99" name="table-row-4-cell-3"/>
          <p:cNvSpPr/>
          <p:nvPr/>
        </p:nvSpPr>
        <p:spPr>
          <a:xfrm>
            <a:off x="4619625" y="4629150"/>
            <a:ext cx="2362200" cy="685800"/>
          </a:xfrm>
          <a:prstGeom prst="rect">
            <a:avLst/>
          </a:prstGeom>
          <a:solidFill>
            <a:srgbClr val="4D2C73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table-row-4-cell-3-bullet-1-dot"/>
          <p:cNvSpPr/>
          <p:nvPr/>
        </p:nvSpPr>
        <p:spPr>
          <a:xfrm>
            <a:off x="4714875" y="48101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4-cell-3-item-1"/>
          <p:cNvSpPr txBox="1"/>
          <p:nvPr/>
        </p:nvSpPr>
        <p:spPr>
          <a:xfrm>
            <a:off x="4810125" y="4743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Weekly scorecard</a:t>
            </a:r>
          </a:p>
        </p:txBody>
      </p:sp>
      <p:sp>
        <p:nvSpPr>
          <p:cNvPr id="102" name="table-row-4-cell-3-bullet-2-dot"/>
          <p:cNvSpPr/>
          <p:nvPr/>
        </p:nvSpPr>
        <p:spPr>
          <a:xfrm>
            <a:off x="4714875" y="50196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table-row-4-cell-3-item-2"/>
          <p:cNvSpPr txBox="1"/>
          <p:nvPr/>
        </p:nvSpPr>
        <p:spPr>
          <a:xfrm>
            <a:off x="4810125" y="4953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Qualitative feedback loop</a:t>
            </a:r>
          </a:p>
        </p:txBody>
      </p:sp>
      <p:sp>
        <p:nvSpPr>
          <p:cNvPr id="104" name="table-row-4-cell-4"/>
          <p:cNvSpPr/>
          <p:nvPr/>
        </p:nvSpPr>
        <p:spPr>
          <a:xfrm>
            <a:off x="6981825" y="46291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4-cell-4-bullet-1-dot"/>
          <p:cNvSpPr/>
          <p:nvPr/>
        </p:nvSpPr>
        <p:spPr>
          <a:xfrm>
            <a:off x="7077075" y="48101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4-cell-4-item-1"/>
          <p:cNvSpPr txBox="1"/>
          <p:nvPr/>
        </p:nvSpPr>
        <p:spPr>
          <a:xfrm>
            <a:off x="7172325" y="4743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Cross-practice scorecard</a:t>
            </a:r>
          </a:p>
        </p:txBody>
      </p:sp>
      <p:sp>
        <p:nvSpPr>
          <p:cNvPr id="107" name="table-row-4-cell-4-bullet-2-dot"/>
          <p:cNvSpPr/>
          <p:nvPr/>
        </p:nvSpPr>
        <p:spPr>
          <a:xfrm>
            <a:off x="7077075" y="50196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table-row-4-cell-4-item-2"/>
          <p:cNvSpPr txBox="1"/>
          <p:nvPr/>
        </p:nvSpPr>
        <p:spPr>
          <a:xfrm>
            <a:off x="7172325" y="4953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Benchmark vs. baseline</a:t>
            </a:r>
          </a:p>
        </p:txBody>
      </p:sp>
      <p:sp>
        <p:nvSpPr>
          <p:cNvPr id="109" name="table-row-4-cell-5"/>
          <p:cNvSpPr/>
          <p:nvPr/>
        </p:nvSpPr>
        <p:spPr>
          <a:xfrm>
            <a:off x="9344025" y="4629150"/>
            <a:ext cx="2362200" cy="6858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table-row-4-cell-5-bullet-1-dot"/>
          <p:cNvSpPr/>
          <p:nvPr/>
        </p:nvSpPr>
        <p:spPr>
          <a:xfrm>
            <a:off x="9439275" y="481012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table-row-4-cell-5-item-1"/>
          <p:cNvSpPr txBox="1"/>
          <p:nvPr/>
        </p:nvSpPr>
        <p:spPr>
          <a:xfrm>
            <a:off x="9534525" y="474345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Annual ROI</a:t>
            </a:r>
          </a:p>
        </p:txBody>
      </p:sp>
      <p:sp>
        <p:nvSpPr>
          <p:cNvPr id="112" name="table-row-4-cell-5-bullet-2-dot"/>
          <p:cNvSpPr/>
          <p:nvPr/>
        </p:nvSpPr>
        <p:spPr>
          <a:xfrm>
            <a:off x="9439275" y="5019675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table-row-4-cell-5-item-2"/>
          <p:cNvSpPr txBox="1"/>
          <p:nvPr/>
        </p:nvSpPr>
        <p:spPr>
          <a:xfrm>
            <a:off x="9534525" y="4953000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Value story refresh</a:t>
            </a:r>
          </a:p>
        </p:txBody>
      </p:sp>
      <p:sp>
        <p:nvSpPr>
          <p:cNvPr id="114" name="matrix-border-top"/>
          <p:cNvSpPr/>
          <p:nvPr/>
        </p:nvSpPr>
        <p:spPr>
          <a:xfrm>
            <a:off x="457200" y="20955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matrix-border-bottom"/>
          <p:cNvSpPr/>
          <p:nvPr/>
        </p:nvSpPr>
        <p:spPr>
          <a:xfrm>
            <a:off x="457200" y="53149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matrix-border-left"/>
          <p:cNvSpPr/>
          <p:nvPr/>
        </p:nvSpPr>
        <p:spPr>
          <a:xfrm>
            <a:off x="457200" y="2095500"/>
            <a:ext cx="9525" cy="32194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matrix-border-right"/>
          <p:cNvSpPr/>
          <p:nvPr/>
        </p:nvSpPr>
        <p:spPr>
          <a:xfrm>
            <a:off x="11725275" y="2095500"/>
            <a:ext cx="9525" cy="32194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convergence-bg"/>
          <p:cNvSpPr/>
          <p:nvPr/>
        </p:nvSpPr>
        <p:spPr>
          <a:xfrm>
            <a:off x="457200" y="5791200"/>
            <a:ext cx="11277600" cy="4953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convergence-mark"/>
          <p:cNvSpPr txBox="1"/>
          <p:nvPr/>
        </p:nvSpPr>
        <p:spPr>
          <a:xfrm>
            <a:off x="590550" y="5943600"/>
            <a:ext cx="7620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20" name="convergence"/>
          <p:cNvSpPr txBox="1"/>
          <p:nvPr/>
        </p:nvSpPr>
        <p:spPr>
          <a:xfrm>
            <a:off x="1504950" y="5791200"/>
            <a:ext cx="100393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Sixteen plays, one program. Every workstream owes the Pilot column its full attention this quarter — Scale and Sustain only land if Phase 2 proves the model.</a:t>
            </a:r>
          </a:p>
        </p:txBody>
      </p:sp>
      <p:sp>
        <p:nvSpPr>
          <p:cNvPr id="12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2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2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