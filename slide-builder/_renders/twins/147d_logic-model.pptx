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Logic model supports program investment case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assumptions validated by year-1 pilot data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Digital Skills Training Initiative — inputs, activities, and outputs mapped to outcomes and long-term impact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assumptions-bg"/>
          <p:cNvSpPr/>
          <p:nvPr/>
        </p:nvSpPr>
        <p:spPr>
          <a:xfrm>
            <a:off x="457200" y="2095500"/>
            <a:ext cx="11277600" cy="3429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assumptions-label"/>
          <p:cNvSpPr txBox="1"/>
          <p:nvPr/>
        </p:nvSpPr>
        <p:spPr>
          <a:xfrm>
            <a:off x="590550" y="2190750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ASSUMPTIONS</a:t>
            </a:r>
          </a:p>
        </p:txBody>
      </p:sp>
      <p:sp>
        <p:nvSpPr>
          <p:cNvPr id="7" name="assumptions-text"/>
          <p:cNvSpPr txBox="1"/>
          <p:nvPr/>
        </p:nvSpPr>
        <p:spPr>
          <a:xfrm>
            <a:off x="1638300" y="2190750"/>
            <a:ext cx="9963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CD34D"/>
                </a:solidFill>
                <a:latin typeface="Inter"/>
              </a:rPr>
              <a:t>Participants have internet access; employers value digital skills; training completion leads to employment</a:t>
            </a:r>
          </a:p>
        </p:txBody>
      </p:sp>
      <p:sp>
        <p:nvSpPr>
          <p:cNvPr id="8" name="outcomes-group-label"/>
          <p:cNvSpPr txBox="1"/>
          <p:nvPr/>
        </p:nvSpPr>
        <p:spPr>
          <a:xfrm>
            <a:off x="7343775" y="2476500"/>
            <a:ext cx="43910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OUTCOMES</a:t>
            </a:r>
          </a:p>
        </p:txBody>
      </p:sp>
      <p:sp>
        <p:nvSpPr>
          <p:cNvPr id="9" name="col-input-head"/>
          <p:cNvSpPr/>
          <p:nvPr/>
        </p:nvSpPr>
        <p:spPr>
          <a:xfrm>
            <a:off x="457200" y="2647950"/>
            <a:ext cx="2162175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ol-input-eyebrow"/>
          <p:cNvSpPr txBox="1"/>
          <p:nvPr/>
        </p:nvSpPr>
        <p:spPr>
          <a:xfrm>
            <a:off x="552450" y="26860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1</a:t>
            </a:r>
          </a:p>
        </p:txBody>
      </p:sp>
      <p:sp>
        <p:nvSpPr>
          <p:cNvPr id="11" name="col-input-name"/>
          <p:cNvSpPr txBox="1"/>
          <p:nvPr/>
        </p:nvSpPr>
        <p:spPr>
          <a:xfrm>
            <a:off x="552450" y="27813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INPUTS</a:t>
            </a:r>
          </a:p>
        </p:txBody>
      </p:sp>
      <p:sp>
        <p:nvSpPr>
          <p:cNvPr id="12" name="col-input-body"/>
          <p:cNvSpPr/>
          <p:nvPr/>
        </p:nvSpPr>
        <p:spPr>
          <a:xfrm>
            <a:off x="457200" y="2933700"/>
            <a:ext cx="2162175" cy="25146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ol-input-body-text"/>
          <p:cNvSpPr txBox="1"/>
          <p:nvPr/>
        </p:nvSpPr>
        <p:spPr>
          <a:xfrm>
            <a:off x="552450" y="3009900"/>
            <a:ext cx="1971675" cy="2362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Budget $2.4M
· 12 trainers
· Curriculum
· Partner employers</a:t>
            </a:r>
          </a:p>
        </p:txBody>
      </p:sp>
      <p:sp>
        <p:nvSpPr>
          <p:cNvPr id="14" name="col-arrow-1"/>
          <p:cNvSpPr txBox="1"/>
          <p:nvPr/>
        </p:nvSpPr>
        <p:spPr>
          <a:xfrm>
            <a:off x="2638425" y="3971925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15" name="col-activity-head"/>
          <p:cNvSpPr/>
          <p:nvPr/>
        </p:nvSpPr>
        <p:spPr>
          <a:xfrm>
            <a:off x="2733675" y="2647950"/>
            <a:ext cx="2162175" cy="285750"/>
          </a:xfrm>
          <a:prstGeom prst="rect">
            <a:avLst/>
          </a:prstGeom>
          <a:solidFill>
            <a:srgbClr val="7C3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ol-activity-eyebrow"/>
          <p:cNvSpPr txBox="1"/>
          <p:nvPr/>
        </p:nvSpPr>
        <p:spPr>
          <a:xfrm>
            <a:off x="2828925" y="26860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2</a:t>
            </a:r>
          </a:p>
        </p:txBody>
      </p:sp>
      <p:sp>
        <p:nvSpPr>
          <p:cNvPr id="17" name="col-activity-name"/>
          <p:cNvSpPr txBox="1"/>
          <p:nvPr/>
        </p:nvSpPr>
        <p:spPr>
          <a:xfrm>
            <a:off x="2828925" y="27813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ACTIVITIES</a:t>
            </a:r>
          </a:p>
        </p:txBody>
      </p:sp>
      <p:sp>
        <p:nvSpPr>
          <p:cNvPr id="18" name="col-activity-body"/>
          <p:cNvSpPr/>
          <p:nvPr/>
        </p:nvSpPr>
        <p:spPr>
          <a:xfrm>
            <a:off x="2733675" y="2933700"/>
            <a:ext cx="2162175" cy="25146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ol-activity-body-text"/>
          <p:cNvSpPr txBox="1"/>
          <p:nvPr/>
        </p:nvSpPr>
        <p:spPr>
          <a:xfrm>
            <a:off x="2828925" y="3009900"/>
            <a:ext cx="1971675" cy="2362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8-week bootcamp
· Mentorship
· Job placement support
· Employer partnerships</a:t>
            </a:r>
          </a:p>
        </p:txBody>
      </p:sp>
      <p:sp>
        <p:nvSpPr>
          <p:cNvPr id="20" name="col-arrow-2"/>
          <p:cNvSpPr txBox="1"/>
          <p:nvPr/>
        </p:nvSpPr>
        <p:spPr>
          <a:xfrm>
            <a:off x="4914900" y="3971925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21" name="col-output-head"/>
          <p:cNvSpPr/>
          <p:nvPr/>
        </p:nvSpPr>
        <p:spPr>
          <a:xfrm>
            <a:off x="5010150" y="2647950"/>
            <a:ext cx="2162175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l-output-eyebrow"/>
          <p:cNvSpPr txBox="1"/>
          <p:nvPr/>
        </p:nvSpPr>
        <p:spPr>
          <a:xfrm>
            <a:off x="5105400" y="26860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STAGE 3</a:t>
            </a:r>
          </a:p>
        </p:txBody>
      </p:sp>
      <p:sp>
        <p:nvSpPr>
          <p:cNvPr id="23" name="col-output-name"/>
          <p:cNvSpPr txBox="1"/>
          <p:nvPr/>
        </p:nvSpPr>
        <p:spPr>
          <a:xfrm>
            <a:off x="5105400" y="27813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OUTPUTS</a:t>
            </a:r>
          </a:p>
        </p:txBody>
      </p:sp>
      <p:sp>
        <p:nvSpPr>
          <p:cNvPr id="24" name="col-output-body"/>
          <p:cNvSpPr/>
          <p:nvPr/>
        </p:nvSpPr>
        <p:spPr>
          <a:xfrm>
            <a:off x="5010150" y="2933700"/>
            <a:ext cx="2162175" cy="25146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ol-output-body-text"/>
          <p:cNvSpPr txBox="1"/>
          <p:nvPr/>
        </p:nvSpPr>
        <p:spPr>
          <a:xfrm>
            <a:off x="5105400" y="3009900"/>
            <a:ext cx="1971675" cy="2362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240 graduates/yr
· 95% completion rate
· 18 employer partners
· Certifications issued</a:t>
            </a:r>
          </a:p>
        </p:txBody>
      </p:sp>
      <p:sp>
        <p:nvSpPr>
          <p:cNvPr id="26" name="col-arrow-3"/>
          <p:cNvSpPr txBox="1"/>
          <p:nvPr/>
        </p:nvSpPr>
        <p:spPr>
          <a:xfrm>
            <a:off x="7191375" y="3971925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27" name="col-shortterm-head"/>
          <p:cNvSpPr/>
          <p:nvPr/>
        </p:nvSpPr>
        <p:spPr>
          <a:xfrm>
            <a:off x="7286625" y="2647950"/>
            <a:ext cx="2162175" cy="285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ol-shortterm-eyebrow"/>
          <p:cNvSpPr txBox="1"/>
          <p:nvPr/>
        </p:nvSpPr>
        <p:spPr>
          <a:xfrm>
            <a:off x="7381875" y="26860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SHORT-TERM</a:t>
            </a:r>
          </a:p>
        </p:txBody>
      </p:sp>
      <p:sp>
        <p:nvSpPr>
          <p:cNvPr id="29" name="col-shortterm-name"/>
          <p:cNvSpPr txBox="1"/>
          <p:nvPr/>
        </p:nvSpPr>
        <p:spPr>
          <a:xfrm>
            <a:off x="7381875" y="27813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OUTCOMES</a:t>
            </a:r>
          </a:p>
        </p:txBody>
      </p:sp>
      <p:sp>
        <p:nvSpPr>
          <p:cNvPr id="30" name="col-shortterm-body"/>
          <p:cNvSpPr/>
          <p:nvPr/>
        </p:nvSpPr>
        <p:spPr>
          <a:xfrm>
            <a:off x="7286625" y="2933700"/>
            <a:ext cx="2162175" cy="25146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ol-shortterm-body-text"/>
          <p:cNvSpPr txBox="1"/>
          <p:nvPr/>
        </p:nvSpPr>
        <p:spPr>
          <a:xfrm>
            <a:off x="7381875" y="3009900"/>
            <a:ext cx="1971675" cy="2362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Digital employment skills
· Job-ready graduates
· Employer relationships built</a:t>
            </a:r>
          </a:p>
        </p:txBody>
      </p:sp>
      <p:sp>
        <p:nvSpPr>
          <p:cNvPr id="32" name="col-arrow-4"/>
          <p:cNvSpPr txBox="1"/>
          <p:nvPr/>
        </p:nvSpPr>
        <p:spPr>
          <a:xfrm>
            <a:off x="9467850" y="3971925"/>
            <a:ext cx="133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▶</a:t>
            </a:r>
          </a:p>
        </p:txBody>
      </p:sp>
      <p:sp>
        <p:nvSpPr>
          <p:cNvPr id="33" name="col-longterm-head"/>
          <p:cNvSpPr/>
          <p:nvPr/>
        </p:nvSpPr>
        <p:spPr>
          <a:xfrm>
            <a:off x="9563100" y="2647950"/>
            <a:ext cx="2162175" cy="285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ol-longterm-eyebrow"/>
          <p:cNvSpPr txBox="1"/>
          <p:nvPr/>
        </p:nvSpPr>
        <p:spPr>
          <a:xfrm>
            <a:off x="9658350" y="2686050"/>
            <a:ext cx="19716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LONG-TERM</a:t>
            </a:r>
          </a:p>
        </p:txBody>
      </p:sp>
      <p:sp>
        <p:nvSpPr>
          <p:cNvPr id="35" name="col-longterm-name"/>
          <p:cNvSpPr txBox="1"/>
          <p:nvPr/>
        </p:nvSpPr>
        <p:spPr>
          <a:xfrm>
            <a:off x="9658350" y="2781300"/>
            <a:ext cx="1971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IMPACT</a:t>
            </a:r>
          </a:p>
        </p:txBody>
      </p:sp>
      <p:sp>
        <p:nvSpPr>
          <p:cNvPr id="36" name="col-longterm-body"/>
          <p:cNvSpPr/>
          <p:nvPr/>
        </p:nvSpPr>
        <p:spPr>
          <a:xfrm>
            <a:off x="9563100" y="2933700"/>
            <a:ext cx="2162175" cy="25146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ol-longterm-body-text"/>
          <p:cNvSpPr txBox="1"/>
          <p:nvPr/>
        </p:nvSpPr>
        <p:spPr>
          <a:xfrm>
            <a:off x="9658350" y="3009900"/>
            <a:ext cx="1971675" cy="2362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· Economic mobility
· Workforce gap closed
· Industry competitiveness</a:t>
            </a:r>
          </a:p>
        </p:txBody>
      </p:sp>
      <p:sp>
        <p:nvSpPr>
          <p:cNvPr id="38" name="external-bg"/>
          <p:cNvSpPr/>
          <p:nvPr/>
        </p:nvSpPr>
        <p:spPr>
          <a:xfrm>
            <a:off x="457200" y="5505450"/>
            <a:ext cx="11277600" cy="28575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external-label"/>
          <p:cNvSpPr txBox="1"/>
          <p:nvPr/>
        </p:nvSpPr>
        <p:spPr>
          <a:xfrm>
            <a:off x="590550" y="5572125"/>
            <a:ext cx="1238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3C5FD"/>
                </a:solidFill>
                <a:latin typeface="Inter"/>
              </a:rPr>
              <a:t>EXTERNAL FACTORS</a:t>
            </a:r>
          </a:p>
        </p:txBody>
      </p:sp>
      <p:sp>
        <p:nvSpPr>
          <p:cNvPr id="40" name="external-text"/>
          <p:cNvSpPr txBox="1"/>
          <p:nvPr/>
        </p:nvSpPr>
        <p:spPr>
          <a:xfrm>
            <a:off x="1885950" y="5572125"/>
            <a:ext cx="971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3C5FD"/>
                </a:solidFill>
                <a:latin typeface="Inter"/>
              </a:rPr>
              <a:t>Economic conditions, employer hiring freezes, policy changes</a:t>
            </a:r>
          </a:p>
        </p:txBody>
      </p:sp>
      <p:sp>
        <p:nvSpPr>
          <p:cNvPr id="41" name="convergence-bg"/>
          <p:cNvSpPr/>
          <p:nvPr/>
        </p:nvSpPr>
        <p:spPr>
          <a:xfrm>
            <a:off x="457200" y="5848350"/>
            <a:ext cx="11277600" cy="3619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onvergence-mark"/>
          <p:cNvSpPr txBox="1"/>
          <p:nvPr/>
        </p:nvSpPr>
        <p:spPr>
          <a:xfrm>
            <a:off x="590550" y="596265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PROGRAM THEORY</a:t>
            </a:r>
          </a:p>
        </p:txBody>
      </p:sp>
      <p:sp>
        <p:nvSpPr>
          <p:cNvPr id="43" name="convergence"/>
          <p:cNvSpPr txBox="1"/>
          <p:nvPr/>
        </p:nvSpPr>
        <p:spPr>
          <a:xfrm>
            <a:off x="1771650" y="5848350"/>
            <a:ext cx="98298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When funded inputs enable structured bootcamp activities, certified graduates and employer partnerships drive workforce mobility — closing the digital skills gap.</a:t>
            </a:r>
          </a:p>
        </p:txBody>
      </p:sp>
      <p:sp>
        <p:nvSpPr>
          <p:cNvPr id="4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