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Our approach — five steps, each with activities and a deliverable.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Each step ends with an artefact a stakeholder can react to — never an internal-only milestone.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tep-1-bg"/>
          <p:cNvSpPr/>
          <p:nvPr/>
        </p:nvSpPr>
        <p:spPr>
          <a:xfrm>
            <a:off x="533400" y="2095500"/>
            <a:ext cx="2114550" cy="3429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tep-1-accent"/>
          <p:cNvSpPr/>
          <p:nvPr/>
        </p:nvSpPr>
        <p:spPr>
          <a:xfrm>
            <a:off x="533400" y="2095500"/>
            <a:ext cx="211455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step-1-num-bg"/>
          <p:cNvSpPr/>
          <p:nvPr/>
        </p:nvSpPr>
        <p:spPr>
          <a:xfrm>
            <a:off x="1390650" y="2247900"/>
            <a:ext cx="400050" cy="4000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step-1-num"/>
          <p:cNvSpPr txBox="1"/>
          <p:nvPr/>
        </p:nvSpPr>
        <p:spPr>
          <a:xfrm>
            <a:off x="1390650" y="224790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9" name="step-1-name"/>
          <p:cNvSpPr txBox="1"/>
          <p:nvPr/>
        </p:nvSpPr>
        <p:spPr>
          <a:xfrm>
            <a:off x="533400" y="2705100"/>
            <a:ext cx="21145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DISCOVER</a:t>
            </a:r>
          </a:p>
        </p:txBody>
      </p:sp>
      <p:sp>
        <p:nvSpPr>
          <p:cNvPr id="10" name="step-1-desc"/>
          <p:cNvSpPr txBox="1"/>
          <p:nvPr/>
        </p:nvSpPr>
        <p:spPr>
          <a:xfrm>
            <a:off x="609600" y="2914650"/>
            <a:ext cx="19621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Frame the problem and align stakeholders</a:t>
            </a:r>
          </a:p>
        </p:txBody>
      </p:sp>
      <p:sp>
        <p:nvSpPr>
          <p:cNvPr id="11" name="step-1-activities-label"/>
          <p:cNvSpPr txBox="1"/>
          <p:nvPr/>
        </p:nvSpPr>
        <p:spPr>
          <a:xfrm>
            <a:off x="666750" y="340995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ACTIVITIES</a:t>
            </a:r>
          </a:p>
        </p:txBody>
      </p:sp>
      <p:sp>
        <p:nvSpPr>
          <p:cNvPr id="12" name="step-1-body"/>
          <p:cNvSpPr txBox="1"/>
          <p:nvPr/>
        </p:nvSpPr>
        <p:spPr>
          <a:xfrm>
            <a:off x="666750" y="3543300"/>
            <a:ext cx="18478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Stakeholder interviews
• Problem framing
• Pain point inventory</a:t>
            </a:r>
          </a:p>
        </p:txBody>
      </p:sp>
      <p:sp>
        <p:nvSpPr>
          <p:cNvPr id="13" name="step-1-deliv-bg"/>
          <p:cNvSpPr/>
          <p:nvPr/>
        </p:nvSpPr>
        <p:spPr>
          <a:xfrm>
            <a:off x="533400" y="4381500"/>
            <a:ext cx="2114550" cy="1143000"/>
          </a:xfrm>
          <a:prstGeom prst="rect">
            <a:avLst/>
          </a:prstGeom>
          <a:solidFill>
            <a:srgbClr val="140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tep-1-deliverables-label"/>
          <p:cNvSpPr txBox="1"/>
          <p:nvPr/>
        </p:nvSpPr>
        <p:spPr>
          <a:xfrm>
            <a:off x="666750" y="445770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DELIVERABLES</a:t>
            </a:r>
          </a:p>
        </p:txBody>
      </p:sp>
      <p:sp>
        <p:nvSpPr>
          <p:cNvPr id="15" name="step-1-deliverable-1-icon"/>
          <p:cNvSpPr/>
          <p:nvPr/>
        </p:nvSpPr>
        <p:spPr>
          <a:xfrm>
            <a:off x="666750" y="4629150"/>
            <a:ext cx="190500" cy="190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step-1-deliverable-1-name"/>
          <p:cNvSpPr txBox="1"/>
          <p:nvPr/>
        </p:nvSpPr>
        <p:spPr>
          <a:xfrm>
            <a:off x="914400" y="464820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Stakeholder map</a:t>
            </a:r>
          </a:p>
        </p:txBody>
      </p:sp>
      <p:sp>
        <p:nvSpPr>
          <p:cNvPr id="17" name="step-1-deliverable-2-icon"/>
          <p:cNvSpPr/>
          <p:nvPr/>
        </p:nvSpPr>
        <p:spPr>
          <a:xfrm>
            <a:off x="666750" y="4876800"/>
            <a:ext cx="190500" cy="190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tep-1-deliverable-2-name"/>
          <p:cNvSpPr txBox="1"/>
          <p:nvPr/>
        </p:nvSpPr>
        <p:spPr>
          <a:xfrm>
            <a:off x="914400" y="489585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Problem statement</a:t>
            </a:r>
          </a:p>
        </p:txBody>
      </p:sp>
      <p:sp>
        <p:nvSpPr>
          <p:cNvPr id="19" name="step-2-bg"/>
          <p:cNvSpPr/>
          <p:nvPr/>
        </p:nvSpPr>
        <p:spPr>
          <a:xfrm>
            <a:off x="2781300" y="2095500"/>
            <a:ext cx="2114550" cy="3429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step-2-accent"/>
          <p:cNvSpPr/>
          <p:nvPr/>
        </p:nvSpPr>
        <p:spPr>
          <a:xfrm>
            <a:off x="2781300" y="2095500"/>
            <a:ext cx="211455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tep-2-num-bg"/>
          <p:cNvSpPr/>
          <p:nvPr/>
        </p:nvSpPr>
        <p:spPr>
          <a:xfrm>
            <a:off x="3638550" y="2247900"/>
            <a:ext cx="400050" cy="4000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tep-2-num"/>
          <p:cNvSpPr txBox="1"/>
          <p:nvPr/>
        </p:nvSpPr>
        <p:spPr>
          <a:xfrm>
            <a:off x="3638550" y="224790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23" name="step-2-name"/>
          <p:cNvSpPr txBox="1"/>
          <p:nvPr/>
        </p:nvSpPr>
        <p:spPr>
          <a:xfrm>
            <a:off x="2781300" y="2705100"/>
            <a:ext cx="21145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DIAGNOSE</a:t>
            </a:r>
          </a:p>
        </p:txBody>
      </p:sp>
      <p:sp>
        <p:nvSpPr>
          <p:cNvPr id="24" name="step-2-desc"/>
          <p:cNvSpPr txBox="1"/>
          <p:nvPr/>
        </p:nvSpPr>
        <p:spPr>
          <a:xfrm>
            <a:off x="2857500" y="2914650"/>
            <a:ext cx="19621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Surface root causes from evidence</a:t>
            </a:r>
          </a:p>
        </p:txBody>
      </p:sp>
      <p:sp>
        <p:nvSpPr>
          <p:cNvPr id="25" name="step-2-activities-label"/>
          <p:cNvSpPr txBox="1"/>
          <p:nvPr/>
        </p:nvSpPr>
        <p:spPr>
          <a:xfrm>
            <a:off x="2914650" y="340995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ACTIVITIES</a:t>
            </a:r>
          </a:p>
        </p:txBody>
      </p:sp>
      <p:sp>
        <p:nvSpPr>
          <p:cNvPr id="26" name="step-2-body"/>
          <p:cNvSpPr txBox="1"/>
          <p:nvPr/>
        </p:nvSpPr>
        <p:spPr>
          <a:xfrm>
            <a:off x="2914650" y="3543300"/>
            <a:ext cx="18478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Root cause analysis
• Data analysis
• Pattern identification</a:t>
            </a:r>
          </a:p>
        </p:txBody>
      </p:sp>
      <p:sp>
        <p:nvSpPr>
          <p:cNvPr id="27" name="step-2-deliv-bg"/>
          <p:cNvSpPr/>
          <p:nvPr/>
        </p:nvSpPr>
        <p:spPr>
          <a:xfrm>
            <a:off x="2781300" y="4381500"/>
            <a:ext cx="2114550" cy="1143000"/>
          </a:xfrm>
          <a:prstGeom prst="rect">
            <a:avLst/>
          </a:prstGeom>
          <a:solidFill>
            <a:srgbClr val="140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step-2-deliverables-label"/>
          <p:cNvSpPr txBox="1"/>
          <p:nvPr/>
        </p:nvSpPr>
        <p:spPr>
          <a:xfrm>
            <a:off x="2914650" y="445770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DELIVERABLES</a:t>
            </a:r>
          </a:p>
        </p:txBody>
      </p:sp>
      <p:sp>
        <p:nvSpPr>
          <p:cNvPr id="29" name="step-2-deliverable-1-icon"/>
          <p:cNvSpPr/>
          <p:nvPr/>
        </p:nvSpPr>
        <p:spPr>
          <a:xfrm>
            <a:off x="2914650" y="4629150"/>
            <a:ext cx="190500" cy="190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step-2-deliverable-1-name"/>
          <p:cNvSpPr txBox="1"/>
          <p:nvPr/>
        </p:nvSpPr>
        <p:spPr>
          <a:xfrm>
            <a:off x="3162300" y="464820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Diagnostic memo</a:t>
            </a:r>
          </a:p>
        </p:txBody>
      </p:sp>
      <p:sp>
        <p:nvSpPr>
          <p:cNvPr id="31" name="step-3-bg"/>
          <p:cNvSpPr/>
          <p:nvPr/>
        </p:nvSpPr>
        <p:spPr>
          <a:xfrm>
            <a:off x="5029200" y="2095500"/>
            <a:ext cx="2114550" cy="3429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step-3-accent"/>
          <p:cNvSpPr/>
          <p:nvPr/>
        </p:nvSpPr>
        <p:spPr>
          <a:xfrm>
            <a:off x="5029200" y="2095500"/>
            <a:ext cx="211455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step-3-num-bg"/>
          <p:cNvSpPr/>
          <p:nvPr/>
        </p:nvSpPr>
        <p:spPr>
          <a:xfrm>
            <a:off x="5886450" y="2247900"/>
            <a:ext cx="400050" cy="4000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step-3-num"/>
          <p:cNvSpPr txBox="1"/>
          <p:nvPr/>
        </p:nvSpPr>
        <p:spPr>
          <a:xfrm>
            <a:off x="5886450" y="224790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35" name="step-3-name"/>
          <p:cNvSpPr txBox="1"/>
          <p:nvPr/>
        </p:nvSpPr>
        <p:spPr>
          <a:xfrm>
            <a:off x="5029200" y="2705100"/>
            <a:ext cx="21145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DESIGN</a:t>
            </a:r>
          </a:p>
        </p:txBody>
      </p:sp>
      <p:sp>
        <p:nvSpPr>
          <p:cNvPr id="36" name="step-3-desc"/>
          <p:cNvSpPr txBox="1"/>
          <p:nvPr/>
        </p:nvSpPr>
        <p:spPr>
          <a:xfrm>
            <a:off x="5105400" y="2914650"/>
            <a:ext cx="19621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Develop options, trade-offs, recommendation</a:t>
            </a:r>
          </a:p>
        </p:txBody>
      </p:sp>
      <p:sp>
        <p:nvSpPr>
          <p:cNvPr id="37" name="step-3-activities-label"/>
          <p:cNvSpPr txBox="1"/>
          <p:nvPr/>
        </p:nvSpPr>
        <p:spPr>
          <a:xfrm>
            <a:off x="5162550" y="340995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ACTIVITIES</a:t>
            </a:r>
          </a:p>
        </p:txBody>
      </p:sp>
      <p:sp>
        <p:nvSpPr>
          <p:cNvPr id="38" name="step-3-body"/>
          <p:cNvSpPr txBox="1"/>
          <p:nvPr/>
        </p:nvSpPr>
        <p:spPr>
          <a:xfrm>
            <a:off x="5162550" y="3543300"/>
            <a:ext cx="18478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Options framing
• Trade-off analysis
• Recommendation drafting</a:t>
            </a:r>
          </a:p>
        </p:txBody>
      </p:sp>
      <p:sp>
        <p:nvSpPr>
          <p:cNvPr id="39" name="step-3-deliv-bg"/>
          <p:cNvSpPr/>
          <p:nvPr/>
        </p:nvSpPr>
        <p:spPr>
          <a:xfrm>
            <a:off x="5029200" y="4381500"/>
            <a:ext cx="2114550" cy="1143000"/>
          </a:xfrm>
          <a:prstGeom prst="rect">
            <a:avLst/>
          </a:prstGeom>
          <a:solidFill>
            <a:srgbClr val="140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step-3-deliverables-label"/>
          <p:cNvSpPr txBox="1"/>
          <p:nvPr/>
        </p:nvSpPr>
        <p:spPr>
          <a:xfrm>
            <a:off x="5162550" y="445770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DELIVERABLES</a:t>
            </a:r>
          </a:p>
        </p:txBody>
      </p:sp>
      <p:sp>
        <p:nvSpPr>
          <p:cNvPr id="41" name="step-3-deliverable-1-icon"/>
          <p:cNvSpPr/>
          <p:nvPr/>
        </p:nvSpPr>
        <p:spPr>
          <a:xfrm>
            <a:off x="5162550" y="4629150"/>
            <a:ext cx="190500" cy="190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step-3-deliverable-1-name"/>
          <p:cNvSpPr txBox="1"/>
          <p:nvPr/>
        </p:nvSpPr>
        <p:spPr>
          <a:xfrm>
            <a:off x="5410200" y="464820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Options memo</a:t>
            </a:r>
          </a:p>
        </p:txBody>
      </p:sp>
      <p:sp>
        <p:nvSpPr>
          <p:cNvPr id="43" name="step-3-deliverable-2-icon"/>
          <p:cNvSpPr/>
          <p:nvPr/>
        </p:nvSpPr>
        <p:spPr>
          <a:xfrm>
            <a:off x="5162550" y="4876800"/>
            <a:ext cx="190500" cy="190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step-3-deliverable-2-name"/>
          <p:cNvSpPr txBox="1"/>
          <p:nvPr/>
        </p:nvSpPr>
        <p:spPr>
          <a:xfrm>
            <a:off x="5410200" y="489585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Recommendation deck</a:t>
            </a:r>
          </a:p>
        </p:txBody>
      </p:sp>
      <p:sp>
        <p:nvSpPr>
          <p:cNvPr id="45" name="step-4-bg"/>
          <p:cNvSpPr/>
          <p:nvPr/>
        </p:nvSpPr>
        <p:spPr>
          <a:xfrm>
            <a:off x="7277100" y="2095500"/>
            <a:ext cx="2114550" cy="3429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step-4-accent"/>
          <p:cNvSpPr/>
          <p:nvPr/>
        </p:nvSpPr>
        <p:spPr>
          <a:xfrm>
            <a:off x="7277100" y="2095500"/>
            <a:ext cx="211455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step-4-num-bg"/>
          <p:cNvSpPr/>
          <p:nvPr/>
        </p:nvSpPr>
        <p:spPr>
          <a:xfrm>
            <a:off x="8134350" y="2247900"/>
            <a:ext cx="400050" cy="4000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step-4-num"/>
          <p:cNvSpPr txBox="1"/>
          <p:nvPr/>
        </p:nvSpPr>
        <p:spPr>
          <a:xfrm>
            <a:off x="8134350" y="224790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49" name="step-4-name"/>
          <p:cNvSpPr txBox="1"/>
          <p:nvPr/>
        </p:nvSpPr>
        <p:spPr>
          <a:xfrm>
            <a:off x="7277100" y="2705100"/>
            <a:ext cx="21145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PILOT</a:t>
            </a:r>
          </a:p>
        </p:txBody>
      </p:sp>
      <p:sp>
        <p:nvSpPr>
          <p:cNvPr id="50" name="step-4-desc"/>
          <p:cNvSpPr txBox="1"/>
          <p:nvPr/>
        </p:nvSpPr>
        <p:spPr>
          <a:xfrm>
            <a:off x="7353300" y="2914650"/>
            <a:ext cx="19621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Run a measured pilot before scaling</a:t>
            </a:r>
          </a:p>
        </p:txBody>
      </p:sp>
      <p:sp>
        <p:nvSpPr>
          <p:cNvPr id="51" name="step-4-activities-label"/>
          <p:cNvSpPr txBox="1"/>
          <p:nvPr/>
        </p:nvSpPr>
        <p:spPr>
          <a:xfrm>
            <a:off x="7410450" y="340995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ACTIVITIES</a:t>
            </a:r>
          </a:p>
        </p:txBody>
      </p:sp>
      <p:sp>
        <p:nvSpPr>
          <p:cNvPr id="52" name="step-4-body"/>
          <p:cNvSpPr txBox="1"/>
          <p:nvPr/>
        </p:nvSpPr>
        <p:spPr>
          <a:xfrm>
            <a:off x="7410450" y="3543300"/>
            <a:ext cx="18478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Pilot scoping
• Implementation
• Measurement</a:t>
            </a:r>
          </a:p>
        </p:txBody>
      </p:sp>
      <p:sp>
        <p:nvSpPr>
          <p:cNvPr id="53" name="step-4-deliv-bg"/>
          <p:cNvSpPr/>
          <p:nvPr/>
        </p:nvSpPr>
        <p:spPr>
          <a:xfrm>
            <a:off x="7277100" y="4381500"/>
            <a:ext cx="2114550" cy="1143000"/>
          </a:xfrm>
          <a:prstGeom prst="rect">
            <a:avLst/>
          </a:prstGeom>
          <a:solidFill>
            <a:srgbClr val="140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step-4-deliverables-label"/>
          <p:cNvSpPr txBox="1"/>
          <p:nvPr/>
        </p:nvSpPr>
        <p:spPr>
          <a:xfrm>
            <a:off x="7410450" y="445770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DELIVERABLES</a:t>
            </a:r>
          </a:p>
        </p:txBody>
      </p:sp>
      <p:sp>
        <p:nvSpPr>
          <p:cNvPr id="55" name="step-4-deliverable-1-icon"/>
          <p:cNvSpPr/>
          <p:nvPr/>
        </p:nvSpPr>
        <p:spPr>
          <a:xfrm>
            <a:off x="7410450" y="4629150"/>
            <a:ext cx="190500" cy="190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step-4-deliverable-1-name"/>
          <p:cNvSpPr txBox="1"/>
          <p:nvPr/>
        </p:nvSpPr>
        <p:spPr>
          <a:xfrm>
            <a:off x="7658100" y="464820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Pilot plan</a:t>
            </a:r>
          </a:p>
        </p:txBody>
      </p:sp>
      <p:sp>
        <p:nvSpPr>
          <p:cNvPr id="57" name="step-4-deliverable-2-icon"/>
          <p:cNvSpPr/>
          <p:nvPr/>
        </p:nvSpPr>
        <p:spPr>
          <a:xfrm>
            <a:off x="7410450" y="4876800"/>
            <a:ext cx="190500" cy="190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step-4-deliverable-2-name"/>
          <p:cNvSpPr txBox="1"/>
          <p:nvPr/>
        </p:nvSpPr>
        <p:spPr>
          <a:xfrm>
            <a:off x="7658100" y="489585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Measurement framework</a:t>
            </a:r>
          </a:p>
        </p:txBody>
      </p:sp>
      <p:sp>
        <p:nvSpPr>
          <p:cNvPr id="59" name="step-5-bg"/>
          <p:cNvSpPr/>
          <p:nvPr/>
        </p:nvSpPr>
        <p:spPr>
          <a:xfrm>
            <a:off x="9525000" y="2095500"/>
            <a:ext cx="2114550" cy="3429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step-5-accent"/>
          <p:cNvSpPr/>
          <p:nvPr/>
        </p:nvSpPr>
        <p:spPr>
          <a:xfrm>
            <a:off x="9525000" y="2095500"/>
            <a:ext cx="211455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step-5-num-bg"/>
          <p:cNvSpPr/>
          <p:nvPr/>
        </p:nvSpPr>
        <p:spPr>
          <a:xfrm>
            <a:off x="10382250" y="2247900"/>
            <a:ext cx="400050" cy="4000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step-5-num"/>
          <p:cNvSpPr txBox="1"/>
          <p:nvPr/>
        </p:nvSpPr>
        <p:spPr>
          <a:xfrm>
            <a:off x="10382250" y="224790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63" name="step-5-name"/>
          <p:cNvSpPr txBox="1"/>
          <p:nvPr/>
        </p:nvSpPr>
        <p:spPr>
          <a:xfrm>
            <a:off x="9525000" y="2705100"/>
            <a:ext cx="21145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SCALE</a:t>
            </a:r>
          </a:p>
        </p:txBody>
      </p:sp>
      <p:sp>
        <p:nvSpPr>
          <p:cNvPr id="64" name="step-5-desc"/>
          <p:cNvSpPr txBox="1"/>
          <p:nvPr/>
        </p:nvSpPr>
        <p:spPr>
          <a:xfrm>
            <a:off x="9601200" y="2914650"/>
            <a:ext cx="19621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Roll out the validated approach</a:t>
            </a:r>
          </a:p>
        </p:txBody>
      </p:sp>
      <p:sp>
        <p:nvSpPr>
          <p:cNvPr id="65" name="step-5-activities-label"/>
          <p:cNvSpPr txBox="1"/>
          <p:nvPr/>
        </p:nvSpPr>
        <p:spPr>
          <a:xfrm>
            <a:off x="9658350" y="340995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ACTIVITIES</a:t>
            </a:r>
          </a:p>
        </p:txBody>
      </p:sp>
      <p:sp>
        <p:nvSpPr>
          <p:cNvPr id="66" name="step-5-body"/>
          <p:cNvSpPr txBox="1"/>
          <p:nvPr/>
        </p:nvSpPr>
        <p:spPr>
          <a:xfrm>
            <a:off x="9658350" y="3543300"/>
            <a:ext cx="18478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Rollout planning
• Wave 2 prep
• Governance handoff</a:t>
            </a:r>
          </a:p>
        </p:txBody>
      </p:sp>
      <p:sp>
        <p:nvSpPr>
          <p:cNvPr id="67" name="step-5-deliv-bg"/>
          <p:cNvSpPr/>
          <p:nvPr/>
        </p:nvSpPr>
        <p:spPr>
          <a:xfrm>
            <a:off x="9525000" y="4381500"/>
            <a:ext cx="2114550" cy="1143000"/>
          </a:xfrm>
          <a:prstGeom prst="rect">
            <a:avLst/>
          </a:prstGeom>
          <a:solidFill>
            <a:srgbClr val="140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step-5-deliverables-label"/>
          <p:cNvSpPr txBox="1"/>
          <p:nvPr/>
        </p:nvSpPr>
        <p:spPr>
          <a:xfrm>
            <a:off x="9658350" y="4457700"/>
            <a:ext cx="18478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DELIVERABLES</a:t>
            </a:r>
          </a:p>
        </p:txBody>
      </p:sp>
      <p:sp>
        <p:nvSpPr>
          <p:cNvPr id="69" name="step-5-deliverable-1-icon"/>
          <p:cNvSpPr/>
          <p:nvPr/>
        </p:nvSpPr>
        <p:spPr>
          <a:xfrm>
            <a:off x="9658350" y="4629150"/>
            <a:ext cx="190500" cy="190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step-5-deliverable-1-name"/>
          <p:cNvSpPr txBox="1"/>
          <p:nvPr/>
        </p:nvSpPr>
        <p:spPr>
          <a:xfrm>
            <a:off x="9906000" y="464820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Scorecard</a:t>
            </a:r>
          </a:p>
        </p:txBody>
      </p:sp>
      <p:sp>
        <p:nvSpPr>
          <p:cNvPr id="71" name="step-5-deliverable-2-icon"/>
          <p:cNvSpPr/>
          <p:nvPr/>
        </p:nvSpPr>
        <p:spPr>
          <a:xfrm>
            <a:off x="9658350" y="4876800"/>
            <a:ext cx="190500" cy="190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step-5-deliverable-2-name"/>
          <p:cNvSpPr txBox="1"/>
          <p:nvPr/>
        </p:nvSpPr>
        <p:spPr>
          <a:xfrm>
            <a:off x="9906000" y="489585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Governance handoff</a:t>
            </a:r>
          </a:p>
        </p:txBody>
      </p:sp>
      <p:sp>
        <p:nvSpPr>
          <p:cNvPr id="73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Every step produces something a stakeholder can react to — nothing is internal-only.</a:t>
            </a:r>
          </a:p>
        </p:txBody>
      </p:sp>
      <p:sp>
        <p:nvSpPr>
          <p:cNvPr id="7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