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Bridging the gap between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today's constraints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and tomorrow's potential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structured view of current pain points versus the improved future state — with a clear path forward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anel-divider"/>
          <p:cNvSpPr/>
          <p:nvPr/>
        </p:nvSpPr>
        <p:spPr>
          <a:xfrm>
            <a:off x="6076950" y="1314450"/>
            <a:ext cx="19050" cy="457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anel-1-icon"/>
          <p:cNvSpPr txBox="1"/>
          <p:nvPr/>
        </p:nvSpPr>
        <p:spPr>
          <a:xfrm>
            <a:off x="457200" y="13716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725">
                <a:solidFill>
                  <a:srgbClr val="DC2626"/>
                </a:solidFill>
                <a:latin typeface="Segoe UI Symbol"/>
              </a:rPr>
              <a:t>✗</a:t>
            </a:r>
          </a:p>
        </p:txBody>
      </p:sp>
      <p:sp>
        <p:nvSpPr>
          <p:cNvPr id="7" name="panel-1-heading"/>
          <p:cNvSpPr txBox="1"/>
          <p:nvPr/>
        </p:nvSpPr>
        <p:spPr>
          <a:xfrm>
            <a:off x="800100" y="13906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Current State</a:t>
            </a:r>
          </a:p>
        </p:txBody>
      </p:sp>
      <p:sp>
        <p:nvSpPr>
          <p:cNvPr id="8" name="panel-1-label"/>
          <p:cNvSpPr txBox="1"/>
          <p:nvPr/>
        </p:nvSpPr>
        <p:spPr>
          <a:xfrm>
            <a:off x="800100" y="1562100"/>
            <a:ext cx="476250" cy="133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AS IS</a:t>
            </a:r>
          </a:p>
        </p:txBody>
      </p:sp>
      <p:sp>
        <p:nvSpPr>
          <p:cNvPr id="9" name="panel-2-icon"/>
          <p:cNvSpPr txBox="1"/>
          <p:nvPr/>
        </p:nvSpPr>
        <p:spPr>
          <a:xfrm>
            <a:off x="6248400" y="137160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1725">
                <a:solidFill>
                  <a:srgbClr val="16A34A"/>
                </a:solidFill>
                <a:latin typeface="Segoe UI Symbol"/>
              </a:rPr>
              <a:t>✓</a:t>
            </a:r>
          </a:p>
        </p:txBody>
      </p:sp>
      <p:sp>
        <p:nvSpPr>
          <p:cNvPr id="10" name="panel-2-heading"/>
          <p:cNvSpPr txBox="1"/>
          <p:nvPr/>
        </p:nvSpPr>
        <p:spPr>
          <a:xfrm>
            <a:off x="6591300" y="13906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Future State</a:t>
            </a:r>
          </a:p>
        </p:txBody>
      </p:sp>
      <p:sp>
        <p:nvSpPr>
          <p:cNvPr id="11" name="panel-2-label"/>
          <p:cNvSpPr txBox="1"/>
          <p:nvPr/>
        </p:nvSpPr>
        <p:spPr>
          <a:xfrm>
            <a:off x="6591300" y="1562100"/>
            <a:ext cx="476250" cy="1333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TO BE</a:t>
            </a:r>
          </a:p>
        </p:txBody>
      </p:sp>
      <p:sp>
        <p:nvSpPr>
          <p:cNvPr id="12" name="header-rule-1"/>
          <p:cNvSpPr/>
          <p:nvPr/>
        </p:nvSpPr>
        <p:spPr>
          <a:xfrm>
            <a:off x="457200" y="1790700"/>
            <a:ext cx="53340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header-rule-2"/>
          <p:cNvSpPr/>
          <p:nvPr/>
        </p:nvSpPr>
        <p:spPr>
          <a:xfrm>
            <a:off x="6248400" y="1790700"/>
            <a:ext cx="53340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anel-1-row-1-dot"/>
          <p:cNvSpPr/>
          <p:nvPr/>
        </p:nvSpPr>
        <p:spPr>
          <a:xfrm>
            <a:off x="495300" y="220980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anel-1-row-1"/>
          <p:cNvSpPr txBox="1"/>
          <p:nvPr/>
        </p:nvSpPr>
        <p:spPr>
          <a:xfrm>
            <a:off x="609600" y="19431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Manual reporting cycles take 3–5 days and require significant analyst effort</a:t>
            </a:r>
          </a:p>
        </p:txBody>
      </p:sp>
      <p:sp>
        <p:nvSpPr>
          <p:cNvPr id="16" name="panel-2-row-1-dot"/>
          <p:cNvSpPr/>
          <p:nvPr/>
        </p:nvSpPr>
        <p:spPr>
          <a:xfrm>
            <a:off x="6286500" y="220980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nel-2-row-1"/>
          <p:cNvSpPr txBox="1"/>
          <p:nvPr/>
        </p:nvSpPr>
        <p:spPr>
          <a:xfrm>
            <a:off x="6400800" y="19431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Automated pipelines deliver real-time dashboards with zero manual intervention</a:t>
            </a:r>
          </a:p>
        </p:txBody>
      </p:sp>
      <p:sp>
        <p:nvSpPr>
          <p:cNvPr id="18" name="row-1-divider"/>
          <p:cNvSpPr/>
          <p:nvPr/>
        </p:nvSpPr>
        <p:spPr>
          <a:xfrm>
            <a:off x="457200" y="25622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anel-1-row-2-dot"/>
          <p:cNvSpPr/>
          <p:nvPr/>
        </p:nvSpPr>
        <p:spPr>
          <a:xfrm>
            <a:off x="495300" y="287655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anel-1-row-2"/>
          <p:cNvSpPr txBox="1"/>
          <p:nvPr/>
        </p:nvSpPr>
        <p:spPr>
          <a:xfrm>
            <a:off x="609600" y="260985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siloed across 6+ systems with no single source of truth</a:t>
            </a:r>
          </a:p>
        </p:txBody>
      </p:sp>
      <p:sp>
        <p:nvSpPr>
          <p:cNvPr id="21" name="panel-2-row-2-dot"/>
          <p:cNvSpPr/>
          <p:nvPr/>
        </p:nvSpPr>
        <p:spPr>
          <a:xfrm>
            <a:off x="6286500" y="287655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anel-2-row-2"/>
          <p:cNvSpPr txBox="1"/>
          <p:nvPr/>
        </p:nvSpPr>
        <p:spPr>
          <a:xfrm>
            <a:off x="6400800" y="260985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Unified data platform provides a governed, enterprise-wide source of truth</a:t>
            </a:r>
          </a:p>
        </p:txBody>
      </p:sp>
      <p:sp>
        <p:nvSpPr>
          <p:cNvPr id="23" name="row-2-divider"/>
          <p:cNvSpPr/>
          <p:nvPr/>
        </p:nvSpPr>
        <p:spPr>
          <a:xfrm>
            <a:off x="457200" y="32289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row-3-bg"/>
          <p:cNvSpPr/>
          <p:nvPr/>
        </p:nvSpPr>
        <p:spPr>
          <a:xfrm>
            <a:off x="457200" y="3238500"/>
            <a:ext cx="11277600" cy="666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row-3-top"/>
          <p:cNvSpPr/>
          <p:nvPr/>
        </p:nvSpPr>
        <p:spPr>
          <a:xfrm>
            <a:off x="457200" y="3238500"/>
            <a:ext cx="112776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3-bot"/>
          <p:cNvSpPr/>
          <p:nvPr/>
        </p:nvSpPr>
        <p:spPr>
          <a:xfrm>
            <a:off x="457200" y="3886200"/>
            <a:ext cx="112776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anel-1-row-3-dot"/>
          <p:cNvSpPr/>
          <p:nvPr/>
        </p:nvSpPr>
        <p:spPr>
          <a:xfrm>
            <a:off x="495300" y="354330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anel-1-row-3"/>
          <p:cNvSpPr txBox="1"/>
          <p:nvPr/>
        </p:nvSpPr>
        <p:spPr>
          <a:xfrm>
            <a:off x="609600" y="32766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Decisions delayed by 2+ weeks due to lack of integrated customer insight</a:t>
            </a:r>
          </a:p>
        </p:txBody>
      </p:sp>
      <p:sp>
        <p:nvSpPr>
          <p:cNvPr id="29" name="panel-1-row-3-tag"/>
          <p:cNvSpPr txBox="1"/>
          <p:nvPr/>
        </p:nvSpPr>
        <p:spPr>
          <a:xfrm>
            <a:off x="5276850" y="3495675"/>
            <a:ext cx="571500" cy="133350"/>
          </a:xfrm>
          <a:prstGeom prst="rect">
            <a:avLst/>
          </a:prstGeom>
          <a:solidFill>
            <a:srgbClr val="F3E6FF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CRITICAL</a:t>
            </a:r>
          </a:p>
        </p:txBody>
      </p:sp>
      <p:sp>
        <p:nvSpPr>
          <p:cNvPr id="30" name="panel-2-row-3-dot"/>
          <p:cNvSpPr/>
          <p:nvPr/>
        </p:nvSpPr>
        <p:spPr>
          <a:xfrm>
            <a:off x="6286500" y="354330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anel-2-row-3"/>
          <p:cNvSpPr txBox="1"/>
          <p:nvPr/>
        </p:nvSpPr>
        <p:spPr>
          <a:xfrm>
            <a:off x="6400800" y="32766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AI-driven insight layer surfaces actionable recommendations within hours</a:t>
            </a:r>
          </a:p>
        </p:txBody>
      </p:sp>
      <p:sp>
        <p:nvSpPr>
          <p:cNvPr id="32" name="row-3-divider"/>
          <p:cNvSpPr/>
          <p:nvPr/>
        </p:nvSpPr>
        <p:spPr>
          <a:xfrm>
            <a:off x="457200" y="389572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anel-1-row-4-dot"/>
          <p:cNvSpPr/>
          <p:nvPr/>
        </p:nvSpPr>
        <p:spPr>
          <a:xfrm>
            <a:off x="495300" y="421005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anel-1-row-4"/>
          <p:cNvSpPr txBox="1"/>
          <p:nvPr/>
        </p:nvSpPr>
        <p:spPr>
          <a:xfrm>
            <a:off x="609600" y="394335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High operational cost from duplicated processes and redundant tooling</a:t>
            </a:r>
          </a:p>
        </p:txBody>
      </p:sp>
      <p:sp>
        <p:nvSpPr>
          <p:cNvPr id="35" name="panel-2-row-4-dot"/>
          <p:cNvSpPr/>
          <p:nvPr/>
        </p:nvSpPr>
        <p:spPr>
          <a:xfrm>
            <a:off x="6286500" y="421005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anel-2-row-4"/>
          <p:cNvSpPr txBox="1"/>
          <p:nvPr/>
        </p:nvSpPr>
        <p:spPr>
          <a:xfrm>
            <a:off x="6400800" y="394335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Consolidated toolchain reduces operational overhead by an estimated 35%</a:t>
            </a:r>
          </a:p>
        </p:txBody>
      </p:sp>
      <p:sp>
        <p:nvSpPr>
          <p:cNvPr id="37" name="row-4-divider"/>
          <p:cNvSpPr/>
          <p:nvPr/>
        </p:nvSpPr>
        <p:spPr>
          <a:xfrm>
            <a:off x="457200" y="45624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anel-1-row-5-dot"/>
          <p:cNvSpPr/>
          <p:nvPr/>
        </p:nvSpPr>
        <p:spPr>
          <a:xfrm>
            <a:off x="495300" y="4876800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anel-1-row-5"/>
          <p:cNvSpPr txBox="1"/>
          <p:nvPr/>
        </p:nvSpPr>
        <p:spPr>
          <a:xfrm>
            <a:off x="609600" y="46101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Teams operate reactively, unable to anticipate demand or capacity needs</a:t>
            </a:r>
          </a:p>
        </p:txBody>
      </p:sp>
      <p:sp>
        <p:nvSpPr>
          <p:cNvPr id="40" name="panel-2-row-5-dot"/>
          <p:cNvSpPr/>
          <p:nvPr/>
        </p:nvSpPr>
        <p:spPr>
          <a:xfrm>
            <a:off x="6286500" y="4876800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anel-2-row-5"/>
          <p:cNvSpPr txBox="1"/>
          <p:nvPr/>
        </p:nvSpPr>
        <p:spPr>
          <a:xfrm>
            <a:off x="6400800" y="4610100"/>
            <a:ext cx="5200650" cy="590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Predictive models enable proactive planning with 90-day forward visibility</a:t>
            </a:r>
          </a:p>
        </p:txBody>
      </p:sp>
      <p:sp>
        <p:nvSpPr>
          <p:cNvPr id="42" name="convergence-bg"/>
          <p:cNvSpPr/>
          <p:nvPr/>
        </p:nvSpPr>
        <p:spPr>
          <a:xfrm>
            <a:off x="457200" y="5772150"/>
            <a:ext cx="112776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vergence-mark"/>
          <p:cNvSpPr txBox="1"/>
          <p:nvPr/>
        </p:nvSpPr>
        <p:spPr>
          <a:xfrm>
            <a:off x="609600" y="5772150"/>
            <a:ext cx="2286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C780FF"/>
                </a:solidFill>
                <a:latin typeface="Inter"/>
              </a:rPr>
              <a:t>→</a:t>
            </a:r>
          </a:p>
        </p:txBody>
      </p:sp>
      <p:sp>
        <p:nvSpPr>
          <p:cNvPr id="44" name="convergence"/>
          <p:cNvSpPr txBox="1"/>
          <p:nvPr/>
        </p:nvSpPr>
        <p:spPr>
          <a:xfrm>
            <a:off x="876300" y="5772150"/>
            <a:ext cx="107061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Closing this gap requires a unified data and AI platform with phased adoption — achievable in 9 months.</a:t>
            </a:r>
          </a:p>
        </p:txBody>
      </p:sp>
      <p:sp>
        <p:nvSpPr>
          <p:cNvPr id="4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