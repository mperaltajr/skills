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Slide Lab through the 7S lens — Shared Values anchor the rest.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838200"/>
            <a:ext cx="9829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Six elements orbit one center. When Shared Values drift, every other S has to compensate — and the network frays.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0668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885825" y="1905000"/>
            <a:ext cx="4762500" cy="3810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canvas-placeholder"/>
          <p:cNvSpPr txBox="1"/>
          <p:nvPr/>
        </p:nvSpPr>
        <p:spPr>
          <a:xfrm>
            <a:off x="885825" y="1905000"/>
            <a:ext cx="4762500" cy="3810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[ 7S DIAGRAM — Shared Values center, 6 outer Ss ]</a:t>
            </a:r>
          </a:p>
        </p:txBody>
      </p:sp>
      <p:sp>
        <p:nvSpPr>
          <p:cNvPr id="7" name="legend-title"/>
          <p:cNvSpPr txBox="1"/>
          <p:nvPr/>
        </p:nvSpPr>
        <p:spPr>
          <a:xfrm>
            <a:off x="6267450" y="1943100"/>
            <a:ext cx="5314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THE 7 S'S — SLIDE LAB TODAY</a:t>
            </a:r>
          </a:p>
        </p:txBody>
      </p:sp>
      <p:sp>
        <p:nvSpPr>
          <p:cNvPr id="8" name="legend-title-rule"/>
          <p:cNvSpPr/>
          <p:nvPr/>
        </p:nvSpPr>
        <p:spPr>
          <a:xfrm>
            <a:off x="6267450" y="2152650"/>
            <a:ext cx="5314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1-name"/>
          <p:cNvSpPr txBox="1"/>
          <p:nvPr/>
        </p:nvSpPr>
        <p:spPr>
          <a:xfrm>
            <a:off x="6267450" y="2286000"/>
            <a:ext cx="819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Shared Values</a:t>
            </a:r>
          </a:p>
        </p:txBody>
      </p:sp>
      <p:sp>
        <p:nvSpPr>
          <p:cNvPr id="10" name="legend-1-desc"/>
          <p:cNvSpPr txBox="1"/>
          <p:nvPr/>
        </p:nvSpPr>
        <p:spPr>
          <a:xfrm>
            <a:off x="7105650" y="2286000"/>
            <a:ext cx="38671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Render real artifacts; never fake the QC.</a:t>
            </a:r>
          </a:p>
        </p:txBody>
      </p:sp>
      <p:sp>
        <p:nvSpPr>
          <p:cNvPr id="11" name="legend-1-status"/>
          <p:cNvSpPr txBox="1"/>
          <p:nvPr/>
        </p:nvSpPr>
        <p:spPr>
          <a:xfrm>
            <a:off x="11010900" y="2286000"/>
            <a:ext cx="552450" cy="171450"/>
          </a:xfrm>
          <a:prstGeom prst="rect">
            <a:avLst/>
          </a:prstGeom>
          <a:solidFill>
            <a:srgbClr val="E6F6E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E7A37"/>
                </a:solidFill>
                <a:latin typeface="Inter"/>
              </a:rPr>
              <a:t>STRONG</a:t>
            </a:r>
          </a:p>
        </p:txBody>
      </p:sp>
      <p:sp>
        <p:nvSpPr>
          <p:cNvPr id="12" name="legend-1-rule"/>
          <p:cNvSpPr/>
          <p:nvPr/>
        </p:nvSpPr>
        <p:spPr>
          <a:xfrm>
            <a:off x="6267450" y="2695575"/>
            <a:ext cx="5314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egend-2-name"/>
          <p:cNvSpPr txBox="1"/>
          <p:nvPr/>
        </p:nvSpPr>
        <p:spPr>
          <a:xfrm>
            <a:off x="6267450" y="2743200"/>
            <a:ext cx="819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Strategy</a:t>
            </a:r>
          </a:p>
        </p:txBody>
      </p:sp>
      <p:sp>
        <p:nvSpPr>
          <p:cNvPr id="14" name="legend-2-desc"/>
          <p:cNvSpPr txBox="1"/>
          <p:nvPr/>
        </p:nvSpPr>
        <p:spPr>
          <a:xfrm>
            <a:off x="7105650" y="2743200"/>
            <a:ext cx="38671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Coach the consultant, then build the deck.</a:t>
            </a:r>
          </a:p>
        </p:txBody>
      </p:sp>
      <p:sp>
        <p:nvSpPr>
          <p:cNvPr id="15" name="legend-2-status"/>
          <p:cNvSpPr txBox="1"/>
          <p:nvPr/>
        </p:nvSpPr>
        <p:spPr>
          <a:xfrm>
            <a:off x="11010900" y="2743200"/>
            <a:ext cx="552450" cy="171450"/>
          </a:xfrm>
          <a:prstGeom prst="rect">
            <a:avLst/>
          </a:prstGeom>
          <a:solidFill>
            <a:srgbClr val="E6F6E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E7A37"/>
                </a:solidFill>
                <a:latin typeface="Inter"/>
              </a:rPr>
              <a:t>STRONG</a:t>
            </a:r>
          </a:p>
        </p:txBody>
      </p:sp>
      <p:sp>
        <p:nvSpPr>
          <p:cNvPr id="16" name="legend-2-rule"/>
          <p:cNvSpPr/>
          <p:nvPr/>
        </p:nvSpPr>
        <p:spPr>
          <a:xfrm>
            <a:off x="6267450" y="3152775"/>
            <a:ext cx="5314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legend-3-name"/>
          <p:cNvSpPr txBox="1"/>
          <p:nvPr/>
        </p:nvSpPr>
        <p:spPr>
          <a:xfrm>
            <a:off x="6267450" y="3200400"/>
            <a:ext cx="819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Structure</a:t>
            </a:r>
          </a:p>
        </p:txBody>
      </p:sp>
      <p:sp>
        <p:nvSpPr>
          <p:cNvPr id="18" name="legend-3-desc"/>
          <p:cNvSpPr txBox="1"/>
          <p:nvPr/>
        </p:nvSpPr>
        <p:spPr>
          <a:xfrm>
            <a:off x="7105650" y="3200400"/>
            <a:ext cx="38671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Skills + skeleton library + QC reviewer.</a:t>
            </a:r>
          </a:p>
        </p:txBody>
      </p:sp>
      <p:sp>
        <p:nvSpPr>
          <p:cNvPr id="19" name="legend-3-status"/>
          <p:cNvSpPr txBox="1"/>
          <p:nvPr/>
        </p:nvSpPr>
        <p:spPr>
          <a:xfrm>
            <a:off x="11010900" y="3200400"/>
            <a:ext cx="552450" cy="17145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A5A00"/>
                </a:solidFill>
                <a:latin typeface="Inter"/>
              </a:rPr>
              <a:t>BUILDING</a:t>
            </a:r>
          </a:p>
        </p:txBody>
      </p:sp>
      <p:sp>
        <p:nvSpPr>
          <p:cNvPr id="20" name="legend-3-rule"/>
          <p:cNvSpPr/>
          <p:nvPr/>
        </p:nvSpPr>
        <p:spPr>
          <a:xfrm>
            <a:off x="6267450" y="3609975"/>
            <a:ext cx="5314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legend-4-name"/>
          <p:cNvSpPr txBox="1"/>
          <p:nvPr/>
        </p:nvSpPr>
        <p:spPr>
          <a:xfrm>
            <a:off x="6267450" y="3657600"/>
            <a:ext cx="819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Systems</a:t>
            </a:r>
          </a:p>
        </p:txBody>
      </p:sp>
      <p:sp>
        <p:nvSpPr>
          <p:cNvPr id="22" name="legend-4-desc"/>
          <p:cNvSpPr txBox="1"/>
          <p:nvPr/>
        </p:nvSpPr>
        <p:spPr>
          <a:xfrm>
            <a:off x="7105650" y="3657600"/>
            <a:ext cx="38671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Token fill, COM render, vision QC loop.</a:t>
            </a:r>
          </a:p>
        </p:txBody>
      </p:sp>
      <p:sp>
        <p:nvSpPr>
          <p:cNvPr id="23" name="legend-4-status"/>
          <p:cNvSpPr txBox="1"/>
          <p:nvPr/>
        </p:nvSpPr>
        <p:spPr>
          <a:xfrm>
            <a:off x="11010900" y="3657600"/>
            <a:ext cx="552450" cy="17145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A5A00"/>
                </a:solidFill>
                <a:latin typeface="Inter"/>
              </a:rPr>
              <a:t>BUILDING</a:t>
            </a:r>
          </a:p>
        </p:txBody>
      </p:sp>
      <p:sp>
        <p:nvSpPr>
          <p:cNvPr id="24" name="legend-4-rule"/>
          <p:cNvSpPr/>
          <p:nvPr/>
        </p:nvSpPr>
        <p:spPr>
          <a:xfrm>
            <a:off x="6267450" y="4067175"/>
            <a:ext cx="5314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legend-5-name"/>
          <p:cNvSpPr txBox="1"/>
          <p:nvPr/>
        </p:nvSpPr>
        <p:spPr>
          <a:xfrm>
            <a:off x="6267450" y="4114800"/>
            <a:ext cx="819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Skills</a:t>
            </a:r>
          </a:p>
        </p:txBody>
      </p:sp>
      <p:sp>
        <p:nvSpPr>
          <p:cNvPr id="26" name="legend-5-desc"/>
          <p:cNvSpPr txBox="1"/>
          <p:nvPr/>
        </p:nvSpPr>
        <p:spPr>
          <a:xfrm>
            <a:off x="7105650" y="4114800"/>
            <a:ext cx="38671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Pattern matching, narrative coaching, viz.</a:t>
            </a:r>
          </a:p>
        </p:txBody>
      </p:sp>
      <p:sp>
        <p:nvSpPr>
          <p:cNvPr id="27" name="legend-5-status"/>
          <p:cNvSpPr txBox="1"/>
          <p:nvPr/>
        </p:nvSpPr>
        <p:spPr>
          <a:xfrm>
            <a:off x="11010900" y="4114800"/>
            <a:ext cx="552450" cy="171450"/>
          </a:xfrm>
          <a:prstGeom prst="rect">
            <a:avLst/>
          </a:prstGeom>
          <a:solidFill>
            <a:srgbClr val="E6F6EC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0E7A37"/>
                </a:solidFill>
                <a:latin typeface="Inter"/>
              </a:rPr>
              <a:t>STRONG</a:t>
            </a:r>
          </a:p>
        </p:txBody>
      </p:sp>
      <p:sp>
        <p:nvSpPr>
          <p:cNvPr id="28" name="legend-5-rule"/>
          <p:cNvSpPr/>
          <p:nvPr/>
        </p:nvSpPr>
        <p:spPr>
          <a:xfrm>
            <a:off x="6267450" y="4524375"/>
            <a:ext cx="5314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legend-6-name"/>
          <p:cNvSpPr txBox="1"/>
          <p:nvPr/>
        </p:nvSpPr>
        <p:spPr>
          <a:xfrm>
            <a:off x="6267450" y="4572000"/>
            <a:ext cx="819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Staff</a:t>
            </a:r>
          </a:p>
        </p:txBody>
      </p:sp>
      <p:sp>
        <p:nvSpPr>
          <p:cNvPr id="30" name="legend-6-desc"/>
          <p:cNvSpPr txBox="1"/>
          <p:nvPr/>
        </p:nvSpPr>
        <p:spPr>
          <a:xfrm>
            <a:off x="7105650" y="4572000"/>
            <a:ext cx="38671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One consultant + Claude as co-pilot.</a:t>
            </a:r>
          </a:p>
        </p:txBody>
      </p:sp>
      <p:sp>
        <p:nvSpPr>
          <p:cNvPr id="31" name="legend-6-status"/>
          <p:cNvSpPr txBox="1"/>
          <p:nvPr/>
        </p:nvSpPr>
        <p:spPr>
          <a:xfrm>
            <a:off x="11010900" y="4572000"/>
            <a:ext cx="552450" cy="171450"/>
          </a:xfrm>
          <a:prstGeom prst="rect">
            <a:avLst/>
          </a:prstGeom>
          <a:solidFill>
            <a:srgbClr val="FFF4D6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A5A00"/>
                </a:solidFill>
                <a:latin typeface="Inter"/>
              </a:rPr>
              <a:t>BUILDING</a:t>
            </a:r>
          </a:p>
        </p:txBody>
      </p:sp>
      <p:sp>
        <p:nvSpPr>
          <p:cNvPr id="32" name="legend-6-rule"/>
          <p:cNvSpPr/>
          <p:nvPr/>
        </p:nvSpPr>
        <p:spPr>
          <a:xfrm>
            <a:off x="6267450" y="4981575"/>
            <a:ext cx="53149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legend-7-name"/>
          <p:cNvSpPr txBox="1"/>
          <p:nvPr/>
        </p:nvSpPr>
        <p:spPr>
          <a:xfrm>
            <a:off x="6267450" y="5029200"/>
            <a:ext cx="8191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Style</a:t>
            </a:r>
          </a:p>
        </p:txBody>
      </p:sp>
      <p:sp>
        <p:nvSpPr>
          <p:cNvPr id="34" name="legend-7-desc"/>
          <p:cNvSpPr txBox="1"/>
          <p:nvPr/>
        </p:nvSpPr>
        <p:spPr>
          <a:xfrm>
            <a:off x="7105650" y="5029200"/>
            <a:ext cx="386715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Blunt, direct, show before tell.</a:t>
            </a:r>
          </a:p>
        </p:txBody>
      </p:sp>
      <p:sp>
        <p:nvSpPr>
          <p:cNvPr id="35" name="legend-7-status"/>
          <p:cNvSpPr txBox="1"/>
          <p:nvPr/>
        </p:nvSpPr>
        <p:spPr>
          <a:xfrm>
            <a:off x="11010900" y="5029200"/>
            <a:ext cx="552450" cy="17145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42121"/>
                </a:solidFill>
                <a:latin typeface="Inter"/>
              </a:rPr>
              <a:t>DRIFTS</a:t>
            </a:r>
          </a:p>
        </p:txBody>
      </p:sp>
      <p:sp>
        <p:nvSpPr>
          <p:cNvPr id="36" name="convergence-bg"/>
          <p:cNvSpPr/>
          <p:nvPr/>
        </p:nvSpPr>
        <p:spPr>
          <a:xfrm>
            <a:off x="609600" y="57912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onvergence"/>
          <p:cNvSpPr txBox="1"/>
          <p:nvPr/>
        </p:nvSpPr>
        <p:spPr>
          <a:xfrm>
            <a:off x="609600" y="57912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Move any outer S and the spokes pull — but move Shared Values and the whole network reshapes.</a:t>
            </a:r>
          </a:p>
        </p:txBody>
      </p:sp>
      <p:sp>
        <p:nvSpPr>
          <p:cNvPr id="3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