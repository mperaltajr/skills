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D0A4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112776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1800" b="1" i="0">
                <a:solidFill>
                  <a:srgbClr val="FFFFFF"/>
                </a:solidFill>
                <a:latin typeface="Inter"/>
              </a:rPr>
              <a:t>Two paths to </a:t>
            </a:r>
            <a:r>
              <a:rPr sz="1800" b="1" i="0">
                <a:solidFill>
                  <a:srgbClr val="C780FF"/>
                </a:solidFill>
                <a:latin typeface="Inter"/>
              </a:rPr>
              <a:t>accelerated value</a:t>
            </a:r>
          </a:p>
        </p:txBody>
      </p:sp>
      <p:sp>
        <p:nvSpPr>
          <p:cNvPr id="3" name="subhead"/>
          <p:cNvSpPr txBox="1"/>
          <p:nvPr/>
        </p:nvSpPr>
        <p:spPr>
          <a:xfrm>
            <a:off x="457200" y="1028700"/>
            <a:ext cx="112776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C7B8DD"/>
                </a:solidFill>
                <a:latin typeface="Inter"/>
              </a:rPr>
              <a:t>Side-by-side comparison of strategic options across the transformation horizon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257300"/>
            <a:ext cx="762000" cy="2857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bucket-1-bg"/>
          <p:cNvSpPr/>
          <p:nvPr/>
        </p:nvSpPr>
        <p:spPr>
          <a:xfrm>
            <a:off x="457200" y="2095500"/>
            <a:ext cx="5638800" cy="4267200"/>
          </a:xfrm>
          <a:prstGeom prst="rect">
            <a:avLst/>
          </a:prstGeom>
          <a:solidFill>
            <a:srgbClr val="3C1F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bucket-1-top"/>
          <p:cNvSpPr/>
          <p:nvPr/>
        </p:nvSpPr>
        <p:spPr>
          <a:xfrm>
            <a:off x="457200" y="2095500"/>
            <a:ext cx="56388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bucket-1-label"/>
          <p:cNvSpPr txBox="1"/>
          <p:nvPr/>
        </p:nvSpPr>
        <p:spPr>
          <a:xfrm>
            <a:off x="723900" y="2286000"/>
            <a:ext cx="510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BUCKET 1</a:t>
            </a:r>
          </a:p>
        </p:txBody>
      </p:sp>
      <p:sp>
        <p:nvSpPr>
          <p:cNvPr id="8" name="bucket-1-heading"/>
          <p:cNvSpPr txBox="1"/>
          <p:nvPr/>
        </p:nvSpPr>
        <p:spPr>
          <a:xfrm>
            <a:off x="723900" y="2514600"/>
            <a:ext cx="51054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Operational
Excellence</a:t>
            </a:r>
          </a:p>
        </p:txBody>
      </p:sp>
      <p:sp>
        <p:nvSpPr>
          <p:cNvPr id="9" name="bucket-1-dash-1"/>
          <p:cNvSpPr/>
          <p:nvPr/>
        </p:nvSpPr>
        <p:spPr>
          <a:xfrm>
            <a:off x="723900" y="340995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0" name="bucket-1-bullet-1"/>
          <p:cNvSpPr txBox="1"/>
          <p:nvPr/>
        </p:nvSpPr>
        <p:spPr>
          <a:xfrm>
            <a:off x="857250" y="33337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Streamline core delivery processes end-to-end</a:t>
            </a:r>
          </a:p>
        </p:txBody>
      </p:sp>
      <p:sp>
        <p:nvSpPr>
          <p:cNvPr id="11" name="bucket-1-dash-2"/>
          <p:cNvSpPr/>
          <p:nvPr/>
        </p:nvSpPr>
        <p:spPr>
          <a:xfrm>
            <a:off x="723900" y="381000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2" name="bucket-1-bullet-2"/>
          <p:cNvSpPr txBox="1"/>
          <p:nvPr/>
        </p:nvSpPr>
        <p:spPr>
          <a:xfrm>
            <a:off x="857250" y="373380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Automate high-volume, low-judgment workflows</a:t>
            </a:r>
          </a:p>
        </p:txBody>
      </p:sp>
      <p:sp>
        <p:nvSpPr>
          <p:cNvPr id="13" name="bucket-1-dash-3"/>
          <p:cNvSpPr/>
          <p:nvPr/>
        </p:nvSpPr>
        <p:spPr>
          <a:xfrm>
            <a:off x="723900" y="421005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bucket-1-bullet-3"/>
          <p:cNvSpPr txBox="1"/>
          <p:nvPr/>
        </p:nvSpPr>
        <p:spPr>
          <a:xfrm>
            <a:off x="857250" y="41338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Reduce cycle time across handoff points</a:t>
            </a:r>
          </a:p>
        </p:txBody>
      </p:sp>
      <p:sp>
        <p:nvSpPr>
          <p:cNvPr id="15" name="bucket-1-dash-4"/>
          <p:cNvSpPr/>
          <p:nvPr/>
        </p:nvSpPr>
        <p:spPr>
          <a:xfrm>
            <a:off x="723900" y="461010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6" name="bucket-1-bullet-4"/>
          <p:cNvSpPr txBox="1"/>
          <p:nvPr/>
        </p:nvSpPr>
        <p:spPr>
          <a:xfrm>
            <a:off x="857250" y="453390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Establish real-time performance visibility</a:t>
            </a:r>
          </a:p>
        </p:txBody>
      </p:sp>
      <p:sp>
        <p:nvSpPr>
          <p:cNvPr id="18" name="bucket-1-stat-value"/>
          <p:cNvSpPr txBox="1"/>
          <p:nvPr/>
        </p:nvSpPr>
        <p:spPr>
          <a:xfrm>
            <a:off x="723900" y="5657850"/>
            <a:ext cx="51054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↓38%</a:t>
            </a:r>
          </a:p>
        </p:txBody>
      </p:sp>
      <p:sp>
        <p:nvSpPr>
          <p:cNvPr id="19" name="bucket-1-stat-label"/>
          <p:cNvSpPr txBox="1"/>
          <p:nvPr/>
        </p:nvSpPr>
        <p:spPr>
          <a:xfrm>
            <a:off x="723900" y="6076950"/>
            <a:ext cx="5105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COST REDUCTION POTENTIAL</a:t>
            </a:r>
          </a:p>
        </p:txBody>
      </p:sp>
      <p:sp>
        <p:nvSpPr>
          <p:cNvPr id="20" name="bucket-2-bg"/>
          <p:cNvSpPr/>
          <p:nvPr/>
        </p:nvSpPr>
        <p:spPr>
          <a:xfrm>
            <a:off x="6096000" y="2095500"/>
            <a:ext cx="5638800" cy="4267200"/>
          </a:xfrm>
          <a:prstGeom prst="rect">
            <a:avLst/>
          </a:prstGeom>
          <a:solidFill>
            <a:srgbClr val="4224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bucket-2-top"/>
          <p:cNvSpPr/>
          <p:nvPr/>
        </p:nvSpPr>
        <p:spPr>
          <a:xfrm>
            <a:off x="6096000" y="2095500"/>
            <a:ext cx="56388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bucket-2-label"/>
          <p:cNvSpPr txBox="1"/>
          <p:nvPr/>
        </p:nvSpPr>
        <p:spPr>
          <a:xfrm>
            <a:off x="6362700" y="2286000"/>
            <a:ext cx="51054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BUCKET 2</a:t>
            </a:r>
          </a:p>
        </p:txBody>
      </p:sp>
      <p:sp>
        <p:nvSpPr>
          <p:cNvPr id="23" name="bucket-2-heading"/>
          <p:cNvSpPr txBox="1"/>
          <p:nvPr/>
        </p:nvSpPr>
        <p:spPr>
          <a:xfrm>
            <a:off x="6362700" y="2514600"/>
            <a:ext cx="5105400" cy="6667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650" b="1" i="0">
                <a:solidFill>
                  <a:srgbClr val="FFFFFF"/>
                </a:solidFill>
                <a:latin typeface="Inter"/>
              </a:rPr>
              <a:t>Growth
Acceleration</a:t>
            </a:r>
          </a:p>
        </p:txBody>
      </p:sp>
      <p:sp>
        <p:nvSpPr>
          <p:cNvPr id="24" name="bucket-2-dash-1"/>
          <p:cNvSpPr/>
          <p:nvPr/>
        </p:nvSpPr>
        <p:spPr>
          <a:xfrm>
            <a:off x="6362700" y="340995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bucket-2-bullet-1"/>
          <p:cNvSpPr txBox="1"/>
          <p:nvPr/>
        </p:nvSpPr>
        <p:spPr>
          <a:xfrm>
            <a:off x="6496050" y="33337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Expand addressable markets through digital channels</a:t>
            </a:r>
          </a:p>
        </p:txBody>
      </p:sp>
      <p:sp>
        <p:nvSpPr>
          <p:cNvPr id="26" name="bucket-2-dash-2"/>
          <p:cNvSpPr/>
          <p:nvPr/>
        </p:nvSpPr>
        <p:spPr>
          <a:xfrm>
            <a:off x="6362700" y="381000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7" name="bucket-2-bullet-2"/>
          <p:cNvSpPr txBox="1"/>
          <p:nvPr/>
        </p:nvSpPr>
        <p:spPr>
          <a:xfrm>
            <a:off x="6496050" y="373380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Unlock new revenue streams via platform plays</a:t>
            </a:r>
          </a:p>
        </p:txBody>
      </p:sp>
      <p:sp>
        <p:nvSpPr>
          <p:cNvPr id="28" name="bucket-2-dash-3"/>
          <p:cNvSpPr/>
          <p:nvPr/>
        </p:nvSpPr>
        <p:spPr>
          <a:xfrm>
            <a:off x="6362700" y="421005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bucket-2-bullet-3"/>
          <p:cNvSpPr txBox="1"/>
          <p:nvPr/>
        </p:nvSpPr>
        <p:spPr>
          <a:xfrm>
            <a:off x="6496050" y="413385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Shorten time-to-market for priority offerings</a:t>
            </a:r>
          </a:p>
        </p:txBody>
      </p:sp>
      <p:sp>
        <p:nvSpPr>
          <p:cNvPr id="30" name="bucket-2-dash-4"/>
          <p:cNvSpPr/>
          <p:nvPr/>
        </p:nvSpPr>
        <p:spPr>
          <a:xfrm>
            <a:off x="6362700" y="4610100"/>
            <a:ext cx="57150" cy="9525"/>
          </a:xfrm>
          <a:prstGeom prst="rect">
            <a:avLst/>
          </a:prstGeom>
          <a:solidFill>
            <a:srgbClr val="C78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bucket-2-bullet-4"/>
          <p:cNvSpPr txBox="1"/>
          <p:nvPr/>
        </p:nvSpPr>
        <p:spPr>
          <a:xfrm>
            <a:off x="6496050" y="4533900"/>
            <a:ext cx="4972050" cy="4191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C7B8DD"/>
                </a:solidFill>
                <a:latin typeface="Inter"/>
              </a:rPr>
              <a:t>Deepen client relationships with data-led insights</a:t>
            </a:r>
          </a:p>
        </p:txBody>
      </p:sp>
      <p:sp>
        <p:nvSpPr>
          <p:cNvPr id="33" name="bucket-2-stat-value"/>
          <p:cNvSpPr txBox="1"/>
          <p:nvPr/>
        </p:nvSpPr>
        <p:spPr>
          <a:xfrm>
            <a:off x="6362700" y="5657850"/>
            <a:ext cx="51054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250" b="1" i="0">
                <a:solidFill>
                  <a:srgbClr val="C780FF"/>
                </a:solidFill>
                <a:latin typeface="Inter"/>
              </a:rPr>
              <a:t>+2.4×</a:t>
            </a:r>
          </a:p>
        </p:txBody>
      </p:sp>
      <p:sp>
        <p:nvSpPr>
          <p:cNvPr id="34" name="bucket-2-stat-label"/>
          <p:cNvSpPr txBox="1"/>
          <p:nvPr/>
        </p:nvSpPr>
        <p:spPr>
          <a:xfrm>
            <a:off x="6362700" y="6076950"/>
            <a:ext cx="51054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REVENUE GROWTH MULTIPLIER</a:t>
            </a:r>
          </a:p>
        </p:txBody>
      </p:sp>
      <p:sp>
        <p:nvSpPr>
          <p:cNvPr id="35" name="bucket-divider"/>
          <p:cNvSpPr/>
          <p:nvPr/>
        </p:nvSpPr>
        <p:spPr>
          <a:xfrm>
            <a:off x="6096000" y="2190750"/>
            <a:ext cx="9525" cy="4076700"/>
          </a:xfrm>
          <a:prstGeom prst="rect">
            <a:avLst/>
          </a:prstGeom>
          <a:solidFill>
            <a:srgbClr val="553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C88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C88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C88B8"/>
                </a:solidFill>
                <a:latin typeface="Inter"/>
              </a:rPr>
              <a:t>315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