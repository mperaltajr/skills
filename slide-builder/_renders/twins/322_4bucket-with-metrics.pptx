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Program health at a glance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four critical dimensions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KPI snapshot with supporting evidence by workstream · as of May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kpi-1-tile"/>
          <p:cNvSpPr/>
          <p:nvPr/>
        </p:nvSpPr>
        <p:spPr>
          <a:xfrm>
            <a:off x="457200" y="1905000"/>
            <a:ext cx="2733675" cy="914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kpi-1-accent"/>
          <p:cNvSpPr/>
          <p:nvPr/>
        </p:nvSpPr>
        <p:spPr>
          <a:xfrm>
            <a:off x="457200" y="1905000"/>
            <a:ext cx="28575" cy="914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kpi-1-name"/>
          <p:cNvSpPr txBox="1"/>
          <p:nvPr/>
        </p:nvSpPr>
        <p:spPr>
          <a:xfrm>
            <a:off x="609600" y="2019300"/>
            <a:ext cx="2428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DELIVERY VELOCITY</a:t>
            </a:r>
          </a:p>
        </p:txBody>
      </p:sp>
      <p:sp>
        <p:nvSpPr>
          <p:cNvPr id="8" name="kpi-1-value"/>
          <p:cNvSpPr txBox="1"/>
          <p:nvPr/>
        </p:nvSpPr>
        <p:spPr>
          <a:xfrm>
            <a:off x="609600" y="2190750"/>
            <a:ext cx="24288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94%</a:t>
            </a:r>
          </a:p>
        </p:txBody>
      </p:sp>
      <p:sp>
        <p:nvSpPr>
          <p:cNvPr id="9" name="kpi-1-delta"/>
          <p:cNvSpPr txBox="1"/>
          <p:nvPr/>
        </p:nvSpPr>
        <p:spPr>
          <a:xfrm>
            <a:off x="609600" y="2609850"/>
            <a:ext cx="24288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▲ 6pp vs. prior period</a:t>
            </a:r>
          </a:p>
        </p:txBody>
      </p:sp>
      <p:sp>
        <p:nvSpPr>
          <p:cNvPr id="10" name="kpi-2-tile"/>
          <p:cNvSpPr/>
          <p:nvPr/>
        </p:nvSpPr>
        <p:spPr>
          <a:xfrm>
            <a:off x="3305175" y="1905000"/>
            <a:ext cx="2733675" cy="914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kpi-2-accent"/>
          <p:cNvSpPr/>
          <p:nvPr/>
        </p:nvSpPr>
        <p:spPr>
          <a:xfrm>
            <a:off x="3305175" y="1905000"/>
            <a:ext cx="28575" cy="914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kpi-2-name"/>
          <p:cNvSpPr txBox="1"/>
          <p:nvPr/>
        </p:nvSpPr>
        <p:spPr>
          <a:xfrm>
            <a:off x="3457575" y="2019300"/>
            <a:ext cx="2428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BUDGET UTILISATION</a:t>
            </a:r>
          </a:p>
        </p:txBody>
      </p:sp>
      <p:sp>
        <p:nvSpPr>
          <p:cNvPr id="13" name="kpi-2-value"/>
          <p:cNvSpPr txBox="1"/>
          <p:nvPr/>
        </p:nvSpPr>
        <p:spPr>
          <a:xfrm>
            <a:off x="3457575" y="2190750"/>
            <a:ext cx="24288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$8.2M</a:t>
            </a:r>
          </a:p>
        </p:txBody>
      </p:sp>
      <p:sp>
        <p:nvSpPr>
          <p:cNvPr id="14" name="kpi-2-delta"/>
          <p:cNvSpPr txBox="1"/>
          <p:nvPr/>
        </p:nvSpPr>
        <p:spPr>
          <a:xfrm>
            <a:off x="3457575" y="2609850"/>
            <a:ext cx="24288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91C1C"/>
                </a:solidFill>
                <a:latin typeface="Inter"/>
              </a:rPr>
              <a:t>▼ $0.4M over forecast</a:t>
            </a:r>
          </a:p>
        </p:txBody>
      </p:sp>
      <p:sp>
        <p:nvSpPr>
          <p:cNvPr id="15" name="kpi-3-tile"/>
          <p:cNvSpPr/>
          <p:nvPr/>
        </p:nvSpPr>
        <p:spPr>
          <a:xfrm>
            <a:off x="6153150" y="1905000"/>
            <a:ext cx="2733675" cy="914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kpi-3-accent"/>
          <p:cNvSpPr/>
          <p:nvPr/>
        </p:nvSpPr>
        <p:spPr>
          <a:xfrm>
            <a:off x="6153150" y="1905000"/>
            <a:ext cx="28575" cy="914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kpi-3-name"/>
          <p:cNvSpPr txBox="1"/>
          <p:nvPr/>
        </p:nvSpPr>
        <p:spPr>
          <a:xfrm>
            <a:off x="6305550" y="2019300"/>
            <a:ext cx="2428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ADOPTION RATE</a:t>
            </a:r>
          </a:p>
        </p:txBody>
      </p:sp>
      <p:sp>
        <p:nvSpPr>
          <p:cNvPr id="18" name="kpi-3-value"/>
          <p:cNvSpPr txBox="1"/>
          <p:nvPr/>
        </p:nvSpPr>
        <p:spPr>
          <a:xfrm>
            <a:off x="6305550" y="2190750"/>
            <a:ext cx="24288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71%</a:t>
            </a:r>
          </a:p>
        </p:txBody>
      </p:sp>
      <p:sp>
        <p:nvSpPr>
          <p:cNvPr id="19" name="kpi-3-delta"/>
          <p:cNvSpPr txBox="1"/>
          <p:nvPr/>
        </p:nvSpPr>
        <p:spPr>
          <a:xfrm>
            <a:off x="6305550" y="2609850"/>
            <a:ext cx="24288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▲ 12pp month-on-month</a:t>
            </a:r>
          </a:p>
        </p:txBody>
      </p:sp>
      <p:sp>
        <p:nvSpPr>
          <p:cNvPr id="20" name="kpi-4-tile"/>
          <p:cNvSpPr/>
          <p:nvPr/>
        </p:nvSpPr>
        <p:spPr>
          <a:xfrm>
            <a:off x="9001125" y="1905000"/>
            <a:ext cx="2733675" cy="9144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kpi-4-accent"/>
          <p:cNvSpPr/>
          <p:nvPr/>
        </p:nvSpPr>
        <p:spPr>
          <a:xfrm>
            <a:off x="9001125" y="1905000"/>
            <a:ext cx="28575" cy="914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kpi-4-name"/>
          <p:cNvSpPr txBox="1"/>
          <p:nvPr/>
        </p:nvSpPr>
        <p:spPr>
          <a:xfrm>
            <a:off x="9153525" y="2019300"/>
            <a:ext cx="24288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RISK EXPOSURE</a:t>
            </a:r>
          </a:p>
        </p:txBody>
      </p:sp>
      <p:sp>
        <p:nvSpPr>
          <p:cNvPr id="23" name="kpi-4-value"/>
          <p:cNvSpPr txBox="1"/>
          <p:nvPr/>
        </p:nvSpPr>
        <p:spPr>
          <a:xfrm>
            <a:off x="9153525" y="2190750"/>
            <a:ext cx="24288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2D0A4E"/>
                </a:solidFill>
                <a:latin typeface="Inter"/>
              </a:rPr>
              <a:t>3</a:t>
            </a:r>
          </a:p>
        </p:txBody>
      </p:sp>
      <p:sp>
        <p:nvSpPr>
          <p:cNvPr id="24" name="kpi-4-delta"/>
          <p:cNvSpPr txBox="1"/>
          <p:nvPr/>
        </p:nvSpPr>
        <p:spPr>
          <a:xfrm>
            <a:off x="9153525" y="2609850"/>
            <a:ext cx="24288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91C1C"/>
                </a:solidFill>
                <a:latin typeface="Inter"/>
              </a:rPr>
              <a:t>▼ 2 open critical items</a:t>
            </a:r>
          </a:p>
        </p:txBody>
      </p:sp>
      <p:sp>
        <p:nvSpPr>
          <p:cNvPr id="25" name="col-1-card"/>
          <p:cNvSpPr/>
          <p:nvPr/>
        </p:nvSpPr>
        <p:spPr>
          <a:xfrm>
            <a:off x="457200" y="2952750"/>
            <a:ext cx="2733675" cy="34671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ol-1-label"/>
          <p:cNvSpPr txBox="1"/>
          <p:nvPr/>
        </p:nvSpPr>
        <p:spPr>
          <a:xfrm>
            <a:off x="590550" y="3067050"/>
            <a:ext cx="2466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DELIVERY</a:t>
            </a:r>
          </a:p>
        </p:txBody>
      </p:sp>
      <p:sp>
        <p:nvSpPr>
          <p:cNvPr id="27" name="col-1-bullet-1-dot"/>
          <p:cNvSpPr/>
          <p:nvPr/>
        </p:nvSpPr>
        <p:spPr>
          <a:xfrm>
            <a:off x="590550" y="33528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ol-1-bullet-1-text"/>
          <p:cNvSpPr txBox="1"/>
          <p:nvPr/>
        </p:nvSpPr>
        <p:spPr>
          <a:xfrm>
            <a:off x="685800" y="3295650"/>
            <a:ext cx="23717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Sprint 18 closed with zero carryover stories; velocity stable at 42 pts</a:t>
            </a:r>
          </a:p>
        </p:txBody>
      </p:sp>
      <p:sp>
        <p:nvSpPr>
          <p:cNvPr id="29" name="col-1-bullet-2-dot"/>
          <p:cNvSpPr/>
          <p:nvPr/>
        </p:nvSpPr>
        <p:spPr>
          <a:xfrm>
            <a:off x="590550" y="38290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l-1-bullet-2-text"/>
          <p:cNvSpPr txBox="1"/>
          <p:nvPr/>
        </p:nvSpPr>
        <p:spPr>
          <a:xfrm>
            <a:off x="685800" y="3771900"/>
            <a:ext cx="23717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CI/CD pipeline mean lead time reduced from 4.1 to 2.8 days this quarter</a:t>
            </a:r>
          </a:p>
        </p:txBody>
      </p:sp>
      <p:sp>
        <p:nvSpPr>
          <p:cNvPr id="31" name="col-1-bullet-3-dot"/>
          <p:cNvSpPr/>
          <p:nvPr/>
        </p:nvSpPr>
        <p:spPr>
          <a:xfrm>
            <a:off x="590550" y="43053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ol-1-bullet-3-text"/>
          <p:cNvSpPr txBox="1"/>
          <p:nvPr/>
        </p:nvSpPr>
        <p:spPr>
          <a:xfrm>
            <a:off x="685800" y="4248150"/>
            <a:ext cx="23717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UAT sign-off achieved for three of four modules ahead of schedule</a:t>
            </a:r>
          </a:p>
        </p:txBody>
      </p:sp>
      <p:sp>
        <p:nvSpPr>
          <p:cNvPr id="33" name="col-1-pill"/>
          <p:cNvSpPr/>
          <p:nvPr/>
        </p:nvSpPr>
        <p:spPr>
          <a:xfrm>
            <a:off x="590550" y="6096000"/>
            <a:ext cx="762000" cy="1905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ol-1-pill-text"/>
          <p:cNvSpPr txBox="1"/>
          <p:nvPr/>
        </p:nvSpPr>
        <p:spPr>
          <a:xfrm>
            <a:off x="590550" y="60960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On Track</a:t>
            </a:r>
          </a:p>
        </p:txBody>
      </p:sp>
      <p:sp>
        <p:nvSpPr>
          <p:cNvPr id="35" name="col-2-card"/>
          <p:cNvSpPr/>
          <p:nvPr/>
        </p:nvSpPr>
        <p:spPr>
          <a:xfrm>
            <a:off x="3305175" y="2952750"/>
            <a:ext cx="2733675" cy="34671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ol-2-label"/>
          <p:cNvSpPr txBox="1"/>
          <p:nvPr/>
        </p:nvSpPr>
        <p:spPr>
          <a:xfrm>
            <a:off x="3438525" y="3067050"/>
            <a:ext cx="2466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FINANCE</a:t>
            </a:r>
          </a:p>
        </p:txBody>
      </p:sp>
      <p:sp>
        <p:nvSpPr>
          <p:cNvPr id="37" name="col-2-bullet-1-dot"/>
          <p:cNvSpPr/>
          <p:nvPr/>
        </p:nvSpPr>
        <p:spPr>
          <a:xfrm>
            <a:off x="3438525" y="33528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ol-2-bullet-1-text"/>
          <p:cNvSpPr txBox="1"/>
          <p:nvPr/>
        </p:nvSpPr>
        <p:spPr>
          <a:xfrm>
            <a:off x="3533775" y="3295650"/>
            <a:ext cx="23717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Infrastructure overspend driven by unplanned DR environment provisioning</a:t>
            </a:r>
          </a:p>
        </p:txBody>
      </p:sp>
      <p:sp>
        <p:nvSpPr>
          <p:cNvPr id="39" name="col-2-bullet-2-dot"/>
          <p:cNvSpPr/>
          <p:nvPr/>
        </p:nvSpPr>
        <p:spPr>
          <a:xfrm>
            <a:off x="3438525" y="38290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ol-2-bullet-2-text"/>
          <p:cNvSpPr txBox="1"/>
          <p:nvPr/>
        </p:nvSpPr>
        <p:spPr>
          <a:xfrm>
            <a:off x="3533775" y="3771900"/>
            <a:ext cx="23717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Change request #CR-041 submitted to baseline; approval pending steering</a:t>
            </a:r>
          </a:p>
        </p:txBody>
      </p:sp>
      <p:sp>
        <p:nvSpPr>
          <p:cNvPr id="41" name="col-2-bullet-3-dot"/>
          <p:cNvSpPr/>
          <p:nvPr/>
        </p:nvSpPr>
        <p:spPr>
          <a:xfrm>
            <a:off x="3438525" y="43053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ol-2-bullet-3-text"/>
          <p:cNvSpPr txBox="1"/>
          <p:nvPr/>
        </p:nvSpPr>
        <p:spPr>
          <a:xfrm>
            <a:off x="3533775" y="4248150"/>
            <a:ext cx="23717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Remaining contingency buffer: $1.1M against $12M total programme budget</a:t>
            </a:r>
          </a:p>
        </p:txBody>
      </p:sp>
      <p:sp>
        <p:nvSpPr>
          <p:cNvPr id="43" name="col-2-pill"/>
          <p:cNvSpPr/>
          <p:nvPr/>
        </p:nvSpPr>
        <p:spPr>
          <a:xfrm>
            <a:off x="3438525" y="6096000"/>
            <a:ext cx="1228725" cy="19050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ol-2-pill-text"/>
          <p:cNvSpPr txBox="1"/>
          <p:nvPr/>
        </p:nvSpPr>
        <p:spPr>
          <a:xfrm>
            <a:off x="3438525" y="6096000"/>
            <a:ext cx="12287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6207"/>
                </a:solidFill>
                <a:latin typeface="Inter"/>
              </a:rPr>
              <a:t>Needs Attention</a:t>
            </a:r>
          </a:p>
        </p:txBody>
      </p:sp>
      <p:sp>
        <p:nvSpPr>
          <p:cNvPr id="45" name="col-3-card"/>
          <p:cNvSpPr/>
          <p:nvPr/>
        </p:nvSpPr>
        <p:spPr>
          <a:xfrm>
            <a:off x="6153150" y="2952750"/>
            <a:ext cx="2733675" cy="34671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l-3-label"/>
          <p:cNvSpPr txBox="1"/>
          <p:nvPr/>
        </p:nvSpPr>
        <p:spPr>
          <a:xfrm>
            <a:off x="6286500" y="3067050"/>
            <a:ext cx="2466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ADOPTION</a:t>
            </a:r>
          </a:p>
        </p:txBody>
      </p:sp>
      <p:sp>
        <p:nvSpPr>
          <p:cNvPr id="47" name="col-3-bullet-1-dot"/>
          <p:cNvSpPr/>
          <p:nvPr/>
        </p:nvSpPr>
        <p:spPr>
          <a:xfrm>
            <a:off x="6286500" y="33528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col-3-bullet-1-text"/>
          <p:cNvSpPr txBox="1"/>
          <p:nvPr/>
        </p:nvSpPr>
        <p:spPr>
          <a:xfrm>
            <a:off x="6381750" y="3295650"/>
            <a:ext cx="23717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Wave 2 rollout covers 1,800 end-users across EMEA and North America</a:t>
            </a:r>
          </a:p>
        </p:txBody>
      </p:sp>
      <p:sp>
        <p:nvSpPr>
          <p:cNvPr id="49" name="col-3-bullet-2-dot"/>
          <p:cNvSpPr/>
          <p:nvPr/>
        </p:nvSpPr>
        <p:spPr>
          <a:xfrm>
            <a:off x="6286500" y="38290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ol-3-bullet-2-text"/>
          <p:cNvSpPr txBox="1"/>
          <p:nvPr/>
        </p:nvSpPr>
        <p:spPr>
          <a:xfrm>
            <a:off x="6381750" y="3771900"/>
            <a:ext cx="23717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Hypercare desk resolving 87% of tickets within 4 business hours</a:t>
            </a:r>
          </a:p>
        </p:txBody>
      </p:sp>
      <p:sp>
        <p:nvSpPr>
          <p:cNvPr id="51" name="col-3-bullet-3-dot"/>
          <p:cNvSpPr/>
          <p:nvPr/>
        </p:nvSpPr>
        <p:spPr>
          <a:xfrm>
            <a:off x="6286500" y="43053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ol-3-bullet-3-text"/>
          <p:cNvSpPr txBox="1"/>
          <p:nvPr/>
        </p:nvSpPr>
        <p:spPr>
          <a:xfrm>
            <a:off x="6381750" y="4248150"/>
            <a:ext cx="23717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Targeted coaching sessions scheduled for three low-engagement cohorts</a:t>
            </a:r>
          </a:p>
        </p:txBody>
      </p:sp>
      <p:sp>
        <p:nvSpPr>
          <p:cNvPr id="53" name="col-3-pill"/>
          <p:cNvSpPr/>
          <p:nvPr/>
        </p:nvSpPr>
        <p:spPr>
          <a:xfrm>
            <a:off x="6286500" y="6096000"/>
            <a:ext cx="762000" cy="1905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ol-3-pill-text"/>
          <p:cNvSpPr txBox="1"/>
          <p:nvPr/>
        </p:nvSpPr>
        <p:spPr>
          <a:xfrm>
            <a:off x="6286500" y="6096000"/>
            <a:ext cx="76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5803D"/>
                </a:solidFill>
                <a:latin typeface="Inter"/>
              </a:rPr>
              <a:t>On Track</a:t>
            </a:r>
          </a:p>
        </p:txBody>
      </p:sp>
      <p:sp>
        <p:nvSpPr>
          <p:cNvPr id="55" name="col-4-card"/>
          <p:cNvSpPr/>
          <p:nvPr/>
        </p:nvSpPr>
        <p:spPr>
          <a:xfrm>
            <a:off x="9001125" y="2952750"/>
            <a:ext cx="2733675" cy="34671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col-4-label"/>
          <p:cNvSpPr txBox="1"/>
          <p:nvPr/>
        </p:nvSpPr>
        <p:spPr>
          <a:xfrm>
            <a:off x="9134475" y="3067050"/>
            <a:ext cx="24669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RISK &amp; ISSUES</a:t>
            </a:r>
          </a:p>
        </p:txBody>
      </p:sp>
      <p:sp>
        <p:nvSpPr>
          <p:cNvPr id="57" name="col-4-bullet-1-dot"/>
          <p:cNvSpPr/>
          <p:nvPr/>
        </p:nvSpPr>
        <p:spPr>
          <a:xfrm>
            <a:off x="9134475" y="33528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ol-4-bullet-1-text"/>
          <p:cNvSpPr txBox="1"/>
          <p:nvPr/>
        </p:nvSpPr>
        <p:spPr>
          <a:xfrm>
            <a:off x="9229725" y="3295650"/>
            <a:ext cx="23717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Integration dependency on legacy ERP API remains unresolved — owner: TechOps</a:t>
            </a:r>
          </a:p>
        </p:txBody>
      </p:sp>
      <p:sp>
        <p:nvSpPr>
          <p:cNvPr id="59" name="col-4-bullet-2-dot"/>
          <p:cNvSpPr/>
          <p:nvPr/>
        </p:nvSpPr>
        <p:spPr>
          <a:xfrm>
            <a:off x="9134475" y="382905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col-4-bullet-2-text"/>
          <p:cNvSpPr txBox="1"/>
          <p:nvPr/>
        </p:nvSpPr>
        <p:spPr>
          <a:xfrm>
            <a:off x="9229725" y="3771900"/>
            <a:ext cx="23717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Data privacy review for EU region requested; DPO response due 30 May</a:t>
            </a:r>
          </a:p>
        </p:txBody>
      </p:sp>
      <p:sp>
        <p:nvSpPr>
          <p:cNvPr id="61" name="col-4-bullet-3-dot"/>
          <p:cNvSpPr/>
          <p:nvPr/>
        </p:nvSpPr>
        <p:spPr>
          <a:xfrm>
            <a:off x="9134475" y="43053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2" name="col-4-bullet-3-text"/>
          <p:cNvSpPr txBox="1"/>
          <p:nvPr/>
        </p:nvSpPr>
        <p:spPr>
          <a:xfrm>
            <a:off x="9229725" y="4248150"/>
            <a:ext cx="2371725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Vendor SLA breach escalated; penalty clause review underway with Legal</a:t>
            </a:r>
          </a:p>
        </p:txBody>
      </p:sp>
      <p:sp>
        <p:nvSpPr>
          <p:cNvPr id="63" name="col-4-pill"/>
          <p:cNvSpPr/>
          <p:nvPr/>
        </p:nvSpPr>
        <p:spPr>
          <a:xfrm>
            <a:off x="9134475" y="6096000"/>
            <a:ext cx="695325" cy="1905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col-4-pill-text"/>
          <p:cNvSpPr txBox="1"/>
          <p:nvPr/>
        </p:nvSpPr>
        <p:spPr>
          <a:xfrm>
            <a:off x="9134475" y="6096000"/>
            <a:ext cx="6953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B91C1C"/>
                </a:solidFill>
                <a:latin typeface="Inter"/>
              </a:rPr>
              <a:t>At Risk</a:t>
            </a:r>
          </a:p>
        </p:txBody>
      </p:sp>
      <p:sp>
        <p:nvSpPr>
          <p:cNvPr id="6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