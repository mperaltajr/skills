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STAKEHOLDER COMMUNICATION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A1A2E"/>
                </a:solidFill>
                <a:latin typeface="Inter"/>
              </a:rPr>
              <a:t>Communication plan — seven audiences, seven cadences.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8585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Each audience gets the message that matters to them, on a channel they actually read, at a rhythm that fits their decision cycle. One owner per row, no shared accountability.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5621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bg"/>
          <p:cNvSpPr/>
          <p:nvPr/>
        </p:nvSpPr>
        <p:spPr>
          <a:xfrm>
            <a:off x="7810500" y="2190750"/>
            <a:ext cx="4000500" cy="3810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7924800" y="2190750"/>
            <a:ext cx="800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AUDIENCE TYPE</a:t>
            </a:r>
          </a:p>
        </p:txBody>
      </p:sp>
      <p:sp>
        <p:nvSpPr>
          <p:cNvPr id="8" name="legend-badge-1"/>
          <p:cNvSpPr/>
          <p:nvPr/>
        </p:nvSpPr>
        <p:spPr>
          <a:xfrm>
            <a:off x="8801100" y="2295525"/>
            <a:ext cx="2095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badge-1-code"/>
          <p:cNvSpPr txBox="1"/>
          <p:nvPr/>
        </p:nvSpPr>
        <p:spPr>
          <a:xfrm>
            <a:off x="8801100" y="2295525"/>
            <a:ext cx="209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</a:t>
            </a:r>
          </a:p>
        </p:txBody>
      </p:sp>
      <p:sp>
        <p:nvSpPr>
          <p:cNvPr id="10" name="legend-badge-1-desc"/>
          <p:cNvSpPr txBox="1"/>
          <p:nvPr/>
        </p:nvSpPr>
        <p:spPr>
          <a:xfrm>
            <a:off x="9048750" y="2295525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Executive</a:t>
            </a:r>
          </a:p>
        </p:txBody>
      </p:sp>
      <p:sp>
        <p:nvSpPr>
          <p:cNvPr id="11" name="legend-badge-2"/>
          <p:cNvSpPr/>
          <p:nvPr/>
        </p:nvSpPr>
        <p:spPr>
          <a:xfrm>
            <a:off x="9829800" y="2295525"/>
            <a:ext cx="2095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badge-2-code"/>
          <p:cNvSpPr txBox="1"/>
          <p:nvPr/>
        </p:nvSpPr>
        <p:spPr>
          <a:xfrm>
            <a:off x="9829800" y="2295525"/>
            <a:ext cx="209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MG</a:t>
            </a:r>
          </a:p>
        </p:txBody>
      </p:sp>
      <p:sp>
        <p:nvSpPr>
          <p:cNvPr id="13" name="legend-badge-2-desc"/>
          <p:cNvSpPr txBox="1"/>
          <p:nvPr/>
        </p:nvSpPr>
        <p:spPr>
          <a:xfrm>
            <a:off x="10077450" y="2295525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Manager</a:t>
            </a:r>
          </a:p>
        </p:txBody>
      </p:sp>
      <p:sp>
        <p:nvSpPr>
          <p:cNvPr id="14" name="legend-badge-3"/>
          <p:cNvSpPr/>
          <p:nvPr/>
        </p:nvSpPr>
        <p:spPr>
          <a:xfrm>
            <a:off x="10858500" y="2295525"/>
            <a:ext cx="209550" cy="17145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egend-badge-3-code"/>
          <p:cNvSpPr txBox="1"/>
          <p:nvPr/>
        </p:nvSpPr>
        <p:spPr>
          <a:xfrm>
            <a:off x="10858500" y="2295525"/>
            <a:ext cx="209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IC</a:t>
            </a:r>
          </a:p>
        </p:txBody>
      </p:sp>
      <p:sp>
        <p:nvSpPr>
          <p:cNvPr id="16" name="legend-badge-3-desc"/>
          <p:cNvSpPr txBox="1"/>
          <p:nvPr/>
        </p:nvSpPr>
        <p:spPr>
          <a:xfrm>
            <a:off x="11106150" y="2295525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Individual</a:t>
            </a:r>
          </a:p>
        </p:txBody>
      </p:sp>
      <p:sp>
        <p:nvSpPr>
          <p:cNvPr id="17" name="table-header-bg"/>
          <p:cNvSpPr/>
          <p:nvPr/>
        </p:nvSpPr>
        <p:spPr>
          <a:xfrm>
            <a:off x="457200" y="2724150"/>
            <a:ext cx="112776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l-header-1"/>
          <p:cNvSpPr txBox="1"/>
          <p:nvPr/>
        </p:nvSpPr>
        <p:spPr>
          <a:xfrm>
            <a:off x="590550" y="272415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AUDIENCE</a:t>
            </a:r>
          </a:p>
        </p:txBody>
      </p:sp>
      <p:sp>
        <p:nvSpPr>
          <p:cNvPr id="19" name="col-header-2"/>
          <p:cNvSpPr txBox="1"/>
          <p:nvPr/>
        </p:nvSpPr>
        <p:spPr>
          <a:xfrm>
            <a:off x="3067050" y="2724150"/>
            <a:ext cx="26574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MESSAGE</a:t>
            </a:r>
          </a:p>
        </p:txBody>
      </p:sp>
      <p:sp>
        <p:nvSpPr>
          <p:cNvPr id="20" name="col-header-3"/>
          <p:cNvSpPr txBox="1"/>
          <p:nvPr/>
        </p:nvSpPr>
        <p:spPr>
          <a:xfrm>
            <a:off x="5991225" y="2724150"/>
            <a:ext cx="17621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CHANNEL</a:t>
            </a:r>
          </a:p>
        </p:txBody>
      </p:sp>
      <p:sp>
        <p:nvSpPr>
          <p:cNvPr id="21" name="col-header-4"/>
          <p:cNvSpPr txBox="1"/>
          <p:nvPr/>
        </p:nvSpPr>
        <p:spPr>
          <a:xfrm>
            <a:off x="8020050" y="2724150"/>
            <a:ext cx="1647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FREQUENCY</a:t>
            </a:r>
          </a:p>
        </p:txBody>
      </p:sp>
      <p:sp>
        <p:nvSpPr>
          <p:cNvPr id="22" name="col-header-5"/>
          <p:cNvSpPr txBox="1"/>
          <p:nvPr/>
        </p:nvSpPr>
        <p:spPr>
          <a:xfrm>
            <a:off x="9934575" y="2724150"/>
            <a:ext cx="1647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23" name="row-1-aud-bg"/>
          <p:cNvSpPr/>
          <p:nvPr/>
        </p:nvSpPr>
        <p:spPr>
          <a:xfrm>
            <a:off x="457200" y="306705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1-aud-rule"/>
          <p:cNvSpPr/>
          <p:nvPr/>
        </p:nvSpPr>
        <p:spPr>
          <a:xfrm>
            <a:off x="2914650" y="306705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ow-1-badge"/>
          <p:cNvSpPr/>
          <p:nvPr/>
        </p:nvSpPr>
        <p:spPr>
          <a:xfrm>
            <a:off x="571500" y="3143250"/>
            <a:ext cx="2476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1-badge-code"/>
          <p:cNvSpPr txBox="1"/>
          <p:nvPr/>
        </p:nvSpPr>
        <p:spPr>
          <a:xfrm>
            <a:off x="571500" y="31432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</a:t>
            </a:r>
          </a:p>
        </p:txBody>
      </p:sp>
      <p:sp>
        <p:nvSpPr>
          <p:cNvPr id="27" name="row-1-aud-name"/>
          <p:cNvSpPr txBox="1"/>
          <p:nvPr/>
        </p:nvSpPr>
        <p:spPr>
          <a:xfrm>
            <a:off x="914400" y="306705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Program MD</a:t>
            </a:r>
          </a:p>
        </p:txBody>
      </p:sp>
      <p:sp>
        <p:nvSpPr>
          <p:cNvPr id="28" name="row-1-rule"/>
          <p:cNvSpPr/>
          <p:nvPr/>
        </p:nvSpPr>
        <p:spPr>
          <a:xfrm>
            <a:off x="457200" y="30670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-1-cell-2"/>
          <p:cNvSpPr txBox="1"/>
          <p:nvPr/>
        </p:nvSpPr>
        <p:spPr>
          <a:xfrm>
            <a:off x="3067050" y="306705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Pilot progress &amp; risk escalations</a:t>
            </a:r>
          </a:p>
        </p:txBody>
      </p:sp>
      <p:sp>
        <p:nvSpPr>
          <p:cNvPr id="30" name="row-1-cell-3"/>
          <p:cNvSpPr txBox="1"/>
          <p:nvPr/>
        </p:nvSpPr>
        <p:spPr>
          <a:xfrm>
            <a:off x="5991225" y="306705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1:1 sync</a:t>
            </a:r>
          </a:p>
        </p:txBody>
      </p:sp>
      <p:sp>
        <p:nvSpPr>
          <p:cNvPr id="31" name="row-1-cell-4"/>
          <p:cNvSpPr txBox="1"/>
          <p:nvPr/>
        </p:nvSpPr>
        <p:spPr>
          <a:xfrm>
            <a:off x="8020050" y="30670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WEEKLY</a:t>
            </a:r>
          </a:p>
        </p:txBody>
      </p:sp>
      <p:sp>
        <p:nvSpPr>
          <p:cNvPr id="32" name="row-1-cell-5"/>
          <p:cNvSpPr txBox="1"/>
          <p:nvPr/>
        </p:nvSpPr>
        <p:spPr>
          <a:xfrm>
            <a:off x="9934575" y="30670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Mario</a:t>
            </a:r>
          </a:p>
        </p:txBody>
      </p:sp>
      <p:sp>
        <p:nvSpPr>
          <p:cNvPr id="33" name="row-1-vrule-1"/>
          <p:cNvSpPr/>
          <p:nvPr/>
        </p:nvSpPr>
        <p:spPr>
          <a:xfrm>
            <a:off x="2924175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ow-1-vrule-2"/>
          <p:cNvSpPr/>
          <p:nvPr/>
        </p:nvSpPr>
        <p:spPr>
          <a:xfrm>
            <a:off x="584835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1-vrule-3"/>
          <p:cNvSpPr/>
          <p:nvPr/>
        </p:nvSpPr>
        <p:spPr>
          <a:xfrm>
            <a:off x="7877175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-1-vrule-4"/>
          <p:cNvSpPr/>
          <p:nvPr/>
        </p:nvSpPr>
        <p:spPr>
          <a:xfrm>
            <a:off x="9791700" y="3067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row-2-aud-bg"/>
          <p:cNvSpPr/>
          <p:nvPr/>
        </p:nvSpPr>
        <p:spPr>
          <a:xfrm>
            <a:off x="457200" y="342900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2-aud-rule"/>
          <p:cNvSpPr/>
          <p:nvPr/>
        </p:nvSpPr>
        <p:spPr>
          <a:xfrm>
            <a:off x="2914650" y="342900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row-2-badge"/>
          <p:cNvSpPr/>
          <p:nvPr/>
        </p:nvSpPr>
        <p:spPr>
          <a:xfrm>
            <a:off x="571500" y="3505200"/>
            <a:ext cx="24765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ow-2-badge-code"/>
          <p:cNvSpPr txBox="1"/>
          <p:nvPr/>
        </p:nvSpPr>
        <p:spPr>
          <a:xfrm>
            <a:off x="571500" y="35052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</a:t>
            </a:r>
          </a:p>
        </p:txBody>
      </p:sp>
      <p:sp>
        <p:nvSpPr>
          <p:cNvPr id="41" name="row-2-aud-name"/>
          <p:cNvSpPr txBox="1"/>
          <p:nvPr/>
        </p:nvSpPr>
        <p:spPr>
          <a:xfrm>
            <a:off x="914400" y="342900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Practice MDs</a:t>
            </a:r>
          </a:p>
        </p:txBody>
      </p:sp>
      <p:sp>
        <p:nvSpPr>
          <p:cNvPr id="42" name="row-2-rule"/>
          <p:cNvSpPr/>
          <p:nvPr/>
        </p:nvSpPr>
        <p:spPr>
          <a:xfrm>
            <a:off x="457200" y="34290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2-cell-2"/>
          <p:cNvSpPr txBox="1"/>
          <p:nvPr/>
        </p:nvSpPr>
        <p:spPr>
          <a:xfrm>
            <a:off x="3067050" y="342900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Q3 rollout decision &amp; investment ask</a:t>
            </a:r>
          </a:p>
        </p:txBody>
      </p:sp>
      <p:sp>
        <p:nvSpPr>
          <p:cNvPr id="44" name="row-2-cell-3"/>
          <p:cNvSpPr txBox="1"/>
          <p:nvPr/>
        </p:nvSpPr>
        <p:spPr>
          <a:xfrm>
            <a:off x="5991225" y="342900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Monthly forum</a:t>
            </a:r>
          </a:p>
        </p:txBody>
      </p:sp>
      <p:sp>
        <p:nvSpPr>
          <p:cNvPr id="45" name="row-2-cell-4"/>
          <p:cNvSpPr txBox="1"/>
          <p:nvPr/>
        </p:nvSpPr>
        <p:spPr>
          <a:xfrm>
            <a:off x="8020050" y="342900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MONTHLY</a:t>
            </a:r>
          </a:p>
        </p:txBody>
      </p:sp>
      <p:sp>
        <p:nvSpPr>
          <p:cNvPr id="46" name="row-2-cell-5"/>
          <p:cNvSpPr txBox="1"/>
          <p:nvPr/>
        </p:nvSpPr>
        <p:spPr>
          <a:xfrm>
            <a:off x="9934575" y="342900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Maria</a:t>
            </a:r>
          </a:p>
        </p:txBody>
      </p:sp>
      <p:sp>
        <p:nvSpPr>
          <p:cNvPr id="47" name="row-2-vrule-1"/>
          <p:cNvSpPr/>
          <p:nvPr/>
        </p:nvSpPr>
        <p:spPr>
          <a:xfrm>
            <a:off x="2924175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2-vrule-2"/>
          <p:cNvSpPr/>
          <p:nvPr/>
        </p:nvSpPr>
        <p:spPr>
          <a:xfrm>
            <a:off x="584835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ow-2-vrule-3"/>
          <p:cNvSpPr/>
          <p:nvPr/>
        </p:nvSpPr>
        <p:spPr>
          <a:xfrm>
            <a:off x="7877175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ow-2-vrule-4"/>
          <p:cNvSpPr/>
          <p:nvPr/>
        </p:nvSpPr>
        <p:spPr>
          <a:xfrm>
            <a:off x="9791700" y="34290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ow-3-aud-bg"/>
          <p:cNvSpPr/>
          <p:nvPr/>
        </p:nvSpPr>
        <p:spPr>
          <a:xfrm>
            <a:off x="457200" y="379095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ow-3-aud-rule"/>
          <p:cNvSpPr/>
          <p:nvPr/>
        </p:nvSpPr>
        <p:spPr>
          <a:xfrm>
            <a:off x="2914650" y="379095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ow-3-badge"/>
          <p:cNvSpPr/>
          <p:nvPr/>
        </p:nvSpPr>
        <p:spPr>
          <a:xfrm>
            <a:off x="571500" y="3867150"/>
            <a:ext cx="247650" cy="20955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3-badge-code"/>
          <p:cNvSpPr txBox="1"/>
          <p:nvPr/>
        </p:nvSpPr>
        <p:spPr>
          <a:xfrm>
            <a:off x="571500" y="38671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IC</a:t>
            </a:r>
          </a:p>
        </p:txBody>
      </p:sp>
      <p:sp>
        <p:nvSpPr>
          <p:cNvPr id="55" name="row-3-aud-name"/>
          <p:cNvSpPr txBox="1"/>
          <p:nvPr/>
        </p:nvSpPr>
        <p:spPr>
          <a:xfrm>
            <a:off x="914400" y="379095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users</a:t>
            </a:r>
          </a:p>
        </p:txBody>
      </p:sp>
      <p:sp>
        <p:nvSpPr>
          <p:cNvPr id="56" name="row-3-rule"/>
          <p:cNvSpPr/>
          <p:nvPr/>
        </p:nvSpPr>
        <p:spPr>
          <a:xfrm>
            <a:off x="457200" y="37909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3-cell-2"/>
          <p:cNvSpPr txBox="1"/>
          <p:nvPr/>
        </p:nvSpPr>
        <p:spPr>
          <a:xfrm>
            <a:off x="3067050" y="379095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Tactical updates &amp; quick wins</a:t>
            </a:r>
          </a:p>
        </p:txBody>
      </p:sp>
      <p:sp>
        <p:nvSpPr>
          <p:cNvPr id="58" name="row-3-cell-3"/>
          <p:cNvSpPr txBox="1"/>
          <p:nvPr/>
        </p:nvSpPr>
        <p:spPr>
          <a:xfrm>
            <a:off x="5991225" y="379095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Slack channel</a:t>
            </a:r>
          </a:p>
        </p:txBody>
      </p:sp>
      <p:sp>
        <p:nvSpPr>
          <p:cNvPr id="59" name="row-3-cell-4"/>
          <p:cNvSpPr txBox="1"/>
          <p:nvPr/>
        </p:nvSpPr>
        <p:spPr>
          <a:xfrm>
            <a:off x="8020050" y="37909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DAILY</a:t>
            </a:r>
          </a:p>
        </p:txBody>
      </p:sp>
      <p:sp>
        <p:nvSpPr>
          <p:cNvPr id="60" name="row-3-cell-5"/>
          <p:cNvSpPr txBox="1"/>
          <p:nvPr/>
        </p:nvSpPr>
        <p:spPr>
          <a:xfrm>
            <a:off x="9934575" y="37909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Coach</a:t>
            </a:r>
          </a:p>
        </p:txBody>
      </p:sp>
      <p:sp>
        <p:nvSpPr>
          <p:cNvPr id="61" name="row-3-vrule-1"/>
          <p:cNvSpPr/>
          <p:nvPr/>
        </p:nvSpPr>
        <p:spPr>
          <a:xfrm>
            <a:off x="2924175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ow-3-vrule-2"/>
          <p:cNvSpPr/>
          <p:nvPr/>
        </p:nvSpPr>
        <p:spPr>
          <a:xfrm>
            <a:off x="584835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ow-3-vrule-3"/>
          <p:cNvSpPr/>
          <p:nvPr/>
        </p:nvSpPr>
        <p:spPr>
          <a:xfrm>
            <a:off x="7877175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ow-3-vrule-4"/>
          <p:cNvSpPr/>
          <p:nvPr/>
        </p:nvSpPr>
        <p:spPr>
          <a:xfrm>
            <a:off x="9791700" y="37909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4-aud-bg"/>
          <p:cNvSpPr/>
          <p:nvPr/>
        </p:nvSpPr>
        <p:spPr>
          <a:xfrm>
            <a:off x="457200" y="415290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ow-4-aud-rule"/>
          <p:cNvSpPr/>
          <p:nvPr/>
        </p:nvSpPr>
        <p:spPr>
          <a:xfrm>
            <a:off x="2914650" y="415290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ow-4-badge"/>
          <p:cNvSpPr/>
          <p:nvPr/>
        </p:nvSpPr>
        <p:spPr>
          <a:xfrm>
            <a:off x="571500" y="4229100"/>
            <a:ext cx="247650" cy="20955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ow-4-badge-code"/>
          <p:cNvSpPr txBox="1"/>
          <p:nvPr/>
        </p:nvSpPr>
        <p:spPr>
          <a:xfrm>
            <a:off x="571500" y="42291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IC</a:t>
            </a:r>
          </a:p>
        </p:txBody>
      </p:sp>
      <p:sp>
        <p:nvSpPr>
          <p:cNvPr id="69" name="row-4-aud-name"/>
          <p:cNvSpPr txBox="1"/>
          <p:nvPr/>
        </p:nvSpPr>
        <p:spPr>
          <a:xfrm>
            <a:off x="914400" y="415290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users</a:t>
            </a:r>
          </a:p>
        </p:txBody>
      </p:sp>
      <p:sp>
        <p:nvSpPr>
          <p:cNvPr id="70" name="row-4-rule"/>
          <p:cNvSpPr/>
          <p:nvPr/>
        </p:nvSpPr>
        <p:spPr>
          <a:xfrm>
            <a:off x="457200" y="41529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ow-4-cell-2"/>
          <p:cNvSpPr txBox="1"/>
          <p:nvPr/>
        </p:nvSpPr>
        <p:spPr>
          <a:xfrm>
            <a:off x="3067050" y="415290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Recap &amp; what to try next</a:t>
            </a:r>
          </a:p>
        </p:txBody>
      </p:sp>
      <p:sp>
        <p:nvSpPr>
          <p:cNvPr id="72" name="row-4-cell-3"/>
          <p:cNvSpPr txBox="1"/>
          <p:nvPr/>
        </p:nvSpPr>
        <p:spPr>
          <a:xfrm>
            <a:off x="5991225" y="415290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Email digest</a:t>
            </a:r>
          </a:p>
        </p:txBody>
      </p:sp>
      <p:sp>
        <p:nvSpPr>
          <p:cNvPr id="73" name="row-4-cell-4"/>
          <p:cNvSpPr txBox="1"/>
          <p:nvPr/>
        </p:nvSpPr>
        <p:spPr>
          <a:xfrm>
            <a:off x="8020050" y="415290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WEEKLY</a:t>
            </a:r>
          </a:p>
        </p:txBody>
      </p:sp>
      <p:sp>
        <p:nvSpPr>
          <p:cNvPr id="74" name="row-4-cell-5"/>
          <p:cNvSpPr txBox="1"/>
          <p:nvPr/>
        </p:nvSpPr>
        <p:spPr>
          <a:xfrm>
            <a:off x="9934575" y="415290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Coach</a:t>
            </a:r>
          </a:p>
        </p:txBody>
      </p:sp>
      <p:sp>
        <p:nvSpPr>
          <p:cNvPr id="75" name="row-4-vrule-1"/>
          <p:cNvSpPr/>
          <p:nvPr/>
        </p:nvSpPr>
        <p:spPr>
          <a:xfrm>
            <a:off x="2924175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4-vrule-2"/>
          <p:cNvSpPr/>
          <p:nvPr/>
        </p:nvSpPr>
        <p:spPr>
          <a:xfrm>
            <a:off x="584835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row-4-vrule-3"/>
          <p:cNvSpPr/>
          <p:nvPr/>
        </p:nvSpPr>
        <p:spPr>
          <a:xfrm>
            <a:off x="7877175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ow-4-vrule-4"/>
          <p:cNvSpPr/>
          <p:nvPr/>
        </p:nvSpPr>
        <p:spPr>
          <a:xfrm>
            <a:off x="9791700" y="41529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ow-5-aud-bg"/>
          <p:cNvSpPr/>
          <p:nvPr/>
        </p:nvSpPr>
        <p:spPr>
          <a:xfrm>
            <a:off x="457200" y="451485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ow-5-aud-rule"/>
          <p:cNvSpPr/>
          <p:nvPr/>
        </p:nvSpPr>
        <p:spPr>
          <a:xfrm>
            <a:off x="2914650" y="451485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ow-5-badge"/>
          <p:cNvSpPr/>
          <p:nvPr/>
        </p:nvSpPr>
        <p:spPr>
          <a:xfrm>
            <a:off x="571500" y="4591050"/>
            <a:ext cx="2476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ow-5-badge-code"/>
          <p:cNvSpPr txBox="1"/>
          <p:nvPr/>
        </p:nvSpPr>
        <p:spPr>
          <a:xfrm>
            <a:off x="571500" y="45910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MG</a:t>
            </a:r>
          </a:p>
        </p:txBody>
      </p:sp>
      <p:sp>
        <p:nvSpPr>
          <p:cNvPr id="83" name="row-5-aud-name"/>
          <p:cNvSpPr txBox="1"/>
          <p:nvPr/>
        </p:nvSpPr>
        <p:spPr>
          <a:xfrm>
            <a:off x="914400" y="451485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Skeptical seniors</a:t>
            </a:r>
          </a:p>
        </p:txBody>
      </p:sp>
      <p:sp>
        <p:nvSpPr>
          <p:cNvPr id="84" name="row-5-rule"/>
          <p:cNvSpPr/>
          <p:nvPr/>
        </p:nvSpPr>
        <p:spPr>
          <a:xfrm>
            <a:off x="457200" y="45148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ow-5-cell-2"/>
          <p:cNvSpPr txBox="1"/>
          <p:nvPr/>
        </p:nvSpPr>
        <p:spPr>
          <a:xfrm>
            <a:off x="3067050" y="451485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1:1 coaching — addressing objections</a:t>
            </a:r>
          </a:p>
        </p:txBody>
      </p:sp>
      <p:sp>
        <p:nvSpPr>
          <p:cNvPr id="86" name="row-5-cell-3"/>
          <p:cNvSpPr txBox="1"/>
          <p:nvPr/>
        </p:nvSpPr>
        <p:spPr>
          <a:xfrm>
            <a:off x="5991225" y="451485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In-person</a:t>
            </a:r>
          </a:p>
        </p:txBody>
      </p:sp>
      <p:sp>
        <p:nvSpPr>
          <p:cNvPr id="87" name="row-5-cell-4"/>
          <p:cNvSpPr txBox="1"/>
          <p:nvPr/>
        </p:nvSpPr>
        <p:spPr>
          <a:xfrm>
            <a:off x="8020050" y="45148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AD-HOC</a:t>
            </a:r>
          </a:p>
        </p:txBody>
      </p:sp>
      <p:sp>
        <p:nvSpPr>
          <p:cNvPr id="88" name="row-5-cell-5"/>
          <p:cNvSpPr txBox="1"/>
          <p:nvPr/>
        </p:nvSpPr>
        <p:spPr>
          <a:xfrm>
            <a:off x="9934575" y="45148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Coach</a:t>
            </a:r>
          </a:p>
        </p:txBody>
      </p:sp>
      <p:sp>
        <p:nvSpPr>
          <p:cNvPr id="89" name="row-5-vrule-1"/>
          <p:cNvSpPr/>
          <p:nvPr/>
        </p:nvSpPr>
        <p:spPr>
          <a:xfrm>
            <a:off x="2924175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ow-5-vrule-2"/>
          <p:cNvSpPr/>
          <p:nvPr/>
        </p:nvSpPr>
        <p:spPr>
          <a:xfrm>
            <a:off x="584835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row-5-vrule-3"/>
          <p:cNvSpPr/>
          <p:nvPr/>
        </p:nvSpPr>
        <p:spPr>
          <a:xfrm>
            <a:off x="7877175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row-5-vrule-4"/>
          <p:cNvSpPr/>
          <p:nvPr/>
        </p:nvSpPr>
        <p:spPr>
          <a:xfrm>
            <a:off x="9791700" y="45148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row-6-aud-bg"/>
          <p:cNvSpPr/>
          <p:nvPr/>
        </p:nvSpPr>
        <p:spPr>
          <a:xfrm>
            <a:off x="457200" y="487680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row-6-aud-rule"/>
          <p:cNvSpPr/>
          <p:nvPr/>
        </p:nvSpPr>
        <p:spPr>
          <a:xfrm>
            <a:off x="2914650" y="487680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ow-6-badge"/>
          <p:cNvSpPr/>
          <p:nvPr/>
        </p:nvSpPr>
        <p:spPr>
          <a:xfrm>
            <a:off x="571500" y="4953000"/>
            <a:ext cx="247650" cy="209550"/>
          </a:xfrm>
          <a:prstGeom prst="rect">
            <a:avLst/>
          </a:prstGeom>
          <a:solidFill>
            <a:srgbClr val="FBF8FE"/>
          </a:solidFill>
          <a:ln w="6350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row-6-badge-code"/>
          <p:cNvSpPr txBox="1"/>
          <p:nvPr/>
        </p:nvSpPr>
        <p:spPr>
          <a:xfrm>
            <a:off x="571500" y="49530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IC</a:t>
            </a:r>
          </a:p>
        </p:txBody>
      </p:sp>
      <p:sp>
        <p:nvSpPr>
          <p:cNvPr id="97" name="row-6-aud-name"/>
          <p:cNvSpPr txBox="1"/>
          <p:nvPr/>
        </p:nvSpPr>
        <p:spPr>
          <a:xfrm>
            <a:off x="914400" y="487680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All consultants</a:t>
            </a:r>
          </a:p>
        </p:txBody>
      </p:sp>
      <p:sp>
        <p:nvSpPr>
          <p:cNvPr id="98" name="row-6-rule"/>
          <p:cNvSpPr/>
          <p:nvPr/>
        </p:nvSpPr>
        <p:spPr>
          <a:xfrm>
            <a:off x="457200" y="48768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row-6-cell-2"/>
          <p:cNvSpPr txBox="1"/>
          <p:nvPr/>
        </p:nvSpPr>
        <p:spPr>
          <a:xfrm>
            <a:off x="3067050" y="487680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Pilot announcement &amp; Wave 2 preview</a:t>
            </a:r>
          </a:p>
        </p:txBody>
      </p:sp>
      <p:sp>
        <p:nvSpPr>
          <p:cNvPr id="100" name="row-6-cell-3"/>
          <p:cNvSpPr txBox="1"/>
          <p:nvPr/>
        </p:nvSpPr>
        <p:spPr>
          <a:xfrm>
            <a:off x="5991225" y="487680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All-hands</a:t>
            </a:r>
          </a:p>
        </p:txBody>
      </p:sp>
      <p:sp>
        <p:nvSpPr>
          <p:cNvPr id="101" name="row-6-cell-4"/>
          <p:cNvSpPr txBox="1"/>
          <p:nvPr/>
        </p:nvSpPr>
        <p:spPr>
          <a:xfrm>
            <a:off x="8020050" y="487680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PRE-WAVE 2</a:t>
            </a:r>
          </a:p>
        </p:txBody>
      </p:sp>
      <p:sp>
        <p:nvSpPr>
          <p:cNvPr id="102" name="row-6-cell-5"/>
          <p:cNvSpPr txBox="1"/>
          <p:nvPr/>
        </p:nvSpPr>
        <p:spPr>
          <a:xfrm>
            <a:off x="9934575" y="487680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MD</a:t>
            </a:r>
          </a:p>
        </p:txBody>
      </p:sp>
      <p:sp>
        <p:nvSpPr>
          <p:cNvPr id="103" name="row-6-vrule-1"/>
          <p:cNvSpPr/>
          <p:nvPr/>
        </p:nvSpPr>
        <p:spPr>
          <a:xfrm>
            <a:off x="2924175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row-6-vrule-2"/>
          <p:cNvSpPr/>
          <p:nvPr/>
        </p:nvSpPr>
        <p:spPr>
          <a:xfrm>
            <a:off x="584835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ow-6-vrule-3"/>
          <p:cNvSpPr/>
          <p:nvPr/>
        </p:nvSpPr>
        <p:spPr>
          <a:xfrm>
            <a:off x="7877175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ow-6-vrule-4"/>
          <p:cNvSpPr/>
          <p:nvPr/>
        </p:nvSpPr>
        <p:spPr>
          <a:xfrm>
            <a:off x="9791700" y="48768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row-7-aud-bg"/>
          <p:cNvSpPr/>
          <p:nvPr/>
        </p:nvSpPr>
        <p:spPr>
          <a:xfrm>
            <a:off x="457200" y="5238750"/>
            <a:ext cx="24765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row-7-aud-rule"/>
          <p:cNvSpPr/>
          <p:nvPr/>
        </p:nvSpPr>
        <p:spPr>
          <a:xfrm>
            <a:off x="2914650" y="5238750"/>
            <a:ext cx="19050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row-7-badge"/>
          <p:cNvSpPr/>
          <p:nvPr/>
        </p:nvSpPr>
        <p:spPr>
          <a:xfrm>
            <a:off x="571500" y="5314950"/>
            <a:ext cx="2476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row-7-badge-code"/>
          <p:cNvSpPr txBox="1"/>
          <p:nvPr/>
        </p:nvSpPr>
        <p:spPr>
          <a:xfrm>
            <a:off x="571500" y="53149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MG</a:t>
            </a:r>
          </a:p>
        </p:txBody>
      </p:sp>
      <p:sp>
        <p:nvSpPr>
          <p:cNvPr id="111" name="row-7-aud-name"/>
          <p:cNvSpPr txBox="1"/>
          <p:nvPr/>
        </p:nvSpPr>
        <p:spPr>
          <a:xfrm>
            <a:off x="914400" y="5238750"/>
            <a:ext cx="1905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Wave 2 candidates</a:t>
            </a:r>
          </a:p>
        </p:txBody>
      </p:sp>
      <p:sp>
        <p:nvSpPr>
          <p:cNvPr id="112" name="row-7-rule"/>
          <p:cNvSpPr/>
          <p:nvPr/>
        </p:nvSpPr>
        <p:spPr>
          <a:xfrm>
            <a:off x="457200" y="52387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row-7-cell-2"/>
          <p:cNvSpPr txBox="1"/>
          <p:nvPr/>
        </p:nvSpPr>
        <p:spPr>
          <a:xfrm>
            <a:off x="3067050" y="5238750"/>
            <a:ext cx="265747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Onboarding &amp; method walkthrough</a:t>
            </a:r>
          </a:p>
        </p:txBody>
      </p:sp>
      <p:sp>
        <p:nvSpPr>
          <p:cNvPr id="114" name="row-7-cell-3"/>
          <p:cNvSpPr txBox="1"/>
          <p:nvPr/>
        </p:nvSpPr>
        <p:spPr>
          <a:xfrm>
            <a:off x="5991225" y="5238750"/>
            <a:ext cx="17621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Workshops</a:t>
            </a:r>
          </a:p>
        </p:txBody>
      </p:sp>
      <p:sp>
        <p:nvSpPr>
          <p:cNvPr id="115" name="row-7-cell-4"/>
          <p:cNvSpPr txBox="1"/>
          <p:nvPr/>
        </p:nvSpPr>
        <p:spPr>
          <a:xfrm>
            <a:off x="8020050" y="52387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PRE-LAUNCH</a:t>
            </a:r>
          </a:p>
        </p:txBody>
      </p:sp>
      <p:sp>
        <p:nvSpPr>
          <p:cNvPr id="116" name="row-7-cell-5"/>
          <p:cNvSpPr txBox="1"/>
          <p:nvPr/>
        </p:nvSpPr>
        <p:spPr>
          <a:xfrm>
            <a:off x="9934575" y="5238750"/>
            <a:ext cx="1647825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PMO</a:t>
            </a:r>
          </a:p>
        </p:txBody>
      </p:sp>
      <p:sp>
        <p:nvSpPr>
          <p:cNvPr id="117" name="row-7-vrule-1"/>
          <p:cNvSpPr/>
          <p:nvPr/>
        </p:nvSpPr>
        <p:spPr>
          <a:xfrm>
            <a:off x="2924175" y="52387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ow-7-vrule-2"/>
          <p:cNvSpPr/>
          <p:nvPr/>
        </p:nvSpPr>
        <p:spPr>
          <a:xfrm>
            <a:off x="5848350" y="52387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row-7-vrule-3"/>
          <p:cNvSpPr/>
          <p:nvPr/>
        </p:nvSpPr>
        <p:spPr>
          <a:xfrm>
            <a:off x="7877175" y="52387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row-7-vrule-4"/>
          <p:cNvSpPr/>
          <p:nvPr/>
        </p:nvSpPr>
        <p:spPr>
          <a:xfrm>
            <a:off x="9791700" y="52387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convergence-bg"/>
          <p:cNvSpPr/>
          <p:nvPr/>
        </p:nvSpPr>
        <p:spPr>
          <a:xfrm>
            <a:off x="457200" y="5943600"/>
            <a:ext cx="112776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convergence-tag-bg"/>
          <p:cNvSpPr/>
          <p:nvPr/>
        </p:nvSpPr>
        <p:spPr>
          <a:xfrm>
            <a:off x="571500" y="6038850"/>
            <a:ext cx="59055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convergence-tag"/>
          <p:cNvSpPr txBox="1"/>
          <p:nvPr/>
        </p:nvSpPr>
        <p:spPr>
          <a:xfrm>
            <a:off x="571500" y="6038850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25" name="convergence"/>
          <p:cNvSpPr txBox="1"/>
          <p:nvPr/>
        </p:nvSpPr>
        <p:spPr>
          <a:xfrm>
            <a:off x="1257300" y="59436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Generic “all-hands updates” fail because </a:t>
            </a:r>
            <a:r>
              <a:rPr sz="1050" b="1" i="0">
                <a:solidFill>
                  <a:srgbClr val="C780FF"/>
                </a:solidFill>
                <a:latin typeface="Inter"/>
              </a:rPr>
              <a:t>no audience hears their message</a:t>
            </a:r>
            <a:r>
              <a:rPr sz="1050" b="0" i="0">
                <a:solidFill>
                  <a:srgbClr val="FFFFFF"/>
                </a:solidFill>
                <a:latin typeface="Inter"/>
              </a:rPr>
              <a:t>. Segment by decision rhythm — daily for doers, monthly for deciders — or the change stalls in the middle.</a:t>
            </a:r>
          </a:p>
        </p:txBody>
      </p:sp>
      <p:sp>
        <p:nvSpPr>
          <p:cNvPr id="12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