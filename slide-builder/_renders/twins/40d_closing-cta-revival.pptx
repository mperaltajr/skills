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609600"/>
            <a:ext cx="952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THE ASK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8001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B8DD"/>
                </a:solidFill>
                <a:latin typeface="Inter"/>
              </a:rPr>
              <a:t>One commitment. Three conditions. Four weeks.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38250"/>
            <a:ext cx="4572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rimary-ask"/>
          <p:cNvSpPr/>
          <p:nvPr/>
        </p:nvSpPr>
        <p:spPr>
          <a:xfrm>
            <a:off x="609600" y="1600200"/>
            <a:ext cx="10972800" cy="14287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rimary-ask-accent"/>
          <p:cNvSpPr/>
          <p:nvPr/>
        </p:nvSpPr>
        <p:spPr>
          <a:xfrm>
            <a:off x="609600" y="1600200"/>
            <a:ext cx="57150" cy="1428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rimary-ask-label"/>
          <p:cNvSpPr txBox="1"/>
          <p:nvPr/>
        </p:nvSpPr>
        <p:spPr>
          <a:xfrm>
            <a:off x="1028700" y="1866900"/>
            <a:ext cx="10134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PRIMARY ASK</a:t>
            </a:r>
          </a:p>
        </p:txBody>
      </p:sp>
      <p:sp>
        <p:nvSpPr>
          <p:cNvPr id="8" name="primary-ask-text"/>
          <p:cNvSpPr txBox="1"/>
          <p:nvPr/>
        </p:nvSpPr>
        <p:spPr>
          <a:xfrm>
            <a:off x="1028700" y="2076450"/>
            <a:ext cx="101346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Sponsor a four-week pilot on one priority workstream — and measure it against the baseline.</a:t>
            </a:r>
          </a:p>
        </p:txBody>
      </p:sp>
      <p:sp>
        <p:nvSpPr>
          <p:cNvPr id="9" name="ask-caption"/>
          <p:cNvSpPr txBox="1"/>
          <p:nvPr/>
        </p:nvSpPr>
        <p:spPr>
          <a:xfrm>
            <a:off x="609600" y="3143250"/>
            <a:ext cx="10972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Two-level commitment from program leadership.</a:t>
            </a:r>
          </a:p>
        </p:txBody>
      </p:sp>
      <p:sp>
        <p:nvSpPr>
          <p:cNvPr id="10" name="conditions-label"/>
          <p:cNvSpPr txBox="1"/>
          <p:nvPr/>
        </p:nvSpPr>
        <p:spPr>
          <a:xfrm>
            <a:off x="609600" y="3505200"/>
            <a:ext cx="2857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CONDITIONS TO SUCCEED</a:t>
            </a:r>
          </a:p>
        </p:txBody>
      </p:sp>
      <p:sp>
        <p:nvSpPr>
          <p:cNvPr id="11" name="conditions-hint"/>
          <p:cNvSpPr txBox="1"/>
          <p:nvPr/>
        </p:nvSpPr>
        <p:spPr>
          <a:xfrm>
            <a:off x="2705100" y="3505200"/>
            <a:ext cx="571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what we need from you to make the pilot real</a:t>
            </a:r>
          </a:p>
        </p:txBody>
      </p:sp>
      <p:sp>
        <p:nvSpPr>
          <p:cNvPr id="12" name="sub-ask-1"/>
          <p:cNvSpPr/>
          <p:nvPr/>
        </p:nvSpPr>
        <p:spPr>
          <a:xfrm>
            <a:off x="609600" y="3790950"/>
            <a:ext cx="3552825" cy="18097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sub-ask-1-accent"/>
          <p:cNvSpPr/>
          <p:nvPr/>
        </p:nvSpPr>
        <p:spPr>
          <a:xfrm>
            <a:off x="609600" y="3790950"/>
            <a:ext cx="28575" cy="1809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sub-ask-1-num-bg"/>
          <p:cNvSpPr/>
          <p:nvPr/>
        </p:nvSpPr>
        <p:spPr>
          <a:xfrm>
            <a:off x="781050" y="3962400"/>
            <a:ext cx="209550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sub-ask-1-num"/>
          <p:cNvSpPr txBox="1"/>
          <p:nvPr/>
        </p:nvSpPr>
        <p:spPr>
          <a:xfrm>
            <a:off x="781050" y="39624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1</a:t>
            </a:r>
          </a:p>
        </p:txBody>
      </p:sp>
      <p:sp>
        <p:nvSpPr>
          <p:cNvPr id="16" name="sub-ask-1-label"/>
          <p:cNvSpPr txBox="1"/>
          <p:nvPr/>
        </p:nvSpPr>
        <p:spPr>
          <a:xfrm>
            <a:off x="1085850" y="4000500"/>
            <a:ext cx="2924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C780FF"/>
                </a:solidFill>
                <a:latin typeface="Inter"/>
              </a:rPr>
              <a:t>Tooling</a:t>
            </a:r>
          </a:p>
        </p:txBody>
      </p:sp>
      <p:sp>
        <p:nvSpPr>
          <p:cNvPr id="17" name="sub-ask-1-body"/>
          <p:cNvSpPr txBox="1"/>
          <p:nvPr/>
        </p:nvSpPr>
        <p:spPr>
          <a:xfrm>
            <a:off x="781050" y="4267200"/>
            <a:ext cx="32099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Access for 4 people on the pilot team.</a:t>
            </a:r>
          </a:p>
        </p:txBody>
      </p:sp>
      <p:sp>
        <p:nvSpPr>
          <p:cNvPr id="18" name="sub-ask-1-meta"/>
          <p:cNvSpPr txBox="1"/>
          <p:nvPr/>
        </p:nvSpPr>
        <p:spPr>
          <a:xfrm>
            <a:off x="781050" y="5391150"/>
            <a:ext cx="32099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Licenses + sandbox by week 1</a:t>
            </a:r>
          </a:p>
        </p:txBody>
      </p:sp>
      <p:sp>
        <p:nvSpPr>
          <p:cNvPr id="19" name="sub-ask-2"/>
          <p:cNvSpPr/>
          <p:nvPr/>
        </p:nvSpPr>
        <p:spPr>
          <a:xfrm>
            <a:off x="4314825" y="3790950"/>
            <a:ext cx="3552825" cy="18097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sub-ask-2-accent"/>
          <p:cNvSpPr/>
          <p:nvPr/>
        </p:nvSpPr>
        <p:spPr>
          <a:xfrm>
            <a:off x="4314825" y="3790950"/>
            <a:ext cx="28575" cy="1809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sub-ask-2-num-bg"/>
          <p:cNvSpPr/>
          <p:nvPr/>
        </p:nvSpPr>
        <p:spPr>
          <a:xfrm>
            <a:off x="4486275" y="3962400"/>
            <a:ext cx="209550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ub-ask-2-num"/>
          <p:cNvSpPr txBox="1"/>
          <p:nvPr/>
        </p:nvSpPr>
        <p:spPr>
          <a:xfrm>
            <a:off x="4486275" y="39624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2</a:t>
            </a:r>
          </a:p>
        </p:txBody>
      </p:sp>
      <p:sp>
        <p:nvSpPr>
          <p:cNvPr id="23" name="sub-ask-2-label"/>
          <p:cNvSpPr txBox="1"/>
          <p:nvPr/>
        </p:nvSpPr>
        <p:spPr>
          <a:xfrm>
            <a:off x="4791075" y="4000500"/>
            <a:ext cx="2924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C780FF"/>
                </a:solidFill>
                <a:latin typeface="Inter"/>
              </a:rPr>
              <a:t>Time</a:t>
            </a:r>
          </a:p>
        </p:txBody>
      </p:sp>
      <p:sp>
        <p:nvSpPr>
          <p:cNvPr id="24" name="sub-ask-2-body"/>
          <p:cNvSpPr txBox="1"/>
          <p:nvPr/>
        </p:nvSpPr>
        <p:spPr>
          <a:xfrm>
            <a:off x="4486275" y="4267200"/>
            <a:ext cx="32099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One 90-minute coached storyline per deck.</a:t>
            </a:r>
          </a:p>
        </p:txBody>
      </p:sp>
      <p:sp>
        <p:nvSpPr>
          <p:cNvPr id="25" name="sub-ask-2-meta"/>
          <p:cNvSpPr txBox="1"/>
          <p:nvPr/>
        </p:nvSpPr>
        <p:spPr>
          <a:xfrm>
            <a:off x="4486275" y="5391150"/>
            <a:ext cx="32099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~3 sessions over 4 weeks</a:t>
            </a:r>
          </a:p>
        </p:txBody>
      </p:sp>
      <p:sp>
        <p:nvSpPr>
          <p:cNvPr id="26" name="sub-ask-3"/>
          <p:cNvSpPr/>
          <p:nvPr/>
        </p:nvSpPr>
        <p:spPr>
          <a:xfrm>
            <a:off x="8020050" y="3790950"/>
            <a:ext cx="3552825" cy="18097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sub-ask-3-accent"/>
          <p:cNvSpPr/>
          <p:nvPr/>
        </p:nvSpPr>
        <p:spPr>
          <a:xfrm>
            <a:off x="8020050" y="3790950"/>
            <a:ext cx="28575" cy="1809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sub-ask-3-num-bg"/>
          <p:cNvSpPr/>
          <p:nvPr/>
        </p:nvSpPr>
        <p:spPr>
          <a:xfrm>
            <a:off x="8191500" y="3962400"/>
            <a:ext cx="209550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sub-ask-3-num"/>
          <p:cNvSpPr txBox="1"/>
          <p:nvPr/>
        </p:nvSpPr>
        <p:spPr>
          <a:xfrm>
            <a:off x="8191500" y="39624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3</a:t>
            </a:r>
          </a:p>
        </p:txBody>
      </p:sp>
      <p:sp>
        <p:nvSpPr>
          <p:cNvPr id="30" name="sub-ask-3-label"/>
          <p:cNvSpPr txBox="1"/>
          <p:nvPr/>
        </p:nvSpPr>
        <p:spPr>
          <a:xfrm>
            <a:off x="8496300" y="4000500"/>
            <a:ext cx="2924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C780FF"/>
                </a:solidFill>
                <a:latin typeface="Inter"/>
              </a:rPr>
              <a:t>Visibility</a:t>
            </a:r>
          </a:p>
        </p:txBody>
      </p:sp>
      <p:sp>
        <p:nvSpPr>
          <p:cNvPr id="31" name="sub-ask-3-body"/>
          <p:cNvSpPr txBox="1"/>
          <p:nvPr/>
        </p:nvSpPr>
        <p:spPr>
          <a:xfrm>
            <a:off x="8191500" y="4267200"/>
            <a:ext cx="32099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Weekly 15-min review with the program MD.</a:t>
            </a:r>
          </a:p>
        </p:txBody>
      </p:sp>
      <p:sp>
        <p:nvSpPr>
          <p:cNvPr id="32" name="sub-ask-3-meta"/>
          <p:cNvSpPr txBox="1"/>
          <p:nvPr/>
        </p:nvSpPr>
        <p:spPr>
          <a:xfrm>
            <a:off x="8191500" y="5391150"/>
            <a:ext cx="32099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Friday standing slot</a:t>
            </a:r>
          </a:p>
        </p:txBody>
      </p:sp>
      <p:sp>
        <p:nvSpPr>
          <p:cNvPr id="33" name="convergence-bg"/>
          <p:cNvSpPr/>
          <p:nvPr/>
        </p:nvSpPr>
        <p:spPr>
          <a:xfrm>
            <a:off x="609600" y="5943600"/>
            <a:ext cx="10972800" cy="3810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onvergence-accent"/>
          <p:cNvSpPr/>
          <p:nvPr/>
        </p:nvSpPr>
        <p:spPr>
          <a:xfrm>
            <a:off x="609600" y="5943600"/>
            <a:ext cx="28575" cy="381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onvergence"/>
          <p:cNvSpPr txBox="1"/>
          <p:nvPr/>
        </p:nvSpPr>
        <p:spPr>
          <a:xfrm>
            <a:off x="781050" y="5943600"/>
            <a:ext cx="10629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2D0A4E"/>
                </a:solidFill>
                <a:latin typeface="Inter"/>
              </a:rPr>
              <a:t>Decide this week — pilot kicks off Monday or slips two weeks.</a:t>
            </a:r>
          </a:p>
        </p:txBody>
      </p:sp>
      <p:sp>
        <p:nvSpPr>
          <p:cNvPr id="36" name="footer-center"/>
          <p:cNvSpPr txBox="1"/>
          <p:nvPr/>
        </p:nvSpPr>
        <p:spPr>
          <a:xfrm>
            <a:off x="4191000" y="66103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/>
            <a:r>
              <a:rPr sz="750" b="0" i="0">
                <a:solidFill>
                  <a:srgbClr val="C7B8DD"/>
                </a:solidFill>
                <a:latin typeface="Inter"/>
              </a:rPr>
              <a:t>Mario Peralta · Strategy Manager · May 2026</a:t>
            </a:r>
          </a:p>
        </p:txBody>
      </p:sp>
      <p:sp>
        <p:nvSpPr>
          <p:cNvPr id="3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