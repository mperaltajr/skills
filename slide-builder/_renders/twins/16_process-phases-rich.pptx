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Four phases — each with a clear exit criterion before moving on.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Sequential by design. No phase advances on optimism; each gate is a discrete sign-off.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ep-1-bg"/>
          <p:cNvSpPr/>
          <p:nvPr/>
        </p:nvSpPr>
        <p:spPr>
          <a:xfrm>
            <a:off x="533400" y="2190750"/>
            <a:ext cx="2676525" cy="3048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ep-1-accent"/>
          <p:cNvSpPr/>
          <p:nvPr/>
        </p:nvSpPr>
        <p:spPr>
          <a:xfrm>
            <a:off x="533400" y="2190750"/>
            <a:ext cx="26765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tep-1-num"/>
          <p:cNvSpPr txBox="1"/>
          <p:nvPr/>
        </p:nvSpPr>
        <p:spPr>
          <a:xfrm>
            <a:off x="704850" y="23241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8" name="step-1-eyebrow"/>
          <p:cNvSpPr txBox="1"/>
          <p:nvPr/>
        </p:nvSpPr>
        <p:spPr>
          <a:xfrm>
            <a:off x="1390650" y="2343150"/>
            <a:ext cx="16668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PHASE 1</a:t>
            </a:r>
          </a:p>
        </p:txBody>
      </p:sp>
      <p:sp>
        <p:nvSpPr>
          <p:cNvPr id="9" name="step-1-name"/>
          <p:cNvSpPr txBox="1"/>
          <p:nvPr/>
        </p:nvSpPr>
        <p:spPr>
          <a:xfrm>
            <a:off x="1390650" y="2476500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2D0A4E"/>
                </a:solidFill>
                <a:latin typeface="Inter"/>
              </a:rPr>
              <a:t>DISCOVER</a:t>
            </a:r>
          </a:p>
        </p:txBody>
      </p:sp>
      <p:sp>
        <p:nvSpPr>
          <p:cNvPr id="10" name="step-1-body"/>
          <p:cNvSpPr txBox="1"/>
          <p:nvPr/>
        </p:nvSpPr>
        <p:spPr>
          <a:xfrm>
            <a:off x="704850" y="2933700"/>
            <a:ext cx="23336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Stakeholder interviews across business units
• Current-state process mapping
• Pain point inventory and root-cause clustering</a:t>
            </a:r>
          </a:p>
        </p:txBody>
      </p:sp>
      <p:sp>
        <p:nvSpPr>
          <p:cNvPr id="11" name="step-1-exit-sep"/>
          <p:cNvSpPr/>
          <p:nvPr/>
        </p:nvSpPr>
        <p:spPr>
          <a:xfrm>
            <a:off x="704850" y="4248150"/>
            <a:ext cx="23336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step-1-exit-label"/>
          <p:cNvSpPr txBox="1"/>
          <p:nvPr/>
        </p:nvSpPr>
        <p:spPr>
          <a:xfrm>
            <a:off x="704850" y="4286250"/>
            <a:ext cx="23336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EXIT CRITERION</a:t>
            </a:r>
          </a:p>
        </p:txBody>
      </p:sp>
      <p:sp>
        <p:nvSpPr>
          <p:cNvPr id="13" name="step-1-exit-text"/>
          <p:cNvSpPr txBox="1"/>
          <p:nvPr/>
        </p:nvSpPr>
        <p:spPr>
          <a:xfrm>
            <a:off x="704850" y="4419600"/>
            <a:ext cx="23336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Alignment doc signed by all sponsors</a:t>
            </a:r>
          </a:p>
        </p:txBody>
      </p:sp>
      <p:sp>
        <p:nvSpPr>
          <p:cNvPr id="14" name="step-1-meta-left"/>
          <p:cNvSpPr txBox="1"/>
          <p:nvPr/>
        </p:nvSpPr>
        <p:spPr>
          <a:xfrm>
            <a:off x="704850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Lead: PM</a:t>
            </a:r>
          </a:p>
        </p:txBody>
      </p:sp>
      <p:sp>
        <p:nvSpPr>
          <p:cNvPr id="15" name="step-1-meta-right"/>
          <p:cNvSpPr txBox="1"/>
          <p:nvPr/>
        </p:nvSpPr>
        <p:spPr>
          <a:xfrm>
            <a:off x="1866900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W1–W2</a:t>
            </a:r>
          </a:p>
        </p:txBody>
      </p:sp>
      <p:sp>
        <p:nvSpPr>
          <p:cNvPr id="16" name="step-2-bg"/>
          <p:cNvSpPr/>
          <p:nvPr/>
        </p:nvSpPr>
        <p:spPr>
          <a:xfrm>
            <a:off x="3343275" y="2190750"/>
            <a:ext cx="2676525" cy="3048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tep-2-accent"/>
          <p:cNvSpPr/>
          <p:nvPr/>
        </p:nvSpPr>
        <p:spPr>
          <a:xfrm>
            <a:off x="3343275" y="2190750"/>
            <a:ext cx="26765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ep-2-num"/>
          <p:cNvSpPr txBox="1"/>
          <p:nvPr/>
        </p:nvSpPr>
        <p:spPr>
          <a:xfrm>
            <a:off x="3514725" y="23241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19" name="step-2-eyebrow"/>
          <p:cNvSpPr txBox="1"/>
          <p:nvPr/>
        </p:nvSpPr>
        <p:spPr>
          <a:xfrm>
            <a:off x="4200525" y="2343150"/>
            <a:ext cx="16668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PHASE 2</a:t>
            </a:r>
          </a:p>
        </p:txBody>
      </p:sp>
      <p:sp>
        <p:nvSpPr>
          <p:cNvPr id="20" name="step-2-name"/>
          <p:cNvSpPr txBox="1"/>
          <p:nvPr/>
        </p:nvSpPr>
        <p:spPr>
          <a:xfrm>
            <a:off x="4200525" y="2476500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2D0A4E"/>
                </a:solidFill>
                <a:latin typeface="Inter"/>
              </a:rPr>
              <a:t>DESIGN</a:t>
            </a:r>
          </a:p>
        </p:txBody>
      </p:sp>
      <p:sp>
        <p:nvSpPr>
          <p:cNvPr id="21" name="step-2-body"/>
          <p:cNvSpPr txBox="1"/>
          <p:nvPr/>
        </p:nvSpPr>
        <p:spPr>
          <a:xfrm>
            <a:off x="3514725" y="2933700"/>
            <a:ext cx="23336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Solution options framing (3–4 candidates)
• Trade-off analysis on cost, risk, speed
• Recommendation memo with rationale</a:t>
            </a:r>
          </a:p>
        </p:txBody>
      </p:sp>
      <p:sp>
        <p:nvSpPr>
          <p:cNvPr id="22" name="step-2-exit-sep"/>
          <p:cNvSpPr/>
          <p:nvPr/>
        </p:nvSpPr>
        <p:spPr>
          <a:xfrm>
            <a:off x="3514725" y="4248150"/>
            <a:ext cx="23336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step-2-exit-label"/>
          <p:cNvSpPr txBox="1"/>
          <p:nvPr/>
        </p:nvSpPr>
        <p:spPr>
          <a:xfrm>
            <a:off x="3514725" y="4286250"/>
            <a:ext cx="23336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EXIT CRITERION</a:t>
            </a:r>
          </a:p>
        </p:txBody>
      </p:sp>
      <p:sp>
        <p:nvSpPr>
          <p:cNvPr id="24" name="step-2-exit-text"/>
          <p:cNvSpPr txBox="1"/>
          <p:nvPr/>
        </p:nvSpPr>
        <p:spPr>
          <a:xfrm>
            <a:off x="3514725" y="4419600"/>
            <a:ext cx="23336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Option selected by steering committee</a:t>
            </a:r>
          </a:p>
        </p:txBody>
      </p:sp>
      <p:sp>
        <p:nvSpPr>
          <p:cNvPr id="25" name="step-2-meta-left"/>
          <p:cNvSpPr txBox="1"/>
          <p:nvPr/>
        </p:nvSpPr>
        <p:spPr>
          <a:xfrm>
            <a:off x="3514725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Lead: Strategy</a:t>
            </a:r>
          </a:p>
        </p:txBody>
      </p:sp>
      <p:sp>
        <p:nvSpPr>
          <p:cNvPr id="26" name="step-2-meta-right"/>
          <p:cNvSpPr txBox="1"/>
          <p:nvPr/>
        </p:nvSpPr>
        <p:spPr>
          <a:xfrm>
            <a:off x="4676775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W3–W5</a:t>
            </a:r>
          </a:p>
        </p:txBody>
      </p:sp>
      <p:sp>
        <p:nvSpPr>
          <p:cNvPr id="27" name="step-3-bg"/>
          <p:cNvSpPr/>
          <p:nvPr/>
        </p:nvSpPr>
        <p:spPr>
          <a:xfrm>
            <a:off x="6153150" y="2190750"/>
            <a:ext cx="2676525" cy="3048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step-3-accent"/>
          <p:cNvSpPr/>
          <p:nvPr/>
        </p:nvSpPr>
        <p:spPr>
          <a:xfrm>
            <a:off x="6153150" y="2190750"/>
            <a:ext cx="26765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tep-3-num"/>
          <p:cNvSpPr txBox="1"/>
          <p:nvPr/>
        </p:nvSpPr>
        <p:spPr>
          <a:xfrm>
            <a:off x="6324600" y="23241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30" name="step-3-eyebrow"/>
          <p:cNvSpPr txBox="1"/>
          <p:nvPr/>
        </p:nvSpPr>
        <p:spPr>
          <a:xfrm>
            <a:off x="7010400" y="2343150"/>
            <a:ext cx="16668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PHASE 3</a:t>
            </a:r>
          </a:p>
        </p:txBody>
      </p:sp>
      <p:sp>
        <p:nvSpPr>
          <p:cNvPr id="31" name="step-3-name"/>
          <p:cNvSpPr txBox="1"/>
          <p:nvPr/>
        </p:nvSpPr>
        <p:spPr>
          <a:xfrm>
            <a:off x="7010400" y="2476500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2D0A4E"/>
                </a:solidFill>
                <a:latin typeface="Inter"/>
              </a:rPr>
              <a:t>BUILD</a:t>
            </a:r>
          </a:p>
        </p:txBody>
      </p:sp>
      <p:sp>
        <p:nvSpPr>
          <p:cNvPr id="32" name="step-3-body"/>
          <p:cNvSpPr txBox="1"/>
          <p:nvPr/>
        </p:nvSpPr>
        <p:spPr>
          <a:xfrm>
            <a:off x="6324600" y="2933700"/>
            <a:ext cx="23336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Pilot implementation in scoped wave-1 unit
• Training rollout and change comms
• Measurement framework instrumented</a:t>
            </a:r>
          </a:p>
        </p:txBody>
      </p:sp>
      <p:sp>
        <p:nvSpPr>
          <p:cNvPr id="33" name="step-3-exit-sep"/>
          <p:cNvSpPr/>
          <p:nvPr/>
        </p:nvSpPr>
        <p:spPr>
          <a:xfrm>
            <a:off x="6324600" y="4248150"/>
            <a:ext cx="23336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step-3-exit-label"/>
          <p:cNvSpPr txBox="1"/>
          <p:nvPr/>
        </p:nvSpPr>
        <p:spPr>
          <a:xfrm>
            <a:off x="6324600" y="4286250"/>
            <a:ext cx="23336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EXIT CRITERION</a:t>
            </a:r>
          </a:p>
        </p:txBody>
      </p:sp>
      <p:sp>
        <p:nvSpPr>
          <p:cNvPr id="35" name="step-3-exit-text"/>
          <p:cNvSpPr txBox="1"/>
          <p:nvPr/>
        </p:nvSpPr>
        <p:spPr>
          <a:xfrm>
            <a:off x="6324600" y="4419600"/>
            <a:ext cx="23336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Pilot live with baseline metrics flowing</a:t>
            </a:r>
          </a:p>
        </p:txBody>
      </p:sp>
      <p:sp>
        <p:nvSpPr>
          <p:cNvPr id="36" name="step-3-meta-left"/>
          <p:cNvSpPr txBox="1"/>
          <p:nvPr/>
        </p:nvSpPr>
        <p:spPr>
          <a:xfrm>
            <a:off x="6324600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Lead: Eng + Strategy</a:t>
            </a:r>
          </a:p>
        </p:txBody>
      </p:sp>
      <p:sp>
        <p:nvSpPr>
          <p:cNvPr id="37" name="step-3-meta-right"/>
          <p:cNvSpPr txBox="1"/>
          <p:nvPr/>
        </p:nvSpPr>
        <p:spPr>
          <a:xfrm>
            <a:off x="7486650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W6–W9</a:t>
            </a:r>
          </a:p>
        </p:txBody>
      </p:sp>
      <p:sp>
        <p:nvSpPr>
          <p:cNvPr id="38" name="step-4-bg"/>
          <p:cNvSpPr/>
          <p:nvPr/>
        </p:nvSpPr>
        <p:spPr>
          <a:xfrm>
            <a:off x="8963025" y="2190750"/>
            <a:ext cx="2676525" cy="3048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step-4-accent"/>
          <p:cNvSpPr/>
          <p:nvPr/>
        </p:nvSpPr>
        <p:spPr>
          <a:xfrm>
            <a:off x="8963025" y="2190750"/>
            <a:ext cx="26765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step-4-num"/>
          <p:cNvSpPr txBox="1"/>
          <p:nvPr/>
        </p:nvSpPr>
        <p:spPr>
          <a:xfrm>
            <a:off x="9134475" y="23241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A100FF"/>
                </a:solidFill>
                <a:latin typeface="Inter"/>
              </a:rPr>
              <a:t>04</a:t>
            </a:r>
          </a:p>
        </p:txBody>
      </p:sp>
      <p:sp>
        <p:nvSpPr>
          <p:cNvPr id="41" name="step-4-eyebrow"/>
          <p:cNvSpPr txBox="1"/>
          <p:nvPr/>
        </p:nvSpPr>
        <p:spPr>
          <a:xfrm>
            <a:off x="9820275" y="2343150"/>
            <a:ext cx="16668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PHASE 4</a:t>
            </a:r>
          </a:p>
        </p:txBody>
      </p:sp>
      <p:sp>
        <p:nvSpPr>
          <p:cNvPr id="42" name="step-4-name"/>
          <p:cNvSpPr txBox="1"/>
          <p:nvPr/>
        </p:nvSpPr>
        <p:spPr>
          <a:xfrm>
            <a:off x="9820275" y="2476500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2D0A4E"/>
                </a:solidFill>
                <a:latin typeface="Inter"/>
              </a:rPr>
              <a:t>SCALE</a:t>
            </a:r>
          </a:p>
        </p:txBody>
      </p:sp>
      <p:sp>
        <p:nvSpPr>
          <p:cNvPr id="43" name="step-4-body"/>
          <p:cNvSpPr txBox="1"/>
          <p:nvPr/>
        </p:nvSpPr>
        <p:spPr>
          <a:xfrm>
            <a:off x="9134475" y="2933700"/>
            <a:ext cx="23336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Rollout to wave-2 units on staged cadence
• Sustained measurement against targets
• Governance handoff to line operations</a:t>
            </a:r>
          </a:p>
        </p:txBody>
      </p:sp>
      <p:sp>
        <p:nvSpPr>
          <p:cNvPr id="44" name="step-4-exit-sep"/>
          <p:cNvSpPr/>
          <p:nvPr/>
        </p:nvSpPr>
        <p:spPr>
          <a:xfrm>
            <a:off x="9134475" y="4248150"/>
            <a:ext cx="23336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step-4-exit-label"/>
          <p:cNvSpPr txBox="1"/>
          <p:nvPr/>
        </p:nvSpPr>
        <p:spPr>
          <a:xfrm>
            <a:off x="9134475" y="4286250"/>
            <a:ext cx="23336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EXIT CRITERION</a:t>
            </a:r>
          </a:p>
        </p:txBody>
      </p:sp>
      <p:sp>
        <p:nvSpPr>
          <p:cNvPr id="46" name="step-4-exit-text"/>
          <p:cNvSpPr txBox="1"/>
          <p:nvPr/>
        </p:nvSpPr>
        <p:spPr>
          <a:xfrm>
            <a:off x="9134475" y="4419600"/>
            <a:ext cx="23336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BAU operations with owner accountable</a:t>
            </a:r>
          </a:p>
        </p:txBody>
      </p:sp>
      <p:sp>
        <p:nvSpPr>
          <p:cNvPr id="47" name="step-4-meta-left"/>
          <p:cNvSpPr txBox="1"/>
          <p:nvPr/>
        </p:nvSpPr>
        <p:spPr>
          <a:xfrm>
            <a:off x="9134475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Lead: PMO</a:t>
            </a:r>
          </a:p>
        </p:txBody>
      </p:sp>
      <p:sp>
        <p:nvSpPr>
          <p:cNvPr id="48" name="step-4-meta-right"/>
          <p:cNvSpPr txBox="1"/>
          <p:nvPr/>
        </p:nvSpPr>
        <p:spPr>
          <a:xfrm>
            <a:off x="10296525" y="502920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W10–W12</a:t>
            </a:r>
          </a:p>
        </p:txBody>
      </p:sp>
      <p:sp>
        <p:nvSpPr>
          <p:cNvPr id="49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No phase advances without its exit criterion. That's the discipline.</a:t>
            </a:r>
          </a:p>
        </p:txBody>
      </p:sp>
      <p:sp>
        <p:nvSpPr>
          <p:cNvPr id="5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