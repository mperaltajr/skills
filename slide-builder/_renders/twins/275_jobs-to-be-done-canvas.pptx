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Jobs-to-be-done canvas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three customer segments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Functional, emotional, and social jobs mapped to pain points and desired outcomes by persona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head-bg"/>
          <p:cNvSpPr/>
          <p:nvPr/>
        </p:nvSpPr>
        <p:spPr>
          <a:xfrm>
            <a:off x="457200" y="2228850"/>
            <a:ext cx="11277600" cy="476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able-corner"/>
          <p:cNvSpPr txBox="1"/>
          <p:nvPr/>
        </p:nvSpPr>
        <p:spPr>
          <a:xfrm>
            <a:off x="571500" y="222885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JOB TYPE</a:t>
            </a:r>
          </a:p>
        </p:txBody>
      </p:sp>
      <p:sp>
        <p:nvSpPr>
          <p:cNvPr id="7" name="table-col-2-header"/>
          <p:cNvSpPr txBox="1"/>
          <p:nvPr/>
        </p:nvSpPr>
        <p:spPr>
          <a:xfrm>
            <a:off x="1828800" y="2305050"/>
            <a:ext cx="30765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SEGMENT A</a:t>
            </a:r>
          </a:p>
        </p:txBody>
      </p:sp>
      <p:sp>
        <p:nvSpPr>
          <p:cNvPr id="8" name="table-col-2-sub"/>
          <p:cNvSpPr txBox="1"/>
          <p:nvPr/>
        </p:nvSpPr>
        <p:spPr>
          <a:xfrm>
            <a:off x="1828800" y="2495550"/>
            <a:ext cx="30765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0E0"/>
                </a:solidFill>
                <a:latin typeface="Inter"/>
              </a:rPr>
              <a:t>CFO / Finance</a:t>
            </a:r>
          </a:p>
        </p:txBody>
      </p:sp>
      <p:sp>
        <p:nvSpPr>
          <p:cNvPr id="9" name="table-col-3-header"/>
          <p:cNvSpPr txBox="1"/>
          <p:nvPr/>
        </p:nvSpPr>
        <p:spPr>
          <a:xfrm>
            <a:off x="5172075" y="2305050"/>
            <a:ext cx="30765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SEGMENT B</a:t>
            </a:r>
          </a:p>
        </p:txBody>
      </p:sp>
      <p:sp>
        <p:nvSpPr>
          <p:cNvPr id="10" name="table-col-3-sub"/>
          <p:cNvSpPr txBox="1"/>
          <p:nvPr/>
        </p:nvSpPr>
        <p:spPr>
          <a:xfrm>
            <a:off x="5172075" y="2495550"/>
            <a:ext cx="30765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0E0"/>
                </a:solidFill>
                <a:latin typeface="Inter"/>
              </a:rPr>
              <a:t>CTO / IT</a:t>
            </a:r>
          </a:p>
        </p:txBody>
      </p:sp>
      <p:sp>
        <p:nvSpPr>
          <p:cNvPr id="11" name="table-col-4-header"/>
          <p:cNvSpPr txBox="1"/>
          <p:nvPr/>
        </p:nvSpPr>
        <p:spPr>
          <a:xfrm>
            <a:off x="8515350" y="2305050"/>
            <a:ext cx="30765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SEGMENT C</a:t>
            </a:r>
          </a:p>
        </p:txBody>
      </p:sp>
      <p:sp>
        <p:nvSpPr>
          <p:cNvPr id="12" name="table-col-4-sub"/>
          <p:cNvSpPr txBox="1"/>
          <p:nvPr/>
        </p:nvSpPr>
        <p:spPr>
          <a:xfrm>
            <a:off x="8515350" y="2495550"/>
            <a:ext cx="30765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0E0"/>
                </a:solidFill>
                <a:latin typeface="Inter"/>
              </a:rPr>
              <a:t>COO / Operations</a:t>
            </a:r>
          </a:p>
        </p:txBody>
      </p:sp>
      <p:sp>
        <p:nvSpPr>
          <p:cNvPr id="13" name="row-1-label-bg"/>
          <p:cNvSpPr/>
          <p:nvPr/>
        </p:nvSpPr>
        <p:spPr>
          <a:xfrm>
            <a:off x="457200" y="2705100"/>
            <a:ext cx="1238250" cy="9334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ow-1-bar"/>
          <p:cNvSpPr/>
          <p:nvPr/>
        </p:nvSpPr>
        <p:spPr>
          <a:xfrm>
            <a:off x="514350" y="2781300"/>
            <a:ext cx="38100" cy="781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row-1-tag"/>
          <p:cNvSpPr txBox="1"/>
          <p:nvPr/>
        </p:nvSpPr>
        <p:spPr>
          <a:xfrm>
            <a:off x="628650" y="28194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FUNCTIONAL</a:t>
            </a:r>
          </a:p>
        </p:txBody>
      </p:sp>
      <p:sp>
        <p:nvSpPr>
          <p:cNvPr id="16" name="row-1-desc"/>
          <p:cNvSpPr txBox="1"/>
          <p:nvPr/>
        </p:nvSpPr>
        <p:spPr>
          <a:xfrm>
            <a:off x="628650" y="2971800"/>
            <a:ext cx="952500" cy="590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What they need to get done</a:t>
            </a:r>
          </a:p>
        </p:txBody>
      </p:sp>
      <p:sp>
        <p:nvSpPr>
          <p:cNvPr id="17" name="row-1-rule"/>
          <p:cNvSpPr/>
          <p:nvPr/>
        </p:nvSpPr>
        <p:spPr>
          <a:xfrm>
            <a:off x="457200" y="27051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row-1-cell-2-bg"/>
          <p:cNvSpPr/>
          <p:nvPr/>
        </p:nvSpPr>
        <p:spPr>
          <a:xfrm>
            <a:off x="1695450" y="2714625"/>
            <a:ext cx="3343275" cy="923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row-1-cell-2-sep"/>
          <p:cNvSpPr/>
          <p:nvPr/>
        </p:nvSpPr>
        <p:spPr>
          <a:xfrm>
            <a:off x="5029200" y="2705100"/>
            <a:ext cx="9525" cy="933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row-1-cell-2-text"/>
          <p:cNvSpPr txBox="1"/>
          <p:nvPr/>
        </p:nvSpPr>
        <p:spPr>
          <a:xfrm>
            <a:off x="1828800" y="2705100"/>
            <a:ext cx="30765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Reduce cost base by 20% without headcount impact</a:t>
            </a:r>
          </a:p>
        </p:txBody>
      </p:sp>
      <p:sp>
        <p:nvSpPr>
          <p:cNvPr id="21" name="row-1-cell-3-bg"/>
          <p:cNvSpPr/>
          <p:nvPr/>
        </p:nvSpPr>
        <p:spPr>
          <a:xfrm>
            <a:off x="5038725" y="2714625"/>
            <a:ext cx="3343275" cy="923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row-1-cell-3-sep"/>
          <p:cNvSpPr/>
          <p:nvPr/>
        </p:nvSpPr>
        <p:spPr>
          <a:xfrm>
            <a:off x="8372475" y="2705100"/>
            <a:ext cx="9525" cy="933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row-1-cell-3-text"/>
          <p:cNvSpPr txBox="1"/>
          <p:nvPr/>
        </p:nvSpPr>
        <p:spPr>
          <a:xfrm>
            <a:off x="5172075" y="2705100"/>
            <a:ext cx="30765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Migrate legacy systems to cloud with zero downtime</a:t>
            </a:r>
          </a:p>
        </p:txBody>
      </p:sp>
      <p:sp>
        <p:nvSpPr>
          <p:cNvPr id="24" name="row-1-cell-4-bg"/>
          <p:cNvSpPr/>
          <p:nvPr/>
        </p:nvSpPr>
        <p:spPr>
          <a:xfrm>
            <a:off x="8382000" y="2714625"/>
            <a:ext cx="3343275" cy="923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row-1-cell-4-text"/>
          <p:cNvSpPr txBox="1"/>
          <p:nvPr/>
        </p:nvSpPr>
        <p:spPr>
          <a:xfrm>
            <a:off x="8515350" y="2705100"/>
            <a:ext cx="30765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Standardize processes across 14 business units</a:t>
            </a:r>
          </a:p>
        </p:txBody>
      </p:sp>
      <p:sp>
        <p:nvSpPr>
          <p:cNvPr id="26" name="row-2-label-bg"/>
          <p:cNvSpPr/>
          <p:nvPr/>
        </p:nvSpPr>
        <p:spPr>
          <a:xfrm>
            <a:off x="457200" y="3638550"/>
            <a:ext cx="1238250" cy="9334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row-2-bar"/>
          <p:cNvSpPr/>
          <p:nvPr/>
        </p:nvSpPr>
        <p:spPr>
          <a:xfrm>
            <a:off x="514350" y="3714750"/>
            <a:ext cx="38100" cy="781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row-2-tag"/>
          <p:cNvSpPr txBox="1"/>
          <p:nvPr/>
        </p:nvSpPr>
        <p:spPr>
          <a:xfrm>
            <a:off x="628650" y="37528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EMOTIONAL</a:t>
            </a:r>
          </a:p>
        </p:txBody>
      </p:sp>
      <p:sp>
        <p:nvSpPr>
          <p:cNvPr id="29" name="row-2-desc"/>
          <p:cNvSpPr txBox="1"/>
          <p:nvPr/>
        </p:nvSpPr>
        <p:spPr>
          <a:xfrm>
            <a:off x="628650" y="3905250"/>
            <a:ext cx="952500" cy="590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How they want to feel</a:t>
            </a:r>
          </a:p>
        </p:txBody>
      </p:sp>
      <p:sp>
        <p:nvSpPr>
          <p:cNvPr id="30" name="row-2-rule"/>
          <p:cNvSpPr/>
          <p:nvPr/>
        </p:nvSpPr>
        <p:spPr>
          <a:xfrm>
            <a:off x="457200" y="36385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row-2-cell-2-bg"/>
          <p:cNvSpPr/>
          <p:nvPr/>
        </p:nvSpPr>
        <p:spPr>
          <a:xfrm>
            <a:off x="1695450" y="3648075"/>
            <a:ext cx="3343275" cy="923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row-2-cell-2-sep"/>
          <p:cNvSpPr/>
          <p:nvPr/>
        </p:nvSpPr>
        <p:spPr>
          <a:xfrm>
            <a:off x="5029200" y="3638550"/>
            <a:ext cx="9525" cy="933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row-2-cell-2-text"/>
          <p:cNvSpPr txBox="1"/>
          <p:nvPr/>
        </p:nvSpPr>
        <p:spPr>
          <a:xfrm>
            <a:off x="1828800" y="3638550"/>
            <a:ext cx="30765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Be seen as the leader who fixed the margin problem</a:t>
            </a:r>
          </a:p>
        </p:txBody>
      </p:sp>
      <p:sp>
        <p:nvSpPr>
          <p:cNvPr id="34" name="row-2-cell-3-bg"/>
          <p:cNvSpPr/>
          <p:nvPr/>
        </p:nvSpPr>
        <p:spPr>
          <a:xfrm>
            <a:off x="5038725" y="3648075"/>
            <a:ext cx="3343275" cy="923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row-2-cell-3-sep"/>
          <p:cNvSpPr/>
          <p:nvPr/>
        </p:nvSpPr>
        <p:spPr>
          <a:xfrm>
            <a:off x="8372475" y="3638550"/>
            <a:ext cx="9525" cy="933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row-2-cell-3-text"/>
          <p:cNvSpPr txBox="1"/>
          <p:nvPr/>
        </p:nvSpPr>
        <p:spPr>
          <a:xfrm>
            <a:off x="5172075" y="3638550"/>
            <a:ext cx="30765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Avoid being responsible for a failed transformation</a:t>
            </a:r>
          </a:p>
        </p:txBody>
      </p:sp>
      <p:sp>
        <p:nvSpPr>
          <p:cNvPr id="37" name="row-2-cell-4-bg"/>
          <p:cNvSpPr/>
          <p:nvPr/>
        </p:nvSpPr>
        <p:spPr>
          <a:xfrm>
            <a:off x="8382000" y="3648075"/>
            <a:ext cx="3343275" cy="923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row-2-cell-4-text"/>
          <p:cNvSpPr txBox="1"/>
          <p:nvPr/>
        </p:nvSpPr>
        <p:spPr>
          <a:xfrm>
            <a:off x="8515350" y="3638550"/>
            <a:ext cx="30765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Gain control over fragmented operations</a:t>
            </a:r>
          </a:p>
        </p:txBody>
      </p:sp>
      <p:sp>
        <p:nvSpPr>
          <p:cNvPr id="39" name="row-3-label-bg"/>
          <p:cNvSpPr/>
          <p:nvPr/>
        </p:nvSpPr>
        <p:spPr>
          <a:xfrm>
            <a:off x="457200" y="4572000"/>
            <a:ext cx="1238250" cy="9334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row-3-bar"/>
          <p:cNvSpPr/>
          <p:nvPr/>
        </p:nvSpPr>
        <p:spPr>
          <a:xfrm>
            <a:off x="514350" y="4648200"/>
            <a:ext cx="38100" cy="781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row-3-tag"/>
          <p:cNvSpPr txBox="1"/>
          <p:nvPr/>
        </p:nvSpPr>
        <p:spPr>
          <a:xfrm>
            <a:off x="628650" y="46863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SOCIAL</a:t>
            </a:r>
          </a:p>
        </p:txBody>
      </p:sp>
      <p:sp>
        <p:nvSpPr>
          <p:cNvPr id="42" name="row-3-desc"/>
          <p:cNvSpPr txBox="1"/>
          <p:nvPr/>
        </p:nvSpPr>
        <p:spPr>
          <a:xfrm>
            <a:off x="628650" y="4838700"/>
            <a:ext cx="952500" cy="590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How they want to be perceived</a:t>
            </a:r>
          </a:p>
        </p:txBody>
      </p:sp>
      <p:sp>
        <p:nvSpPr>
          <p:cNvPr id="43" name="row-3-rule"/>
          <p:cNvSpPr/>
          <p:nvPr/>
        </p:nvSpPr>
        <p:spPr>
          <a:xfrm>
            <a:off x="457200" y="45720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row-3-cell-2-bg"/>
          <p:cNvSpPr/>
          <p:nvPr/>
        </p:nvSpPr>
        <p:spPr>
          <a:xfrm>
            <a:off x="1695450" y="4581525"/>
            <a:ext cx="3343275" cy="923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row-3-cell-2-sep"/>
          <p:cNvSpPr/>
          <p:nvPr/>
        </p:nvSpPr>
        <p:spPr>
          <a:xfrm>
            <a:off x="5029200" y="4572000"/>
            <a:ext cx="9525" cy="933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row-3-cell-2-text"/>
          <p:cNvSpPr txBox="1"/>
          <p:nvPr/>
        </p:nvSpPr>
        <p:spPr>
          <a:xfrm>
            <a:off x="1828800" y="4572000"/>
            <a:ext cx="30765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Demonstrate ROI discipline to the board</a:t>
            </a:r>
          </a:p>
        </p:txBody>
      </p:sp>
      <p:sp>
        <p:nvSpPr>
          <p:cNvPr id="47" name="row-3-cell-3-bg"/>
          <p:cNvSpPr/>
          <p:nvPr/>
        </p:nvSpPr>
        <p:spPr>
          <a:xfrm>
            <a:off x="5038725" y="4581525"/>
            <a:ext cx="3343275" cy="923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row-3-cell-3-sep"/>
          <p:cNvSpPr/>
          <p:nvPr/>
        </p:nvSpPr>
        <p:spPr>
          <a:xfrm>
            <a:off x="8372475" y="4572000"/>
            <a:ext cx="9525" cy="933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row-3-cell-3-text"/>
          <p:cNvSpPr txBox="1"/>
          <p:nvPr/>
        </p:nvSpPr>
        <p:spPr>
          <a:xfrm>
            <a:off x="5172075" y="4572000"/>
            <a:ext cx="30765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Build credibility as a forward-thinking CTO</a:t>
            </a:r>
          </a:p>
        </p:txBody>
      </p:sp>
      <p:sp>
        <p:nvSpPr>
          <p:cNvPr id="50" name="row-3-cell-4-bg"/>
          <p:cNvSpPr/>
          <p:nvPr/>
        </p:nvSpPr>
        <p:spPr>
          <a:xfrm>
            <a:off x="8382000" y="4581525"/>
            <a:ext cx="3343275" cy="923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row-3-cell-4-text"/>
          <p:cNvSpPr txBox="1"/>
          <p:nvPr/>
        </p:nvSpPr>
        <p:spPr>
          <a:xfrm>
            <a:off x="8515350" y="4572000"/>
            <a:ext cx="30765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Earn trust of BU heads to adopt central standards</a:t>
            </a:r>
          </a:p>
        </p:txBody>
      </p:sp>
      <p:sp>
        <p:nvSpPr>
          <p:cNvPr id="52" name="row-4-label-bg"/>
          <p:cNvSpPr/>
          <p:nvPr/>
        </p:nvSpPr>
        <p:spPr>
          <a:xfrm>
            <a:off x="457200" y="5505450"/>
            <a:ext cx="1238250" cy="9334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row-4-bar"/>
          <p:cNvSpPr/>
          <p:nvPr/>
        </p:nvSpPr>
        <p:spPr>
          <a:xfrm>
            <a:off x="514350" y="5581650"/>
            <a:ext cx="38100" cy="781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row-4-tag"/>
          <p:cNvSpPr txBox="1"/>
          <p:nvPr/>
        </p:nvSpPr>
        <p:spPr>
          <a:xfrm>
            <a:off x="628650" y="56197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2C55E"/>
                </a:solidFill>
                <a:latin typeface="Inter"/>
              </a:rPr>
              <a:t>OUTCOME</a:t>
            </a:r>
          </a:p>
        </p:txBody>
      </p:sp>
      <p:sp>
        <p:nvSpPr>
          <p:cNvPr id="55" name="row-4-desc"/>
          <p:cNvSpPr txBox="1"/>
          <p:nvPr/>
        </p:nvSpPr>
        <p:spPr>
          <a:xfrm>
            <a:off x="628650" y="5772150"/>
            <a:ext cx="952500" cy="590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Desired end state</a:t>
            </a:r>
          </a:p>
        </p:txBody>
      </p:sp>
      <p:sp>
        <p:nvSpPr>
          <p:cNvPr id="57" name="row-4-cell-2-bg"/>
          <p:cNvSpPr/>
          <p:nvPr/>
        </p:nvSpPr>
        <p:spPr>
          <a:xfrm>
            <a:off x="1695450" y="5514975"/>
            <a:ext cx="3343275" cy="92392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row-4-cell-2-sep"/>
          <p:cNvSpPr/>
          <p:nvPr/>
        </p:nvSpPr>
        <p:spPr>
          <a:xfrm>
            <a:off x="5029200" y="5505450"/>
            <a:ext cx="9525" cy="933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row-4-cell-2-text"/>
          <p:cNvSpPr txBox="1"/>
          <p:nvPr/>
        </p:nvSpPr>
        <p:spPr>
          <a:xfrm>
            <a:off x="1828800" y="5505450"/>
            <a:ext cx="30765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Approved 3-year efficiency program by Q2</a:t>
            </a:r>
          </a:p>
        </p:txBody>
      </p:sp>
      <p:sp>
        <p:nvSpPr>
          <p:cNvPr id="60" name="row-4-cell-3-bg"/>
          <p:cNvSpPr/>
          <p:nvPr/>
        </p:nvSpPr>
        <p:spPr>
          <a:xfrm>
            <a:off x="5038725" y="5514975"/>
            <a:ext cx="3343275" cy="92392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row-4-cell-3-sep"/>
          <p:cNvSpPr/>
          <p:nvPr/>
        </p:nvSpPr>
        <p:spPr>
          <a:xfrm>
            <a:off x="8372475" y="5505450"/>
            <a:ext cx="9525" cy="933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row-4-cell-3-text"/>
          <p:cNvSpPr txBox="1"/>
          <p:nvPr/>
        </p:nvSpPr>
        <p:spPr>
          <a:xfrm>
            <a:off x="5172075" y="5505450"/>
            <a:ext cx="30765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Cloud migration roadmap signed off by end of year</a:t>
            </a:r>
          </a:p>
        </p:txBody>
      </p:sp>
      <p:sp>
        <p:nvSpPr>
          <p:cNvPr id="63" name="row-4-cell-4-bg"/>
          <p:cNvSpPr/>
          <p:nvPr/>
        </p:nvSpPr>
        <p:spPr>
          <a:xfrm>
            <a:off x="8382000" y="5514975"/>
            <a:ext cx="3343275" cy="92392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row-4-cell-4-text"/>
          <p:cNvSpPr txBox="1"/>
          <p:nvPr/>
        </p:nvSpPr>
        <p:spPr>
          <a:xfrm>
            <a:off x="8515350" y="5505450"/>
            <a:ext cx="3076575" cy="933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Unified operating model live in 3 pilot BUs</a:t>
            </a:r>
          </a:p>
        </p:txBody>
      </p:sp>
      <p:sp>
        <p:nvSpPr>
          <p:cNvPr id="6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