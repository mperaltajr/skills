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Digital capabilities surged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legacy operations fell sharply.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Maturity scores by capability area, FY2024 vs FY2026 (0–100 scale). Increases in violet, decreases in red dashed.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up-swatch"/>
          <p:cNvSpPr/>
          <p:nvPr/>
        </p:nvSpPr>
        <p:spPr>
          <a:xfrm>
            <a:off x="8191500" y="2266950"/>
            <a:ext cx="20955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up"/>
          <p:cNvSpPr txBox="1"/>
          <p:nvPr/>
        </p:nvSpPr>
        <p:spPr>
          <a:xfrm>
            <a:off x="8458200" y="220980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Increase (solid violet)</a:t>
            </a:r>
          </a:p>
        </p:txBody>
      </p:sp>
      <p:sp>
        <p:nvSpPr>
          <p:cNvPr id="7" name="legend-down-swatch"/>
          <p:cNvSpPr/>
          <p:nvPr/>
        </p:nvSpPr>
        <p:spPr>
          <a:xfrm>
            <a:off x="10096500" y="2266950"/>
            <a:ext cx="209550" cy="2857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down"/>
          <p:cNvSpPr txBox="1"/>
          <p:nvPr/>
        </p:nvSpPr>
        <p:spPr>
          <a:xfrm>
            <a:off x="10363200" y="22098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Decrease (dashed red)</a:t>
            </a:r>
          </a:p>
        </p:txBody>
      </p:sp>
      <p:sp>
        <p:nvSpPr>
          <p:cNvPr id="9" name="chart-area"/>
          <p:cNvSpPr/>
          <p:nvPr/>
        </p:nvSpPr>
        <p:spPr>
          <a:xfrm>
            <a:off x="457200" y="2552700"/>
            <a:ext cx="7439025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y-tick-0"/>
          <p:cNvSpPr txBox="1"/>
          <p:nvPr/>
        </p:nvSpPr>
        <p:spPr>
          <a:xfrm>
            <a:off x="1066800" y="56959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</a:t>
            </a:r>
          </a:p>
        </p:txBody>
      </p:sp>
      <p:sp>
        <p:nvSpPr>
          <p:cNvPr id="12" name="grid-25"/>
          <p:cNvSpPr/>
          <p:nvPr/>
        </p:nvSpPr>
        <p:spPr>
          <a:xfrm>
            <a:off x="1409700" y="5057775"/>
            <a:ext cx="54387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y-tick-25"/>
          <p:cNvSpPr txBox="1"/>
          <p:nvPr/>
        </p:nvSpPr>
        <p:spPr>
          <a:xfrm>
            <a:off x="1066800" y="49911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25</a:t>
            </a:r>
          </a:p>
        </p:txBody>
      </p:sp>
      <p:sp>
        <p:nvSpPr>
          <p:cNvPr id="14" name="grid-50"/>
          <p:cNvSpPr/>
          <p:nvPr/>
        </p:nvSpPr>
        <p:spPr>
          <a:xfrm>
            <a:off x="1409700" y="4352925"/>
            <a:ext cx="54387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y-tick-50"/>
          <p:cNvSpPr txBox="1"/>
          <p:nvPr/>
        </p:nvSpPr>
        <p:spPr>
          <a:xfrm>
            <a:off x="1066800" y="428625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50</a:t>
            </a:r>
          </a:p>
        </p:txBody>
      </p:sp>
      <p:sp>
        <p:nvSpPr>
          <p:cNvPr id="16" name="grid-75"/>
          <p:cNvSpPr/>
          <p:nvPr/>
        </p:nvSpPr>
        <p:spPr>
          <a:xfrm>
            <a:off x="1409700" y="3648075"/>
            <a:ext cx="54387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y-tick-75"/>
          <p:cNvSpPr txBox="1"/>
          <p:nvPr/>
        </p:nvSpPr>
        <p:spPr>
          <a:xfrm>
            <a:off x="1066800" y="3581400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75</a:t>
            </a:r>
          </a:p>
        </p:txBody>
      </p:sp>
      <p:sp>
        <p:nvSpPr>
          <p:cNvPr id="18" name="grid-100"/>
          <p:cNvSpPr/>
          <p:nvPr/>
        </p:nvSpPr>
        <p:spPr>
          <a:xfrm>
            <a:off x="1409700" y="2933700"/>
            <a:ext cx="54387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y-tick-100"/>
          <p:cNvSpPr txBox="1"/>
          <p:nvPr/>
        </p:nvSpPr>
        <p:spPr>
          <a:xfrm>
            <a:off x="1066800" y="286702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100</a:t>
            </a:r>
          </a:p>
        </p:txBody>
      </p:sp>
      <p:sp>
        <p:nvSpPr>
          <p:cNvPr id="20" name="col-head-before"/>
          <p:cNvSpPr txBox="1"/>
          <p:nvPr/>
        </p:nvSpPr>
        <p:spPr>
          <a:xfrm>
            <a:off x="1028700" y="27051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FY2024</a:t>
            </a:r>
          </a:p>
        </p:txBody>
      </p:sp>
      <p:sp>
        <p:nvSpPr>
          <p:cNvPr id="21" name="col-head-after"/>
          <p:cNvSpPr txBox="1"/>
          <p:nvPr/>
        </p:nvSpPr>
        <p:spPr>
          <a:xfrm>
            <a:off x="6467475" y="27051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FY2026</a:t>
            </a:r>
          </a:p>
        </p:txBody>
      </p:sp>
      <p:sp>
        <p:nvSpPr>
          <p:cNvPr id="22" name="left-axis"/>
          <p:cNvSpPr/>
          <p:nvPr/>
        </p:nvSpPr>
        <p:spPr>
          <a:xfrm>
            <a:off x="1409700" y="2933700"/>
            <a:ext cx="9525" cy="28289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right-axis"/>
          <p:cNvSpPr/>
          <p:nvPr/>
        </p:nvSpPr>
        <p:spPr>
          <a:xfrm>
            <a:off x="6848475" y="2933700"/>
            <a:ext cx="9525" cy="28289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24" name="Connector 23"/>
          <p:cNvCxnSpPr/>
          <p:nvPr/>
        </p:nvCxnSpPr>
        <p:spPr>
          <a:xfrm flipV="1">
            <a:off x="1409700" y="3676650"/>
            <a:ext cx="5438775" cy="1019175"/>
          </a:xfrm>
          <a:prstGeom prst="line">
            <a:avLst/>
          </a:prstGeom>
          <a:ln w="22225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ot-1-L"/>
          <p:cNvSpPr/>
          <p:nvPr/>
        </p:nvSpPr>
        <p:spPr>
          <a:xfrm>
            <a:off x="1362075" y="464820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dot-1-R"/>
          <p:cNvSpPr/>
          <p:nvPr/>
        </p:nvSpPr>
        <p:spPr>
          <a:xfrm>
            <a:off x="6800850" y="36290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name-L-1"/>
          <p:cNvSpPr txBox="1"/>
          <p:nvPr/>
        </p:nvSpPr>
        <p:spPr>
          <a:xfrm>
            <a:off x="514350" y="461962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Digital</a:t>
            </a:r>
          </a:p>
        </p:txBody>
      </p:sp>
      <p:sp>
        <p:nvSpPr>
          <p:cNvPr id="28" name="val-L-1"/>
          <p:cNvSpPr txBox="1"/>
          <p:nvPr/>
        </p:nvSpPr>
        <p:spPr>
          <a:xfrm>
            <a:off x="1485900" y="46196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38</a:t>
            </a:r>
          </a:p>
        </p:txBody>
      </p:sp>
      <p:sp>
        <p:nvSpPr>
          <p:cNvPr id="29" name="val-R-1"/>
          <p:cNvSpPr txBox="1"/>
          <p:nvPr/>
        </p:nvSpPr>
        <p:spPr>
          <a:xfrm>
            <a:off x="6543675" y="36004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74</a:t>
            </a:r>
          </a:p>
        </p:txBody>
      </p:sp>
      <p:sp>
        <p:nvSpPr>
          <p:cNvPr id="30" name="name-R-1"/>
          <p:cNvSpPr txBox="1"/>
          <p:nvPr/>
        </p:nvSpPr>
        <p:spPr>
          <a:xfrm>
            <a:off x="6924675" y="360045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Digital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409700" y="4038600"/>
            <a:ext cx="5438775" cy="904875"/>
          </a:xfrm>
          <a:prstGeom prst="line">
            <a:avLst/>
          </a:prstGeom>
          <a:ln w="22225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t-2-L"/>
          <p:cNvSpPr/>
          <p:nvPr/>
        </p:nvSpPr>
        <p:spPr>
          <a:xfrm>
            <a:off x="1362075" y="48958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dot-2-R"/>
          <p:cNvSpPr/>
          <p:nvPr/>
        </p:nvSpPr>
        <p:spPr>
          <a:xfrm>
            <a:off x="6800850" y="39909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name-L-2"/>
          <p:cNvSpPr txBox="1"/>
          <p:nvPr/>
        </p:nvSpPr>
        <p:spPr>
          <a:xfrm>
            <a:off x="514350" y="486727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Mobile</a:t>
            </a:r>
          </a:p>
        </p:txBody>
      </p:sp>
      <p:sp>
        <p:nvSpPr>
          <p:cNvPr id="35" name="val-L-2"/>
          <p:cNvSpPr txBox="1"/>
          <p:nvPr/>
        </p:nvSpPr>
        <p:spPr>
          <a:xfrm>
            <a:off x="1485900" y="48672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29</a:t>
            </a:r>
          </a:p>
        </p:txBody>
      </p:sp>
      <p:sp>
        <p:nvSpPr>
          <p:cNvPr id="36" name="val-R-2"/>
          <p:cNvSpPr txBox="1"/>
          <p:nvPr/>
        </p:nvSpPr>
        <p:spPr>
          <a:xfrm>
            <a:off x="6543675" y="39624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61</a:t>
            </a:r>
          </a:p>
        </p:txBody>
      </p:sp>
      <p:sp>
        <p:nvSpPr>
          <p:cNvPr id="37" name="name-R-2"/>
          <p:cNvSpPr txBox="1"/>
          <p:nvPr/>
        </p:nvSpPr>
        <p:spPr>
          <a:xfrm>
            <a:off x="6924675" y="39624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Mobile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409700" y="3876675"/>
            <a:ext cx="5438775" cy="619125"/>
          </a:xfrm>
          <a:prstGeom prst="line">
            <a:avLst/>
          </a:prstGeom>
          <a:ln w="22225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ot-3-L"/>
          <p:cNvSpPr/>
          <p:nvPr/>
        </p:nvSpPr>
        <p:spPr>
          <a:xfrm>
            <a:off x="1362075" y="44481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dot-3-R"/>
          <p:cNvSpPr/>
          <p:nvPr/>
        </p:nvSpPr>
        <p:spPr>
          <a:xfrm>
            <a:off x="6800850" y="38290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name-L-3"/>
          <p:cNvSpPr txBox="1"/>
          <p:nvPr/>
        </p:nvSpPr>
        <p:spPr>
          <a:xfrm>
            <a:off x="514350" y="44196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Analytics</a:t>
            </a:r>
          </a:p>
        </p:txBody>
      </p:sp>
      <p:sp>
        <p:nvSpPr>
          <p:cNvPr id="42" name="val-L-3"/>
          <p:cNvSpPr txBox="1"/>
          <p:nvPr/>
        </p:nvSpPr>
        <p:spPr>
          <a:xfrm>
            <a:off x="1485900" y="44196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45</a:t>
            </a:r>
          </a:p>
        </p:txBody>
      </p:sp>
      <p:sp>
        <p:nvSpPr>
          <p:cNvPr id="43" name="val-R-3"/>
          <p:cNvSpPr txBox="1"/>
          <p:nvPr/>
        </p:nvSpPr>
        <p:spPr>
          <a:xfrm>
            <a:off x="6543675" y="38004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67</a:t>
            </a:r>
          </a:p>
        </p:txBody>
      </p:sp>
      <p:sp>
        <p:nvSpPr>
          <p:cNvPr id="44" name="name-R-3"/>
          <p:cNvSpPr txBox="1"/>
          <p:nvPr/>
        </p:nvSpPr>
        <p:spPr>
          <a:xfrm>
            <a:off x="6924675" y="380047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Analytics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409700" y="3762375"/>
            <a:ext cx="5438775" cy="533400"/>
          </a:xfrm>
          <a:prstGeom prst="line">
            <a:avLst/>
          </a:prstGeom>
          <a:ln w="22225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ot-4-L"/>
          <p:cNvSpPr/>
          <p:nvPr/>
        </p:nvSpPr>
        <p:spPr>
          <a:xfrm>
            <a:off x="1362075" y="42481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dot-4-R"/>
          <p:cNvSpPr/>
          <p:nvPr/>
        </p:nvSpPr>
        <p:spPr>
          <a:xfrm>
            <a:off x="6800850" y="37147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name-L-4"/>
          <p:cNvSpPr txBox="1"/>
          <p:nvPr/>
        </p:nvSpPr>
        <p:spPr>
          <a:xfrm>
            <a:off x="514350" y="421957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Cloud</a:t>
            </a:r>
          </a:p>
        </p:txBody>
      </p:sp>
      <p:sp>
        <p:nvSpPr>
          <p:cNvPr id="49" name="val-L-4"/>
          <p:cNvSpPr txBox="1"/>
          <p:nvPr/>
        </p:nvSpPr>
        <p:spPr>
          <a:xfrm>
            <a:off x="1485900" y="42195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52</a:t>
            </a:r>
          </a:p>
        </p:txBody>
      </p:sp>
      <p:sp>
        <p:nvSpPr>
          <p:cNvPr id="50" name="val-R-4"/>
          <p:cNvSpPr txBox="1"/>
          <p:nvPr/>
        </p:nvSpPr>
        <p:spPr>
          <a:xfrm>
            <a:off x="6543675" y="36861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71</a:t>
            </a:r>
          </a:p>
        </p:txBody>
      </p:sp>
      <p:sp>
        <p:nvSpPr>
          <p:cNvPr id="51" name="name-R-4"/>
          <p:cNvSpPr txBox="1"/>
          <p:nvPr/>
        </p:nvSpPr>
        <p:spPr>
          <a:xfrm>
            <a:off x="6924675" y="368617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Cloud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409700" y="4581525"/>
            <a:ext cx="5438775" cy="676275"/>
          </a:xfrm>
          <a:prstGeom prst="line">
            <a:avLst/>
          </a:prstGeom>
          <a:ln w="22225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t-5-L"/>
          <p:cNvSpPr/>
          <p:nvPr/>
        </p:nvSpPr>
        <p:spPr>
          <a:xfrm>
            <a:off x="1362075" y="52101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dot-5-R"/>
          <p:cNvSpPr/>
          <p:nvPr/>
        </p:nvSpPr>
        <p:spPr>
          <a:xfrm>
            <a:off x="6800850" y="453390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name-L-5"/>
          <p:cNvSpPr txBox="1"/>
          <p:nvPr/>
        </p:nvSpPr>
        <p:spPr>
          <a:xfrm>
            <a:off x="514350" y="51816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Auto</a:t>
            </a:r>
          </a:p>
        </p:txBody>
      </p:sp>
      <p:sp>
        <p:nvSpPr>
          <p:cNvPr id="56" name="val-L-5"/>
          <p:cNvSpPr txBox="1"/>
          <p:nvPr/>
        </p:nvSpPr>
        <p:spPr>
          <a:xfrm>
            <a:off x="1485900" y="51816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18</a:t>
            </a:r>
          </a:p>
        </p:txBody>
      </p:sp>
      <p:sp>
        <p:nvSpPr>
          <p:cNvPr id="57" name="val-R-5"/>
          <p:cNvSpPr txBox="1"/>
          <p:nvPr/>
        </p:nvSpPr>
        <p:spPr>
          <a:xfrm>
            <a:off x="6543675" y="45053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42</a:t>
            </a:r>
          </a:p>
        </p:txBody>
      </p:sp>
      <p:sp>
        <p:nvSpPr>
          <p:cNvPr id="58" name="name-R-5"/>
          <p:cNvSpPr txBox="1"/>
          <p:nvPr/>
        </p:nvSpPr>
        <p:spPr>
          <a:xfrm>
            <a:off x="6924675" y="450532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Auto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09700" y="3562350"/>
            <a:ext cx="5438775" cy="361950"/>
          </a:xfrm>
          <a:prstGeom prst="line">
            <a:avLst/>
          </a:prstGeom>
          <a:ln w="22225">
            <a:solidFill>
              <a:srgbClr val="E53E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ot-6-L"/>
          <p:cNvSpPr/>
          <p:nvPr/>
        </p:nvSpPr>
        <p:spPr>
          <a:xfrm>
            <a:off x="1362075" y="3514725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dot-6-R"/>
          <p:cNvSpPr/>
          <p:nvPr/>
        </p:nvSpPr>
        <p:spPr>
          <a:xfrm>
            <a:off x="6800850" y="3876675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name-L-6"/>
          <p:cNvSpPr txBox="1"/>
          <p:nvPr/>
        </p:nvSpPr>
        <p:spPr>
          <a:xfrm>
            <a:off x="514350" y="3486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Legacy Systems</a:t>
            </a:r>
          </a:p>
        </p:txBody>
      </p:sp>
      <p:sp>
        <p:nvSpPr>
          <p:cNvPr id="63" name="val-L-6"/>
          <p:cNvSpPr txBox="1"/>
          <p:nvPr/>
        </p:nvSpPr>
        <p:spPr>
          <a:xfrm>
            <a:off x="1485900" y="34861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78</a:t>
            </a:r>
          </a:p>
        </p:txBody>
      </p:sp>
      <p:sp>
        <p:nvSpPr>
          <p:cNvPr id="64" name="val-R-6"/>
          <p:cNvSpPr txBox="1"/>
          <p:nvPr/>
        </p:nvSpPr>
        <p:spPr>
          <a:xfrm>
            <a:off x="6543675" y="38481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65</a:t>
            </a:r>
          </a:p>
        </p:txBody>
      </p:sp>
      <p:sp>
        <p:nvSpPr>
          <p:cNvPr id="65" name="name-R-6"/>
          <p:cNvSpPr txBox="1"/>
          <p:nvPr/>
        </p:nvSpPr>
        <p:spPr>
          <a:xfrm>
            <a:off x="6924675" y="3848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Legacy Systems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409700" y="3448050"/>
            <a:ext cx="5438775" cy="676275"/>
          </a:xfrm>
          <a:prstGeom prst="line">
            <a:avLst/>
          </a:prstGeom>
          <a:ln w="22225">
            <a:solidFill>
              <a:srgbClr val="E53E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ot-7-L"/>
          <p:cNvSpPr/>
          <p:nvPr/>
        </p:nvSpPr>
        <p:spPr>
          <a:xfrm>
            <a:off x="1362075" y="3400425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dot-7-R"/>
          <p:cNvSpPr/>
          <p:nvPr/>
        </p:nvSpPr>
        <p:spPr>
          <a:xfrm>
            <a:off x="6800850" y="4076700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name-L-7"/>
          <p:cNvSpPr txBox="1"/>
          <p:nvPr/>
        </p:nvSpPr>
        <p:spPr>
          <a:xfrm>
            <a:off x="514350" y="33718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Manual Ops</a:t>
            </a:r>
          </a:p>
        </p:txBody>
      </p:sp>
      <p:sp>
        <p:nvSpPr>
          <p:cNvPr id="70" name="val-L-7"/>
          <p:cNvSpPr txBox="1"/>
          <p:nvPr/>
        </p:nvSpPr>
        <p:spPr>
          <a:xfrm>
            <a:off x="1485900" y="33718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82</a:t>
            </a:r>
          </a:p>
        </p:txBody>
      </p:sp>
      <p:sp>
        <p:nvSpPr>
          <p:cNvPr id="71" name="val-R-7"/>
          <p:cNvSpPr txBox="1"/>
          <p:nvPr/>
        </p:nvSpPr>
        <p:spPr>
          <a:xfrm>
            <a:off x="6543675" y="40481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58</a:t>
            </a:r>
          </a:p>
        </p:txBody>
      </p:sp>
      <p:sp>
        <p:nvSpPr>
          <p:cNvPr id="72" name="name-R-7"/>
          <p:cNvSpPr txBox="1"/>
          <p:nvPr/>
        </p:nvSpPr>
        <p:spPr>
          <a:xfrm>
            <a:off x="6924675" y="404812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Manual Ops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409700" y="3762375"/>
            <a:ext cx="5438775" cy="1123950"/>
          </a:xfrm>
          <a:prstGeom prst="line">
            <a:avLst/>
          </a:prstGeom>
          <a:ln w="22225">
            <a:solidFill>
              <a:srgbClr val="E53E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t-8-L"/>
          <p:cNvSpPr/>
          <p:nvPr/>
        </p:nvSpPr>
        <p:spPr>
          <a:xfrm>
            <a:off x="1362075" y="3714750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dot-8-R"/>
          <p:cNvSpPr/>
          <p:nvPr/>
        </p:nvSpPr>
        <p:spPr>
          <a:xfrm>
            <a:off x="6800850" y="4838700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name-L-8"/>
          <p:cNvSpPr txBox="1"/>
          <p:nvPr/>
        </p:nvSpPr>
        <p:spPr>
          <a:xfrm>
            <a:off x="514350" y="3686175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Paper-based</a:t>
            </a:r>
          </a:p>
        </p:txBody>
      </p:sp>
      <p:sp>
        <p:nvSpPr>
          <p:cNvPr id="77" name="val-L-8"/>
          <p:cNvSpPr txBox="1"/>
          <p:nvPr/>
        </p:nvSpPr>
        <p:spPr>
          <a:xfrm>
            <a:off x="1485900" y="36861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71</a:t>
            </a:r>
          </a:p>
        </p:txBody>
      </p:sp>
      <p:sp>
        <p:nvSpPr>
          <p:cNvPr id="78" name="val-R-8"/>
          <p:cNvSpPr txBox="1"/>
          <p:nvPr/>
        </p:nvSpPr>
        <p:spPr>
          <a:xfrm>
            <a:off x="6543675" y="48101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E53E3E"/>
                </a:solidFill>
                <a:latin typeface="Inter"/>
              </a:rPr>
              <a:t>31</a:t>
            </a:r>
          </a:p>
        </p:txBody>
      </p:sp>
      <p:sp>
        <p:nvSpPr>
          <p:cNvPr id="79" name="name-R-8"/>
          <p:cNvSpPr txBox="1"/>
          <p:nvPr/>
        </p:nvSpPr>
        <p:spPr>
          <a:xfrm>
            <a:off x="6924675" y="481012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Paper-based</a:t>
            </a:r>
          </a:p>
        </p:txBody>
      </p:sp>
      <p:sp>
        <p:nvSpPr>
          <p:cNvPr id="80" name="right-panel"/>
          <p:cNvSpPr/>
          <p:nvPr/>
        </p:nvSpPr>
        <p:spPr>
          <a:xfrm>
            <a:off x="8067675" y="2552700"/>
            <a:ext cx="3667125" cy="34956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panel-label"/>
          <p:cNvSpPr txBox="1"/>
          <p:nvPr/>
        </p:nvSpPr>
        <p:spPr>
          <a:xfrm>
            <a:off x="8239125" y="2724150"/>
            <a:ext cx="33242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INSIGHTS</a:t>
            </a:r>
          </a:p>
        </p:txBody>
      </p:sp>
      <p:sp>
        <p:nvSpPr>
          <p:cNvPr id="82" name="panel-headline"/>
          <p:cNvSpPr txBox="1"/>
          <p:nvPr/>
        </p:nvSpPr>
        <p:spPr>
          <a:xfrm>
            <a:off x="8239125" y="2933700"/>
            <a:ext cx="3324225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adoption accelerated while legacy dependencies contracted.</a:t>
            </a:r>
          </a:p>
        </p:txBody>
      </p:sp>
      <p:sp>
        <p:nvSpPr>
          <p:cNvPr id="83" name="bullet-1-marker"/>
          <p:cNvSpPr txBox="1"/>
          <p:nvPr/>
        </p:nvSpPr>
        <p:spPr>
          <a:xfrm>
            <a:off x="8239125" y="365760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84" name="bullet-1"/>
          <p:cNvSpPr txBox="1"/>
          <p:nvPr/>
        </p:nvSpPr>
        <p:spPr>
          <a:xfrm>
            <a:off x="8391525" y="3638550"/>
            <a:ext cx="3171825" cy="971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Five capabilities gained 24–36 pts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in two years — led by Digital (+36) and Cloud (+19). Concentrated investment in targeted sprints is paying off at scale.</a:t>
            </a:r>
          </a:p>
        </p:txBody>
      </p:sp>
      <p:sp>
        <p:nvSpPr>
          <p:cNvPr id="85" name="bullet-2-marker"/>
          <p:cNvSpPr txBox="1"/>
          <p:nvPr/>
        </p:nvSpPr>
        <p:spPr>
          <a:xfrm>
            <a:off x="8239125" y="468630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86" name="bullet-2"/>
          <p:cNvSpPr txBox="1"/>
          <p:nvPr/>
        </p:nvSpPr>
        <p:spPr>
          <a:xfrm>
            <a:off x="8391525" y="4667250"/>
            <a:ext cx="3171825" cy="971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Three legacy areas declined by 13–40 pts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— Paper-based processes fell most sharply (−40). Decommission runway must be accelerated before capability gaps widen.</a:t>
            </a:r>
          </a:p>
        </p:txBody>
      </p:sp>
      <p:sp>
        <p:nvSpPr>
          <p:cNvPr id="8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