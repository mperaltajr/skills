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Technical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Glossary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Standardized definitions for project terminology — Architecture, Data, and Regulatory domains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lpha-sidebar-rule"/>
          <p:cNvSpPr/>
          <p:nvPr/>
        </p:nvSpPr>
        <p:spPr>
          <a:xfrm>
            <a:off x="762000" y="1543050"/>
            <a:ext cx="9525" cy="4667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lpha-A-bg"/>
          <p:cNvSpPr/>
          <p:nvPr/>
        </p:nvSpPr>
        <p:spPr>
          <a:xfrm>
            <a:off x="495300" y="1543050"/>
            <a:ext cx="19050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alpha-A"/>
          <p:cNvSpPr txBox="1"/>
          <p:nvPr/>
        </p:nvSpPr>
        <p:spPr>
          <a:xfrm>
            <a:off x="495300" y="15430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8" name="alpha-B"/>
          <p:cNvSpPr txBox="1"/>
          <p:nvPr/>
        </p:nvSpPr>
        <p:spPr>
          <a:xfrm>
            <a:off x="495300" y="17049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B</a:t>
            </a:r>
          </a:p>
        </p:txBody>
      </p:sp>
      <p:sp>
        <p:nvSpPr>
          <p:cNvPr id="9" name="alpha-C"/>
          <p:cNvSpPr txBox="1"/>
          <p:nvPr/>
        </p:nvSpPr>
        <p:spPr>
          <a:xfrm>
            <a:off x="495300" y="18669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</a:t>
            </a:r>
          </a:p>
        </p:txBody>
      </p:sp>
      <p:sp>
        <p:nvSpPr>
          <p:cNvPr id="10" name="alpha-D"/>
          <p:cNvSpPr txBox="1"/>
          <p:nvPr/>
        </p:nvSpPr>
        <p:spPr>
          <a:xfrm>
            <a:off x="495300" y="20288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</a:t>
            </a:r>
          </a:p>
        </p:txBody>
      </p:sp>
      <p:sp>
        <p:nvSpPr>
          <p:cNvPr id="11" name="alpha-E"/>
          <p:cNvSpPr txBox="1"/>
          <p:nvPr/>
        </p:nvSpPr>
        <p:spPr>
          <a:xfrm>
            <a:off x="495300" y="21907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E</a:t>
            </a:r>
          </a:p>
        </p:txBody>
      </p:sp>
      <p:sp>
        <p:nvSpPr>
          <p:cNvPr id="12" name="alpha-F"/>
          <p:cNvSpPr txBox="1"/>
          <p:nvPr/>
        </p:nvSpPr>
        <p:spPr>
          <a:xfrm>
            <a:off x="495300" y="23526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F</a:t>
            </a:r>
          </a:p>
        </p:txBody>
      </p:sp>
      <p:sp>
        <p:nvSpPr>
          <p:cNvPr id="13" name="alpha-G"/>
          <p:cNvSpPr txBox="1"/>
          <p:nvPr/>
        </p:nvSpPr>
        <p:spPr>
          <a:xfrm>
            <a:off x="495300" y="25146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G</a:t>
            </a:r>
          </a:p>
        </p:txBody>
      </p:sp>
      <p:sp>
        <p:nvSpPr>
          <p:cNvPr id="14" name="alpha-H"/>
          <p:cNvSpPr txBox="1"/>
          <p:nvPr/>
        </p:nvSpPr>
        <p:spPr>
          <a:xfrm>
            <a:off x="495300" y="26765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H</a:t>
            </a:r>
          </a:p>
        </p:txBody>
      </p:sp>
      <p:sp>
        <p:nvSpPr>
          <p:cNvPr id="15" name="alpha-I"/>
          <p:cNvSpPr txBox="1"/>
          <p:nvPr/>
        </p:nvSpPr>
        <p:spPr>
          <a:xfrm>
            <a:off x="495300" y="28384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</a:t>
            </a:r>
          </a:p>
        </p:txBody>
      </p:sp>
      <p:sp>
        <p:nvSpPr>
          <p:cNvPr id="16" name="alpha-J"/>
          <p:cNvSpPr txBox="1"/>
          <p:nvPr/>
        </p:nvSpPr>
        <p:spPr>
          <a:xfrm>
            <a:off x="495300" y="30003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J</a:t>
            </a:r>
          </a:p>
        </p:txBody>
      </p:sp>
      <p:sp>
        <p:nvSpPr>
          <p:cNvPr id="17" name="alpha-K"/>
          <p:cNvSpPr txBox="1"/>
          <p:nvPr/>
        </p:nvSpPr>
        <p:spPr>
          <a:xfrm>
            <a:off x="495300" y="31623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K</a:t>
            </a:r>
          </a:p>
        </p:txBody>
      </p:sp>
      <p:sp>
        <p:nvSpPr>
          <p:cNvPr id="18" name="alpha-L"/>
          <p:cNvSpPr txBox="1"/>
          <p:nvPr/>
        </p:nvSpPr>
        <p:spPr>
          <a:xfrm>
            <a:off x="495300" y="33242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L</a:t>
            </a:r>
          </a:p>
        </p:txBody>
      </p:sp>
      <p:sp>
        <p:nvSpPr>
          <p:cNvPr id="19" name="alpha-M"/>
          <p:cNvSpPr txBox="1"/>
          <p:nvPr/>
        </p:nvSpPr>
        <p:spPr>
          <a:xfrm>
            <a:off x="495300" y="34861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</a:t>
            </a:r>
          </a:p>
        </p:txBody>
      </p:sp>
      <p:sp>
        <p:nvSpPr>
          <p:cNvPr id="20" name="alpha-N"/>
          <p:cNvSpPr txBox="1"/>
          <p:nvPr/>
        </p:nvSpPr>
        <p:spPr>
          <a:xfrm>
            <a:off x="495300" y="36480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N</a:t>
            </a:r>
          </a:p>
        </p:txBody>
      </p:sp>
      <p:sp>
        <p:nvSpPr>
          <p:cNvPr id="21" name="alpha-O"/>
          <p:cNvSpPr txBox="1"/>
          <p:nvPr/>
        </p:nvSpPr>
        <p:spPr>
          <a:xfrm>
            <a:off x="495300" y="38100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O</a:t>
            </a:r>
          </a:p>
        </p:txBody>
      </p:sp>
      <p:sp>
        <p:nvSpPr>
          <p:cNvPr id="22" name="alpha-P"/>
          <p:cNvSpPr txBox="1"/>
          <p:nvPr/>
        </p:nvSpPr>
        <p:spPr>
          <a:xfrm>
            <a:off x="495300" y="39719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</a:t>
            </a:r>
          </a:p>
        </p:txBody>
      </p:sp>
      <p:sp>
        <p:nvSpPr>
          <p:cNvPr id="23" name="alpha-Q"/>
          <p:cNvSpPr txBox="1"/>
          <p:nvPr/>
        </p:nvSpPr>
        <p:spPr>
          <a:xfrm>
            <a:off x="495300" y="41338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</a:t>
            </a:r>
          </a:p>
        </p:txBody>
      </p:sp>
      <p:sp>
        <p:nvSpPr>
          <p:cNvPr id="24" name="alpha-R"/>
          <p:cNvSpPr txBox="1"/>
          <p:nvPr/>
        </p:nvSpPr>
        <p:spPr>
          <a:xfrm>
            <a:off x="495300" y="42957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R</a:t>
            </a:r>
          </a:p>
        </p:txBody>
      </p:sp>
      <p:sp>
        <p:nvSpPr>
          <p:cNvPr id="25" name="alpha-S"/>
          <p:cNvSpPr txBox="1"/>
          <p:nvPr/>
        </p:nvSpPr>
        <p:spPr>
          <a:xfrm>
            <a:off x="495300" y="44577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</a:t>
            </a:r>
          </a:p>
        </p:txBody>
      </p:sp>
      <p:sp>
        <p:nvSpPr>
          <p:cNvPr id="26" name="alpha-T"/>
          <p:cNvSpPr txBox="1"/>
          <p:nvPr/>
        </p:nvSpPr>
        <p:spPr>
          <a:xfrm>
            <a:off x="495300" y="46196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</a:t>
            </a:r>
          </a:p>
        </p:txBody>
      </p:sp>
      <p:sp>
        <p:nvSpPr>
          <p:cNvPr id="27" name="alpha-U"/>
          <p:cNvSpPr txBox="1"/>
          <p:nvPr/>
        </p:nvSpPr>
        <p:spPr>
          <a:xfrm>
            <a:off x="495300" y="47815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U</a:t>
            </a:r>
          </a:p>
        </p:txBody>
      </p:sp>
      <p:sp>
        <p:nvSpPr>
          <p:cNvPr id="28" name="alpha-V"/>
          <p:cNvSpPr txBox="1"/>
          <p:nvPr/>
        </p:nvSpPr>
        <p:spPr>
          <a:xfrm>
            <a:off x="495300" y="49434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V</a:t>
            </a:r>
          </a:p>
        </p:txBody>
      </p:sp>
      <p:sp>
        <p:nvSpPr>
          <p:cNvPr id="29" name="alpha-W"/>
          <p:cNvSpPr txBox="1"/>
          <p:nvPr/>
        </p:nvSpPr>
        <p:spPr>
          <a:xfrm>
            <a:off x="495300" y="510540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W</a:t>
            </a:r>
          </a:p>
        </p:txBody>
      </p:sp>
      <p:sp>
        <p:nvSpPr>
          <p:cNvPr id="30" name="alpha-X"/>
          <p:cNvSpPr txBox="1"/>
          <p:nvPr/>
        </p:nvSpPr>
        <p:spPr>
          <a:xfrm>
            <a:off x="495300" y="52673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X</a:t>
            </a:r>
          </a:p>
        </p:txBody>
      </p:sp>
      <p:sp>
        <p:nvSpPr>
          <p:cNvPr id="31" name="alpha-Y"/>
          <p:cNvSpPr txBox="1"/>
          <p:nvPr/>
        </p:nvSpPr>
        <p:spPr>
          <a:xfrm>
            <a:off x="495300" y="5429250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Y</a:t>
            </a:r>
          </a:p>
        </p:txBody>
      </p:sp>
      <p:sp>
        <p:nvSpPr>
          <p:cNvPr id="32" name="alpha-Z"/>
          <p:cNvSpPr txBox="1"/>
          <p:nvPr/>
        </p:nvSpPr>
        <p:spPr>
          <a:xfrm>
            <a:off x="495300" y="559117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Z</a:t>
            </a:r>
          </a:p>
        </p:txBody>
      </p:sp>
      <p:sp>
        <p:nvSpPr>
          <p:cNvPr id="33" name="section-A-header"/>
          <p:cNvSpPr txBox="1"/>
          <p:nvPr/>
        </p:nvSpPr>
        <p:spPr>
          <a:xfrm>
            <a:off x="876300" y="15430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</a:t>
            </a:r>
          </a:p>
        </p:txBody>
      </p:sp>
      <p:sp>
        <p:nvSpPr>
          <p:cNvPr id="34" name="section-A-rule"/>
          <p:cNvSpPr/>
          <p:nvPr/>
        </p:nvSpPr>
        <p:spPr>
          <a:xfrm>
            <a:off x="876300" y="169545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erm-1-label"/>
          <p:cNvSpPr txBox="1"/>
          <p:nvPr/>
        </p:nvSpPr>
        <p:spPr>
          <a:xfrm>
            <a:off x="876300" y="17526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API Gateway</a:t>
            </a:r>
          </a:p>
        </p:txBody>
      </p:sp>
      <p:sp>
        <p:nvSpPr>
          <p:cNvPr id="36" name="term-1-def"/>
          <p:cNvSpPr txBox="1"/>
          <p:nvPr/>
        </p:nvSpPr>
        <p:spPr>
          <a:xfrm>
            <a:off x="1866900" y="17526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Managed entry point routing client requests to back-end microservices with auth, rate limiting, and logging.</a:t>
            </a:r>
          </a:p>
        </p:txBody>
      </p:sp>
      <p:sp>
        <p:nvSpPr>
          <p:cNvPr id="37" name="term-1-tag-bg"/>
          <p:cNvSpPr/>
          <p:nvPr/>
        </p:nvSpPr>
        <p:spPr>
          <a:xfrm>
            <a:off x="5734050" y="1752600"/>
            <a:ext cx="476250" cy="1333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erm-1-tag"/>
          <p:cNvSpPr txBox="1"/>
          <p:nvPr/>
        </p:nvSpPr>
        <p:spPr>
          <a:xfrm>
            <a:off x="5734050" y="17526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527A0"/>
                </a:solidFill>
                <a:latin typeface="Inter"/>
              </a:rPr>
              <a:t>Tech</a:t>
            </a:r>
          </a:p>
        </p:txBody>
      </p:sp>
      <p:sp>
        <p:nvSpPr>
          <p:cNvPr id="39" name="term-1-rule"/>
          <p:cNvSpPr/>
          <p:nvPr/>
        </p:nvSpPr>
        <p:spPr>
          <a:xfrm>
            <a:off x="876300" y="21145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erm-2-label"/>
          <p:cNvSpPr txBox="1"/>
          <p:nvPr/>
        </p:nvSpPr>
        <p:spPr>
          <a:xfrm>
            <a:off x="876300" y="21336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Audit Trail</a:t>
            </a:r>
          </a:p>
        </p:txBody>
      </p:sp>
      <p:sp>
        <p:nvSpPr>
          <p:cNvPr id="41" name="term-2-def"/>
          <p:cNvSpPr txBox="1"/>
          <p:nvPr/>
        </p:nvSpPr>
        <p:spPr>
          <a:xfrm>
            <a:off x="1866900" y="21336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Immutable, timestamped log of system events used for compliance verification and forensic investigation.</a:t>
            </a:r>
          </a:p>
        </p:txBody>
      </p:sp>
      <p:sp>
        <p:nvSpPr>
          <p:cNvPr id="42" name="term-2-tag-bg"/>
          <p:cNvSpPr/>
          <p:nvPr/>
        </p:nvSpPr>
        <p:spPr>
          <a:xfrm>
            <a:off x="5734050" y="2133600"/>
            <a:ext cx="476250" cy="1333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erm-2-tag"/>
          <p:cNvSpPr txBox="1"/>
          <p:nvPr/>
        </p:nvSpPr>
        <p:spPr>
          <a:xfrm>
            <a:off x="5734050" y="21336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5100"/>
                </a:solidFill>
                <a:latin typeface="Inter"/>
              </a:rPr>
              <a:t>Regulatory</a:t>
            </a:r>
          </a:p>
        </p:txBody>
      </p:sp>
      <p:sp>
        <p:nvSpPr>
          <p:cNvPr id="44" name="term-2-rule"/>
          <p:cNvSpPr/>
          <p:nvPr/>
        </p:nvSpPr>
        <p:spPr>
          <a:xfrm>
            <a:off x="876300" y="24955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erm-3-label"/>
          <p:cNvSpPr txBox="1"/>
          <p:nvPr/>
        </p:nvSpPr>
        <p:spPr>
          <a:xfrm>
            <a:off x="876300" y="25146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Availability SLA</a:t>
            </a:r>
          </a:p>
        </p:txBody>
      </p:sp>
      <p:sp>
        <p:nvSpPr>
          <p:cNvPr id="46" name="term-3-def"/>
          <p:cNvSpPr txBox="1"/>
          <p:nvPr/>
        </p:nvSpPr>
        <p:spPr>
          <a:xfrm>
            <a:off x="1866900" y="25146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Contractual uptime commitment (e.g., 99.9%) defining acceptable downtime windows per rolling month.</a:t>
            </a:r>
          </a:p>
        </p:txBody>
      </p:sp>
      <p:sp>
        <p:nvSpPr>
          <p:cNvPr id="47" name="term-3-tag-bg"/>
          <p:cNvSpPr/>
          <p:nvPr/>
        </p:nvSpPr>
        <p:spPr>
          <a:xfrm>
            <a:off x="5734050" y="2514600"/>
            <a:ext cx="476250" cy="1333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erm-3-tag"/>
          <p:cNvSpPr txBox="1"/>
          <p:nvPr/>
        </p:nvSpPr>
        <p:spPr>
          <a:xfrm>
            <a:off x="5734050" y="25146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B5E20"/>
                </a:solidFill>
                <a:latin typeface="Inter"/>
              </a:rPr>
              <a:t>Business</a:t>
            </a:r>
          </a:p>
        </p:txBody>
      </p:sp>
      <p:sp>
        <p:nvSpPr>
          <p:cNvPr id="49" name="term-3-rule"/>
          <p:cNvSpPr/>
          <p:nvPr/>
        </p:nvSpPr>
        <p:spPr>
          <a:xfrm>
            <a:off x="876300" y="28765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ection-B-header"/>
          <p:cNvSpPr txBox="1"/>
          <p:nvPr/>
        </p:nvSpPr>
        <p:spPr>
          <a:xfrm>
            <a:off x="876300" y="2895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B</a:t>
            </a:r>
          </a:p>
        </p:txBody>
      </p:sp>
      <p:sp>
        <p:nvSpPr>
          <p:cNvPr id="51" name="section-B-rule"/>
          <p:cNvSpPr/>
          <p:nvPr/>
        </p:nvSpPr>
        <p:spPr>
          <a:xfrm>
            <a:off x="876300" y="304800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erm-4-label"/>
          <p:cNvSpPr txBox="1"/>
          <p:nvPr/>
        </p:nvSpPr>
        <p:spPr>
          <a:xfrm>
            <a:off x="876300" y="31051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Backpressure</a:t>
            </a:r>
          </a:p>
        </p:txBody>
      </p:sp>
      <p:sp>
        <p:nvSpPr>
          <p:cNvPr id="53" name="term-4-def"/>
          <p:cNvSpPr txBox="1"/>
          <p:nvPr/>
        </p:nvSpPr>
        <p:spPr>
          <a:xfrm>
            <a:off x="1866900" y="310515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Flow-control mechanism signalling upstream producers to slow emission when consumers are saturated.</a:t>
            </a:r>
          </a:p>
        </p:txBody>
      </p:sp>
      <p:sp>
        <p:nvSpPr>
          <p:cNvPr id="54" name="term-4-tag-bg"/>
          <p:cNvSpPr/>
          <p:nvPr/>
        </p:nvSpPr>
        <p:spPr>
          <a:xfrm>
            <a:off x="5734050" y="3105150"/>
            <a:ext cx="476250" cy="1333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erm-4-tag"/>
          <p:cNvSpPr txBox="1"/>
          <p:nvPr/>
        </p:nvSpPr>
        <p:spPr>
          <a:xfrm>
            <a:off x="5734050" y="31051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527A0"/>
                </a:solidFill>
                <a:latin typeface="Inter"/>
              </a:rPr>
              <a:t>Tech</a:t>
            </a:r>
          </a:p>
        </p:txBody>
      </p:sp>
      <p:sp>
        <p:nvSpPr>
          <p:cNvPr id="56" name="term-4-rule"/>
          <p:cNvSpPr/>
          <p:nvPr/>
        </p:nvSpPr>
        <p:spPr>
          <a:xfrm>
            <a:off x="876300" y="346710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erm-5-label"/>
          <p:cNvSpPr txBox="1"/>
          <p:nvPr/>
        </p:nvSpPr>
        <p:spPr>
          <a:xfrm>
            <a:off x="876300" y="34861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Bounded Context</a:t>
            </a:r>
          </a:p>
        </p:txBody>
      </p:sp>
      <p:sp>
        <p:nvSpPr>
          <p:cNvPr id="58" name="term-5-def"/>
          <p:cNvSpPr txBox="1"/>
          <p:nvPr/>
        </p:nvSpPr>
        <p:spPr>
          <a:xfrm>
            <a:off x="1866900" y="348615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DDD partition within which a specific domain model applies consistently, with explicit translation at boundaries.</a:t>
            </a:r>
          </a:p>
        </p:txBody>
      </p:sp>
      <p:sp>
        <p:nvSpPr>
          <p:cNvPr id="59" name="term-5-tag-bg"/>
          <p:cNvSpPr/>
          <p:nvPr/>
        </p:nvSpPr>
        <p:spPr>
          <a:xfrm>
            <a:off x="5734050" y="3486150"/>
            <a:ext cx="476250" cy="1333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erm-5-tag"/>
          <p:cNvSpPr txBox="1"/>
          <p:nvPr/>
        </p:nvSpPr>
        <p:spPr>
          <a:xfrm>
            <a:off x="5734050" y="34861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527A0"/>
                </a:solidFill>
                <a:latin typeface="Inter"/>
              </a:rPr>
              <a:t>Tech</a:t>
            </a:r>
          </a:p>
        </p:txBody>
      </p:sp>
      <p:sp>
        <p:nvSpPr>
          <p:cNvPr id="61" name="term-5-rule"/>
          <p:cNvSpPr/>
          <p:nvPr/>
        </p:nvSpPr>
        <p:spPr>
          <a:xfrm>
            <a:off x="876300" y="384810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ection-D-header"/>
          <p:cNvSpPr txBox="1"/>
          <p:nvPr/>
        </p:nvSpPr>
        <p:spPr>
          <a:xfrm>
            <a:off x="876300" y="38671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</a:t>
            </a:r>
          </a:p>
        </p:txBody>
      </p:sp>
      <p:sp>
        <p:nvSpPr>
          <p:cNvPr id="63" name="section-D-rule"/>
          <p:cNvSpPr/>
          <p:nvPr/>
        </p:nvSpPr>
        <p:spPr>
          <a:xfrm>
            <a:off x="876300" y="401955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erm-6-label"/>
          <p:cNvSpPr txBox="1"/>
          <p:nvPr/>
        </p:nvSpPr>
        <p:spPr>
          <a:xfrm>
            <a:off x="876300" y="40767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Lineage</a:t>
            </a:r>
          </a:p>
        </p:txBody>
      </p:sp>
      <p:sp>
        <p:nvSpPr>
          <p:cNvPr id="65" name="term-6-def"/>
          <p:cNvSpPr txBox="1"/>
          <p:nvPr/>
        </p:nvSpPr>
        <p:spPr>
          <a:xfrm>
            <a:off x="1866900" y="40767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End-to-end traceability of data from origin through all transformations to its current state.</a:t>
            </a:r>
          </a:p>
        </p:txBody>
      </p:sp>
      <p:sp>
        <p:nvSpPr>
          <p:cNvPr id="66" name="term-6-tag-bg"/>
          <p:cNvSpPr/>
          <p:nvPr/>
        </p:nvSpPr>
        <p:spPr>
          <a:xfrm>
            <a:off x="5734050" y="4076700"/>
            <a:ext cx="476250" cy="1333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erm-6-tag"/>
          <p:cNvSpPr txBox="1"/>
          <p:nvPr/>
        </p:nvSpPr>
        <p:spPr>
          <a:xfrm>
            <a:off x="5734050" y="40767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D47A1"/>
                </a:solidFill>
                <a:latin typeface="Inter"/>
              </a:rPr>
              <a:t>Data</a:t>
            </a:r>
          </a:p>
        </p:txBody>
      </p:sp>
      <p:sp>
        <p:nvSpPr>
          <p:cNvPr id="68" name="term-6-rule"/>
          <p:cNvSpPr/>
          <p:nvPr/>
        </p:nvSpPr>
        <p:spPr>
          <a:xfrm>
            <a:off x="876300" y="44386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erm-7-label"/>
          <p:cNvSpPr txBox="1"/>
          <p:nvPr/>
        </p:nvSpPr>
        <p:spPr>
          <a:xfrm>
            <a:off x="876300" y="44577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DPIA</a:t>
            </a:r>
          </a:p>
        </p:txBody>
      </p:sp>
      <p:sp>
        <p:nvSpPr>
          <p:cNvPr id="70" name="term-7-def"/>
          <p:cNvSpPr txBox="1"/>
          <p:nvPr/>
        </p:nvSpPr>
        <p:spPr>
          <a:xfrm>
            <a:off x="1866900" y="44577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Protection Impact Assessment — mandatory GDPR process for high-risk personal-data processing activities.</a:t>
            </a:r>
          </a:p>
        </p:txBody>
      </p:sp>
      <p:sp>
        <p:nvSpPr>
          <p:cNvPr id="71" name="term-7-tag-bg"/>
          <p:cNvSpPr/>
          <p:nvPr/>
        </p:nvSpPr>
        <p:spPr>
          <a:xfrm>
            <a:off x="5734050" y="4457700"/>
            <a:ext cx="476250" cy="1333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erm-7-tag"/>
          <p:cNvSpPr txBox="1"/>
          <p:nvPr/>
        </p:nvSpPr>
        <p:spPr>
          <a:xfrm>
            <a:off x="5734050" y="44577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5100"/>
                </a:solidFill>
                <a:latin typeface="Inter"/>
              </a:rPr>
              <a:t>Regulatory</a:t>
            </a:r>
          </a:p>
        </p:txBody>
      </p:sp>
      <p:sp>
        <p:nvSpPr>
          <p:cNvPr id="73" name="term-7-rule"/>
          <p:cNvSpPr/>
          <p:nvPr/>
        </p:nvSpPr>
        <p:spPr>
          <a:xfrm>
            <a:off x="876300" y="48196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section-F-header"/>
          <p:cNvSpPr txBox="1"/>
          <p:nvPr/>
        </p:nvSpPr>
        <p:spPr>
          <a:xfrm>
            <a:off x="6400800" y="15430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F</a:t>
            </a:r>
          </a:p>
        </p:txBody>
      </p:sp>
      <p:sp>
        <p:nvSpPr>
          <p:cNvPr id="75" name="section-F-rule"/>
          <p:cNvSpPr/>
          <p:nvPr/>
        </p:nvSpPr>
        <p:spPr>
          <a:xfrm>
            <a:off x="6400800" y="169545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erm-8-label"/>
          <p:cNvSpPr txBox="1"/>
          <p:nvPr/>
        </p:nvSpPr>
        <p:spPr>
          <a:xfrm>
            <a:off x="6400800" y="17526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Feature Flag</a:t>
            </a:r>
          </a:p>
        </p:txBody>
      </p:sp>
      <p:sp>
        <p:nvSpPr>
          <p:cNvPr id="77" name="term-8-def"/>
          <p:cNvSpPr txBox="1"/>
          <p:nvPr/>
        </p:nvSpPr>
        <p:spPr>
          <a:xfrm>
            <a:off x="7391400" y="17526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Runtime toggle decoupling code deployment from feature release, enabling targeted rollouts and A/B testing.</a:t>
            </a:r>
          </a:p>
        </p:txBody>
      </p:sp>
      <p:sp>
        <p:nvSpPr>
          <p:cNvPr id="78" name="term-8-tag-bg"/>
          <p:cNvSpPr/>
          <p:nvPr/>
        </p:nvSpPr>
        <p:spPr>
          <a:xfrm>
            <a:off x="11258550" y="1752600"/>
            <a:ext cx="476250" cy="1333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erm-8-tag"/>
          <p:cNvSpPr txBox="1"/>
          <p:nvPr/>
        </p:nvSpPr>
        <p:spPr>
          <a:xfrm>
            <a:off x="11258550" y="17526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527A0"/>
                </a:solidFill>
                <a:latin typeface="Inter"/>
              </a:rPr>
              <a:t>Tech</a:t>
            </a:r>
          </a:p>
        </p:txBody>
      </p:sp>
      <p:sp>
        <p:nvSpPr>
          <p:cNvPr id="80" name="term-8-rule"/>
          <p:cNvSpPr/>
          <p:nvPr/>
        </p:nvSpPr>
        <p:spPr>
          <a:xfrm>
            <a:off x="6400800" y="21145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section-I-header"/>
          <p:cNvSpPr txBox="1"/>
          <p:nvPr/>
        </p:nvSpPr>
        <p:spPr>
          <a:xfrm>
            <a:off x="6400800" y="2133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</a:t>
            </a:r>
          </a:p>
        </p:txBody>
      </p:sp>
      <p:sp>
        <p:nvSpPr>
          <p:cNvPr id="82" name="section-I-rule"/>
          <p:cNvSpPr/>
          <p:nvPr/>
        </p:nvSpPr>
        <p:spPr>
          <a:xfrm>
            <a:off x="6400800" y="228600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erm-9-label"/>
          <p:cNvSpPr txBox="1"/>
          <p:nvPr/>
        </p:nvSpPr>
        <p:spPr>
          <a:xfrm>
            <a:off x="6400800" y="23431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Idempotency Key</a:t>
            </a:r>
          </a:p>
        </p:txBody>
      </p:sp>
      <p:sp>
        <p:nvSpPr>
          <p:cNvPr id="84" name="term-9-def"/>
          <p:cNvSpPr txBox="1"/>
          <p:nvPr/>
        </p:nvSpPr>
        <p:spPr>
          <a:xfrm>
            <a:off x="7391400" y="234315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Client-supplied token ensuring duplicate API calls produce identical side-effects without double-processing.</a:t>
            </a:r>
          </a:p>
        </p:txBody>
      </p:sp>
      <p:sp>
        <p:nvSpPr>
          <p:cNvPr id="85" name="term-9-tag-bg"/>
          <p:cNvSpPr/>
          <p:nvPr/>
        </p:nvSpPr>
        <p:spPr>
          <a:xfrm>
            <a:off x="11258550" y="2343150"/>
            <a:ext cx="476250" cy="1333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erm-9-tag"/>
          <p:cNvSpPr txBox="1"/>
          <p:nvPr/>
        </p:nvSpPr>
        <p:spPr>
          <a:xfrm>
            <a:off x="11258550" y="23431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527A0"/>
                </a:solidFill>
                <a:latin typeface="Inter"/>
              </a:rPr>
              <a:t>Tech</a:t>
            </a:r>
          </a:p>
        </p:txBody>
      </p:sp>
      <p:sp>
        <p:nvSpPr>
          <p:cNvPr id="87" name="term-9-rule"/>
          <p:cNvSpPr/>
          <p:nvPr/>
        </p:nvSpPr>
        <p:spPr>
          <a:xfrm>
            <a:off x="6400800" y="270510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erm-10-label"/>
          <p:cNvSpPr txBox="1"/>
          <p:nvPr/>
        </p:nvSpPr>
        <p:spPr>
          <a:xfrm>
            <a:off x="6400800" y="27241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Ingestion Latency</a:t>
            </a:r>
          </a:p>
        </p:txBody>
      </p:sp>
      <p:sp>
        <p:nvSpPr>
          <p:cNvPr id="89" name="term-10-def"/>
          <p:cNvSpPr txBox="1"/>
          <p:nvPr/>
        </p:nvSpPr>
        <p:spPr>
          <a:xfrm>
            <a:off x="7391400" y="272415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Elapsed time from event creation to availability in the analytic store; measured at p50, p95, p99.</a:t>
            </a:r>
          </a:p>
        </p:txBody>
      </p:sp>
      <p:sp>
        <p:nvSpPr>
          <p:cNvPr id="90" name="term-10-tag-bg"/>
          <p:cNvSpPr/>
          <p:nvPr/>
        </p:nvSpPr>
        <p:spPr>
          <a:xfrm>
            <a:off x="11258550" y="2724150"/>
            <a:ext cx="476250" cy="1333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erm-10-tag"/>
          <p:cNvSpPr txBox="1"/>
          <p:nvPr/>
        </p:nvSpPr>
        <p:spPr>
          <a:xfrm>
            <a:off x="11258550" y="27241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D47A1"/>
                </a:solidFill>
                <a:latin typeface="Inter"/>
              </a:rPr>
              <a:t>Data</a:t>
            </a:r>
          </a:p>
        </p:txBody>
      </p:sp>
      <p:sp>
        <p:nvSpPr>
          <p:cNvPr id="92" name="term-10-rule"/>
          <p:cNvSpPr/>
          <p:nvPr/>
        </p:nvSpPr>
        <p:spPr>
          <a:xfrm>
            <a:off x="6400800" y="308610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section-M-header"/>
          <p:cNvSpPr txBox="1"/>
          <p:nvPr/>
        </p:nvSpPr>
        <p:spPr>
          <a:xfrm>
            <a:off x="6400800" y="31051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</a:t>
            </a:r>
          </a:p>
        </p:txBody>
      </p:sp>
      <p:sp>
        <p:nvSpPr>
          <p:cNvPr id="94" name="section-M-rule"/>
          <p:cNvSpPr/>
          <p:nvPr/>
        </p:nvSpPr>
        <p:spPr>
          <a:xfrm>
            <a:off x="6400800" y="325755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erm-11-label"/>
          <p:cNvSpPr txBox="1"/>
          <p:nvPr/>
        </p:nvSpPr>
        <p:spPr>
          <a:xfrm>
            <a:off x="6400800" y="33147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MTTR</a:t>
            </a:r>
          </a:p>
        </p:txBody>
      </p:sp>
      <p:sp>
        <p:nvSpPr>
          <p:cNvPr id="96" name="term-11-def"/>
          <p:cNvSpPr txBox="1"/>
          <p:nvPr/>
        </p:nvSpPr>
        <p:spPr>
          <a:xfrm>
            <a:off x="7391400" y="33147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Mean Time To Recover — average duration to restore service following an incident; primary reliability KPI.</a:t>
            </a:r>
          </a:p>
        </p:txBody>
      </p:sp>
      <p:sp>
        <p:nvSpPr>
          <p:cNvPr id="97" name="term-11-tag-bg"/>
          <p:cNvSpPr/>
          <p:nvPr/>
        </p:nvSpPr>
        <p:spPr>
          <a:xfrm>
            <a:off x="11258550" y="3314700"/>
            <a:ext cx="476250" cy="1333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erm-11-tag"/>
          <p:cNvSpPr txBox="1"/>
          <p:nvPr/>
        </p:nvSpPr>
        <p:spPr>
          <a:xfrm>
            <a:off x="11258550" y="33147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B5E20"/>
                </a:solidFill>
                <a:latin typeface="Inter"/>
              </a:rPr>
              <a:t>Business</a:t>
            </a:r>
          </a:p>
        </p:txBody>
      </p:sp>
      <p:sp>
        <p:nvSpPr>
          <p:cNvPr id="99" name="term-11-rule"/>
          <p:cNvSpPr/>
          <p:nvPr/>
        </p:nvSpPr>
        <p:spPr>
          <a:xfrm>
            <a:off x="6400800" y="36766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section-R-header"/>
          <p:cNvSpPr txBox="1"/>
          <p:nvPr/>
        </p:nvSpPr>
        <p:spPr>
          <a:xfrm>
            <a:off x="6400800" y="36957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R</a:t>
            </a:r>
          </a:p>
        </p:txBody>
      </p:sp>
      <p:sp>
        <p:nvSpPr>
          <p:cNvPr id="101" name="section-R-rule"/>
          <p:cNvSpPr/>
          <p:nvPr/>
        </p:nvSpPr>
        <p:spPr>
          <a:xfrm>
            <a:off x="6400800" y="384810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term-12-label"/>
          <p:cNvSpPr txBox="1"/>
          <p:nvPr/>
        </p:nvSpPr>
        <p:spPr>
          <a:xfrm>
            <a:off x="6400800" y="39052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RPO</a:t>
            </a:r>
          </a:p>
        </p:txBody>
      </p:sp>
      <p:sp>
        <p:nvSpPr>
          <p:cNvPr id="103" name="term-12-def"/>
          <p:cNvSpPr txBox="1"/>
          <p:nvPr/>
        </p:nvSpPr>
        <p:spPr>
          <a:xfrm>
            <a:off x="7391400" y="390525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Recovery Point Objective — maximum acceptable data-loss window, expressed in time, in a disaster scenario.</a:t>
            </a:r>
          </a:p>
        </p:txBody>
      </p:sp>
      <p:sp>
        <p:nvSpPr>
          <p:cNvPr id="104" name="term-12-tag-bg"/>
          <p:cNvSpPr/>
          <p:nvPr/>
        </p:nvSpPr>
        <p:spPr>
          <a:xfrm>
            <a:off x="11258550" y="3905250"/>
            <a:ext cx="476250" cy="1333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erm-12-tag"/>
          <p:cNvSpPr txBox="1"/>
          <p:nvPr/>
        </p:nvSpPr>
        <p:spPr>
          <a:xfrm>
            <a:off x="11258550" y="390525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5100"/>
                </a:solidFill>
                <a:latin typeface="Inter"/>
              </a:rPr>
              <a:t>Regulatory</a:t>
            </a:r>
          </a:p>
        </p:txBody>
      </p:sp>
      <p:sp>
        <p:nvSpPr>
          <p:cNvPr id="106" name="term-12-rule"/>
          <p:cNvSpPr/>
          <p:nvPr/>
        </p:nvSpPr>
        <p:spPr>
          <a:xfrm>
            <a:off x="6400800" y="426720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section-S-header"/>
          <p:cNvSpPr txBox="1"/>
          <p:nvPr/>
        </p:nvSpPr>
        <p:spPr>
          <a:xfrm>
            <a:off x="6400800" y="42862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</a:t>
            </a:r>
          </a:p>
        </p:txBody>
      </p:sp>
      <p:sp>
        <p:nvSpPr>
          <p:cNvPr id="108" name="section-S-rule"/>
          <p:cNvSpPr/>
          <p:nvPr/>
        </p:nvSpPr>
        <p:spPr>
          <a:xfrm>
            <a:off x="6400800" y="4438650"/>
            <a:ext cx="533400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term-13-label"/>
          <p:cNvSpPr txBox="1"/>
          <p:nvPr/>
        </p:nvSpPr>
        <p:spPr>
          <a:xfrm>
            <a:off x="6400800" y="44958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Schema Registry</a:t>
            </a:r>
          </a:p>
        </p:txBody>
      </p:sp>
      <p:sp>
        <p:nvSpPr>
          <p:cNvPr id="110" name="term-13-def"/>
          <p:cNvSpPr txBox="1"/>
          <p:nvPr/>
        </p:nvSpPr>
        <p:spPr>
          <a:xfrm>
            <a:off x="7391400" y="44958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Centralised catalogue enforcing schema versioning and compatibility checks across event-driven producers/consumers.</a:t>
            </a:r>
          </a:p>
        </p:txBody>
      </p:sp>
      <p:sp>
        <p:nvSpPr>
          <p:cNvPr id="111" name="term-13-tag-bg"/>
          <p:cNvSpPr/>
          <p:nvPr/>
        </p:nvSpPr>
        <p:spPr>
          <a:xfrm>
            <a:off x="11258550" y="4495800"/>
            <a:ext cx="476250" cy="1333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term-13-tag"/>
          <p:cNvSpPr txBox="1"/>
          <p:nvPr/>
        </p:nvSpPr>
        <p:spPr>
          <a:xfrm>
            <a:off x="11258550" y="44958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D47A1"/>
                </a:solidFill>
                <a:latin typeface="Inter"/>
              </a:rPr>
              <a:t>Data</a:t>
            </a:r>
          </a:p>
        </p:txBody>
      </p:sp>
      <p:sp>
        <p:nvSpPr>
          <p:cNvPr id="113" name="term-13-rule"/>
          <p:cNvSpPr/>
          <p:nvPr/>
        </p:nvSpPr>
        <p:spPr>
          <a:xfrm>
            <a:off x="6400800" y="48577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term-14-label"/>
          <p:cNvSpPr txBox="1"/>
          <p:nvPr/>
        </p:nvSpPr>
        <p:spPr>
          <a:xfrm>
            <a:off x="6400800" y="48768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Service Mesh</a:t>
            </a:r>
          </a:p>
        </p:txBody>
      </p:sp>
      <p:sp>
        <p:nvSpPr>
          <p:cNvPr id="115" name="term-14-def"/>
          <p:cNvSpPr txBox="1"/>
          <p:nvPr/>
        </p:nvSpPr>
        <p:spPr>
          <a:xfrm>
            <a:off x="7391400" y="4876800"/>
            <a:ext cx="38290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Infrastructure layer handling inter-service communication, mTLS, observability, and traffic management transparently.</a:t>
            </a:r>
          </a:p>
        </p:txBody>
      </p:sp>
      <p:sp>
        <p:nvSpPr>
          <p:cNvPr id="116" name="term-14-tag-bg"/>
          <p:cNvSpPr/>
          <p:nvPr/>
        </p:nvSpPr>
        <p:spPr>
          <a:xfrm>
            <a:off x="11258550" y="4876800"/>
            <a:ext cx="476250" cy="1333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term-14-tag"/>
          <p:cNvSpPr txBox="1"/>
          <p:nvPr/>
        </p:nvSpPr>
        <p:spPr>
          <a:xfrm>
            <a:off x="11258550" y="48768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527A0"/>
                </a:solidFill>
                <a:latin typeface="Inter"/>
              </a:rPr>
              <a:t>Tech</a:t>
            </a:r>
          </a:p>
        </p:txBody>
      </p:sp>
      <p:sp>
        <p:nvSpPr>
          <p:cNvPr id="118" name="term-14-rule"/>
          <p:cNvSpPr/>
          <p:nvPr/>
        </p:nvSpPr>
        <p:spPr>
          <a:xfrm>
            <a:off x="6400800" y="5238750"/>
            <a:ext cx="5334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2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2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