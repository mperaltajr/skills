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0"/>
            <a:ext cx="857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MUST BE TRUE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Five conditions that turn this from a training exercise into a growth engine.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8953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Each is non-negotiable. Missing one collapses the others — together they hold up the operating model.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body-bg"/>
          <p:cNvSpPr/>
          <p:nvPr/>
        </p:nvSpPr>
        <p:spPr>
          <a:xfrm>
            <a:off x="457200" y="2095500"/>
            <a:ext cx="2143125" cy="3600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accent"/>
          <p:cNvSpPr/>
          <p:nvPr/>
        </p:nvSpPr>
        <p:spPr>
          <a:xfrm>
            <a:off x="457200" y="2095500"/>
            <a:ext cx="2143125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num"/>
          <p:cNvSpPr txBox="1"/>
          <p:nvPr/>
        </p:nvSpPr>
        <p:spPr>
          <a:xfrm>
            <a:off x="628650" y="23050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553677"/>
                </a:solidFill>
                <a:latin typeface="Inter"/>
              </a:rPr>
              <a:t>01</a:t>
            </a:r>
          </a:p>
        </p:txBody>
      </p:sp>
      <p:sp>
        <p:nvSpPr>
          <p:cNvPr id="9" name="card-1-heading"/>
          <p:cNvSpPr txBox="1"/>
          <p:nvPr/>
        </p:nvSpPr>
        <p:spPr>
          <a:xfrm>
            <a:off x="628650" y="29718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Leadership treats this as a commercial priority</a:t>
            </a:r>
          </a:p>
        </p:txBody>
      </p:sp>
      <p:sp>
        <p:nvSpPr>
          <p:cNvPr id="10" name="card-1-rule"/>
          <p:cNvSpPr/>
          <p:nvPr/>
        </p:nvSpPr>
        <p:spPr>
          <a:xfrm>
            <a:off x="628650" y="36957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body"/>
          <p:cNvSpPr txBox="1"/>
          <p:nvPr/>
        </p:nvSpPr>
        <p:spPr>
          <a:xfrm>
            <a:off x="628650" y="3848100"/>
            <a:ext cx="1800225" cy="1695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Not a training initiative. This lives in the account P&amp;L conversation — owned at the top and funded accordingly.</a:t>
            </a:r>
          </a:p>
        </p:txBody>
      </p:sp>
      <p:sp>
        <p:nvSpPr>
          <p:cNvPr id="12" name="card-2-body-bg"/>
          <p:cNvSpPr/>
          <p:nvPr/>
        </p:nvSpPr>
        <p:spPr>
          <a:xfrm>
            <a:off x="2733675" y="2095500"/>
            <a:ext cx="2143125" cy="3600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2733675" y="2095500"/>
            <a:ext cx="2143125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num"/>
          <p:cNvSpPr txBox="1"/>
          <p:nvPr/>
        </p:nvSpPr>
        <p:spPr>
          <a:xfrm>
            <a:off x="2905125" y="23050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553677"/>
                </a:solidFill>
                <a:latin typeface="Inter"/>
              </a:rPr>
              <a:t>02</a:t>
            </a:r>
          </a:p>
        </p:txBody>
      </p:sp>
      <p:sp>
        <p:nvSpPr>
          <p:cNvPr id="15" name="card-2-heading"/>
          <p:cNvSpPr txBox="1"/>
          <p:nvPr/>
        </p:nvSpPr>
        <p:spPr>
          <a:xfrm>
            <a:off x="2905125" y="29718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All insights grounded in real operations</a:t>
            </a:r>
          </a:p>
        </p:txBody>
      </p:sp>
      <p:sp>
        <p:nvSpPr>
          <p:cNvPr id="16" name="card-2-rule"/>
          <p:cNvSpPr/>
          <p:nvPr/>
        </p:nvSpPr>
        <p:spPr>
          <a:xfrm>
            <a:off x="2905125" y="36957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body"/>
          <p:cNvSpPr txBox="1"/>
          <p:nvPr/>
        </p:nvSpPr>
        <p:spPr>
          <a:xfrm>
            <a:off x="2905125" y="3848100"/>
            <a:ext cx="1800225" cy="1695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Pickup, delivery, sort, linehaul, clearance — not analyst frameworks. Every POV anchored to how the business actually works.</a:t>
            </a:r>
          </a:p>
        </p:txBody>
      </p:sp>
      <p:sp>
        <p:nvSpPr>
          <p:cNvPr id="18" name="card-3-body-bg"/>
          <p:cNvSpPr/>
          <p:nvPr/>
        </p:nvSpPr>
        <p:spPr>
          <a:xfrm>
            <a:off x="5010150" y="2095500"/>
            <a:ext cx="2143125" cy="3600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accent"/>
          <p:cNvSpPr/>
          <p:nvPr/>
        </p:nvSpPr>
        <p:spPr>
          <a:xfrm>
            <a:off x="5010150" y="2095500"/>
            <a:ext cx="2143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num"/>
          <p:cNvSpPr txBox="1"/>
          <p:nvPr/>
        </p:nvSpPr>
        <p:spPr>
          <a:xfrm>
            <a:off x="5181600" y="23050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553677"/>
                </a:solidFill>
                <a:latin typeface="Inter"/>
              </a:rPr>
              <a:t>03</a:t>
            </a:r>
          </a:p>
        </p:txBody>
      </p:sp>
      <p:sp>
        <p:nvSpPr>
          <p:cNvPr id="21" name="card-3-heading"/>
          <p:cNvSpPr txBox="1"/>
          <p:nvPr/>
        </p:nvSpPr>
        <p:spPr>
          <a:xfrm>
            <a:off x="5181600" y="29718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Every output tied to revenue, cost, or margin</a:t>
            </a:r>
          </a:p>
        </p:txBody>
      </p:sp>
      <p:sp>
        <p:nvSpPr>
          <p:cNvPr id="22" name="card-3-rule"/>
          <p:cNvSpPr/>
          <p:nvPr/>
        </p:nvSpPr>
        <p:spPr>
          <a:xfrm>
            <a:off x="5181600" y="36957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body"/>
          <p:cNvSpPr txBox="1"/>
          <p:nvPr/>
        </p:nvSpPr>
        <p:spPr>
          <a:xfrm>
            <a:off x="5181600" y="3848100"/>
            <a:ext cx="1800225" cy="1695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No exceptions. If we can't connect it to financial impact, we don't ship it. This is the non-negotiable filter.</a:t>
            </a:r>
          </a:p>
        </p:txBody>
      </p:sp>
      <p:sp>
        <p:nvSpPr>
          <p:cNvPr id="24" name="card-4-body-bg"/>
          <p:cNvSpPr/>
          <p:nvPr/>
        </p:nvSpPr>
        <p:spPr>
          <a:xfrm>
            <a:off x="7286625" y="2095500"/>
            <a:ext cx="2143125" cy="3600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4-accent"/>
          <p:cNvSpPr/>
          <p:nvPr/>
        </p:nvSpPr>
        <p:spPr>
          <a:xfrm>
            <a:off x="7286625" y="2095500"/>
            <a:ext cx="2143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4-num"/>
          <p:cNvSpPr txBox="1"/>
          <p:nvPr/>
        </p:nvSpPr>
        <p:spPr>
          <a:xfrm>
            <a:off x="7458075" y="23050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553677"/>
                </a:solidFill>
                <a:latin typeface="Inter"/>
              </a:rPr>
              <a:t>04</a:t>
            </a:r>
          </a:p>
        </p:txBody>
      </p:sp>
      <p:sp>
        <p:nvSpPr>
          <p:cNvPr id="27" name="card-4-heading"/>
          <p:cNvSpPr txBox="1"/>
          <p:nvPr/>
        </p:nvSpPr>
        <p:spPr>
          <a:xfrm>
            <a:off x="7458075" y="29718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Capability embedded into live sales &amp; governance</a:t>
            </a:r>
          </a:p>
        </p:txBody>
      </p:sp>
      <p:sp>
        <p:nvSpPr>
          <p:cNvPr id="28" name="card-4-rule"/>
          <p:cNvSpPr/>
          <p:nvPr/>
        </p:nvSpPr>
        <p:spPr>
          <a:xfrm>
            <a:off x="7458075" y="36957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ard-4-body"/>
          <p:cNvSpPr txBox="1"/>
          <p:nvPr/>
        </p:nvSpPr>
        <p:spPr>
          <a:xfrm>
            <a:off x="7458075" y="3848100"/>
            <a:ext cx="1800225" cy="1695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Not a standalone program. Embedded into how we sell, how we deliver, how we govern — not optional.</a:t>
            </a:r>
          </a:p>
        </p:txBody>
      </p:sp>
      <p:sp>
        <p:nvSpPr>
          <p:cNvPr id="30" name="card-5-body-bg"/>
          <p:cNvSpPr/>
          <p:nvPr/>
        </p:nvSpPr>
        <p:spPr>
          <a:xfrm>
            <a:off x="9563100" y="2095500"/>
            <a:ext cx="2143125" cy="3600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5-accent"/>
          <p:cNvSpPr/>
          <p:nvPr/>
        </p:nvSpPr>
        <p:spPr>
          <a:xfrm>
            <a:off x="9563100" y="2095500"/>
            <a:ext cx="2143125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5-num"/>
          <p:cNvSpPr txBox="1"/>
          <p:nvPr/>
        </p:nvSpPr>
        <p:spPr>
          <a:xfrm>
            <a:off x="9734550" y="2305050"/>
            <a:ext cx="18002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553677"/>
                </a:solidFill>
                <a:latin typeface="Inter"/>
              </a:rPr>
              <a:t>05</a:t>
            </a:r>
          </a:p>
        </p:txBody>
      </p:sp>
      <p:sp>
        <p:nvSpPr>
          <p:cNvPr id="33" name="card-5-heading"/>
          <p:cNvSpPr txBox="1"/>
          <p:nvPr/>
        </p:nvSpPr>
        <p:spPr>
          <a:xfrm>
            <a:off x="9734550" y="2971800"/>
            <a:ext cx="18002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Scales with standardized tools &amp; required adoption</a:t>
            </a:r>
          </a:p>
        </p:txBody>
      </p:sp>
      <p:sp>
        <p:nvSpPr>
          <p:cNvPr id="34" name="card-5-rule"/>
          <p:cNvSpPr/>
          <p:nvPr/>
        </p:nvSpPr>
        <p:spPr>
          <a:xfrm>
            <a:off x="9734550" y="36957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5-body"/>
          <p:cNvSpPr txBox="1"/>
          <p:nvPr/>
        </p:nvSpPr>
        <p:spPr>
          <a:xfrm>
            <a:off x="9734550" y="3848100"/>
            <a:ext cx="1800225" cy="1695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Playbooks, templates, and adoption are required — not optional. This scales across the account, not just one team.</a:t>
            </a:r>
          </a:p>
        </p:txBody>
      </p:sp>
      <p:sp>
        <p:nvSpPr>
          <p:cNvPr id="36" name="convergence-bg"/>
          <p:cNvSpPr/>
          <p:nvPr/>
        </p:nvSpPr>
        <p:spPr>
          <a:xfrm>
            <a:off x="457200" y="5848350"/>
            <a:ext cx="11277600" cy="4762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nvergence"/>
          <p:cNvSpPr txBox="1"/>
          <p:nvPr/>
        </p:nvSpPr>
        <p:spPr>
          <a:xfrm>
            <a:off x="666750" y="5848350"/>
            <a:ext cx="10858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These five ensure this becomes a growth engine for the account — not an internal capability exercise.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