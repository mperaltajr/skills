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Partnership Model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Comparison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Evaluating Reseller, Co-Sell, and OEM structures across eight critical dimensions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able-header-bg"/>
          <p:cNvSpPr/>
          <p:nvPr/>
        </p:nvSpPr>
        <p:spPr>
          <a:xfrm>
            <a:off x="609600" y="2095500"/>
            <a:ext cx="10972800" cy="3238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able-col-3-bg"/>
          <p:cNvSpPr/>
          <p:nvPr/>
        </p:nvSpPr>
        <p:spPr>
          <a:xfrm>
            <a:off x="5867400" y="2095500"/>
            <a:ext cx="2847975" cy="3238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able-col-1-header"/>
          <p:cNvSpPr txBox="1"/>
          <p:nvPr/>
        </p:nvSpPr>
        <p:spPr>
          <a:xfrm>
            <a:off x="723900" y="2190750"/>
            <a:ext cx="22193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DIMENSION</a:t>
            </a:r>
          </a:p>
        </p:txBody>
      </p:sp>
      <p:sp>
        <p:nvSpPr>
          <p:cNvPr id="8" name="table-col-2-header"/>
          <p:cNvSpPr txBox="1"/>
          <p:nvPr/>
        </p:nvSpPr>
        <p:spPr>
          <a:xfrm>
            <a:off x="3133725" y="2190750"/>
            <a:ext cx="26574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Reseller</a:t>
            </a:r>
          </a:p>
        </p:txBody>
      </p:sp>
      <p:sp>
        <p:nvSpPr>
          <p:cNvPr id="9" name="table-col-3-header"/>
          <p:cNvSpPr txBox="1"/>
          <p:nvPr/>
        </p:nvSpPr>
        <p:spPr>
          <a:xfrm>
            <a:off x="5981700" y="21907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Co-Sell</a:t>
            </a:r>
          </a:p>
        </p:txBody>
      </p:sp>
      <p:sp>
        <p:nvSpPr>
          <p:cNvPr id="10" name="table-col-3-badge"/>
          <p:cNvSpPr txBox="1"/>
          <p:nvPr/>
        </p:nvSpPr>
        <p:spPr>
          <a:xfrm>
            <a:off x="6629400" y="2190750"/>
            <a:ext cx="1047750" cy="152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RECOMMENDED</a:t>
            </a:r>
          </a:p>
        </p:txBody>
      </p:sp>
      <p:sp>
        <p:nvSpPr>
          <p:cNvPr id="11" name="table-col-4-header"/>
          <p:cNvSpPr txBox="1"/>
          <p:nvPr/>
        </p:nvSpPr>
        <p:spPr>
          <a:xfrm>
            <a:off x="8829675" y="2190750"/>
            <a:ext cx="26574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OEM</a:t>
            </a:r>
          </a:p>
        </p:txBody>
      </p:sp>
      <p:sp>
        <p:nvSpPr>
          <p:cNvPr id="12" name="table-row-1-bg"/>
          <p:cNvSpPr/>
          <p:nvPr/>
        </p:nvSpPr>
        <p:spPr>
          <a:xfrm>
            <a:off x="609600" y="2419350"/>
            <a:ext cx="10972800" cy="3619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able-row-1-cell-3-bg"/>
          <p:cNvSpPr/>
          <p:nvPr/>
        </p:nvSpPr>
        <p:spPr>
          <a:xfrm>
            <a:off x="5867400" y="2419350"/>
            <a:ext cx="2847975" cy="3619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able-row-1-label"/>
          <p:cNvSpPr txBox="1"/>
          <p:nvPr/>
        </p:nvSpPr>
        <p:spPr>
          <a:xfrm>
            <a:off x="723900" y="2514600"/>
            <a:ext cx="225742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Revenue share</a:t>
            </a:r>
          </a:p>
        </p:txBody>
      </p:sp>
      <p:sp>
        <p:nvSpPr>
          <p:cNvPr id="15" name="table-row-1-cell-2"/>
          <p:cNvSpPr txBox="1"/>
          <p:nvPr/>
        </p:nvSpPr>
        <p:spPr>
          <a:xfrm>
            <a:off x="3133725" y="251460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30–40% margin to partner</a:t>
            </a:r>
          </a:p>
        </p:txBody>
      </p:sp>
      <p:sp>
        <p:nvSpPr>
          <p:cNvPr id="16" name="table-row-1-cell-3"/>
          <p:cNvSpPr txBox="1"/>
          <p:nvPr/>
        </p:nvSpPr>
        <p:spPr>
          <a:xfrm>
            <a:off x="5981700" y="251460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15–25% split, deal-based</a:t>
            </a:r>
          </a:p>
        </p:txBody>
      </p:sp>
      <p:sp>
        <p:nvSpPr>
          <p:cNvPr id="17" name="table-row-1-cell-4"/>
          <p:cNvSpPr txBox="1"/>
          <p:nvPr/>
        </p:nvSpPr>
        <p:spPr>
          <a:xfrm>
            <a:off x="8829675" y="251460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10–18% royalty on units</a:t>
            </a:r>
          </a:p>
        </p:txBody>
      </p:sp>
      <p:sp>
        <p:nvSpPr>
          <p:cNvPr id="18" name="table-row-1-cell-divider-317"/>
          <p:cNvSpPr/>
          <p:nvPr/>
        </p:nvSpPr>
        <p:spPr>
          <a:xfrm>
            <a:off x="3019425" y="241935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able-row-1-cell-divider-616"/>
          <p:cNvSpPr/>
          <p:nvPr/>
        </p:nvSpPr>
        <p:spPr>
          <a:xfrm>
            <a:off x="5867400" y="241935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table-row-1-cell-divider-915"/>
          <p:cNvSpPr/>
          <p:nvPr/>
        </p:nvSpPr>
        <p:spPr>
          <a:xfrm>
            <a:off x="8715375" y="241935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able-row-2-bg"/>
          <p:cNvSpPr/>
          <p:nvPr/>
        </p:nvSpPr>
        <p:spPr>
          <a:xfrm>
            <a:off x="609600" y="2781300"/>
            <a:ext cx="10972800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able-row-2-cell-3-bg"/>
          <p:cNvSpPr/>
          <p:nvPr/>
        </p:nvSpPr>
        <p:spPr>
          <a:xfrm>
            <a:off x="5867400" y="2781300"/>
            <a:ext cx="2847975" cy="361950"/>
          </a:xfrm>
          <a:prstGeom prst="rect">
            <a:avLst/>
          </a:prstGeom>
          <a:solidFill>
            <a:srgbClr val="6E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able-row-2-label"/>
          <p:cNvSpPr txBox="1"/>
          <p:nvPr/>
        </p:nvSpPr>
        <p:spPr>
          <a:xfrm>
            <a:off x="723900" y="2876550"/>
            <a:ext cx="225742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Branding rights</a:t>
            </a:r>
          </a:p>
        </p:txBody>
      </p:sp>
      <p:sp>
        <p:nvSpPr>
          <p:cNvPr id="24" name="table-row-2-cell-2"/>
          <p:cNvSpPr txBox="1"/>
          <p:nvPr/>
        </p:nvSpPr>
        <p:spPr>
          <a:xfrm>
            <a:off x="3133725" y="287655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Partner brand leads</a:t>
            </a:r>
          </a:p>
        </p:txBody>
      </p:sp>
      <p:sp>
        <p:nvSpPr>
          <p:cNvPr id="25" name="table-row-2-cell-3"/>
          <p:cNvSpPr txBox="1"/>
          <p:nvPr/>
        </p:nvSpPr>
        <p:spPr>
          <a:xfrm>
            <a:off x="5981700" y="287655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Co-branded, negotiated</a:t>
            </a:r>
          </a:p>
        </p:txBody>
      </p:sp>
      <p:sp>
        <p:nvSpPr>
          <p:cNvPr id="26" name="table-row-2-cell-4"/>
          <p:cNvSpPr txBox="1"/>
          <p:nvPr/>
        </p:nvSpPr>
        <p:spPr>
          <a:xfrm>
            <a:off x="8829675" y="287655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White-label only</a:t>
            </a:r>
          </a:p>
        </p:txBody>
      </p:sp>
      <p:sp>
        <p:nvSpPr>
          <p:cNvPr id="27" name="table-row-2-cell-divider-317"/>
          <p:cNvSpPr/>
          <p:nvPr/>
        </p:nvSpPr>
        <p:spPr>
          <a:xfrm>
            <a:off x="3019425" y="278130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able-row-2-cell-divider-616"/>
          <p:cNvSpPr/>
          <p:nvPr/>
        </p:nvSpPr>
        <p:spPr>
          <a:xfrm>
            <a:off x="5867400" y="278130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table-row-2-cell-divider-915"/>
          <p:cNvSpPr/>
          <p:nvPr/>
        </p:nvSpPr>
        <p:spPr>
          <a:xfrm>
            <a:off x="8715375" y="278130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table-row-3-bg"/>
          <p:cNvSpPr/>
          <p:nvPr/>
        </p:nvSpPr>
        <p:spPr>
          <a:xfrm>
            <a:off x="609600" y="3143250"/>
            <a:ext cx="10972800" cy="3619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table-row-3-cell-3-bg"/>
          <p:cNvSpPr/>
          <p:nvPr/>
        </p:nvSpPr>
        <p:spPr>
          <a:xfrm>
            <a:off x="5867400" y="3143250"/>
            <a:ext cx="2847975" cy="3619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table-row-3-label"/>
          <p:cNvSpPr txBox="1"/>
          <p:nvPr/>
        </p:nvSpPr>
        <p:spPr>
          <a:xfrm>
            <a:off x="723900" y="3238500"/>
            <a:ext cx="225742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Support responsibility</a:t>
            </a:r>
          </a:p>
        </p:txBody>
      </p:sp>
      <p:sp>
        <p:nvSpPr>
          <p:cNvPr id="33" name="table-row-3-cell-2"/>
          <p:cNvSpPr txBox="1"/>
          <p:nvPr/>
        </p:nvSpPr>
        <p:spPr>
          <a:xfrm>
            <a:off x="3133725" y="323850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Partner owns Tier 1–2</a:t>
            </a:r>
          </a:p>
        </p:txBody>
      </p:sp>
      <p:sp>
        <p:nvSpPr>
          <p:cNvPr id="34" name="table-row-3-cell-3"/>
          <p:cNvSpPr txBox="1"/>
          <p:nvPr/>
        </p:nvSpPr>
        <p:spPr>
          <a:xfrm>
            <a:off x="5981700" y="323850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Shared SLA framework</a:t>
            </a:r>
          </a:p>
        </p:txBody>
      </p:sp>
      <p:sp>
        <p:nvSpPr>
          <p:cNvPr id="35" name="table-row-3-cell-4"/>
          <p:cNvSpPr txBox="1"/>
          <p:nvPr/>
        </p:nvSpPr>
        <p:spPr>
          <a:xfrm>
            <a:off x="8829675" y="323850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Vendor owns all tiers</a:t>
            </a:r>
          </a:p>
        </p:txBody>
      </p:sp>
      <p:sp>
        <p:nvSpPr>
          <p:cNvPr id="36" name="table-row-3-cell-divider-317"/>
          <p:cNvSpPr/>
          <p:nvPr/>
        </p:nvSpPr>
        <p:spPr>
          <a:xfrm>
            <a:off x="3019425" y="314325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able-row-3-cell-divider-616"/>
          <p:cNvSpPr/>
          <p:nvPr/>
        </p:nvSpPr>
        <p:spPr>
          <a:xfrm>
            <a:off x="5867400" y="314325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table-row-3-cell-divider-915"/>
          <p:cNvSpPr/>
          <p:nvPr/>
        </p:nvSpPr>
        <p:spPr>
          <a:xfrm>
            <a:off x="8715375" y="314325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table-row-4-bg"/>
          <p:cNvSpPr/>
          <p:nvPr/>
        </p:nvSpPr>
        <p:spPr>
          <a:xfrm>
            <a:off x="609600" y="3505200"/>
            <a:ext cx="10972800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table-row-4-cell-3-bg"/>
          <p:cNvSpPr/>
          <p:nvPr/>
        </p:nvSpPr>
        <p:spPr>
          <a:xfrm>
            <a:off x="5867400" y="3505200"/>
            <a:ext cx="2847975" cy="361950"/>
          </a:xfrm>
          <a:prstGeom prst="rect">
            <a:avLst/>
          </a:prstGeom>
          <a:solidFill>
            <a:srgbClr val="6E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table-row-4-label"/>
          <p:cNvSpPr txBox="1"/>
          <p:nvPr/>
        </p:nvSpPr>
        <p:spPr>
          <a:xfrm>
            <a:off x="723900" y="3600450"/>
            <a:ext cx="225742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Training provided</a:t>
            </a:r>
          </a:p>
        </p:txBody>
      </p:sp>
      <p:sp>
        <p:nvSpPr>
          <p:cNvPr id="42" name="table-row-4-cell-2"/>
          <p:cNvSpPr txBox="1"/>
          <p:nvPr/>
        </p:nvSpPr>
        <p:spPr>
          <a:xfrm>
            <a:off x="3133725" y="360045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Self-serve portal only</a:t>
            </a:r>
          </a:p>
        </p:txBody>
      </p:sp>
      <p:sp>
        <p:nvSpPr>
          <p:cNvPr id="43" name="table-row-4-cell-3"/>
          <p:cNvSpPr txBox="1"/>
          <p:nvPr/>
        </p:nvSpPr>
        <p:spPr>
          <a:xfrm>
            <a:off x="5981700" y="360045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Joint enablement sessions</a:t>
            </a:r>
          </a:p>
        </p:txBody>
      </p:sp>
      <p:sp>
        <p:nvSpPr>
          <p:cNvPr id="44" name="table-row-4-cell-4"/>
          <p:cNvSpPr txBox="1"/>
          <p:nvPr/>
        </p:nvSpPr>
        <p:spPr>
          <a:xfrm>
            <a:off x="8829675" y="360045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Full embedded training</a:t>
            </a:r>
          </a:p>
        </p:txBody>
      </p:sp>
      <p:sp>
        <p:nvSpPr>
          <p:cNvPr id="45" name="table-row-4-cell-divider-317"/>
          <p:cNvSpPr/>
          <p:nvPr/>
        </p:nvSpPr>
        <p:spPr>
          <a:xfrm>
            <a:off x="3019425" y="350520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table-row-4-cell-divider-616"/>
          <p:cNvSpPr/>
          <p:nvPr/>
        </p:nvSpPr>
        <p:spPr>
          <a:xfrm>
            <a:off x="5867400" y="350520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table-row-4-cell-divider-915"/>
          <p:cNvSpPr/>
          <p:nvPr/>
        </p:nvSpPr>
        <p:spPr>
          <a:xfrm>
            <a:off x="8715375" y="350520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able-row-5-bg"/>
          <p:cNvSpPr/>
          <p:nvPr/>
        </p:nvSpPr>
        <p:spPr>
          <a:xfrm>
            <a:off x="609600" y="3867150"/>
            <a:ext cx="10972800" cy="3619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table-row-5-cell-3-bg"/>
          <p:cNvSpPr/>
          <p:nvPr/>
        </p:nvSpPr>
        <p:spPr>
          <a:xfrm>
            <a:off x="5867400" y="3867150"/>
            <a:ext cx="2847975" cy="3619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table-row-5-label"/>
          <p:cNvSpPr txBox="1"/>
          <p:nvPr/>
        </p:nvSpPr>
        <p:spPr>
          <a:xfrm>
            <a:off x="723900" y="3962400"/>
            <a:ext cx="225742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Contract term</a:t>
            </a:r>
          </a:p>
        </p:txBody>
      </p:sp>
      <p:sp>
        <p:nvSpPr>
          <p:cNvPr id="51" name="table-row-5-cell-2"/>
          <p:cNvSpPr txBox="1"/>
          <p:nvPr/>
        </p:nvSpPr>
        <p:spPr>
          <a:xfrm>
            <a:off x="3133725" y="396240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12 months, auto-renew</a:t>
            </a:r>
          </a:p>
        </p:txBody>
      </p:sp>
      <p:sp>
        <p:nvSpPr>
          <p:cNvPr id="52" name="table-row-5-cell-3"/>
          <p:cNvSpPr txBox="1"/>
          <p:nvPr/>
        </p:nvSpPr>
        <p:spPr>
          <a:xfrm>
            <a:off x="5981700" y="396240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24 months, milestone gates</a:t>
            </a:r>
          </a:p>
        </p:txBody>
      </p:sp>
      <p:sp>
        <p:nvSpPr>
          <p:cNvPr id="53" name="table-row-5-cell-4"/>
          <p:cNvSpPr txBox="1"/>
          <p:nvPr/>
        </p:nvSpPr>
        <p:spPr>
          <a:xfrm>
            <a:off x="8829675" y="396240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36+ months, fixed</a:t>
            </a:r>
          </a:p>
        </p:txBody>
      </p:sp>
      <p:sp>
        <p:nvSpPr>
          <p:cNvPr id="54" name="table-row-5-cell-divider-317"/>
          <p:cNvSpPr/>
          <p:nvPr/>
        </p:nvSpPr>
        <p:spPr>
          <a:xfrm>
            <a:off x="3019425" y="386715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table-row-5-cell-divider-616"/>
          <p:cNvSpPr/>
          <p:nvPr/>
        </p:nvSpPr>
        <p:spPr>
          <a:xfrm>
            <a:off x="5867400" y="386715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table-row-5-cell-divider-915"/>
          <p:cNvSpPr/>
          <p:nvPr/>
        </p:nvSpPr>
        <p:spPr>
          <a:xfrm>
            <a:off x="8715375" y="386715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able-row-6-bg"/>
          <p:cNvSpPr/>
          <p:nvPr/>
        </p:nvSpPr>
        <p:spPr>
          <a:xfrm>
            <a:off x="609600" y="4229100"/>
            <a:ext cx="10972800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table-row-6-cell-3-bg"/>
          <p:cNvSpPr/>
          <p:nvPr/>
        </p:nvSpPr>
        <p:spPr>
          <a:xfrm>
            <a:off x="5867400" y="4229100"/>
            <a:ext cx="2847975" cy="361950"/>
          </a:xfrm>
          <a:prstGeom prst="rect">
            <a:avLst/>
          </a:prstGeom>
          <a:solidFill>
            <a:srgbClr val="6E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table-row-6-label"/>
          <p:cNvSpPr txBox="1"/>
          <p:nvPr/>
        </p:nvSpPr>
        <p:spPr>
          <a:xfrm>
            <a:off x="723900" y="4324350"/>
            <a:ext cx="225742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Minimum commitment</a:t>
            </a:r>
          </a:p>
        </p:txBody>
      </p:sp>
      <p:sp>
        <p:nvSpPr>
          <p:cNvPr id="60" name="table-row-6-cell-2"/>
          <p:cNvSpPr txBox="1"/>
          <p:nvPr/>
        </p:nvSpPr>
        <p:spPr>
          <a:xfrm>
            <a:off x="3133725" y="432435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$50K ARR</a:t>
            </a:r>
          </a:p>
        </p:txBody>
      </p:sp>
      <p:sp>
        <p:nvSpPr>
          <p:cNvPr id="61" name="table-row-6-cell-3"/>
          <p:cNvSpPr txBox="1"/>
          <p:nvPr/>
        </p:nvSpPr>
        <p:spPr>
          <a:xfrm>
            <a:off x="5981700" y="432435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$150K ARR, 3 deals/year</a:t>
            </a:r>
          </a:p>
        </p:txBody>
      </p:sp>
      <p:sp>
        <p:nvSpPr>
          <p:cNvPr id="62" name="table-row-6-cell-4"/>
          <p:cNvSpPr txBox="1"/>
          <p:nvPr/>
        </p:nvSpPr>
        <p:spPr>
          <a:xfrm>
            <a:off x="8829675" y="432435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$500K upfront license</a:t>
            </a:r>
          </a:p>
        </p:txBody>
      </p:sp>
      <p:sp>
        <p:nvSpPr>
          <p:cNvPr id="63" name="table-row-6-cell-divider-317"/>
          <p:cNvSpPr/>
          <p:nvPr/>
        </p:nvSpPr>
        <p:spPr>
          <a:xfrm>
            <a:off x="3019425" y="422910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table-row-6-cell-divider-616"/>
          <p:cNvSpPr/>
          <p:nvPr/>
        </p:nvSpPr>
        <p:spPr>
          <a:xfrm>
            <a:off x="5867400" y="422910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table-row-6-cell-divider-915"/>
          <p:cNvSpPr/>
          <p:nvPr/>
        </p:nvSpPr>
        <p:spPr>
          <a:xfrm>
            <a:off x="8715375" y="422910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table-row-7-bg"/>
          <p:cNvSpPr/>
          <p:nvPr/>
        </p:nvSpPr>
        <p:spPr>
          <a:xfrm>
            <a:off x="609600" y="4591050"/>
            <a:ext cx="10972800" cy="3619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table-row-7-cell-3-bg"/>
          <p:cNvSpPr/>
          <p:nvPr/>
        </p:nvSpPr>
        <p:spPr>
          <a:xfrm>
            <a:off x="5867400" y="4591050"/>
            <a:ext cx="2847975" cy="3619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table-row-7-label"/>
          <p:cNvSpPr txBox="1"/>
          <p:nvPr/>
        </p:nvSpPr>
        <p:spPr>
          <a:xfrm>
            <a:off x="723900" y="4686300"/>
            <a:ext cx="225742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Integration depth</a:t>
            </a:r>
          </a:p>
        </p:txBody>
      </p:sp>
      <p:sp>
        <p:nvSpPr>
          <p:cNvPr id="69" name="table-row-7-cell-2"/>
          <p:cNvSpPr txBox="1"/>
          <p:nvPr/>
        </p:nvSpPr>
        <p:spPr>
          <a:xfrm>
            <a:off x="3133725" y="468630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API key, surface-level</a:t>
            </a:r>
          </a:p>
        </p:txBody>
      </p:sp>
      <p:sp>
        <p:nvSpPr>
          <p:cNvPr id="70" name="table-row-7-cell-3"/>
          <p:cNvSpPr txBox="1"/>
          <p:nvPr/>
        </p:nvSpPr>
        <p:spPr>
          <a:xfrm>
            <a:off x="5981700" y="468630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Native connector, joint roadmap</a:t>
            </a:r>
          </a:p>
        </p:txBody>
      </p:sp>
      <p:sp>
        <p:nvSpPr>
          <p:cNvPr id="71" name="table-row-7-cell-4"/>
          <p:cNvSpPr txBox="1"/>
          <p:nvPr/>
        </p:nvSpPr>
        <p:spPr>
          <a:xfrm>
            <a:off x="8829675" y="468630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Full SDK embed</a:t>
            </a:r>
          </a:p>
        </p:txBody>
      </p:sp>
      <p:sp>
        <p:nvSpPr>
          <p:cNvPr id="72" name="table-row-7-cell-divider-317"/>
          <p:cNvSpPr/>
          <p:nvPr/>
        </p:nvSpPr>
        <p:spPr>
          <a:xfrm>
            <a:off x="3019425" y="459105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table-row-7-cell-divider-616"/>
          <p:cNvSpPr/>
          <p:nvPr/>
        </p:nvSpPr>
        <p:spPr>
          <a:xfrm>
            <a:off x="5867400" y="459105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table-row-7-cell-divider-915"/>
          <p:cNvSpPr/>
          <p:nvPr/>
        </p:nvSpPr>
        <p:spPr>
          <a:xfrm>
            <a:off x="8715375" y="459105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table-row-8-bg"/>
          <p:cNvSpPr/>
          <p:nvPr/>
        </p:nvSpPr>
        <p:spPr>
          <a:xfrm>
            <a:off x="609600" y="4953000"/>
            <a:ext cx="10972800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table-row-8-cell-3-bg"/>
          <p:cNvSpPr/>
          <p:nvPr/>
        </p:nvSpPr>
        <p:spPr>
          <a:xfrm>
            <a:off x="5867400" y="4953000"/>
            <a:ext cx="2847975" cy="361950"/>
          </a:xfrm>
          <a:prstGeom prst="rect">
            <a:avLst/>
          </a:prstGeom>
          <a:solidFill>
            <a:srgbClr val="6E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table-row-8-label"/>
          <p:cNvSpPr txBox="1"/>
          <p:nvPr/>
        </p:nvSpPr>
        <p:spPr>
          <a:xfrm>
            <a:off x="723900" y="5048250"/>
            <a:ext cx="225742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Exit clause</a:t>
            </a:r>
          </a:p>
        </p:txBody>
      </p:sp>
      <p:sp>
        <p:nvSpPr>
          <p:cNvPr id="78" name="table-row-8-cell-2"/>
          <p:cNvSpPr txBox="1"/>
          <p:nvPr/>
        </p:nvSpPr>
        <p:spPr>
          <a:xfrm>
            <a:off x="3133725" y="504825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60-day notice, no penalty</a:t>
            </a:r>
          </a:p>
        </p:txBody>
      </p:sp>
      <p:sp>
        <p:nvSpPr>
          <p:cNvPr id="79" name="table-row-8-cell-3"/>
          <p:cNvSpPr txBox="1"/>
          <p:nvPr/>
        </p:nvSpPr>
        <p:spPr>
          <a:xfrm>
            <a:off x="5981700" y="504825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90-day notice, wind-down plan</a:t>
            </a:r>
          </a:p>
        </p:txBody>
      </p:sp>
      <p:sp>
        <p:nvSpPr>
          <p:cNvPr id="80" name="table-row-8-cell-4"/>
          <p:cNvSpPr txBox="1"/>
          <p:nvPr/>
        </p:nvSpPr>
        <p:spPr>
          <a:xfrm>
            <a:off x="8829675" y="504825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12-month buyout required</a:t>
            </a:r>
          </a:p>
        </p:txBody>
      </p:sp>
      <p:sp>
        <p:nvSpPr>
          <p:cNvPr id="81" name="table-row-8-cell-divider-317"/>
          <p:cNvSpPr/>
          <p:nvPr/>
        </p:nvSpPr>
        <p:spPr>
          <a:xfrm>
            <a:off x="3019425" y="495300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table-row-8-cell-divider-616"/>
          <p:cNvSpPr/>
          <p:nvPr/>
        </p:nvSpPr>
        <p:spPr>
          <a:xfrm>
            <a:off x="5867400" y="495300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table-row-8-cell-divider-915"/>
          <p:cNvSpPr/>
          <p:nvPr/>
        </p:nvSpPr>
        <p:spPr>
          <a:xfrm>
            <a:off x="8715375" y="495300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table-row-9-bg"/>
          <p:cNvSpPr/>
          <p:nvPr/>
        </p:nvSpPr>
        <p:spPr>
          <a:xfrm>
            <a:off x="609600" y="5314950"/>
            <a:ext cx="10972800" cy="3619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table-row-9-cell-3-bg"/>
          <p:cNvSpPr/>
          <p:nvPr/>
        </p:nvSpPr>
        <p:spPr>
          <a:xfrm>
            <a:off x="5867400" y="5314950"/>
            <a:ext cx="2847975" cy="3619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table-row-9-label"/>
          <p:cNvSpPr txBox="1"/>
          <p:nvPr/>
        </p:nvSpPr>
        <p:spPr>
          <a:xfrm>
            <a:off x="723900" y="5410200"/>
            <a:ext cx="225742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Marketing investment</a:t>
            </a:r>
          </a:p>
        </p:txBody>
      </p:sp>
      <p:sp>
        <p:nvSpPr>
          <p:cNvPr id="87" name="table-row-9-cell-2"/>
          <p:cNvSpPr txBox="1"/>
          <p:nvPr/>
        </p:nvSpPr>
        <p:spPr>
          <a:xfrm>
            <a:off x="3133725" y="541020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Partner-funded only</a:t>
            </a:r>
          </a:p>
        </p:txBody>
      </p:sp>
      <p:sp>
        <p:nvSpPr>
          <p:cNvPr id="88" name="table-row-9-cell-3"/>
          <p:cNvSpPr txBox="1"/>
          <p:nvPr/>
        </p:nvSpPr>
        <p:spPr>
          <a:xfrm>
            <a:off x="5981700" y="541020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Co-funded MDF program</a:t>
            </a:r>
          </a:p>
        </p:txBody>
      </p:sp>
      <p:sp>
        <p:nvSpPr>
          <p:cNvPr id="89" name="table-row-9-cell-4"/>
          <p:cNvSpPr txBox="1"/>
          <p:nvPr/>
        </p:nvSpPr>
        <p:spPr>
          <a:xfrm>
            <a:off x="8829675" y="541020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Vendor-led campaigns</a:t>
            </a:r>
          </a:p>
        </p:txBody>
      </p:sp>
      <p:sp>
        <p:nvSpPr>
          <p:cNvPr id="90" name="table-row-9-cell-divider-317"/>
          <p:cNvSpPr/>
          <p:nvPr/>
        </p:nvSpPr>
        <p:spPr>
          <a:xfrm>
            <a:off x="3019425" y="531495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table-row-9-cell-divider-616"/>
          <p:cNvSpPr/>
          <p:nvPr/>
        </p:nvSpPr>
        <p:spPr>
          <a:xfrm>
            <a:off x="5867400" y="531495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table-row-9-cell-divider-915"/>
          <p:cNvSpPr/>
          <p:nvPr/>
        </p:nvSpPr>
        <p:spPr>
          <a:xfrm>
            <a:off x="8715375" y="531495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table-row-10-bg"/>
          <p:cNvSpPr/>
          <p:nvPr/>
        </p:nvSpPr>
        <p:spPr>
          <a:xfrm>
            <a:off x="609600" y="5676900"/>
            <a:ext cx="10972800" cy="361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4" name="table-row-10-cell-3-bg"/>
          <p:cNvSpPr/>
          <p:nvPr/>
        </p:nvSpPr>
        <p:spPr>
          <a:xfrm>
            <a:off x="5867400" y="5676900"/>
            <a:ext cx="2847975" cy="361950"/>
          </a:xfrm>
          <a:prstGeom prst="rect">
            <a:avLst/>
          </a:prstGeom>
          <a:solidFill>
            <a:srgbClr val="6E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table-row-10-label"/>
          <p:cNvSpPr txBox="1"/>
          <p:nvPr/>
        </p:nvSpPr>
        <p:spPr>
          <a:xfrm>
            <a:off x="723900" y="5772150"/>
            <a:ext cx="225742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Lead routing</a:t>
            </a:r>
          </a:p>
        </p:txBody>
      </p:sp>
      <p:sp>
        <p:nvSpPr>
          <p:cNvPr id="96" name="table-row-10-cell-2"/>
          <p:cNvSpPr txBox="1"/>
          <p:nvPr/>
        </p:nvSpPr>
        <p:spPr>
          <a:xfrm>
            <a:off x="3133725" y="577215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Partner-sourced only</a:t>
            </a:r>
          </a:p>
        </p:txBody>
      </p:sp>
      <p:sp>
        <p:nvSpPr>
          <p:cNvPr id="97" name="table-row-10-cell-3"/>
          <p:cNvSpPr txBox="1"/>
          <p:nvPr/>
        </p:nvSpPr>
        <p:spPr>
          <a:xfrm>
            <a:off x="5981700" y="577215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Round-robin via PRM</a:t>
            </a:r>
          </a:p>
        </p:txBody>
      </p:sp>
      <p:sp>
        <p:nvSpPr>
          <p:cNvPr id="98" name="table-row-10-cell-4"/>
          <p:cNvSpPr txBox="1"/>
          <p:nvPr/>
        </p:nvSpPr>
        <p:spPr>
          <a:xfrm>
            <a:off x="8829675" y="5772150"/>
            <a:ext cx="2695575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Vendor SDR routing</a:t>
            </a:r>
          </a:p>
        </p:txBody>
      </p:sp>
      <p:sp>
        <p:nvSpPr>
          <p:cNvPr id="99" name="table-row-10-cell-divider-317"/>
          <p:cNvSpPr/>
          <p:nvPr/>
        </p:nvSpPr>
        <p:spPr>
          <a:xfrm>
            <a:off x="3019425" y="567690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0" name="table-row-10-cell-divider-616"/>
          <p:cNvSpPr/>
          <p:nvPr/>
        </p:nvSpPr>
        <p:spPr>
          <a:xfrm>
            <a:off x="5867400" y="567690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table-row-10-cell-divider-915"/>
          <p:cNvSpPr/>
          <p:nvPr/>
        </p:nvSpPr>
        <p:spPr>
          <a:xfrm>
            <a:off x="8715375" y="5676900"/>
            <a:ext cx="9525" cy="3619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3" name="convergence"/>
          <p:cNvSpPr txBox="1"/>
          <p:nvPr/>
        </p:nvSpPr>
        <p:spPr>
          <a:xfrm>
            <a:off x="609600" y="619125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Recommendation basis: Co-Sell aligns best with joint GTM objectives and shared accountability — negotiate minimum commitment threshold and co-branding exclusivity in Q3 before contract signature.</a:t>
            </a:r>
          </a:p>
        </p:txBody>
      </p:sp>
      <p:sp>
        <p:nvSpPr>
          <p:cNvPr id="104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0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0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198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