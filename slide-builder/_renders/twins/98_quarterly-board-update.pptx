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bar"/>
          <p:cNvSpPr/>
          <p:nvPr/>
        </p:nvSpPr>
        <p:spPr>
          <a:xfrm>
            <a:off x="0" y="342900"/>
            <a:ext cx="12192000" cy="647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itle"/>
          <p:cNvSpPr txBox="1"/>
          <p:nvPr/>
        </p:nvSpPr>
        <p:spPr>
          <a:xfrm>
            <a:off x="381000" y="26670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Q2 board update — pilot delivered, asking for Q3 expansion.</a:t>
            </a:r>
          </a:p>
        </p:txBody>
      </p:sp>
      <p:sp>
        <p:nvSpPr>
          <p:cNvPr id="4" name="brand-rule"/>
          <p:cNvSpPr/>
          <p:nvPr/>
        </p:nvSpPr>
        <p:spPr>
          <a:xfrm>
            <a:off x="0" y="990600"/>
            <a:ext cx="1219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eyebrow"/>
          <p:cNvSpPr txBox="1"/>
          <p:nvPr/>
        </p:nvSpPr>
        <p:spPr>
          <a:xfrm>
            <a:off x="381000" y="11430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QUARTERLY BOARD UPDATE</a:t>
            </a:r>
          </a:p>
        </p:txBody>
      </p:sp>
      <p:sp>
        <p:nvSpPr>
          <p:cNvPr id="6" name="eyebrow-meta"/>
          <p:cNvSpPr txBox="1"/>
          <p:nvPr/>
        </p:nvSpPr>
        <p:spPr>
          <a:xfrm>
            <a:off x="8382000" y="1143000"/>
            <a:ext cx="342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Q2 2026 · BOARD MEETING</a:t>
            </a:r>
          </a:p>
        </p:txBody>
      </p:sp>
      <p:sp>
        <p:nvSpPr>
          <p:cNvPr id="7" name="topline"/>
          <p:cNvSpPr/>
          <p:nvPr/>
        </p:nvSpPr>
        <p:spPr>
          <a:xfrm>
            <a:off x="381000" y="1409700"/>
            <a:ext cx="11430000" cy="533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opline-accent"/>
          <p:cNvSpPr/>
          <p:nvPr/>
        </p:nvSpPr>
        <p:spPr>
          <a:xfrm>
            <a:off x="381000" y="1409700"/>
            <a:ext cx="38100" cy="533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opline-label"/>
          <p:cNvSpPr txBox="1"/>
          <p:nvPr/>
        </p:nvSpPr>
        <p:spPr>
          <a:xfrm>
            <a:off x="552450" y="14859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TOP LINE</a:t>
            </a:r>
          </a:p>
        </p:txBody>
      </p:sp>
      <p:sp>
        <p:nvSpPr>
          <p:cNvPr id="10" name="topline-text"/>
          <p:cNvSpPr txBox="1"/>
          <p:nvPr/>
        </p:nvSpPr>
        <p:spPr>
          <a:xfrm>
            <a:off x="552450" y="1657350"/>
            <a:ext cx="11087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Pilot delivered all four success metrics. Asking for Q3 rollout greenlight to 3 practices.</a:t>
            </a:r>
          </a:p>
        </p:txBody>
      </p:sp>
      <p:sp>
        <p:nvSpPr>
          <p:cNvPr id="11" name="wins-zone-icon"/>
          <p:cNvSpPr txBox="1"/>
          <p:nvPr/>
        </p:nvSpPr>
        <p:spPr>
          <a:xfrm>
            <a:off x="381000" y="219075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2" name="wins-zone-title"/>
          <p:cNvSpPr txBox="1"/>
          <p:nvPr/>
        </p:nvSpPr>
        <p:spPr>
          <a:xfrm>
            <a:off x="666750" y="2228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THIS QUARTER</a:t>
            </a:r>
          </a:p>
        </p:txBody>
      </p:sp>
      <p:sp>
        <p:nvSpPr>
          <p:cNvPr id="13" name="wins-zone-meta"/>
          <p:cNvSpPr txBox="1"/>
          <p:nvPr/>
        </p:nvSpPr>
        <p:spPr>
          <a:xfrm>
            <a:off x="6096000" y="222885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4 KEY WINS</a:t>
            </a:r>
          </a:p>
        </p:txBody>
      </p:sp>
      <p:sp>
        <p:nvSpPr>
          <p:cNvPr id="14" name="wins-zone-divider"/>
          <p:cNvSpPr/>
          <p:nvPr/>
        </p:nvSpPr>
        <p:spPr>
          <a:xfrm>
            <a:off x="381000" y="2457450"/>
            <a:ext cx="68580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win-1-row"/>
          <p:cNvSpPr/>
          <p:nvPr/>
        </p:nvSpPr>
        <p:spPr>
          <a:xfrm>
            <a:off x="381000" y="2590800"/>
            <a:ext cx="6858000" cy="666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win-1-accent"/>
          <p:cNvSpPr/>
          <p:nvPr/>
        </p:nvSpPr>
        <p:spPr>
          <a:xfrm>
            <a:off x="381000" y="2590800"/>
            <a:ext cx="28575" cy="666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win-1-check"/>
          <p:cNvSpPr/>
          <p:nvPr/>
        </p:nvSpPr>
        <p:spPr>
          <a:xfrm>
            <a:off x="514350" y="2724150"/>
            <a:ext cx="209550" cy="2095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win-1-check-glyph"/>
          <p:cNvSpPr txBox="1"/>
          <p:nvPr/>
        </p:nvSpPr>
        <p:spPr>
          <a:xfrm>
            <a:off x="514350" y="2724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9" name="win-1-text"/>
          <p:cNvSpPr txBox="1"/>
          <p:nvPr/>
        </p:nvSpPr>
        <p:spPr>
          <a:xfrm>
            <a:off x="800100" y="2705100"/>
            <a:ext cx="6286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4-week pilot completed with all metrics green — no slippage, no escalations</a:t>
            </a:r>
          </a:p>
        </p:txBody>
      </p:sp>
      <p:sp>
        <p:nvSpPr>
          <p:cNvPr id="20" name="win-1-metric"/>
          <p:cNvSpPr txBox="1"/>
          <p:nvPr/>
        </p:nvSpPr>
        <p:spPr>
          <a:xfrm>
            <a:off x="800100" y="30289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STATUS · ON TRACK</a:t>
            </a:r>
          </a:p>
        </p:txBody>
      </p:sp>
      <p:sp>
        <p:nvSpPr>
          <p:cNvPr id="21" name="win-2-row"/>
          <p:cNvSpPr/>
          <p:nvPr/>
        </p:nvSpPr>
        <p:spPr>
          <a:xfrm>
            <a:off x="381000" y="3352800"/>
            <a:ext cx="6858000" cy="666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win-2-accent"/>
          <p:cNvSpPr/>
          <p:nvPr/>
        </p:nvSpPr>
        <p:spPr>
          <a:xfrm>
            <a:off x="381000" y="3352800"/>
            <a:ext cx="28575" cy="666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win-2-check"/>
          <p:cNvSpPr/>
          <p:nvPr/>
        </p:nvSpPr>
        <p:spPr>
          <a:xfrm>
            <a:off x="514350" y="3486150"/>
            <a:ext cx="209550" cy="2095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win-2-check-glyph"/>
          <p:cNvSpPr txBox="1"/>
          <p:nvPr/>
        </p:nvSpPr>
        <p:spPr>
          <a:xfrm>
            <a:off x="514350" y="3486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5" name="win-2-text"/>
          <p:cNvSpPr txBox="1"/>
          <p:nvPr/>
        </p:nvSpPr>
        <p:spPr>
          <a:xfrm>
            <a:off x="800100" y="3467100"/>
            <a:ext cx="6286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−64% cycle time vs baseline — exceeded our −40% target by 24 points</a:t>
            </a:r>
          </a:p>
        </p:txBody>
      </p:sp>
      <p:sp>
        <p:nvSpPr>
          <p:cNvPr id="26" name="win-2-metric"/>
          <p:cNvSpPr txBox="1"/>
          <p:nvPr/>
        </p:nvSpPr>
        <p:spPr>
          <a:xfrm>
            <a:off x="800100" y="37909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TARGET −40% · ACTUAL −64%</a:t>
            </a:r>
          </a:p>
        </p:txBody>
      </p:sp>
      <p:sp>
        <p:nvSpPr>
          <p:cNvPr id="27" name="win-3-row"/>
          <p:cNvSpPr/>
          <p:nvPr/>
        </p:nvSpPr>
        <p:spPr>
          <a:xfrm>
            <a:off x="381000" y="4114800"/>
            <a:ext cx="6858000" cy="666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win-3-accent"/>
          <p:cNvSpPr/>
          <p:nvPr/>
        </p:nvSpPr>
        <p:spPr>
          <a:xfrm>
            <a:off x="381000" y="4114800"/>
            <a:ext cx="28575" cy="666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win-3-check"/>
          <p:cNvSpPr/>
          <p:nvPr/>
        </p:nvSpPr>
        <p:spPr>
          <a:xfrm>
            <a:off x="514350" y="4248150"/>
            <a:ext cx="209550" cy="2095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win-3-check-glyph"/>
          <p:cNvSpPr txBox="1"/>
          <p:nvPr/>
        </p:nvSpPr>
        <p:spPr>
          <a:xfrm>
            <a:off x="514350" y="4248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1" name="win-3-text"/>
          <p:cNvSpPr txBox="1"/>
          <p:nvPr/>
        </p:nvSpPr>
        <p:spPr>
          <a:xfrm>
            <a:off x="800100" y="4229100"/>
            <a:ext cx="6286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94% first-review sign-off — above the 85% target, partners reviewing less</a:t>
            </a:r>
          </a:p>
        </p:txBody>
      </p:sp>
      <p:sp>
        <p:nvSpPr>
          <p:cNvPr id="32" name="win-3-metric"/>
          <p:cNvSpPr txBox="1"/>
          <p:nvPr/>
        </p:nvSpPr>
        <p:spPr>
          <a:xfrm>
            <a:off x="800100" y="45529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TARGET 85% · ACTUAL 94%</a:t>
            </a:r>
          </a:p>
        </p:txBody>
      </p:sp>
      <p:sp>
        <p:nvSpPr>
          <p:cNvPr id="33" name="win-4-row"/>
          <p:cNvSpPr/>
          <p:nvPr/>
        </p:nvSpPr>
        <p:spPr>
          <a:xfrm>
            <a:off x="381000" y="4876800"/>
            <a:ext cx="6858000" cy="666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win-4-accent"/>
          <p:cNvSpPr/>
          <p:nvPr/>
        </p:nvSpPr>
        <p:spPr>
          <a:xfrm>
            <a:off x="381000" y="4876800"/>
            <a:ext cx="28575" cy="666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win-4-check"/>
          <p:cNvSpPr/>
          <p:nvPr/>
        </p:nvSpPr>
        <p:spPr>
          <a:xfrm>
            <a:off x="514350" y="5010150"/>
            <a:ext cx="209550" cy="2095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win-4-check-glyph"/>
          <p:cNvSpPr txBox="1"/>
          <p:nvPr/>
        </p:nvSpPr>
        <p:spPr>
          <a:xfrm>
            <a:off x="514350" y="50101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7" name="win-4-text"/>
          <p:cNvSpPr txBox="1"/>
          <p:nvPr/>
        </p:nvSpPr>
        <p:spPr>
          <a:xfrm>
            <a:off x="800100" y="4991100"/>
            <a:ext cx="6286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12 partner-ready decks delivered through pilot — all client-facing, zero rework</a:t>
            </a:r>
          </a:p>
        </p:txBody>
      </p:sp>
      <p:sp>
        <p:nvSpPr>
          <p:cNvPr id="38" name="win-4-metric"/>
          <p:cNvSpPr txBox="1"/>
          <p:nvPr/>
        </p:nvSpPr>
        <p:spPr>
          <a:xfrm>
            <a:off x="800100" y="53149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12 DECKS · 0 REWORKS</a:t>
            </a:r>
          </a:p>
        </p:txBody>
      </p:sp>
      <p:sp>
        <p:nvSpPr>
          <p:cNvPr id="39" name="metrics-zone-icon"/>
          <p:cNvSpPr txBox="1"/>
          <p:nvPr/>
        </p:nvSpPr>
        <p:spPr>
          <a:xfrm>
            <a:off x="7429500" y="219075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■</a:t>
            </a:r>
          </a:p>
        </p:txBody>
      </p:sp>
      <p:sp>
        <p:nvSpPr>
          <p:cNvPr id="40" name="metrics-zone-title"/>
          <p:cNvSpPr txBox="1"/>
          <p:nvPr/>
        </p:nvSpPr>
        <p:spPr>
          <a:xfrm>
            <a:off x="7715250" y="22288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KEY METRICS</a:t>
            </a:r>
          </a:p>
        </p:txBody>
      </p:sp>
      <p:sp>
        <p:nvSpPr>
          <p:cNvPr id="41" name="metrics-zone-meta"/>
          <p:cNvSpPr txBox="1"/>
          <p:nvPr/>
        </p:nvSpPr>
        <p:spPr>
          <a:xfrm>
            <a:off x="10668000" y="222885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Q2 ACTUALS</a:t>
            </a:r>
          </a:p>
        </p:txBody>
      </p:sp>
      <p:sp>
        <p:nvSpPr>
          <p:cNvPr id="42" name="metrics-zone-divider"/>
          <p:cNvSpPr/>
          <p:nvPr/>
        </p:nvSpPr>
        <p:spPr>
          <a:xfrm>
            <a:off x="7429500" y="2457450"/>
            <a:ext cx="43815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kpi-1"/>
          <p:cNvSpPr/>
          <p:nvPr/>
        </p:nvSpPr>
        <p:spPr>
          <a:xfrm>
            <a:off x="7429500" y="2590800"/>
            <a:ext cx="21526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metric-1-accent"/>
          <p:cNvSpPr/>
          <p:nvPr/>
        </p:nvSpPr>
        <p:spPr>
          <a:xfrm>
            <a:off x="7429500" y="2590800"/>
            <a:ext cx="2152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metric-1-value"/>
          <p:cNvSpPr txBox="1"/>
          <p:nvPr/>
        </p:nvSpPr>
        <p:spPr>
          <a:xfrm>
            <a:off x="7524750" y="27051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5</a:t>
            </a:r>
          </a:p>
        </p:txBody>
      </p:sp>
      <p:sp>
        <p:nvSpPr>
          <p:cNvPr id="46" name="metric-1-unit"/>
          <p:cNvSpPr txBox="1"/>
          <p:nvPr/>
        </p:nvSpPr>
        <p:spPr>
          <a:xfrm>
            <a:off x="7715250" y="27813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</a:t>
            </a:r>
          </a:p>
        </p:txBody>
      </p:sp>
      <p:sp>
        <p:nvSpPr>
          <p:cNvPr id="47" name="metric-1-label"/>
          <p:cNvSpPr txBox="1"/>
          <p:nvPr/>
        </p:nvSpPr>
        <p:spPr>
          <a:xfrm>
            <a:off x="7524750" y="2990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CYCLE TIME</a:t>
            </a:r>
          </a:p>
        </p:txBody>
      </p:sp>
      <p:sp>
        <p:nvSpPr>
          <p:cNvPr id="48" name="kpi-2"/>
          <p:cNvSpPr/>
          <p:nvPr/>
        </p:nvSpPr>
        <p:spPr>
          <a:xfrm>
            <a:off x="9658350" y="2590800"/>
            <a:ext cx="21526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metric-2-accent"/>
          <p:cNvSpPr/>
          <p:nvPr/>
        </p:nvSpPr>
        <p:spPr>
          <a:xfrm>
            <a:off x="9658350" y="2590800"/>
            <a:ext cx="2152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metric-2-value"/>
          <p:cNvSpPr txBox="1"/>
          <p:nvPr/>
        </p:nvSpPr>
        <p:spPr>
          <a:xfrm>
            <a:off x="9753600" y="27051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94</a:t>
            </a:r>
          </a:p>
        </p:txBody>
      </p:sp>
      <p:sp>
        <p:nvSpPr>
          <p:cNvPr id="51" name="metric-2-unit"/>
          <p:cNvSpPr txBox="1"/>
          <p:nvPr/>
        </p:nvSpPr>
        <p:spPr>
          <a:xfrm>
            <a:off x="10096500" y="27813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%</a:t>
            </a:r>
          </a:p>
        </p:txBody>
      </p:sp>
      <p:sp>
        <p:nvSpPr>
          <p:cNvPr id="52" name="metric-2-label"/>
          <p:cNvSpPr txBox="1"/>
          <p:nvPr/>
        </p:nvSpPr>
        <p:spPr>
          <a:xfrm>
            <a:off x="9753600" y="2990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FIRST-REVIEW SIGN-OFF</a:t>
            </a:r>
          </a:p>
        </p:txBody>
      </p:sp>
      <p:sp>
        <p:nvSpPr>
          <p:cNvPr id="53" name="kpi-3"/>
          <p:cNvSpPr/>
          <p:nvPr/>
        </p:nvSpPr>
        <p:spPr>
          <a:xfrm>
            <a:off x="7429500" y="3276600"/>
            <a:ext cx="21526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metric-3-accent"/>
          <p:cNvSpPr/>
          <p:nvPr/>
        </p:nvSpPr>
        <p:spPr>
          <a:xfrm>
            <a:off x="7429500" y="3276600"/>
            <a:ext cx="2152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metric-3-value"/>
          <p:cNvSpPr txBox="1"/>
          <p:nvPr/>
        </p:nvSpPr>
        <p:spPr>
          <a:xfrm>
            <a:off x="7524750" y="33909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12</a:t>
            </a:r>
          </a:p>
        </p:txBody>
      </p:sp>
      <p:sp>
        <p:nvSpPr>
          <p:cNvPr id="56" name="metric-3-label"/>
          <p:cNvSpPr txBox="1"/>
          <p:nvPr/>
        </p:nvSpPr>
        <p:spPr>
          <a:xfrm>
            <a:off x="7524750" y="36766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PARTNER-READY DECKS</a:t>
            </a:r>
          </a:p>
        </p:txBody>
      </p:sp>
      <p:sp>
        <p:nvSpPr>
          <p:cNvPr id="57" name="kpi-4"/>
          <p:cNvSpPr/>
          <p:nvPr/>
        </p:nvSpPr>
        <p:spPr>
          <a:xfrm>
            <a:off x="9658350" y="3276600"/>
            <a:ext cx="21526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metric-4-accent"/>
          <p:cNvSpPr/>
          <p:nvPr/>
        </p:nvSpPr>
        <p:spPr>
          <a:xfrm>
            <a:off x="9658350" y="3276600"/>
            <a:ext cx="2152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metric-4-value"/>
          <p:cNvSpPr txBox="1"/>
          <p:nvPr/>
        </p:nvSpPr>
        <p:spPr>
          <a:xfrm>
            <a:off x="9753600" y="33909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$420</a:t>
            </a:r>
          </a:p>
        </p:txBody>
      </p:sp>
      <p:sp>
        <p:nvSpPr>
          <p:cNvPr id="60" name="metric-4-unit"/>
          <p:cNvSpPr txBox="1"/>
          <p:nvPr/>
        </p:nvSpPr>
        <p:spPr>
          <a:xfrm>
            <a:off x="10401300" y="34671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K</a:t>
            </a:r>
          </a:p>
        </p:txBody>
      </p:sp>
      <p:sp>
        <p:nvSpPr>
          <p:cNvPr id="61" name="metric-4-label"/>
          <p:cNvSpPr txBox="1"/>
          <p:nvPr/>
        </p:nvSpPr>
        <p:spPr>
          <a:xfrm>
            <a:off x="9753600" y="36766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ANNUAL SAVINGS (PROJ.)</a:t>
            </a:r>
          </a:p>
        </p:txBody>
      </p:sp>
      <p:sp>
        <p:nvSpPr>
          <p:cNvPr id="62" name="priorities-zone-icon"/>
          <p:cNvSpPr txBox="1"/>
          <p:nvPr/>
        </p:nvSpPr>
        <p:spPr>
          <a:xfrm>
            <a:off x="7429500" y="409575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▶</a:t>
            </a:r>
          </a:p>
        </p:txBody>
      </p:sp>
      <p:sp>
        <p:nvSpPr>
          <p:cNvPr id="63" name="priorities-zone-title"/>
          <p:cNvSpPr txBox="1"/>
          <p:nvPr/>
        </p:nvSpPr>
        <p:spPr>
          <a:xfrm>
            <a:off x="7715250" y="41338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NEXT QUARTER</a:t>
            </a:r>
          </a:p>
        </p:txBody>
      </p:sp>
      <p:sp>
        <p:nvSpPr>
          <p:cNvPr id="64" name="priorities-zone-meta"/>
          <p:cNvSpPr txBox="1"/>
          <p:nvPr/>
        </p:nvSpPr>
        <p:spPr>
          <a:xfrm>
            <a:off x="10572750" y="413385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Q3 PRIORITIES</a:t>
            </a:r>
          </a:p>
        </p:txBody>
      </p:sp>
      <p:sp>
        <p:nvSpPr>
          <p:cNvPr id="65" name="priorities-zone-divider"/>
          <p:cNvSpPr/>
          <p:nvPr/>
        </p:nvSpPr>
        <p:spPr>
          <a:xfrm>
            <a:off x="7429500" y="4362450"/>
            <a:ext cx="43815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priority-1"/>
          <p:cNvSpPr/>
          <p:nvPr/>
        </p:nvSpPr>
        <p:spPr>
          <a:xfrm>
            <a:off x="7429500" y="4495800"/>
            <a:ext cx="4381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priority-1-accent"/>
          <p:cNvSpPr/>
          <p:nvPr/>
        </p:nvSpPr>
        <p:spPr>
          <a:xfrm>
            <a:off x="7429500" y="4495800"/>
            <a:ext cx="28575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priority-1-num-bg"/>
          <p:cNvSpPr/>
          <p:nvPr/>
        </p:nvSpPr>
        <p:spPr>
          <a:xfrm>
            <a:off x="7543800" y="454342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priority-1-num"/>
          <p:cNvSpPr txBox="1"/>
          <p:nvPr/>
        </p:nvSpPr>
        <p:spPr>
          <a:xfrm>
            <a:off x="7543800" y="45434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0" name="priority-1-text"/>
          <p:cNvSpPr txBox="1"/>
          <p:nvPr/>
        </p:nvSpPr>
        <p:spPr>
          <a:xfrm>
            <a:off x="7829550" y="4562475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Roll out to 3 additional practices</a:t>
            </a:r>
          </a:p>
        </p:txBody>
      </p:sp>
      <p:sp>
        <p:nvSpPr>
          <p:cNvPr id="71" name="priority-2"/>
          <p:cNvSpPr/>
          <p:nvPr/>
        </p:nvSpPr>
        <p:spPr>
          <a:xfrm>
            <a:off x="7429500" y="4867275"/>
            <a:ext cx="4381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priority-2-accent"/>
          <p:cNvSpPr/>
          <p:nvPr/>
        </p:nvSpPr>
        <p:spPr>
          <a:xfrm>
            <a:off x="7429500" y="4867275"/>
            <a:ext cx="28575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priority-2-num-bg"/>
          <p:cNvSpPr/>
          <p:nvPr/>
        </p:nvSpPr>
        <p:spPr>
          <a:xfrm>
            <a:off x="7543800" y="49149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priority-2-num"/>
          <p:cNvSpPr txBox="1"/>
          <p:nvPr/>
        </p:nvSpPr>
        <p:spPr>
          <a:xfrm>
            <a:off x="7543800" y="49149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75" name="priority-2-text"/>
          <p:cNvSpPr txBox="1"/>
          <p:nvPr/>
        </p:nvSpPr>
        <p:spPr>
          <a:xfrm>
            <a:off x="7829550" y="4933950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Build out pattern library to 150</a:t>
            </a:r>
          </a:p>
        </p:txBody>
      </p:sp>
      <p:sp>
        <p:nvSpPr>
          <p:cNvPr id="76" name="priority-3"/>
          <p:cNvSpPr/>
          <p:nvPr/>
        </p:nvSpPr>
        <p:spPr>
          <a:xfrm>
            <a:off x="7429500" y="5238750"/>
            <a:ext cx="4381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priority-3-accent"/>
          <p:cNvSpPr/>
          <p:nvPr/>
        </p:nvSpPr>
        <p:spPr>
          <a:xfrm>
            <a:off x="7429500" y="5238750"/>
            <a:ext cx="28575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priority-3-num-bg"/>
          <p:cNvSpPr/>
          <p:nvPr/>
        </p:nvSpPr>
        <p:spPr>
          <a:xfrm>
            <a:off x="7543800" y="528637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priority-3-num"/>
          <p:cNvSpPr txBox="1"/>
          <p:nvPr/>
        </p:nvSpPr>
        <p:spPr>
          <a:xfrm>
            <a:off x="7543800" y="52863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80" name="priority-3-text"/>
          <p:cNvSpPr txBox="1"/>
          <p:nvPr/>
        </p:nvSpPr>
        <p:spPr>
          <a:xfrm>
            <a:off x="7829550" y="5305425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Certify 6 senior coaches</a:t>
            </a:r>
          </a:p>
        </p:txBody>
      </p:sp>
      <p:sp>
        <p:nvSpPr>
          <p:cNvPr id="82" name="primary-ask-bg"/>
          <p:cNvSpPr/>
          <p:nvPr/>
        </p:nvSpPr>
        <p:spPr>
          <a:xfrm>
            <a:off x="381000" y="5848350"/>
            <a:ext cx="114300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primary-ask-accent"/>
          <p:cNvSpPr/>
          <p:nvPr/>
        </p:nvSpPr>
        <p:spPr>
          <a:xfrm>
            <a:off x="381000" y="5848350"/>
            <a:ext cx="38100" cy="476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primary-ask-label"/>
          <p:cNvSpPr txBox="1"/>
          <p:nvPr/>
        </p:nvSpPr>
        <p:spPr>
          <a:xfrm>
            <a:off x="552450" y="60007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ASK FROM THE BOARD</a:t>
            </a:r>
          </a:p>
        </p:txBody>
      </p:sp>
      <p:sp>
        <p:nvSpPr>
          <p:cNvPr id="85" name="primary-ask-text"/>
          <p:cNvSpPr txBox="1"/>
          <p:nvPr/>
        </p:nvSpPr>
        <p:spPr>
          <a:xfrm>
            <a:off x="2381250" y="5848350"/>
            <a:ext cx="9334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Approve Q3 rollout budget of $80K and 3 practice champions.</a:t>
            </a:r>
          </a:p>
        </p:txBody>
      </p:sp>
      <p:sp>
        <p:nvSpPr>
          <p:cNvPr id="8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