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Six dimensions that define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transformation readiness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compact reference grid across all capability buckets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3667125" cy="2190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top"/>
          <p:cNvSpPr/>
          <p:nvPr/>
        </p:nvSpPr>
        <p:spPr>
          <a:xfrm>
            <a:off x="457200" y="1905000"/>
            <a:ext cx="366712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bucket-1-badge-bg"/>
          <p:cNvSpPr/>
          <p:nvPr/>
        </p:nvSpPr>
        <p:spPr>
          <a:xfrm>
            <a:off x="590550" y="2019300"/>
            <a:ext cx="228600" cy="228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bucket-1-badge"/>
          <p:cNvSpPr txBox="1"/>
          <p:nvPr/>
        </p:nvSpPr>
        <p:spPr>
          <a:xfrm>
            <a:off x="590550" y="20193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bucket-1-title"/>
          <p:cNvSpPr txBox="1"/>
          <p:nvPr/>
        </p:nvSpPr>
        <p:spPr>
          <a:xfrm>
            <a:off x="914400" y="2038350"/>
            <a:ext cx="30575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Strategic Alignment</a:t>
            </a:r>
          </a:p>
        </p:txBody>
      </p:sp>
      <p:sp>
        <p:nvSpPr>
          <p:cNvPr id="10" name="bucket-1-bullet-1"/>
          <p:cNvSpPr txBox="1"/>
          <p:nvPr/>
        </p:nvSpPr>
        <p:spPr>
          <a:xfrm>
            <a:off x="590550" y="238125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Leadership vision linked to delivery roadmap</a:t>
            </a:r>
          </a:p>
        </p:txBody>
      </p:sp>
      <p:sp>
        <p:nvSpPr>
          <p:cNvPr id="11" name="bucket-1-bullet-2"/>
          <p:cNvSpPr txBox="1"/>
          <p:nvPr/>
        </p:nvSpPr>
        <p:spPr>
          <a:xfrm>
            <a:off x="590550" y="259080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KPIs cascade from enterprise objectives</a:t>
            </a:r>
          </a:p>
        </p:txBody>
      </p:sp>
      <p:sp>
        <p:nvSpPr>
          <p:cNvPr id="12" name="bucket-1-metric"/>
          <p:cNvSpPr txBox="1"/>
          <p:nvPr/>
        </p:nvSpPr>
        <p:spPr>
          <a:xfrm>
            <a:off x="590550" y="3867150"/>
            <a:ext cx="34004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Avg. maturity: 3.2 / 5</a:t>
            </a:r>
          </a:p>
        </p:txBody>
      </p:sp>
      <p:sp>
        <p:nvSpPr>
          <p:cNvPr id="13" name="bucket-2-card"/>
          <p:cNvSpPr/>
          <p:nvPr/>
        </p:nvSpPr>
        <p:spPr>
          <a:xfrm>
            <a:off x="4257675" y="1905000"/>
            <a:ext cx="3667125" cy="2190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bucket-2-top"/>
          <p:cNvSpPr/>
          <p:nvPr/>
        </p:nvSpPr>
        <p:spPr>
          <a:xfrm>
            <a:off x="4257675" y="1905000"/>
            <a:ext cx="366712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ucket-2-badge-bg"/>
          <p:cNvSpPr/>
          <p:nvPr/>
        </p:nvSpPr>
        <p:spPr>
          <a:xfrm>
            <a:off x="4391025" y="2019300"/>
            <a:ext cx="228600" cy="228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bucket-2-badge"/>
          <p:cNvSpPr txBox="1"/>
          <p:nvPr/>
        </p:nvSpPr>
        <p:spPr>
          <a:xfrm>
            <a:off x="4391025" y="20193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7" name="bucket-2-title"/>
          <p:cNvSpPr txBox="1"/>
          <p:nvPr/>
        </p:nvSpPr>
        <p:spPr>
          <a:xfrm>
            <a:off x="4714875" y="2038350"/>
            <a:ext cx="30575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&amp; Analytics</a:t>
            </a:r>
          </a:p>
        </p:txBody>
      </p:sp>
      <p:sp>
        <p:nvSpPr>
          <p:cNvPr id="18" name="bucket-2-bullet-1"/>
          <p:cNvSpPr txBox="1"/>
          <p:nvPr/>
        </p:nvSpPr>
        <p:spPr>
          <a:xfrm>
            <a:off x="4391025" y="238125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Unified data platform with governed access</a:t>
            </a:r>
          </a:p>
        </p:txBody>
      </p:sp>
      <p:sp>
        <p:nvSpPr>
          <p:cNvPr id="19" name="bucket-2-bullet-2"/>
          <p:cNvSpPr txBox="1"/>
          <p:nvPr/>
        </p:nvSpPr>
        <p:spPr>
          <a:xfrm>
            <a:off x="4391025" y="259080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Self-serve BI adoption above 60%</a:t>
            </a:r>
          </a:p>
        </p:txBody>
      </p:sp>
      <p:sp>
        <p:nvSpPr>
          <p:cNvPr id="20" name="bucket-2-metric"/>
          <p:cNvSpPr txBox="1"/>
          <p:nvPr/>
        </p:nvSpPr>
        <p:spPr>
          <a:xfrm>
            <a:off x="4391025" y="3867150"/>
            <a:ext cx="34004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Coverage: 74% of domains</a:t>
            </a:r>
          </a:p>
        </p:txBody>
      </p:sp>
      <p:sp>
        <p:nvSpPr>
          <p:cNvPr id="21" name="bucket-3-card"/>
          <p:cNvSpPr/>
          <p:nvPr/>
        </p:nvSpPr>
        <p:spPr>
          <a:xfrm>
            <a:off x="8058150" y="1905000"/>
            <a:ext cx="3667125" cy="2190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bucket-3-top"/>
          <p:cNvSpPr/>
          <p:nvPr/>
        </p:nvSpPr>
        <p:spPr>
          <a:xfrm>
            <a:off x="8058150" y="1905000"/>
            <a:ext cx="366712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bucket-3-badge-bg"/>
          <p:cNvSpPr/>
          <p:nvPr/>
        </p:nvSpPr>
        <p:spPr>
          <a:xfrm>
            <a:off x="8191500" y="2019300"/>
            <a:ext cx="228600" cy="228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bucket-3-badge"/>
          <p:cNvSpPr txBox="1"/>
          <p:nvPr/>
        </p:nvSpPr>
        <p:spPr>
          <a:xfrm>
            <a:off x="8191500" y="20193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5" name="bucket-3-title"/>
          <p:cNvSpPr txBox="1"/>
          <p:nvPr/>
        </p:nvSpPr>
        <p:spPr>
          <a:xfrm>
            <a:off x="8515350" y="2038350"/>
            <a:ext cx="30575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 &amp; Architecture</a:t>
            </a:r>
          </a:p>
        </p:txBody>
      </p:sp>
      <p:sp>
        <p:nvSpPr>
          <p:cNvPr id="26" name="bucket-3-bullet-1"/>
          <p:cNvSpPr txBox="1"/>
          <p:nvPr/>
        </p:nvSpPr>
        <p:spPr>
          <a:xfrm>
            <a:off x="8191500" y="238125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Cloud-native services as default deployment target</a:t>
            </a:r>
          </a:p>
        </p:txBody>
      </p:sp>
      <p:sp>
        <p:nvSpPr>
          <p:cNvPr id="27" name="bucket-3-bullet-2"/>
          <p:cNvSpPr txBox="1"/>
          <p:nvPr/>
        </p:nvSpPr>
        <p:spPr>
          <a:xfrm>
            <a:off x="8191500" y="259080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API-first integration fabric in place</a:t>
            </a:r>
          </a:p>
        </p:txBody>
      </p:sp>
      <p:sp>
        <p:nvSpPr>
          <p:cNvPr id="28" name="bucket-3-metric"/>
          <p:cNvSpPr txBox="1"/>
          <p:nvPr/>
        </p:nvSpPr>
        <p:spPr>
          <a:xfrm>
            <a:off x="8191500" y="3867150"/>
            <a:ext cx="34004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Cloud spend: 48% of IT</a:t>
            </a:r>
          </a:p>
        </p:txBody>
      </p:sp>
      <p:sp>
        <p:nvSpPr>
          <p:cNvPr id="29" name="bucket-4-card"/>
          <p:cNvSpPr/>
          <p:nvPr/>
        </p:nvSpPr>
        <p:spPr>
          <a:xfrm>
            <a:off x="457200" y="4229100"/>
            <a:ext cx="3667125" cy="2190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bucket-4-top"/>
          <p:cNvSpPr/>
          <p:nvPr/>
        </p:nvSpPr>
        <p:spPr>
          <a:xfrm>
            <a:off x="457200" y="4229100"/>
            <a:ext cx="366712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ucket-4-badge-bg"/>
          <p:cNvSpPr/>
          <p:nvPr/>
        </p:nvSpPr>
        <p:spPr>
          <a:xfrm>
            <a:off x="590550" y="4343400"/>
            <a:ext cx="228600" cy="228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bucket-4-badge"/>
          <p:cNvSpPr txBox="1"/>
          <p:nvPr/>
        </p:nvSpPr>
        <p:spPr>
          <a:xfrm>
            <a:off x="590550" y="4343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33" name="bucket-4-title"/>
          <p:cNvSpPr txBox="1"/>
          <p:nvPr/>
        </p:nvSpPr>
        <p:spPr>
          <a:xfrm>
            <a:off x="914400" y="4362450"/>
            <a:ext cx="30575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 &amp; Skills</a:t>
            </a:r>
          </a:p>
        </p:txBody>
      </p:sp>
      <p:sp>
        <p:nvSpPr>
          <p:cNvPr id="34" name="bucket-4-bullet-1"/>
          <p:cNvSpPr txBox="1"/>
          <p:nvPr/>
        </p:nvSpPr>
        <p:spPr>
          <a:xfrm>
            <a:off x="590550" y="470535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Reskilling pathways funded at programme level</a:t>
            </a:r>
          </a:p>
        </p:txBody>
      </p:sp>
      <p:sp>
        <p:nvSpPr>
          <p:cNvPr id="35" name="bucket-4-bullet-2"/>
          <p:cNvSpPr txBox="1"/>
          <p:nvPr/>
        </p:nvSpPr>
        <p:spPr>
          <a:xfrm>
            <a:off x="590550" y="491490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Digital fluency baseline assessed annually</a:t>
            </a:r>
          </a:p>
        </p:txBody>
      </p:sp>
      <p:sp>
        <p:nvSpPr>
          <p:cNvPr id="36" name="bucket-4-metric"/>
          <p:cNvSpPr txBox="1"/>
          <p:nvPr/>
        </p:nvSpPr>
        <p:spPr>
          <a:xfrm>
            <a:off x="590550" y="6191250"/>
            <a:ext cx="34004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Skill gap: 22% workforce</a:t>
            </a:r>
          </a:p>
        </p:txBody>
      </p:sp>
      <p:sp>
        <p:nvSpPr>
          <p:cNvPr id="37" name="bucket-5-card"/>
          <p:cNvSpPr/>
          <p:nvPr/>
        </p:nvSpPr>
        <p:spPr>
          <a:xfrm>
            <a:off x="4257675" y="4229100"/>
            <a:ext cx="3667125" cy="2190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bucket-5-top"/>
          <p:cNvSpPr/>
          <p:nvPr/>
        </p:nvSpPr>
        <p:spPr>
          <a:xfrm>
            <a:off x="4257675" y="4229100"/>
            <a:ext cx="366712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ucket-5-badge-bg"/>
          <p:cNvSpPr/>
          <p:nvPr/>
        </p:nvSpPr>
        <p:spPr>
          <a:xfrm>
            <a:off x="4391025" y="4343400"/>
            <a:ext cx="228600" cy="228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bucket-5-badge"/>
          <p:cNvSpPr txBox="1"/>
          <p:nvPr/>
        </p:nvSpPr>
        <p:spPr>
          <a:xfrm>
            <a:off x="4391025" y="4343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41" name="bucket-5-title"/>
          <p:cNvSpPr txBox="1"/>
          <p:nvPr/>
        </p:nvSpPr>
        <p:spPr>
          <a:xfrm>
            <a:off x="4714875" y="4362450"/>
            <a:ext cx="30575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Operating Model</a:t>
            </a:r>
          </a:p>
        </p:txBody>
      </p:sp>
      <p:sp>
        <p:nvSpPr>
          <p:cNvPr id="42" name="bucket-5-bullet-1"/>
          <p:cNvSpPr txBox="1"/>
          <p:nvPr/>
        </p:nvSpPr>
        <p:spPr>
          <a:xfrm>
            <a:off x="4391025" y="470535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Product-aligned squads with clear P&amp;L ownership</a:t>
            </a:r>
          </a:p>
        </p:txBody>
      </p:sp>
      <p:sp>
        <p:nvSpPr>
          <p:cNvPr id="43" name="bucket-5-bullet-2"/>
          <p:cNvSpPr txBox="1"/>
          <p:nvPr/>
        </p:nvSpPr>
        <p:spPr>
          <a:xfrm>
            <a:off x="4391025" y="491490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Agile at scale frameworks adopted enterprise-wide</a:t>
            </a:r>
          </a:p>
        </p:txBody>
      </p:sp>
      <p:sp>
        <p:nvSpPr>
          <p:cNvPr id="44" name="bucket-5-metric"/>
          <p:cNvSpPr txBox="1"/>
          <p:nvPr/>
        </p:nvSpPr>
        <p:spPr>
          <a:xfrm>
            <a:off x="4391025" y="6191250"/>
            <a:ext cx="34004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Squad velocity: +18% YoY</a:t>
            </a:r>
          </a:p>
        </p:txBody>
      </p:sp>
      <p:sp>
        <p:nvSpPr>
          <p:cNvPr id="45" name="bucket-6-card"/>
          <p:cNvSpPr/>
          <p:nvPr/>
        </p:nvSpPr>
        <p:spPr>
          <a:xfrm>
            <a:off x="8058150" y="4229100"/>
            <a:ext cx="3667125" cy="2190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bucket-6-top"/>
          <p:cNvSpPr/>
          <p:nvPr/>
        </p:nvSpPr>
        <p:spPr>
          <a:xfrm>
            <a:off x="8058150" y="4229100"/>
            <a:ext cx="366712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bucket-6-badge-bg"/>
          <p:cNvSpPr/>
          <p:nvPr/>
        </p:nvSpPr>
        <p:spPr>
          <a:xfrm>
            <a:off x="8191500" y="4343400"/>
            <a:ext cx="228600" cy="228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bucket-6-badge"/>
          <p:cNvSpPr txBox="1"/>
          <p:nvPr/>
        </p:nvSpPr>
        <p:spPr>
          <a:xfrm>
            <a:off x="8191500" y="4343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49" name="bucket-6-title"/>
          <p:cNvSpPr txBox="1"/>
          <p:nvPr/>
        </p:nvSpPr>
        <p:spPr>
          <a:xfrm>
            <a:off x="8515350" y="4362450"/>
            <a:ext cx="30575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Change &amp; Culture</a:t>
            </a:r>
          </a:p>
        </p:txBody>
      </p:sp>
      <p:sp>
        <p:nvSpPr>
          <p:cNvPr id="50" name="bucket-6-bullet-1"/>
          <p:cNvSpPr txBox="1"/>
          <p:nvPr/>
        </p:nvSpPr>
        <p:spPr>
          <a:xfrm>
            <a:off x="8191500" y="470535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Structured OCM programme with executive sponsor</a:t>
            </a:r>
          </a:p>
        </p:txBody>
      </p:sp>
      <p:sp>
        <p:nvSpPr>
          <p:cNvPr id="51" name="bucket-6-bullet-2"/>
          <p:cNvSpPr txBox="1"/>
          <p:nvPr/>
        </p:nvSpPr>
        <p:spPr>
          <a:xfrm>
            <a:off x="8191500" y="4914900"/>
            <a:ext cx="34004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Adoption tracked via utilisation dashboards</a:t>
            </a:r>
          </a:p>
        </p:txBody>
      </p:sp>
      <p:sp>
        <p:nvSpPr>
          <p:cNvPr id="52" name="bucket-6-metric"/>
          <p:cNvSpPr txBox="1"/>
          <p:nvPr/>
        </p:nvSpPr>
        <p:spPr>
          <a:xfrm>
            <a:off x="8191500" y="6191250"/>
            <a:ext cx="34004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Adoption score: 67 / 100</a:t>
            </a:r>
          </a:p>
        </p:txBody>
      </p:sp>
      <p:sp>
        <p:nvSpPr>
          <p:cNvPr id="5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