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609600"/>
            <a:ext cx="571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SLIDE LAB · OPERATING METRIC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Our north star — partner-ready deck sign-off rate.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09600" y="15240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B8A5D9"/>
                </a:solidFill>
                <a:latin typeface="Inter"/>
              </a:rPr>
              <a:t>One number we optimize for. Everything else is an input that moves it.</a:t>
            </a:r>
          </a:p>
        </p:txBody>
      </p:sp>
      <p:sp>
        <p:nvSpPr>
          <p:cNvPr id="5" name="brand-rule"/>
          <p:cNvSpPr/>
          <p:nvPr/>
        </p:nvSpPr>
        <p:spPr>
          <a:xfrm>
            <a:off x="609600" y="18288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hero-stat-label"/>
          <p:cNvSpPr txBox="1"/>
          <p:nvPr/>
        </p:nvSpPr>
        <p:spPr>
          <a:xfrm>
            <a:off x="609600" y="2095500"/>
            <a:ext cx="1097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OUR NORTH STAR</a:t>
            </a:r>
          </a:p>
        </p:txBody>
      </p:sp>
      <p:sp>
        <p:nvSpPr>
          <p:cNvPr id="7" name="hero-stat-value"/>
          <p:cNvSpPr txBox="1"/>
          <p:nvPr/>
        </p:nvSpPr>
        <p:spPr>
          <a:xfrm>
            <a:off x="609600" y="2381250"/>
            <a:ext cx="1097280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600" b="1" i="0">
                <a:solidFill>
                  <a:srgbClr val="FFFFFF"/>
                </a:solidFill>
                <a:latin typeface="Inter"/>
              </a:rPr>
              <a:t>94%</a:t>
            </a:r>
          </a:p>
        </p:txBody>
      </p:sp>
      <p:sp>
        <p:nvSpPr>
          <p:cNvPr id="8" name="hero-stat-caption"/>
          <p:cNvSpPr txBox="1"/>
          <p:nvPr/>
        </p:nvSpPr>
        <p:spPr>
          <a:xfrm>
            <a:off x="609600" y="4191000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425" b="0" i="1">
                <a:solidFill>
                  <a:srgbClr val="C780FF"/>
                </a:solidFill>
                <a:latin typeface="Inter"/>
              </a:rPr>
              <a:t>Decks that pass first partner review without rework.</a:t>
            </a:r>
          </a:p>
        </p:txBody>
      </p:sp>
      <p:sp>
        <p:nvSpPr>
          <p:cNvPr id="9" name="hero-rule"/>
          <p:cNvSpPr/>
          <p:nvPr/>
        </p:nvSpPr>
        <p:spPr>
          <a:xfrm>
            <a:off x="5638800" y="4533900"/>
            <a:ext cx="914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inputs-header"/>
          <p:cNvSpPr txBox="1"/>
          <p:nvPr/>
        </p:nvSpPr>
        <p:spPr>
          <a:xfrm>
            <a:off x="609600" y="4857750"/>
            <a:ext cx="10972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8A5D9"/>
                </a:solidFill>
                <a:latin typeface="Inter"/>
              </a:rPr>
              <a:t>INPUT METRICS — WHAT WE ACTUALLY MOVE WEEK TO WEEK</a:t>
            </a:r>
          </a:p>
        </p:txBody>
      </p:sp>
      <p:sp>
        <p:nvSpPr>
          <p:cNvPr id="11" name="input-1"/>
          <p:cNvSpPr/>
          <p:nvPr/>
        </p:nvSpPr>
        <p:spPr>
          <a:xfrm>
            <a:off x="609600" y="5086350"/>
            <a:ext cx="2628900" cy="914400"/>
          </a:xfrm>
          <a:prstGeom prst="rect">
            <a:avLst/>
          </a:prstGeom>
          <a:solidFill>
            <a:srgbClr val="3D1A5E"/>
          </a:solidFill>
          <a:ln w="9525">
            <a:solidFill>
              <a:srgbClr val="55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input-1-accent"/>
          <p:cNvSpPr/>
          <p:nvPr/>
        </p:nvSpPr>
        <p:spPr>
          <a:xfrm>
            <a:off x="609600" y="5086350"/>
            <a:ext cx="2628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input-1-value"/>
          <p:cNvSpPr txBox="1"/>
          <p:nvPr/>
        </p:nvSpPr>
        <p:spPr>
          <a:xfrm>
            <a:off x="781050" y="52197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4" name="input-1-unit"/>
          <p:cNvSpPr txBox="1"/>
          <p:nvPr/>
        </p:nvSpPr>
        <p:spPr>
          <a:xfrm>
            <a:off x="990600" y="5353050"/>
            <a:ext cx="1676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days</a:t>
            </a:r>
          </a:p>
        </p:txBody>
      </p:sp>
      <p:sp>
        <p:nvSpPr>
          <p:cNvPr id="15" name="input-1-label"/>
          <p:cNvSpPr txBox="1"/>
          <p:nvPr/>
        </p:nvSpPr>
        <p:spPr>
          <a:xfrm>
            <a:off x="781050" y="561975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8A5D9"/>
                </a:solidFill>
                <a:latin typeface="Inter"/>
              </a:rPr>
              <a:t>Median cycle time, brief to final deck</a:t>
            </a:r>
          </a:p>
        </p:txBody>
      </p:sp>
      <p:sp>
        <p:nvSpPr>
          <p:cNvPr id="16" name="input-2"/>
          <p:cNvSpPr/>
          <p:nvPr/>
        </p:nvSpPr>
        <p:spPr>
          <a:xfrm>
            <a:off x="3390900" y="5086350"/>
            <a:ext cx="2628900" cy="914400"/>
          </a:xfrm>
          <a:prstGeom prst="rect">
            <a:avLst/>
          </a:prstGeom>
          <a:solidFill>
            <a:srgbClr val="3D1A5E"/>
          </a:solidFill>
          <a:ln w="9525">
            <a:solidFill>
              <a:srgbClr val="55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input-2-accent"/>
          <p:cNvSpPr/>
          <p:nvPr/>
        </p:nvSpPr>
        <p:spPr>
          <a:xfrm>
            <a:off x="3390900" y="5086350"/>
            <a:ext cx="2628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input-2-value"/>
          <p:cNvSpPr txBox="1"/>
          <p:nvPr/>
        </p:nvSpPr>
        <p:spPr>
          <a:xfrm>
            <a:off x="3562350" y="52197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80</a:t>
            </a:r>
          </a:p>
        </p:txBody>
      </p:sp>
      <p:sp>
        <p:nvSpPr>
          <p:cNvPr id="19" name="input-2-unit"/>
          <p:cNvSpPr txBox="1"/>
          <p:nvPr/>
        </p:nvSpPr>
        <p:spPr>
          <a:xfrm>
            <a:off x="3981450" y="5353050"/>
            <a:ext cx="1676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%</a:t>
            </a:r>
          </a:p>
        </p:txBody>
      </p:sp>
      <p:sp>
        <p:nvSpPr>
          <p:cNvPr id="20" name="input-2-label"/>
          <p:cNvSpPr txBox="1"/>
          <p:nvPr/>
        </p:nvSpPr>
        <p:spPr>
          <a:xfrm>
            <a:off x="3562350" y="561975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8A5D9"/>
                </a:solidFill>
                <a:latin typeface="Inter"/>
              </a:rPr>
              <a:t>Decks with pre-build storyline coaching</a:t>
            </a:r>
          </a:p>
        </p:txBody>
      </p:sp>
      <p:sp>
        <p:nvSpPr>
          <p:cNvPr id="21" name="input-3"/>
          <p:cNvSpPr/>
          <p:nvPr/>
        </p:nvSpPr>
        <p:spPr>
          <a:xfrm>
            <a:off x="6172200" y="5086350"/>
            <a:ext cx="2628900" cy="914400"/>
          </a:xfrm>
          <a:prstGeom prst="rect">
            <a:avLst/>
          </a:prstGeom>
          <a:solidFill>
            <a:srgbClr val="3D1A5E"/>
          </a:solidFill>
          <a:ln w="9525">
            <a:solidFill>
              <a:srgbClr val="55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input-3-accent"/>
          <p:cNvSpPr/>
          <p:nvPr/>
        </p:nvSpPr>
        <p:spPr>
          <a:xfrm>
            <a:off x="6172200" y="5086350"/>
            <a:ext cx="2628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input-3-value"/>
          <p:cNvSpPr txBox="1"/>
          <p:nvPr/>
        </p:nvSpPr>
        <p:spPr>
          <a:xfrm>
            <a:off x="6343650" y="52197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24" name="input-3-unit"/>
          <p:cNvSpPr txBox="1"/>
          <p:nvPr/>
        </p:nvSpPr>
        <p:spPr>
          <a:xfrm>
            <a:off x="6972300" y="5353050"/>
            <a:ext cx="1676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patterns</a:t>
            </a:r>
          </a:p>
        </p:txBody>
      </p:sp>
      <p:sp>
        <p:nvSpPr>
          <p:cNvPr id="25" name="input-3-label"/>
          <p:cNvSpPr txBox="1"/>
          <p:nvPr/>
        </p:nvSpPr>
        <p:spPr>
          <a:xfrm>
            <a:off x="6343650" y="561975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8A5D9"/>
                </a:solidFill>
                <a:latin typeface="Inter"/>
              </a:rPr>
              <a:t>Live in the slide pattern library</a:t>
            </a:r>
          </a:p>
        </p:txBody>
      </p:sp>
      <p:sp>
        <p:nvSpPr>
          <p:cNvPr id="26" name="input-4"/>
          <p:cNvSpPr/>
          <p:nvPr/>
        </p:nvSpPr>
        <p:spPr>
          <a:xfrm>
            <a:off x="8953500" y="5086350"/>
            <a:ext cx="2628900" cy="914400"/>
          </a:xfrm>
          <a:prstGeom prst="rect">
            <a:avLst/>
          </a:prstGeom>
          <a:solidFill>
            <a:srgbClr val="3D1A5E"/>
          </a:solidFill>
          <a:ln w="9525">
            <a:solidFill>
              <a:srgbClr val="55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input-4-accent"/>
          <p:cNvSpPr/>
          <p:nvPr/>
        </p:nvSpPr>
        <p:spPr>
          <a:xfrm>
            <a:off x="8953500" y="5086350"/>
            <a:ext cx="2628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input-4-value"/>
          <p:cNvSpPr txBox="1"/>
          <p:nvPr/>
        </p:nvSpPr>
        <p:spPr>
          <a:xfrm>
            <a:off x="9124950" y="52197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9" name="input-4-unit"/>
          <p:cNvSpPr txBox="1"/>
          <p:nvPr/>
        </p:nvSpPr>
        <p:spPr>
          <a:xfrm>
            <a:off x="9334500" y="5353050"/>
            <a:ext cx="1676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coaches</a:t>
            </a:r>
          </a:p>
        </p:txBody>
      </p:sp>
      <p:sp>
        <p:nvSpPr>
          <p:cNvPr id="30" name="input-4-label"/>
          <p:cNvSpPr txBox="1"/>
          <p:nvPr/>
        </p:nvSpPr>
        <p:spPr>
          <a:xfrm>
            <a:off x="9124950" y="561975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8A5D9"/>
                </a:solidFill>
                <a:latin typeface="Inter"/>
              </a:rPr>
              <a:t>Senior reviewers certified on the method</a:t>
            </a:r>
          </a:p>
        </p:txBody>
      </p:sp>
      <p:sp>
        <p:nvSpPr>
          <p:cNvPr id="31" name="convergence"/>
          <p:cNvSpPr txBox="1"/>
          <p:nvPr/>
        </p:nvSpPr>
        <p:spPr>
          <a:xfrm>
            <a:off x="609600" y="6172200"/>
            <a:ext cx="1097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B8A5D9"/>
                </a:solidFill>
                <a:latin typeface="Inter"/>
              </a:rPr>
              <a:t>Move the input metrics; the north star moves.</a:t>
            </a:r>
          </a:p>
        </p:txBody>
      </p:sp>
      <p:sp>
        <p:nvSpPr>
          <p:cNvPr id="3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B8A5D9"/>
                </a:solidFill>
                <a:latin typeface="Inter"/>
              </a:rPr>
              <a:t>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