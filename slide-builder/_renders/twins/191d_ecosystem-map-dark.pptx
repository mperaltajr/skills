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Our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Ecosystem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at a Glance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7810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Strategic partners, channels, and indirect players mapped by sector and relationship type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title"/>
          <p:cNvSpPr txBox="1"/>
          <p:nvPr/>
        </p:nvSpPr>
        <p:spPr>
          <a:xfrm>
            <a:off x="9334500" y="2190750"/>
            <a:ext cx="2286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SECTOR</a:t>
            </a:r>
          </a:p>
        </p:txBody>
      </p:sp>
      <p:sp>
        <p:nvSpPr>
          <p:cNvPr id="6" name="legend-1-swatch"/>
          <p:cNvSpPr/>
          <p:nvPr/>
        </p:nvSpPr>
        <p:spPr>
          <a:xfrm>
            <a:off x="9334500" y="2343150"/>
            <a:ext cx="95250" cy="952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1-label"/>
          <p:cNvSpPr txBox="1"/>
          <p:nvPr/>
        </p:nvSpPr>
        <p:spPr>
          <a:xfrm>
            <a:off x="9486900" y="23241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Tech</a:t>
            </a:r>
          </a:p>
        </p:txBody>
      </p:sp>
      <p:sp>
        <p:nvSpPr>
          <p:cNvPr id="8" name="legend-2-swatch"/>
          <p:cNvSpPr/>
          <p:nvPr/>
        </p:nvSpPr>
        <p:spPr>
          <a:xfrm>
            <a:off x="9334500" y="2495550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2-label"/>
          <p:cNvSpPr txBox="1"/>
          <p:nvPr/>
        </p:nvSpPr>
        <p:spPr>
          <a:xfrm>
            <a:off x="9486900" y="24765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Regulatory</a:t>
            </a:r>
          </a:p>
        </p:txBody>
      </p:sp>
      <p:sp>
        <p:nvSpPr>
          <p:cNvPr id="10" name="legend-3-swatch"/>
          <p:cNvSpPr/>
          <p:nvPr/>
        </p:nvSpPr>
        <p:spPr>
          <a:xfrm>
            <a:off x="9334500" y="2647950"/>
            <a:ext cx="95250" cy="95250"/>
          </a:xfrm>
          <a:prstGeom prst="rect">
            <a:avLst/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3-label"/>
          <p:cNvSpPr txBox="1"/>
          <p:nvPr/>
        </p:nvSpPr>
        <p:spPr>
          <a:xfrm>
            <a:off x="9486900" y="26289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Channel</a:t>
            </a:r>
          </a:p>
        </p:txBody>
      </p:sp>
      <p:sp>
        <p:nvSpPr>
          <p:cNvPr id="12" name="legend-4-swatch"/>
          <p:cNvSpPr/>
          <p:nvPr/>
        </p:nvSpPr>
        <p:spPr>
          <a:xfrm>
            <a:off x="9334500" y="2800350"/>
            <a:ext cx="95250" cy="952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legend-4-label"/>
          <p:cNvSpPr txBox="1"/>
          <p:nvPr/>
        </p:nvSpPr>
        <p:spPr>
          <a:xfrm>
            <a:off x="9486900" y="2781300"/>
            <a:ext cx="1905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Capital</a:t>
            </a:r>
          </a:p>
        </p:txBody>
      </p:sp>
      <p:sp>
        <p:nvSpPr>
          <p:cNvPr id="14" name="legend-line-divider"/>
          <p:cNvSpPr/>
          <p:nvPr/>
        </p:nvSpPr>
        <p:spPr>
          <a:xfrm>
            <a:off x="9334500" y="2952750"/>
            <a:ext cx="952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legend-5-swatch"/>
          <p:cNvSpPr/>
          <p:nvPr/>
        </p:nvSpPr>
        <p:spPr>
          <a:xfrm>
            <a:off x="9334500" y="3067050"/>
            <a:ext cx="190500" cy="19050"/>
          </a:xfrm>
          <a:prstGeom prst="rect">
            <a:avLst/>
          </a:prstGeom>
          <a:solidFill>
            <a:srgbClr val="C7B8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legend-5-label"/>
          <p:cNvSpPr txBox="1"/>
          <p:nvPr/>
        </p:nvSpPr>
        <p:spPr>
          <a:xfrm>
            <a:off x="9582150" y="30099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Strategic</a:t>
            </a:r>
          </a:p>
        </p:txBody>
      </p:sp>
      <p:sp>
        <p:nvSpPr>
          <p:cNvPr id="17" name="legend-6-swatch"/>
          <p:cNvSpPr/>
          <p:nvPr/>
        </p:nvSpPr>
        <p:spPr>
          <a:xfrm>
            <a:off x="9334500" y="3228975"/>
            <a:ext cx="190500" cy="9525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legend-6-label"/>
          <p:cNvSpPr txBox="1"/>
          <p:nvPr/>
        </p:nvSpPr>
        <p:spPr>
          <a:xfrm>
            <a:off x="9582150" y="316230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Indirect</a:t>
            </a:r>
          </a:p>
        </p:txBody>
      </p:sp>
      <p:sp>
        <p:nvSpPr>
          <p:cNvPr id="19" name="chart-canvas"/>
          <p:cNvSpPr/>
          <p:nvPr/>
        </p:nvSpPr>
        <p:spPr>
          <a:xfrm>
            <a:off x="609600" y="2095500"/>
            <a:ext cx="8763000" cy="419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ing-guide-120"/>
          <p:cNvSpPr/>
          <p:nvPr/>
        </p:nvSpPr>
        <p:spPr>
          <a:xfrm>
            <a:off x="3429000" y="3048000"/>
            <a:ext cx="2286000" cy="2286000"/>
          </a:xfrm>
          <a:prstGeom prst="ellipse">
            <a:avLst/>
          </a:prstGeom>
          <a:noFill/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ing-guide-200"/>
          <p:cNvSpPr/>
          <p:nvPr/>
        </p:nvSpPr>
        <p:spPr>
          <a:xfrm>
            <a:off x="2667000" y="2286000"/>
            <a:ext cx="3810000" cy="3810000"/>
          </a:xfrm>
          <a:prstGeom prst="ellipse">
            <a:avLst/>
          </a:prstGeom>
          <a:noFill/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hub-bg"/>
          <p:cNvSpPr/>
          <p:nvPr/>
        </p:nvSpPr>
        <p:spPr>
          <a:xfrm>
            <a:off x="4152900" y="3771900"/>
            <a:ext cx="838200" cy="838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hub-label-1"/>
          <p:cNvSpPr txBox="1"/>
          <p:nvPr/>
        </p:nvSpPr>
        <p:spPr>
          <a:xfrm>
            <a:off x="4191000" y="40576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Our</a:t>
            </a:r>
          </a:p>
        </p:txBody>
      </p:sp>
      <p:sp>
        <p:nvSpPr>
          <p:cNvPr id="24" name="hub-label-2"/>
          <p:cNvSpPr txBox="1"/>
          <p:nvPr/>
        </p:nvSpPr>
        <p:spPr>
          <a:xfrm>
            <a:off x="4191000" y="42100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Organization</a:t>
            </a:r>
          </a:p>
        </p:txBody>
      </p:sp>
      <p:sp>
        <p:nvSpPr>
          <p:cNvPr id="25" name="inner-1-bg"/>
          <p:cNvSpPr/>
          <p:nvPr/>
        </p:nvSpPr>
        <p:spPr>
          <a:xfrm>
            <a:off x="3619500" y="3238500"/>
            <a:ext cx="571500" cy="5715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inner-1-tag"/>
          <p:cNvSpPr txBox="1"/>
          <p:nvPr/>
        </p:nvSpPr>
        <p:spPr>
          <a:xfrm>
            <a:off x="3562350" y="340995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</a:t>
            </a:r>
          </a:p>
        </p:txBody>
      </p:sp>
      <p:sp>
        <p:nvSpPr>
          <p:cNvPr id="27" name="inner-1-name"/>
          <p:cNvSpPr txBox="1"/>
          <p:nvPr/>
        </p:nvSpPr>
        <p:spPr>
          <a:xfrm>
            <a:off x="3562350" y="354330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CloudCo</a:t>
            </a:r>
          </a:p>
        </p:txBody>
      </p:sp>
      <p:sp>
        <p:nvSpPr>
          <p:cNvPr id="28" name="inner-2-bg"/>
          <p:cNvSpPr/>
          <p:nvPr/>
        </p:nvSpPr>
        <p:spPr>
          <a:xfrm>
            <a:off x="4953000" y="3238500"/>
            <a:ext cx="571500" cy="5715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inner-2-tag"/>
          <p:cNvSpPr txBox="1"/>
          <p:nvPr/>
        </p:nvSpPr>
        <p:spPr>
          <a:xfrm>
            <a:off x="4895850" y="340995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REGULATORY</a:t>
            </a:r>
          </a:p>
        </p:txBody>
      </p:sp>
      <p:sp>
        <p:nvSpPr>
          <p:cNvPr id="30" name="inner-2-name"/>
          <p:cNvSpPr txBox="1"/>
          <p:nvPr/>
        </p:nvSpPr>
        <p:spPr>
          <a:xfrm>
            <a:off x="4895850" y="354330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GovLink</a:t>
            </a:r>
          </a:p>
        </p:txBody>
      </p:sp>
      <p:sp>
        <p:nvSpPr>
          <p:cNvPr id="31" name="inner-3-bg"/>
          <p:cNvSpPr/>
          <p:nvPr/>
        </p:nvSpPr>
        <p:spPr>
          <a:xfrm>
            <a:off x="4953000" y="4572000"/>
            <a:ext cx="571500" cy="571500"/>
          </a:xfrm>
          <a:prstGeom prst="ellipse">
            <a:avLst/>
          </a:prstGeom>
          <a:solidFill>
            <a:srgbClr val="7B3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inner-3-tag"/>
          <p:cNvSpPr txBox="1"/>
          <p:nvPr/>
        </p:nvSpPr>
        <p:spPr>
          <a:xfrm>
            <a:off x="4895850" y="474345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CHANNEL</a:t>
            </a:r>
          </a:p>
        </p:txBody>
      </p:sp>
      <p:sp>
        <p:nvSpPr>
          <p:cNvPr id="33" name="inner-3-name"/>
          <p:cNvSpPr txBox="1"/>
          <p:nvPr/>
        </p:nvSpPr>
        <p:spPr>
          <a:xfrm>
            <a:off x="4895850" y="487680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RetailNet</a:t>
            </a:r>
          </a:p>
        </p:txBody>
      </p:sp>
      <p:sp>
        <p:nvSpPr>
          <p:cNvPr id="34" name="inner-4-bg"/>
          <p:cNvSpPr/>
          <p:nvPr/>
        </p:nvSpPr>
        <p:spPr>
          <a:xfrm>
            <a:off x="3619500" y="4572000"/>
            <a:ext cx="571500" cy="57150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inner-4-tag"/>
          <p:cNvSpPr txBox="1"/>
          <p:nvPr/>
        </p:nvSpPr>
        <p:spPr>
          <a:xfrm>
            <a:off x="3562350" y="474345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CAPITAL</a:t>
            </a:r>
          </a:p>
        </p:txBody>
      </p:sp>
      <p:sp>
        <p:nvSpPr>
          <p:cNvPr id="36" name="inner-4-name"/>
          <p:cNvSpPr txBox="1"/>
          <p:nvPr/>
        </p:nvSpPr>
        <p:spPr>
          <a:xfrm>
            <a:off x="3562350" y="4876800"/>
            <a:ext cx="685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VentureX</a:t>
            </a:r>
          </a:p>
        </p:txBody>
      </p:sp>
      <p:sp>
        <p:nvSpPr>
          <p:cNvPr id="37" name="outer-1-bg"/>
          <p:cNvSpPr/>
          <p:nvPr/>
        </p:nvSpPr>
        <p:spPr>
          <a:xfrm>
            <a:off x="6096000" y="40005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uter-1-tag"/>
          <p:cNvSpPr txBox="1"/>
          <p:nvPr/>
        </p:nvSpPr>
        <p:spPr>
          <a:xfrm>
            <a:off x="6096000" y="40576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TECH</a:t>
            </a:r>
          </a:p>
        </p:txBody>
      </p:sp>
      <p:sp>
        <p:nvSpPr>
          <p:cNvPr id="39" name="outer-1-name"/>
          <p:cNvSpPr txBox="1"/>
          <p:nvPr/>
        </p:nvSpPr>
        <p:spPr>
          <a:xfrm>
            <a:off x="6096000" y="41910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DataStream</a:t>
            </a:r>
          </a:p>
        </p:txBody>
      </p:sp>
      <p:sp>
        <p:nvSpPr>
          <p:cNvPr id="40" name="outer-2-bg"/>
          <p:cNvSpPr/>
          <p:nvPr/>
        </p:nvSpPr>
        <p:spPr>
          <a:xfrm>
            <a:off x="5524500" y="26670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outer-2-tag"/>
          <p:cNvSpPr txBox="1"/>
          <p:nvPr/>
        </p:nvSpPr>
        <p:spPr>
          <a:xfrm>
            <a:off x="5524500" y="27241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TECH</a:t>
            </a:r>
          </a:p>
        </p:txBody>
      </p:sp>
      <p:sp>
        <p:nvSpPr>
          <p:cNvPr id="42" name="outer-2-name"/>
          <p:cNvSpPr txBox="1"/>
          <p:nvPr/>
        </p:nvSpPr>
        <p:spPr>
          <a:xfrm>
            <a:off x="5524500" y="2857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AILabs</a:t>
            </a:r>
          </a:p>
        </p:txBody>
      </p:sp>
      <p:sp>
        <p:nvSpPr>
          <p:cNvPr id="43" name="outer-3-bg"/>
          <p:cNvSpPr/>
          <p:nvPr/>
        </p:nvSpPr>
        <p:spPr>
          <a:xfrm>
            <a:off x="4191000" y="20955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uter-3-tag"/>
          <p:cNvSpPr txBox="1"/>
          <p:nvPr/>
        </p:nvSpPr>
        <p:spPr>
          <a:xfrm>
            <a:off x="4191000" y="21526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REGULATORY</a:t>
            </a:r>
          </a:p>
        </p:txBody>
      </p:sp>
      <p:sp>
        <p:nvSpPr>
          <p:cNvPr id="45" name="outer-3-name"/>
          <p:cNvSpPr txBox="1"/>
          <p:nvPr/>
        </p:nvSpPr>
        <p:spPr>
          <a:xfrm>
            <a:off x="4191000" y="22860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ComplianceHQ</a:t>
            </a:r>
          </a:p>
        </p:txBody>
      </p:sp>
      <p:sp>
        <p:nvSpPr>
          <p:cNvPr id="46" name="outer-4-bg"/>
          <p:cNvSpPr/>
          <p:nvPr/>
        </p:nvSpPr>
        <p:spPr>
          <a:xfrm>
            <a:off x="2857500" y="26670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outer-4-tag"/>
          <p:cNvSpPr txBox="1"/>
          <p:nvPr/>
        </p:nvSpPr>
        <p:spPr>
          <a:xfrm>
            <a:off x="2857500" y="27241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REGULATORY</a:t>
            </a:r>
          </a:p>
        </p:txBody>
      </p:sp>
      <p:sp>
        <p:nvSpPr>
          <p:cNvPr id="48" name="outer-4-name"/>
          <p:cNvSpPr txBox="1"/>
          <p:nvPr/>
        </p:nvSpPr>
        <p:spPr>
          <a:xfrm>
            <a:off x="2857500" y="2857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PolicyGroup</a:t>
            </a:r>
          </a:p>
        </p:txBody>
      </p:sp>
      <p:sp>
        <p:nvSpPr>
          <p:cNvPr id="49" name="outer-5-bg"/>
          <p:cNvSpPr/>
          <p:nvPr/>
        </p:nvSpPr>
        <p:spPr>
          <a:xfrm>
            <a:off x="2286000" y="40005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7B3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outer-5-tag"/>
          <p:cNvSpPr txBox="1"/>
          <p:nvPr/>
        </p:nvSpPr>
        <p:spPr>
          <a:xfrm>
            <a:off x="2286000" y="40576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CHANNEL</a:t>
            </a:r>
          </a:p>
        </p:txBody>
      </p:sp>
      <p:sp>
        <p:nvSpPr>
          <p:cNvPr id="51" name="outer-5-name"/>
          <p:cNvSpPr txBox="1"/>
          <p:nvPr/>
        </p:nvSpPr>
        <p:spPr>
          <a:xfrm>
            <a:off x="2286000" y="41910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DistribCo</a:t>
            </a:r>
          </a:p>
        </p:txBody>
      </p:sp>
      <p:sp>
        <p:nvSpPr>
          <p:cNvPr id="52" name="outer-6-bg"/>
          <p:cNvSpPr/>
          <p:nvPr/>
        </p:nvSpPr>
        <p:spPr>
          <a:xfrm>
            <a:off x="2857500" y="53340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7B3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outer-6-tag"/>
          <p:cNvSpPr txBox="1"/>
          <p:nvPr/>
        </p:nvSpPr>
        <p:spPr>
          <a:xfrm>
            <a:off x="2857500" y="53911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CHANNEL</a:t>
            </a:r>
          </a:p>
        </p:txBody>
      </p:sp>
      <p:sp>
        <p:nvSpPr>
          <p:cNvPr id="54" name="outer-6-name"/>
          <p:cNvSpPr txBox="1"/>
          <p:nvPr/>
        </p:nvSpPr>
        <p:spPr>
          <a:xfrm>
            <a:off x="2857500" y="5524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AgencyNet</a:t>
            </a:r>
          </a:p>
        </p:txBody>
      </p:sp>
      <p:sp>
        <p:nvSpPr>
          <p:cNvPr id="55" name="outer-7-bg"/>
          <p:cNvSpPr/>
          <p:nvPr/>
        </p:nvSpPr>
        <p:spPr>
          <a:xfrm>
            <a:off x="4191000" y="59055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outer-7-tag"/>
          <p:cNvSpPr txBox="1"/>
          <p:nvPr/>
        </p:nvSpPr>
        <p:spPr>
          <a:xfrm>
            <a:off x="4191000" y="59626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CAPITAL</a:t>
            </a:r>
          </a:p>
        </p:txBody>
      </p:sp>
      <p:sp>
        <p:nvSpPr>
          <p:cNvPr id="57" name="outer-7-name"/>
          <p:cNvSpPr txBox="1"/>
          <p:nvPr/>
        </p:nvSpPr>
        <p:spPr>
          <a:xfrm>
            <a:off x="4191000" y="60960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GrowthFund</a:t>
            </a:r>
          </a:p>
        </p:txBody>
      </p:sp>
      <p:sp>
        <p:nvSpPr>
          <p:cNvPr id="58" name="outer-8-bg"/>
          <p:cNvSpPr/>
          <p:nvPr/>
        </p:nvSpPr>
        <p:spPr>
          <a:xfrm>
            <a:off x="5524500" y="5334000"/>
            <a:ext cx="762000" cy="381000"/>
          </a:xfrm>
          <a:prstGeom prst="rect">
            <a:avLst/>
          </a:prstGeom>
          <a:solidFill>
            <a:srgbClr val="3C1F5C"/>
          </a:solidFill>
          <a:ln w="190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outer-8-tag"/>
          <p:cNvSpPr txBox="1"/>
          <p:nvPr/>
        </p:nvSpPr>
        <p:spPr>
          <a:xfrm>
            <a:off x="5524500" y="5391150"/>
            <a:ext cx="762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CAPITAL</a:t>
            </a:r>
          </a:p>
        </p:txBody>
      </p:sp>
      <p:sp>
        <p:nvSpPr>
          <p:cNvPr id="60" name="outer-8-name"/>
          <p:cNvSpPr txBox="1"/>
          <p:nvPr/>
        </p:nvSpPr>
        <p:spPr>
          <a:xfrm>
            <a:off x="5524500" y="5524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SeedBridge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