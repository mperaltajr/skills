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Risk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exposure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at a glance — mini dashboard.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Heat map, top 5 risks, and period-on-period trend for the program risk register.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title"/>
          <p:cNvSpPr txBox="1"/>
          <p:nvPr/>
        </p:nvSpPr>
        <p:spPr>
          <a:xfrm>
            <a:off x="457200" y="1447800"/>
            <a:ext cx="41814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RISK EXPOSURE MAP</a:t>
            </a:r>
          </a:p>
        </p:txBody>
      </p:sp>
      <p:sp>
        <p:nvSpPr>
          <p:cNvPr id="6" name="chart-canvas"/>
          <p:cNvSpPr/>
          <p:nvPr/>
        </p:nvSpPr>
        <p:spPr>
          <a:xfrm>
            <a:off x="876300" y="1676400"/>
            <a:ext cx="3762375" cy="4476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hart-canvas-label"/>
          <p:cNvSpPr txBox="1"/>
          <p:nvPr/>
        </p:nvSpPr>
        <p:spPr>
          <a:xfrm>
            <a:off x="876300" y="3800475"/>
            <a:ext cx="37623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[ 5×5 risk heat map SVG — rendered at twin-gen time ]</a:t>
            </a:r>
          </a:p>
        </p:txBody>
      </p:sp>
      <p:sp>
        <p:nvSpPr>
          <p:cNvPr id="8" name="quadrant-y-axis-label"/>
          <p:cNvSpPr txBox="1"/>
          <p:nvPr/>
        </p:nvSpPr>
        <p:spPr>
          <a:xfrm>
            <a:off x="457200" y="383857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IMPACT</a:t>
            </a:r>
          </a:p>
        </p:txBody>
      </p:sp>
      <p:sp>
        <p:nvSpPr>
          <p:cNvPr id="9" name="quadrant-y-high"/>
          <p:cNvSpPr txBox="1"/>
          <p:nvPr/>
        </p:nvSpPr>
        <p:spPr>
          <a:xfrm>
            <a:off x="685800" y="16764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5</a:t>
            </a:r>
          </a:p>
        </p:txBody>
      </p:sp>
      <p:sp>
        <p:nvSpPr>
          <p:cNvPr id="10" name="quadrant-y-low"/>
          <p:cNvSpPr txBox="1"/>
          <p:nvPr/>
        </p:nvSpPr>
        <p:spPr>
          <a:xfrm>
            <a:off x="685800" y="60198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1</a:t>
            </a:r>
          </a:p>
        </p:txBody>
      </p:sp>
      <p:sp>
        <p:nvSpPr>
          <p:cNvPr id="11" name="quadrant-x-axis-label"/>
          <p:cNvSpPr txBox="1"/>
          <p:nvPr/>
        </p:nvSpPr>
        <p:spPr>
          <a:xfrm>
            <a:off x="876300" y="6305550"/>
            <a:ext cx="37623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LIKELIHOOD</a:t>
            </a:r>
          </a:p>
        </p:txBody>
      </p:sp>
      <p:sp>
        <p:nvSpPr>
          <p:cNvPr id="12" name="quadrant-x-low"/>
          <p:cNvSpPr txBox="1"/>
          <p:nvPr/>
        </p:nvSpPr>
        <p:spPr>
          <a:xfrm>
            <a:off x="876300" y="61722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1</a:t>
            </a:r>
          </a:p>
        </p:txBody>
      </p:sp>
      <p:sp>
        <p:nvSpPr>
          <p:cNvPr id="13" name="quadrant-x-high"/>
          <p:cNvSpPr txBox="1"/>
          <p:nvPr/>
        </p:nvSpPr>
        <p:spPr>
          <a:xfrm>
            <a:off x="4467225" y="61722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5</a:t>
            </a:r>
          </a:p>
        </p:txBody>
      </p:sp>
      <p:sp>
        <p:nvSpPr>
          <p:cNvPr id="14" name="table-border"/>
          <p:cNvSpPr/>
          <p:nvPr/>
        </p:nvSpPr>
        <p:spPr>
          <a:xfrm>
            <a:off x="4905375" y="1447800"/>
            <a:ext cx="6829425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able-head-bg"/>
          <p:cNvSpPr/>
          <p:nvPr/>
        </p:nvSpPr>
        <p:spPr>
          <a:xfrm>
            <a:off x="4905375" y="1447800"/>
            <a:ext cx="6829425" cy="285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able-col-1-header"/>
          <p:cNvSpPr txBox="1"/>
          <p:nvPr/>
        </p:nvSpPr>
        <p:spPr>
          <a:xfrm>
            <a:off x="4981575" y="1524000"/>
            <a:ext cx="3905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ID</a:t>
            </a:r>
          </a:p>
        </p:txBody>
      </p:sp>
      <p:sp>
        <p:nvSpPr>
          <p:cNvPr id="17" name="table-col-2-header"/>
          <p:cNvSpPr txBox="1"/>
          <p:nvPr/>
        </p:nvSpPr>
        <p:spPr>
          <a:xfrm>
            <a:off x="5524500" y="1524000"/>
            <a:ext cx="2305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DESCRIPTION</a:t>
            </a:r>
          </a:p>
        </p:txBody>
      </p:sp>
      <p:sp>
        <p:nvSpPr>
          <p:cNvPr id="18" name="table-col-3-header"/>
          <p:cNvSpPr txBox="1"/>
          <p:nvPr/>
        </p:nvSpPr>
        <p:spPr>
          <a:xfrm>
            <a:off x="7981950" y="1524000"/>
            <a:ext cx="523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IMPACT</a:t>
            </a:r>
          </a:p>
        </p:txBody>
      </p:sp>
      <p:sp>
        <p:nvSpPr>
          <p:cNvPr id="19" name="table-col-4-header"/>
          <p:cNvSpPr txBox="1"/>
          <p:nvPr/>
        </p:nvSpPr>
        <p:spPr>
          <a:xfrm>
            <a:off x="8658225" y="1524000"/>
            <a:ext cx="523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LIKELIHOOD</a:t>
            </a:r>
          </a:p>
        </p:txBody>
      </p:sp>
      <p:sp>
        <p:nvSpPr>
          <p:cNvPr id="20" name="table-col-5-header"/>
          <p:cNvSpPr txBox="1"/>
          <p:nvPr/>
        </p:nvSpPr>
        <p:spPr>
          <a:xfrm>
            <a:off x="9334500" y="1524000"/>
            <a:ext cx="13430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OWNER</a:t>
            </a:r>
          </a:p>
        </p:txBody>
      </p:sp>
      <p:sp>
        <p:nvSpPr>
          <p:cNvPr id="21" name="table-col-6-header"/>
          <p:cNvSpPr txBox="1"/>
          <p:nvPr/>
        </p:nvSpPr>
        <p:spPr>
          <a:xfrm>
            <a:off x="10829925" y="1524000"/>
            <a:ext cx="828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TREND</a:t>
            </a:r>
          </a:p>
        </p:txBody>
      </p:sp>
      <p:sp>
        <p:nvSpPr>
          <p:cNvPr id="22" name="table-row-1-bg"/>
          <p:cNvSpPr/>
          <p:nvPr/>
        </p:nvSpPr>
        <p:spPr>
          <a:xfrm>
            <a:off x="4905375" y="1733550"/>
            <a:ext cx="6829425" cy="74295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able-row-1-flag"/>
          <p:cNvSpPr/>
          <p:nvPr/>
        </p:nvSpPr>
        <p:spPr>
          <a:xfrm>
            <a:off x="4905375" y="1733550"/>
            <a:ext cx="28575" cy="7429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able-row-1-num"/>
          <p:cNvSpPr txBox="1"/>
          <p:nvPr/>
        </p:nvSpPr>
        <p:spPr>
          <a:xfrm>
            <a:off x="4905375" y="2019300"/>
            <a:ext cx="542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R1</a:t>
            </a:r>
          </a:p>
        </p:txBody>
      </p:sp>
      <p:sp>
        <p:nvSpPr>
          <p:cNvPr id="25" name="table-row-1-cell-2"/>
          <p:cNvSpPr txBox="1"/>
          <p:nvPr/>
        </p:nvSpPr>
        <p:spPr>
          <a:xfrm>
            <a:off x="5524500" y="1809750"/>
            <a:ext cx="23050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Stakeholder withdrawal mid-programme</a:t>
            </a:r>
          </a:p>
        </p:txBody>
      </p:sp>
      <p:sp>
        <p:nvSpPr>
          <p:cNvPr id="26" name="table-row-1-cell-3"/>
          <p:cNvSpPr txBox="1"/>
          <p:nvPr/>
        </p:nvSpPr>
        <p:spPr>
          <a:xfrm>
            <a:off x="8105775" y="2028825"/>
            <a:ext cx="266700" cy="1524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B1C1C"/>
                </a:solidFill>
                <a:latin typeface="Inter"/>
              </a:rPr>
              <a:t>H</a:t>
            </a:r>
          </a:p>
        </p:txBody>
      </p:sp>
      <p:sp>
        <p:nvSpPr>
          <p:cNvPr id="27" name="table-row-1-cell-4"/>
          <p:cNvSpPr txBox="1"/>
          <p:nvPr/>
        </p:nvSpPr>
        <p:spPr>
          <a:xfrm>
            <a:off x="8782050" y="2028825"/>
            <a:ext cx="266700" cy="1524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B1C1C"/>
                </a:solidFill>
                <a:latin typeface="Inter"/>
              </a:rPr>
              <a:t>H</a:t>
            </a:r>
          </a:p>
        </p:txBody>
      </p:sp>
      <p:sp>
        <p:nvSpPr>
          <p:cNvPr id="28" name="table-row-1-cell-5"/>
          <p:cNvSpPr txBox="1"/>
          <p:nvPr/>
        </p:nvSpPr>
        <p:spPr>
          <a:xfrm>
            <a:off x="9334500" y="2019300"/>
            <a:ext cx="134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M. Peralta</a:t>
            </a:r>
          </a:p>
        </p:txBody>
      </p:sp>
      <p:sp>
        <p:nvSpPr>
          <p:cNvPr id="29" name="table-row-1-cell-6"/>
          <p:cNvSpPr txBox="1"/>
          <p:nvPr/>
        </p:nvSpPr>
        <p:spPr>
          <a:xfrm>
            <a:off x="10753725" y="2009775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DC2626"/>
                </a:solidFill>
                <a:latin typeface="Inter"/>
              </a:rPr>
              <a:t>↑</a:t>
            </a:r>
          </a:p>
        </p:txBody>
      </p:sp>
      <p:sp>
        <p:nvSpPr>
          <p:cNvPr id="30" name="table-row-1-divider"/>
          <p:cNvSpPr/>
          <p:nvPr/>
        </p:nvSpPr>
        <p:spPr>
          <a:xfrm>
            <a:off x="4905375" y="2466975"/>
            <a:ext cx="68294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able-row-2-bg"/>
          <p:cNvSpPr/>
          <p:nvPr/>
        </p:nvSpPr>
        <p:spPr>
          <a:xfrm>
            <a:off x="4905375" y="2476500"/>
            <a:ext cx="6829425" cy="74295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able-row-2-flag"/>
          <p:cNvSpPr/>
          <p:nvPr/>
        </p:nvSpPr>
        <p:spPr>
          <a:xfrm>
            <a:off x="4905375" y="2476500"/>
            <a:ext cx="28575" cy="7429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able-row-2-num"/>
          <p:cNvSpPr txBox="1"/>
          <p:nvPr/>
        </p:nvSpPr>
        <p:spPr>
          <a:xfrm>
            <a:off x="4905375" y="2762250"/>
            <a:ext cx="542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R2</a:t>
            </a:r>
          </a:p>
        </p:txBody>
      </p:sp>
      <p:sp>
        <p:nvSpPr>
          <p:cNvPr id="34" name="table-row-2-cell-2"/>
          <p:cNvSpPr txBox="1"/>
          <p:nvPr/>
        </p:nvSpPr>
        <p:spPr>
          <a:xfrm>
            <a:off x="5524500" y="2552700"/>
            <a:ext cx="23050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Scope creep beyond programme charter</a:t>
            </a:r>
          </a:p>
        </p:txBody>
      </p:sp>
      <p:sp>
        <p:nvSpPr>
          <p:cNvPr id="35" name="table-row-2-cell-3"/>
          <p:cNvSpPr txBox="1"/>
          <p:nvPr/>
        </p:nvSpPr>
        <p:spPr>
          <a:xfrm>
            <a:off x="8105775" y="2771775"/>
            <a:ext cx="266700" cy="1524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B1C1C"/>
                </a:solidFill>
                <a:latin typeface="Inter"/>
              </a:rPr>
              <a:t>H</a:t>
            </a:r>
          </a:p>
        </p:txBody>
      </p:sp>
      <p:sp>
        <p:nvSpPr>
          <p:cNvPr id="36" name="table-row-2-cell-4"/>
          <p:cNvSpPr txBox="1"/>
          <p:nvPr/>
        </p:nvSpPr>
        <p:spPr>
          <a:xfrm>
            <a:off x="8782050" y="2771775"/>
            <a:ext cx="266700" cy="1524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B1C1C"/>
                </a:solidFill>
                <a:latin typeface="Inter"/>
              </a:rPr>
              <a:t>H</a:t>
            </a:r>
          </a:p>
        </p:txBody>
      </p:sp>
      <p:sp>
        <p:nvSpPr>
          <p:cNvPr id="37" name="table-row-2-cell-5"/>
          <p:cNvSpPr txBox="1"/>
          <p:nvPr/>
        </p:nvSpPr>
        <p:spPr>
          <a:xfrm>
            <a:off x="9334500" y="2762250"/>
            <a:ext cx="134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A. Singh</a:t>
            </a:r>
          </a:p>
        </p:txBody>
      </p:sp>
      <p:sp>
        <p:nvSpPr>
          <p:cNvPr id="38" name="table-row-2-cell-6"/>
          <p:cNvSpPr txBox="1"/>
          <p:nvPr/>
        </p:nvSpPr>
        <p:spPr>
          <a:xfrm>
            <a:off x="10753725" y="2752725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DC2626"/>
                </a:solidFill>
                <a:latin typeface="Inter"/>
              </a:rPr>
              <a:t>↑</a:t>
            </a:r>
          </a:p>
        </p:txBody>
      </p:sp>
      <p:sp>
        <p:nvSpPr>
          <p:cNvPr id="39" name="table-row-2-divider"/>
          <p:cNvSpPr/>
          <p:nvPr/>
        </p:nvSpPr>
        <p:spPr>
          <a:xfrm>
            <a:off x="4905375" y="3209925"/>
            <a:ext cx="68294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table-row-3-bg"/>
          <p:cNvSpPr/>
          <p:nvPr/>
        </p:nvSpPr>
        <p:spPr>
          <a:xfrm>
            <a:off x="4905375" y="3219450"/>
            <a:ext cx="6829425" cy="742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table-row-3-num"/>
          <p:cNvSpPr txBox="1"/>
          <p:nvPr/>
        </p:nvSpPr>
        <p:spPr>
          <a:xfrm>
            <a:off x="4905375" y="3505200"/>
            <a:ext cx="542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R3</a:t>
            </a:r>
          </a:p>
        </p:txBody>
      </p:sp>
      <p:sp>
        <p:nvSpPr>
          <p:cNvPr id="42" name="table-row-3-cell-2"/>
          <p:cNvSpPr txBox="1"/>
          <p:nvPr/>
        </p:nvSpPr>
        <p:spPr>
          <a:xfrm>
            <a:off x="5524500" y="3295650"/>
            <a:ext cx="23050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Resource constraints in Wave 2</a:t>
            </a:r>
          </a:p>
        </p:txBody>
      </p:sp>
      <p:sp>
        <p:nvSpPr>
          <p:cNvPr id="43" name="table-row-3-cell-3"/>
          <p:cNvSpPr txBox="1"/>
          <p:nvPr/>
        </p:nvSpPr>
        <p:spPr>
          <a:xfrm>
            <a:off x="8105775" y="3514725"/>
            <a:ext cx="266700" cy="152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78350F"/>
                </a:solidFill>
                <a:latin typeface="Inter"/>
              </a:rPr>
              <a:t>M</a:t>
            </a:r>
          </a:p>
        </p:txBody>
      </p:sp>
      <p:sp>
        <p:nvSpPr>
          <p:cNvPr id="44" name="table-row-3-cell-4"/>
          <p:cNvSpPr txBox="1"/>
          <p:nvPr/>
        </p:nvSpPr>
        <p:spPr>
          <a:xfrm>
            <a:off x="8782050" y="3514725"/>
            <a:ext cx="266700" cy="152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78350F"/>
                </a:solidFill>
                <a:latin typeface="Inter"/>
              </a:rPr>
              <a:t>M</a:t>
            </a:r>
          </a:p>
        </p:txBody>
      </p:sp>
      <p:sp>
        <p:nvSpPr>
          <p:cNvPr id="45" name="table-row-3-cell-5"/>
          <p:cNvSpPr txBox="1"/>
          <p:nvPr/>
        </p:nvSpPr>
        <p:spPr>
          <a:xfrm>
            <a:off x="9334500" y="3505200"/>
            <a:ext cx="134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J. Torres</a:t>
            </a:r>
          </a:p>
        </p:txBody>
      </p:sp>
      <p:sp>
        <p:nvSpPr>
          <p:cNvPr id="46" name="table-row-3-cell-6"/>
          <p:cNvSpPr txBox="1"/>
          <p:nvPr/>
        </p:nvSpPr>
        <p:spPr>
          <a:xfrm>
            <a:off x="10753725" y="3495675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D97706"/>
                </a:solidFill>
                <a:latin typeface="Inter"/>
              </a:rPr>
              <a:t>→</a:t>
            </a:r>
          </a:p>
        </p:txBody>
      </p:sp>
      <p:sp>
        <p:nvSpPr>
          <p:cNvPr id="47" name="table-row-3-divider"/>
          <p:cNvSpPr/>
          <p:nvPr/>
        </p:nvSpPr>
        <p:spPr>
          <a:xfrm>
            <a:off x="4905375" y="3952875"/>
            <a:ext cx="68294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able-row-4-bg"/>
          <p:cNvSpPr/>
          <p:nvPr/>
        </p:nvSpPr>
        <p:spPr>
          <a:xfrm>
            <a:off x="4905375" y="3962400"/>
            <a:ext cx="6829425" cy="742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ble-row-4-num"/>
          <p:cNvSpPr txBox="1"/>
          <p:nvPr/>
        </p:nvSpPr>
        <p:spPr>
          <a:xfrm>
            <a:off x="4905375" y="4248150"/>
            <a:ext cx="542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R4</a:t>
            </a:r>
          </a:p>
        </p:txBody>
      </p:sp>
      <p:sp>
        <p:nvSpPr>
          <p:cNvPr id="50" name="table-row-4-cell-2"/>
          <p:cNvSpPr txBox="1"/>
          <p:nvPr/>
        </p:nvSpPr>
        <p:spPr>
          <a:xfrm>
            <a:off x="5524500" y="4038600"/>
            <a:ext cx="23050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Vendor tooling provisioning delay</a:t>
            </a:r>
          </a:p>
        </p:txBody>
      </p:sp>
      <p:sp>
        <p:nvSpPr>
          <p:cNvPr id="51" name="table-row-4-cell-3"/>
          <p:cNvSpPr txBox="1"/>
          <p:nvPr/>
        </p:nvSpPr>
        <p:spPr>
          <a:xfrm>
            <a:off x="8105775" y="4257675"/>
            <a:ext cx="266700" cy="152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78350F"/>
                </a:solidFill>
                <a:latin typeface="Inter"/>
              </a:rPr>
              <a:t>M</a:t>
            </a:r>
          </a:p>
        </p:txBody>
      </p:sp>
      <p:sp>
        <p:nvSpPr>
          <p:cNvPr id="52" name="table-row-4-cell-4"/>
          <p:cNvSpPr txBox="1"/>
          <p:nvPr/>
        </p:nvSpPr>
        <p:spPr>
          <a:xfrm>
            <a:off x="8782050" y="4257675"/>
            <a:ext cx="266700" cy="1524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B1C1C"/>
                </a:solidFill>
                <a:latin typeface="Inter"/>
              </a:rPr>
              <a:t>H</a:t>
            </a:r>
          </a:p>
        </p:txBody>
      </p:sp>
      <p:sp>
        <p:nvSpPr>
          <p:cNvPr id="53" name="table-row-4-cell-5"/>
          <p:cNvSpPr txBox="1"/>
          <p:nvPr/>
        </p:nvSpPr>
        <p:spPr>
          <a:xfrm>
            <a:off x="9334500" y="4248150"/>
            <a:ext cx="134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PMO</a:t>
            </a:r>
          </a:p>
        </p:txBody>
      </p:sp>
      <p:sp>
        <p:nvSpPr>
          <p:cNvPr id="54" name="table-row-4-cell-6"/>
          <p:cNvSpPr txBox="1"/>
          <p:nvPr/>
        </p:nvSpPr>
        <p:spPr>
          <a:xfrm>
            <a:off x="10753725" y="4238625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D97706"/>
                </a:solidFill>
                <a:latin typeface="Inter"/>
              </a:rPr>
              <a:t>→</a:t>
            </a:r>
          </a:p>
        </p:txBody>
      </p:sp>
      <p:sp>
        <p:nvSpPr>
          <p:cNvPr id="55" name="table-row-4-divider"/>
          <p:cNvSpPr/>
          <p:nvPr/>
        </p:nvSpPr>
        <p:spPr>
          <a:xfrm>
            <a:off x="4905375" y="4695825"/>
            <a:ext cx="68294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table-row-5-bg"/>
          <p:cNvSpPr/>
          <p:nvPr/>
        </p:nvSpPr>
        <p:spPr>
          <a:xfrm>
            <a:off x="4905375" y="4705350"/>
            <a:ext cx="6829425" cy="742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5-num"/>
          <p:cNvSpPr txBox="1"/>
          <p:nvPr/>
        </p:nvSpPr>
        <p:spPr>
          <a:xfrm>
            <a:off x="4905375" y="4991100"/>
            <a:ext cx="542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R5</a:t>
            </a:r>
          </a:p>
        </p:txBody>
      </p:sp>
      <p:sp>
        <p:nvSpPr>
          <p:cNvPr id="58" name="table-row-5-cell-2"/>
          <p:cNvSpPr txBox="1"/>
          <p:nvPr/>
        </p:nvSpPr>
        <p:spPr>
          <a:xfrm>
            <a:off x="5524500" y="4781550"/>
            <a:ext cx="23050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Change management adoption lag</a:t>
            </a:r>
          </a:p>
        </p:txBody>
      </p:sp>
      <p:sp>
        <p:nvSpPr>
          <p:cNvPr id="59" name="table-row-5-cell-3"/>
          <p:cNvSpPr txBox="1"/>
          <p:nvPr/>
        </p:nvSpPr>
        <p:spPr>
          <a:xfrm>
            <a:off x="8105775" y="5000625"/>
            <a:ext cx="266700" cy="152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78350F"/>
                </a:solidFill>
                <a:latin typeface="Inter"/>
              </a:rPr>
              <a:t>M</a:t>
            </a:r>
          </a:p>
        </p:txBody>
      </p:sp>
      <p:sp>
        <p:nvSpPr>
          <p:cNvPr id="60" name="table-row-5-cell-4"/>
          <p:cNvSpPr txBox="1"/>
          <p:nvPr/>
        </p:nvSpPr>
        <p:spPr>
          <a:xfrm>
            <a:off x="8782050" y="5000625"/>
            <a:ext cx="266700" cy="152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4532D"/>
                </a:solidFill>
                <a:latin typeface="Inter"/>
              </a:rPr>
              <a:t>L</a:t>
            </a:r>
          </a:p>
        </p:txBody>
      </p:sp>
      <p:sp>
        <p:nvSpPr>
          <p:cNvPr id="61" name="table-row-5-cell-5"/>
          <p:cNvSpPr txBox="1"/>
          <p:nvPr/>
        </p:nvSpPr>
        <p:spPr>
          <a:xfrm>
            <a:off x="9334500" y="4991100"/>
            <a:ext cx="134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L. Reyes</a:t>
            </a:r>
          </a:p>
        </p:txBody>
      </p:sp>
      <p:sp>
        <p:nvSpPr>
          <p:cNvPr id="62" name="table-row-5-cell-6"/>
          <p:cNvSpPr txBox="1"/>
          <p:nvPr/>
        </p:nvSpPr>
        <p:spPr>
          <a:xfrm>
            <a:off x="10753725" y="4981575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16A34A"/>
                </a:solidFill>
                <a:latin typeface="Inter"/>
              </a:rPr>
              <a:t>↓</a:t>
            </a:r>
          </a:p>
        </p:txBody>
      </p:sp>
      <p:sp>
        <p:nvSpPr>
          <p:cNvPr id="63" name="metric-1-tile"/>
          <p:cNvSpPr/>
          <p:nvPr/>
        </p:nvSpPr>
        <p:spPr>
          <a:xfrm>
            <a:off x="4905375" y="5581650"/>
            <a:ext cx="2209800" cy="9144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metric-1-bar"/>
          <p:cNvSpPr/>
          <p:nvPr/>
        </p:nvSpPr>
        <p:spPr>
          <a:xfrm>
            <a:off x="4905375" y="5581650"/>
            <a:ext cx="28575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metric-1-value"/>
          <p:cNvSpPr txBox="1"/>
          <p:nvPr/>
        </p:nvSpPr>
        <p:spPr>
          <a:xfrm>
            <a:off x="5038725" y="5676900"/>
            <a:ext cx="19431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DC2626"/>
                </a:solidFill>
                <a:latin typeface="Inter"/>
              </a:rPr>
              <a:t>2</a:t>
            </a:r>
          </a:p>
        </p:txBody>
      </p:sp>
      <p:sp>
        <p:nvSpPr>
          <p:cNvPr id="66" name="metric-1-label"/>
          <p:cNvSpPr txBox="1"/>
          <p:nvPr/>
        </p:nvSpPr>
        <p:spPr>
          <a:xfrm>
            <a:off x="5038725" y="5981700"/>
            <a:ext cx="1943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B1C1C"/>
                </a:solidFill>
                <a:latin typeface="Inter"/>
              </a:rPr>
              <a:t>HIGH RISKS</a:t>
            </a:r>
          </a:p>
        </p:txBody>
      </p:sp>
      <p:sp>
        <p:nvSpPr>
          <p:cNvPr id="67" name="metric-2-tile"/>
          <p:cNvSpPr/>
          <p:nvPr/>
        </p:nvSpPr>
        <p:spPr>
          <a:xfrm>
            <a:off x="7210425" y="5581650"/>
            <a:ext cx="2209800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metric-2-bar"/>
          <p:cNvSpPr/>
          <p:nvPr/>
        </p:nvSpPr>
        <p:spPr>
          <a:xfrm>
            <a:off x="7210425" y="5581650"/>
            <a:ext cx="28575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metric-2-value"/>
          <p:cNvSpPr txBox="1"/>
          <p:nvPr/>
        </p:nvSpPr>
        <p:spPr>
          <a:xfrm>
            <a:off x="7343775" y="5676900"/>
            <a:ext cx="19431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D97706"/>
                </a:solidFill>
                <a:latin typeface="Inter"/>
              </a:rPr>
              <a:t>3</a:t>
            </a:r>
          </a:p>
        </p:txBody>
      </p:sp>
      <p:sp>
        <p:nvSpPr>
          <p:cNvPr id="70" name="metric-2-label"/>
          <p:cNvSpPr txBox="1"/>
          <p:nvPr/>
        </p:nvSpPr>
        <p:spPr>
          <a:xfrm>
            <a:off x="7343775" y="5981700"/>
            <a:ext cx="1943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78350F"/>
                </a:solidFill>
                <a:latin typeface="Inter"/>
              </a:rPr>
              <a:t>MEDIUM RISKS</a:t>
            </a:r>
          </a:p>
        </p:txBody>
      </p:sp>
      <p:sp>
        <p:nvSpPr>
          <p:cNvPr id="71" name="metric-3-tile"/>
          <p:cNvSpPr/>
          <p:nvPr/>
        </p:nvSpPr>
        <p:spPr>
          <a:xfrm>
            <a:off x="9515475" y="5581650"/>
            <a:ext cx="2209800" cy="9144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metric-3-bar"/>
          <p:cNvSpPr/>
          <p:nvPr/>
        </p:nvSpPr>
        <p:spPr>
          <a:xfrm>
            <a:off x="9515475" y="5581650"/>
            <a:ext cx="28575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metric-3-label"/>
          <p:cNvSpPr txBox="1"/>
          <p:nvPr/>
        </p:nvSpPr>
        <p:spPr>
          <a:xfrm>
            <a:off x="9648825" y="5676900"/>
            <a:ext cx="1943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B1C1C"/>
                </a:solidFill>
                <a:latin typeface="Inter"/>
              </a:rPr>
              <a:t>RISK TREND</a:t>
            </a:r>
          </a:p>
        </p:txBody>
      </p:sp>
      <p:sp>
        <p:nvSpPr>
          <p:cNvPr id="74" name="metric-3-value"/>
          <p:cNvSpPr txBox="1"/>
          <p:nvPr/>
        </p:nvSpPr>
        <p:spPr>
          <a:xfrm>
            <a:off x="9648825" y="5829300"/>
            <a:ext cx="19431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↑ INCREASING</a:t>
            </a:r>
          </a:p>
        </p:txBody>
      </p:sp>
      <p:sp>
        <p:nvSpPr>
          <p:cNvPr id="7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