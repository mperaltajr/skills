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Capability Maturity: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Current vs. Target State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Across six domains — three priority gaps require immediate intervention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current-dot"/>
          <p:cNvSpPr/>
          <p:nvPr/>
        </p:nvSpPr>
        <p:spPr>
          <a:xfrm>
            <a:off x="8096250" y="2247900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current"/>
          <p:cNvSpPr txBox="1"/>
          <p:nvPr/>
        </p:nvSpPr>
        <p:spPr>
          <a:xfrm>
            <a:off x="8248650" y="22098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Current level</a:t>
            </a:r>
          </a:p>
        </p:txBody>
      </p:sp>
      <p:sp>
        <p:nvSpPr>
          <p:cNvPr id="7" name="legend-target-dot"/>
          <p:cNvSpPr/>
          <p:nvPr/>
        </p:nvSpPr>
        <p:spPr>
          <a:xfrm>
            <a:off x="9353550" y="2247900"/>
            <a:ext cx="95250" cy="95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target"/>
          <p:cNvSpPr txBox="1"/>
          <p:nvPr/>
        </p:nvSpPr>
        <p:spPr>
          <a:xfrm>
            <a:off x="9505950" y="220980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Target level</a:t>
            </a:r>
          </a:p>
        </p:txBody>
      </p:sp>
      <p:sp>
        <p:nvSpPr>
          <p:cNvPr id="9" name="legend-col-swatch"/>
          <p:cNvSpPr/>
          <p:nvPr/>
        </p:nvSpPr>
        <p:spPr>
          <a:xfrm>
            <a:off x="10648950" y="2247900"/>
            <a:ext cx="171450" cy="95250"/>
          </a:xfrm>
          <a:prstGeom prst="rect">
            <a:avLst/>
          </a:prstGeom>
          <a:solidFill>
            <a:srgbClr val="371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col"/>
          <p:cNvSpPr txBox="1"/>
          <p:nvPr/>
        </p:nvSpPr>
        <p:spPr>
          <a:xfrm>
            <a:off x="10858500" y="22098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Current column</a:t>
            </a:r>
          </a:p>
        </p:txBody>
      </p:sp>
      <p:sp>
        <p:nvSpPr>
          <p:cNvPr id="11" name="col-header-1"/>
          <p:cNvSpPr txBox="1"/>
          <p:nvPr/>
        </p:nvSpPr>
        <p:spPr>
          <a:xfrm>
            <a:off x="1847850" y="24765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L1 · INITIAL</a:t>
            </a:r>
          </a:p>
        </p:txBody>
      </p:sp>
      <p:sp>
        <p:nvSpPr>
          <p:cNvPr id="12" name="col-header-2"/>
          <p:cNvSpPr txBox="1"/>
          <p:nvPr/>
        </p:nvSpPr>
        <p:spPr>
          <a:xfrm>
            <a:off x="2800350" y="24765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L2 · MANAGED</a:t>
            </a:r>
          </a:p>
        </p:txBody>
      </p:sp>
      <p:sp>
        <p:nvSpPr>
          <p:cNvPr id="13" name="col-header-3"/>
          <p:cNvSpPr txBox="1"/>
          <p:nvPr/>
        </p:nvSpPr>
        <p:spPr>
          <a:xfrm>
            <a:off x="3752850" y="24765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L3 · DEFINED</a:t>
            </a:r>
          </a:p>
        </p:txBody>
      </p:sp>
      <p:sp>
        <p:nvSpPr>
          <p:cNvPr id="14" name="col-header-4"/>
          <p:cNvSpPr txBox="1"/>
          <p:nvPr/>
        </p:nvSpPr>
        <p:spPr>
          <a:xfrm>
            <a:off x="4705350" y="24765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L4 · QUANTIFIED</a:t>
            </a:r>
          </a:p>
        </p:txBody>
      </p:sp>
      <p:sp>
        <p:nvSpPr>
          <p:cNvPr id="15" name="col-header-5"/>
          <p:cNvSpPr txBox="1"/>
          <p:nvPr/>
        </p:nvSpPr>
        <p:spPr>
          <a:xfrm>
            <a:off x="5657850" y="247650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L5 · OPTIMIZING</a:t>
            </a:r>
          </a:p>
        </p:txBody>
      </p:sp>
      <p:sp>
        <p:nvSpPr>
          <p:cNvPr id="16" name="row-header-1"/>
          <p:cNvSpPr txBox="1"/>
          <p:nvPr/>
        </p:nvSpPr>
        <p:spPr>
          <a:xfrm>
            <a:off x="609600" y="272415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</a:t>
            </a:r>
          </a:p>
        </p:txBody>
      </p:sp>
      <p:sp>
        <p:nvSpPr>
          <p:cNvPr id="17" name="cell-1-1"/>
          <p:cNvSpPr/>
          <p:nvPr/>
        </p:nvSpPr>
        <p:spPr>
          <a:xfrm>
            <a:off x="1847850" y="2724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ell-1-2"/>
          <p:cNvSpPr/>
          <p:nvPr/>
        </p:nvSpPr>
        <p:spPr>
          <a:xfrm>
            <a:off x="2800350" y="272415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dot-cur-1"/>
          <p:cNvSpPr/>
          <p:nvPr/>
        </p:nvSpPr>
        <p:spPr>
          <a:xfrm>
            <a:off x="3190875" y="28765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ell-1-3"/>
          <p:cNvSpPr/>
          <p:nvPr/>
        </p:nvSpPr>
        <p:spPr>
          <a:xfrm>
            <a:off x="3752850" y="2724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ell-1-4"/>
          <p:cNvSpPr/>
          <p:nvPr/>
        </p:nvSpPr>
        <p:spPr>
          <a:xfrm>
            <a:off x="4705350" y="2724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dot-tgt-1"/>
          <p:cNvSpPr/>
          <p:nvPr/>
        </p:nvSpPr>
        <p:spPr>
          <a:xfrm>
            <a:off x="5095875" y="287655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ell-1-5"/>
          <p:cNvSpPr/>
          <p:nvPr/>
        </p:nvSpPr>
        <p:spPr>
          <a:xfrm>
            <a:off x="5657850" y="2724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header-2"/>
          <p:cNvSpPr txBox="1"/>
          <p:nvPr/>
        </p:nvSpPr>
        <p:spPr>
          <a:xfrm>
            <a:off x="609600" y="320040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</a:t>
            </a:r>
          </a:p>
        </p:txBody>
      </p:sp>
      <p:sp>
        <p:nvSpPr>
          <p:cNvPr id="25" name="cell-2-1"/>
          <p:cNvSpPr/>
          <p:nvPr/>
        </p:nvSpPr>
        <p:spPr>
          <a:xfrm>
            <a:off x="1847850" y="3200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ell-2-2"/>
          <p:cNvSpPr/>
          <p:nvPr/>
        </p:nvSpPr>
        <p:spPr>
          <a:xfrm>
            <a:off x="2800350" y="3200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ell-2-3"/>
          <p:cNvSpPr/>
          <p:nvPr/>
        </p:nvSpPr>
        <p:spPr>
          <a:xfrm>
            <a:off x="3752850" y="320040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dot-cur-2"/>
          <p:cNvSpPr/>
          <p:nvPr/>
        </p:nvSpPr>
        <p:spPr>
          <a:xfrm>
            <a:off x="4143375" y="335280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ell-2-4"/>
          <p:cNvSpPr/>
          <p:nvPr/>
        </p:nvSpPr>
        <p:spPr>
          <a:xfrm>
            <a:off x="4705350" y="3200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ell-2-5"/>
          <p:cNvSpPr/>
          <p:nvPr/>
        </p:nvSpPr>
        <p:spPr>
          <a:xfrm>
            <a:off x="5657850" y="3200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dot-tgt-2"/>
          <p:cNvSpPr/>
          <p:nvPr/>
        </p:nvSpPr>
        <p:spPr>
          <a:xfrm>
            <a:off x="6048375" y="335280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header-3"/>
          <p:cNvSpPr txBox="1"/>
          <p:nvPr/>
        </p:nvSpPr>
        <p:spPr>
          <a:xfrm>
            <a:off x="609600" y="367665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</a:t>
            </a:r>
          </a:p>
        </p:txBody>
      </p:sp>
      <p:sp>
        <p:nvSpPr>
          <p:cNvPr id="33" name="cell-3-1"/>
          <p:cNvSpPr/>
          <p:nvPr/>
        </p:nvSpPr>
        <p:spPr>
          <a:xfrm>
            <a:off x="1847850" y="36766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ell-3-2"/>
          <p:cNvSpPr/>
          <p:nvPr/>
        </p:nvSpPr>
        <p:spPr>
          <a:xfrm>
            <a:off x="2800350" y="367665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dot-cur-3"/>
          <p:cNvSpPr/>
          <p:nvPr/>
        </p:nvSpPr>
        <p:spPr>
          <a:xfrm>
            <a:off x="3190875" y="38290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ell-3-3"/>
          <p:cNvSpPr/>
          <p:nvPr/>
        </p:nvSpPr>
        <p:spPr>
          <a:xfrm>
            <a:off x="3752850" y="36766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ell-3-4"/>
          <p:cNvSpPr/>
          <p:nvPr/>
        </p:nvSpPr>
        <p:spPr>
          <a:xfrm>
            <a:off x="4705350" y="36766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ell-3-5"/>
          <p:cNvSpPr/>
          <p:nvPr/>
        </p:nvSpPr>
        <p:spPr>
          <a:xfrm>
            <a:off x="5657850" y="36766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dot-tgt-3"/>
          <p:cNvSpPr/>
          <p:nvPr/>
        </p:nvSpPr>
        <p:spPr>
          <a:xfrm>
            <a:off x="6048375" y="382905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header-4"/>
          <p:cNvSpPr txBox="1"/>
          <p:nvPr/>
        </p:nvSpPr>
        <p:spPr>
          <a:xfrm>
            <a:off x="609600" y="415290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People</a:t>
            </a:r>
          </a:p>
        </p:txBody>
      </p:sp>
      <p:sp>
        <p:nvSpPr>
          <p:cNvPr id="41" name="cell-4-1"/>
          <p:cNvSpPr/>
          <p:nvPr/>
        </p:nvSpPr>
        <p:spPr>
          <a:xfrm>
            <a:off x="1847850" y="41529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ell-4-2"/>
          <p:cNvSpPr/>
          <p:nvPr/>
        </p:nvSpPr>
        <p:spPr>
          <a:xfrm>
            <a:off x="2800350" y="41529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ell-4-3"/>
          <p:cNvSpPr/>
          <p:nvPr/>
        </p:nvSpPr>
        <p:spPr>
          <a:xfrm>
            <a:off x="3752850" y="415290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dot-cur-4"/>
          <p:cNvSpPr/>
          <p:nvPr/>
        </p:nvSpPr>
        <p:spPr>
          <a:xfrm>
            <a:off x="4143375" y="430530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ell-4-4"/>
          <p:cNvSpPr/>
          <p:nvPr/>
        </p:nvSpPr>
        <p:spPr>
          <a:xfrm>
            <a:off x="4705350" y="41529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dot-tgt-4"/>
          <p:cNvSpPr/>
          <p:nvPr/>
        </p:nvSpPr>
        <p:spPr>
          <a:xfrm>
            <a:off x="5095875" y="430530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ell-4-5"/>
          <p:cNvSpPr/>
          <p:nvPr/>
        </p:nvSpPr>
        <p:spPr>
          <a:xfrm>
            <a:off x="5657850" y="41529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header-5"/>
          <p:cNvSpPr txBox="1"/>
          <p:nvPr/>
        </p:nvSpPr>
        <p:spPr>
          <a:xfrm>
            <a:off x="609600" y="462915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</a:t>
            </a:r>
          </a:p>
        </p:txBody>
      </p:sp>
      <p:sp>
        <p:nvSpPr>
          <p:cNvPr id="49" name="cell-5-1"/>
          <p:cNvSpPr/>
          <p:nvPr/>
        </p:nvSpPr>
        <p:spPr>
          <a:xfrm>
            <a:off x="1847850" y="462915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dot-cur-5"/>
          <p:cNvSpPr/>
          <p:nvPr/>
        </p:nvSpPr>
        <p:spPr>
          <a:xfrm>
            <a:off x="2238375" y="478155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ell-5-2"/>
          <p:cNvSpPr/>
          <p:nvPr/>
        </p:nvSpPr>
        <p:spPr>
          <a:xfrm>
            <a:off x="2800350" y="4629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ell-5-3"/>
          <p:cNvSpPr/>
          <p:nvPr/>
        </p:nvSpPr>
        <p:spPr>
          <a:xfrm>
            <a:off x="3752850" y="4629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dot-tgt-5"/>
          <p:cNvSpPr/>
          <p:nvPr/>
        </p:nvSpPr>
        <p:spPr>
          <a:xfrm>
            <a:off x="4143375" y="478155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ell-5-4"/>
          <p:cNvSpPr/>
          <p:nvPr/>
        </p:nvSpPr>
        <p:spPr>
          <a:xfrm>
            <a:off x="4705350" y="4629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ell-5-5"/>
          <p:cNvSpPr/>
          <p:nvPr/>
        </p:nvSpPr>
        <p:spPr>
          <a:xfrm>
            <a:off x="5657850" y="462915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row-header-6"/>
          <p:cNvSpPr txBox="1"/>
          <p:nvPr/>
        </p:nvSpPr>
        <p:spPr>
          <a:xfrm>
            <a:off x="609600" y="5105400"/>
            <a:ext cx="116205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Culture</a:t>
            </a:r>
          </a:p>
        </p:txBody>
      </p:sp>
      <p:sp>
        <p:nvSpPr>
          <p:cNvPr id="57" name="cell-6-1"/>
          <p:cNvSpPr/>
          <p:nvPr/>
        </p:nvSpPr>
        <p:spPr>
          <a:xfrm>
            <a:off x="1847850" y="5105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ell-6-2"/>
          <p:cNvSpPr/>
          <p:nvPr/>
        </p:nvSpPr>
        <p:spPr>
          <a:xfrm>
            <a:off x="2800350" y="5105400"/>
            <a:ext cx="914400" cy="438150"/>
          </a:xfrm>
          <a:prstGeom prst="rect">
            <a:avLst/>
          </a:prstGeom>
          <a:solidFill>
            <a:srgbClr val="371B55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dot-cur-6"/>
          <p:cNvSpPr/>
          <p:nvPr/>
        </p:nvSpPr>
        <p:spPr>
          <a:xfrm>
            <a:off x="3190875" y="5257800"/>
            <a:ext cx="1333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ell-6-3"/>
          <p:cNvSpPr/>
          <p:nvPr/>
        </p:nvSpPr>
        <p:spPr>
          <a:xfrm>
            <a:off x="3752850" y="5105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dot-tgt-6"/>
          <p:cNvSpPr/>
          <p:nvPr/>
        </p:nvSpPr>
        <p:spPr>
          <a:xfrm>
            <a:off x="4143375" y="5257800"/>
            <a:ext cx="133350" cy="1333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ell-6-4"/>
          <p:cNvSpPr/>
          <p:nvPr/>
        </p:nvSpPr>
        <p:spPr>
          <a:xfrm>
            <a:off x="4705350" y="5105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ell-6-5"/>
          <p:cNvSpPr/>
          <p:nvPr/>
        </p:nvSpPr>
        <p:spPr>
          <a:xfrm>
            <a:off x="5657850" y="5105400"/>
            <a:ext cx="914400" cy="438150"/>
          </a:xfrm>
          <a:prstGeom prst="rect">
            <a:avLst/>
          </a:prstGeom>
          <a:solidFill>
            <a:srgbClr val="3C1F5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idebar-label"/>
          <p:cNvSpPr txBox="1"/>
          <p:nvPr/>
        </p:nvSpPr>
        <p:spPr>
          <a:xfrm>
            <a:off x="7905750" y="247650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GAP SUMMARY — PRIORITY ACTIONS</a:t>
            </a:r>
          </a:p>
        </p:txBody>
      </p:sp>
      <p:sp>
        <p:nvSpPr>
          <p:cNvPr id="65" name="gap-1-bg"/>
          <p:cNvSpPr/>
          <p:nvPr/>
        </p:nvSpPr>
        <p:spPr>
          <a:xfrm>
            <a:off x="7905750" y="2705100"/>
            <a:ext cx="3676650" cy="10287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gap-1-accent"/>
          <p:cNvSpPr/>
          <p:nvPr/>
        </p:nvSpPr>
        <p:spPr>
          <a:xfrm>
            <a:off x="7905750" y="2705100"/>
            <a:ext cx="28575" cy="1028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gap-1-pri"/>
          <p:cNvSpPr txBox="1"/>
          <p:nvPr/>
        </p:nvSpPr>
        <p:spPr>
          <a:xfrm>
            <a:off x="8039100" y="2800350"/>
            <a:ext cx="3467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P1 · HIGH IMPACT</a:t>
            </a:r>
          </a:p>
        </p:txBody>
      </p:sp>
      <p:sp>
        <p:nvSpPr>
          <p:cNvPr id="68" name="gap-1-title"/>
          <p:cNvSpPr txBox="1"/>
          <p:nvPr/>
        </p:nvSpPr>
        <p:spPr>
          <a:xfrm>
            <a:off x="8039100" y="2971800"/>
            <a:ext cx="3467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Modernisation</a:t>
            </a:r>
          </a:p>
        </p:txBody>
      </p:sp>
      <p:sp>
        <p:nvSpPr>
          <p:cNvPr id="69" name="gap-1-body"/>
          <p:cNvSpPr txBox="1"/>
          <p:nvPr/>
        </p:nvSpPr>
        <p:spPr>
          <a:xfrm>
            <a:off x="8039100" y="3181350"/>
            <a:ext cx="34671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3-level gap; legacy stack blocks scalability. Initiate cloud migration roadmap Q3.</a:t>
            </a:r>
          </a:p>
        </p:txBody>
      </p:sp>
      <p:sp>
        <p:nvSpPr>
          <p:cNvPr id="70" name="gap-2-bg"/>
          <p:cNvSpPr/>
          <p:nvPr/>
        </p:nvSpPr>
        <p:spPr>
          <a:xfrm>
            <a:off x="7905750" y="3790950"/>
            <a:ext cx="3676650" cy="10287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gap-2-accent"/>
          <p:cNvSpPr/>
          <p:nvPr/>
        </p:nvSpPr>
        <p:spPr>
          <a:xfrm>
            <a:off x="7905750" y="3790950"/>
            <a:ext cx="28575" cy="1028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gap-2-pri"/>
          <p:cNvSpPr txBox="1"/>
          <p:nvPr/>
        </p:nvSpPr>
        <p:spPr>
          <a:xfrm>
            <a:off x="8039100" y="3886200"/>
            <a:ext cx="3467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P2 · HIGH IMPACT</a:t>
            </a:r>
          </a:p>
        </p:txBody>
      </p:sp>
      <p:sp>
        <p:nvSpPr>
          <p:cNvPr id="73" name="gap-2-title"/>
          <p:cNvSpPr txBox="1"/>
          <p:nvPr/>
        </p:nvSpPr>
        <p:spPr>
          <a:xfrm>
            <a:off x="8039100" y="4057650"/>
            <a:ext cx="3467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 Framework</a:t>
            </a:r>
          </a:p>
        </p:txBody>
      </p:sp>
      <p:sp>
        <p:nvSpPr>
          <p:cNvPr id="74" name="gap-2-body"/>
          <p:cNvSpPr txBox="1"/>
          <p:nvPr/>
        </p:nvSpPr>
        <p:spPr>
          <a:xfrm>
            <a:off x="8039100" y="4267200"/>
            <a:ext cx="34671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Initial-state governance creates regulatory exposure. Define policies and ownership by Q4.</a:t>
            </a:r>
          </a:p>
        </p:txBody>
      </p:sp>
      <p:sp>
        <p:nvSpPr>
          <p:cNvPr id="75" name="gap-3-bg"/>
          <p:cNvSpPr/>
          <p:nvPr/>
        </p:nvSpPr>
        <p:spPr>
          <a:xfrm>
            <a:off x="7905750" y="4876800"/>
            <a:ext cx="3676650" cy="10287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gap-3-accent"/>
          <p:cNvSpPr/>
          <p:nvPr/>
        </p:nvSpPr>
        <p:spPr>
          <a:xfrm>
            <a:off x="7905750" y="4876800"/>
            <a:ext cx="28575" cy="1028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gap-3-pri"/>
          <p:cNvSpPr txBox="1"/>
          <p:nvPr/>
        </p:nvSpPr>
        <p:spPr>
          <a:xfrm>
            <a:off x="8039100" y="4972050"/>
            <a:ext cx="3467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P3 · MEDIUM IMPACT</a:t>
            </a:r>
          </a:p>
        </p:txBody>
      </p:sp>
      <p:sp>
        <p:nvSpPr>
          <p:cNvPr id="78" name="gap-3-title"/>
          <p:cNvSpPr txBox="1"/>
          <p:nvPr/>
        </p:nvSpPr>
        <p:spPr>
          <a:xfrm>
            <a:off x="8039100" y="5143500"/>
            <a:ext cx="3467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Capability Uplift</a:t>
            </a:r>
          </a:p>
        </p:txBody>
      </p:sp>
      <p:sp>
        <p:nvSpPr>
          <p:cNvPr id="79" name="gap-3-body"/>
          <p:cNvSpPr txBox="1"/>
          <p:nvPr/>
        </p:nvSpPr>
        <p:spPr>
          <a:xfrm>
            <a:off x="8039100" y="5353050"/>
            <a:ext cx="34671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Move from ad-hoc to quantified. Invest in data platform and literacy programme.</a:t>
            </a:r>
          </a:p>
        </p:txBody>
      </p:sp>
      <p:sp>
        <p:nvSpPr>
          <p:cNvPr id="8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