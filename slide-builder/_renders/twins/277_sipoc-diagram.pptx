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SIPOC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Diagram — Purchase-to-Pay Process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End-to-end process mapping from suppliers to customers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s"/>
          <p:cNvSpPr/>
          <p:nvPr/>
        </p:nvSpPr>
        <p:spPr>
          <a:xfrm>
            <a:off x="533400" y="2228850"/>
            <a:ext cx="203835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l-s-header"/>
          <p:cNvSpPr/>
          <p:nvPr/>
        </p:nvSpPr>
        <p:spPr>
          <a:xfrm>
            <a:off x="533400" y="2228850"/>
            <a:ext cx="2038350" cy="57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l-s-letter"/>
          <p:cNvSpPr txBox="1"/>
          <p:nvPr/>
        </p:nvSpPr>
        <p:spPr>
          <a:xfrm>
            <a:off x="533400" y="2305050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8" name="col-s-name"/>
          <p:cNvSpPr txBox="1"/>
          <p:nvPr/>
        </p:nvSpPr>
        <p:spPr>
          <a:xfrm>
            <a:off x="533400" y="25527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SUPPLIERS</a:t>
            </a:r>
          </a:p>
        </p:txBody>
      </p:sp>
      <p:sp>
        <p:nvSpPr>
          <p:cNvPr id="9" name="col-s-item-1-bg"/>
          <p:cNvSpPr/>
          <p:nvPr/>
        </p:nvSpPr>
        <p:spPr>
          <a:xfrm>
            <a:off x="609600" y="28956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l-s-item-1"/>
          <p:cNvSpPr txBox="1"/>
          <p:nvPr/>
        </p:nvSpPr>
        <p:spPr>
          <a:xfrm>
            <a:off x="647700" y="28956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Vendors</a:t>
            </a:r>
          </a:p>
        </p:txBody>
      </p:sp>
      <p:sp>
        <p:nvSpPr>
          <p:cNvPr id="11" name="col-s-item-2-bg"/>
          <p:cNvSpPr/>
          <p:nvPr/>
        </p:nvSpPr>
        <p:spPr>
          <a:xfrm>
            <a:off x="609600" y="36766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l-s-item-2"/>
          <p:cNvSpPr txBox="1"/>
          <p:nvPr/>
        </p:nvSpPr>
        <p:spPr>
          <a:xfrm>
            <a:off x="647700" y="36766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Finance Dept</a:t>
            </a:r>
          </a:p>
        </p:txBody>
      </p:sp>
      <p:sp>
        <p:nvSpPr>
          <p:cNvPr id="13" name="col-s-item-3-bg"/>
          <p:cNvSpPr/>
          <p:nvPr/>
        </p:nvSpPr>
        <p:spPr>
          <a:xfrm>
            <a:off x="609600" y="44577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l-s-item-3"/>
          <p:cNvSpPr txBox="1"/>
          <p:nvPr/>
        </p:nvSpPr>
        <p:spPr>
          <a:xfrm>
            <a:off x="647700" y="44577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IT Systems</a:t>
            </a:r>
          </a:p>
        </p:txBody>
      </p:sp>
      <p:sp>
        <p:nvSpPr>
          <p:cNvPr id="15" name="col-s-item-4-bg"/>
          <p:cNvSpPr/>
          <p:nvPr/>
        </p:nvSpPr>
        <p:spPr>
          <a:xfrm>
            <a:off x="609600" y="52387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l-s-item-4"/>
          <p:cNvSpPr txBox="1"/>
          <p:nvPr/>
        </p:nvSpPr>
        <p:spPr>
          <a:xfrm>
            <a:off x="647700" y="52387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HR</a:t>
            </a:r>
          </a:p>
        </p:txBody>
      </p:sp>
      <p:sp>
        <p:nvSpPr>
          <p:cNvPr id="17" name="arrow-1"/>
          <p:cNvSpPr txBox="1"/>
          <p:nvPr/>
        </p:nvSpPr>
        <p:spPr>
          <a:xfrm>
            <a:off x="2571750" y="2438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→</a:t>
            </a:r>
          </a:p>
        </p:txBody>
      </p:sp>
      <p:sp>
        <p:nvSpPr>
          <p:cNvPr id="18" name="col-i"/>
          <p:cNvSpPr/>
          <p:nvPr/>
        </p:nvSpPr>
        <p:spPr>
          <a:xfrm>
            <a:off x="2800350" y="2228850"/>
            <a:ext cx="203835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i-header"/>
          <p:cNvSpPr/>
          <p:nvPr/>
        </p:nvSpPr>
        <p:spPr>
          <a:xfrm>
            <a:off x="2800350" y="2228850"/>
            <a:ext cx="203835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l-i-letter"/>
          <p:cNvSpPr txBox="1"/>
          <p:nvPr/>
        </p:nvSpPr>
        <p:spPr>
          <a:xfrm>
            <a:off x="2800350" y="2305050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21" name="col-i-name"/>
          <p:cNvSpPr txBox="1"/>
          <p:nvPr/>
        </p:nvSpPr>
        <p:spPr>
          <a:xfrm>
            <a:off x="2800350" y="25527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22" name="col-i-item-1-bg"/>
          <p:cNvSpPr/>
          <p:nvPr/>
        </p:nvSpPr>
        <p:spPr>
          <a:xfrm>
            <a:off x="2876550" y="28956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l-i-item-1"/>
          <p:cNvSpPr txBox="1"/>
          <p:nvPr/>
        </p:nvSpPr>
        <p:spPr>
          <a:xfrm>
            <a:off x="2914650" y="28956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Purchase Orders</a:t>
            </a:r>
          </a:p>
        </p:txBody>
      </p:sp>
      <p:sp>
        <p:nvSpPr>
          <p:cNvPr id="24" name="col-i-item-2-bg"/>
          <p:cNvSpPr/>
          <p:nvPr/>
        </p:nvSpPr>
        <p:spPr>
          <a:xfrm>
            <a:off x="2876550" y="36766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l-i-item-2"/>
          <p:cNvSpPr txBox="1"/>
          <p:nvPr/>
        </p:nvSpPr>
        <p:spPr>
          <a:xfrm>
            <a:off x="2914650" y="36766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Budget Approvals</a:t>
            </a:r>
          </a:p>
        </p:txBody>
      </p:sp>
      <p:sp>
        <p:nvSpPr>
          <p:cNvPr id="26" name="col-i-item-3-bg"/>
          <p:cNvSpPr/>
          <p:nvPr/>
        </p:nvSpPr>
        <p:spPr>
          <a:xfrm>
            <a:off x="2876550" y="44577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l-i-item-3"/>
          <p:cNvSpPr txBox="1"/>
          <p:nvPr/>
        </p:nvSpPr>
        <p:spPr>
          <a:xfrm>
            <a:off x="2914650" y="44577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System Data</a:t>
            </a:r>
          </a:p>
        </p:txBody>
      </p:sp>
      <p:sp>
        <p:nvSpPr>
          <p:cNvPr id="28" name="col-i-item-4-bg"/>
          <p:cNvSpPr/>
          <p:nvPr/>
        </p:nvSpPr>
        <p:spPr>
          <a:xfrm>
            <a:off x="2876550" y="52387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l-i-item-4"/>
          <p:cNvSpPr txBox="1"/>
          <p:nvPr/>
        </p:nvSpPr>
        <p:spPr>
          <a:xfrm>
            <a:off x="2914650" y="52387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Staffing Plans</a:t>
            </a:r>
          </a:p>
        </p:txBody>
      </p:sp>
      <p:sp>
        <p:nvSpPr>
          <p:cNvPr id="30" name="arrow-2"/>
          <p:cNvSpPr txBox="1"/>
          <p:nvPr/>
        </p:nvSpPr>
        <p:spPr>
          <a:xfrm>
            <a:off x="4838700" y="2438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→</a:t>
            </a:r>
          </a:p>
        </p:txBody>
      </p:sp>
      <p:sp>
        <p:nvSpPr>
          <p:cNvPr id="31" name="col-p"/>
          <p:cNvSpPr/>
          <p:nvPr/>
        </p:nvSpPr>
        <p:spPr>
          <a:xfrm>
            <a:off x="5067300" y="2228850"/>
            <a:ext cx="203835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l-p-header"/>
          <p:cNvSpPr/>
          <p:nvPr/>
        </p:nvSpPr>
        <p:spPr>
          <a:xfrm>
            <a:off x="5067300" y="2228850"/>
            <a:ext cx="2038350" cy="571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l-p-letter"/>
          <p:cNvSpPr txBox="1"/>
          <p:nvPr/>
        </p:nvSpPr>
        <p:spPr>
          <a:xfrm>
            <a:off x="5067300" y="2305050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P</a:t>
            </a:r>
          </a:p>
        </p:txBody>
      </p:sp>
      <p:sp>
        <p:nvSpPr>
          <p:cNvPr id="34" name="col-p-name"/>
          <p:cNvSpPr txBox="1"/>
          <p:nvPr/>
        </p:nvSpPr>
        <p:spPr>
          <a:xfrm>
            <a:off x="5067300" y="25527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</a:t>
            </a:r>
          </a:p>
        </p:txBody>
      </p:sp>
      <p:sp>
        <p:nvSpPr>
          <p:cNvPr id="35" name="col-p-step-1-bg"/>
          <p:cNvSpPr/>
          <p:nvPr/>
        </p:nvSpPr>
        <p:spPr>
          <a:xfrm>
            <a:off x="5143500" y="2895600"/>
            <a:ext cx="18859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l-p-step-1-num"/>
          <p:cNvSpPr/>
          <p:nvPr/>
        </p:nvSpPr>
        <p:spPr>
          <a:xfrm>
            <a:off x="5200650" y="295275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p-step-1-num-text"/>
          <p:cNvSpPr txBox="1"/>
          <p:nvPr/>
        </p:nvSpPr>
        <p:spPr>
          <a:xfrm>
            <a:off x="5200650" y="29527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8" name="col-p-step-1-text"/>
          <p:cNvSpPr txBox="1"/>
          <p:nvPr/>
        </p:nvSpPr>
        <p:spPr>
          <a:xfrm>
            <a:off x="5429250" y="2895600"/>
            <a:ext cx="15621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Request Submission</a:t>
            </a:r>
          </a:p>
        </p:txBody>
      </p:sp>
      <p:sp>
        <p:nvSpPr>
          <p:cNvPr id="39" name="col-p-step-2-bg"/>
          <p:cNvSpPr/>
          <p:nvPr/>
        </p:nvSpPr>
        <p:spPr>
          <a:xfrm>
            <a:off x="5143500" y="3486150"/>
            <a:ext cx="18859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l-p-step-2-num"/>
          <p:cNvSpPr/>
          <p:nvPr/>
        </p:nvSpPr>
        <p:spPr>
          <a:xfrm>
            <a:off x="5200650" y="354330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l-p-step-2-num-text"/>
          <p:cNvSpPr txBox="1"/>
          <p:nvPr/>
        </p:nvSpPr>
        <p:spPr>
          <a:xfrm>
            <a:off x="5200650" y="35433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42" name="col-p-step-2-text"/>
          <p:cNvSpPr txBox="1"/>
          <p:nvPr/>
        </p:nvSpPr>
        <p:spPr>
          <a:xfrm>
            <a:off x="5429250" y="3486150"/>
            <a:ext cx="15621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Approval Review</a:t>
            </a:r>
          </a:p>
        </p:txBody>
      </p:sp>
      <p:sp>
        <p:nvSpPr>
          <p:cNvPr id="43" name="col-p-step-3-bg"/>
          <p:cNvSpPr/>
          <p:nvPr/>
        </p:nvSpPr>
        <p:spPr>
          <a:xfrm>
            <a:off x="5143500" y="4076700"/>
            <a:ext cx="18859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l-p-step-3-num"/>
          <p:cNvSpPr/>
          <p:nvPr/>
        </p:nvSpPr>
        <p:spPr>
          <a:xfrm>
            <a:off x="5200650" y="413385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ol-p-step-3-num-text"/>
          <p:cNvSpPr txBox="1"/>
          <p:nvPr/>
        </p:nvSpPr>
        <p:spPr>
          <a:xfrm>
            <a:off x="5200650" y="41338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6" name="col-p-step-3-text"/>
          <p:cNvSpPr txBox="1"/>
          <p:nvPr/>
        </p:nvSpPr>
        <p:spPr>
          <a:xfrm>
            <a:off x="5429250" y="4076700"/>
            <a:ext cx="15621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 Selection</a:t>
            </a:r>
          </a:p>
        </p:txBody>
      </p:sp>
      <p:sp>
        <p:nvSpPr>
          <p:cNvPr id="47" name="col-p-step-4-bg"/>
          <p:cNvSpPr/>
          <p:nvPr/>
        </p:nvSpPr>
        <p:spPr>
          <a:xfrm>
            <a:off x="5143500" y="4667250"/>
            <a:ext cx="18859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l-p-step-4-num"/>
          <p:cNvSpPr/>
          <p:nvPr/>
        </p:nvSpPr>
        <p:spPr>
          <a:xfrm>
            <a:off x="5200650" y="472440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l-p-step-4-num-text"/>
          <p:cNvSpPr txBox="1"/>
          <p:nvPr/>
        </p:nvSpPr>
        <p:spPr>
          <a:xfrm>
            <a:off x="5200650" y="47244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0" name="col-p-step-4-text"/>
          <p:cNvSpPr txBox="1"/>
          <p:nvPr/>
        </p:nvSpPr>
        <p:spPr>
          <a:xfrm>
            <a:off x="5429250" y="4667250"/>
            <a:ext cx="15621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Contract Execution</a:t>
            </a:r>
          </a:p>
        </p:txBody>
      </p:sp>
      <p:sp>
        <p:nvSpPr>
          <p:cNvPr id="51" name="col-p-step-5-bg"/>
          <p:cNvSpPr/>
          <p:nvPr/>
        </p:nvSpPr>
        <p:spPr>
          <a:xfrm>
            <a:off x="5143500" y="5257800"/>
            <a:ext cx="18859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l-p-step-5-num"/>
          <p:cNvSpPr/>
          <p:nvPr/>
        </p:nvSpPr>
        <p:spPr>
          <a:xfrm>
            <a:off x="5200650" y="5314950"/>
            <a:ext cx="171450" cy="1714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ol-p-step-5-num-text"/>
          <p:cNvSpPr txBox="1"/>
          <p:nvPr/>
        </p:nvSpPr>
        <p:spPr>
          <a:xfrm>
            <a:off x="5200650" y="531495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54" name="col-p-step-5-text"/>
          <p:cNvSpPr txBox="1"/>
          <p:nvPr/>
        </p:nvSpPr>
        <p:spPr>
          <a:xfrm>
            <a:off x="5429250" y="5257800"/>
            <a:ext cx="15621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Invoice Processing</a:t>
            </a:r>
          </a:p>
        </p:txBody>
      </p:sp>
      <p:sp>
        <p:nvSpPr>
          <p:cNvPr id="55" name="arrow-3"/>
          <p:cNvSpPr txBox="1"/>
          <p:nvPr/>
        </p:nvSpPr>
        <p:spPr>
          <a:xfrm>
            <a:off x="7105650" y="2438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→</a:t>
            </a:r>
          </a:p>
        </p:txBody>
      </p:sp>
      <p:sp>
        <p:nvSpPr>
          <p:cNvPr id="56" name="col-o"/>
          <p:cNvSpPr/>
          <p:nvPr/>
        </p:nvSpPr>
        <p:spPr>
          <a:xfrm>
            <a:off x="7334250" y="2228850"/>
            <a:ext cx="203835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l-o-header"/>
          <p:cNvSpPr/>
          <p:nvPr/>
        </p:nvSpPr>
        <p:spPr>
          <a:xfrm>
            <a:off x="7334250" y="2228850"/>
            <a:ext cx="203835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l-o-letter"/>
          <p:cNvSpPr txBox="1"/>
          <p:nvPr/>
        </p:nvSpPr>
        <p:spPr>
          <a:xfrm>
            <a:off x="7334250" y="2305050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59" name="col-o-name"/>
          <p:cNvSpPr txBox="1"/>
          <p:nvPr/>
        </p:nvSpPr>
        <p:spPr>
          <a:xfrm>
            <a:off x="7334250" y="25527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60" name="col-o-item-1-bg"/>
          <p:cNvSpPr/>
          <p:nvPr/>
        </p:nvSpPr>
        <p:spPr>
          <a:xfrm>
            <a:off x="7410450" y="28956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ol-o-item-1"/>
          <p:cNvSpPr txBox="1"/>
          <p:nvPr/>
        </p:nvSpPr>
        <p:spPr>
          <a:xfrm>
            <a:off x="7448550" y="28956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Approved Contracts</a:t>
            </a:r>
          </a:p>
        </p:txBody>
      </p:sp>
      <p:sp>
        <p:nvSpPr>
          <p:cNvPr id="62" name="col-o-item-2-bg"/>
          <p:cNvSpPr/>
          <p:nvPr/>
        </p:nvSpPr>
        <p:spPr>
          <a:xfrm>
            <a:off x="7410450" y="36766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ol-o-item-2"/>
          <p:cNvSpPr txBox="1"/>
          <p:nvPr/>
        </p:nvSpPr>
        <p:spPr>
          <a:xfrm>
            <a:off x="7448550" y="36766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Purchase Orders</a:t>
            </a:r>
          </a:p>
        </p:txBody>
      </p:sp>
      <p:sp>
        <p:nvSpPr>
          <p:cNvPr id="64" name="col-o-item-3-bg"/>
          <p:cNvSpPr/>
          <p:nvPr/>
        </p:nvSpPr>
        <p:spPr>
          <a:xfrm>
            <a:off x="7410450" y="44577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ol-o-item-3"/>
          <p:cNvSpPr txBox="1"/>
          <p:nvPr/>
        </p:nvSpPr>
        <p:spPr>
          <a:xfrm>
            <a:off x="7448550" y="44577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Performance Reports</a:t>
            </a:r>
          </a:p>
        </p:txBody>
      </p:sp>
      <p:sp>
        <p:nvSpPr>
          <p:cNvPr id="66" name="col-o-item-4-bg"/>
          <p:cNvSpPr/>
          <p:nvPr/>
        </p:nvSpPr>
        <p:spPr>
          <a:xfrm>
            <a:off x="7410450" y="52387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ol-o-item-4"/>
          <p:cNvSpPr txBox="1"/>
          <p:nvPr/>
        </p:nvSpPr>
        <p:spPr>
          <a:xfrm>
            <a:off x="7448550" y="52387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Payment Records</a:t>
            </a:r>
          </a:p>
        </p:txBody>
      </p:sp>
      <p:sp>
        <p:nvSpPr>
          <p:cNvPr id="68" name="arrow-4"/>
          <p:cNvSpPr txBox="1"/>
          <p:nvPr/>
        </p:nvSpPr>
        <p:spPr>
          <a:xfrm>
            <a:off x="9372600" y="243840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A100FF"/>
                </a:solidFill>
                <a:latin typeface="Inter"/>
              </a:rPr>
              <a:t>→</a:t>
            </a:r>
          </a:p>
        </p:txBody>
      </p:sp>
      <p:sp>
        <p:nvSpPr>
          <p:cNvPr id="69" name="col-c"/>
          <p:cNvSpPr/>
          <p:nvPr/>
        </p:nvSpPr>
        <p:spPr>
          <a:xfrm>
            <a:off x="9601200" y="2228850"/>
            <a:ext cx="2038350" cy="3905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ol-c-header"/>
          <p:cNvSpPr/>
          <p:nvPr/>
        </p:nvSpPr>
        <p:spPr>
          <a:xfrm>
            <a:off x="9601200" y="2228850"/>
            <a:ext cx="2038350" cy="571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ol-c-letter"/>
          <p:cNvSpPr txBox="1"/>
          <p:nvPr/>
        </p:nvSpPr>
        <p:spPr>
          <a:xfrm>
            <a:off x="9601200" y="2305050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72" name="col-c-name"/>
          <p:cNvSpPr txBox="1"/>
          <p:nvPr/>
        </p:nvSpPr>
        <p:spPr>
          <a:xfrm>
            <a:off x="9601200" y="25527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CUSTOMERS</a:t>
            </a:r>
          </a:p>
        </p:txBody>
      </p:sp>
      <p:sp>
        <p:nvSpPr>
          <p:cNvPr id="73" name="col-c-item-1-bg"/>
          <p:cNvSpPr/>
          <p:nvPr/>
        </p:nvSpPr>
        <p:spPr>
          <a:xfrm>
            <a:off x="9677400" y="28956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l-c-item-1"/>
          <p:cNvSpPr txBox="1"/>
          <p:nvPr/>
        </p:nvSpPr>
        <p:spPr>
          <a:xfrm>
            <a:off x="9715500" y="28956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Business Units</a:t>
            </a:r>
          </a:p>
        </p:txBody>
      </p:sp>
      <p:sp>
        <p:nvSpPr>
          <p:cNvPr id="75" name="col-c-item-2-bg"/>
          <p:cNvSpPr/>
          <p:nvPr/>
        </p:nvSpPr>
        <p:spPr>
          <a:xfrm>
            <a:off x="9677400" y="36766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ol-c-item-2"/>
          <p:cNvSpPr txBox="1"/>
          <p:nvPr/>
        </p:nvSpPr>
        <p:spPr>
          <a:xfrm>
            <a:off x="9715500" y="36766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Finance</a:t>
            </a:r>
          </a:p>
        </p:txBody>
      </p:sp>
      <p:sp>
        <p:nvSpPr>
          <p:cNvPr id="77" name="col-c-item-3-bg"/>
          <p:cNvSpPr/>
          <p:nvPr/>
        </p:nvSpPr>
        <p:spPr>
          <a:xfrm>
            <a:off x="9677400" y="445770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l-c-item-3"/>
          <p:cNvSpPr txBox="1"/>
          <p:nvPr/>
        </p:nvSpPr>
        <p:spPr>
          <a:xfrm>
            <a:off x="9715500" y="445770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Auditors</a:t>
            </a:r>
          </a:p>
        </p:txBody>
      </p:sp>
      <p:sp>
        <p:nvSpPr>
          <p:cNvPr id="79" name="col-c-item-4-bg"/>
          <p:cNvSpPr/>
          <p:nvPr/>
        </p:nvSpPr>
        <p:spPr>
          <a:xfrm>
            <a:off x="9677400" y="5238750"/>
            <a:ext cx="1885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ol-c-item-4"/>
          <p:cNvSpPr txBox="1"/>
          <p:nvPr/>
        </p:nvSpPr>
        <p:spPr>
          <a:xfrm>
            <a:off x="9715500" y="5238750"/>
            <a:ext cx="180975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Vendors</a:t>
            </a:r>
          </a:p>
        </p:txBody>
      </p:sp>
      <p:sp>
        <p:nvSpPr>
          <p:cNvPr id="81" name="scope-bar"/>
          <p:cNvSpPr/>
          <p:nvPr/>
        </p:nvSpPr>
        <p:spPr>
          <a:xfrm>
            <a:off x="533400" y="6229350"/>
            <a:ext cx="11125200" cy="209550"/>
          </a:xfrm>
          <a:prstGeom prst="rect">
            <a:avLst/>
          </a:prstGeom>
          <a:solidFill>
            <a:srgbClr val="F6ECFB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scope-label"/>
          <p:cNvSpPr txBox="1"/>
          <p:nvPr/>
        </p:nvSpPr>
        <p:spPr>
          <a:xfrm>
            <a:off x="685800" y="622935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SCOPE</a:t>
            </a:r>
          </a:p>
        </p:txBody>
      </p:sp>
      <p:sp>
        <p:nvSpPr>
          <p:cNvPr id="83" name="scope-text"/>
          <p:cNvSpPr txBox="1"/>
          <p:nvPr/>
        </p:nvSpPr>
        <p:spPr>
          <a:xfrm>
            <a:off x="1257300" y="6229350"/>
            <a:ext cx="10287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Purchase-to-Pay Process  ·  From: Initial requisition  ·  To: Vendor payment confirmed</a:t>
            </a:r>
          </a:p>
        </p:txBody>
      </p:sp>
      <p:sp>
        <p:nvSpPr>
          <p:cNvPr id="8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