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Evaluating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Three Strategic Paths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Forward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option assessed across cost, speed, risk, and strategic fit — recommendation follows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option-1-bg"/>
          <p:cNvSpPr/>
          <p:nvPr/>
        </p:nvSpPr>
        <p:spPr>
          <a:xfrm>
            <a:off x="609600" y="1524000"/>
            <a:ext cx="3581400" cy="3905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option-1-strip"/>
          <p:cNvSpPr/>
          <p:nvPr/>
        </p:nvSpPr>
        <p:spPr>
          <a:xfrm>
            <a:off x="609600" y="1524000"/>
            <a:ext cx="35814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option-1-label"/>
          <p:cNvSpPr txBox="1"/>
          <p:nvPr/>
        </p:nvSpPr>
        <p:spPr>
          <a:xfrm>
            <a:off x="781050" y="169545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OPTION A</a:t>
            </a:r>
          </a:p>
        </p:txBody>
      </p:sp>
      <p:sp>
        <p:nvSpPr>
          <p:cNvPr id="8" name="option-1-name"/>
          <p:cNvSpPr txBox="1"/>
          <p:nvPr/>
        </p:nvSpPr>
        <p:spPr>
          <a:xfrm>
            <a:off x="781050" y="18669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Organic Build</a:t>
            </a:r>
          </a:p>
        </p:txBody>
      </p:sp>
      <p:sp>
        <p:nvSpPr>
          <p:cNvPr id="9" name="option-1-crit-1-lbl"/>
          <p:cNvSpPr txBox="1"/>
          <p:nvPr/>
        </p:nvSpPr>
        <p:spPr>
          <a:xfrm>
            <a:off x="781050" y="22288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COST TO IMPLEMENT</a:t>
            </a:r>
          </a:p>
        </p:txBody>
      </p:sp>
      <p:sp>
        <p:nvSpPr>
          <p:cNvPr id="10" name="option-1-crit-1-val"/>
          <p:cNvSpPr txBox="1"/>
          <p:nvPr/>
        </p:nvSpPr>
        <p:spPr>
          <a:xfrm>
            <a:off x="781050" y="23812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$8–12M capex</a:t>
            </a:r>
          </a:p>
        </p:txBody>
      </p:sp>
      <p:sp>
        <p:nvSpPr>
          <p:cNvPr id="11" name="option-1-crit-1-dot-1"/>
          <p:cNvSpPr/>
          <p:nvPr/>
        </p:nvSpPr>
        <p:spPr>
          <a:xfrm>
            <a:off x="3714750" y="24193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option-1-crit-1-dot-2"/>
          <p:cNvSpPr/>
          <p:nvPr/>
        </p:nvSpPr>
        <p:spPr>
          <a:xfrm>
            <a:off x="3829050" y="24193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option-1-crit-1-dot-3"/>
          <p:cNvSpPr/>
          <p:nvPr/>
        </p:nvSpPr>
        <p:spPr>
          <a:xfrm>
            <a:off x="3943350" y="24193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option-1-crit-1-div"/>
          <p:cNvSpPr/>
          <p:nvPr/>
        </p:nvSpPr>
        <p:spPr>
          <a:xfrm>
            <a:off x="781050" y="280035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option-1-crit-2-lbl"/>
          <p:cNvSpPr txBox="1"/>
          <p:nvPr/>
        </p:nvSpPr>
        <p:spPr>
          <a:xfrm>
            <a:off x="781050" y="28384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SPEED TO VALUE</a:t>
            </a:r>
          </a:p>
        </p:txBody>
      </p:sp>
      <p:sp>
        <p:nvSpPr>
          <p:cNvPr id="16" name="option-1-crit-2-val"/>
          <p:cNvSpPr txBox="1"/>
          <p:nvPr/>
        </p:nvSpPr>
        <p:spPr>
          <a:xfrm>
            <a:off x="781050" y="29908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18–24 months</a:t>
            </a:r>
          </a:p>
        </p:txBody>
      </p:sp>
      <p:sp>
        <p:nvSpPr>
          <p:cNvPr id="17" name="option-1-crit-2-dot-1"/>
          <p:cNvSpPr/>
          <p:nvPr/>
        </p:nvSpPr>
        <p:spPr>
          <a:xfrm>
            <a:off x="3714750" y="30289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option-1-crit-2-dot-2"/>
          <p:cNvSpPr/>
          <p:nvPr/>
        </p:nvSpPr>
        <p:spPr>
          <a:xfrm>
            <a:off x="3829050" y="30289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option-1-crit-2-dot-3"/>
          <p:cNvSpPr/>
          <p:nvPr/>
        </p:nvSpPr>
        <p:spPr>
          <a:xfrm>
            <a:off x="3943350" y="30289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option-1-crit-2-div"/>
          <p:cNvSpPr/>
          <p:nvPr/>
        </p:nvSpPr>
        <p:spPr>
          <a:xfrm>
            <a:off x="781050" y="340995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option-1-crit-3-lbl"/>
          <p:cNvSpPr txBox="1"/>
          <p:nvPr/>
        </p:nvSpPr>
        <p:spPr>
          <a:xfrm>
            <a:off x="781050" y="34480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CAPABILITY CONTROL</a:t>
            </a:r>
          </a:p>
        </p:txBody>
      </p:sp>
      <p:sp>
        <p:nvSpPr>
          <p:cNvPr id="22" name="option-1-crit-3-val"/>
          <p:cNvSpPr txBox="1"/>
          <p:nvPr/>
        </p:nvSpPr>
        <p:spPr>
          <a:xfrm>
            <a:off x="781050" y="36004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Full ownership</a:t>
            </a:r>
          </a:p>
        </p:txBody>
      </p:sp>
      <p:sp>
        <p:nvSpPr>
          <p:cNvPr id="23" name="option-1-crit-3-dot-1"/>
          <p:cNvSpPr/>
          <p:nvPr/>
        </p:nvSpPr>
        <p:spPr>
          <a:xfrm>
            <a:off x="3714750" y="36385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option-1-crit-3-dot-2"/>
          <p:cNvSpPr/>
          <p:nvPr/>
        </p:nvSpPr>
        <p:spPr>
          <a:xfrm>
            <a:off x="3829050" y="36385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option-1-crit-3-dot-3"/>
          <p:cNvSpPr/>
          <p:nvPr/>
        </p:nvSpPr>
        <p:spPr>
          <a:xfrm>
            <a:off x="3943350" y="36385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option-1-crit-3-div"/>
          <p:cNvSpPr/>
          <p:nvPr/>
        </p:nvSpPr>
        <p:spPr>
          <a:xfrm>
            <a:off x="781050" y="401955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option-1-crit-4-lbl"/>
          <p:cNvSpPr txBox="1"/>
          <p:nvPr/>
        </p:nvSpPr>
        <p:spPr>
          <a:xfrm>
            <a:off x="781050" y="40576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STRATEGIC FIT</a:t>
            </a:r>
          </a:p>
        </p:txBody>
      </p:sp>
      <p:sp>
        <p:nvSpPr>
          <p:cNvPr id="28" name="option-1-crit-4-val"/>
          <p:cNvSpPr txBox="1"/>
          <p:nvPr/>
        </p:nvSpPr>
        <p:spPr>
          <a:xfrm>
            <a:off x="781050" y="42100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 alignment</a:t>
            </a:r>
          </a:p>
        </p:txBody>
      </p:sp>
      <p:sp>
        <p:nvSpPr>
          <p:cNvPr id="29" name="option-1-crit-4-dot-1"/>
          <p:cNvSpPr/>
          <p:nvPr/>
        </p:nvSpPr>
        <p:spPr>
          <a:xfrm>
            <a:off x="3714750" y="42481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option-1-crit-4-dot-2"/>
          <p:cNvSpPr/>
          <p:nvPr/>
        </p:nvSpPr>
        <p:spPr>
          <a:xfrm>
            <a:off x="3829050" y="42481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option-1-crit-4-dot-3"/>
          <p:cNvSpPr/>
          <p:nvPr/>
        </p:nvSpPr>
        <p:spPr>
          <a:xfrm>
            <a:off x="3943350" y="42481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option-1-risk-bg"/>
          <p:cNvSpPr/>
          <p:nvPr/>
        </p:nvSpPr>
        <p:spPr>
          <a:xfrm>
            <a:off x="781050" y="5067300"/>
            <a:ext cx="952500" cy="209550"/>
          </a:xfrm>
          <a:prstGeom prst="rect">
            <a:avLst/>
          </a:prstGeom>
          <a:solidFill>
            <a:srgbClr val="2D0A4E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option-1-risk"/>
          <p:cNvSpPr txBox="1"/>
          <p:nvPr/>
        </p:nvSpPr>
        <p:spPr>
          <a:xfrm>
            <a:off x="781050" y="50673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59E0B"/>
                </a:solidFill>
                <a:latin typeface="Inter"/>
              </a:rPr>
              <a:t>MEDIUM RISK</a:t>
            </a:r>
          </a:p>
        </p:txBody>
      </p:sp>
      <p:sp>
        <p:nvSpPr>
          <p:cNvPr id="34" name="option-1-timeline"/>
          <p:cNvSpPr txBox="1"/>
          <p:nvPr/>
        </p:nvSpPr>
        <p:spPr>
          <a:xfrm>
            <a:off x="3143250" y="50673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20 mo. avg</a:t>
            </a:r>
          </a:p>
        </p:txBody>
      </p:sp>
      <p:sp>
        <p:nvSpPr>
          <p:cNvPr id="35" name="option-2-bg"/>
          <p:cNvSpPr/>
          <p:nvPr/>
        </p:nvSpPr>
        <p:spPr>
          <a:xfrm>
            <a:off x="4343400" y="1524000"/>
            <a:ext cx="3581400" cy="3905250"/>
          </a:xfrm>
          <a:prstGeom prst="rect">
            <a:avLst/>
          </a:prstGeom>
          <a:solidFill>
            <a:srgbClr val="3C1F5C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option-2-strip"/>
          <p:cNvSpPr/>
          <p:nvPr/>
        </p:nvSpPr>
        <p:spPr>
          <a:xfrm>
            <a:off x="4343400" y="1524000"/>
            <a:ext cx="35814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option-2-rec-bg"/>
          <p:cNvSpPr/>
          <p:nvPr/>
        </p:nvSpPr>
        <p:spPr>
          <a:xfrm>
            <a:off x="4343400" y="1562100"/>
            <a:ext cx="35814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ption-2-rec"/>
          <p:cNvSpPr txBox="1"/>
          <p:nvPr/>
        </p:nvSpPr>
        <p:spPr>
          <a:xfrm>
            <a:off x="4343400" y="1562100"/>
            <a:ext cx="3581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39" name="option-2-label"/>
          <p:cNvSpPr txBox="1"/>
          <p:nvPr/>
        </p:nvSpPr>
        <p:spPr>
          <a:xfrm>
            <a:off x="4514850" y="18669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OPTION B</a:t>
            </a:r>
          </a:p>
        </p:txBody>
      </p:sp>
      <p:sp>
        <p:nvSpPr>
          <p:cNvPr id="40" name="option-2-name"/>
          <p:cNvSpPr txBox="1"/>
          <p:nvPr/>
        </p:nvSpPr>
        <p:spPr>
          <a:xfrm>
            <a:off x="4514850" y="20383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Acquire &amp; Integrate</a:t>
            </a:r>
          </a:p>
        </p:txBody>
      </p:sp>
      <p:sp>
        <p:nvSpPr>
          <p:cNvPr id="41" name="option-2-crit-1-lbl"/>
          <p:cNvSpPr txBox="1"/>
          <p:nvPr/>
        </p:nvSpPr>
        <p:spPr>
          <a:xfrm>
            <a:off x="4514850" y="240030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COST TO IMPLEMENT</a:t>
            </a:r>
          </a:p>
        </p:txBody>
      </p:sp>
      <p:sp>
        <p:nvSpPr>
          <p:cNvPr id="42" name="option-2-crit-1-val"/>
          <p:cNvSpPr txBox="1"/>
          <p:nvPr/>
        </p:nvSpPr>
        <p:spPr>
          <a:xfrm>
            <a:off x="4514850" y="255270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$18–25M total</a:t>
            </a:r>
          </a:p>
        </p:txBody>
      </p:sp>
      <p:sp>
        <p:nvSpPr>
          <p:cNvPr id="43" name="option-2-crit-1-dot-1"/>
          <p:cNvSpPr/>
          <p:nvPr/>
        </p:nvSpPr>
        <p:spPr>
          <a:xfrm>
            <a:off x="7448550" y="25908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ption-2-crit-1-dot-2"/>
          <p:cNvSpPr/>
          <p:nvPr/>
        </p:nvSpPr>
        <p:spPr>
          <a:xfrm>
            <a:off x="7562850" y="25908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option-2-crit-1-dot-3"/>
          <p:cNvSpPr/>
          <p:nvPr/>
        </p:nvSpPr>
        <p:spPr>
          <a:xfrm>
            <a:off x="7677150" y="259080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option-2-crit-1-div"/>
          <p:cNvSpPr/>
          <p:nvPr/>
        </p:nvSpPr>
        <p:spPr>
          <a:xfrm>
            <a:off x="4514850" y="297180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option-2-crit-2-lbl"/>
          <p:cNvSpPr txBox="1"/>
          <p:nvPr/>
        </p:nvSpPr>
        <p:spPr>
          <a:xfrm>
            <a:off x="4514850" y="300990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SPEED TO VALUE</a:t>
            </a:r>
          </a:p>
        </p:txBody>
      </p:sp>
      <p:sp>
        <p:nvSpPr>
          <p:cNvPr id="48" name="option-2-crit-2-val"/>
          <p:cNvSpPr txBox="1"/>
          <p:nvPr/>
        </p:nvSpPr>
        <p:spPr>
          <a:xfrm>
            <a:off x="4514850" y="316230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6–9 months</a:t>
            </a:r>
          </a:p>
        </p:txBody>
      </p:sp>
      <p:sp>
        <p:nvSpPr>
          <p:cNvPr id="49" name="option-2-crit-2-dot-1"/>
          <p:cNvSpPr/>
          <p:nvPr/>
        </p:nvSpPr>
        <p:spPr>
          <a:xfrm>
            <a:off x="7448550" y="32004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option-2-crit-2-dot-2"/>
          <p:cNvSpPr/>
          <p:nvPr/>
        </p:nvSpPr>
        <p:spPr>
          <a:xfrm>
            <a:off x="7562850" y="32004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option-2-crit-2-dot-3"/>
          <p:cNvSpPr/>
          <p:nvPr/>
        </p:nvSpPr>
        <p:spPr>
          <a:xfrm>
            <a:off x="7677150" y="32004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option-2-crit-2-div"/>
          <p:cNvSpPr/>
          <p:nvPr/>
        </p:nvSpPr>
        <p:spPr>
          <a:xfrm>
            <a:off x="4514850" y="358140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option-2-crit-3-lbl"/>
          <p:cNvSpPr txBox="1"/>
          <p:nvPr/>
        </p:nvSpPr>
        <p:spPr>
          <a:xfrm>
            <a:off x="4514850" y="361950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CAPABILITY CONTROL</a:t>
            </a:r>
          </a:p>
        </p:txBody>
      </p:sp>
      <p:sp>
        <p:nvSpPr>
          <p:cNvPr id="54" name="option-2-crit-3-val"/>
          <p:cNvSpPr txBox="1"/>
          <p:nvPr/>
        </p:nvSpPr>
        <p:spPr>
          <a:xfrm>
            <a:off x="4514850" y="377190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Near-full post-close</a:t>
            </a:r>
          </a:p>
        </p:txBody>
      </p:sp>
      <p:sp>
        <p:nvSpPr>
          <p:cNvPr id="55" name="option-2-crit-3-dot-1"/>
          <p:cNvSpPr/>
          <p:nvPr/>
        </p:nvSpPr>
        <p:spPr>
          <a:xfrm>
            <a:off x="7448550" y="38100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option-2-crit-3-dot-2"/>
          <p:cNvSpPr/>
          <p:nvPr/>
        </p:nvSpPr>
        <p:spPr>
          <a:xfrm>
            <a:off x="7562850" y="38100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option-2-crit-3-dot-3"/>
          <p:cNvSpPr/>
          <p:nvPr/>
        </p:nvSpPr>
        <p:spPr>
          <a:xfrm>
            <a:off x="7677150" y="38100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option-2-crit-3-div"/>
          <p:cNvSpPr/>
          <p:nvPr/>
        </p:nvSpPr>
        <p:spPr>
          <a:xfrm>
            <a:off x="4514850" y="419100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option-2-crit-4-lbl"/>
          <p:cNvSpPr txBox="1"/>
          <p:nvPr/>
        </p:nvSpPr>
        <p:spPr>
          <a:xfrm>
            <a:off x="4514850" y="422910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STRATEGIC FIT</a:t>
            </a:r>
          </a:p>
        </p:txBody>
      </p:sp>
      <p:sp>
        <p:nvSpPr>
          <p:cNvPr id="60" name="option-2-crit-4-val"/>
          <p:cNvSpPr txBox="1"/>
          <p:nvPr/>
        </p:nvSpPr>
        <p:spPr>
          <a:xfrm>
            <a:off x="4514850" y="438150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Very high alignment</a:t>
            </a:r>
          </a:p>
        </p:txBody>
      </p:sp>
      <p:sp>
        <p:nvSpPr>
          <p:cNvPr id="61" name="option-2-crit-4-dot-1"/>
          <p:cNvSpPr/>
          <p:nvPr/>
        </p:nvSpPr>
        <p:spPr>
          <a:xfrm>
            <a:off x="7448550" y="44196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option-2-crit-4-dot-2"/>
          <p:cNvSpPr/>
          <p:nvPr/>
        </p:nvSpPr>
        <p:spPr>
          <a:xfrm>
            <a:off x="7562850" y="44196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option-2-crit-4-dot-3"/>
          <p:cNvSpPr/>
          <p:nvPr/>
        </p:nvSpPr>
        <p:spPr>
          <a:xfrm>
            <a:off x="7677150" y="4419600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option-2-risk-bg"/>
          <p:cNvSpPr/>
          <p:nvPr/>
        </p:nvSpPr>
        <p:spPr>
          <a:xfrm>
            <a:off x="4514850" y="5067300"/>
            <a:ext cx="952500" cy="209550"/>
          </a:xfrm>
          <a:prstGeom prst="rect">
            <a:avLst/>
          </a:prstGeom>
          <a:solidFill>
            <a:srgbClr val="2D0A4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option-2-risk"/>
          <p:cNvSpPr txBox="1"/>
          <p:nvPr/>
        </p:nvSpPr>
        <p:spPr>
          <a:xfrm>
            <a:off x="4514850" y="50673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LOW RISK</a:t>
            </a:r>
          </a:p>
        </p:txBody>
      </p:sp>
      <p:sp>
        <p:nvSpPr>
          <p:cNvPr id="66" name="option-2-timeline"/>
          <p:cNvSpPr txBox="1"/>
          <p:nvPr/>
        </p:nvSpPr>
        <p:spPr>
          <a:xfrm>
            <a:off x="6877050" y="50673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 mo. avg</a:t>
            </a:r>
          </a:p>
        </p:txBody>
      </p:sp>
      <p:sp>
        <p:nvSpPr>
          <p:cNvPr id="67" name="option-3-bg"/>
          <p:cNvSpPr/>
          <p:nvPr/>
        </p:nvSpPr>
        <p:spPr>
          <a:xfrm>
            <a:off x="8077200" y="1524000"/>
            <a:ext cx="3581400" cy="3905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option-3-strip"/>
          <p:cNvSpPr/>
          <p:nvPr/>
        </p:nvSpPr>
        <p:spPr>
          <a:xfrm>
            <a:off x="8077200" y="1524000"/>
            <a:ext cx="35814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option-3-label"/>
          <p:cNvSpPr txBox="1"/>
          <p:nvPr/>
        </p:nvSpPr>
        <p:spPr>
          <a:xfrm>
            <a:off x="8248650" y="169545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OPTION C</a:t>
            </a:r>
          </a:p>
        </p:txBody>
      </p:sp>
      <p:sp>
        <p:nvSpPr>
          <p:cNvPr id="70" name="option-3-name"/>
          <p:cNvSpPr txBox="1"/>
          <p:nvPr/>
        </p:nvSpPr>
        <p:spPr>
          <a:xfrm>
            <a:off x="8248650" y="18669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Partnership / JV</a:t>
            </a:r>
          </a:p>
        </p:txBody>
      </p:sp>
      <p:sp>
        <p:nvSpPr>
          <p:cNvPr id="71" name="option-3-crit-1-lbl"/>
          <p:cNvSpPr txBox="1"/>
          <p:nvPr/>
        </p:nvSpPr>
        <p:spPr>
          <a:xfrm>
            <a:off x="8248650" y="22288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COST TO IMPLEMENT</a:t>
            </a:r>
          </a:p>
        </p:txBody>
      </p:sp>
      <p:sp>
        <p:nvSpPr>
          <p:cNvPr id="72" name="option-3-crit-1-val"/>
          <p:cNvSpPr txBox="1"/>
          <p:nvPr/>
        </p:nvSpPr>
        <p:spPr>
          <a:xfrm>
            <a:off x="8248650" y="23812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$4–6M shared</a:t>
            </a:r>
          </a:p>
        </p:txBody>
      </p:sp>
      <p:sp>
        <p:nvSpPr>
          <p:cNvPr id="73" name="option-3-crit-1-dot-1"/>
          <p:cNvSpPr/>
          <p:nvPr/>
        </p:nvSpPr>
        <p:spPr>
          <a:xfrm>
            <a:off x="11182350" y="24193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option-3-crit-1-dot-2"/>
          <p:cNvSpPr/>
          <p:nvPr/>
        </p:nvSpPr>
        <p:spPr>
          <a:xfrm>
            <a:off x="11296650" y="24193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option-3-crit-1-dot-3"/>
          <p:cNvSpPr/>
          <p:nvPr/>
        </p:nvSpPr>
        <p:spPr>
          <a:xfrm>
            <a:off x="11410950" y="24193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option-3-crit-1-div"/>
          <p:cNvSpPr/>
          <p:nvPr/>
        </p:nvSpPr>
        <p:spPr>
          <a:xfrm>
            <a:off x="8248650" y="280035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option-3-crit-2-lbl"/>
          <p:cNvSpPr txBox="1"/>
          <p:nvPr/>
        </p:nvSpPr>
        <p:spPr>
          <a:xfrm>
            <a:off x="8248650" y="28384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SPEED TO VALUE</a:t>
            </a:r>
          </a:p>
        </p:txBody>
      </p:sp>
      <p:sp>
        <p:nvSpPr>
          <p:cNvPr id="78" name="option-3-crit-2-val"/>
          <p:cNvSpPr txBox="1"/>
          <p:nvPr/>
        </p:nvSpPr>
        <p:spPr>
          <a:xfrm>
            <a:off x="8248650" y="29908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12–15 months</a:t>
            </a:r>
          </a:p>
        </p:txBody>
      </p:sp>
      <p:sp>
        <p:nvSpPr>
          <p:cNvPr id="79" name="option-3-crit-2-dot-1"/>
          <p:cNvSpPr/>
          <p:nvPr/>
        </p:nvSpPr>
        <p:spPr>
          <a:xfrm>
            <a:off x="11182350" y="30289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option-3-crit-2-dot-2"/>
          <p:cNvSpPr/>
          <p:nvPr/>
        </p:nvSpPr>
        <p:spPr>
          <a:xfrm>
            <a:off x="11296650" y="30289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option-3-crit-2-dot-3"/>
          <p:cNvSpPr/>
          <p:nvPr/>
        </p:nvSpPr>
        <p:spPr>
          <a:xfrm>
            <a:off x="11410950" y="30289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option-3-crit-2-div"/>
          <p:cNvSpPr/>
          <p:nvPr/>
        </p:nvSpPr>
        <p:spPr>
          <a:xfrm>
            <a:off x="8248650" y="340995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option-3-crit-3-lbl"/>
          <p:cNvSpPr txBox="1"/>
          <p:nvPr/>
        </p:nvSpPr>
        <p:spPr>
          <a:xfrm>
            <a:off x="8248650" y="34480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CAPABILITY CONTROL</a:t>
            </a:r>
          </a:p>
        </p:txBody>
      </p:sp>
      <p:sp>
        <p:nvSpPr>
          <p:cNvPr id="84" name="option-3-crit-3-val"/>
          <p:cNvSpPr txBox="1"/>
          <p:nvPr/>
        </p:nvSpPr>
        <p:spPr>
          <a:xfrm>
            <a:off x="8248650" y="36004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Shared governance</a:t>
            </a:r>
          </a:p>
        </p:txBody>
      </p:sp>
      <p:sp>
        <p:nvSpPr>
          <p:cNvPr id="85" name="option-3-crit-3-dot-1"/>
          <p:cNvSpPr/>
          <p:nvPr/>
        </p:nvSpPr>
        <p:spPr>
          <a:xfrm>
            <a:off x="11182350" y="36385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option-3-crit-3-dot-2"/>
          <p:cNvSpPr/>
          <p:nvPr/>
        </p:nvSpPr>
        <p:spPr>
          <a:xfrm>
            <a:off x="11296650" y="36385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option-3-crit-3-dot-3"/>
          <p:cNvSpPr/>
          <p:nvPr/>
        </p:nvSpPr>
        <p:spPr>
          <a:xfrm>
            <a:off x="11410950" y="36385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option-3-crit-3-div"/>
          <p:cNvSpPr/>
          <p:nvPr/>
        </p:nvSpPr>
        <p:spPr>
          <a:xfrm>
            <a:off x="8248650" y="4019550"/>
            <a:ext cx="3238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option-3-crit-4-lbl"/>
          <p:cNvSpPr txBox="1"/>
          <p:nvPr/>
        </p:nvSpPr>
        <p:spPr>
          <a:xfrm>
            <a:off x="8248650" y="40576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STRATEGIC FIT</a:t>
            </a:r>
          </a:p>
        </p:txBody>
      </p:sp>
      <p:sp>
        <p:nvSpPr>
          <p:cNvPr id="90" name="option-3-crit-4-val"/>
          <p:cNvSpPr txBox="1"/>
          <p:nvPr/>
        </p:nvSpPr>
        <p:spPr>
          <a:xfrm>
            <a:off x="8248650" y="4210050"/>
            <a:ext cx="2628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Moderate alignment</a:t>
            </a:r>
          </a:p>
        </p:txBody>
      </p:sp>
      <p:sp>
        <p:nvSpPr>
          <p:cNvPr id="91" name="option-3-crit-4-dot-1"/>
          <p:cNvSpPr/>
          <p:nvPr/>
        </p:nvSpPr>
        <p:spPr>
          <a:xfrm>
            <a:off x="11182350" y="42481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option-3-crit-4-dot-2"/>
          <p:cNvSpPr/>
          <p:nvPr/>
        </p:nvSpPr>
        <p:spPr>
          <a:xfrm>
            <a:off x="11296650" y="4248150"/>
            <a:ext cx="76200" cy="762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option-3-crit-4-dot-3"/>
          <p:cNvSpPr/>
          <p:nvPr/>
        </p:nvSpPr>
        <p:spPr>
          <a:xfrm>
            <a:off x="11410950" y="4248150"/>
            <a:ext cx="76200" cy="76200"/>
          </a:xfrm>
          <a:prstGeom prst="rect">
            <a:avLst/>
          </a:prstGeom>
          <a:solidFill>
            <a:srgbClr val="4A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option-3-risk-bg"/>
          <p:cNvSpPr/>
          <p:nvPr/>
        </p:nvSpPr>
        <p:spPr>
          <a:xfrm>
            <a:off x="8248650" y="5067300"/>
            <a:ext cx="952500" cy="209550"/>
          </a:xfrm>
          <a:prstGeom prst="rect">
            <a:avLst/>
          </a:prstGeom>
          <a:solidFill>
            <a:srgbClr val="2D0A4E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option-3-risk"/>
          <p:cNvSpPr txBox="1"/>
          <p:nvPr/>
        </p:nvSpPr>
        <p:spPr>
          <a:xfrm>
            <a:off x="8248650" y="50673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F4444"/>
                </a:solidFill>
                <a:latin typeface="Inter"/>
              </a:rPr>
              <a:t>HIGH RISK</a:t>
            </a:r>
          </a:p>
        </p:txBody>
      </p:sp>
      <p:sp>
        <p:nvSpPr>
          <p:cNvPr id="96" name="option-3-timeline"/>
          <p:cNvSpPr txBox="1"/>
          <p:nvPr/>
        </p:nvSpPr>
        <p:spPr>
          <a:xfrm>
            <a:off x="10610850" y="50673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13 mo. avg</a:t>
            </a:r>
          </a:p>
        </p:txBody>
      </p:sp>
      <p:sp>
        <p:nvSpPr>
          <p:cNvPr id="97" name="rec-bg"/>
          <p:cNvSpPr/>
          <p:nvPr/>
        </p:nvSpPr>
        <p:spPr>
          <a:xfrm>
            <a:off x="609600" y="5715000"/>
            <a:ext cx="10972800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rec-accent"/>
          <p:cNvSpPr/>
          <p:nvPr/>
        </p:nvSpPr>
        <p:spPr>
          <a:xfrm>
            <a:off x="609600" y="5715000"/>
            <a:ext cx="38100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rec-label"/>
          <p:cNvSpPr txBox="1"/>
          <p:nvPr/>
        </p:nvSpPr>
        <p:spPr>
          <a:xfrm>
            <a:off x="762000" y="571500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VIEW</a:t>
            </a:r>
          </a:p>
        </p:txBody>
      </p:sp>
      <p:sp>
        <p:nvSpPr>
          <p:cNvPr id="100" name="rec-text"/>
          <p:cNvSpPr txBox="1"/>
          <p:nvPr/>
        </p:nvSpPr>
        <p:spPr>
          <a:xfrm>
            <a:off x="1943100" y="5715000"/>
            <a:ext cx="9525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Option B offers the fastest path to capability with acceptable cost — pursue targeted acquisition of a mid-market platform player in Q3.</a:t>
            </a:r>
          </a:p>
        </p:txBody>
      </p:sp>
      <p:sp>
        <p:nvSpPr>
          <p:cNvPr id="10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