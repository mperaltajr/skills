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33400" y="476250"/>
            <a:ext cx="952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SERVICE DESIGN · JOURNEY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628650"/>
            <a:ext cx="9525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Consultant journey building a deck — six phases, six pain points.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3400" y="106680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Where the work breaks down, and where Slide Lab steps in.</a:t>
            </a:r>
          </a:p>
        </p:txBody>
      </p:sp>
      <p:sp>
        <p:nvSpPr>
          <p:cNvPr id="5" name="brand-rule"/>
          <p:cNvSpPr/>
          <p:nvPr/>
        </p:nvSpPr>
        <p:spPr>
          <a:xfrm>
            <a:off x="533400" y="13335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journey-row-1-num"/>
          <p:cNvSpPr txBox="1"/>
          <p:nvPr/>
        </p:nvSpPr>
        <p:spPr>
          <a:xfrm>
            <a:off x="533400" y="257175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7" name="journey-row-1-name"/>
          <p:cNvSpPr txBox="1"/>
          <p:nvPr/>
        </p:nvSpPr>
        <p:spPr>
          <a:xfrm>
            <a:off x="914400" y="25717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ACTIONS</a:t>
            </a:r>
          </a:p>
        </p:txBody>
      </p:sp>
      <p:sp>
        <p:nvSpPr>
          <p:cNvPr id="8" name="journey-row-1-divider"/>
          <p:cNvSpPr/>
          <p:nvPr/>
        </p:nvSpPr>
        <p:spPr>
          <a:xfrm>
            <a:off x="1771650" y="2085975"/>
            <a:ext cx="19050" cy="12382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journey-row-2-num"/>
          <p:cNvSpPr txBox="1"/>
          <p:nvPr/>
        </p:nvSpPr>
        <p:spPr>
          <a:xfrm>
            <a:off x="533400" y="390525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0" name="journey-row-2-name"/>
          <p:cNvSpPr txBox="1"/>
          <p:nvPr/>
        </p:nvSpPr>
        <p:spPr>
          <a:xfrm>
            <a:off x="914400" y="39052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PAIN POINTS</a:t>
            </a:r>
          </a:p>
        </p:txBody>
      </p:sp>
      <p:sp>
        <p:nvSpPr>
          <p:cNvPr id="11" name="journey-row-2-divider"/>
          <p:cNvSpPr/>
          <p:nvPr/>
        </p:nvSpPr>
        <p:spPr>
          <a:xfrm>
            <a:off x="1771650" y="3419475"/>
            <a:ext cx="19050" cy="12382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journey-row-3-num"/>
          <p:cNvSpPr txBox="1"/>
          <p:nvPr/>
        </p:nvSpPr>
        <p:spPr>
          <a:xfrm>
            <a:off x="533400" y="523875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13" name="journey-row-3-name"/>
          <p:cNvSpPr txBox="1"/>
          <p:nvPr/>
        </p:nvSpPr>
        <p:spPr>
          <a:xfrm>
            <a:off x="914400" y="52387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OPPORTUNITIES</a:t>
            </a:r>
          </a:p>
        </p:txBody>
      </p:sp>
      <p:sp>
        <p:nvSpPr>
          <p:cNvPr id="14" name="journey-row-3-divider"/>
          <p:cNvSpPr/>
          <p:nvPr/>
        </p:nvSpPr>
        <p:spPr>
          <a:xfrm>
            <a:off x="1771650" y="4752975"/>
            <a:ext cx="19050" cy="12382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journey-phase-1"/>
          <p:cNvSpPr/>
          <p:nvPr/>
        </p:nvSpPr>
        <p:spPr>
          <a:xfrm>
            <a:off x="1924050" y="1571625"/>
            <a:ext cx="1571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journey-phase-1-num"/>
          <p:cNvSpPr txBox="1"/>
          <p:nvPr/>
        </p:nvSpPr>
        <p:spPr>
          <a:xfrm>
            <a:off x="2019300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17" name="journey-phase-1-name"/>
          <p:cNvSpPr txBox="1"/>
          <p:nvPr/>
        </p:nvSpPr>
        <p:spPr>
          <a:xfrm>
            <a:off x="2019300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KICKOFF</a:t>
            </a:r>
          </a:p>
        </p:txBody>
      </p:sp>
      <p:sp>
        <p:nvSpPr>
          <p:cNvPr id="18" name="journey-phase-1-actions-bg"/>
          <p:cNvSpPr/>
          <p:nvPr/>
        </p:nvSpPr>
        <p:spPr>
          <a:xfrm>
            <a:off x="1924050" y="2085975"/>
            <a:ext cx="1571625" cy="1238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journey-phase-1-actions"/>
          <p:cNvSpPr txBox="1"/>
          <p:nvPr/>
        </p:nvSpPr>
        <p:spPr>
          <a:xfrm>
            <a:off x="2019300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Get the brief from partner</a:t>
            </a:r>
          </a:p>
        </p:txBody>
      </p:sp>
      <p:sp>
        <p:nvSpPr>
          <p:cNvPr id="20" name="journey-phase-1-pain-bg"/>
          <p:cNvSpPr/>
          <p:nvPr/>
        </p:nvSpPr>
        <p:spPr>
          <a:xfrm>
            <a:off x="1924050" y="3419475"/>
            <a:ext cx="1571625" cy="1238250"/>
          </a:xfrm>
          <a:prstGeom prst="rect">
            <a:avLst/>
          </a:prstGeom>
          <a:solidFill>
            <a:srgbClr val="4A351F"/>
          </a:solidFill>
          <a:ln w="9525">
            <a:solidFill>
              <a:srgbClr val="6E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journey-phase-1-pain"/>
          <p:cNvSpPr txBox="1"/>
          <p:nvPr/>
        </p:nvSpPr>
        <p:spPr>
          <a:xfrm>
            <a:off x="2019300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Brief unclear, scope ambiguous</a:t>
            </a:r>
          </a:p>
        </p:txBody>
      </p:sp>
      <p:sp>
        <p:nvSpPr>
          <p:cNvPr id="22" name="journey-phase-1-opps-bg"/>
          <p:cNvSpPr/>
          <p:nvPr/>
        </p:nvSpPr>
        <p:spPr>
          <a:xfrm>
            <a:off x="1924050" y="4752975"/>
            <a:ext cx="1571625" cy="1238250"/>
          </a:xfrm>
          <a:prstGeom prst="rect">
            <a:avLst/>
          </a:prstGeom>
          <a:solidFill>
            <a:srgbClr val="1E4433"/>
          </a:solidFill>
          <a:ln w="9525">
            <a:solidFill>
              <a:srgbClr val="2E6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journey-phase-1-opps"/>
          <p:cNvSpPr txBox="1"/>
          <p:nvPr/>
        </p:nvSpPr>
        <p:spPr>
          <a:xfrm>
            <a:off x="2019300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Slide Lab clarifies brief in 30 min</a:t>
            </a:r>
          </a:p>
        </p:txBody>
      </p:sp>
      <p:sp>
        <p:nvSpPr>
          <p:cNvPr id="24" name="journey-phase-2"/>
          <p:cNvSpPr/>
          <p:nvPr/>
        </p:nvSpPr>
        <p:spPr>
          <a:xfrm>
            <a:off x="3552825" y="1571625"/>
            <a:ext cx="1571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journey-phase-2-num"/>
          <p:cNvSpPr txBox="1"/>
          <p:nvPr/>
        </p:nvSpPr>
        <p:spPr>
          <a:xfrm>
            <a:off x="3648075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26" name="journey-phase-2-name"/>
          <p:cNvSpPr txBox="1"/>
          <p:nvPr/>
        </p:nvSpPr>
        <p:spPr>
          <a:xfrm>
            <a:off x="3648075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RESEARCH</a:t>
            </a:r>
          </a:p>
        </p:txBody>
      </p:sp>
      <p:sp>
        <p:nvSpPr>
          <p:cNvPr id="27" name="journey-phase-2-actions-bg"/>
          <p:cNvSpPr/>
          <p:nvPr/>
        </p:nvSpPr>
        <p:spPr>
          <a:xfrm>
            <a:off x="3552825" y="2085975"/>
            <a:ext cx="1571625" cy="1238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journey-phase-2-actions"/>
          <p:cNvSpPr txBox="1"/>
          <p:nvPr/>
        </p:nvSpPr>
        <p:spPr>
          <a:xfrm>
            <a:off x="3648075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Synthesize workstream findings</a:t>
            </a:r>
          </a:p>
        </p:txBody>
      </p:sp>
      <p:sp>
        <p:nvSpPr>
          <p:cNvPr id="29" name="journey-phase-2-pain-bg"/>
          <p:cNvSpPr/>
          <p:nvPr/>
        </p:nvSpPr>
        <p:spPr>
          <a:xfrm>
            <a:off x="3552825" y="3419475"/>
            <a:ext cx="1571625" cy="1238250"/>
          </a:xfrm>
          <a:prstGeom prst="rect">
            <a:avLst/>
          </a:prstGeom>
          <a:solidFill>
            <a:srgbClr val="4A351F"/>
          </a:solidFill>
          <a:ln w="9525">
            <a:solidFill>
              <a:srgbClr val="6E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journey-phase-2-pain"/>
          <p:cNvSpPr txBox="1"/>
          <p:nvPr/>
        </p:nvSpPr>
        <p:spPr>
          <a:xfrm>
            <a:off x="3648075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Workstreams produce raw, not synthesized</a:t>
            </a:r>
          </a:p>
        </p:txBody>
      </p:sp>
      <p:sp>
        <p:nvSpPr>
          <p:cNvPr id="31" name="journey-phase-2-opps-bg"/>
          <p:cNvSpPr/>
          <p:nvPr/>
        </p:nvSpPr>
        <p:spPr>
          <a:xfrm>
            <a:off x="3552825" y="4752975"/>
            <a:ext cx="1571625" cy="1238250"/>
          </a:xfrm>
          <a:prstGeom prst="rect">
            <a:avLst/>
          </a:prstGeom>
          <a:solidFill>
            <a:srgbClr val="1E4433"/>
          </a:solidFill>
          <a:ln w="9525">
            <a:solidFill>
              <a:srgbClr val="2E6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journey-phase-2-opps"/>
          <p:cNvSpPr txBox="1"/>
          <p:nvPr/>
        </p:nvSpPr>
        <p:spPr>
          <a:xfrm>
            <a:off x="3648075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Sharpen workstreams before compiling</a:t>
            </a:r>
          </a:p>
        </p:txBody>
      </p:sp>
      <p:sp>
        <p:nvSpPr>
          <p:cNvPr id="33" name="journey-phase-3"/>
          <p:cNvSpPr/>
          <p:nvPr/>
        </p:nvSpPr>
        <p:spPr>
          <a:xfrm>
            <a:off x="5181600" y="1571625"/>
            <a:ext cx="1571625" cy="419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journey-phase-3-num"/>
          <p:cNvSpPr txBox="1"/>
          <p:nvPr/>
        </p:nvSpPr>
        <p:spPr>
          <a:xfrm>
            <a:off x="5276850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03</a:t>
            </a:r>
          </a:p>
        </p:txBody>
      </p:sp>
      <p:sp>
        <p:nvSpPr>
          <p:cNvPr id="35" name="journey-phase-3-name"/>
          <p:cNvSpPr txBox="1"/>
          <p:nvPr/>
        </p:nvSpPr>
        <p:spPr>
          <a:xfrm>
            <a:off x="5276850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STORYLINE</a:t>
            </a:r>
          </a:p>
        </p:txBody>
      </p:sp>
      <p:sp>
        <p:nvSpPr>
          <p:cNvPr id="36" name="journey-phase-3-actions-bg"/>
          <p:cNvSpPr/>
          <p:nvPr/>
        </p:nvSpPr>
        <p:spPr>
          <a:xfrm>
            <a:off x="5181600" y="2085975"/>
            <a:ext cx="1571625" cy="1238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journey-phase-3-actions"/>
          <p:cNvSpPr txBox="1"/>
          <p:nvPr/>
        </p:nvSpPr>
        <p:spPr>
          <a:xfrm>
            <a:off x="5276850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Build the deck outline</a:t>
            </a:r>
          </a:p>
        </p:txBody>
      </p:sp>
      <p:sp>
        <p:nvSpPr>
          <p:cNvPr id="38" name="journey-phase-3-pain-bg"/>
          <p:cNvSpPr/>
          <p:nvPr/>
        </p:nvSpPr>
        <p:spPr>
          <a:xfrm>
            <a:off x="5181600" y="3419475"/>
            <a:ext cx="1571625" cy="1238250"/>
          </a:xfrm>
          <a:prstGeom prst="rect">
            <a:avLst/>
          </a:prstGeom>
          <a:solidFill>
            <a:srgbClr val="3C1F5C"/>
          </a:solidFill>
          <a:ln w="2540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journey-phase-3-pain-tag"/>
          <p:cNvSpPr/>
          <p:nvPr/>
        </p:nvSpPr>
        <p:spPr>
          <a:xfrm>
            <a:off x="5619750" y="3352800"/>
            <a:ext cx="68580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journey-phase-3-pain-tag-text"/>
          <p:cNvSpPr txBox="1"/>
          <p:nvPr/>
        </p:nvSpPr>
        <p:spPr>
          <a:xfrm>
            <a:off x="5619750" y="335280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BIGGEST BREAK</a:t>
            </a:r>
          </a:p>
        </p:txBody>
      </p:sp>
      <p:sp>
        <p:nvSpPr>
          <p:cNvPr id="41" name="journey-phase-3-pain"/>
          <p:cNvSpPr txBox="1"/>
          <p:nvPr/>
        </p:nvSpPr>
        <p:spPr>
          <a:xfrm>
            <a:off x="5276850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Storyline gets skipped under time pressure</a:t>
            </a:r>
          </a:p>
        </p:txBody>
      </p:sp>
      <p:sp>
        <p:nvSpPr>
          <p:cNvPr id="42" name="journey-phase-3-opps-bg"/>
          <p:cNvSpPr/>
          <p:nvPr/>
        </p:nvSpPr>
        <p:spPr>
          <a:xfrm>
            <a:off x="5181600" y="4752975"/>
            <a:ext cx="1571625" cy="1238250"/>
          </a:xfrm>
          <a:prstGeom prst="rect">
            <a:avLst/>
          </a:prstGeom>
          <a:solidFill>
            <a:srgbClr val="1E4433"/>
          </a:solidFill>
          <a:ln w="9525">
            <a:solidFill>
              <a:srgbClr val="2E6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journey-phase-3-opps"/>
          <p:cNvSpPr txBox="1"/>
          <p:nvPr/>
        </p:nvSpPr>
        <p:spPr>
          <a:xfrm>
            <a:off x="5276850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Coached storyline session is the unlock</a:t>
            </a:r>
          </a:p>
        </p:txBody>
      </p:sp>
      <p:sp>
        <p:nvSpPr>
          <p:cNvPr id="44" name="journey-phase-4"/>
          <p:cNvSpPr/>
          <p:nvPr/>
        </p:nvSpPr>
        <p:spPr>
          <a:xfrm>
            <a:off x="6810375" y="1571625"/>
            <a:ext cx="1571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journey-phase-4-num"/>
          <p:cNvSpPr txBox="1"/>
          <p:nvPr/>
        </p:nvSpPr>
        <p:spPr>
          <a:xfrm>
            <a:off x="6905625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46" name="journey-phase-4-name"/>
          <p:cNvSpPr txBox="1"/>
          <p:nvPr/>
        </p:nvSpPr>
        <p:spPr>
          <a:xfrm>
            <a:off x="6905625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DRAFT</a:t>
            </a:r>
          </a:p>
        </p:txBody>
      </p:sp>
      <p:sp>
        <p:nvSpPr>
          <p:cNvPr id="47" name="journey-phase-4-actions-bg"/>
          <p:cNvSpPr/>
          <p:nvPr/>
        </p:nvSpPr>
        <p:spPr>
          <a:xfrm>
            <a:off x="6810375" y="2085975"/>
            <a:ext cx="1571625" cy="1238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journey-phase-4-actions"/>
          <p:cNvSpPr txBox="1"/>
          <p:nvPr/>
        </p:nvSpPr>
        <p:spPr>
          <a:xfrm>
            <a:off x="6905625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Write slides and visuals</a:t>
            </a:r>
          </a:p>
        </p:txBody>
      </p:sp>
      <p:sp>
        <p:nvSpPr>
          <p:cNvPr id="49" name="journey-phase-4-pain-bg"/>
          <p:cNvSpPr/>
          <p:nvPr/>
        </p:nvSpPr>
        <p:spPr>
          <a:xfrm>
            <a:off x="6810375" y="3419475"/>
            <a:ext cx="1571625" cy="1238250"/>
          </a:xfrm>
          <a:prstGeom prst="rect">
            <a:avLst/>
          </a:prstGeom>
          <a:solidFill>
            <a:srgbClr val="4A351F"/>
          </a:solidFill>
          <a:ln w="9525">
            <a:solidFill>
              <a:srgbClr val="6E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journey-phase-4-pain"/>
          <p:cNvSpPr txBox="1"/>
          <p:nvPr/>
        </p:nvSpPr>
        <p:spPr>
          <a:xfrm>
            <a:off x="6905625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Bullets accumulate without structure</a:t>
            </a:r>
          </a:p>
        </p:txBody>
      </p:sp>
      <p:sp>
        <p:nvSpPr>
          <p:cNvPr id="51" name="journey-phase-4-opps-bg"/>
          <p:cNvSpPr/>
          <p:nvPr/>
        </p:nvSpPr>
        <p:spPr>
          <a:xfrm>
            <a:off x="6810375" y="4752975"/>
            <a:ext cx="1571625" cy="1238250"/>
          </a:xfrm>
          <a:prstGeom prst="rect">
            <a:avLst/>
          </a:prstGeom>
          <a:solidFill>
            <a:srgbClr val="1E4433"/>
          </a:solidFill>
          <a:ln w="9525">
            <a:solidFill>
              <a:srgbClr val="2E6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journey-phase-4-opps"/>
          <p:cNvSpPr txBox="1"/>
          <p:nvPr/>
        </p:nvSpPr>
        <p:spPr>
          <a:xfrm>
            <a:off x="6905625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Pattern library applies treatment fast</a:t>
            </a:r>
          </a:p>
        </p:txBody>
      </p:sp>
      <p:sp>
        <p:nvSpPr>
          <p:cNvPr id="53" name="journey-phase-5"/>
          <p:cNvSpPr/>
          <p:nvPr/>
        </p:nvSpPr>
        <p:spPr>
          <a:xfrm>
            <a:off x="8439150" y="1571625"/>
            <a:ext cx="1571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journey-phase-5-num"/>
          <p:cNvSpPr txBox="1"/>
          <p:nvPr/>
        </p:nvSpPr>
        <p:spPr>
          <a:xfrm>
            <a:off x="8534400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55" name="journey-phase-5-name"/>
          <p:cNvSpPr txBox="1"/>
          <p:nvPr/>
        </p:nvSpPr>
        <p:spPr>
          <a:xfrm>
            <a:off x="8534400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</a:t>
            </a:r>
          </a:p>
        </p:txBody>
      </p:sp>
      <p:sp>
        <p:nvSpPr>
          <p:cNvPr id="56" name="journey-phase-5-actions-bg"/>
          <p:cNvSpPr/>
          <p:nvPr/>
        </p:nvSpPr>
        <p:spPr>
          <a:xfrm>
            <a:off x="8439150" y="2085975"/>
            <a:ext cx="1571625" cy="1238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journey-phase-5-actions"/>
          <p:cNvSpPr txBox="1"/>
          <p:nvPr/>
        </p:nvSpPr>
        <p:spPr>
          <a:xfrm>
            <a:off x="8534400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Cycle through reviewer comments</a:t>
            </a:r>
          </a:p>
        </p:txBody>
      </p:sp>
      <p:sp>
        <p:nvSpPr>
          <p:cNvPr id="58" name="journey-phase-5-pain-bg"/>
          <p:cNvSpPr/>
          <p:nvPr/>
        </p:nvSpPr>
        <p:spPr>
          <a:xfrm>
            <a:off x="8439150" y="3419475"/>
            <a:ext cx="1571625" cy="1238250"/>
          </a:xfrm>
          <a:prstGeom prst="rect">
            <a:avLst/>
          </a:prstGeom>
          <a:solidFill>
            <a:srgbClr val="4A351F"/>
          </a:solidFill>
          <a:ln w="9525">
            <a:solidFill>
              <a:srgbClr val="6E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journey-phase-5-pain"/>
          <p:cNvSpPr txBox="1"/>
          <p:nvPr/>
        </p:nvSpPr>
        <p:spPr>
          <a:xfrm>
            <a:off x="8534400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Reviewers add, no one subtracts</a:t>
            </a:r>
          </a:p>
        </p:txBody>
      </p:sp>
      <p:sp>
        <p:nvSpPr>
          <p:cNvPr id="60" name="journey-phase-5-opps-bg"/>
          <p:cNvSpPr/>
          <p:nvPr/>
        </p:nvSpPr>
        <p:spPr>
          <a:xfrm>
            <a:off x="8439150" y="4752975"/>
            <a:ext cx="1571625" cy="1238250"/>
          </a:xfrm>
          <a:prstGeom prst="rect">
            <a:avLst/>
          </a:prstGeom>
          <a:solidFill>
            <a:srgbClr val="1E4433"/>
          </a:solidFill>
          <a:ln w="9525">
            <a:solidFill>
              <a:srgbClr val="2E6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journey-phase-5-opps"/>
          <p:cNvSpPr txBox="1"/>
          <p:nvPr/>
        </p:nvSpPr>
        <p:spPr>
          <a:xfrm>
            <a:off x="8534400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QC catches structural drift early</a:t>
            </a:r>
          </a:p>
        </p:txBody>
      </p:sp>
      <p:sp>
        <p:nvSpPr>
          <p:cNvPr id="62" name="journey-phase-6"/>
          <p:cNvSpPr/>
          <p:nvPr/>
        </p:nvSpPr>
        <p:spPr>
          <a:xfrm>
            <a:off x="10067925" y="1571625"/>
            <a:ext cx="1571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journey-phase-6-num"/>
          <p:cNvSpPr txBox="1"/>
          <p:nvPr/>
        </p:nvSpPr>
        <p:spPr>
          <a:xfrm>
            <a:off x="10163175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64" name="journey-phase-6-name"/>
          <p:cNvSpPr txBox="1"/>
          <p:nvPr/>
        </p:nvSpPr>
        <p:spPr>
          <a:xfrm>
            <a:off x="10163175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DELIVER</a:t>
            </a:r>
          </a:p>
        </p:txBody>
      </p:sp>
      <p:sp>
        <p:nvSpPr>
          <p:cNvPr id="65" name="journey-phase-6-actions-bg"/>
          <p:cNvSpPr/>
          <p:nvPr/>
        </p:nvSpPr>
        <p:spPr>
          <a:xfrm>
            <a:off x="10067925" y="2085975"/>
            <a:ext cx="1571625" cy="1238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journey-phase-6-actions"/>
          <p:cNvSpPr txBox="1"/>
          <p:nvPr/>
        </p:nvSpPr>
        <p:spPr>
          <a:xfrm>
            <a:off x="10163175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Present to client</a:t>
            </a:r>
          </a:p>
        </p:txBody>
      </p:sp>
      <p:sp>
        <p:nvSpPr>
          <p:cNvPr id="67" name="journey-phase-6-pain-bg"/>
          <p:cNvSpPr/>
          <p:nvPr/>
        </p:nvSpPr>
        <p:spPr>
          <a:xfrm>
            <a:off x="10067925" y="3419475"/>
            <a:ext cx="1571625" cy="1238250"/>
          </a:xfrm>
          <a:prstGeom prst="rect">
            <a:avLst/>
          </a:prstGeom>
          <a:solidFill>
            <a:srgbClr val="4A351F"/>
          </a:solidFill>
          <a:ln w="9525">
            <a:solidFill>
              <a:srgbClr val="6E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journey-phase-6-pain"/>
          <p:cNvSpPr txBox="1"/>
          <p:nvPr/>
        </p:nvSpPr>
        <p:spPr>
          <a:xfrm>
            <a:off x="10163175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Late edits break the through-line</a:t>
            </a:r>
          </a:p>
        </p:txBody>
      </p:sp>
      <p:sp>
        <p:nvSpPr>
          <p:cNvPr id="69" name="journey-phase-6-opps-bg"/>
          <p:cNvSpPr/>
          <p:nvPr/>
        </p:nvSpPr>
        <p:spPr>
          <a:xfrm>
            <a:off x="10067925" y="4752975"/>
            <a:ext cx="1571625" cy="1238250"/>
          </a:xfrm>
          <a:prstGeom prst="rect">
            <a:avLst/>
          </a:prstGeom>
          <a:solidFill>
            <a:srgbClr val="1E4433"/>
          </a:solidFill>
          <a:ln w="9525">
            <a:solidFill>
              <a:srgbClr val="2E6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journey-phase-6-opps"/>
          <p:cNvSpPr txBox="1"/>
          <p:nvPr/>
        </p:nvSpPr>
        <p:spPr>
          <a:xfrm>
            <a:off x="10163175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Final review focuses on argument, not formatting</a:t>
            </a:r>
          </a:p>
        </p:txBody>
      </p:sp>
      <p:sp>
        <p:nvSpPr>
          <p:cNvPr id="71" name="convergence"/>
          <p:cNvSpPr txBox="1"/>
          <p:nvPr/>
        </p:nvSpPr>
        <p:spPr>
          <a:xfrm>
            <a:off x="609600" y="62865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Where the journey breaks is where the patterns are.</a:t>
            </a:r>
          </a:p>
        </p:txBody>
      </p:sp>
      <p:sp>
        <p:nvSpPr>
          <p:cNvPr id="7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