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Theory of change — from four weeks of inputs to a Q3 decision.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Inputs power activities, activities produce outputs, outputs drive the outcomes that close the case.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header"/>
          <p:cNvSpPr/>
          <p:nvPr/>
        </p:nvSpPr>
        <p:spPr>
          <a:xfrm>
            <a:off x="533400" y="2095500"/>
            <a:ext cx="2647950" cy="5905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eyebrow"/>
          <p:cNvSpPr txBox="1"/>
          <p:nvPr/>
        </p:nvSpPr>
        <p:spPr>
          <a:xfrm>
            <a:off x="685800" y="2171700"/>
            <a:ext cx="2343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1</a:t>
            </a:r>
          </a:p>
        </p:txBody>
      </p:sp>
      <p:sp>
        <p:nvSpPr>
          <p:cNvPr id="7" name="step-1-name"/>
          <p:cNvSpPr txBox="1"/>
          <p:nvPr/>
        </p:nvSpPr>
        <p:spPr>
          <a:xfrm>
            <a:off x="685800" y="2305050"/>
            <a:ext cx="2343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INPUTS</a:t>
            </a:r>
          </a:p>
        </p:txBody>
      </p:sp>
      <p:sp>
        <p:nvSpPr>
          <p:cNvPr id="8" name="step-1-desc"/>
          <p:cNvSpPr txBox="1"/>
          <p:nvPr/>
        </p:nvSpPr>
        <p:spPr>
          <a:xfrm>
            <a:off x="685800" y="2533650"/>
            <a:ext cx="2343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we put in</a:t>
            </a:r>
          </a:p>
        </p:txBody>
      </p:sp>
      <p:sp>
        <p:nvSpPr>
          <p:cNvPr id="9" name="step-1-body"/>
          <p:cNvSpPr/>
          <p:nvPr/>
        </p:nvSpPr>
        <p:spPr>
          <a:xfrm>
            <a:off x="533400" y="2686050"/>
            <a:ext cx="2647950" cy="2838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tep-1-item-1"/>
          <p:cNvSpPr txBox="1"/>
          <p:nvPr/>
        </p:nvSpPr>
        <p:spPr>
          <a:xfrm>
            <a:off x="685800" y="2819400"/>
            <a:ext cx="23431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4 pilot users committed</a:t>
            </a:r>
          </a:p>
        </p:txBody>
      </p:sp>
      <p:sp>
        <p:nvSpPr>
          <p:cNvPr id="11" name="step-1-item-2"/>
          <p:cNvSpPr txBox="1"/>
          <p:nvPr/>
        </p:nvSpPr>
        <p:spPr>
          <a:xfrm>
            <a:off x="685800" y="3333750"/>
            <a:ext cx="23431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Existing decks as baseline</a:t>
            </a:r>
          </a:p>
        </p:txBody>
      </p:sp>
      <p:sp>
        <p:nvSpPr>
          <p:cNvPr id="12" name="step-1-item-3"/>
          <p:cNvSpPr txBox="1"/>
          <p:nvPr/>
        </p:nvSpPr>
        <p:spPr>
          <a:xfrm>
            <a:off x="685800" y="3848100"/>
            <a:ext cx="23431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Coaching time, 2 hrs / wk</a:t>
            </a:r>
          </a:p>
        </p:txBody>
      </p:sp>
      <p:sp>
        <p:nvSpPr>
          <p:cNvPr id="13" name="step-1-item-4"/>
          <p:cNvSpPr txBox="1"/>
          <p:nvPr/>
        </p:nvSpPr>
        <p:spPr>
          <a:xfrm>
            <a:off x="685800" y="4362450"/>
            <a:ext cx="23431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Slide Lab tool access</a:t>
            </a:r>
          </a:p>
        </p:txBody>
      </p:sp>
      <p:sp>
        <p:nvSpPr>
          <p:cNvPr id="14" name="step-1-item-5"/>
          <p:cNvSpPr txBox="1"/>
          <p:nvPr/>
        </p:nvSpPr>
        <p:spPr>
          <a:xfrm>
            <a:off x="685800" y="4876800"/>
            <a:ext cx="23431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4-week pilot window</a:t>
            </a:r>
          </a:p>
        </p:txBody>
      </p:sp>
      <p:sp>
        <p:nvSpPr>
          <p:cNvPr id="15" name="step-1-arrow"/>
          <p:cNvSpPr txBox="1"/>
          <p:nvPr/>
        </p:nvSpPr>
        <p:spPr>
          <a:xfrm>
            <a:off x="3209925" y="231457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▶</a:t>
            </a:r>
          </a:p>
        </p:txBody>
      </p:sp>
      <p:sp>
        <p:nvSpPr>
          <p:cNvPr id="16" name="step-2-header"/>
          <p:cNvSpPr/>
          <p:nvPr/>
        </p:nvSpPr>
        <p:spPr>
          <a:xfrm>
            <a:off x="3352800" y="2095500"/>
            <a:ext cx="2647950" cy="59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ep-2-eyebrow"/>
          <p:cNvSpPr txBox="1"/>
          <p:nvPr/>
        </p:nvSpPr>
        <p:spPr>
          <a:xfrm>
            <a:off x="3505200" y="2171700"/>
            <a:ext cx="2343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2</a:t>
            </a:r>
          </a:p>
        </p:txBody>
      </p:sp>
      <p:sp>
        <p:nvSpPr>
          <p:cNvPr id="18" name="step-2-name"/>
          <p:cNvSpPr txBox="1"/>
          <p:nvPr/>
        </p:nvSpPr>
        <p:spPr>
          <a:xfrm>
            <a:off x="3505200" y="2305050"/>
            <a:ext cx="2343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ACTIVITIES</a:t>
            </a:r>
          </a:p>
        </p:txBody>
      </p:sp>
      <p:sp>
        <p:nvSpPr>
          <p:cNvPr id="19" name="step-2-desc"/>
          <p:cNvSpPr txBox="1"/>
          <p:nvPr/>
        </p:nvSpPr>
        <p:spPr>
          <a:xfrm>
            <a:off x="3505200" y="2533650"/>
            <a:ext cx="2343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we do</a:t>
            </a:r>
          </a:p>
        </p:txBody>
      </p:sp>
      <p:sp>
        <p:nvSpPr>
          <p:cNvPr id="20" name="step-2-body"/>
          <p:cNvSpPr/>
          <p:nvPr/>
        </p:nvSpPr>
        <p:spPr>
          <a:xfrm>
            <a:off x="3352800" y="2686050"/>
            <a:ext cx="2647950" cy="2838450"/>
          </a:xfrm>
          <a:prstGeom prst="rect">
            <a:avLst/>
          </a:prstGeom>
          <a:solidFill>
            <a:srgbClr val="422266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ep-2-item-1"/>
          <p:cNvSpPr txBox="1"/>
          <p:nvPr/>
        </p:nvSpPr>
        <p:spPr>
          <a:xfrm>
            <a:off x="3505200" y="281940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Storyline coaching sessions</a:t>
            </a:r>
          </a:p>
        </p:txBody>
      </p:sp>
      <p:sp>
        <p:nvSpPr>
          <p:cNvPr id="22" name="step-2-item-2"/>
          <p:cNvSpPr txBox="1"/>
          <p:nvPr/>
        </p:nvSpPr>
        <p:spPr>
          <a:xfrm>
            <a:off x="3505200" y="3457575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Deck rebuilds against patterns</a:t>
            </a:r>
          </a:p>
        </p:txBody>
      </p:sp>
      <p:sp>
        <p:nvSpPr>
          <p:cNvPr id="23" name="step-2-item-3"/>
          <p:cNvSpPr txBox="1"/>
          <p:nvPr/>
        </p:nvSpPr>
        <p:spPr>
          <a:xfrm>
            <a:off x="3505200" y="409575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Pattern-library application</a:t>
            </a:r>
          </a:p>
        </p:txBody>
      </p:sp>
      <p:sp>
        <p:nvSpPr>
          <p:cNvPr id="24" name="step-2-item-4"/>
          <p:cNvSpPr txBox="1"/>
          <p:nvPr/>
        </p:nvSpPr>
        <p:spPr>
          <a:xfrm>
            <a:off x="3505200" y="4733925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Weekly retro and review</a:t>
            </a:r>
          </a:p>
        </p:txBody>
      </p:sp>
      <p:sp>
        <p:nvSpPr>
          <p:cNvPr id="25" name="step-2-arrow"/>
          <p:cNvSpPr txBox="1"/>
          <p:nvPr/>
        </p:nvSpPr>
        <p:spPr>
          <a:xfrm>
            <a:off x="6029325" y="231457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▶</a:t>
            </a:r>
          </a:p>
        </p:txBody>
      </p:sp>
      <p:sp>
        <p:nvSpPr>
          <p:cNvPr id="26" name="step-3-header"/>
          <p:cNvSpPr/>
          <p:nvPr/>
        </p:nvSpPr>
        <p:spPr>
          <a:xfrm>
            <a:off x="6172200" y="2095500"/>
            <a:ext cx="2647950" cy="590550"/>
          </a:xfrm>
          <a:prstGeom prst="rect">
            <a:avLst/>
          </a:prstGeom>
          <a:solidFill>
            <a:srgbClr val="7E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tep-3-eyebrow"/>
          <p:cNvSpPr txBox="1"/>
          <p:nvPr/>
        </p:nvSpPr>
        <p:spPr>
          <a:xfrm>
            <a:off x="6324600" y="2171700"/>
            <a:ext cx="2343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3</a:t>
            </a:r>
          </a:p>
        </p:txBody>
      </p:sp>
      <p:sp>
        <p:nvSpPr>
          <p:cNvPr id="28" name="step-3-name"/>
          <p:cNvSpPr txBox="1"/>
          <p:nvPr/>
        </p:nvSpPr>
        <p:spPr>
          <a:xfrm>
            <a:off x="6324600" y="2305050"/>
            <a:ext cx="2343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OUTPUTS</a:t>
            </a:r>
          </a:p>
        </p:txBody>
      </p:sp>
      <p:sp>
        <p:nvSpPr>
          <p:cNvPr id="29" name="step-3-desc"/>
          <p:cNvSpPr txBox="1"/>
          <p:nvPr/>
        </p:nvSpPr>
        <p:spPr>
          <a:xfrm>
            <a:off x="6324600" y="2533650"/>
            <a:ext cx="2343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comes out</a:t>
            </a:r>
          </a:p>
        </p:txBody>
      </p:sp>
      <p:sp>
        <p:nvSpPr>
          <p:cNvPr id="30" name="step-3-body"/>
          <p:cNvSpPr/>
          <p:nvPr/>
        </p:nvSpPr>
        <p:spPr>
          <a:xfrm>
            <a:off x="6172200" y="2686050"/>
            <a:ext cx="2647950" cy="2838450"/>
          </a:xfrm>
          <a:prstGeom prst="rect">
            <a:avLst/>
          </a:prstGeom>
          <a:solidFill>
            <a:srgbClr val="4F2A78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tep-3-item-1"/>
          <p:cNvSpPr txBox="1"/>
          <p:nvPr/>
        </p:nvSpPr>
        <p:spPr>
          <a:xfrm>
            <a:off x="6324600" y="281940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12 decks measured end-to-end</a:t>
            </a:r>
          </a:p>
        </p:txBody>
      </p:sp>
      <p:sp>
        <p:nvSpPr>
          <p:cNvPr id="32" name="step-3-item-2"/>
          <p:cNvSpPr txBox="1"/>
          <p:nvPr/>
        </p:nvSpPr>
        <p:spPr>
          <a:xfrm>
            <a:off x="6324600" y="3457575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Reusable pattern library</a:t>
            </a:r>
          </a:p>
        </p:txBody>
      </p:sp>
      <p:sp>
        <p:nvSpPr>
          <p:cNvPr id="33" name="step-3-item-3"/>
          <p:cNvSpPr txBox="1"/>
          <p:nvPr/>
        </p:nvSpPr>
        <p:spPr>
          <a:xfrm>
            <a:off x="6324600" y="409575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Coaching playbook v1</a:t>
            </a:r>
          </a:p>
        </p:txBody>
      </p:sp>
      <p:sp>
        <p:nvSpPr>
          <p:cNvPr id="34" name="step-3-item-4"/>
          <p:cNvSpPr txBox="1"/>
          <p:nvPr/>
        </p:nvSpPr>
        <p:spPr>
          <a:xfrm>
            <a:off x="6324600" y="4733925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Pilot scorecard published</a:t>
            </a:r>
          </a:p>
        </p:txBody>
      </p:sp>
      <p:sp>
        <p:nvSpPr>
          <p:cNvPr id="35" name="step-3-arrow"/>
          <p:cNvSpPr txBox="1"/>
          <p:nvPr/>
        </p:nvSpPr>
        <p:spPr>
          <a:xfrm>
            <a:off x="8848725" y="231457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▶</a:t>
            </a:r>
          </a:p>
        </p:txBody>
      </p:sp>
      <p:sp>
        <p:nvSpPr>
          <p:cNvPr id="36" name="step-4-header"/>
          <p:cNvSpPr/>
          <p:nvPr/>
        </p:nvSpPr>
        <p:spPr>
          <a:xfrm>
            <a:off x="8991600" y="2095500"/>
            <a:ext cx="2647950" cy="590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step-4-eyebrow"/>
          <p:cNvSpPr txBox="1"/>
          <p:nvPr/>
        </p:nvSpPr>
        <p:spPr>
          <a:xfrm>
            <a:off x="9144000" y="2171700"/>
            <a:ext cx="2343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4</a:t>
            </a:r>
          </a:p>
        </p:txBody>
      </p:sp>
      <p:sp>
        <p:nvSpPr>
          <p:cNvPr id="38" name="step-4-name"/>
          <p:cNvSpPr txBox="1"/>
          <p:nvPr/>
        </p:nvSpPr>
        <p:spPr>
          <a:xfrm>
            <a:off x="9144000" y="2305050"/>
            <a:ext cx="2343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OUTCOMES &amp; IMPACT</a:t>
            </a:r>
          </a:p>
        </p:txBody>
      </p:sp>
      <p:sp>
        <p:nvSpPr>
          <p:cNvPr id="39" name="step-4-desc"/>
          <p:cNvSpPr txBox="1"/>
          <p:nvPr/>
        </p:nvSpPr>
        <p:spPr>
          <a:xfrm>
            <a:off x="9144000" y="2533650"/>
            <a:ext cx="2343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changes</a:t>
            </a:r>
          </a:p>
        </p:txBody>
      </p:sp>
      <p:sp>
        <p:nvSpPr>
          <p:cNvPr id="40" name="step-4-body"/>
          <p:cNvSpPr/>
          <p:nvPr/>
        </p:nvSpPr>
        <p:spPr>
          <a:xfrm>
            <a:off x="8991600" y="2686050"/>
            <a:ext cx="2647950" cy="2838450"/>
          </a:xfrm>
          <a:prstGeom prst="rect">
            <a:avLst/>
          </a:prstGeom>
          <a:solidFill>
            <a:srgbClr val="1A0530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step-4-item-1"/>
          <p:cNvSpPr txBox="1"/>
          <p:nvPr/>
        </p:nvSpPr>
        <p:spPr>
          <a:xfrm>
            <a:off x="9144000" y="281940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-64% cycle time per deck</a:t>
            </a:r>
          </a:p>
        </p:txBody>
      </p:sp>
      <p:sp>
        <p:nvSpPr>
          <p:cNvPr id="42" name="step-4-item-2"/>
          <p:cNvSpPr txBox="1"/>
          <p:nvPr/>
        </p:nvSpPr>
        <p:spPr>
          <a:xfrm>
            <a:off x="9144000" y="3457575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+34pp sign-off rate at first review</a:t>
            </a:r>
          </a:p>
        </p:txBody>
      </p:sp>
      <p:sp>
        <p:nvSpPr>
          <p:cNvPr id="43" name="step-4-item-3"/>
          <p:cNvSpPr txBox="1"/>
          <p:nvPr/>
        </p:nvSpPr>
        <p:spPr>
          <a:xfrm>
            <a:off x="9144000" y="409575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Replicable practice across teams</a:t>
            </a:r>
          </a:p>
        </p:txBody>
      </p:sp>
      <p:sp>
        <p:nvSpPr>
          <p:cNvPr id="44" name="step-4-item-4"/>
          <p:cNvSpPr txBox="1"/>
          <p:nvPr/>
        </p:nvSpPr>
        <p:spPr>
          <a:xfrm>
            <a:off x="9144000" y="4733925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Q3 rollout decision unlocked</a:t>
            </a:r>
          </a:p>
        </p:txBody>
      </p:sp>
      <p:sp>
        <p:nvSpPr>
          <p:cNvPr id="45" name="convergence-bg"/>
          <p:cNvSpPr/>
          <p:nvPr/>
        </p:nvSpPr>
        <p:spPr>
          <a:xfrm>
            <a:off x="533400" y="5600700"/>
            <a:ext cx="11125200" cy="4191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vergence"/>
          <p:cNvSpPr txBox="1"/>
          <p:nvPr/>
        </p:nvSpPr>
        <p:spPr>
          <a:xfrm>
            <a:off x="742950" y="5600700"/>
            <a:ext cx="101727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If inputs hold and activities run on cadence, the Q3 decision lands on evidence — not opinion.</a:t>
            </a:r>
          </a:p>
        </p:txBody>
      </p:sp>
      <p:sp>
        <p:nvSpPr>
          <p:cNvPr id="47" name="convergence-mark"/>
          <p:cNvSpPr txBox="1"/>
          <p:nvPr/>
        </p:nvSpPr>
        <p:spPr>
          <a:xfrm>
            <a:off x="10896600" y="56007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›››</a:t>
            </a:r>
          </a:p>
        </p:txBody>
      </p:sp>
      <p:sp>
        <p:nvSpPr>
          <p:cNvPr id="4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