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Porter's Value Chain reveals where you </a:t>
            </a:r>
            <a:r>
              <a:rPr sz="2100" b="1" i="0">
                <a:solidFill>
                  <a:srgbClr val="C780FF"/>
                </a:solidFill>
                <a:latin typeface="Inter"/>
              </a:rPr>
              <a:t>create</a:t>
            </a:r>
            <a:r>
              <a:rPr sz="2100" b="1" i="0">
                <a:solidFill>
                  <a:srgbClr val="FFFFFF"/>
                </a:solidFill>
                <a:latin typeface="Inter"/>
              </a:rPr>
              <a:t> and where you </a:t>
            </a:r>
            <a:r>
              <a:rPr sz="2100" b="1" i="0">
                <a:solidFill>
                  <a:srgbClr val="C780FF"/>
                </a:solidFill>
                <a:latin typeface="Inter"/>
              </a:rPr>
              <a:t>erode</a:t>
            </a:r>
            <a:r>
              <a:rPr sz="2100" b="1" i="0">
                <a:solidFill>
                  <a:srgbClr val="FFFFFF"/>
                </a:solidFill>
                <a:latin typeface="Inter"/>
              </a:rPr>
              <a:t> margin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Map primary and support activities to identify competitive advantage and cost drivers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2095500"/>
            <a:ext cx="10972800" cy="3810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vc-framework-label"/>
          <p:cNvSpPr txBox="1"/>
          <p:nvPr/>
        </p:nvSpPr>
        <p:spPr>
          <a:xfrm>
            <a:off x="685800" y="21717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PORTER'S VALUE CHAIN</a:t>
            </a:r>
          </a:p>
        </p:txBody>
      </p:sp>
      <p:sp>
        <p:nvSpPr>
          <p:cNvPr id="7" name="vc-support-label"/>
          <p:cNvSpPr txBox="1"/>
          <p:nvPr/>
        </p:nvSpPr>
        <p:spPr>
          <a:xfrm>
            <a:off x="990600" y="23241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SUPPORT ACTIVITIES</a:t>
            </a:r>
          </a:p>
        </p:txBody>
      </p:sp>
      <p:sp>
        <p:nvSpPr>
          <p:cNvPr id="8" name="vc-support-1-bar"/>
          <p:cNvSpPr/>
          <p:nvPr/>
        </p:nvSpPr>
        <p:spPr>
          <a:xfrm>
            <a:off x="990600" y="2514600"/>
            <a:ext cx="9829800" cy="3048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vc-support-1-name"/>
          <p:cNvSpPr txBox="1"/>
          <p:nvPr/>
        </p:nvSpPr>
        <p:spPr>
          <a:xfrm>
            <a:off x="1104900" y="257175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Firm Infrastructure</a:t>
            </a:r>
          </a:p>
        </p:txBody>
      </p:sp>
      <p:sp>
        <p:nvSpPr>
          <p:cNvPr id="10" name="vc-support-1-items"/>
          <p:cNvSpPr txBox="1"/>
          <p:nvPr/>
        </p:nvSpPr>
        <p:spPr>
          <a:xfrm>
            <a:off x="3086100" y="2571750"/>
            <a:ext cx="7543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Finance &amp; accounting · Legal, compliance &amp; governance</a:t>
            </a:r>
          </a:p>
        </p:txBody>
      </p:sp>
      <p:sp>
        <p:nvSpPr>
          <p:cNvPr id="11" name="vc-support-2-bar"/>
          <p:cNvSpPr/>
          <p:nvPr/>
        </p:nvSpPr>
        <p:spPr>
          <a:xfrm>
            <a:off x="990600" y="2847975"/>
            <a:ext cx="9829800" cy="304800"/>
          </a:xfrm>
          <a:prstGeom prst="rect">
            <a:avLst/>
          </a:prstGeom>
          <a:solidFill>
            <a:srgbClr val="6E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vc-support-2-name"/>
          <p:cNvSpPr txBox="1"/>
          <p:nvPr/>
        </p:nvSpPr>
        <p:spPr>
          <a:xfrm>
            <a:off x="1104900" y="2905125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Human Resource Mgmt</a:t>
            </a:r>
          </a:p>
        </p:txBody>
      </p:sp>
      <p:sp>
        <p:nvSpPr>
          <p:cNvPr id="13" name="vc-support-2-items"/>
          <p:cNvSpPr txBox="1"/>
          <p:nvPr/>
        </p:nvSpPr>
        <p:spPr>
          <a:xfrm>
            <a:off x="3086100" y="2905125"/>
            <a:ext cx="7543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Talent acquisition &amp; retention · Training &amp; performance systems</a:t>
            </a:r>
          </a:p>
        </p:txBody>
      </p:sp>
      <p:sp>
        <p:nvSpPr>
          <p:cNvPr id="14" name="vc-support-3-bar"/>
          <p:cNvSpPr/>
          <p:nvPr/>
        </p:nvSpPr>
        <p:spPr>
          <a:xfrm>
            <a:off x="990600" y="3181350"/>
            <a:ext cx="9829800" cy="304800"/>
          </a:xfrm>
          <a:prstGeom prst="rect">
            <a:avLst/>
          </a:prstGeom>
          <a:solidFill>
            <a:srgbClr val="8B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vc-support-3-name"/>
          <p:cNvSpPr txBox="1"/>
          <p:nvPr/>
        </p:nvSpPr>
        <p:spPr>
          <a:xfrm>
            <a:off x="1104900" y="323850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Technology Development</a:t>
            </a:r>
          </a:p>
        </p:txBody>
      </p:sp>
      <p:sp>
        <p:nvSpPr>
          <p:cNvPr id="16" name="vc-support-3-items"/>
          <p:cNvSpPr txBox="1"/>
          <p:nvPr/>
        </p:nvSpPr>
        <p:spPr>
          <a:xfrm>
            <a:off x="3086100" y="3238500"/>
            <a:ext cx="7543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R&amp;D and process automation · IT infrastructure &amp; data platforms</a:t>
            </a:r>
          </a:p>
        </p:txBody>
      </p:sp>
      <p:sp>
        <p:nvSpPr>
          <p:cNvPr id="17" name="vc-support-4-bar"/>
          <p:cNvSpPr/>
          <p:nvPr/>
        </p:nvSpPr>
        <p:spPr>
          <a:xfrm>
            <a:off x="990600" y="3514725"/>
            <a:ext cx="9829800" cy="304800"/>
          </a:xfrm>
          <a:prstGeom prst="rect">
            <a:avLst/>
          </a:prstGeom>
          <a:solidFill>
            <a:srgbClr val="A87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vc-support-4-name"/>
          <p:cNvSpPr txBox="1"/>
          <p:nvPr/>
        </p:nvSpPr>
        <p:spPr>
          <a:xfrm>
            <a:off x="1104900" y="3571875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Procurement</a:t>
            </a:r>
          </a:p>
        </p:txBody>
      </p:sp>
      <p:sp>
        <p:nvSpPr>
          <p:cNvPr id="19" name="vc-support-4-items"/>
          <p:cNvSpPr txBox="1"/>
          <p:nvPr/>
        </p:nvSpPr>
        <p:spPr>
          <a:xfrm>
            <a:off x="3086100" y="3571875"/>
            <a:ext cx="7543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Supplier selection &amp; negotiation · Strategic vendor partnerships</a:t>
            </a:r>
          </a:p>
        </p:txBody>
      </p:sp>
      <p:sp>
        <p:nvSpPr>
          <p:cNvPr id="20" name="vc-divider"/>
          <p:cNvSpPr/>
          <p:nvPr/>
        </p:nvSpPr>
        <p:spPr>
          <a:xfrm>
            <a:off x="990600" y="3905250"/>
            <a:ext cx="9829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vc-primary-label"/>
          <p:cNvSpPr txBox="1"/>
          <p:nvPr/>
        </p:nvSpPr>
        <p:spPr>
          <a:xfrm>
            <a:off x="990600" y="398145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PRIMARY ACTIVITIES</a:t>
            </a:r>
          </a:p>
        </p:txBody>
      </p:sp>
      <p:sp>
        <p:nvSpPr>
          <p:cNvPr id="22" name="vc-primary-1-seg"/>
          <p:cNvSpPr/>
          <p:nvPr/>
        </p:nvSpPr>
        <p:spPr>
          <a:xfrm>
            <a:off x="990600" y="4171950"/>
            <a:ext cx="1943100" cy="16573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vc-primary-1-name"/>
          <p:cNvSpPr txBox="1"/>
          <p:nvPr/>
        </p:nvSpPr>
        <p:spPr>
          <a:xfrm>
            <a:off x="1123950" y="4286250"/>
            <a:ext cx="1695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Inbound Logistics</a:t>
            </a:r>
          </a:p>
        </p:txBody>
      </p:sp>
      <p:sp>
        <p:nvSpPr>
          <p:cNvPr id="24" name="vc-primary-1-bullets"/>
          <p:cNvSpPr txBox="1"/>
          <p:nvPr/>
        </p:nvSpPr>
        <p:spPr>
          <a:xfrm>
            <a:off x="1123950" y="45339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· Receiving &amp; warehousing</a:t>
            </a:r>
          </a:p>
        </p:txBody>
      </p:sp>
      <p:sp>
        <p:nvSpPr>
          <p:cNvPr id="25" name="vc-primary-1-bullet-2"/>
          <p:cNvSpPr txBox="1"/>
          <p:nvPr/>
        </p:nvSpPr>
        <p:spPr>
          <a:xfrm>
            <a:off x="1123950" y="46863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· Inventory control</a:t>
            </a:r>
          </a:p>
        </p:txBody>
      </p:sp>
      <p:sp>
        <p:nvSpPr>
          <p:cNvPr id="26" name="vc-primary-2-seg"/>
          <p:cNvSpPr/>
          <p:nvPr/>
        </p:nvSpPr>
        <p:spPr>
          <a:xfrm>
            <a:off x="2952750" y="4171950"/>
            <a:ext cx="1943100" cy="1657350"/>
          </a:xfrm>
          <a:prstGeom prst="rect">
            <a:avLst/>
          </a:prstGeom>
          <a:solidFill>
            <a:srgbClr val="6E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vc-primary-2-name"/>
          <p:cNvSpPr txBox="1"/>
          <p:nvPr/>
        </p:nvSpPr>
        <p:spPr>
          <a:xfrm>
            <a:off x="3086100" y="4286250"/>
            <a:ext cx="1695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Operations</a:t>
            </a:r>
          </a:p>
        </p:txBody>
      </p:sp>
      <p:sp>
        <p:nvSpPr>
          <p:cNvPr id="28" name="vc-primary-2-bullets"/>
          <p:cNvSpPr txBox="1"/>
          <p:nvPr/>
        </p:nvSpPr>
        <p:spPr>
          <a:xfrm>
            <a:off x="3086100" y="45339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· Manufacturing &amp; assembly</a:t>
            </a:r>
          </a:p>
        </p:txBody>
      </p:sp>
      <p:sp>
        <p:nvSpPr>
          <p:cNvPr id="29" name="vc-primary-2-bullet-2"/>
          <p:cNvSpPr txBox="1"/>
          <p:nvPr/>
        </p:nvSpPr>
        <p:spPr>
          <a:xfrm>
            <a:off x="3086100" y="46863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· Quality management</a:t>
            </a:r>
          </a:p>
        </p:txBody>
      </p:sp>
      <p:sp>
        <p:nvSpPr>
          <p:cNvPr id="30" name="vc-primary-3-seg"/>
          <p:cNvSpPr/>
          <p:nvPr/>
        </p:nvSpPr>
        <p:spPr>
          <a:xfrm>
            <a:off x="4914900" y="4171950"/>
            <a:ext cx="1943100" cy="1657350"/>
          </a:xfrm>
          <a:prstGeom prst="rect">
            <a:avLst/>
          </a:prstGeom>
          <a:solidFill>
            <a:srgbClr val="8B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vc-primary-3-name"/>
          <p:cNvSpPr txBox="1"/>
          <p:nvPr/>
        </p:nvSpPr>
        <p:spPr>
          <a:xfrm>
            <a:off x="5048250" y="4286250"/>
            <a:ext cx="1695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Outbound Logistics</a:t>
            </a:r>
          </a:p>
        </p:txBody>
      </p:sp>
      <p:sp>
        <p:nvSpPr>
          <p:cNvPr id="32" name="vc-primary-3-bullets"/>
          <p:cNvSpPr txBox="1"/>
          <p:nvPr/>
        </p:nvSpPr>
        <p:spPr>
          <a:xfrm>
            <a:off x="5048250" y="45339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· Order fulfillment</a:t>
            </a:r>
          </a:p>
        </p:txBody>
      </p:sp>
      <p:sp>
        <p:nvSpPr>
          <p:cNvPr id="33" name="vc-primary-3-bullet-2"/>
          <p:cNvSpPr txBox="1"/>
          <p:nvPr/>
        </p:nvSpPr>
        <p:spPr>
          <a:xfrm>
            <a:off x="5048250" y="46863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· Distribution &amp; delivery</a:t>
            </a:r>
          </a:p>
        </p:txBody>
      </p:sp>
      <p:sp>
        <p:nvSpPr>
          <p:cNvPr id="34" name="vc-primary-4-seg"/>
          <p:cNvSpPr/>
          <p:nvPr/>
        </p:nvSpPr>
        <p:spPr>
          <a:xfrm>
            <a:off x="6877050" y="4171950"/>
            <a:ext cx="1943100" cy="1657350"/>
          </a:xfrm>
          <a:prstGeom prst="rect">
            <a:avLst/>
          </a:prstGeom>
          <a:solidFill>
            <a:srgbClr val="A87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vc-primary-4-name"/>
          <p:cNvSpPr txBox="1"/>
          <p:nvPr/>
        </p:nvSpPr>
        <p:spPr>
          <a:xfrm>
            <a:off x="7010400" y="4286250"/>
            <a:ext cx="1695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Marketing &amp; Sales</a:t>
            </a:r>
          </a:p>
        </p:txBody>
      </p:sp>
      <p:sp>
        <p:nvSpPr>
          <p:cNvPr id="36" name="vc-primary-4-bullets"/>
          <p:cNvSpPr txBox="1"/>
          <p:nvPr/>
        </p:nvSpPr>
        <p:spPr>
          <a:xfrm>
            <a:off x="7010400" y="45339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· Pricing &amp; promotion</a:t>
            </a:r>
          </a:p>
        </p:txBody>
      </p:sp>
      <p:sp>
        <p:nvSpPr>
          <p:cNvPr id="37" name="vc-primary-4-bullet-2"/>
          <p:cNvSpPr txBox="1"/>
          <p:nvPr/>
        </p:nvSpPr>
        <p:spPr>
          <a:xfrm>
            <a:off x="7010400" y="46863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· Channel management</a:t>
            </a:r>
          </a:p>
        </p:txBody>
      </p:sp>
      <p:sp>
        <p:nvSpPr>
          <p:cNvPr id="38" name="vc-primary-5-seg"/>
          <p:cNvSpPr/>
          <p:nvPr/>
        </p:nvSpPr>
        <p:spPr>
          <a:xfrm>
            <a:off x="8839200" y="4171950"/>
            <a:ext cx="1943100" cy="1657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vc-primary-5-name"/>
          <p:cNvSpPr txBox="1"/>
          <p:nvPr/>
        </p:nvSpPr>
        <p:spPr>
          <a:xfrm>
            <a:off x="8972550" y="4286250"/>
            <a:ext cx="1695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Service</a:t>
            </a:r>
          </a:p>
        </p:txBody>
      </p:sp>
      <p:sp>
        <p:nvSpPr>
          <p:cNvPr id="40" name="vc-primary-5-bullets"/>
          <p:cNvSpPr txBox="1"/>
          <p:nvPr/>
        </p:nvSpPr>
        <p:spPr>
          <a:xfrm>
            <a:off x="8972550" y="45339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· After-sales support</a:t>
            </a:r>
          </a:p>
        </p:txBody>
      </p:sp>
      <p:sp>
        <p:nvSpPr>
          <p:cNvPr id="41" name="vc-primary-5-bullet-2"/>
          <p:cNvSpPr txBox="1"/>
          <p:nvPr/>
        </p:nvSpPr>
        <p:spPr>
          <a:xfrm>
            <a:off x="8972550" y="46863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6DCFF"/>
                </a:solidFill>
                <a:latin typeface="Inter"/>
              </a:rPr>
              <a:t>· Repair &amp; warranty</a:t>
            </a:r>
          </a:p>
        </p:txBody>
      </p:sp>
      <p:sp>
        <p:nvSpPr>
          <p:cNvPr id="42" name="vc-margin-box"/>
          <p:cNvSpPr/>
          <p:nvPr/>
        </p:nvSpPr>
        <p:spPr>
          <a:xfrm>
            <a:off x="10877550" y="4171950"/>
            <a:ext cx="666750" cy="1657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vc-margin"/>
          <p:cNvSpPr txBox="1"/>
          <p:nvPr/>
        </p:nvSpPr>
        <p:spPr>
          <a:xfrm>
            <a:off x="10877550" y="4171950"/>
            <a:ext cx="666750" cy="1657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MARGIN</a:t>
            </a:r>
          </a:p>
        </p:txBody>
      </p:sp>
      <p:sp>
        <p:nvSpPr>
          <p:cNvPr id="4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