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Key findings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annotated</a:t>
            </a:r>
            <a:r>
              <a:rPr sz="2400" b="1" i="0">
                <a:solidFill>
                  <a:srgbClr val="1A1A2E"/>
                </a:solidFill>
                <a:latin typeface="Inter"/>
              </a:rPr>
              <a:t> on the source screenshot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66675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Four callout markers highlight critical observations directly on the captured image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87630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hoto-zone"/>
          <p:cNvSpPr/>
          <p:nvPr/>
        </p:nvSpPr>
        <p:spPr>
          <a:xfrm>
            <a:off x="2762250" y="2095500"/>
            <a:ext cx="6667500" cy="3619500"/>
          </a:xfrm>
          <a:prstGeom prst="rect">
            <a:avLst/>
          </a:prstGeom>
          <a:solidFill>
            <a:srgbClr val="D1D5DB"/>
          </a:solidFill>
          <a:ln w="19050">
            <a:solidFill>
              <a:srgbClr val="B0B7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hoto-label"/>
          <p:cNvSpPr txBox="1"/>
          <p:nvPr/>
        </p:nvSpPr>
        <p:spPr>
          <a:xfrm>
            <a:off x="2762250" y="2095500"/>
            <a:ext cx="6667500" cy="3619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B7280"/>
                </a:solidFill>
                <a:latin typeface="Inter"/>
              </a:rPr>
              <a:t>Screenshot / Image</a:t>
            </a:r>
          </a:p>
        </p:txBody>
      </p:sp>
      <p:sp>
        <p:nvSpPr>
          <p:cNvPr id="7" name="pin-1-bg"/>
          <p:cNvSpPr/>
          <p:nvPr/>
        </p:nvSpPr>
        <p:spPr>
          <a:xfrm>
            <a:off x="4114800" y="2990850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pin-1"/>
          <p:cNvSpPr txBox="1"/>
          <p:nvPr/>
        </p:nvSpPr>
        <p:spPr>
          <a:xfrm>
            <a:off x="4114800" y="29908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9" name="pin-2-bg"/>
          <p:cNvSpPr/>
          <p:nvPr/>
        </p:nvSpPr>
        <p:spPr>
          <a:xfrm>
            <a:off x="7581900" y="2847975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pin-2"/>
          <p:cNvSpPr txBox="1"/>
          <p:nvPr/>
        </p:nvSpPr>
        <p:spPr>
          <a:xfrm>
            <a:off x="7581900" y="284797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1" name="pin-3-bg"/>
          <p:cNvSpPr/>
          <p:nvPr/>
        </p:nvSpPr>
        <p:spPr>
          <a:xfrm>
            <a:off x="4381500" y="4514850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n-3"/>
          <p:cNvSpPr txBox="1"/>
          <p:nvPr/>
        </p:nvSpPr>
        <p:spPr>
          <a:xfrm>
            <a:off x="4381500" y="451485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3" name="pin-4-bg"/>
          <p:cNvSpPr/>
          <p:nvPr/>
        </p:nvSpPr>
        <p:spPr>
          <a:xfrm>
            <a:off x="7448550" y="4581525"/>
            <a:ext cx="228600" cy="22860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n-4"/>
          <p:cNvSpPr txBox="1"/>
          <p:nvPr/>
        </p:nvSpPr>
        <p:spPr>
          <a:xfrm>
            <a:off x="7448550" y="4581525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5" name="callout-1-bg"/>
          <p:cNvSpPr/>
          <p:nvPr/>
        </p:nvSpPr>
        <p:spPr>
          <a:xfrm>
            <a:off x="457200" y="1524000"/>
            <a:ext cx="1409700" cy="476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allout-1-num"/>
          <p:cNvSpPr txBox="1"/>
          <p:nvPr/>
        </p:nvSpPr>
        <p:spPr>
          <a:xfrm>
            <a:off x="533400" y="15621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① Navigation bar</a:t>
            </a:r>
          </a:p>
        </p:txBody>
      </p:sp>
      <p:sp>
        <p:nvSpPr>
          <p:cNvPr id="17" name="callout-1-text"/>
          <p:cNvSpPr txBox="1"/>
          <p:nvPr/>
        </p:nvSpPr>
        <p:spPr>
          <a:xfrm>
            <a:off x="533400" y="17145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Primary menu collapses on mobile viewports below 768 px</a:t>
            </a:r>
          </a:p>
        </p:txBody>
      </p:sp>
      <p:sp>
        <p:nvSpPr>
          <p:cNvPr id="18" name="callout-2-bg"/>
          <p:cNvSpPr/>
          <p:nvPr/>
        </p:nvSpPr>
        <p:spPr>
          <a:xfrm>
            <a:off x="10325100" y="1524000"/>
            <a:ext cx="1409700" cy="476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callout-2-num"/>
          <p:cNvSpPr txBox="1"/>
          <p:nvPr/>
        </p:nvSpPr>
        <p:spPr>
          <a:xfrm>
            <a:off x="10401300" y="15621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② Hero banner</a:t>
            </a:r>
          </a:p>
        </p:txBody>
      </p:sp>
      <p:sp>
        <p:nvSpPr>
          <p:cNvPr id="20" name="callout-2-text"/>
          <p:cNvSpPr txBox="1"/>
          <p:nvPr/>
        </p:nvSpPr>
        <p:spPr>
          <a:xfrm>
            <a:off x="10401300" y="17145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CTA button contrast ratio fails WCAG AA at current opacity</a:t>
            </a:r>
          </a:p>
        </p:txBody>
      </p:sp>
      <p:sp>
        <p:nvSpPr>
          <p:cNvPr id="21" name="callout-3-bg"/>
          <p:cNvSpPr/>
          <p:nvPr/>
        </p:nvSpPr>
        <p:spPr>
          <a:xfrm>
            <a:off x="457200" y="5791200"/>
            <a:ext cx="1409700" cy="476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allout-3-num"/>
          <p:cNvSpPr txBox="1"/>
          <p:nvPr/>
        </p:nvSpPr>
        <p:spPr>
          <a:xfrm>
            <a:off x="533400" y="58293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③ Data table</a:t>
            </a:r>
          </a:p>
        </p:txBody>
      </p:sp>
      <p:sp>
        <p:nvSpPr>
          <p:cNvPr id="23" name="callout-3-text"/>
          <p:cNvSpPr txBox="1"/>
          <p:nvPr/>
        </p:nvSpPr>
        <p:spPr>
          <a:xfrm>
            <a:off x="533400" y="59817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Horizontal scroll triggers on columns exceeding viewport width</a:t>
            </a:r>
          </a:p>
        </p:txBody>
      </p:sp>
      <p:sp>
        <p:nvSpPr>
          <p:cNvPr id="24" name="callout-4-bg"/>
          <p:cNvSpPr/>
          <p:nvPr/>
        </p:nvSpPr>
        <p:spPr>
          <a:xfrm>
            <a:off x="10325100" y="5791200"/>
            <a:ext cx="1409700" cy="47625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allout-4-num"/>
          <p:cNvSpPr txBox="1"/>
          <p:nvPr/>
        </p:nvSpPr>
        <p:spPr>
          <a:xfrm>
            <a:off x="10401300" y="5829300"/>
            <a:ext cx="125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④ Footer links</a:t>
            </a:r>
          </a:p>
        </p:txBody>
      </p:sp>
      <p:sp>
        <p:nvSpPr>
          <p:cNvPr id="26" name="callout-4-text"/>
          <p:cNvSpPr txBox="1"/>
          <p:nvPr/>
        </p:nvSpPr>
        <p:spPr>
          <a:xfrm>
            <a:off x="10401300" y="5981700"/>
            <a:ext cx="1257300" cy="2476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Legal disclaimer text renders at 9 px — below minimum legibility</a:t>
            </a:r>
          </a:p>
        </p:txBody>
      </p:sp>
      <p:sp>
        <p:nvSpPr>
          <p:cNvPr id="27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28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29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183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