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AI and UX are critical gaps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must close before Phase 2 begins in Q3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Current team capability mapped against client requirements across 10 delivery areas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2095500"/>
            <a:ext cx="1127760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552450" y="215265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CAPABILITY AREA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3257550" y="215265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REQUIRED LEVEL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5057775" y="215265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LEVEL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6858000" y="215265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GAP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9563100" y="215265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PRIORITY TO CLOSE</a:t>
            </a:r>
          </a:p>
        </p:txBody>
      </p:sp>
      <p:sp>
        <p:nvSpPr>
          <p:cNvPr id="11" name="table-row-1-divider"/>
          <p:cNvSpPr/>
          <p:nvPr/>
        </p:nvSpPr>
        <p:spPr>
          <a:xfrm>
            <a:off x="457200" y="23622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able-row-1-cell-1"/>
          <p:cNvSpPr txBox="1"/>
          <p:nvPr/>
        </p:nvSpPr>
        <p:spPr>
          <a:xfrm>
            <a:off x="590550" y="24574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Architecture</a:t>
            </a:r>
          </a:p>
        </p:txBody>
      </p:sp>
      <p:sp>
        <p:nvSpPr>
          <p:cNvPr id="13" name="table-row-1-cell-2"/>
          <p:cNvSpPr txBox="1"/>
          <p:nvPr/>
        </p:nvSpPr>
        <p:spPr>
          <a:xfrm>
            <a:off x="3686175" y="2457450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14" name="table-row-1-cell-3"/>
          <p:cNvSpPr txBox="1"/>
          <p:nvPr/>
        </p:nvSpPr>
        <p:spPr>
          <a:xfrm>
            <a:off x="5486400" y="2457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15" name="table-row-1-gap-badge"/>
          <p:cNvSpPr txBox="1"/>
          <p:nvPr/>
        </p:nvSpPr>
        <p:spPr>
          <a:xfrm>
            <a:off x="6896100" y="245745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MINOR</a:t>
            </a:r>
          </a:p>
        </p:txBody>
      </p:sp>
      <p:sp>
        <p:nvSpPr>
          <p:cNvPr id="16" name="table-row-1-cell-5"/>
          <p:cNvSpPr txBox="1"/>
          <p:nvPr/>
        </p:nvSpPr>
        <p:spPr>
          <a:xfrm>
            <a:off x="10229850" y="2457450"/>
            <a:ext cx="74295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LOW</a:t>
            </a:r>
          </a:p>
        </p:txBody>
      </p:sp>
      <p:sp>
        <p:nvSpPr>
          <p:cNvPr id="17" name="table-row-2-divider"/>
          <p:cNvSpPr/>
          <p:nvPr/>
        </p:nvSpPr>
        <p:spPr>
          <a:xfrm>
            <a:off x="457200" y="26955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able-row-2-cell-1"/>
          <p:cNvSpPr txBox="1"/>
          <p:nvPr/>
        </p:nvSpPr>
        <p:spPr>
          <a:xfrm>
            <a:off x="590550" y="27908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Engineering</a:t>
            </a:r>
          </a:p>
        </p:txBody>
      </p:sp>
      <p:sp>
        <p:nvSpPr>
          <p:cNvPr id="19" name="table-row-2-cell-2"/>
          <p:cNvSpPr txBox="1"/>
          <p:nvPr/>
        </p:nvSpPr>
        <p:spPr>
          <a:xfrm>
            <a:off x="3686175" y="27908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0" name="table-row-2-cell-3"/>
          <p:cNvSpPr txBox="1"/>
          <p:nvPr/>
        </p:nvSpPr>
        <p:spPr>
          <a:xfrm>
            <a:off x="5486400" y="27908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1" name="table-row-2-gap-badge"/>
          <p:cNvSpPr txBox="1"/>
          <p:nvPr/>
        </p:nvSpPr>
        <p:spPr>
          <a:xfrm>
            <a:off x="6896100" y="279082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22" name="table-row-2-cell-5"/>
          <p:cNvSpPr txBox="1"/>
          <p:nvPr/>
        </p:nvSpPr>
        <p:spPr>
          <a:xfrm>
            <a:off x="10229850" y="279082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23" name="table-row-3-bg"/>
          <p:cNvSpPr/>
          <p:nvPr/>
        </p:nvSpPr>
        <p:spPr>
          <a:xfrm>
            <a:off x="457200" y="3028950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3-flag"/>
          <p:cNvSpPr/>
          <p:nvPr/>
        </p:nvSpPr>
        <p:spPr>
          <a:xfrm>
            <a:off x="457200" y="3028950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3-divider"/>
          <p:cNvSpPr/>
          <p:nvPr/>
        </p:nvSpPr>
        <p:spPr>
          <a:xfrm>
            <a:off x="457200" y="30289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3-cell-1"/>
          <p:cNvSpPr txBox="1"/>
          <p:nvPr/>
        </p:nvSpPr>
        <p:spPr>
          <a:xfrm>
            <a:off x="590550" y="31242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AI/ML Production</a:t>
            </a:r>
          </a:p>
        </p:txBody>
      </p:sp>
      <p:sp>
        <p:nvSpPr>
          <p:cNvPr id="27" name="table-row-3-cell-2"/>
          <p:cNvSpPr txBox="1"/>
          <p:nvPr/>
        </p:nvSpPr>
        <p:spPr>
          <a:xfrm>
            <a:off x="3686175" y="3124200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8" name="table-row-3-cell-3"/>
          <p:cNvSpPr txBox="1"/>
          <p:nvPr/>
        </p:nvSpPr>
        <p:spPr>
          <a:xfrm>
            <a:off x="5486400" y="3124200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29" name="table-row-3-gap-badge"/>
          <p:cNvSpPr txBox="1"/>
          <p:nvPr/>
        </p:nvSpPr>
        <p:spPr>
          <a:xfrm>
            <a:off x="6896100" y="3124200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CRITICAL</a:t>
            </a:r>
          </a:p>
        </p:txBody>
      </p:sp>
      <p:sp>
        <p:nvSpPr>
          <p:cNvPr id="30" name="table-row-3-cell-5"/>
          <p:cNvSpPr txBox="1"/>
          <p:nvPr/>
        </p:nvSpPr>
        <p:spPr>
          <a:xfrm>
            <a:off x="10229850" y="3124200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31" name="table-row-4-divider"/>
          <p:cNvSpPr/>
          <p:nvPr/>
        </p:nvSpPr>
        <p:spPr>
          <a:xfrm>
            <a:off x="457200" y="33623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4-cell-1"/>
          <p:cNvSpPr txBox="1"/>
          <p:nvPr/>
        </p:nvSpPr>
        <p:spPr>
          <a:xfrm>
            <a:off x="590550" y="34575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Management</a:t>
            </a:r>
          </a:p>
        </p:txBody>
      </p:sp>
      <p:sp>
        <p:nvSpPr>
          <p:cNvPr id="33" name="table-row-4-cell-2"/>
          <p:cNvSpPr txBox="1"/>
          <p:nvPr/>
        </p:nvSpPr>
        <p:spPr>
          <a:xfrm>
            <a:off x="3686175" y="345757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34" name="table-row-4-cell-3"/>
          <p:cNvSpPr txBox="1"/>
          <p:nvPr/>
        </p:nvSpPr>
        <p:spPr>
          <a:xfrm>
            <a:off x="5486400" y="345757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35" name="table-row-4-gap-badge"/>
          <p:cNvSpPr txBox="1"/>
          <p:nvPr/>
        </p:nvSpPr>
        <p:spPr>
          <a:xfrm>
            <a:off x="6896100" y="345757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36" name="table-row-4-cell-5"/>
          <p:cNvSpPr txBox="1"/>
          <p:nvPr/>
        </p:nvSpPr>
        <p:spPr>
          <a:xfrm>
            <a:off x="10229850" y="345757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37" name="table-row-5-divider"/>
          <p:cNvSpPr/>
          <p:nvPr/>
        </p:nvSpPr>
        <p:spPr>
          <a:xfrm>
            <a:off x="457200" y="36957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5-cell-1"/>
          <p:cNvSpPr txBox="1"/>
          <p:nvPr/>
        </p:nvSpPr>
        <p:spPr>
          <a:xfrm>
            <a:off x="590550" y="37909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 Security</a:t>
            </a:r>
          </a:p>
        </p:txBody>
      </p:sp>
      <p:sp>
        <p:nvSpPr>
          <p:cNvPr id="39" name="table-row-5-cell-2"/>
          <p:cNvSpPr txBox="1"/>
          <p:nvPr/>
        </p:nvSpPr>
        <p:spPr>
          <a:xfrm>
            <a:off x="3686175" y="379095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40" name="table-row-5-cell-3"/>
          <p:cNvSpPr txBox="1"/>
          <p:nvPr/>
        </p:nvSpPr>
        <p:spPr>
          <a:xfrm>
            <a:off x="5486400" y="37909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41" name="table-row-5-gap-badge"/>
          <p:cNvSpPr txBox="1"/>
          <p:nvPr/>
        </p:nvSpPr>
        <p:spPr>
          <a:xfrm>
            <a:off x="6896100" y="379095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MODERATE</a:t>
            </a:r>
          </a:p>
        </p:txBody>
      </p:sp>
      <p:sp>
        <p:nvSpPr>
          <p:cNvPr id="42" name="table-row-5-cell-5"/>
          <p:cNvSpPr txBox="1"/>
          <p:nvPr/>
        </p:nvSpPr>
        <p:spPr>
          <a:xfrm>
            <a:off x="10229850" y="3790950"/>
            <a:ext cx="74295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MEDIUM</a:t>
            </a:r>
          </a:p>
        </p:txBody>
      </p:sp>
      <p:sp>
        <p:nvSpPr>
          <p:cNvPr id="43" name="table-row-6-divider"/>
          <p:cNvSpPr/>
          <p:nvPr/>
        </p:nvSpPr>
        <p:spPr>
          <a:xfrm>
            <a:off x="457200" y="40290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6-cell-1"/>
          <p:cNvSpPr txBox="1"/>
          <p:nvPr/>
        </p:nvSpPr>
        <p:spPr>
          <a:xfrm>
            <a:off x="590550" y="41243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Delivery</a:t>
            </a:r>
          </a:p>
        </p:txBody>
      </p:sp>
      <p:sp>
        <p:nvSpPr>
          <p:cNvPr id="45" name="table-row-6-cell-2"/>
          <p:cNvSpPr txBox="1"/>
          <p:nvPr/>
        </p:nvSpPr>
        <p:spPr>
          <a:xfrm>
            <a:off x="3686175" y="41243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6" name="table-row-6-cell-3"/>
          <p:cNvSpPr txBox="1"/>
          <p:nvPr/>
        </p:nvSpPr>
        <p:spPr>
          <a:xfrm>
            <a:off x="5486400" y="41243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7" name="table-row-6-gap-badge"/>
          <p:cNvSpPr txBox="1"/>
          <p:nvPr/>
        </p:nvSpPr>
        <p:spPr>
          <a:xfrm>
            <a:off x="6896100" y="412432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48" name="table-row-6-cell-5"/>
          <p:cNvSpPr txBox="1"/>
          <p:nvPr/>
        </p:nvSpPr>
        <p:spPr>
          <a:xfrm>
            <a:off x="10229850" y="412432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49" name="table-row-7-divider"/>
          <p:cNvSpPr/>
          <p:nvPr/>
        </p:nvSpPr>
        <p:spPr>
          <a:xfrm>
            <a:off x="457200" y="43624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7-cell-1"/>
          <p:cNvSpPr txBox="1"/>
          <p:nvPr/>
        </p:nvSpPr>
        <p:spPr>
          <a:xfrm>
            <a:off x="590550" y="4457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Business Analysis</a:t>
            </a:r>
          </a:p>
        </p:txBody>
      </p:sp>
      <p:sp>
        <p:nvSpPr>
          <p:cNvPr id="51" name="table-row-7-cell-2"/>
          <p:cNvSpPr txBox="1"/>
          <p:nvPr/>
        </p:nvSpPr>
        <p:spPr>
          <a:xfrm>
            <a:off x="3686175" y="445770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52" name="table-row-7-cell-3"/>
          <p:cNvSpPr txBox="1"/>
          <p:nvPr/>
        </p:nvSpPr>
        <p:spPr>
          <a:xfrm>
            <a:off x="5486400" y="44577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53" name="table-row-7-gap-badge"/>
          <p:cNvSpPr txBox="1"/>
          <p:nvPr/>
        </p:nvSpPr>
        <p:spPr>
          <a:xfrm>
            <a:off x="6896100" y="445770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MINOR</a:t>
            </a:r>
          </a:p>
        </p:txBody>
      </p:sp>
      <p:sp>
        <p:nvSpPr>
          <p:cNvPr id="54" name="table-row-7-cell-5"/>
          <p:cNvSpPr txBox="1"/>
          <p:nvPr/>
        </p:nvSpPr>
        <p:spPr>
          <a:xfrm>
            <a:off x="10229850" y="4457700"/>
            <a:ext cx="74295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LOW</a:t>
            </a:r>
          </a:p>
        </p:txBody>
      </p:sp>
      <p:sp>
        <p:nvSpPr>
          <p:cNvPr id="55" name="table-row-8-bg"/>
          <p:cNvSpPr/>
          <p:nvPr/>
        </p:nvSpPr>
        <p:spPr>
          <a:xfrm>
            <a:off x="457200" y="4695825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8-flag"/>
          <p:cNvSpPr/>
          <p:nvPr/>
        </p:nvSpPr>
        <p:spPr>
          <a:xfrm>
            <a:off x="457200" y="4695825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8-divider"/>
          <p:cNvSpPr/>
          <p:nvPr/>
        </p:nvSpPr>
        <p:spPr>
          <a:xfrm>
            <a:off x="457200" y="46958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8-cell-1"/>
          <p:cNvSpPr txBox="1"/>
          <p:nvPr/>
        </p:nvSpPr>
        <p:spPr>
          <a:xfrm>
            <a:off x="590550" y="47910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UX / Design</a:t>
            </a:r>
          </a:p>
        </p:txBody>
      </p:sp>
      <p:sp>
        <p:nvSpPr>
          <p:cNvPr id="59" name="table-row-8-cell-2"/>
          <p:cNvSpPr txBox="1"/>
          <p:nvPr/>
        </p:nvSpPr>
        <p:spPr>
          <a:xfrm>
            <a:off x="3686175" y="479107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60" name="table-row-8-cell-3"/>
          <p:cNvSpPr txBox="1"/>
          <p:nvPr/>
        </p:nvSpPr>
        <p:spPr>
          <a:xfrm>
            <a:off x="5486400" y="4791075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61" name="table-row-8-gap-badge"/>
          <p:cNvSpPr txBox="1"/>
          <p:nvPr/>
        </p:nvSpPr>
        <p:spPr>
          <a:xfrm>
            <a:off x="6896100" y="4791075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SIGNIFICANT</a:t>
            </a:r>
          </a:p>
        </p:txBody>
      </p:sp>
      <p:sp>
        <p:nvSpPr>
          <p:cNvPr id="62" name="table-row-8-cell-5"/>
          <p:cNvSpPr txBox="1"/>
          <p:nvPr/>
        </p:nvSpPr>
        <p:spPr>
          <a:xfrm>
            <a:off x="10229850" y="4791075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63" name="table-row-9-divider"/>
          <p:cNvSpPr/>
          <p:nvPr/>
        </p:nvSpPr>
        <p:spPr>
          <a:xfrm>
            <a:off x="457200" y="50292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9-cell-1"/>
          <p:cNvSpPr txBox="1"/>
          <p:nvPr/>
        </p:nvSpPr>
        <p:spPr>
          <a:xfrm>
            <a:off x="590550" y="51244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Financial Modeling</a:t>
            </a:r>
          </a:p>
        </p:txBody>
      </p:sp>
      <p:sp>
        <p:nvSpPr>
          <p:cNvPr id="65" name="table-row-9-cell-2"/>
          <p:cNvSpPr txBox="1"/>
          <p:nvPr/>
        </p:nvSpPr>
        <p:spPr>
          <a:xfrm>
            <a:off x="3686175" y="5124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6" name="table-row-9-cell-3"/>
          <p:cNvSpPr txBox="1"/>
          <p:nvPr/>
        </p:nvSpPr>
        <p:spPr>
          <a:xfrm>
            <a:off x="5486400" y="5124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7" name="table-row-9-gap-badge"/>
          <p:cNvSpPr txBox="1"/>
          <p:nvPr/>
        </p:nvSpPr>
        <p:spPr>
          <a:xfrm>
            <a:off x="6896100" y="5124450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68" name="table-row-9-cell-5"/>
          <p:cNvSpPr txBox="1"/>
          <p:nvPr/>
        </p:nvSpPr>
        <p:spPr>
          <a:xfrm>
            <a:off x="10229850" y="5124450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69" name="table-row-10-bg"/>
          <p:cNvSpPr/>
          <p:nvPr/>
        </p:nvSpPr>
        <p:spPr>
          <a:xfrm>
            <a:off x="457200" y="5362575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10-flag"/>
          <p:cNvSpPr/>
          <p:nvPr/>
        </p:nvSpPr>
        <p:spPr>
          <a:xfrm>
            <a:off x="457200" y="5362575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10-divider"/>
          <p:cNvSpPr/>
          <p:nvPr/>
        </p:nvSpPr>
        <p:spPr>
          <a:xfrm>
            <a:off x="457200" y="53625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10-cell-1"/>
          <p:cNvSpPr txBox="1"/>
          <p:nvPr/>
        </p:nvSpPr>
        <p:spPr>
          <a:xfrm>
            <a:off x="590550" y="54578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Regulatory / Compliance</a:t>
            </a:r>
          </a:p>
        </p:txBody>
      </p:sp>
      <p:sp>
        <p:nvSpPr>
          <p:cNvPr id="73" name="table-row-10-cell-2"/>
          <p:cNvSpPr txBox="1"/>
          <p:nvPr/>
        </p:nvSpPr>
        <p:spPr>
          <a:xfrm>
            <a:off x="3686175" y="545782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74" name="table-row-10-cell-3"/>
          <p:cNvSpPr txBox="1"/>
          <p:nvPr/>
        </p:nvSpPr>
        <p:spPr>
          <a:xfrm>
            <a:off x="5486400" y="5457825"/>
            <a:ext cx="742950" cy="1714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75" name="table-row-10-gap-badge"/>
          <p:cNvSpPr txBox="1"/>
          <p:nvPr/>
        </p:nvSpPr>
        <p:spPr>
          <a:xfrm>
            <a:off x="6896100" y="5457825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CRITICAL</a:t>
            </a:r>
          </a:p>
        </p:txBody>
      </p:sp>
      <p:sp>
        <p:nvSpPr>
          <p:cNvPr id="76" name="table-row-10-cell-5"/>
          <p:cNvSpPr txBox="1"/>
          <p:nvPr/>
        </p:nvSpPr>
        <p:spPr>
          <a:xfrm>
            <a:off x="10229850" y="5457825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77" name="convergence-bg"/>
          <p:cNvSpPr/>
          <p:nvPr/>
        </p:nvSpPr>
        <p:spPr>
          <a:xfrm>
            <a:off x="457200" y="5848350"/>
            <a:ext cx="11277600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nvergence-mark"/>
          <p:cNvSpPr txBox="1"/>
          <p:nvPr/>
        </p:nvSpPr>
        <p:spPr>
          <a:xfrm>
            <a:off x="571500" y="59436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DELIVERY RISK</a:t>
            </a:r>
          </a:p>
        </p:txBody>
      </p:sp>
      <p:sp>
        <p:nvSpPr>
          <p:cNvPr id="79" name="convergence"/>
          <p:cNvSpPr txBox="1"/>
          <p:nvPr/>
        </p:nvSpPr>
        <p:spPr>
          <a:xfrm>
            <a:off x="1657350" y="5848350"/>
            <a:ext cx="100774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 critical gaps — training plan in progress; delivery risk remains until Q3 2025. AI/ML and Compliance require external hires or accelerated upskilling before Phase 2 kickoff.</a:t>
            </a:r>
          </a:p>
        </p:txBody>
      </p:sp>
      <p:sp>
        <p:nvSpPr>
          <p:cNvPr id="8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