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AI adoption is accelerating —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but value capture remains uneven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Survey of 1,200 enterprise leaders across 14 industries · Q1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divider"/>
          <p:cNvSpPr/>
          <p:nvPr/>
        </p:nvSpPr>
        <p:spPr>
          <a:xfrm>
            <a:off x="4914900" y="2381250"/>
            <a:ext cx="38100" cy="392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quote-decoration"/>
          <p:cNvSpPr txBox="1"/>
          <p:nvPr/>
        </p:nvSpPr>
        <p:spPr>
          <a:xfrm>
            <a:off x="533400" y="2190750"/>
            <a:ext cx="762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5400" b="1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7" name="pull-quote"/>
          <p:cNvSpPr txBox="1"/>
          <p:nvPr/>
        </p:nvSpPr>
        <p:spPr>
          <a:xfrm>
            <a:off x="533400" y="2952750"/>
            <a:ext cx="4152900" cy="2095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0" i="1">
                <a:solidFill>
                  <a:srgbClr val="2D0A4E"/>
                </a:solidFill>
                <a:latin typeface="Inter"/>
              </a:rPr>
              <a:t>Only one in five enterprises has moved beyond pilot programmes to capture measurable, enterprise-wide value from AI investments.</a:t>
            </a:r>
          </a:p>
        </p:txBody>
      </p:sp>
      <p:sp>
        <p:nvSpPr>
          <p:cNvPr id="8" name="quote-attribution"/>
          <p:cNvSpPr txBox="1"/>
          <p:nvPr/>
        </p:nvSpPr>
        <p:spPr>
          <a:xfrm>
            <a:off x="533400" y="5143500"/>
            <a:ext cx="4152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— Global AI Readiness Index, Accenture Research 2026</a:t>
            </a:r>
          </a:p>
        </p:txBody>
      </p:sp>
      <p:sp>
        <p:nvSpPr>
          <p:cNvPr id="9" name="bar-1-label"/>
          <p:cNvSpPr txBox="1"/>
          <p:nvPr/>
        </p:nvSpPr>
        <p:spPr>
          <a:xfrm>
            <a:off x="5143500" y="23812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Intelligent Automation</a:t>
            </a:r>
          </a:p>
        </p:txBody>
      </p:sp>
      <p:sp>
        <p:nvSpPr>
          <p:cNvPr id="10" name="bar-1"/>
          <p:cNvSpPr/>
          <p:nvPr/>
        </p:nvSpPr>
        <p:spPr>
          <a:xfrm>
            <a:off x="6477000" y="2381250"/>
            <a:ext cx="3590925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bar-1-value"/>
          <p:cNvSpPr txBox="1"/>
          <p:nvPr/>
        </p:nvSpPr>
        <p:spPr>
          <a:xfrm>
            <a:off x="10144125" y="23812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78%</a:t>
            </a:r>
          </a:p>
        </p:txBody>
      </p:sp>
      <p:sp>
        <p:nvSpPr>
          <p:cNvPr id="12" name="bar-2-label"/>
          <p:cNvSpPr txBox="1"/>
          <p:nvPr/>
        </p:nvSpPr>
        <p:spPr>
          <a:xfrm>
            <a:off x="5143500" y="274320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Generative AI Pilots</a:t>
            </a:r>
          </a:p>
        </p:txBody>
      </p:sp>
      <p:sp>
        <p:nvSpPr>
          <p:cNvPr id="13" name="bar-2"/>
          <p:cNvSpPr/>
          <p:nvPr/>
        </p:nvSpPr>
        <p:spPr>
          <a:xfrm>
            <a:off x="6477000" y="2743200"/>
            <a:ext cx="280987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ar-2-value"/>
          <p:cNvSpPr txBox="1"/>
          <p:nvPr/>
        </p:nvSpPr>
        <p:spPr>
          <a:xfrm>
            <a:off x="9363075" y="27432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61%</a:t>
            </a:r>
          </a:p>
        </p:txBody>
      </p:sp>
      <p:sp>
        <p:nvSpPr>
          <p:cNvPr id="15" name="bar-3-label"/>
          <p:cNvSpPr txBox="1"/>
          <p:nvPr/>
        </p:nvSpPr>
        <p:spPr>
          <a:xfrm>
            <a:off x="5143500" y="31051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Predictive Analytics</a:t>
            </a:r>
          </a:p>
        </p:txBody>
      </p:sp>
      <p:sp>
        <p:nvSpPr>
          <p:cNvPr id="16" name="bar-3"/>
          <p:cNvSpPr/>
          <p:nvPr/>
        </p:nvSpPr>
        <p:spPr>
          <a:xfrm>
            <a:off x="6477000" y="3105150"/>
            <a:ext cx="24860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bar-3-value"/>
          <p:cNvSpPr txBox="1"/>
          <p:nvPr/>
        </p:nvSpPr>
        <p:spPr>
          <a:xfrm>
            <a:off x="9039225" y="31051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54%</a:t>
            </a:r>
          </a:p>
        </p:txBody>
      </p:sp>
      <p:sp>
        <p:nvSpPr>
          <p:cNvPr id="18" name="bar-4-label"/>
          <p:cNvSpPr txBox="1"/>
          <p:nvPr/>
        </p:nvSpPr>
        <p:spPr>
          <a:xfrm>
            <a:off x="5143500" y="346710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Decision Intelligence</a:t>
            </a:r>
          </a:p>
        </p:txBody>
      </p:sp>
      <p:sp>
        <p:nvSpPr>
          <p:cNvPr id="19" name="bar-4"/>
          <p:cNvSpPr/>
          <p:nvPr/>
        </p:nvSpPr>
        <p:spPr>
          <a:xfrm>
            <a:off x="6477000" y="3467100"/>
            <a:ext cx="18859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bar-4-value"/>
          <p:cNvSpPr txBox="1"/>
          <p:nvPr/>
        </p:nvSpPr>
        <p:spPr>
          <a:xfrm>
            <a:off x="8439150" y="34671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41%</a:t>
            </a:r>
          </a:p>
        </p:txBody>
      </p:sp>
      <p:sp>
        <p:nvSpPr>
          <p:cNvPr id="21" name="bar-5-label"/>
          <p:cNvSpPr txBox="1"/>
          <p:nvPr/>
        </p:nvSpPr>
        <p:spPr>
          <a:xfrm>
            <a:off x="5143500" y="38290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NLP / Conversational</a:t>
            </a:r>
          </a:p>
        </p:txBody>
      </p:sp>
      <p:sp>
        <p:nvSpPr>
          <p:cNvPr id="22" name="bar-5"/>
          <p:cNvSpPr/>
          <p:nvPr/>
        </p:nvSpPr>
        <p:spPr>
          <a:xfrm>
            <a:off x="6477000" y="3829050"/>
            <a:ext cx="174307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bar-5-value"/>
          <p:cNvSpPr txBox="1"/>
          <p:nvPr/>
        </p:nvSpPr>
        <p:spPr>
          <a:xfrm>
            <a:off x="8296275" y="38290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38%</a:t>
            </a:r>
          </a:p>
        </p:txBody>
      </p:sp>
      <p:sp>
        <p:nvSpPr>
          <p:cNvPr id="24" name="bar-6-label"/>
          <p:cNvSpPr txBox="1"/>
          <p:nvPr/>
        </p:nvSpPr>
        <p:spPr>
          <a:xfrm>
            <a:off x="5143500" y="419100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Computer Vision</a:t>
            </a:r>
          </a:p>
        </p:txBody>
      </p:sp>
      <p:sp>
        <p:nvSpPr>
          <p:cNvPr id="25" name="bar-6"/>
          <p:cNvSpPr/>
          <p:nvPr/>
        </p:nvSpPr>
        <p:spPr>
          <a:xfrm>
            <a:off x="6477000" y="4191000"/>
            <a:ext cx="133350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bar-6-value"/>
          <p:cNvSpPr txBox="1"/>
          <p:nvPr/>
        </p:nvSpPr>
        <p:spPr>
          <a:xfrm>
            <a:off x="7886700" y="41910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29%</a:t>
            </a:r>
          </a:p>
        </p:txBody>
      </p:sp>
      <p:sp>
        <p:nvSpPr>
          <p:cNvPr id="27" name="bar-7-label"/>
          <p:cNvSpPr txBox="1"/>
          <p:nvPr/>
        </p:nvSpPr>
        <p:spPr>
          <a:xfrm>
            <a:off x="5143500" y="455295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AI-Powered R&amp;D</a:t>
            </a:r>
          </a:p>
        </p:txBody>
      </p:sp>
      <p:sp>
        <p:nvSpPr>
          <p:cNvPr id="28" name="bar-7"/>
          <p:cNvSpPr/>
          <p:nvPr/>
        </p:nvSpPr>
        <p:spPr>
          <a:xfrm>
            <a:off x="6477000" y="4552950"/>
            <a:ext cx="1009650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ar-7-value"/>
          <p:cNvSpPr txBox="1"/>
          <p:nvPr/>
        </p:nvSpPr>
        <p:spPr>
          <a:xfrm>
            <a:off x="7562850" y="455295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22%</a:t>
            </a:r>
          </a:p>
        </p:txBody>
      </p:sp>
      <p:sp>
        <p:nvSpPr>
          <p:cNvPr id="30" name="bar-8-label"/>
          <p:cNvSpPr txBox="1"/>
          <p:nvPr/>
        </p:nvSpPr>
        <p:spPr>
          <a:xfrm>
            <a:off x="5143500" y="4914900"/>
            <a:ext cx="1257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Autonomous Agents</a:t>
            </a:r>
          </a:p>
        </p:txBody>
      </p:sp>
      <p:sp>
        <p:nvSpPr>
          <p:cNvPr id="31" name="bar-8"/>
          <p:cNvSpPr/>
          <p:nvPr/>
        </p:nvSpPr>
        <p:spPr>
          <a:xfrm>
            <a:off x="6477000" y="4914900"/>
            <a:ext cx="504825" cy="2095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bar-8-value"/>
          <p:cNvSpPr txBox="1"/>
          <p:nvPr/>
        </p:nvSpPr>
        <p:spPr>
          <a:xfrm>
            <a:off x="7058025" y="4914900"/>
            <a:ext cx="476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11%</a:t>
            </a:r>
          </a:p>
        </p:txBody>
      </p:sp>
      <p:sp>
        <p:nvSpPr>
          <p:cNvPr id="33" name="callout-1-bg"/>
          <p:cNvSpPr/>
          <p:nvPr/>
        </p:nvSpPr>
        <p:spPr>
          <a:xfrm>
            <a:off x="5219700" y="2457450"/>
            <a:ext cx="1428750" cy="342900"/>
          </a:xfrm>
          <a:prstGeom prst="rect">
            <a:avLst/>
          </a:prstGeom>
          <a:solidFill>
            <a:srgbClr val="FBF8FE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allout-1-title"/>
          <p:cNvSpPr txBox="1"/>
          <p:nvPr/>
        </p:nvSpPr>
        <p:spPr>
          <a:xfrm>
            <a:off x="5219700" y="249555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Highest adoption</a:t>
            </a:r>
          </a:p>
        </p:txBody>
      </p:sp>
      <p:sp>
        <p:nvSpPr>
          <p:cNvPr id="35" name="callout-1-sub"/>
          <p:cNvSpPr txBox="1"/>
          <p:nvPr/>
        </p:nvSpPr>
        <p:spPr>
          <a:xfrm>
            <a:off x="5219700" y="262890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mature ROI story</a:t>
            </a:r>
          </a:p>
        </p:txBody>
      </p:sp>
      <p:sp>
        <p:nvSpPr>
          <p:cNvPr id="36" name="callout-2-bg"/>
          <p:cNvSpPr/>
          <p:nvPr/>
        </p:nvSpPr>
        <p:spPr>
          <a:xfrm>
            <a:off x="8763000" y="3714750"/>
            <a:ext cx="1428750" cy="285750"/>
          </a:xfrm>
          <a:prstGeom prst="rect">
            <a:avLst/>
          </a:prstGeom>
          <a:solidFill>
            <a:srgbClr val="FBF8FE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allout-2-title"/>
          <p:cNvSpPr txBox="1"/>
          <p:nvPr/>
        </p:nvSpPr>
        <p:spPr>
          <a:xfrm>
            <a:off x="8763000" y="373380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Emerging priority</a:t>
            </a:r>
          </a:p>
        </p:txBody>
      </p:sp>
      <p:sp>
        <p:nvSpPr>
          <p:cNvPr id="38" name="callout-2-sub"/>
          <p:cNvSpPr txBox="1"/>
          <p:nvPr/>
        </p:nvSpPr>
        <p:spPr>
          <a:xfrm>
            <a:off x="8763000" y="3867150"/>
            <a:ext cx="1428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C-suite investment rising</a:t>
            </a:r>
          </a:p>
        </p:txBody>
      </p:sp>
      <p:sp>
        <p:nvSpPr>
          <p:cNvPr id="39" name="callout-3-bg"/>
          <p:cNvSpPr/>
          <p:nvPr/>
        </p:nvSpPr>
        <p:spPr>
          <a:xfrm>
            <a:off x="8001000" y="4171950"/>
            <a:ext cx="1428750" cy="285750"/>
          </a:xfrm>
          <a:prstGeom prst="rect">
            <a:avLst/>
          </a:prstGeom>
          <a:solidFill>
            <a:srgbClr val="FBF8FE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allout-3-title"/>
          <p:cNvSpPr txBox="1"/>
          <p:nvPr/>
        </p:nvSpPr>
        <p:spPr>
          <a:xfrm>
            <a:off x="8001000" y="4191000"/>
            <a:ext cx="14287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Specialist niche</a:t>
            </a:r>
          </a:p>
        </p:txBody>
      </p:sp>
      <p:sp>
        <p:nvSpPr>
          <p:cNvPr id="41" name="callout-3-sub"/>
          <p:cNvSpPr txBox="1"/>
          <p:nvPr/>
        </p:nvSpPr>
        <p:spPr>
          <a:xfrm>
            <a:off x="8001000" y="4324350"/>
            <a:ext cx="14287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manufacturing-led growth</a:t>
            </a:r>
          </a:p>
        </p:txBody>
      </p:sp>
      <p:sp>
        <p:nvSpPr>
          <p:cNvPr id="42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3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4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