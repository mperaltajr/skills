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eyebrow"/>
          <p:cNvSpPr txBox="1"/>
          <p:nvPr/>
        </p:nvSpPr>
        <p:spPr>
          <a:xfrm>
            <a:off x="609600" y="64770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NEXT STEPS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1905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700" b="1" i="0">
                <a:solidFill>
                  <a:srgbClr val="FFFFFF"/>
                </a:solidFill>
                <a:latin typeface="Inter"/>
              </a:rPr>
              <a:t>We recommend </a:t>
            </a:r>
            <a:r>
              <a:rPr sz="2700" b="1" i="0">
                <a:solidFill>
                  <a:srgbClr val="C780FF"/>
                </a:solidFill>
                <a:latin typeface="Inter"/>
              </a:rPr>
              <a:t>moving forward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subtitle"/>
          <p:cNvSpPr txBox="1"/>
          <p:nvPr/>
        </p:nvSpPr>
        <p:spPr>
          <a:xfrm>
            <a:off x="609600" y="1028700"/>
            <a:ext cx="5715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/>
            </a:r>
          </a:p>
        </p:txBody>
      </p:sp>
      <p:sp>
        <p:nvSpPr>
          <p:cNvPr id="6" name="step-1-bg"/>
          <p:cNvSpPr/>
          <p:nvPr/>
        </p:nvSpPr>
        <p:spPr>
          <a:xfrm>
            <a:off x="609600" y="2286000"/>
            <a:ext cx="3524250" cy="2286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step-1-num-bg"/>
          <p:cNvSpPr/>
          <p:nvPr/>
        </p:nvSpPr>
        <p:spPr>
          <a:xfrm>
            <a:off x="819150" y="2495550"/>
            <a:ext cx="419100" cy="4191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step-1-num"/>
          <p:cNvSpPr txBox="1"/>
          <p:nvPr/>
        </p:nvSpPr>
        <p:spPr>
          <a:xfrm>
            <a:off x="819150" y="249555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9" name="step-1-title"/>
          <p:cNvSpPr txBox="1"/>
          <p:nvPr/>
        </p:nvSpPr>
        <p:spPr>
          <a:xfrm>
            <a:off x="819150" y="3009900"/>
            <a:ext cx="3105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Align Stakeholders</a:t>
            </a:r>
          </a:p>
        </p:txBody>
      </p:sp>
      <p:sp>
        <p:nvSpPr>
          <p:cNvPr id="10" name="step-1-when-bg"/>
          <p:cNvSpPr/>
          <p:nvPr/>
        </p:nvSpPr>
        <p:spPr>
          <a:xfrm>
            <a:off x="819150" y="3333750"/>
            <a:ext cx="952500" cy="209550"/>
          </a:xfrm>
          <a:prstGeom prst="rect">
            <a:avLst/>
          </a:prstGeom>
          <a:solidFill>
            <a:srgbClr val="5C2D87"/>
          </a:solidFill>
          <a:ln w="6350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step-1-when"/>
          <p:cNvSpPr txBox="1"/>
          <p:nvPr/>
        </p:nvSpPr>
        <p:spPr>
          <a:xfrm>
            <a:off x="819150" y="3333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THIS WEEK</a:t>
            </a:r>
          </a:p>
        </p:txBody>
      </p:sp>
      <p:sp>
        <p:nvSpPr>
          <p:cNvPr id="12" name="step-1-action"/>
          <p:cNvSpPr txBox="1"/>
          <p:nvPr/>
        </p:nvSpPr>
        <p:spPr>
          <a:xfrm>
            <a:off x="819150" y="3657600"/>
            <a:ext cx="3105150" cy="800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Schedule executive sponsor review and confirm decision authority for program go-ahead.</a:t>
            </a:r>
          </a:p>
        </p:txBody>
      </p:sp>
      <p:sp>
        <p:nvSpPr>
          <p:cNvPr id="13" name="step-2-bg"/>
          <p:cNvSpPr/>
          <p:nvPr/>
        </p:nvSpPr>
        <p:spPr>
          <a:xfrm>
            <a:off x="4324350" y="2286000"/>
            <a:ext cx="3524250" cy="2286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step-2-num-bg"/>
          <p:cNvSpPr/>
          <p:nvPr/>
        </p:nvSpPr>
        <p:spPr>
          <a:xfrm>
            <a:off x="4533900" y="2495550"/>
            <a:ext cx="419100" cy="4191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step-2-num"/>
          <p:cNvSpPr txBox="1"/>
          <p:nvPr/>
        </p:nvSpPr>
        <p:spPr>
          <a:xfrm>
            <a:off x="4533900" y="249555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6" name="step-2-title"/>
          <p:cNvSpPr txBox="1"/>
          <p:nvPr/>
        </p:nvSpPr>
        <p:spPr>
          <a:xfrm>
            <a:off x="4533900" y="3009900"/>
            <a:ext cx="3105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Finalize Scope &amp; Team</a:t>
            </a:r>
          </a:p>
        </p:txBody>
      </p:sp>
      <p:sp>
        <p:nvSpPr>
          <p:cNvPr id="17" name="step-2-when-bg"/>
          <p:cNvSpPr/>
          <p:nvPr/>
        </p:nvSpPr>
        <p:spPr>
          <a:xfrm>
            <a:off x="4533900" y="3333750"/>
            <a:ext cx="952500" cy="209550"/>
          </a:xfrm>
          <a:prstGeom prst="rect">
            <a:avLst/>
          </a:prstGeom>
          <a:solidFill>
            <a:srgbClr val="5C2D87"/>
          </a:solidFill>
          <a:ln w="6350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step-2-when"/>
          <p:cNvSpPr txBox="1"/>
          <p:nvPr/>
        </p:nvSpPr>
        <p:spPr>
          <a:xfrm>
            <a:off x="4533900" y="3333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NEXT SPRINT</a:t>
            </a:r>
          </a:p>
        </p:txBody>
      </p:sp>
      <p:sp>
        <p:nvSpPr>
          <p:cNvPr id="19" name="step-2-action"/>
          <p:cNvSpPr txBox="1"/>
          <p:nvPr/>
        </p:nvSpPr>
        <p:spPr>
          <a:xfrm>
            <a:off x="4533900" y="3657600"/>
            <a:ext cx="3105150" cy="800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Lock MVP scope, confirm resourcing, and issue statements of work for Wave 1 delivery.</a:t>
            </a:r>
          </a:p>
        </p:txBody>
      </p:sp>
      <p:sp>
        <p:nvSpPr>
          <p:cNvPr id="20" name="step-3-bg"/>
          <p:cNvSpPr/>
          <p:nvPr/>
        </p:nvSpPr>
        <p:spPr>
          <a:xfrm>
            <a:off x="8039100" y="2286000"/>
            <a:ext cx="3524250" cy="2286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step-3-num-bg"/>
          <p:cNvSpPr/>
          <p:nvPr/>
        </p:nvSpPr>
        <p:spPr>
          <a:xfrm>
            <a:off x="8248650" y="2495550"/>
            <a:ext cx="419100" cy="4191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step-3-num"/>
          <p:cNvSpPr txBox="1"/>
          <p:nvPr/>
        </p:nvSpPr>
        <p:spPr>
          <a:xfrm>
            <a:off x="8248650" y="249555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3" name="step-3-title"/>
          <p:cNvSpPr txBox="1"/>
          <p:nvPr/>
        </p:nvSpPr>
        <p:spPr>
          <a:xfrm>
            <a:off x="8248650" y="3009900"/>
            <a:ext cx="3105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Launch &amp; Measure</a:t>
            </a:r>
          </a:p>
        </p:txBody>
      </p:sp>
      <p:sp>
        <p:nvSpPr>
          <p:cNvPr id="24" name="step-3-when-bg"/>
          <p:cNvSpPr/>
          <p:nvPr/>
        </p:nvSpPr>
        <p:spPr>
          <a:xfrm>
            <a:off x="8248650" y="3333750"/>
            <a:ext cx="952500" cy="209550"/>
          </a:xfrm>
          <a:prstGeom prst="rect">
            <a:avLst/>
          </a:prstGeom>
          <a:solidFill>
            <a:srgbClr val="5C2D87"/>
          </a:solidFill>
          <a:ln w="6350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step-3-when"/>
          <p:cNvSpPr txBox="1"/>
          <p:nvPr/>
        </p:nvSpPr>
        <p:spPr>
          <a:xfrm>
            <a:off x="8248650" y="3333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Q3</a:t>
            </a:r>
          </a:p>
        </p:txBody>
      </p:sp>
      <p:sp>
        <p:nvSpPr>
          <p:cNvPr id="26" name="step-3-action"/>
          <p:cNvSpPr txBox="1"/>
          <p:nvPr/>
        </p:nvSpPr>
        <p:spPr>
          <a:xfrm>
            <a:off x="8248650" y="3657600"/>
            <a:ext cx="3105150" cy="800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Begin Sprint 1, establish baseline KPIs, and set cadence for bi-weekly steering updates.</a:t>
            </a:r>
          </a:p>
        </p:txBody>
      </p:sp>
      <p:sp>
        <p:nvSpPr>
          <p:cNvPr id="27" name="ready"/>
          <p:cNvSpPr txBox="1"/>
          <p:nvPr/>
        </p:nvSpPr>
        <p:spPr>
          <a:xfrm>
            <a:off x="609600" y="4781550"/>
            <a:ext cx="109728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2100" b="1" i="1">
                <a:solidFill>
                  <a:srgbClr val="C780FF"/>
                </a:solidFill>
                <a:latin typeface="Inter"/>
              </a:rPr>
              <a:t>Ready to begin?</a:t>
            </a:r>
          </a:p>
        </p:txBody>
      </p:sp>
      <p:sp>
        <p:nvSpPr>
          <p:cNvPr id="28" name="contact-bg"/>
          <p:cNvSpPr/>
          <p:nvPr/>
        </p:nvSpPr>
        <p:spPr>
          <a:xfrm>
            <a:off x="1524000" y="5372100"/>
            <a:ext cx="9144000" cy="838200"/>
          </a:xfrm>
          <a:prstGeom prst="rect">
            <a:avLst/>
          </a:prstGeom>
          <a:solidFill>
            <a:srgbClr val="3C1F5C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contact-email"/>
          <p:cNvSpPr txBox="1"/>
          <p:nvPr/>
        </p:nvSpPr>
        <p:spPr>
          <a:xfrm>
            <a:off x="1714500" y="5372100"/>
            <a:ext cx="3619500" cy="838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m.a.peralta@accenture.com</a:t>
            </a:r>
          </a:p>
        </p:txBody>
      </p:sp>
      <p:sp>
        <p:nvSpPr>
          <p:cNvPr id="30" name="contact-divider"/>
          <p:cNvSpPr/>
          <p:nvPr/>
        </p:nvSpPr>
        <p:spPr>
          <a:xfrm>
            <a:off x="5334000" y="5600700"/>
            <a:ext cx="9525" cy="3810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profile-avatar"/>
          <p:cNvSpPr/>
          <p:nvPr/>
        </p:nvSpPr>
        <p:spPr>
          <a:xfrm>
            <a:off x="5524500" y="5581650"/>
            <a:ext cx="419100" cy="4191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profile-init"/>
          <p:cNvSpPr txBox="1"/>
          <p:nvPr/>
        </p:nvSpPr>
        <p:spPr>
          <a:xfrm>
            <a:off x="5524500" y="558165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MP</a:t>
            </a:r>
          </a:p>
        </p:txBody>
      </p:sp>
      <p:sp>
        <p:nvSpPr>
          <p:cNvPr id="33" name="profile-name"/>
          <p:cNvSpPr txBox="1"/>
          <p:nvPr/>
        </p:nvSpPr>
        <p:spPr>
          <a:xfrm>
            <a:off x="6057900" y="5562600"/>
            <a:ext cx="3619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Mario Peralta</a:t>
            </a:r>
          </a:p>
        </p:txBody>
      </p:sp>
      <p:sp>
        <p:nvSpPr>
          <p:cNvPr id="34" name="profile-role"/>
          <p:cNvSpPr txBox="1"/>
          <p:nvPr/>
        </p:nvSpPr>
        <p:spPr>
          <a:xfrm>
            <a:off x="6057900" y="5772150"/>
            <a:ext cx="3619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Managing Director · Strategy &amp; Consulting</a:t>
            </a:r>
          </a:p>
        </p:txBody>
      </p:sp>
      <p:sp>
        <p:nvSpPr>
          <p:cNvPr id="35" name="linkedin-bg"/>
          <p:cNvSpPr/>
          <p:nvPr/>
        </p:nvSpPr>
        <p:spPr>
          <a:xfrm>
            <a:off x="10096500" y="5657850"/>
            <a:ext cx="266700" cy="2667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linkedin-glyph"/>
          <p:cNvSpPr txBox="1"/>
          <p:nvPr/>
        </p:nvSpPr>
        <p:spPr>
          <a:xfrm>
            <a:off x="10096500" y="565785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1">
                <a:solidFill>
                  <a:srgbClr val="FFFFFF"/>
                </a:solidFill>
                <a:latin typeface="Inter"/>
              </a:rPr>
              <a:t>in</a:t>
            </a:r>
          </a:p>
        </p:txBody>
      </p:sp>
      <p:sp>
        <p:nvSpPr>
          <p:cNvPr id="3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351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