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Eight workstreams,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one integrated program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bucket represents a discrete delivery scope with clear ownership and outcomes.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accent"/>
          <p:cNvSpPr/>
          <p:nvPr/>
        </p:nvSpPr>
        <p:spPr>
          <a:xfrm>
            <a:off x="457200" y="1905000"/>
            <a:ext cx="28575" cy="22002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badge-bg"/>
          <p:cNvSpPr/>
          <p:nvPr/>
        </p:nvSpPr>
        <p:spPr>
          <a:xfrm>
            <a:off x="628650" y="20574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bucket-1-badge"/>
          <p:cNvSpPr txBox="1"/>
          <p:nvPr/>
        </p:nvSpPr>
        <p:spPr>
          <a:xfrm>
            <a:off x="628650" y="2057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bucket-1-title"/>
          <p:cNvSpPr txBox="1"/>
          <p:nvPr/>
        </p:nvSpPr>
        <p:spPr>
          <a:xfrm>
            <a:off x="990600" y="2076450"/>
            <a:ext cx="20097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 &amp; Vision</a:t>
            </a:r>
          </a:p>
        </p:txBody>
      </p:sp>
      <p:sp>
        <p:nvSpPr>
          <p:cNvPr id="10" name="bucket-1-bullet-1-dot"/>
          <p:cNvSpPr txBox="1"/>
          <p:nvPr/>
        </p:nvSpPr>
        <p:spPr>
          <a:xfrm>
            <a:off x="628650" y="24574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1" name="bucket-1-bullet-1"/>
          <p:cNvSpPr txBox="1"/>
          <p:nvPr/>
        </p:nvSpPr>
        <p:spPr>
          <a:xfrm>
            <a:off x="742950" y="2476500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Define north-star outcomes and success metrics</a:t>
            </a:r>
          </a:p>
        </p:txBody>
      </p:sp>
      <p:sp>
        <p:nvSpPr>
          <p:cNvPr id="12" name="bucket-1-bullet-2-dot"/>
          <p:cNvSpPr txBox="1"/>
          <p:nvPr/>
        </p:nvSpPr>
        <p:spPr>
          <a:xfrm>
            <a:off x="628650" y="26860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3" name="bucket-1-bullet-2"/>
          <p:cNvSpPr txBox="1"/>
          <p:nvPr/>
        </p:nvSpPr>
        <p:spPr>
          <a:xfrm>
            <a:off x="742950" y="2705100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Align executive sponsors on program charter</a:t>
            </a:r>
          </a:p>
        </p:txBody>
      </p:sp>
      <p:sp>
        <p:nvSpPr>
          <p:cNvPr id="14" name="bucket-2-card"/>
          <p:cNvSpPr/>
          <p:nvPr/>
        </p:nvSpPr>
        <p:spPr>
          <a:xfrm>
            <a:off x="3305175" y="1905000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ucket-2-accent"/>
          <p:cNvSpPr/>
          <p:nvPr/>
        </p:nvSpPr>
        <p:spPr>
          <a:xfrm>
            <a:off x="3305175" y="1905000"/>
            <a:ext cx="28575" cy="22002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bucket-2-badge-bg"/>
          <p:cNvSpPr/>
          <p:nvPr/>
        </p:nvSpPr>
        <p:spPr>
          <a:xfrm>
            <a:off x="3476625" y="20574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bucket-2-badge"/>
          <p:cNvSpPr txBox="1"/>
          <p:nvPr/>
        </p:nvSpPr>
        <p:spPr>
          <a:xfrm>
            <a:off x="3476625" y="2057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8" name="bucket-2-title"/>
          <p:cNvSpPr txBox="1"/>
          <p:nvPr/>
        </p:nvSpPr>
        <p:spPr>
          <a:xfrm>
            <a:off x="3838575" y="2076450"/>
            <a:ext cx="20097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Governance &amp; Controls</a:t>
            </a:r>
          </a:p>
        </p:txBody>
      </p:sp>
      <p:sp>
        <p:nvSpPr>
          <p:cNvPr id="19" name="bucket-2-bullet-1-dot"/>
          <p:cNvSpPr txBox="1"/>
          <p:nvPr/>
        </p:nvSpPr>
        <p:spPr>
          <a:xfrm>
            <a:off x="3476625" y="24574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0" name="bucket-2-bullet-1"/>
          <p:cNvSpPr txBox="1"/>
          <p:nvPr/>
        </p:nvSpPr>
        <p:spPr>
          <a:xfrm>
            <a:off x="3590925" y="2476500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steering committee cadence and RACI</a:t>
            </a:r>
          </a:p>
        </p:txBody>
      </p:sp>
      <p:sp>
        <p:nvSpPr>
          <p:cNvPr id="21" name="bucket-2-bullet-2-dot"/>
          <p:cNvSpPr txBox="1"/>
          <p:nvPr/>
        </p:nvSpPr>
        <p:spPr>
          <a:xfrm>
            <a:off x="3476625" y="26860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2" name="bucket-2-bullet-2"/>
          <p:cNvSpPr txBox="1"/>
          <p:nvPr/>
        </p:nvSpPr>
        <p:spPr>
          <a:xfrm>
            <a:off x="3590925" y="2705100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Set escalation paths and decision rights</a:t>
            </a:r>
          </a:p>
        </p:txBody>
      </p:sp>
      <p:sp>
        <p:nvSpPr>
          <p:cNvPr id="23" name="bucket-3-card"/>
          <p:cNvSpPr/>
          <p:nvPr/>
        </p:nvSpPr>
        <p:spPr>
          <a:xfrm>
            <a:off x="6153150" y="1905000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ucket-3-accent"/>
          <p:cNvSpPr/>
          <p:nvPr/>
        </p:nvSpPr>
        <p:spPr>
          <a:xfrm>
            <a:off x="6153150" y="1905000"/>
            <a:ext cx="28575" cy="22002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ucket-3-badge-bg"/>
          <p:cNvSpPr/>
          <p:nvPr/>
        </p:nvSpPr>
        <p:spPr>
          <a:xfrm>
            <a:off x="6324600" y="20574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ucket-3-badge"/>
          <p:cNvSpPr txBox="1"/>
          <p:nvPr/>
        </p:nvSpPr>
        <p:spPr>
          <a:xfrm>
            <a:off x="6324600" y="2057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7" name="bucket-3-title"/>
          <p:cNvSpPr txBox="1"/>
          <p:nvPr/>
        </p:nvSpPr>
        <p:spPr>
          <a:xfrm>
            <a:off x="6686550" y="2076450"/>
            <a:ext cx="20097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&amp; Architecture</a:t>
            </a:r>
          </a:p>
        </p:txBody>
      </p:sp>
      <p:sp>
        <p:nvSpPr>
          <p:cNvPr id="28" name="bucket-3-bullet-1-dot"/>
          <p:cNvSpPr txBox="1"/>
          <p:nvPr/>
        </p:nvSpPr>
        <p:spPr>
          <a:xfrm>
            <a:off x="6324600" y="24574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9" name="bucket-3-bullet-1"/>
          <p:cNvSpPr txBox="1"/>
          <p:nvPr/>
        </p:nvSpPr>
        <p:spPr>
          <a:xfrm>
            <a:off x="6438900" y="2476500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Audit current-state data lineage and quality</a:t>
            </a:r>
          </a:p>
        </p:txBody>
      </p:sp>
      <p:sp>
        <p:nvSpPr>
          <p:cNvPr id="30" name="bucket-3-bullet-2-dot"/>
          <p:cNvSpPr txBox="1"/>
          <p:nvPr/>
        </p:nvSpPr>
        <p:spPr>
          <a:xfrm>
            <a:off x="6324600" y="26860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1" name="bucket-3-bullet-2"/>
          <p:cNvSpPr txBox="1"/>
          <p:nvPr/>
        </p:nvSpPr>
        <p:spPr>
          <a:xfrm>
            <a:off x="6438900" y="2705100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Design target-state platform blueprint</a:t>
            </a:r>
          </a:p>
        </p:txBody>
      </p:sp>
      <p:sp>
        <p:nvSpPr>
          <p:cNvPr id="32" name="bucket-4-card"/>
          <p:cNvSpPr/>
          <p:nvPr/>
        </p:nvSpPr>
        <p:spPr>
          <a:xfrm>
            <a:off x="9001125" y="1905000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ucket-4-accent"/>
          <p:cNvSpPr/>
          <p:nvPr/>
        </p:nvSpPr>
        <p:spPr>
          <a:xfrm>
            <a:off x="9001125" y="1905000"/>
            <a:ext cx="28575" cy="22002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bucket-4-badge-bg"/>
          <p:cNvSpPr/>
          <p:nvPr/>
        </p:nvSpPr>
        <p:spPr>
          <a:xfrm>
            <a:off x="9172575" y="20574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bucket-4-badge"/>
          <p:cNvSpPr txBox="1"/>
          <p:nvPr/>
        </p:nvSpPr>
        <p:spPr>
          <a:xfrm>
            <a:off x="9172575" y="2057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36" name="bucket-4-title"/>
          <p:cNvSpPr txBox="1"/>
          <p:nvPr/>
        </p:nvSpPr>
        <p:spPr>
          <a:xfrm>
            <a:off x="9534525" y="2076450"/>
            <a:ext cx="20097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 Redesign</a:t>
            </a:r>
          </a:p>
        </p:txBody>
      </p:sp>
      <p:sp>
        <p:nvSpPr>
          <p:cNvPr id="37" name="bucket-4-bullet-1-dot"/>
          <p:cNvSpPr txBox="1"/>
          <p:nvPr/>
        </p:nvSpPr>
        <p:spPr>
          <a:xfrm>
            <a:off x="9172575" y="24574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8" name="bucket-4-bullet-1"/>
          <p:cNvSpPr txBox="1"/>
          <p:nvPr/>
        </p:nvSpPr>
        <p:spPr>
          <a:xfrm>
            <a:off x="9286875" y="2476500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Map end-to-end processes and identify waste</a:t>
            </a:r>
          </a:p>
        </p:txBody>
      </p:sp>
      <p:sp>
        <p:nvSpPr>
          <p:cNvPr id="39" name="bucket-4-bullet-2-dot"/>
          <p:cNvSpPr txBox="1"/>
          <p:nvPr/>
        </p:nvSpPr>
        <p:spPr>
          <a:xfrm>
            <a:off x="9172575" y="26860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0" name="bucket-4-bullet-2"/>
          <p:cNvSpPr txBox="1"/>
          <p:nvPr/>
        </p:nvSpPr>
        <p:spPr>
          <a:xfrm>
            <a:off x="9286875" y="2705100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Co-design future-state operating model</a:t>
            </a:r>
          </a:p>
        </p:txBody>
      </p:sp>
      <p:sp>
        <p:nvSpPr>
          <p:cNvPr id="41" name="bucket-5-card"/>
          <p:cNvSpPr/>
          <p:nvPr/>
        </p:nvSpPr>
        <p:spPr>
          <a:xfrm>
            <a:off x="457200" y="4219575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ucket-5-accent"/>
          <p:cNvSpPr/>
          <p:nvPr/>
        </p:nvSpPr>
        <p:spPr>
          <a:xfrm>
            <a:off x="457200" y="4219575"/>
            <a:ext cx="28575" cy="22002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bucket-5-badge-bg"/>
          <p:cNvSpPr/>
          <p:nvPr/>
        </p:nvSpPr>
        <p:spPr>
          <a:xfrm>
            <a:off x="628650" y="4371975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bucket-5-badge"/>
          <p:cNvSpPr txBox="1"/>
          <p:nvPr/>
        </p:nvSpPr>
        <p:spPr>
          <a:xfrm>
            <a:off x="628650" y="4371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45" name="bucket-5-title"/>
          <p:cNvSpPr txBox="1"/>
          <p:nvPr/>
        </p:nvSpPr>
        <p:spPr>
          <a:xfrm>
            <a:off x="990600" y="4391025"/>
            <a:ext cx="20097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Enablement</a:t>
            </a:r>
          </a:p>
        </p:txBody>
      </p:sp>
      <p:sp>
        <p:nvSpPr>
          <p:cNvPr id="46" name="bucket-5-bullet-1-dot"/>
          <p:cNvSpPr txBox="1"/>
          <p:nvPr/>
        </p:nvSpPr>
        <p:spPr>
          <a:xfrm>
            <a:off x="628650" y="47720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7" name="bucket-5-bullet-1"/>
          <p:cNvSpPr txBox="1"/>
          <p:nvPr/>
        </p:nvSpPr>
        <p:spPr>
          <a:xfrm>
            <a:off x="742950" y="4791075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Configure and integrate core platform modules</a:t>
            </a:r>
          </a:p>
        </p:txBody>
      </p:sp>
      <p:sp>
        <p:nvSpPr>
          <p:cNvPr id="48" name="bucket-5-bullet-2-dot"/>
          <p:cNvSpPr txBox="1"/>
          <p:nvPr/>
        </p:nvSpPr>
        <p:spPr>
          <a:xfrm>
            <a:off x="628650" y="50006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9" name="bucket-5-bullet-2"/>
          <p:cNvSpPr txBox="1"/>
          <p:nvPr/>
        </p:nvSpPr>
        <p:spPr>
          <a:xfrm>
            <a:off x="742950" y="5019675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Validate integrations in staging environment</a:t>
            </a:r>
          </a:p>
        </p:txBody>
      </p:sp>
      <p:sp>
        <p:nvSpPr>
          <p:cNvPr id="50" name="bucket-6-card"/>
          <p:cNvSpPr/>
          <p:nvPr/>
        </p:nvSpPr>
        <p:spPr>
          <a:xfrm>
            <a:off x="3305175" y="4219575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bucket-6-accent"/>
          <p:cNvSpPr/>
          <p:nvPr/>
        </p:nvSpPr>
        <p:spPr>
          <a:xfrm>
            <a:off x="3305175" y="4219575"/>
            <a:ext cx="28575" cy="22002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bucket-6-badge-bg"/>
          <p:cNvSpPr/>
          <p:nvPr/>
        </p:nvSpPr>
        <p:spPr>
          <a:xfrm>
            <a:off x="3476625" y="4371975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bucket-6-badge"/>
          <p:cNvSpPr txBox="1"/>
          <p:nvPr/>
        </p:nvSpPr>
        <p:spPr>
          <a:xfrm>
            <a:off x="3476625" y="4371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54" name="bucket-6-title"/>
          <p:cNvSpPr txBox="1"/>
          <p:nvPr/>
        </p:nvSpPr>
        <p:spPr>
          <a:xfrm>
            <a:off x="3838575" y="4391025"/>
            <a:ext cx="20097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Change &amp; Adoption</a:t>
            </a:r>
          </a:p>
        </p:txBody>
      </p:sp>
      <p:sp>
        <p:nvSpPr>
          <p:cNvPr id="55" name="bucket-6-bullet-1-dot"/>
          <p:cNvSpPr txBox="1"/>
          <p:nvPr/>
        </p:nvSpPr>
        <p:spPr>
          <a:xfrm>
            <a:off x="3476625" y="47720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56" name="bucket-6-bullet-1"/>
          <p:cNvSpPr txBox="1"/>
          <p:nvPr/>
        </p:nvSpPr>
        <p:spPr>
          <a:xfrm>
            <a:off x="3590925" y="4791075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Develop impact assessments by persona</a:t>
            </a:r>
          </a:p>
        </p:txBody>
      </p:sp>
      <p:sp>
        <p:nvSpPr>
          <p:cNvPr id="57" name="bucket-6-bullet-2-dot"/>
          <p:cNvSpPr txBox="1"/>
          <p:nvPr/>
        </p:nvSpPr>
        <p:spPr>
          <a:xfrm>
            <a:off x="3476625" y="50006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58" name="bucket-6-bullet-2"/>
          <p:cNvSpPr txBox="1"/>
          <p:nvPr/>
        </p:nvSpPr>
        <p:spPr>
          <a:xfrm>
            <a:off x="3590925" y="5019675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Execute training and readiness campaigns</a:t>
            </a:r>
          </a:p>
        </p:txBody>
      </p:sp>
      <p:sp>
        <p:nvSpPr>
          <p:cNvPr id="59" name="bucket-7-card"/>
          <p:cNvSpPr/>
          <p:nvPr/>
        </p:nvSpPr>
        <p:spPr>
          <a:xfrm>
            <a:off x="6153150" y="4219575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bucket-7-accent"/>
          <p:cNvSpPr/>
          <p:nvPr/>
        </p:nvSpPr>
        <p:spPr>
          <a:xfrm>
            <a:off x="6153150" y="4219575"/>
            <a:ext cx="28575" cy="22002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bucket-7-badge-bg"/>
          <p:cNvSpPr/>
          <p:nvPr/>
        </p:nvSpPr>
        <p:spPr>
          <a:xfrm>
            <a:off x="6324600" y="4371975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bucket-7-badge"/>
          <p:cNvSpPr txBox="1"/>
          <p:nvPr/>
        </p:nvSpPr>
        <p:spPr>
          <a:xfrm>
            <a:off x="6324600" y="4371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07</a:t>
            </a:r>
          </a:p>
        </p:txBody>
      </p:sp>
      <p:sp>
        <p:nvSpPr>
          <p:cNvPr id="63" name="bucket-7-title"/>
          <p:cNvSpPr txBox="1"/>
          <p:nvPr/>
        </p:nvSpPr>
        <p:spPr>
          <a:xfrm>
            <a:off x="6686550" y="4391025"/>
            <a:ext cx="20097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Testing &amp; Quality</a:t>
            </a:r>
          </a:p>
        </p:txBody>
      </p:sp>
      <p:sp>
        <p:nvSpPr>
          <p:cNvPr id="64" name="bucket-7-bullet-1-dot"/>
          <p:cNvSpPr txBox="1"/>
          <p:nvPr/>
        </p:nvSpPr>
        <p:spPr>
          <a:xfrm>
            <a:off x="6324600" y="47720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65" name="bucket-7-bullet-1"/>
          <p:cNvSpPr txBox="1"/>
          <p:nvPr/>
        </p:nvSpPr>
        <p:spPr>
          <a:xfrm>
            <a:off x="6438900" y="4791075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Run UAT cycles with business-owned test scripts</a:t>
            </a:r>
          </a:p>
        </p:txBody>
      </p:sp>
      <p:sp>
        <p:nvSpPr>
          <p:cNvPr id="66" name="bucket-7-bullet-2-dot"/>
          <p:cNvSpPr txBox="1"/>
          <p:nvPr/>
        </p:nvSpPr>
        <p:spPr>
          <a:xfrm>
            <a:off x="6324600" y="50006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67" name="bucket-7-bullet-2"/>
          <p:cNvSpPr txBox="1"/>
          <p:nvPr/>
        </p:nvSpPr>
        <p:spPr>
          <a:xfrm>
            <a:off x="6438900" y="5019675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Track defect resolution to agreed exit criteria</a:t>
            </a:r>
          </a:p>
        </p:txBody>
      </p:sp>
      <p:sp>
        <p:nvSpPr>
          <p:cNvPr id="68" name="bucket-8-card"/>
          <p:cNvSpPr/>
          <p:nvPr/>
        </p:nvSpPr>
        <p:spPr>
          <a:xfrm>
            <a:off x="9001125" y="4219575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bucket-8-accent"/>
          <p:cNvSpPr/>
          <p:nvPr/>
        </p:nvSpPr>
        <p:spPr>
          <a:xfrm>
            <a:off x="9001125" y="4219575"/>
            <a:ext cx="28575" cy="22002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bucket-8-badge-bg"/>
          <p:cNvSpPr/>
          <p:nvPr/>
        </p:nvSpPr>
        <p:spPr>
          <a:xfrm>
            <a:off x="9172575" y="4371975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bucket-8-badge"/>
          <p:cNvSpPr txBox="1"/>
          <p:nvPr/>
        </p:nvSpPr>
        <p:spPr>
          <a:xfrm>
            <a:off x="9172575" y="4371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08</a:t>
            </a:r>
          </a:p>
        </p:txBody>
      </p:sp>
      <p:sp>
        <p:nvSpPr>
          <p:cNvPr id="72" name="bucket-8-title"/>
          <p:cNvSpPr txBox="1"/>
          <p:nvPr/>
        </p:nvSpPr>
        <p:spPr>
          <a:xfrm>
            <a:off x="9534525" y="4391025"/>
            <a:ext cx="20097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Cutover &amp; Hypercare</a:t>
            </a:r>
          </a:p>
        </p:txBody>
      </p:sp>
      <p:sp>
        <p:nvSpPr>
          <p:cNvPr id="73" name="bucket-8-bullet-1-dot"/>
          <p:cNvSpPr txBox="1"/>
          <p:nvPr/>
        </p:nvSpPr>
        <p:spPr>
          <a:xfrm>
            <a:off x="9172575" y="47720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74" name="bucket-8-bullet-1"/>
          <p:cNvSpPr txBox="1"/>
          <p:nvPr/>
        </p:nvSpPr>
        <p:spPr>
          <a:xfrm>
            <a:off x="9286875" y="4791075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Execute go-live runbook with rollback triggers</a:t>
            </a:r>
          </a:p>
        </p:txBody>
      </p:sp>
      <p:sp>
        <p:nvSpPr>
          <p:cNvPr id="75" name="bucket-8-bullet-2-dot"/>
          <p:cNvSpPr txBox="1"/>
          <p:nvPr/>
        </p:nvSpPr>
        <p:spPr>
          <a:xfrm>
            <a:off x="9172575" y="50006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76" name="bucket-8-bullet-2"/>
          <p:cNvSpPr txBox="1"/>
          <p:nvPr/>
        </p:nvSpPr>
        <p:spPr>
          <a:xfrm>
            <a:off x="9286875" y="5019675"/>
            <a:ext cx="2314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Stabilise operations through 30-day hypercare</a:t>
            </a:r>
          </a:p>
        </p:txBody>
      </p:sp>
      <p:sp>
        <p:nvSpPr>
          <p:cNvPr id="7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