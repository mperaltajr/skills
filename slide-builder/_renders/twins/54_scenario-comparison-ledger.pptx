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266700"/>
            <a:ext cx="1000125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025" b="1" i="0">
                <a:solidFill>
                  <a:srgbClr val="1A1A2E"/>
                </a:solidFill>
                <a:latin typeface="Inter"/>
              </a:rPr>
              <a:t>Four scenarios, one comparison — Scenario 1 is the only viable path.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3400" y="1028700"/>
            <a:ext cx="10001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Same KPIs, same rules, line them up side-by-side. Verdict reflects feasibility against transition risk and cash impact.</a:t>
            </a:r>
          </a:p>
        </p:txBody>
      </p:sp>
      <p:sp>
        <p:nvSpPr>
          <p:cNvPr id="4" name="brand-rule"/>
          <p:cNvSpPr/>
          <p:nvPr/>
        </p:nvSpPr>
        <p:spPr>
          <a:xfrm>
            <a:off x="533400" y="1254825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dger-head-bg"/>
          <p:cNvSpPr/>
          <p:nvPr/>
        </p:nvSpPr>
        <p:spPr>
          <a:xfrm>
            <a:off x="533400" y="1866900"/>
            <a:ext cx="111252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able-col-1-header"/>
          <p:cNvSpPr txBox="1"/>
          <p:nvPr/>
        </p:nvSpPr>
        <p:spPr>
          <a:xfrm>
            <a:off x="704850" y="1866900"/>
            <a:ext cx="23812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SCENARIO</a:t>
            </a:r>
          </a:p>
        </p:txBody>
      </p:sp>
      <p:sp>
        <p:nvSpPr>
          <p:cNvPr id="7" name="table-col-2-header"/>
          <p:cNvSpPr txBox="1"/>
          <p:nvPr/>
        </p:nvSpPr>
        <p:spPr>
          <a:xfrm>
            <a:off x="3429000" y="1866900"/>
            <a:ext cx="16002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EXIT COMPLETION</a:t>
            </a:r>
          </a:p>
        </p:txBody>
      </p:sp>
      <p:sp>
        <p:nvSpPr>
          <p:cNvPr id="8" name="table-col-3-header"/>
          <p:cNvSpPr txBox="1"/>
          <p:nvPr/>
        </p:nvSpPr>
        <p:spPr>
          <a:xfrm>
            <a:off x="5372100" y="1866900"/>
            <a:ext cx="16002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SAVINGS AT RISK</a:t>
            </a:r>
          </a:p>
        </p:txBody>
      </p:sp>
      <p:sp>
        <p:nvSpPr>
          <p:cNvPr id="9" name="table-col-4-header"/>
          <p:cNvSpPr txBox="1"/>
          <p:nvPr/>
        </p:nvSpPr>
        <p:spPr>
          <a:xfrm>
            <a:off x="7315200" y="1866900"/>
            <a:ext cx="1800225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FINAL EXIT</a:t>
            </a:r>
          </a:p>
        </p:txBody>
      </p:sp>
      <p:sp>
        <p:nvSpPr>
          <p:cNvPr id="10" name="table-col-5-header"/>
          <p:cNvSpPr txBox="1"/>
          <p:nvPr/>
        </p:nvSpPr>
        <p:spPr>
          <a:xfrm>
            <a:off x="9458325" y="1866900"/>
            <a:ext cx="2028825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VERDICT</a:t>
            </a:r>
          </a:p>
        </p:txBody>
      </p:sp>
      <p:sp>
        <p:nvSpPr>
          <p:cNvPr id="11" name="row-1-bg"/>
          <p:cNvSpPr/>
          <p:nvPr/>
        </p:nvSpPr>
        <p:spPr>
          <a:xfrm>
            <a:off x="533400" y="2266950"/>
            <a:ext cx="11125200" cy="819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row-1-rule"/>
          <p:cNvSpPr/>
          <p:nvPr/>
        </p:nvSpPr>
        <p:spPr>
          <a:xfrm>
            <a:off x="533400" y="2266950"/>
            <a:ext cx="11125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row-1-label-bg"/>
          <p:cNvSpPr/>
          <p:nvPr/>
        </p:nvSpPr>
        <p:spPr>
          <a:xfrm>
            <a:off x="533400" y="2266950"/>
            <a:ext cx="2724150" cy="8191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scenario-1-tag"/>
          <p:cNvSpPr txBox="1"/>
          <p:nvPr/>
        </p:nvSpPr>
        <p:spPr>
          <a:xfrm>
            <a:off x="704850" y="2400300"/>
            <a:ext cx="2381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REFERENCE</a:t>
            </a:r>
          </a:p>
        </p:txBody>
      </p:sp>
      <p:sp>
        <p:nvSpPr>
          <p:cNvPr id="15" name="scenario-1-name"/>
          <p:cNvSpPr txBox="1"/>
          <p:nvPr/>
        </p:nvSpPr>
        <p:spPr>
          <a:xfrm>
            <a:off x="704850" y="25717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1A1A2E"/>
                </a:solidFill>
                <a:latin typeface="Inter"/>
              </a:rPr>
              <a:t>Base case</a:t>
            </a:r>
          </a:p>
        </p:txBody>
      </p:sp>
      <p:sp>
        <p:nvSpPr>
          <p:cNvPr id="16" name="scenario-1-sub"/>
          <p:cNvSpPr txBox="1"/>
          <p:nvPr/>
        </p:nvSpPr>
        <p:spPr>
          <a:xfrm>
            <a:off x="704850" y="2819400"/>
            <a:ext cx="2381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Planned glide path</a:t>
            </a:r>
          </a:p>
        </p:txBody>
      </p:sp>
      <p:sp>
        <p:nvSpPr>
          <p:cNvPr id="17" name="scenario-1-completion-value"/>
          <p:cNvSpPr txBox="1"/>
          <p:nvPr/>
        </p:nvSpPr>
        <p:spPr>
          <a:xfrm>
            <a:off x="3429000" y="240030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100%</a:t>
            </a:r>
          </a:p>
        </p:txBody>
      </p:sp>
      <p:sp>
        <p:nvSpPr>
          <p:cNvPr id="18" name="scenario-1-completion-unit"/>
          <p:cNvSpPr txBox="1"/>
          <p:nvPr/>
        </p:nvSpPr>
        <p:spPr>
          <a:xfrm>
            <a:off x="3429000" y="2686050"/>
            <a:ext cx="1600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530 FTE exit by Apr 30</a:t>
            </a:r>
          </a:p>
        </p:txBody>
      </p:sp>
      <p:sp>
        <p:nvSpPr>
          <p:cNvPr id="19" name="row-1-bar-track"/>
          <p:cNvSpPr/>
          <p:nvPr/>
        </p:nvSpPr>
        <p:spPr>
          <a:xfrm>
            <a:off x="3429000" y="2876550"/>
            <a:ext cx="1600200" cy="57150"/>
          </a:xfrm>
          <a:prstGeom prst="rect">
            <a:avLst/>
          </a:prstGeom>
          <a:solidFill>
            <a:srgbClr val="EE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scenario-1-completion-bar"/>
          <p:cNvSpPr/>
          <p:nvPr/>
        </p:nvSpPr>
        <p:spPr>
          <a:xfrm>
            <a:off x="3429000" y="2876550"/>
            <a:ext cx="160020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scenario-1-impact-amount"/>
          <p:cNvSpPr txBox="1"/>
          <p:nvPr/>
        </p:nvSpPr>
        <p:spPr>
          <a:xfrm>
            <a:off x="5372100" y="240030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$0</a:t>
            </a:r>
          </a:p>
        </p:txBody>
      </p:sp>
      <p:sp>
        <p:nvSpPr>
          <p:cNvPr id="22" name="scenario-1-impact-note"/>
          <p:cNvSpPr txBox="1"/>
          <p:nvPr/>
        </p:nvSpPr>
        <p:spPr>
          <a:xfrm>
            <a:off x="5372100" y="2686050"/>
            <a:ext cx="1600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— on plan</a:t>
            </a:r>
          </a:p>
        </p:txBody>
      </p:sp>
      <p:sp>
        <p:nvSpPr>
          <p:cNvPr id="23" name="scenario-1-timing-value"/>
          <p:cNvSpPr txBox="1"/>
          <p:nvPr/>
        </p:nvSpPr>
        <p:spPr>
          <a:xfrm>
            <a:off x="7315200" y="2400300"/>
            <a:ext cx="18002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Apr 30</a:t>
            </a:r>
          </a:p>
        </p:txBody>
      </p:sp>
      <p:sp>
        <p:nvSpPr>
          <p:cNvPr id="24" name="scenario-1-timing-note"/>
          <p:cNvSpPr txBox="1"/>
          <p:nvPr/>
        </p:nvSpPr>
        <p:spPr>
          <a:xfrm>
            <a:off x="7315200" y="2686050"/>
            <a:ext cx="18002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Within window</a:t>
            </a:r>
          </a:p>
        </p:txBody>
      </p:sp>
      <p:sp>
        <p:nvSpPr>
          <p:cNvPr id="25" name="scenario-1-verdict-pill"/>
          <p:cNvSpPr txBox="1"/>
          <p:nvPr/>
        </p:nvSpPr>
        <p:spPr>
          <a:xfrm>
            <a:off x="9458325" y="2419350"/>
            <a:ext cx="2028825" cy="209550"/>
          </a:xfrm>
          <a:prstGeom prst="rect">
            <a:avLst/>
          </a:prstGeom>
          <a:solidFill>
            <a:srgbClr val="ECFDF3"/>
          </a:solidFill>
          <a:ln>
            <a:noFill/>
          </a:ln>
        </p:spPr>
        <p:txBody>
          <a:bodyPr wrap="square" tIns="28575" rIns="114300" bIns="28575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27A48"/>
                </a:solidFill>
                <a:latin typeface="Inter"/>
              </a:rPr>
              <a:t>BASELINE</a:t>
            </a:r>
          </a:p>
        </p:txBody>
      </p:sp>
      <p:sp>
        <p:nvSpPr>
          <p:cNvPr id="26" name="scenario-1-verdict-note"/>
          <p:cNvSpPr txBox="1"/>
          <p:nvPr/>
        </p:nvSpPr>
        <p:spPr>
          <a:xfrm>
            <a:off x="9458325" y="2705100"/>
            <a:ext cx="20288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Target outcome — no slip.</a:t>
            </a:r>
          </a:p>
        </p:txBody>
      </p:sp>
      <p:sp>
        <p:nvSpPr>
          <p:cNvPr id="27" name="row-2-bg"/>
          <p:cNvSpPr/>
          <p:nvPr/>
        </p:nvSpPr>
        <p:spPr>
          <a:xfrm>
            <a:off x="533400" y="3086100"/>
            <a:ext cx="11125200" cy="8191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row-2-rule"/>
          <p:cNvSpPr/>
          <p:nvPr/>
        </p:nvSpPr>
        <p:spPr>
          <a:xfrm>
            <a:off x="533400" y="3086100"/>
            <a:ext cx="11125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scenario-2-tag"/>
          <p:cNvSpPr txBox="1"/>
          <p:nvPr/>
        </p:nvSpPr>
        <p:spPr>
          <a:xfrm>
            <a:off x="704850" y="3219450"/>
            <a:ext cx="2381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MODERATE SLIP</a:t>
            </a:r>
          </a:p>
        </p:txBody>
      </p:sp>
      <p:sp>
        <p:nvSpPr>
          <p:cNvPr id="30" name="scenario-2-name"/>
          <p:cNvSpPr txBox="1"/>
          <p:nvPr/>
        </p:nvSpPr>
        <p:spPr>
          <a:xfrm>
            <a:off x="704850" y="339090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1A1A2E"/>
                </a:solidFill>
                <a:latin typeface="Inter"/>
              </a:rPr>
              <a:t>Scenario 1</a:t>
            </a:r>
          </a:p>
        </p:txBody>
      </p:sp>
      <p:sp>
        <p:nvSpPr>
          <p:cNvPr id="31" name="scenario-2-sub"/>
          <p:cNvSpPr txBox="1"/>
          <p:nvPr/>
        </p:nvSpPr>
        <p:spPr>
          <a:xfrm>
            <a:off x="704850" y="3638550"/>
            <a:ext cx="2381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Phased through June</a:t>
            </a:r>
          </a:p>
        </p:txBody>
      </p:sp>
      <p:sp>
        <p:nvSpPr>
          <p:cNvPr id="32" name="scenario-2-completion-value"/>
          <p:cNvSpPr txBox="1"/>
          <p:nvPr/>
        </p:nvSpPr>
        <p:spPr>
          <a:xfrm>
            <a:off x="3429000" y="321945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100%</a:t>
            </a:r>
          </a:p>
        </p:txBody>
      </p:sp>
      <p:sp>
        <p:nvSpPr>
          <p:cNvPr id="33" name="scenario-2-completion-unit"/>
          <p:cNvSpPr txBox="1"/>
          <p:nvPr/>
        </p:nvSpPr>
        <p:spPr>
          <a:xfrm>
            <a:off x="3429000" y="3505200"/>
            <a:ext cx="1600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531 FTE by Jun 16</a:t>
            </a:r>
          </a:p>
        </p:txBody>
      </p:sp>
      <p:sp>
        <p:nvSpPr>
          <p:cNvPr id="34" name="row-2-bar-track"/>
          <p:cNvSpPr/>
          <p:nvPr/>
        </p:nvSpPr>
        <p:spPr>
          <a:xfrm>
            <a:off x="3429000" y="3695700"/>
            <a:ext cx="1600200" cy="57150"/>
          </a:xfrm>
          <a:prstGeom prst="rect">
            <a:avLst/>
          </a:prstGeom>
          <a:solidFill>
            <a:srgbClr val="EE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scenario-2-completion-bar"/>
          <p:cNvSpPr/>
          <p:nvPr/>
        </p:nvSpPr>
        <p:spPr>
          <a:xfrm>
            <a:off x="3429000" y="3695700"/>
            <a:ext cx="160020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scenario-2-impact-amount"/>
          <p:cNvSpPr txBox="1"/>
          <p:nvPr/>
        </p:nvSpPr>
        <p:spPr>
          <a:xfrm>
            <a:off x="5372100" y="321945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B42318"/>
                </a:solidFill>
                <a:latin typeface="Inter"/>
              </a:rPr>
              <a:t>$5.0M</a:t>
            </a:r>
          </a:p>
        </p:txBody>
      </p:sp>
      <p:sp>
        <p:nvSpPr>
          <p:cNvPr id="37" name="scenario-2-impact-note"/>
          <p:cNvSpPr txBox="1"/>
          <p:nvPr/>
        </p:nvSpPr>
        <p:spPr>
          <a:xfrm>
            <a:off x="5372100" y="3505200"/>
            <a:ext cx="1600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42318"/>
                </a:solidFill>
                <a:latin typeface="Inter"/>
              </a:rPr>
              <a:t>▼ vs. base</a:t>
            </a:r>
          </a:p>
        </p:txBody>
      </p:sp>
      <p:sp>
        <p:nvSpPr>
          <p:cNvPr id="38" name="scenario-2-timing-value"/>
          <p:cNvSpPr txBox="1"/>
          <p:nvPr/>
        </p:nvSpPr>
        <p:spPr>
          <a:xfrm>
            <a:off x="7315200" y="3219450"/>
            <a:ext cx="18002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Jun 16</a:t>
            </a:r>
          </a:p>
        </p:txBody>
      </p:sp>
      <p:sp>
        <p:nvSpPr>
          <p:cNvPr id="39" name="scenario-2-timing-note"/>
          <p:cNvSpPr txBox="1"/>
          <p:nvPr/>
        </p:nvSpPr>
        <p:spPr>
          <a:xfrm>
            <a:off x="7315200" y="3505200"/>
            <a:ext cx="18002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+47 days</a:t>
            </a:r>
          </a:p>
        </p:txBody>
      </p:sp>
      <p:sp>
        <p:nvSpPr>
          <p:cNvPr id="40" name="scenario-2-verdict-pill"/>
          <p:cNvSpPr txBox="1"/>
          <p:nvPr/>
        </p:nvSpPr>
        <p:spPr>
          <a:xfrm>
            <a:off x="9458325" y="3238500"/>
            <a:ext cx="2028825" cy="209550"/>
          </a:xfrm>
          <a:prstGeom prst="rect">
            <a:avLst/>
          </a:prstGeom>
          <a:solidFill>
            <a:srgbClr val="ECFDF3"/>
          </a:solidFill>
          <a:ln>
            <a:noFill/>
          </a:ln>
        </p:spPr>
        <p:txBody>
          <a:bodyPr wrap="square" tIns="28575" rIns="114300" bIns="28575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27A48"/>
                </a:solidFill>
                <a:latin typeface="Inter"/>
              </a:rPr>
              <a:t>RECOMMENDED</a:t>
            </a:r>
          </a:p>
        </p:txBody>
      </p:sp>
      <p:sp>
        <p:nvSpPr>
          <p:cNvPr id="41" name="scenario-2-verdict-note"/>
          <p:cNvSpPr txBox="1"/>
          <p:nvPr/>
        </p:nvSpPr>
        <p:spPr>
          <a:xfrm>
            <a:off x="9458325" y="3524250"/>
            <a:ext cx="20288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Preserves transition quality.</a:t>
            </a:r>
          </a:p>
        </p:txBody>
      </p:sp>
      <p:sp>
        <p:nvSpPr>
          <p:cNvPr id="42" name="row-3-bg"/>
          <p:cNvSpPr/>
          <p:nvPr/>
        </p:nvSpPr>
        <p:spPr>
          <a:xfrm>
            <a:off x="533400" y="3905250"/>
            <a:ext cx="11125200" cy="819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row-3-rule"/>
          <p:cNvSpPr/>
          <p:nvPr/>
        </p:nvSpPr>
        <p:spPr>
          <a:xfrm>
            <a:off x="533400" y="3905250"/>
            <a:ext cx="11125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row-3-label-bg"/>
          <p:cNvSpPr/>
          <p:nvPr/>
        </p:nvSpPr>
        <p:spPr>
          <a:xfrm>
            <a:off x="533400" y="3905250"/>
            <a:ext cx="2724150" cy="8191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scenario-3-tag"/>
          <p:cNvSpPr txBox="1"/>
          <p:nvPr/>
        </p:nvSpPr>
        <p:spPr>
          <a:xfrm>
            <a:off x="704850" y="4038600"/>
            <a:ext cx="2381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HEAVY SLIP</a:t>
            </a:r>
          </a:p>
        </p:txBody>
      </p:sp>
      <p:sp>
        <p:nvSpPr>
          <p:cNvPr id="46" name="scenario-3-name"/>
          <p:cNvSpPr txBox="1"/>
          <p:nvPr/>
        </p:nvSpPr>
        <p:spPr>
          <a:xfrm>
            <a:off x="704850" y="4210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1A1A2E"/>
                </a:solidFill>
                <a:latin typeface="Inter"/>
              </a:rPr>
              <a:t>Scenario 2</a:t>
            </a:r>
          </a:p>
        </p:txBody>
      </p:sp>
      <p:sp>
        <p:nvSpPr>
          <p:cNvPr id="47" name="scenario-3-sub"/>
          <p:cNvSpPr txBox="1"/>
          <p:nvPr/>
        </p:nvSpPr>
        <p:spPr>
          <a:xfrm>
            <a:off x="704850" y="4457700"/>
            <a:ext cx="2381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Compressed late-window</a:t>
            </a:r>
          </a:p>
        </p:txBody>
      </p:sp>
      <p:sp>
        <p:nvSpPr>
          <p:cNvPr id="48" name="scenario-3-completion-value"/>
          <p:cNvSpPr txBox="1"/>
          <p:nvPr/>
        </p:nvSpPr>
        <p:spPr>
          <a:xfrm>
            <a:off x="3429000" y="403860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100%</a:t>
            </a:r>
          </a:p>
        </p:txBody>
      </p:sp>
      <p:sp>
        <p:nvSpPr>
          <p:cNvPr id="49" name="scenario-3-completion-unit"/>
          <p:cNvSpPr txBox="1"/>
          <p:nvPr/>
        </p:nvSpPr>
        <p:spPr>
          <a:xfrm>
            <a:off x="3429000" y="4324350"/>
            <a:ext cx="1600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530 FTE by Jun 16</a:t>
            </a:r>
          </a:p>
        </p:txBody>
      </p:sp>
      <p:sp>
        <p:nvSpPr>
          <p:cNvPr id="50" name="row-3-bar-track"/>
          <p:cNvSpPr/>
          <p:nvPr/>
        </p:nvSpPr>
        <p:spPr>
          <a:xfrm>
            <a:off x="3429000" y="4514850"/>
            <a:ext cx="1600200" cy="57150"/>
          </a:xfrm>
          <a:prstGeom prst="rect">
            <a:avLst/>
          </a:prstGeom>
          <a:solidFill>
            <a:srgbClr val="EE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scenario-3-completion-bar"/>
          <p:cNvSpPr/>
          <p:nvPr/>
        </p:nvSpPr>
        <p:spPr>
          <a:xfrm>
            <a:off x="3429000" y="4514850"/>
            <a:ext cx="160020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scenario-3-impact-amount"/>
          <p:cNvSpPr txBox="1"/>
          <p:nvPr/>
        </p:nvSpPr>
        <p:spPr>
          <a:xfrm>
            <a:off x="5372100" y="403860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B42318"/>
                </a:solidFill>
                <a:latin typeface="Inter"/>
              </a:rPr>
              <a:t>$6.4M</a:t>
            </a:r>
          </a:p>
        </p:txBody>
      </p:sp>
      <p:sp>
        <p:nvSpPr>
          <p:cNvPr id="53" name="scenario-3-impact-note"/>
          <p:cNvSpPr txBox="1"/>
          <p:nvPr/>
        </p:nvSpPr>
        <p:spPr>
          <a:xfrm>
            <a:off x="5372100" y="4324350"/>
            <a:ext cx="1600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42318"/>
                </a:solidFill>
                <a:latin typeface="Inter"/>
              </a:rPr>
              <a:t>▼ vs. base</a:t>
            </a:r>
          </a:p>
        </p:txBody>
      </p:sp>
      <p:sp>
        <p:nvSpPr>
          <p:cNvPr id="54" name="scenario-3-timing-value"/>
          <p:cNvSpPr txBox="1"/>
          <p:nvPr/>
        </p:nvSpPr>
        <p:spPr>
          <a:xfrm>
            <a:off x="7315200" y="4038600"/>
            <a:ext cx="18002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Jun 16</a:t>
            </a:r>
          </a:p>
        </p:txBody>
      </p:sp>
      <p:sp>
        <p:nvSpPr>
          <p:cNvPr id="55" name="scenario-3-timing-note"/>
          <p:cNvSpPr txBox="1"/>
          <p:nvPr/>
        </p:nvSpPr>
        <p:spPr>
          <a:xfrm>
            <a:off x="7315200" y="4324350"/>
            <a:ext cx="18002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+47 days</a:t>
            </a:r>
          </a:p>
        </p:txBody>
      </p:sp>
      <p:sp>
        <p:nvSpPr>
          <p:cNvPr id="56" name="scenario-3-verdict-pill"/>
          <p:cNvSpPr txBox="1"/>
          <p:nvPr/>
        </p:nvSpPr>
        <p:spPr>
          <a:xfrm>
            <a:off x="9458325" y="4057650"/>
            <a:ext cx="2028825" cy="209550"/>
          </a:xfrm>
          <a:prstGeom prst="rect">
            <a:avLst/>
          </a:prstGeom>
          <a:solidFill>
            <a:srgbClr val="FFFAEB"/>
          </a:solidFill>
          <a:ln>
            <a:noFill/>
          </a:ln>
        </p:spPr>
        <p:txBody>
          <a:bodyPr wrap="square" tIns="28575" rIns="114300" bIns="28575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54708"/>
                </a:solidFill>
                <a:latin typeface="Inter"/>
              </a:rPr>
              <a:t>VIABLE</a:t>
            </a:r>
          </a:p>
        </p:txBody>
      </p:sp>
      <p:sp>
        <p:nvSpPr>
          <p:cNvPr id="57" name="scenario-3-verdict-note"/>
          <p:cNvSpPr txBox="1"/>
          <p:nvPr/>
        </p:nvSpPr>
        <p:spPr>
          <a:xfrm>
            <a:off x="9458325" y="4343400"/>
            <a:ext cx="20288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Same end date, worse cash.</a:t>
            </a:r>
          </a:p>
        </p:txBody>
      </p:sp>
      <p:sp>
        <p:nvSpPr>
          <p:cNvPr id="58" name="row-4-bg"/>
          <p:cNvSpPr/>
          <p:nvPr/>
        </p:nvSpPr>
        <p:spPr>
          <a:xfrm>
            <a:off x="533400" y="4724400"/>
            <a:ext cx="11125200" cy="8191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row-4-rule"/>
          <p:cNvSpPr/>
          <p:nvPr/>
        </p:nvSpPr>
        <p:spPr>
          <a:xfrm>
            <a:off x="533400" y="4724400"/>
            <a:ext cx="11125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scenario-4-tag"/>
          <p:cNvSpPr txBox="1"/>
          <p:nvPr/>
        </p:nvSpPr>
        <p:spPr>
          <a:xfrm>
            <a:off x="704850" y="4857750"/>
            <a:ext cx="2381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ACCELERATED</a:t>
            </a:r>
          </a:p>
        </p:txBody>
      </p:sp>
      <p:sp>
        <p:nvSpPr>
          <p:cNvPr id="61" name="scenario-4-name"/>
          <p:cNvSpPr txBox="1"/>
          <p:nvPr/>
        </p:nvSpPr>
        <p:spPr>
          <a:xfrm>
            <a:off x="704850" y="502920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1A1A2E"/>
                </a:solidFill>
                <a:latin typeface="Inter"/>
              </a:rPr>
              <a:t>Scenario 3</a:t>
            </a:r>
          </a:p>
        </p:txBody>
      </p:sp>
      <p:sp>
        <p:nvSpPr>
          <p:cNvPr id="62" name="scenario-4-sub"/>
          <p:cNvSpPr txBox="1"/>
          <p:nvPr/>
        </p:nvSpPr>
        <p:spPr>
          <a:xfrm>
            <a:off x="704850" y="5276850"/>
            <a:ext cx="2381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All exits by Apr 9</a:t>
            </a:r>
          </a:p>
        </p:txBody>
      </p:sp>
      <p:sp>
        <p:nvSpPr>
          <p:cNvPr id="63" name="scenario-4-completion-value"/>
          <p:cNvSpPr txBox="1"/>
          <p:nvPr/>
        </p:nvSpPr>
        <p:spPr>
          <a:xfrm>
            <a:off x="3429000" y="485775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100%</a:t>
            </a:r>
          </a:p>
        </p:txBody>
      </p:sp>
      <p:sp>
        <p:nvSpPr>
          <p:cNvPr id="64" name="scenario-4-completion-unit"/>
          <p:cNvSpPr txBox="1"/>
          <p:nvPr/>
        </p:nvSpPr>
        <p:spPr>
          <a:xfrm>
            <a:off x="3429000" y="5143500"/>
            <a:ext cx="1600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530 FTE by Apr 9</a:t>
            </a:r>
          </a:p>
        </p:txBody>
      </p:sp>
      <p:sp>
        <p:nvSpPr>
          <p:cNvPr id="65" name="row-4-bar-track"/>
          <p:cNvSpPr/>
          <p:nvPr/>
        </p:nvSpPr>
        <p:spPr>
          <a:xfrm>
            <a:off x="3429000" y="5334000"/>
            <a:ext cx="1600200" cy="57150"/>
          </a:xfrm>
          <a:prstGeom prst="rect">
            <a:avLst/>
          </a:prstGeom>
          <a:solidFill>
            <a:srgbClr val="EE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scenario-4-completion-bar"/>
          <p:cNvSpPr/>
          <p:nvPr/>
        </p:nvSpPr>
        <p:spPr>
          <a:xfrm>
            <a:off x="3429000" y="5334000"/>
            <a:ext cx="160020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scenario-4-impact-amount"/>
          <p:cNvSpPr txBox="1"/>
          <p:nvPr/>
        </p:nvSpPr>
        <p:spPr>
          <a:xfrm>
            <a:off x="5372100" y="485775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B42318"/>
                </a:solidFill>
                <a:latin typeface="Inter"/>
              </a:rPr>
              <a:t>$343K</a:t>
            </a:r>
          </a:p>
        </p:txBody>
      </p:sp>
      <p:sp>
        <p:nvSpPr>
          <p:cNvPr id="68" name="scenario-4-impact-note"/>
          <p:cNvSpPr txBox="1"/>
          <p:nvPr/>
        </p:nvSpPr>
        <p:spPr>
          <a:xfrm>
            <a:off x="5372100" y="5143500"/>
            <a:ext cx="1600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42318"/>
                </a:solidFill>
                <a:latin typeface="Inter"/>
              </a:rPr>
              <a:t>▼ vs. base</a:t>
            </a:r>
          </a:p>
        </p:txBody>
      </p:sp>
      <p:sp>
        <p:nvSpPr>
          <p:cNvPr id="69" name="scenario-4-timing-value"/>
          <p:cNvSpPr txBox="1"/>
          <p:nvPr/>
        </p:nvSpPr>
        <p:spPr>
          <a:xfrm>
            <a:off x="7315200" y="4857750"/>
            <a:ext cx="18002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Apr 9</a:t>
            </a:r>
          </a:p>
        </p:txBody>
      </p:sp>
      <p:sp>
        <p:nvSpPr>
          <p:cNvPr id="70" name="scenario-4-timing-note"/>
          <p:cNvSpPr txBox="1"/>
          <p:nvPr/>
        </p:nvSpPr>
        <p:spPr>
          <a:xfrm>
            <a:off x="7315200" y="5143500"/>
            <a:ext cx="18002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−21 days</a:t>
            </a:r>
          </a:p>
        </p:txBody>
      </p:sp>
      <p:sp>
        <p:nvSpPr>
          <p:cNvPr id="71" name="scenario-4-verdict-pill"/>
          <p:cNvSpPr txBox="1"/>
          <p:nvPr/>
        </p:nvSpPr>
        <p:spPr>
          <a:xfrm>
            <a:off x="9458325" y="4876800"/>
            <a:ext cx="2028825" cy="209550"/>
          </a:xfrm>
          <a:prstGeom prst="rect">
            <a:avLst/>
          </a:prstGeom>
          <a:solidFill>
            <a:srgbClr val="FEF3F2"/>
          </a:solidFill>
          <a:ln>
            <a:noFill/>
          </a:ln>
        </p:spPr>
        <p:txBody>
          <a:bodyPr wrap="square" tIns="28575" rIns="114300" bIns="28575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42318"/>
                </a:solidFill>
                <a:latin typeface="Inter"/>
              </a:rPr>
              <a:t>NOT VIABLE</a:t>
            </a:r>
          </a:p>
        </p:txBody>
      </p:sp>
      <p:sp>
        <p:nvSpPr>
          <p:cNvPr id="72" name="scenario-4-verdict-note"/>
          <p:cNvSpPr txBox="1"/>
          <p:nvPr/>
        </p:nvSpPr>
        <p:spPr>
          <a:xfrm>
            <a:off x="9458325" y="5162550"/>
            <a:ext cx="20288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Breaks knowledge transfer.</a:t>
            </a:r>
          </a:p>
        </p:txBody>
      </p:sp>
      <p:sp>
        <p:nvSpPr>
          <p:cNvPr id="73" name="convergence-bg"/>
          <p:cNvSpPr/>
          <p:nvPr/>
        </p:nvSpPr>
        <p:spPr>
          <a:xfrm>
            <a:off x="533400" y="5638800"/>
            <a:ext cx="11125200" cy="3810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convergence-accent"/>
          <p:cNvSpPr/>
          <p:nvPr/>
        </p:nvSpPr>
        <p:spPr>
          <a:xfrm>
            <a:off x="533400" y="5638800"/>
            <a:ext cx="38100" cy="381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convergence"/>
          <p:cNvSpPr txBox="1"/>
          <p:nvPr/>
        </p:nvSpPr>
        <p:spPr>
          <a:xfrm>
            <a:off x="704850" y="5638800"/>
            <a:ext cx="107823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Read: rows are scenarios, columns are the same four lenses. Verdict combines cash impact with transition feasibility — not just dollars.</a:t>
            </a:r>
          </a:p>
        </p:txBody>
      </p:sp>
      <p:sp>
        <p:nvSpPr>
          <p:cNvPr id="7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