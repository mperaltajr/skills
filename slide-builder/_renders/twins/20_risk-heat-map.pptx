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ure-tag"/>
          <p:cNvSpPr txBox="1"/>
          <p:nvPr/>
        </p:nvSpPr>
        <p:spPr>
          <a:xfrm>
            <a:off x="228600" y="2286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ACCENTURE INTERNAL</a:t>
            </a:r>
          </a:p>
        </p:txBody>
      </p:sp>
      <p:sp>
        <p:nvSpPr>
          <p:cNvPr id="3" name="draft-badge"/>
          <p:cNvSpPr txBox="1"/>
          <p:nvPr/>
        </p:nvSpPr>
        <p:spPr>
          <a:xfrm>
            <a:off x="5772150" y="190500"/>
            <a:ext cx="647700" cy="17145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DRAFT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476250"/>
            <a:ext cx="95250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Six risks tracked — two are above the threshold.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09600" y="123825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Likelihood × impact view across the program. A and E need mitigation plans before pilot launch.</a:t>
            </a:r>
          </a:p>
        </p:txBody>
      </p:sp>
      <p:sp>
        <p:nvSpPr>
          <p:cNvPr id="6" name="brand-rule"/>
          <p:cNvSpPr/>
          <p:nvPr/>
        </p:nvSpPr>
        <p:spPr>
          <a:xfrm>
            <a:off x="609600" y="16954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rt-canvas"/>
          <p:cNvSpPr/>
          <p:nvPr/>
        </p:nvSpPr>
        <p:spPr>
          <a:xfrm>
            <a:off x="609600" y="2095500"/>
            <a:ext cx="6372225" cy="3048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hart-canvas-placeholder"/>
          <p:cNvSpPr txBox="1"/>
          <p:nvPr/>
        </p:nvSpPr>
        <p:spPr>
          <a:xfrm>
            <a:off x="609600" y="2095500"/>
            <a:ext cx="6372225" cy="3048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Risk heatmap — picture-asset; SVG renders here ]</a:t>
            </a:r>
          </a:p>
        </p:txBody>
      </p:sp>
      <p:sp>
        <p:nvSpPr>
          <p:cNvPr id="9" name="legend-bg"/>
          <p:cNvSpPr/>
          <p:nvPr/>
        </p:nvSpPr>
        <p:spPr>
          <a:xfrm>
            <a:off x="7324725" y="2095500"/>
            <a:ext cx="4257675" cy="1238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title"/>
          <p:cNvSpPr txBox="1"/>
          <p:nvPr/>
        </p:nvSpPr>
        <p:spPr>
          <a:xfrm>
            <a:off x="7477125" y="2228850"/>
            <a:ext cx="3952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LEGEND</a:t>
            </a:r>
          </a:p>
        </p:txBody>
      </p:sp>
      <p:sp>
        <p:nvSpPr>
          <p:cNvPr id="11" name="legend-1-swatch"/>
          <p:cNvSpPr/>
          <p:nvPr/>
        </p:nvSpPr>
        <p:spPr>
          <a:xfrm>
            <a:off x="7477125" y="2457450"/>
            <a:ext cx="152400" cy="114300"/>
          </a:xfrm>
          <a:prstGeom prst="rect">
            <a:avLst/>
          </a:prstGeom>
          <a:solidFill>
            <a:srgbClr val="DCFCE7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1-label"/>
          <p:cNvSpPr txBox="1"/>
          <p:nvPr/>
        </p:nvSpPr>
        <p:spPr>
          <a:xfrm>
            <a:off x="7705725" y="2438400"/>
            <a:ext cx="3724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Low risk zone</a:t>
            </a:r>
          </a:p>
        </p:txBody>
      </p:sp>
      <p:sp>
        <p:nvSpPr>
          <p:cNvPr id="13" name="legend-2-swatch"/>
          <p:cNvSpPr/>
          <p:nvPr/>
        </p:nvSpPr>
        <p:spPr>
          <a:xfrm>
            <a:off x="7477125" y="2667000"/>
            <a:ext cx="152400" cy="114300"/>
          </a:xfrm>
          <a:prstGeom prst="rect">
            <a:avLst/>
          </a:prstGeom>
          <a:solidFill>
            <a:srgbClr val="FEF3C7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egend-2-label"/>
          <p:cNvSpPr txBox="1"/>
          <p:nvPr/>
        </p:nvSpPr>
        <p:spPr>
          <a:xfrm>
            <a:off x="7705725" y="2647950"/>
            <a:ext cx="3724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Medium risk zone</a:t>
            </a:r>
          </a:p>
        </p:txBody>
      </p:sp>
      <p:sp>
        <p:nvSpPr>
          <p:cNvPr id="15" name="legend-3-swatch"/>
          <p:cNvSpPr/>
          <p:nvPr/>
        </p:nvSpPr>
        <p:spPr>
          <a:xfrm>
            <a:off x="7477125" y="2876550"/>
            <a:ext cx="152400" cy="114300"/>
          </a:xfrm>
          <a:prstGeom prst="rect">
            <a:avLst/>
          </a:prstGeom>
          <a:solidFill>
            <a:srgbClr val="FECACA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egend-3-label"/>
          <p:cNvSpPr txBox="1"/>
          <p:nvPr/>
        </p:nvSpPr>
        <p:spPr>
          <a:xfrm>
            <a:off x="7705725" y="2857500"/>
            <a:ext cx="3724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High risk zone</a:t>
            </a:r>
          </a:p>
        </p:txBody>
      </p:sp>
      <p:sp>
        <p:nvSpPr>
          <p:cNvPr id="17" name="legend-4-swatch"/>
          <p:cNvSpPr/>
          <p:nvPr/>
        </p:nvSpPr>
        <p:spPr>
          <a:xfrm>
            <a:off x="7477125" y="3133725"/>
            <a:ext cx="190500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egend-4-label"/>
          <p:cNvSpPr txBox="1"/>
          <p:nvPr/>
        </p:nvSpPr>
        <p:spPr>
          <a:xfrm>
            <a:off x="7705725" y="3067050"/>
            <a:ext cx="3724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Mitigation threshold — anything above requires a plan</a:t>
            </a:r>
          </a:p>
        </p:txBody>
      </p:sp>
      <p:sp>
        <p:nvSpPr>
          <p:cNvPr id="19" name="risk-list-title"/>
          <p:cNvSpPr txBox="1"/>
          <p:nvPr/>
        </p:nvSpPr>
        <p:spPr>
          <a:xfrm>
            <a:off x="7324725" y="3467100"/>
            <a:ext cx="4257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TRACKED RISKS</a:t>
            </a:r>
          </a:p>
        </p:txBody>
      </p:sp>
      <p:sp>
        <p:nvSpPr>
          <p:cNvPr id="20" name="risk-1-badge"/>
          <p:cNvSpPr/>
          <p:nvPr/>
        </p:nvSpPr>
        <p:spPr>
          <a:xfrm>
            <a:off x="7324725" y="3733800"/>
            <a:ext cx="209550" cy="20955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isk-1-badge-text"/>
          <p:cNvSpPr txBox="1"/>
          <p:nvPr/>
        </p:nvSpPr>
        <p:spPr>
          <a:xfrm>
            <a:off x="7324725" y="37338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22" name="risk-1-name"/>
          <p:cNvSpPr txBox="1"/>
          <p:nvPr/>
        </p:nvSpPr>
        <p:spPr>
          <a:xfrm>
            <a:off x="7629525" y="36957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Stakeholder withdrawal</a:t>
            </a:r>
          </a:p>
        </p:txBody>
      </p:sp>
      <p:sp>
        <p:nvSpPr>
          <p:cNvPr id="23" name="risk-1-meta"/>
          <p:cNvSpPr txBox="1"/>
          <p:nvPr/>
        </p:nvSpPr>
        <p:spPr>
          <a:xfrm>
            <a:off x="7629525" y="38481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C2626"/>
                </a:solidFill>
                <a:latin typeface="Inter"/>
              </a:rPr>
              <a:t>High impact · Medium likelihood  ABOVE THRESHOLD</a:t>
            </a:r>
          </a:p>
        </p:txBody>
      </p:sp>
      <p:sp>
        <p:nvSpPr>
          <p:cNvPr id="24" name="risk-1-sep"/>
          <p:cNvSpPr/>
          <p:nvPr/>
        </p:nvSpPr>
        <p:spPr>
          <a:xfrm>
            <a:off x="7324725" y="40100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isk-2-badge"/>
          <p:cNvSpPr/>
          <p:nvPr/>
        </p:nvSpPr>
        <p:spPr>
          <a:xfrm>
            <a:off x="7324725" y="40767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isk-2-badge-text"/>
          <p:cNvSpPr txBox="1"/>
          <p:nvPr/>
        </p:nvSpPr>
        <p:spPr>
          <a:xfrm>
            <a:off x="7324725" y="4076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27" name="risk-2-name"/>
          <p:cNvSpPr txBox="1"/>
          <p:nvPr/>
        </p:nvSpPr>
        <p:spPr>
          <a:xfrm>
            <a:off x="7629525" y="40386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Resource constraints</a:t>
            </a:r>
          </a:p>
        </p:txBody>
      </p:sp>
      <p:sp>
        <p:nvSpPr>
          <p:cNvPr id="28" name="risk-2-meta"/>
          <p:cNvSpPr txBox="1"/>
          <p:nvPr/>
        </p:nvSpPr>
        <p:spPr>
          <a:xfrm>
            <a:off x="7629525" y="41910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Medium impact · Medium likelihood</a:t>
            </a:r>
          </a:p>
        </p:txBody>
      </p:sp>
      <p:sp>
        <p:nvSpPr>
          <p:cNvPr id="29" name="risk-2-sep"/>
          <p:cNvSpPr/>
          <p:nvPr/>
        </p:nvSpPr>
        <p:spPr>
          <a:xfrm>
            <a:off x="7324725" y="43529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risk-3-badge"/>
          <p:cNvSpPr/>
          <p:nvPr/>
        </p:nvSpPr>
        <p:spPr>
          <a:xfrm>
            <a:off x="7324725" y="44196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isk-3-badge-text"/>
          <p:cNvSpPr txBox="1"/>
          <p:nvPr/>
        </p:nvSpPr>
        <p:spPr>
          <a:xfrm>
            <a:off x="7324725" y="44196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32" name="risk-3-name"/>
          <p:cNvSpPr txBox="1"/>
          <p:nvPr/>
        </p:nvSpPr>
        <p:spPr>
          <a:xfrm>
            <a:off x="7629525" y="43815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Tooling gaps</a:t>
            </a:r>
          </a:p>
        </p:txBody>
      </p:sp>
      <p:sp>
        <p:nvSpPr>
          <p:cNvPr id="33" name="risk-3-meta"/>
          <p:cNvSpPr txBox="1"/>
          <p:nvPr/>
        </p:nvSpPr>
        <p:spPr>
          <a:xfrm>
            <a:off x="7629525" y="45339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Low impact · High likelihood</a:t>
            </a:r>
          </a:p>
        </p:txBody>
      </p:sp>
      <p:sp>
        <p:nvSpPr>
          <p:cNvPr id="34" name="risk-3-sep"/>
          <p:cNvSpPr/>
          <p:nvPr/>
        </p:nvSpPr>
        <p:spPr>
          <a:xfrm>
            <a:off x="7324725" y="46958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isk-4-badge"/>
          <p:cNvSpPr/>
          <p:nvPr/>
        </p:nvSpPr>
        <p:spPr>
          <a:xfrm>
            <a:off x="7324725" y="47625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isk-4-badge-text"/>
          <p:cNvSpPr txBox="1"/>
          <p:nvPr/>
        </p:nvSpPr>
        <p:spPr>
          <a:xfrm>
            <a:off x="7324725" y="47625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37" name="risk-4-name"/>
          <p:cNvSpPr txBox="1"/>
          <p:nvPr/>
        </p:nvSpPr>
        <p:spPr>
          <a:xfrm>
            <a:off x="7629525" y="47244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Vendor delays</a:t>
            </a:r>
          </a:p>
        </p:txBody>
      </p:sp>
      <p:sp>
        <p:nvSpPr>
          <p:cNvPr id="38" name="risk-4-meta"/>
          <p:cNvSpPr txBox="1"/>
          <p:nvPr/>
        </p:nvSpPr>
        <p:spPr>
          <a:xfrm>
            <a:off x="7629525" y="48768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Medium impact · Low likelihood</a:t>
            </a:r>
          </a:p>
        </p:txBody>
      </p:sp>
      <p:sp>
        <p:nvSpPr>
          <p:cNvPr id="39" name="risk-4-sep"/>
          <p:cNvSpPr/>
          <p:nvPr/>
        </p:nvSpPr>
        <p:spPr>
          <a:xfrm>
            <a:off x="7324725" y="50387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isk-5-badge"/>
          <p:cNvSpPr/>
          <p:nvPr/>
        </p:nvSpPr>
        <p:spPr>
          <a:xfrm>
            <a:off x="7324725" y="5105400"/>
            <a:ext cx="209550" cy="20955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isk-5-badge-text"/>
          <p:cNvSpPr txBox="1"/>
          <p:nvPr/>
        </p:nvSpPr>
        <p:spPr>
          <a:xfrm>
            <a:off x="7324725" y="5105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</a:t>
            </a:r>
          </a:p>
        </p:txBody>
      </p:sp>
      <p:sp>
        <p:nvSpPr>
          <p:cNvPr id="42" name="risk-5-name"/>
          <p:cNvSpPr txBox="1"/>
          <p:nvPr/>
        </p:nvSpPr>
        <p:spPr>
          <a:xfrm>
            <a:off x="7629525" y="50673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Scope creep</a:t>
            </a:r>
          </a:p>
        </p:txBody>
      </p:sp>
      <p:sp>
        <p:nvSpPr>
          <p:cNvPr id="43" name="risk-5-meta"/>
          <p:cNvSpPr txBox="1"/>
          <p:nvPr/>
        </p:nvSpPr>
        <p:spPr>
          <a:xfrm>
            <a:off x="7629525" y="52197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C2626"/>
                </a:solidFill>
                <a:latin typeface="Inter"/>
              </a:rPr>
              <a:t>High impact · High likelihood  ABOVE THRESHOLD</a:t>
            </a:r>
          </a:p>
        </p:txBody>
      </p:sp>
      <p:sp>
        <p:nvSpPr>
          <p:cNvPr id="44" name="risk-5-sep"/>
          <p:cNvSpPr/>
          <p:nvPr/>
        </p:nvSpPr>
        <p:spPr>
          <a:xfrm>
            <a:off x="7324725" y="53816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isk-6-badge"/>
          <p:cNvSpPr/>
          <p:nvPr/>
        </p:nvSpPr>
        <p:spPr>
          <a:xfrm>
            <a:off x="7324725" y="54483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isk-6-badge-text"/>
          <p:cNvSpPr txBox="1"/>
          <p:nvPr/>
        </p:nvSpPr>
        <p:spPr>
          <a:xfrm>
            <a:off x="7324725" y="5448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</a:t>
            </a:r>
          </a:p>
        </p:txBody>
      </p:sp>
      <p:sp>
        <p:nvSpPr>
          <p:cNvPr id="47" name="risk-6-name"/>
          <p:cNvSpPr txBox="1"/>
          <p:nvPr/>
        </p:nvSpPr>
        <p:spPr>
          <a:xfrm>
            <a:off x="7629525" y="5410200"/>
            <a:ext cx="38766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Change management lag</a:t>
            </a:r>
          </a:p>
        </p:txBody>
      </p:sp>
      <p:sp>
        <p:nvSpPr>
          <p:cNvPr id="48" name="risk-6-meta"/>
          <p:cNvSpPr txBox="1"/>
          <p:nvPr/>
        </p:nvSpPr>
        <p:spPr>
          <a:xfrm>
            <a:off x="7629525" y="5562600"/>
            <a:ext cx="3876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Medium impact · Medium likelihood</a:t>
            </a:r>
          </a:p>
        </p:txBody>
      </p:sp>
      <p:sp>
        <p:nvSpPr>
          <p:cNvPr id="49" name="risk-6-sep"/>
          <p:cNvSpPr/>
          <p:nvPr/>
        </p:nvSpPr>
        <p:spPr>
          <a:xfrm>
            <a:off x="7324725" y="5724525"/>
            <a:ext cx="42576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Risks A and E need mitigation plans before pilot launch.</a:t>
            </a:r>
          </a:p>
        </p:txBody>
      </p:sp>
      <p:sp>
        <p:nvSpPr>
          <p:cNvPr id="53" name="footer-left"/>
          <p:cNvSpPr txBox="1"/>
          <p:nvPr/>
        </p:nvSpPr>
        <p:spPr>
          <a:xfrm>
            <a:off x="228600" y="66103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Inter"/>
              </a:rPr>
              <a:t>CONFIDENTIAL — ACCENTURE INTERNAL</a:t>
            </a:r>
          </a:p>
        </p:txBody>
      </p:sp>
      <p:sp>
        <p:nvSpPr>
          <p:cNvPr id="54" name="footer-right"/>
          <p:cNvSpPr txBox="1"/>
          <p:nvPr/>
        </p:nvSpPr>
        <p:spPr>
          <a:xfrm>
            <a:off x="10058400" y="6600825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Slide Lab · 2026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