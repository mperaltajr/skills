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1239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Why now, why this — three theses for the Q3 rollout.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Each thesis stands on its own and is anchored by a measured proof point.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hesis-1-card-bg"/>
          <p:cNvSpPr/>
          <p:nvPr/>
        </p:nvSpPr>
        <p:spPr>
          <a:xfrm>
            <a:off x="457200" y="2095500"/>
            <a:ext cx="11277600" cy="1143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hesis-1-accent"/>
          <p:cNvSpPr/>
          <p:nvPr/>
        </p:nvSpPr>
        <p:spPr>
          <a:xfrm>
            <a:off x="457200" y="2095500"/>
            <a:ext cx="38100" cy="11430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hesis-1-num"/>
          <p:cNvSpPr txBox="1"/>
          <p:nvPr/>
        </p:nvSpPr>
        <p:spPr>
          <a:xfrm>
            <a:off x="590550" y="2305050"/>
            <a:ext cx="6667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330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8" name="thesis-1-statement"/>
          <p:cNvSpPr txBox="1"/>
          <p:nvPr/>
        </p:nvSpPr>
        <p:spPr>
          <a:xfrm>
            <a:off x="1409700" y="2305050"/>
            <a:ext cx="8001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Consulting decks are getting slower and worse — Slide Lab reverses both.</a:t>
            </a:r>
          </a:p>
        </p:txBody>
      </p:sp>
      <p:sp>
        <p:nvSpPr>
          <p:cNvPr id="9" name="thesis-1-rationale"/>
          <p:cNvSpPr txBox="1"/>
          <p:nvPr/>
        </p:nvSpPr>
        <p:spPr>
          <a:xfrm>
            <a:off x="1409700" y="262890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Senior consultants spend more than 60% of their build time on deck structure, not insight. Slide Lab automates the structure layer, freeing partner hours for the thinking that actually moves the engagement.</a:t>
            </a:r>
          </a:p>
        </p:txBody>
      </p:sp>
      <p:sp>
        <p:nvSpPr>
          <p:cNvPr id="10" name="thesis-1-divider"/>
          <p:cNvSpPr/>
          <p:nvPr/>
        </p:nvSpPr>
        <p:spPr>
          <a:xfrm>
            <a:off x="9639300" y="2266950"/>
            <a:ext cx="9525" cy="8001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hesis-1-stat"/>
          <p:cNvSpPr txBox="1"/>
          <p:nvPr/>
        </p:nvSpPr>
        <p:spPr>
          <a:xfrm>
            <a:off x="9867900" y="2305050"/>
            <a:ext cx="1143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550" b="1" i="0">
                <a:solidFill>
                  <a:srgbClr val="FFFFFF"/>
                </a:solidFill>
                <a:latin typeface="Inter"/>
              </a:rPr>
              <a:t>−64</a:t>
            </a:r>
          </a:p>
        </p:txBody>
      </p:sp>
      <p:sp>
        <p:nvSpPr>
          <p:cNvPr id="12" name="thesis-1-unit"/>
          <p:cNvSpPr txBox="1"/>
          <p:nvPr/>
        </p:nvSpPr>
        <p:spPr>
          <a:xfrm>
            <a:off x="10553700" y="24003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%</a:t>
            </a:r>
          </a:p>
        </p:txBody>
      </p:sp>
      <p:sp>
        <p:nvSpPr>
          <p:cNvPr id="13" name="thesis-1-stat-label"/>
          <p:cNvSpPr txBox="1"/>
          <p:nvPr/>
        </p:nvSpPr>
        <p:spPr>
          <a:xfrm>
            <a:off x="9867900" y="2762250"/>
            <a:ext cx="17526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CYCLE TIME
VS. BASELINE</a:t>
            </a:r>
          </a:p>
        </p:txBody>
      </p:sp>
      <p:sp>
        <p:nvSpPr>
          <p:cNvPr id="14" name="thesis-2-card-bg"/>
          <p:cNvSpPr/>
          <p:nvPr/>
        </p:nvSpPr>
        <p:spPr>
          <a:xfrm>
            <a:off x="457200" y="3371850"/>
            <a:ext cx="11277600" cy="1143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hesis-2-accent"/>
          <p:cNvSpPr/>
          <p:nvPr/>
        </p:nvSpPr>
        <p:spPr>
          <a:xfrm>
            <a:off x="457200" y="3371850"/>
            <a:ext cx="38100" cy="11430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hesis-2-num"/>
          <p:cNvSpPr txBox="1"/>
          <p:nvPr/>
        </p:nvSpPr>
        <p:spPr>
          <a:xfrm>
            <a:off x="590550" y="3581400"/>
            <a:ext cx="6667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330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7" name="thesis-2-statement"/>
          <p:cNvSpPr txBox="1"/>
          <p:nvPr/>
        </p:nvSpPr>
        <p:spPr>
          <a:xfrm>
            <a:off x="1409700" y="3581400"/>
            <a:ext cx="8001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The IP compounds — every deck built adds to the pattern library.</a:t>
            </a:r>
          </a:p>
        </p:txBody>
      </p:sp>
      <p:sp>
        <p:nvSpPr>
          <p:cNvPr id="18" name="thesis-2-rationale"/>
          <p:cNvSpPr txBox="1"/>
          <p:nvPr/>
        </p:nvSpPr>
        <p:spPr>
          <a:xfrm>
            <a:off x="1409700" y="390525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Each new pattern is reusable across practices and clients. The library is the moat: the marginal cost of the next deck falls as the catalog grows, and every batch widens the lead.</a:t>
            </a:r>
          </a:p>
        </p:txBody>
      </p:sp>
      <p:sp>
        <p:nvSpPr>
          <p:cNvPr id="19" name="thesis-2-divider"/>
          <p:cNvSpPr/>
          <p:nvPr/>
        </p:nvSpPr>
        <p:spPr>
          <a:xfrm>
            <a:off x="9639300" y="3543300"/>
            <a:ext cx="9525" cy="8001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hesis-2-stat"/>
          <p:cNvSpPr txBox="1"/>
          <p:nvPr/>
        </p:nvSpPr>
        <p:spPr>
          <a:xfrm>
            <a:off x="9867900" y="3581400"/>
            <a:ext cx="1143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550" b="1" i="0">
                <a:solidFill>
                  <a:srgbClr val="FFFFFF"/>
                </a:solidFill>
                <a:latin typeface="Inter"/>
              </a:rPr>
              <a:t>44</a:t>
            </a:r>
          </a:p>
        </p:txBody>
      </p:sp>
      <p:sp>
        <p:nvSpPr>
          <p:cNvPr id="21" name="thesis-2-stat-label"/>
          <p:cNvSpPr txBox="1"/>
          <p:nvPr/>
        </p:nvSpPr>
        <p:spPr>
          <a:xfrm>
            <a:off x="9867900" y="4038600"/>
            <a:ext cx="17526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PATTERNS SHIPPED
ACROSS 5 BATCHES</a:t>
            </a:r>
          </a:p>
        </p:txBody>
      </p:sp>
      <p:sp>
        <p:nvSpPr>
          <p:cNvPr id="22" name="thesis-3-card-bg"/>
          <p:cNvSpPr/>
          <p:nvPr/>
        </p:nvSpPr>
        <p:spPr>
          <a:xfrm>
            <a:off x="457200" y="4648200"/>
            <a:ext cx="11277600" cy="1143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hesis-3-accent"/>
          <p:cNvSpPr/>
          <p:nvPr/>
        </p:nvSpPr>
        <p:spPr>
          <a:xfrm>
            <a:off x="457200" y="4648200"/>
            <a:ext cx="38100" cy="11430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hesis-3-num"/>
          <p:cNvSpPr txBox="1"/>
          <p:nvPr/>
        </p:nvSpPr>
        <p:spPr>
          <a:xfrm>
            <a:off x="590550" y="4857750"/>
            <a:ext cx="6667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330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25" name="thesis-3-statement"/>
          <p:cNvSpPr txBox="1"/>
          <p:nvPr/>
        </p:nvSpPr>
        <p:spPr>
          <a:xfrm>
            <a:off x="1409700" y="4857750"/>
            <a:ext cx="8001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Internal IP, no vendor lock-in — we own the upside.</a:t>
            </a:r>
          </a:p>
        </p:txBody>
      </p:sp>
      <p:sp>
        <p:nvSpPr>
          <p:cNvPr id="26" name="thesis-3-rationale"/>
          <p:cNvSpPr txBox="1"/>
          <p:nvPr/>
        </p:nvSpPr>
        <p:spPr>
          <a:xfrm>
            <a:off x="1409700" y="518160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Built on the Claude SDK as a thin substrate; the patterns, pipeline, and prompts are entirely ours. No recurring vendor license, no rev-share, no exit risk if the model layer shifts.</a:t>
            </a:r>
          </a:p>
        </p:txBody>
      </p:sp>
      <p:sp>
        <p:nvSpPr>
          <p:cNvPr id="27" name="thesis-3-divider"/>
          <p:cNvSpPr/>
          <p:nvPr/>
        </p:nvSpPr>
        <p:spPr>
          <a:xfrm>
            <a:off x="9639300" y="4819650"/>
            <a:ext cx="9525" cy="8001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hesis-3-prefix"/>
          <p:cNvSpPr txBox="1"/>
          <p:nvPr/>
        </p:nvSpPr>
        <p:spPr>
          <a:xfrm>
            <a:off x="9867900" y="49339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$</a:t>
            </a:r>
          </a:p>
        </p:txBody>
      </p:sp>
      <p:sp>
        <p:nvSpPr>
          <p:cNvPr id="29" name="thesis-3-stat"/>
          <p:cNvSpPr txBox="1"/>
          <p:nvPr/>
        </p:nvSpPr>
        <p:spPr>
          <a:xfrm>
            <a:off x="10096500" y="4857750"/>
            <a:ext cx="1143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550" b="1" i="0">
                <a:solidFill>
                  <a:srgbClr val="FFFFFF"/>
                </a:solidFill>
                <a:latin typeface="Inter"/>
              </a:rPr>
              <a:t>0</a:t>
            </a:r>
          </a:p>
        </p:txBody>
      </p:sp>
      <p:sp>
        <p:nvSpPr>
          <p:cNvPr id="30" name="thesis-3-stat-label"/>
          <p:cNvSpPr txBox="1"/>
          <p:nvPr/>
        </p:nvSpPr>
        <p:spPr>
          <a:xfrm>
            <a:off x="9867900" y="5314950"/>
            <a:ext cx="17526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VENDOR RECURRING
AT ANY SCALE</a:t>
            </a:r>
          </a:p>
        </p:txBody>
      </p:sp>
      <p:sp>
        <p:nvSpPr>
          <p:cNvPr id="31" name="convergence"/>
          <p:cNvSpPr txBox="1"/>
          <p:nvPr/>
        </p:nvSpPr>
        <p:spPr>
          <a:xfrm>
            <a:off x="457200" y="619125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THREE THESES, THREE PROOF POINTS.</a:t>
            </a:r>
          </a:p>
        </p:txBody>
      </p:sp>
      <p:sp>
        <p:nvSpPr>
          <p:cNvPr id="3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