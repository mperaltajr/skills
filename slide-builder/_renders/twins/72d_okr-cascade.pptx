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Q3 OKRs — one objective, three key results, nine initiatives.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level commits the level below: the objective sets ambition, KRs make it measurable, initiatives make it doable.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2095500"/>
            <a:ext cx="10972800" cy="3733800"/>
          </a:xfrm>
          <a:prstGeom prst="rect">
            <a:avLst/>
          </a:prstGeom>
          <a:solidFill>
            <a:srgbClr val="361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objective"/>
          <p:cNvSpPr/>
          <p:nvPr/>
        </p:nvSpPr>
        <p:spPr>
          <a:xfrm>
            <a:off x="2667000" y="2095500"/>
            <a:ext cx="6858000" cy="7429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objective-tag"/>
          <p:cNvSpPr txBox="1"/>
          <p:nvPr/>
        </p:nvSpPr>
        <p:spPr>
          <a:xfrm>
            <a:off x="2895600" y="2209800"/>
            <a:ext cx="6400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OBJECTIVE</a:t>
            </a:r>
          </a:p>
        </p:txBody>
      </p:sp>
      <p:sp>
        <p:nvSpPr>
          <p:cNvPr id="8" name="objective-label"/>
          <p:cNvSpPr txBox="1"/>
          <p:nvPr/>
        </p:nvSpPr>
        <p:spPr>
          <a:xfrm>
            <a:off x="2895600" y="2381250"/>
            <a:ext cx="6400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Make Slide Lab the default deck-building method across three practices.</a:t>
            </a:r>
          </a:p>
        </p:txBody>
      </p:sp>
      <p:sp>
        <p:nvSpPr>
          <p:cNvPr id="9" name="kr-1"/>
          <p:cNvSpPr/>
          <p:nvPr/>
        </p:nvSpPr>
        <p:spPr>
          <a:xfrm>
            <a:off x="609600" y="337185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kr-1-tag"/>
          <p:cNvSpPr txBox="1"/>
          <p:nvPr/>
        </p:nvSpPr>
        <p:spPr>
          <a:xfrm>
            <a:off x="762000" y="346710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1</a:t>
            </a:r>
          </a:p>
        </p:txBody>
      </p:sp>
      <p:sp>
        <p:nvSpPr>
          <p:cNvPr id="11" name="kr-1-label"/>
          <p:cNvSpPr txBox="1"/>
          <p:nvPr/>
        </p:nvSpPr>
        <p:spPr>
          <a:xfrm>
            <a:off x="762000" y="363855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Roll out to 3 practice areas by Q3 end</a:t>
            </a:r>
          </a:p>
        </p:txBody>
      </p:sp>
      <p:sp>
        <p:nvSpPr>
          <p:cNvPr id="12" name="kr-1-init-1"/>
          <p:cNvSpPr/>
          <p:nvPr/>
        </p:nvSpPr>
        <p:spPr>
          <a:xfrm>
            <a:off x="609600" y="44196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kr-1-init-1-num"/>
          <p:cNvSpPr txBox="1"/>
          <p:nvPr/>
        </p:nvSpPr>
        <p:spPr>
          <a:xfrm>
            <a:off x="7048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1.1</a:t>
            </a:r>
          </a:p>
        </p:txBody>
      </p:sp>
      <p:sp>
        <p:nvSpPr>
          <p:cNvPr id="14" name="kr-1-init-1-text"/>
          <p:cNvSpPr txBox="1"/>
          <p:nvPr/>
        </p:nvSpPr>
        <p:spPr>
          <a:xfrm>
            <a:off x="9715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 6 senior managers through full deck cycle</a:t>
            </a:r>
          </a:p>
        </p:txBody>
      </p:sp>
      <p:sp>
        <p:nvSpPr>
          <p:cNvPr id="15" name="kr-1-init-2"/>
          <p:cNvSpPr/>
          <p:nvPr/>
        </p:nvSpPr>
        <p:spPr>
          <a:xfrm>
            <a:off x="609600" y="485775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kr-1-init-2-num"/>
          <p:cNvSpPr txBox="1"/>
          <p:nvPr/>
        </p:nvSpPr>
        <p:spPr>
          <a:xfrm>
            <a:off x="7048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1.2</a:t>
            </a:r>
          </a:p>
        </p:txBody>
      </p:sp>
      <p:sp>
        <p:nvSpPr>
          <p:cNvPr id="17" name="kr-1-init-2-text"/>
          <p:cNvSpPr txBox="1"/>
          <p:nvPr/>
        </p:nvSpPr>
        <p:spPr>
          <a:xfrm>
            <a:off x="9715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Brand-theme each practice (colors, type, marks)</a:t>
            </a:r>
          </a:p>
        </p:txBody>
      </p:sp>
      <p:sp>
        <p:nvSpPr>
          <p:cNvPr id="18" name="kr-1-init-3"/>
          <p:cNvSpPr/>
          <p:nvPr/>
        </p:nvSpPr>
        <p:spPr>
          <a:xfrm>
            <a:off x="609600" y="52959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kr-1-init-3-num"/>
          <p:cNvSpPr txBox="1"/>
          <p:nvPr/>
        </p:nvSpPr>
        <p:spPr>
          <a:xfrm>
            <a:off x="704850" y="54006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1.3</a:t>
            </a:r>
          </a:p>
        </p:txBody>
      </p:sp>
      <p:sp>
        <p:nvSpPr>
          <p:cNvPr id="20" name="kr-1-init-3-text"/>
          <p:cNvSpPr txBox="1"/>
          <p:nvPr/>
        </p:nvSpPr>
        <p:spPr>
          <a:xfrm>
            <a:off x="971550" y="53721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Weekly pilot review with practice leads</a:t>
            </a:r>
          </a:p>
        </p:txBody>
      </p:sp>
      <p:sp>
        <p:nvSpPr>
          <p:cNvPr id="21" name="kr-2"/>
          <p:cNvSpPr/>
          <p:nvPr/>
        </p:nvSpPr>
        <p:spPr>
          <a:xfrm>
            <a:off x="4343400" y="337185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r-2-tag"/>
          <p:cNvSpPr txBox="1"/>
          <p:nvPr/>
        </p:nvSpPr>
        <p:spPr>
          <a:xfrm>
            <a:off x="4495800" y="346710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2</a:t>
            </a:r>
          </a:p>
        </p:txBody>
      </p:sp>
      <p:sp>
        <p:nvSpPr>
          <p:cNvPr id="23" name="kr-2-label"/>
          <p:cNvSpPr txBox="1"/>
          <p:nvPr/>
        </p:nvSpPr>
        <p:spPr>
          <a:xfrm>
            <a:off x="4495800" y="363855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80%+ partner-ready sign-off rate</a:t>
            </a:r>
          </a:p>
        </p:txBody>
      </p:sp>
      <p:sp>
        <p:nvSpPr>
          <p:cNvPr id="24" name="kr-2-init-1"/>
          <p:cNvSpPr/>
          <p:nvPr/>
        </p:nvSpPr>
        <p:spPr>
          <a:xfrm>
            <a:off x="4343400" y="44196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kr-2-init-1-num"/>
          <p:cNvSpPr txBox="1"/>
          <p:nvPr/>
        </p:nvSpPr>
        <p:spPr>
          <a:xfrm>
            <a:off x="44386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2.1</a:t>
            </a:r>
          </a:p>
        </p:txBody>
      </p:sp>
      <p:sp>
        <p:nvSpPr>
          <p:cNvPr id="26" name="kr-2-init-1-text"/>
          <p:cNvSpPr txBox="1"/>
          <p:nvPr/>
        </p:nvSpPr>
        <p:spPr>
          <a:xfrm>
            <a:off x="47053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Ship QC framework v2 with deterministic checks</a:t>
            </a:r>
          </a:p>
        </p:txBody>
      </p:sp>
      <p:sp>
        <p:nvSpPr>
          <p:cNvPr id="27" name="kr-2-init-2"/>
          <p:cNvSpPr/>
          <p:nvPr/>
        </p:nvSpPr>
        <p:spPr>
          <a:xfrm>
            <a:off x="4343400" y="485775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kr-2-init-2-num"/>
          <p:cNvSpPr txBox="1"/>
          <p:nvPr/>
        </p:nvSpPr>
        <p:spPr>
          <a:xfrm>
            <a:off x="44386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2.2</a:t>
            </a:r>
          </a:p>
        </p:txBody>
      </p:sp>
      <p:sp>
        <p:nvSpPr>
          <p:cNvPr id="29" name="kr-2-init-2-text"/>
          <p:cNvSpPr txBox="1"/>
          <p:nvPr/>
        </p:nvSpPr>
        <p:spPr>
          <a:xfrm>
            <a:off x="47053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Grow pattern library to 100+ vetted patterns</a:t>
            </a:r>
          </a:p>
        </p:txBody>
      </p:sp>
      <p:sp>
        <p:nvSpPr>
          <p:cNvPr id="30" name="kr-2-init-3"/>
          <p:cNvSpPr/>
          <p:nvPr/>
        </p:nvSpPr>
        <p:spPr>
          <a:xfrm>
            <a:off x="4343400" y="52959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kr-2-init-3-num"/>
          <p:cNvSpPr txBox="1"/>
          <p:nvPr/>
        </p:nvSpPr>
        <p:spPr>
          <a:xfrm>
            <a:off x="4438650" y="54006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2.3</a:t>
            </a:r>
          </a:p>
        </p:txBody>
      </p:sp>
      <p:sp>
        <p:nvSpPr>
          <p:cNvPr id="32" name="kr-2-init-3-text"/>
          <p:cNvSpPr txBox="1"/>
          <p:nvPr/>
        </p:nvSpPr>
        <p:spPr>
          <a:xfrm>
            <a:off x="4705350" y="53721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Close the coach feedback loop after every deck</a:t>
            </a:r>
          </a:p>
        </p:txBody>
      </p:sp>
      <p:sp>
        <p:nvSpPr>
          <p:cNvPr id="33" name="kr-3"/>
          <p:cNvSpPr/>
          <p:nvPr/>
        </p:nvSpPr>
        <p:spPr>
          <a:xfrm>
            <a:off x="8077200" y="3371850"/>
            <a:ext cx="3505200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kr-3-tag"/>
          <p:cNvSpPr txBox="1"/>
          <p:nvPr/>
        </p:nvSpPr>
        <p:spPr>
          <a:xfrm>
            <a:off x="8229600" y="3467100"/>
            <a:ext cx="320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RESULT 3</a:t>
            </a:r>
          </a:p>
        </p:txBody>
      </p:sp>
      <p:sp>
        <p:nvSpPr>
          <p:cNvPr id="35" name="kr-3-label"/>
          <p:cNvSpPr txBox="1"/>
          <p:nvPr/>
        </p:nvSpPr>
        <p:spPr>
          <a:xfrm>
            <a:off x="8229600" y="3638550"/>
            <a:ext cx="32004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−50% deck cycle time vs Q2 baseline</a:t>
            </a:r>
          </a:p>
        </p:txBody>
      </p:sp>
      <p:sp>
        <p:nvSpPr>
          <p:cNvPr id="36" name="kr-3-init-1"/>
          <p:cNvSpPr/>
          <p:nvPr/>
        </p:nvSpPr>
        <p:spPr>
          <a:xfrm>
            <a:off x="8077200" y="44196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kr-3-init-1-num"/>
          <p:cNvSpPr txBox="1"/>
          <p:nvPr/>
        </p:nvSpPr>
        <p:spPr>
          <a:xfrm>
            <a:off x="8172450" y="45243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3.1</a:t>
            </a:r>
          </a:p>
        </p:txBody>
      </p:sp>
      <p:sp>
        <p:nvSpPr>
          <p:cNvPr id="38" name="kr-3-init-1-text"/>
          <p:cNvSpPr txBox="1"/>
          <p:nvPr/>
        </p:nvSpPr>
        <p:spPr>
          <a:xfrm>
            <a:off x="8439150" y="44958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Optimize the storyline session to under 30 min</a:t>
            </a:r>
          </a:p>
        </p:txBody>
      </p:sp>
      <p:sp>
        <p:nvSpPr>
          <p:cNvPr id="39" name="kr-3-init-2"/>
          <p:cNvSpPr/>
          <p:nvPr/>
        </p:nvSpPr>
        <p:spPr>
          <a:xfrm>
            <a:off x="8077200" y="485775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kr-3-init-2-num"/>
          <p:cNvSpPr txBox="1"/>
          <p:nvPr/>
        </p:nvSpPr>
        <p:spPr>
          <a:xfrm>
            <a:off x="8172450" y="49625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3.2</a:t>
            </a:r>
          </a:p>
        </p:txBody>
      </p:sp>
      <p:sp>
        <p:nvSpPr>
          <p:cNvPr id="41" name="kr-3-init-2-text"/>
          <p:cNvSpPr txBox="1"/>
          <p:nvPr/>
        </p:nvSpPr>
        <p:spPr>
          <a:xfrm>
            <a:off x="8439150" y="493395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 the HTML-to-PPTX translator end-to-end</a:t>
            </a:r>
          </a:p>
        </p:txBody>
      </p:sp>
      <p:sp>
        <p:nvSpPr>
          <p:cNvPr id="42" name="kr-3-init-3"/>
          <p:cNvSpPr/>
          <p:nvPr/>
        </p:nvSpPr>
        <p:spPr>
          <a:xfrm>
            <a:off x="8077200" y="5295900"/>
            <a:ext cx="3505200" cy="361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kr-3-init-3-num"/>
          <p:cNvSpPr txBox="1"/>
          <p:nvPr/>
        </p:nvSpPr>
        <p:spPr>
          <a:xfrm>
            <a:off x="8172450" y="540067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3.3</a:t>
            </a:r>
          </a:p>
        </p:txBody>
      </p:sp>
      <p:sp>
        <p:nvSpPr>
          <p:cNvPr id="44" name="kr-3-init-3-text"/>
          <p:cNvSpPr txBox="1"/>
          <p:nvPr/>
        </p:nvSpPr>
        <p:spPr>
          <a:xfrm>
            <a:off x="8439150" y="53721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Enable one-click template hot-swap per practice</a:t>
            </a:r>
          </a:p>
        </p:txBody>
      </p:sp>
      <p:sp>
        <p:nvSpPr>
          <p:cNvPr id="45" name="convergence-bg"/>
          <p:cNvSpPr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ergence"/>
          <p:cNvSpPr txBox="1"/>
          <p:nvPr/>
        </p:nvSpPr>
        <p:spPr>
          <a:xfrm>
            <a:off x="819150" y="5905500"/>
            <a:ext cx="105537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Nine initiatives, three measurable outcomes, one ambition — if an initiative does not ladder up, it does not ship this quarter.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