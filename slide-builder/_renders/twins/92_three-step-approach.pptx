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Three steps — </a:t>
            </a:r>
            <a:r>
              <a:rPr sz="1950" b="1" i="0">
                <a:solidFill>
                  <a:srgbClr val="2D0A4E"/>
                </a:solidFill>
                <a:latin typeface="Inter"/>
              </a:rPr>
              <a:t>argue, build, QC. Nothing else.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10287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deliberately simple approach — each step ends in a tangible artefact the next step builds on.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3716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tep-1-head"/>
          <p:cNvSpPr/>
          <p:nvPr/>
        </p:nvSpPr>
        <p:spPr>
          <a:xfrm>
            <a:off x="533400" y="1905000"/>
            <a:ext cx="3590925" cy="647700"/>
          </a:xfrm>
          <a:prstGeom prst="homePlat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tep-1-num"/>
          <p:cNvSpPr txBox="1"/>
          <p:nvPr/>
        </p:nvSpPr>
        <p:spPr>
          <a:xfrm>
            <a:off x="742950" y="2000250"/>
            <a:ext cx="31718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STEP 01</a:t>
            </a:r>
          </a:p>
        </p:txBody>
      </p:sp>
      <p:sp>
        <p:nvSpPr>
          <p:cNvPr id="7" name="step-1-name"/>
          <p:cNvSpPr txBox="1"/>
          <p:nvPr/>
        </p:nvSpPr>
        <p:spPr>
          <a:xfrm>
            <a:off x="742950" y="2171700"/>
            <a:ext cx="31718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ARGUE</a:t>
            </a:r>
          </a:p>
        </p:txBody>
      </p:sp>
      <p:sp>
        <p:nvSpPr>
          <p:cNvPr id="8" name="step-1-body"/>
          <p:cNvSpPr/>
          <p:nvPr/>
        </p:nvSpPr>
        <p:spPr>
          <a:xfrm>
            <a:off x="533400" y="2552700"/>
            <a:ext cx="3590925" cy="3067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step-1-bullet-1-dot"/>
          <p:cNvSpPr/>
          <p:nvPr/>
        </p:nvSpPr>
        <p:spPr>
          <a:xfrm>
            <a:off x="704850" y="2809875"/>
            <a:ext cx="57150" cy="571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step-1-bullet-1"/>
          <p:cNvSpPr txBox="1"/>
          <p:nvPr/>
        </p:nvSpPr>
        <p:spPr>
          <a:xfrm>
            <a:off x="838200" y="2743200"/>
            <a:ext cx="31146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Lock the governing thought</a:t>
            </a:r>
          </a:p>
        </p:txBody>
      </p:sp>
      <p:sp>
        <p:nvSpPr>
          <p:cNvPr id="11" name="step-1-bullet-2-dot"/>
          <p:cNvSpPr/>
          <p:nvPr/>
        </p:nvSpPr>
        <p:spPr>
          <a:xfrm>
            <a:off x="704850" y="3114675"/>
            <a:ext cx="57150" cy="571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step-1-bullet-2"/>
          <p:cNvSpPr txBox="1"/>
          <p:nvPr/>
        </p:nvSpPr>
        <p:spPr>
          <a:xfrm>
            <a:off x="838200" y="3048000"/>
            <a:ext cx="31146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Sharpen MECE structure</a:t>
            </a:r>
          </a:p>
        </p:txBody>
      </p:sp>
      <p:sp>
        <p:nvSpPr>
          <p:cNvPr id="13" name="step-1-bullet-3-dot"/>
          <p:cNvSpPr/>
          <p:nvPr/>
        </p:nvSpPr>
        <p:spPr>
          <a:xfrm>
            <a:off x="704850" y="3419475"/>
            <a:ext cx="57150" cy="571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tep-1-bullet-3"/>
          <p:cNvSpPr txBox="1"/>
          <p:nvPr/>
        </p:nvSpPr>
        <p:spPr>
          <a:xfrm>
            <a:off x="838200" y="3352800"/>
            <a:ext cx="31146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Test against counterexamples</a:t>
            </a:r>
          </a:p>
        </p:txBody>
      </p:sp>
      <p:sp>
        <p:nvSpPr>
          <p:cNvPr id="15" name="step-1-pill"/>
          <p:cNvSpPr/>
          <p:nvPr/>
        </p:nvSpPr>
        <p:spPr>
          <a:xfrm>
            <a:off x="723900" y="5048250"/>
            <a:ext cx="3209925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2D0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step-1-pill-label"/>
          <p:cNvSpPr txBox="1"/>
          <p:nvPr/>
        </p:nvSpPr>
        <p:spPr>
          <a:xfrm>
            <a:off x="723900" y="5105400"/>
            <a:ext cx="32099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DELIVERABLE</a:t>
            </a:r>
          </a:p>
        </p:txBody>
      </p:sp>
      <p:sp>
        <p:nvSpPr>
          <p:cNvPr id="17" name="step-1-pill-text"/>
          <p:cNvSpPr txBox="1"/>
          <p:nvPr/>
        </p:nvSpPr>
        <p:spPr>
          <a:xfrm>
            <a:off x="723900" y="5219700"/>
            <a:ext cx="3209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Argued storyline</a:t>
            </a:r>
          </a:p>
        </p:txBody>
      </p:sp>
      <p:sp>
        <p:nvSpPr>
          <p:cNvPr id="18" name="step-2-head"/>
          <p:cNvSpPr/>
          <p:nvPr/>
        </p:nvSpPr>
        <p:spPr>
          <a:xfrm>
            <a:off x="4295775" y="1905000"/>
            <a:ext cx="3590925" cy="647700"/>
          </a:xfrm>
          <a:prstGeom prst="homePlat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step-2-num"/>
          <p:cNvSpPr txBox="1"/>
          <p:nvPr/>
        </p:nvSpPr>
        <p:spPr>
          <a:xfrm>
            <a:off x="4505325" y="2000250"/>
            <a:ext cx="31718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STEP 02</a:t>
            </a:r>
          </a:p>
        </p:txBody>
      </p:sp>
      <p:sp>
        <p:nvSpPr>
          <p:cNvPr id="20" name="step-2-name"/>
          <p:cNvSpPr txBox="1"/>
          <p:nvPr/>
        </p:nvSpPr>
        <p:spPr>
          <a:xfrm>
            <a:off x="4505325" y="2171700"/>
            <a:ext cx="31718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BUILD</a:t>
            </a:r>
          </a:p>
        </p:txBody>
      </p:sp>
      <p:sp>
        <p:nvSpPr>
          <p:cNvPr id="21" name="step-2-body"/>
          <p:cNvSpPr/>
          <p:nvPr/>
        </p:nvSpPr>
        <p:spPr>
          <a:xfrm>
            <a:off x="4295775" y="2552700"/>
            <a:ext cx="3590925" cy="3067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tep-2-bullet-1-dot"/>
          <p:cNvSpPr/>
          <p:nvPr/>
        </p:nvSpPr>
        <p:spPr>
          <a:xfrm>
            <a:off x="4467225" y="2809875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step-2-bullet-1"/>
          <p:cNvSpPr txBox="1"/>
          <p:nvPr/>
        </p:nvSpPr>
        <p:spPr>
          <a:xfrm>
            <a:off x="4600575" y="2743200"/>
            <a:ext cx="31146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Match patterns</a:t>
            </a:r>
          </a:p>
        </p:txBody>
      </p:sp>
      <p:sp>
        <p:nvSpPr>
          <p:cNvPr id="24" name="step-2-bullet-2-dot"/>
          <p:cNvSpPr/>
          <p:nvPr/>
        </p:nvSpPr>
        <p:spPr>
          <a:xfrm>
            <a:off x="4467225" y="3114675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step-2-bullet-2"/>
          <p:cNvSpPr txBox="1"/>
          <p:nvPr/>
        </p:nvSpPr>
        <p:spPr>
          <a:xfrm>
            <a:off x="4600575" y="3048000"/>
            <a:ext cx="31146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Fill content</a:t>
            </a:r>
          </a:p>
        </p:txBody>
      </p:sp>
      <p:sp>
        <p:nvSpPr>
          <p:cNvPr id="26" name="step-2-bullet-3-dot"/>
          <p:cNvSpPr/>
          <p:nvPr/>
        </p:nvSpPr>
        <p:spPr>
          <a:xfrm>
            <a:off x="4467225" y="3419475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step-2-bullet-3"/>
          <p:cNvSpPr txBox="1"/>
          <p:nvPr/>
        </p:nvSpPr>
        <p:spPr>
          <a:xfrm>
            <a:off x="4600575" y="3352800"/>
            <a:ext cx="31146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Apply brand theme</a:t>
            </a:r>
          </a:p>
        </p:txBody>
      </p:sp>
      <p:sp>
        <p:nvSpPr>
          <p:cNvPr id="28" name="step-2-pill"/>
          <p:cNvSpPr/>
          <p:nvPr/>
        </p:nvSpPr>
        <p:spPr>
          <a:xfrm>
            <a:off x="4486275" y="5048250"/>
            <a:ext cx="3209925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step-2-pill-label"/>
          <p:cNvSpPr txBox="1"/>
          <p:nvPr/>
        </p:nvSpPr>
        <p:spPr>
          <a:xfrm>
            <a:off x="4486275" y="5105400"/>
            <a:ext cx="32099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DELIVERABLE</a:t>
            </a:r>
          </a:p>
        </p:txBody>
      </p:sp>
      <p:sp>
        <p:nvSpPr>
          <p:cNvPr id="30" name="step-2-pill-text"/>
          <p:cNvSpPr txBox="1"/>
          <p:nvPr/>
        </p:nvSpPr>
        <p:spPr>
          <a:xfrm>
            <a:off x="4486275" y="5219700"/>
            <a:ext cx="3209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Real PPTX deck</a:t>
            </a:r>
          </a:p>
        </p:txBody>
      </p:sp>
      <p:sp>
        <p:nvSpPr>
          <p:cNvPr id="31" name="step-3-head"/>
          <p:cNvSpPr/>
          <p:nvPr/>
        </p:nvSpPr>
        <p:spPr>
          <a:xfrm>
            <a:off x="8058150" y="1905000"/>
            <a:ext cx="3590925" cy="647700"/>
          </a:xfrm>
          <a:prstGeom prst="homePlat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step-3-num"/>
          <p:cNvSpPr txBox="1"/>
          <p:nvPr/>
        </p:nvSpPr>
        <p:spPr>
          <a:xfrm>
            <a:off x="8267700" y="2000250"/>
            <a:ext cx="31718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STEP 03</a:t>
            </a:r>
          </a:p>
        </p:txBody>
      </p:sp>
      <p:sp>
        <p:nvSpPr>
          <p:cNvPr id="33" name="step-3-name"/>
          <p:cNvSpPr txBox="1"/>
          <p:nvPr/>
        </p:nvSpPr>
        <p:spPr>
          <a:xfrm>
            <a:off x="8267700" y="2171700"/>
            <a:ext cx="31718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QC</a:t>
            </a:r>
          </a:p>
        </p:txBody>
      </p:sp>
      <p:sp>
        <p:nvSpPr>
          <p:cNvPr id="34" name="step-3-body"/>
          <p:cNvSpPr/>
          <p:nvPr/>
        </p:nvSpPr>
        <p:spPr>
          <a:xfrm>
            <a:off x="8058150" y="2552700"/>
            <a:ext cx="3590925" cy="3067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step-3-bullet-1-dot"/>
          <p:cNvSpPr/>
          <p:nvPr/>
        </p:nvSpPr>
        <p:spPr>
          <a:xfrm>
            <a:off x="8229600" y="2809875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step-3-bullet-1"/>
          <p:cNvSpPr txBox="1"/>
          <p:nvPr/>
        </p:nvSpPr>
        <p:spPr>
          <a:xfrm>
            <a:off x="8362950" y="2743200"/>
            <a:ext cx="31146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Run hygiene checklist</a:t>
            </a:r>
          </a:p>
        </p:txBody>
      </p:sp>
      <p:sp>
        <p:nvSpPr>
          <p:cNvPr id="37" name="step-3-bullet-2-dot"/>
          <p:cNvSpPr/>
          <p:nvPr/>
        </p:nvSpPr>
        <p:spPr>
          <a:xfrm>
            <a:off x="8229600" y="3114675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step-3-bullet-2"/>
          <p:cNvSpPr txBox="1"/>
          <p:nvPr/>
        </p:nvSpPr>
        <p:spPr>
          <a:xfrm>
            <a:off x="8362950" y="3048000"/>
            <a:ext cx="31146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Render and inspect</a:t>
            </a:r>
          </a:p>
        </p:txBody>
      </p:sp>
      <p:sp>
        <p:nvSpPr>
          <p:cNvPr id="39" name="step-3-bullet-3-dot"/>
          <p:cNvSpPr/>
          <p:nvPr/>
        </p:nvSpPr>
        <p:spPr>
          <a:xfrm>
            <a:off x="8229600" y="3419475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step-3-bullet-3"/>
          <p:cNvSpPr txBox="1"/>
          <p:nvPr/>
        </p:nvSpPr>
        <p:spPr>
          <a:xfrm>
            <a:off x="8362950" y="3352800"/>
            <a:ext cx="31146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Refine and deliver</a:t>
            </a:r>
          </a:p>
        </p:txBody>
      </p:sp>
      <p:sp>
        <p:nvSpPr>
          <p:cNvPr id="41" name="step-3-pill"/>
          <p:cNvSpPr/>
          <p:nvPr/>
        </p:nvSpPr>
        <p:spPr>
          <a:xfrm>
            <a:off x="8248650" y="5048250"/>
            <a:ext cx="3209925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step-3-pill-label"/>
          <p:cNvSpPr txBox="1"/>
          <p:nvPr/>
        </p:nvSpPr>
        <p:spPr>
          <a:xfrm>
            <a:off x="8248650" y="5105400"/>
            <a:ext cx="32099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DELIVERABLE</a:t>
            </a:r>
          </a:p>
        </p:txBody>
      </p:sp>
      <p:sp>
        <p:nvSpPr>
          <p:cNvPr id="43" name="step-3-pill-text"/>
          <p:cNvSpPr txBox="1"/>
          <p:nvPr/>
        </p:nvSpPr>
        <p:spPr>
          <a:xfrm>
            <a:off x="8248650" y="5219700"/>
            <a:ext cx="3209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Partner-ready deck</a:t>
            </a:r>
          </a:p>
        </p:txBody>
      </p:sp>
      <p:sp>
        <p:nvSpPr>
          <p:cNvPr id="44" name="conv-line-1"/>
          <p:cNvSpPr/>
          <p:nvPr/>
        </p:nvSpPr>
        <p:spPr>
          <a:xfrm>
            <a:off x="533400" y="6019800"/>
            <a:ext cx="36195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conv-line-2"/>
          <p:cNvSpPr/>
          <p:nvPr/>
        </p:nvSpPr>
        <p:spPr>
          <a:xfrm>
            <a:off x="4152900" y="6019800"/>
            <a:ext cx="3619500" cy="19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nv-line-3"/>
          <p:cNvSpPr/>
          <p:nvPr/>
        </p:nvSpPr>
        <p:spPr>
          <a:xfrm>
            <a:off x="8039100" y="6019800"/>
            <a:ext cx="36195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onv-text-bg"/>
          <p:cNvSpPr/>
          <p:nvPr/>
        </p:nvSpPr>
        <p:spPr>
          <a:xfrm>
            <a:off x="2762250" y="5905500"/>
            <a:ext cx="6667500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onvergence"/>
          <p:cNvSpPr txBox="1"/>
          <p:nvPr/>
        </p:nvSpPr>
        <p:spPr>
          <a:xfrm>
            <a:off x="2762250" y="590550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1">
                <a:solidFill>
                  <a:srgbClr val="2D0A4E"/>
                </a:solidFill>
                <a:latin typeface="Inter"/>
              </a:rPr>
              <a:t>Argument earns the build · Build earns the QC · QC earns the delivery</a:t>
            </a:r>
          </a:p>
        </p:txBody>
      </p:sp>
      <p:sp>
        <p:nvSpPr>
          <p:cNvPr id="4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