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Three structural advantages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competitors cannot replicate — speed, depth, and accountability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Speed · Depth · Accountability — the three differentiators evaluators cite most often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bg"/>
          <p:cNvSpPr/>
          <p:nvPr/>
        </p:nvSpPr>
        <p:spPr>
          <a:xfrm>
            <a:off x="457200" y="2095500"/>
            <a:ext cx="37528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num"/>
          <p:cNvSpPr txBox="1"/>
          <p:nvPr/>
        </p:nvSpPr>
        <p:spPr>
          <a:xfrm>
            <a:off x="723900" y="2324100"/>
            <a:ext cx="11430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45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7" name="card-1-heading"/>
          <p:cNvSpPr txBox="1"/>
          <p:nvPr/>
        </p:nvSpPr>
        <p:spPr>
          <a:xfrm>
            <a:off x="723900" y="2952750"/>
            <a:ext cx="3219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C780FF"/>
                </a:solidFill>
                <a:latin typeface="Inter"/>
              </a:rPr>
              <a:t>Integrated Delivery Model</a:t>
            </a:r>
          </a:p>
        </p:txBody>
      </p:sp>
      <p:sp>
        <p:nvSpPr>
          <p:cNvPr id="8" name="card-1-body"/>
          <p:cNvSpPr txBox="1"/>
          <p:nvPr/>
        </p:nvSpPr>
        <p:spPr>
          <a:xfrm>
            <a:off x="723900" y="3257550"/>
            <a:ext cx="32194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We embed strategy, technology, and change in one team — no handoffs, no gaps. Your program doesn't get translated between three firms.</a:t>
            </a:r>
          </a:p>
        </p:txBody>
      </p:sp>
      <p:sp>
        <p:nvSpPr>
          <p:cNvPr id="9" name="card-1-footer-stat"/>
          <p:cNvSpPr txBox="1"/>
          <p:nvPr/>
        </p:nvSpPr>
        <p:spPr>
          <a:xfrm>
            <a:off x="800100" y="5448300"/>
            <a:ext cx="3067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3.2×</a:t>
            </a:r>
          </a:p>
        </p:txBody>
      </p:sp>
      <p:sp>
        <p:nvSpPr>
          <p:cNvPr id="10" name="card-1-footer"/>
          <p:cNvSpPr txBox="1"/>
          <p:nvPr/>
        </p:nvSpPr>
        <p:spPr>
          <a:xfrm>
            <a:off x="800100" y="5695950"/>
            <a:ext cx="30670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faster time to value vs. multi-vendor approach</a:t>
            </a:r>
          </a:p>
        </p:txBody>
      </p:sp>
      <p:sp>
        <p:nvSpPr>
          <p:cNvPr id="11" name="card-2-bg"/>
          <p:cNvSpPr/>
          <p:nvPr/>
        </p:nvSpPr>
        <p:spPr>
          <a:xfrm>
            <a:off x="4210050" y="2095500"/>
            <a:ext cx="37528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2-divider"/>
          <p:cNvSpPr/>
          <p:nvPr/>
        </p:nvSpPr>
        <p:spPr>
          <a:xfrm>
            <a:off x="4210050" y="2133600"/>
            <a:ext cx="9525" cy="400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ard-2-num"/>
          <p:cNvSpPr txBox="1"/>
          <p:nvPr/>
        </p:nvSpPr>
        <p:spPr>
          <a:xfrm>
            <a:off x="4476750" y="2324100"/>
            <a:ext cx="11430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45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14" name="card-2-heading"/>
          <p:cNvSpPr txBox="1"/>
          <p:nvPr/>
        </p:nvSpPr>
        <p:spPr>
          <a:xfrm>
            <a:off x="4476750" y="2952750"/>
            <a:ext cx="3219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C780FF"/>
                </a:solidFill>
                <a:latin typeface="Inter"/>
              </a:rPr>
              <a:t>Proprietary Accelerators</a:t>
            </a:r>
          </a:p>
        </p:txBody>
      </p:sp>
      <p:sp>
        <p:nvSpPr>
          <p:cNvPr id="15" name="card-2-body"/>
          <p:cNvSpPr txBox="1"/>
          <p:nvPr/>
        </p:nvSpPr>
        <p:spPr>
          <a:xfrm>
            <a:off x="4476750" y="3257550"/>
            <a:ext cx="32194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Our pre-built tools reduce design and build phases by 40%. Components are tested at scale and maintained by 200+ practitioners.</a:t>
            </a:r>
          </a:p>
        </p:txBody>
      </p:sp>
      <p:sp>
        <p:nvSpPr>
          <p:cNvPr id="16" name="card-2-footer-stat"/>
          <p:cNvSpPr txBox="1"/>
          <p:nvPr/>
        </p:nvSpPr>
        <p:spPr>
          <a:xfrm>
            <a:off x="4552950" y="5448300"/>
            <a:ext cx="3067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40%</a:t>
            </a:r>
          </a:p>
        </p:txBody>
      </p:sp>
      <p:sp>
        <p:nvSpPr>
          <p:cNvPr id="17" name="card-2-footer"/>
          <p:cNvSpPr txBox="1"/>
          <p:nvPr/>
        </p:nvSpPr>
        <p:spPr>
          <a:xfrm>
            <a:off x="4552950" y="5695950"/>
            <a:ext cx="30670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reduction in build phase cost</a:t>
            </a:r>
          </a:p>
        </p:txBody>
      </p:sp>
      <p:sp>
        <p:nvSpPr>
          <p:cNvPr id="18" name="card-3-bg"/>
          <p:cNvSpPr/>
          <p:nvPr/>
        </p:nvSpPr>
        <p:spPr>
          <a:xfrm>
            <a:off x="7962900" y="2095500"/>
            <a:ext cx="37528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3-divider"/>
          <p:cNvSpPr/>
          <p:nvPr/>
        </p:nvSpPr>
        <p:spPr>
          <a:xfrm>
            <a:off x="7962900" y="2133600"/>
            <a:ext cx="9525" cy="400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3-num"/>
          <p:cNvSpPr txBox="1"/>
          <p:nvPr/>
        </p:nvSpPr>
        <p:spPr>
          <a:xfrm>
            <a:off x="8229600" y="2324100"/>
            <a:ext cx="11430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45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21" name="card-3-heading"/>
          <p:cNvSpPr txBox="1"/>
          <p:nvPr/>
        </p:nvSpPr>
        <p:spPr>
          <a:xfrm>
            <a:off x="8229600" y="2952750"/>
            <a:ext cx="3219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C780FF"/>
                </a:solidFill>
                <a:latin typeface="Inter"/>
              </a:rPr>
              <a:t>Outcome Accountability</a:t>
            </a:r>
          </a:p>
        </p:txBody>
      </p:sp>
      <p:sp>
        <p:nvSpPr>
          <p:cNvPr id="22" name="card-3-body"/>
          <p:cNvSpPr txBox="1"/>
          <p:nvPr/>
        </p:nvSpPr>
        <p:spPr>
          <a:xfrm>
            <a:off x="8229600" y="3257550"/>
            <a:ext cx="32194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We put skin in the game. Fees tied to adoption and benefit realization — not just deliverables. We succeed when you succeed.</a:t>
            </a:r>
          </a:p>
        </p:txBody>
      </p:sp>
      <p:sp>
        <p:nvSpPr>
          <p:cNvPr id="23" name="card-3-footer-stat"/>
          <p:cNvSpPr txBox="1"/>
          <p:nvPr/>
        </p:nvSpPr>
        <p:spPr>
          <a:xfrm>
            <a:off x="8305800" y="5448300"/>
            <a:ext cx="3067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94%</a:t>
            </a:r>
          </a:p>
        </p:txBody>
      </p:sp>
      <p:sp>
        <p:nvSpPr>
          <p:cNvPr id="24" name="card-3-footer"/>
          <p:cNvSpPr txBox="1"/>
          <p:nvPr/>
        </p:nvSpPr>
        <p:spPr>
          <a:xfrm>
            <a:off x="8305800" y="5695950"/>
            <a:ext cx="30670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of outcomes delivered to target within 6 months</a:t>
            </a:r>
          </a:p>
        </p:txBody>
      </p:sp>
      <p:sp>
        <p:nvSpPr>
          <p:cNvPr id="25" name="conv-line-left"/>
          <p:cNvSpPr/>
          <p:nvPr/>
        </p:nvSpPr>
        <p:spPr>
          <a:xfrm>
            <a:off x="457200" y="6248400"/>
            <a:ext cx="45720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onvergence"/>
          <p:cNvSpPr txBox="1"/>
          <p:nvPr/>
        </p:nvSpPr>
        <p:spPr>
          <a:xfrm>
            <a:off x="5143500" y="61912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1">
                <a:solidFill>
                  <a:srgbClr val="C780FF"/>
                </a:solidFill>
                <a:latin typeface="Inter"/>
              </a:rPr>
              <a:t>Speed · Depth · Accountability</a:t>
            </a:r>
          </a:p>
        </p:txBody>
      </p:sp>
      <p:sp>
        <p:nvSpPr>
          <p:cNvPr id="27" name="conv-line-right"/>
          <p:cNvSpPr/>
          <p:nvPr/>
        </p:nvSpPr>
        <p:spPr>
          <a:xfrm>
            <a:off x="7162800" y="6248400"/>
            <a:ext cx="45720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