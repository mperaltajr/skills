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Two distinct priorities demand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parallel attention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workstream carries equal weight — sequencing introduces avoidable risk.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and-1-bg"/>
          <p:cNvSpPr/>
          <p:nvPr/>
        </p:nvSpPr>
        <p:spPr>
          <a:xfrm>
            <a:off x="457200" y="1905000"/>
            <a:ext cx="1127760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and-1-accent"/>
          <p:cNvSpPr/>
          <p:nvPr/>
        </p:nvSpPr>
        <p:spPr>
          <a:xfrm>
            <a:off x="457200" y="1905000"/>
            <a:ext cx="11277600" cy="38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and-1-pill"/>
          <p:cNvSpPr/>
          <p:nvPr/>
        </p:nvSpPr>
        <p:spPr>
          <a:xfrm>
            <a:off x="647700" y="2076450"/>
            <a:ext cx="7239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band-1-pill-text"/>
          <p:cNvSpPr txBox="1"/>
          <p:nvPr/>
        </p:nvSpPr>
        <p:spPr>
          <a:xfrm>
            <a:off x="647700" y="2076450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SECTION 1</a:t>
            </a:r>
          </a:p>
        </p:txBody>
      </p:sp>
      <p:sp>
        <p:nvSpPr>
          <p:cNvPr id="9" name="band-1-headline"/>
          <p:cNvSpPr txBox="1"/>
          <p:nvPr/>
        </p:nvSpPr>
        <p:spPr>
          <a:xfrm>
            <a:off x="1504950" y="2076450"/>
            <a:ext cx="8229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Stabilise the core platform before extending capability</a:t>
            </a:r>
          </a:p>
        </p:txBody>
      </p:sp>
      <p:sp>
        <p:nvSpPr>
          <p:cNvPr id="10" name="band-1-bullet-1-dot"/>
          <p:cNvSpPr/>
          <p:nvPr/>
        </p:nvSpPr>
        <p:spPr>
          <a:xfrm>
            <a:off x="647700" y="25431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band-1-bullet-1-text"/>
          <p:cNvSpPr txBox="1"/>
          <p:nvPr/>
        </p:nvSpPr>
        <p:spPr>
          <a:xfrm>
            <a:off x="762000" y="2476500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Legacy debt in authentication layer is causing 23% of production incidents — remediation is the critical path before any new feature work begins.</a:t>
            </a:r>
          </a:p>
        </p:txBody>
      </p:sp>
      <p:sp>
        <p:nvSpPr>
          <p:cNvPr id="12" name="band-1-bullet-2-dot"/>
          <p:cNvSpPr/>
          <p:nvPr/>
        </p:nvSpPr>
        <p:spPr>
          <a:xfrm>
            <a:off x="647700" y="282892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band-1-bullet-2-text"/>
          <p:cNvSpPr txBox="1"/>
          <p:nvPr/>
        </p:nvSpPr>
        <p:spPr>
          <a:xfrm>
            <a:off x="762000" y="2762250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Infrastructure observability gaps mean failures are detected reactively; a unified telemetry stack must be in place by end of Q2 to support SLAs.</a:t>
            </a:r>
          </a:p>
        </p:txBody>
      </p:sp>
      <p:sp>
        <p:nvSpPr>
          <p:cNvPr id="14" name="band-1-bullet-3-dot"/>
          <p:cNvSpPr/>
          <p:nvPr/>
        </p:nvSpPr>
        <p:spPr>
          <a:xfrm>
            <a:off x="647700" y="3114675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nd-1-bullet-3-text"/>
          <p:cNvSpPr txBox="1"/>
          <p:nvPr/>
        </p:nvSpPr>
        <p:spPr>
          <a:xfrm>
            <a:off x="762000" y="3048000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Technical steering committee has approved a six-week hardening sprint; resourcing is confirmed and delivery lead is assigned.</a:t>
            </a:r>
          </a:p>
        </p:txBody>
      </p:sp>
      <p:sp>
        <p:nvSpPr>
          <p:cNvPr id="16" name="band-1-chip"/>
          <p:cNvSpPr/>
          <p:nvPr/>
        </p:nvSpPr>
        <p:spPr>
          <a:xfrm>
            <a:off x="9829800" y="2638425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and-1-chip-value"/>
          <p:cNvSpPr txBox="1"/>
          <p:nvPr/>
        </p:nvSpPr>
        <p:spPr>
          <a:xfrm>
            <a:off x="9829800" y="2733675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23%</a:t>
            </a:r>
          </a:p>
        </p:txBody>
      </p:sp>
      <p:sp>
        <p:nvSpPr>
          <p:cNvPr id="18" name="band-1-chip-label"/>
          <p:cNvSpPr txBox="1"/>
          <p:nvPr/>
        </p:nvSpPr>
        <p:spPr>
          <a:xfrm>
            <a:off x="9925050" y="3076575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INCIDENT REDUCTION TARGET</a:t>
            </a:r>
          </a:p>
        </p:txBody>
      </p:sp>
      <p:sp>
        <p:nvSpPr>
          <p:cNvPr id="19" name="band-2-bg"/>
          <p:cNvSpPr/>
          <p:nvPr/>
        </p:nvSpPr>
        <p:spPr>
          <a:xfrm>
            <a:off x="457200" y="4219575"/>
            <a:ext cx="11277600" cy="22002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band-2-accent"/>
          <p:cNvSpPr/>
          <p:nvPr/>
        </p:nvSpPr>
        <p:spPr>
          <a:xfrm>
            <a:off x="457200" y="4219575"/>
            <a:ext cx="11277600" cy="381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and-2-pill"/>
          <p:cNvSpPr/>
          <p:nvPr/>
        </p:nvSpPr>
        <p:spPr>
          <a:xfrm>
            <a:off x="647700" y="4391025"/>
            <a:ext cx="723900" cy="190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and-2-pill-text"/>
          <p:cNvSpPr txBox="1"/>
          <p:nvPr/>
        </p:nvSpPr>
        <p:spPr>
          <a:xfrm>
            <a:off x="647700" y="4391025"/>
            <a:ext cx="723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SECTION 2</a:t>
            </a:r>
          </a:p>
        </p:txBody>
      </p:sp>
      <p:sp>
        <p:nvSpPr>
          <p:cNvPr id="23" name="band-2-headline"/>
          <p:cNvSpPr txBox="1"/>
          <p:nvPr/>
        </p:nvSpPr>
        <p:spPr>
          <a:xfrm>
            <a:off x="1504950" y="4391025"/>
            <a:ext cx="8229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Accelerate go-to-market while the foundation is being hardened</a:t>
            </a:r>
          </a:p>
        </p:txBody>
      </p:sp>
      <p:sp>
        <p:nvSpPr>
          <p:cNvPr id="24" name="band-2-bullet-1-dot"/>
          <p:cNvSpPr/>
          <p:nvPr/>
        </p:nvSpPr>
        <p:spPr>
          <a:xfrm>
            <a:off x="647700" y="48577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and-2-bullet-1-text"/>
          <p:cNvSpPr txBox="1"/>
          <p:nvPr/>
        </p:nvSpPr>
        <p:spPr>
          <a:xfrm>
            <a:off x="762000" y="4791075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Three enterprise pilots are scheduled for H2; delaying GTM activities to wait for platform stability would push revenue recognition into next year.</a:t>
            </a:r>
          </a:p>
        </p:txBody>
      </p:sp>
      <p:sp>
        <p:nvSpPr>
          <p:cNvPr id="26" name="band-2-bullet-2-dot"/>
          <p:cNvSpPr/>
          <p:nvPr/>
        </p:nvSpPr>
        <p:spPr>
          <a:xfrm>
            <a:off x="647700" y="514350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and-2-bullet-2-text"/>
          <p:cNvSpPr txBox="1"/>
          <p:nvPr/>
        </p:nvSpPr>
        <p:spPr>
          <a:xfrm>
            <a:off x="762000" y="5076825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Product team can operate on a feature-frozen branch, enabling parallel progress without dependency on the hardening sprint deliverables.</a:t>
            </a:r>
          </a:p>
        </p:txBody>
      </p:sp>
      <p:sp>
        <p:nvSpPr>
          <p:cNvPr id="28" name="band-2-bullet-3-dot"/>
          <p:cNvSpPr/>
          <p:nvPr/>
        </p:nvSpPr>
        <p:spPr>
          <a:xfrm>
            <a:off x="647700" y="5429250"/>
            <a:ext cx="47625" cy="476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and-2-bullet-3-text"/>
          <p:cNvSpPr txBox="1"/>
          <p:nvPr/>
        </p:nvSpPr>
        <p:spPr>
          <a:xfrm>
            <a:off x="762000" y="5362575"/>
            <a:ext cx="89916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Commercial commitments to pilot clients have been made — maintaining the timeline protects relationship trust and deal expansion potential.</a:t>
            </a:r>
          </a:p>
        </p:txBody>
      </p:sp>
      <p:sp>
        <p:nvSpPr>
          <p:cNvPr id="30" name="band-2-chip"/>
          <p:cNvSpPr/>
          <p:nvPr/>
        </p:nvSpPr>
        <p:spPr>
          <a:xfrm>
            <a:off x="9829800" y="4953000"/>
            <a:ext cx="1714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nd-2-chip-value"/>
          <p:cNvSpPr txBox="1"/>
          <p:nvPr/>
        </p:nvSpPr>
        <p:spPr>
          <a:xfrm>
            <a:off x="9829800" y="50482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650" b="1" i="0">
                <a:solidFill>
                  <a:srgbClr val="A100FF"/>
                </a:solidFill>
                <a:latin typeface="Inter"/>
              </a:rPr>
              <a:t>3</a:t>
            </a:r>
          </a:p>
        </p:txBody>
      </p:sp>
      <p:sp>
        <p:nvSpPr>
          <p:cNvPr id="32" name="band-2-chip-label"/>
          <p:cNvSpPr txBox="1"/>
          <p:nvPr/>
        </p:nvSpPr>
        <p:spPr>
          <a:xfrm>
            <a:off x="9925050" y="539115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5C2D87"/>
                </a:solidFill>
                <a:latin typeface="Inter"/>
              </a:rPr>
              <a:t>ENTERPRISE PILOTS CONFIRMED</a:t>
            </a:r>
          </a:p>
        </p:txBody>
      </p:sp>
      <p:sp>
        <p:nvSpPr>
          <p:cNvPr id="33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4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5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