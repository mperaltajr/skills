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33400" y="190500"/>
            <a:ext cx="111252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FFFFFF"/>
                </a:solidFill>
                <a:latin typeface="Inter"/>
              </a:rPr>
              <a:t>Vision, mission, values — why Slide Lab exists.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33400" y="1028700"/>
            <a:ext cx="99822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Three statements, one stack: where we're going, what we do, how we behave.</a:t>
            </a:r>
          </a:p>
        </p:txBody>
      </p:sp>
      <p:sp>
        <p:nvSpPr>
          <p:cNvPr id="4" name="brand-rule"/>
          <p:cNvSpPr/>
          <p:nvPr/>
        </p:nvSpPr>
        <p:spPr>
          <a:xfrm>
            <a:off x="533400" y="1257300"/>
            <a:ext cx="5334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tier-vision-band"/>
          <p:cNvSpPr/>
          <p:nvPr/>
        </p:nvSpPr>
        <p:spPr>
          <a:xfrm>
            <a:off x="2476500" y="2095500"/>
            <a:ext cx="7239000" cy="9048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tier-vision-label"/>
          <p:cNvSpPr txBox="1"/>
          <p:nvPr/>
        </p:nvSpPr>
        <p:spPr>
          <a:xfrm>
            <a:off x="2686050" y="2362200"/>
            <a:ext cx="8382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VISION</a:t>
            </a:r>
          </a:p>
        </p:txBody>
      </p:sp>
      <p:sp>
        <p:nvSpPr>
          <p:cNvPr id="7" name="tier-vision-sublabel"/>
          <p:cNvSpPr txBox="1"/>
          <p:nvPr/>
        </p:nvSpPr>
        <p:spPr>
          <a:xfrm>
            <a:off x="2686050" y="2590800"/>
            <a:ext cx="8382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WHERE WE'RE GOING</a:t>
            </a:r>
          </a:p>
        </p:txBody>
      </p:sp>
      <p:sp>
        <p:nvSpPr>
          <p:cNvPr id="8" name="tier-vision-divider"/>
          <p:cNvSpPr/>
          <p:nvPr/>
        </p:nvSpPr>
        <p:spPr>
          <a:xfrm>
            <a:off x="3524250" y="2247900"/>
            <a:ext cx="9525" cy="6000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tier-vision-statement"/>
          <p:cNvSpPr txBox="1"/>
          <p:nvPr/>
        </p:nvSpPr>
        <p:spPr>
          <a:xfrm>
            <a:off x="3771900" y="2095500"/>
            <a:ext cx="5695950" cy="9048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425" b="1" i="1">
                <a:solidFill>
                  <a:srgbClr val="FFFFFF"/>
                </a:solidFill>
                <a:latin typeface="Inter"/>
              </a:rPr>
              <a:t>“Every consulting deck argued before it's drawn.”</a:t>
            </a:r>
          </a:p>
        </p:txBody>
      </p:sp>
      <p:sp>
        <p:nvSpPr>
          <p:cNvPr id="10" name="tier-mission-band"/>
          <p:cNvSpPr/>
          <p:nvPr/>
        </p:nvSpPr>
        <p:spPr>
          <a:xfrm>
            <a:off x="1619250" y="3076575"/>
            <a:ext cx="8953500" cy="1095375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ier-mission-label"/>
          <p:cNvSpPr txBox="1"/>
          <p:nvPr/>
        </p:nvSpPr>
        <p:spPr>
          <a:xfrm>
            <a:off x="1828800" y="3400425"/>
            <a:ext cx="8382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MISSION</a:t>
            </a:r>
          </a:p>
        </p:txBody>
      </p:sp>
      <p:sp>
        <p:nvSpPr>
          <p:cNvPr id="12" name="tier-mission-sublabel"/>
          <p:cNvSpPr txBox="1"/>
          <p:nvPr/>
        </p:nvSpPr>
        <p:spPr>
          <a:xfrm>
            <a:off x="1828800" y="3629025"/>
            <a:ext cx="8382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WHAT WE DO</a:t>
            </a:r>
          </a:p>
        </p:txBody>
      </p:sp>
      <p:sp>
        <p:nvSpPr>
          <p:cNvPr id="13" name="tier-mission-divider"/>
          <p:cNvSpPr/>
          <p:nvPr/>
        </p:nvSpPr>
        <p:spPr>
          <a:xfrm>
            <a:off x="2667000" y="3228975"/>
            <a:ext cx="9525" cy="7905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tier-mission-statement"/>
          <p:cNvSpPr txBox="1"/>
          <p:nvPr/>
        </p:nvSpPr>
        <p:spPr>
          <a:xfrm>
            <a:off x="2914650" y="3076575"/>
            <a:ext cx="7410450" cy="10953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We make structured thinking the default by giving consultants a tool that locks the argument before the first slide is built — so the deck follows the logic, not the other way around.</a:t>
            </a:r>
          </a:p>
        </p:txBody>
      </p:sp>
      <p:sp>
        <p:nvSpPr>
          <p:cNvPr id="15" name="tier-values-band"/>
          <p:cNvSpPr/>
          <p:nvPr/>
        </p:nvSpPr>
        <p:spPr>
          <a:xfrm>
            <a:off x="762000" y="4248150"/>
            <a:ext cx="10668000" cy="1238250"/>
          </a:xfrm>
          <a:prstGeom prst="rect">
            <a:avLst/>
          </a:prstGeom>
          <a:solidFill>
            <a:srgbClr val="3C1F5C"/>
          </a:solidFill>
          <a:ln w="14288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tier-values-label"/>
          <p:cNvSpPr txBox="1"/>
          <p:nvPr/>
        </p:nvSpPr>
        <p:spPr>
          <a:xfrm>
            <a:off x="971550" y="4629150"/>
            <a:ext cx="8382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VALUES</a:t>
            </a:r>
          </a:p>
        </p:txBody>
      </p:sp>
      <p:sp>
        <p:nvSpPr>
          <p:cNvPr id="17" name="tier-values-sublabel"/>
          <p:cNvSpPr txBox="1"/>
          <p:nvPr/>
        </p:nvSpPr>
        <p:spPr>
          <a:xfrm>
            <a:off x="971550" y="4857750"/>
            <a:ext cx="8382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HOW WE BEHAVE</a:t>
            </a:r>
          </a:p>
        </p:txBody>
      </p:sp>
      <p:sp>
        <p:nvSpPr>
          <p:cNvPr id="18" name="tier-values-divider"/>
          <p:cNvSpPr/>
          <p:nvPr/>
        </p:nvSpPr>
        <p:spPr>
          <a:xfrm>
            <a:off x="1809750" y="4400550"/>
            <a:ext cx="9525" cy="93345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" name="value-chip-1"/>
          <p:cNvSpPr/>
          <p:nvPr/>
        </p:nvSpPr>
        <p:spPr>
          <a:xfrm>
            <a:off x="1962150" y="4400550"/>
            <a:ext cx="2228850" cy="933450"/>
          </a:xfrm>
          <a:prstGeom prst="rect">
            <a:avLst/>
          </a:prstGeom>
          <a:solidFill>
            <a:srgbClr val="5C2D87"/>
          </a:solidFill>
          <a:ln w="14288">
            <a:solidFill>
              <a:srgbClr val="C7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" name="value-chip-1-icon"/>
          <p:cNvSpPr/>
          <p:nvPr/>
        </p:nvSpPr>
        <p:spPr>
          <a:xfrm>
            <a:off x="2962275" y="4533900"/>
            <a:ext cx="228600" cy="2286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value-chip-1-name"/>
          <p:cNvSpPr txBox="1"/>
          <p:nvPr/>
        </p:nvSpPr>
        <p:spPr>
          <a:xfrm>
            <a:off x="1962150" y="4819650"/>
            <a:ext cx="22288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RIGOR</a:t>
            </a:r>
          </a:p>
        </p:txBody>
      </p:sp>
      <p:sp>
        <p:nvSpPr>
          <p:cNvPr id="22" name="value-chip-1-desc"/>
          <p:cNvSpPr txBox="1"/>
          <p:nvPr/>
        </p:nvSpPr>
        <p:spPr>
          <a:xfrm>
            <a:off x="2000250" y="5029200"/>
            <a:ext cx="215265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Argument before aesthetics</a:t>
            </a:r>
          </a:p>
        </p:txBody>
      </p:sp>
      <p:sp>
        <p:nvSpPr>
          <p:cNvPr id="23" name="value-chip-2"/>
          <p:cNvSpPr/>
          <p:nvPr/>
        </p:nvSpPr>
        <p:spPr>
          <a:xfrm>
            <a:off x="4324350" y="4400550"/>
            <a:ext cx="2228850" cy="933450"/>
          </a:xfrm>
          <a:prstGeom prst="rect">
            <a:avLst/>
          </a:prstGeom>
          <a:solidFill>
            <a:srgbClr val="5C2D87"/>
          </a:solidFill>
          <a:ln w="14288">
            <a:solidFill>
              <a:srgbClr val="C7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" name="value-chip-2-icon"/>
          <p:cNvSpPr/>
          <p:nvPr/>
        </p:nvSpPr>
        <p:spPr>
          <a:xfrm>
            <a:off x="5324475" y="4533900"/>
            <a:ext cx="228600" cy="2286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" name="value-chip-2-name"/>
          <p:cNvSpPr txBox="1"/>
          <p:nvPr/>
        </p:nvSpPr>
        <p:spPr>
          <a:xfrm>
            <a:off x="4324350" y="4819650"/>
            <a:ext cx="22288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SPEED</a:t>
            </a:r>
          </a:p>
        </p:txBody>
      </p:sp>
      <p:sp>
        <p:nvSpPr>
          <p:cNvPr id="26" name="value-chip-2-desc"/>
          <p:cNvSpPr txBox="1"/>
          <p:nvPr/>
        </p:nvSpPr>
        <p:spPr>
          <a:xfrm>
            <a:off x="4362450" y="5029200"/>
            <a:ext cx="215265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Hours, not weeks</a:t>
            </a:r>
          </a:p>
        </p:txBody>
      </p:sp>
      <p:sp>
        <p:nvSpPr>
          <p:cNvPr id="27" name="value-chip-3"/>
          <p:cNvSpPr/>
          <p:nvPr/>
        </p:nvSpPr>
        <p:spPr>
          <a:xfrm>
            <a:off x="6686550" y="4400550"/>
            <a:ext cx="2228850" cy="933450"/>
          </a:xfrm>
          <a:prstGeom prst="rect">
            <a:avLst/>
          </a:prstGeom>
          <a:solidFill>
            <a:srgbClr val="5C2D87"/>
          </a:solidFill>
          <a:ln w="14288">
            <a:solidFill>
              <a:srgbClr val="C7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" name="value-chip-3-icon"/>
          <p:cNvSpPr/>
          <p:nvPr/>
        </p:nvSpPr>
        <p:spPr>
          <a:xfrm>
            <a:off x="7686675" y="4533900"/>
            <a:ext cx="228600" cy="2286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9" name="value-chip-3-name"/>
          <p:cNvSpPr txBox="1"/>
          <p:nvPr/>
        </p:nvSpPr>
        <p:spPr>
          <a:xfrm>
            <a:off x="6686550" y="4819650"/>
            <a:ext cx="22288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REUSABILITY</a:t>
            </a:r>
          </a:p>
        </p:txBody>
      </p:sp>
      <p:sp>
        <p:nvSpPr>
          <p:cNvPr id="30" name="value-chip-3-desc"/>
          <p:cNvSpPr txBox="1"/>
          <p:nvPr/>
        </p:nvSpPr>
        <p:spPr>
          <a:xfrm>
            <a:off x="6724650" y="5029200"/>
            <a:ext cx="215265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Build once, ship many</a:t>
            </a:r>
          </a:p>
        </p:txBody>
      </p:sp>
      <p:sp>
        <p:nvSpPr>
          <p:cNvPr id="31" name="value-chip-4"/>
          <p:cNvSpPr/>
          <p:nvPr/>
        </p:nvSpPr>
        <p:spPr>
          <a:xfrm>
            <a:off x="9048750" y="4400550"/>
            <a:ext cx="2228850" cy="933450"/>
          </a:xfrm>
          <a:prstGeom prst="rect">
            <a:avLst/>
          </a:prstGeom>
          <a:solidFill>
            <a:srgbClr val="5C2D87"/>
          </a:solidFill>
          <a:ln w="14288">
            <a:solidFill>
              <a:srgbClr val="C7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2" name="value-chip-4-icon"/>
          <p:cNvSpPr/>
          <p:nvPr/>
        </p:nvSpPr>
        <p:spPr>
          <a:xfrm>
            <a:off x="10048875" y="4533900"/>
            <a:ext cx="228600" cy="2286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3" name="value-chip-4-name"/>
          <p:cNvSpPr txBox="1"/>
          <p:nvPr/>
        </p:nvSpPr>
        <p:spPr>
          <a:xfrm>
            <a:off x="9048750" y="4819650"/>
            <a:ext cx="22288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INTERNAL IP</a:t>
            </a:r>
          </a:p>
        </p:txBody>
      </p:sp>
      <p:sp>
        <p:nvSpPr>
          <p:cNvPr id="34" name="value-chip-4-desc"/>
          <p:cNvSpPr txBox="1"/>
          <p:nvPr/>
        </p:nvSpPr>
        <p:spPr>
          <a:xfrm>
            <a:off x="9086850" y="5029200"/>
            <a:ext cx="215265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Our craft, our edge</a:t>
            </a:r>
          </a:p>
        </p:txBody>
      </p:sp>
      <p:sp>
        <p:nvSpPr>
          <p:cNvPr id="35" name="convergence"/>
          <p:cNvSpPr txBox="1"/>
          <p:nvPr/>
        </p:nvSpPr>
        <p:spPr>
          <a:xfrm>
            <a:off x="533400" y="6248400"/>
            <a:ext cx="111252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1">
                <a:solidFill>
                  <a:srgbClr val="C780FF"/>
                </a:solidFill>
                <a:latin typeface="Inter"/>
              </a:rPr>
              <a:t>The stack reads top-down: vision sets the destination, mission names the work, values govern how the work gets done.</a:t>
            </a:r>
          </a:p>
        </p:txBody>
      </p:sp>
      <p:sp>
        <p:nvSpPr>
          <p:cNvPr id="36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37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C88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38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C88B8"/>
                </a:solidFill>
                <a:latin typeface="Inter"/>
              </a:rPr>
              <a:t>85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