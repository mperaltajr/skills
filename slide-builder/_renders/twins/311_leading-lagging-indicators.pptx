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457200" y="190500"/>
            <a:ext cx="8572500" cy="7620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b">
            <a:spAutoFit/>
          </a:bodyPr>
          <a:lstStyle/>
          <a:p>
            <a:pPr algn="l">
              <a:defRPr/>
            </a:pPr>
            <a:r>
              <a:rPr sz="2400" b="1" i="0">
                <a:solidFill>
                  <a:srgbClr val="1A1A2E"/>
                </a:solidFill>
                <a:latin typeface="Inter"/>
              </a:rPr>
              <a:t>Leading vs </a:t>
            </a:r>
            <a:r>
              <a:rPr sz="2400" b="1" i="0">
                <a:solidFill>
                  <a:srgbClr val="2D0A4E"/>
                </a:solidFill>
                <a:latin typeface="Inter"/>
              </a:rPr>
              <a:t>Lagging Indicators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457200" y="914400"/>
            <a:ext cx="74295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Predictive signals that shape outcomes — and the results that confirm them</a:t>
            </a:r>
          </a:p>
        </p:txBody>
      </p:sp>
      <p:sp>
        <p:nvSpPr>
          <p:cNvPr id="4" name="brand-rule"/>
          <p:cNvSpPr/>
          <p:nvPr/>
        </p:nvSpPr>
        <p:spPr>
          <a:xfrm>
            <a:off x="457200" y="1123950"/>
            <a:ext cx="6096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legend-bg"/>
          <p:cNvSpPr/>
          <p:nvPr/>
        </p:nvSpPr>
        <p:spPr>
          <a:xfrm>
            <a:off x="9829800" y="2209800"/>
            <a:ext cx="1905000" cy="3048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legend-1-swatch"/>
          <p:cNvSpPr/>
          <p:nvPr/>
        </p:nvSpPr>
        <p:spPr>
          <a:xfrm>
            <a:off x="9944100" y="2324100"/>
            <a:ext cx="133350" cy="762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7" name="legend-1-label"/>
          <p:cNvSpPr txBox="1"/>
          <p:nvPr/>
        </p:nvSpPr>
        <p:spPr>
          <a:xfrm>
            <a:off x="10153650" y="2209800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On Plan</a:t>
            </a:r>
          </a:p>
        </p:txBody>
      </p:sp>
      <p:sp>
        <p:nvSpPr>
          <p:cNvPr id="8" name="legend-2-swatch"/>
          <p:cNvSpPr/>
          <p:nvPr/>
        </p:nvSpPr>
        <p:spPr>
          <a:xfrm>
            <a:off x="10820400" y="2324100"/>
            <a:ext cx="133350" cy="762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legend-2-label"/>
          <p:cNvSpPr txBox="1"/>
          <p:nvPr/>
        </p:nvSpPr>
        <p:spPr>
          <a:xfrm>
            <a:off x="11029950" y="2209800"/>
            <a:ext cx="628650" cy="3048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ctr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Watch</a:t>
            </a:r>
          </a:p>
        </p:txBody>
      </p:sp>
      <p:sp>
        <p:nvSpPr>
          <p:cNvPr id="10" name="col-1-header-bg"/>
          <p:cNvSpPr/>
          <p:nvPr/>
        </p:nvSpPr>
        <p:spPr>
          <a:xfrm>
            <a:off x="457200" y="2667000"/>
            <a:ext cx="5257800" cy="381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1" name="col-1-header"/>
          <p:cNvSpPr txBox="1"/>
          <p:nvPr/>
        </p:nvSpPr>
        <p:spPr>
          <a:xfrm>
            <a:off x="590550" y="2705100"/>
            <a:ext cx="4991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Leading Indicators</a:t>
            </a:r>
          </a:p>
        </p:txBody>
      </p:sp>
      <p:sp>
        <p:nvSpPr>
          <p:cNvPr id="12" name="col-1-sub"/>
          <p:cNvSpPr txBox="1"/>
          <p:nvPr/>
        </p:nvSpPr>
        <p:spPr>
          <a:xfrm>
            <a:off x="590550" y="2876550"/>
            <a:ext cx="4991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Predictive · Forward-looking</a:t>
            </a:r>
          </a:p>
        </p:txBody>
      </p:sp>
      <p:sp>
        <p:nvSpPr>
          <p:cNvPr id="13" name="col-2-header-bg"/>
          <p:cNvSpPr/>
          <p:nvPr/>
        </p:nvSpPr>
        <p:spPr>
          <a:xfrm>
            <a:off x="6477000" y="2667000"/>
            <a:ext cx="5257800" cy="381000"/>
          </a:xfrm>
          <a:prstGeom prst="rect">
            <a:avLst/>
          </a:prstGeom>
          <a:solidFill>
            <a:srgbClr val="FBF8FE"/>
          </a:solidFill>
          <a:ln w="9525">
            <a:solidFill>
              <a:srgbClr val="ECE0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4" name="col-2-header"/>
          <p:cNvSpPr txBox="1"/>
          <p:nvPr/>
        </p:nvSpPr>
        <p:spPr>
          <a:xfrm>
            <a:off x="6610350" y="2705100"/>
            <a:ext cx="499110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2D0A4E"/>
                </a:solidFill>
                <a:latin typeface="Inter"/>
              </a:rPr>
              <a:t>Lagging Indicators</a:t>
            </a:r>
          </a:p>
        </p:txBody>
      </p:sp>
      <p:sp>
        <p:nvSpPr>
          <p:cNvPr id="15" name="col-2-sub"/>
          <p:cNvSpPr txBox="1"/>
          <p:nvPr/>
        </p:nvSpPr>
        <p:spPr>
          <a:xfrm>
            <a:off x="6610350" y="2876550"/>
            <a:ext cx="49911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94A3B8"/>
                </a:solidFill>
                <a:latin typeface="Inter"/>
              </a:rPr>
              <a:t>Outcome · Backward-looking</a:t>
            </a:r>
          </a:p>
        </p:txBody>
      </p:sp>
      <p:sp>
        <p:nvSpPr>
          <p:cNvPr id="16" name="col-L-row-1-bg"/>
          <p:cNvSpPr/>
          <p:nvPr/>
        </p:nvSpPr>
        <p:spPr>
          <a:xfrm>
            <a:off x="457200" y="3143250"/>
            <a:ext cx="52578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7" name="col-L-row-1-bar"/>
          <p:cNvSpPr/>
          <p:nvPr/>
        </p:nvSpPr>
        <p:spPr>
          <a:xfrm>
            <a:off x="457200" y="3143250"/>
            <a:ext cx="38100" cy="5905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8" name="col-L-row-1-name"/>
          <p:cNvSpPr txBox="1"/>
          <p:nvPr/>
        </p:nvSpPr>
        <p:spPr>
          <a:xfrm>
            <a:off x="590550" y="3219450"/>
            <a:ext cx="497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Pipeline Coverage Ratio</a:t>
            </a:r>
          </a:p>
        </p:txBody>
      </p:sp>
      <p:sp>
        <p:nvSpPr>
          <p:cNvPr id="19" name="col-L-row-1-value"/>
          <p:cNvSpPr txBox="1"/>
          <p:nvPr/>
        </p:nvSpPr>
        <p:spPr>
          <a:xfrm>
            <a:off x="590550" y="340995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3.8× target · ↑ from 3.2×</a:t>
            </a:r>
          </a:p>
        </p:txBody>
      </p:sp>
      <p:sp>
        <p:nvSpPr>
          <p:cNvPr id="20" name="col-L-row-2-bg"/>
          <p:cNvSpPr/>
          <p:nvPr/>
        </p:nvSpPr>
        <p:spPr>
          <a:xfrm>
            <a:off x="457200" y="3771900"/>
            <a:ext cx="5257800" cy="590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1" name="col-L-row-2-bar"/>
          <p:cNvSpPr/>
          <p:nvPr/>
        </p:nvSpPr>
        <p:spPr>
          <a:xfrm>
            <a:off x="457200" y="3771900"/>
            <a:ext cx="38100" cy="5905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2" name="col-L-row-2-name"/>
          <p:cNvSpPr txBox="1"/>
          <p:nvPr/>
        </p:nvSpPr>
        <p:spPr>
          <a:xfrm>
            <a:off x="590550" y="3848100"/>
            <a:ext cx="497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Qualified Leads / Week</a:t>
            </a:r>
          </a:p>
        </p:txBody>
      </p:sp>
      <p:sp>
        <p:nvSpPr>
          <p:cNvPr id="23" name="col-L-row-2-value"/>
          <p:cNvSpPr txBox="1"/>
          <p:nvPr/>
        </p:nvSpPr>
        <p:spPr>
          <a:xfrm>
            <a:off x="590550" y="403860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42 leads · +18% WoW</a:t>
            </a:r>
          </a:p>
        </p:txBody>
      </p:sp>
      <p:sp>
        <p:nvSpPr>
          <p:cNvPr id="24" name="col-L-row-3-bg"/>
          <p:cNvSpPr/>
          <p:nvPr/>
        </p:nvSpPr>
        <p:spPr>
          <a:xfrm>
            <a:off x="457200" y="4400550"/>
            <a:ext cx="52578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5" name="col-L-row-3-bar"/>
          <p:cNvSpPr/>
          <p:nvPr/>
        </p:nvSpPr>
        <p:spPr>
          <a:xfrm>
            <a:off x="457200" y="4400550"/>
            <a:ext cx="381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6" name="col-L-row-3-name"/>
          <p:cNvSpPr txBox="1"/>
          <p:nvPr/>
        </p:nvSpPr>
        <p:spPr>
          <a:xfrm>
            <a:off x="590550" y="4476750"/>
            <a:ext cx="497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Training Completion %</a:t>
            </a:r>
          </a:p>
        </p:txBody>
      </p:sp>
      <p:sp>
        <p:nvSpPr>
          <p:cNvPr id="27" name="col-L-row-3-value"/>
          <p:cNvSpPr txBox="1"/>
          <p:nvPr/>
        </p:nvSpPr>
        <p:spPr>
          <a:xfrm>
            <a:off x="590550" y="466725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67% · target 80%</a:t>
            </a:r>
          </a:p>
        </p:txBody>
      </p:sp>
      <p:sp>
        <p:nvSpPr>
          <p:cNvPr id="28" name="col-L-row-4-bg"/>
          <p:cNvSpPr/>
          <p:nvPr/>
        </p:nvSpPr>
        <p:spPr>
          <a:xfrm>
            <a:off x="457200" y="5029200"/>
            <a:ext cx="5257800" cy="590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9" name="col-L-row-4-bar"/>
          <p:cNvSpPr/>
          <p:nvPr/>
        </p:nvSpPr>
        <p:spPr>
          <a:xfrm>
            <a:off x="457200" y="5029200"/>
            <a:ext cx="38100" cy="5905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0" name="col-L-row-4-name"/>
          <p:cNvSpPr txBox="1"/>
          <p:nvPr/>
        </p:nvSpPr>
        <p:spPr>
          <a:xfrm>
            <a:off x="590550" y="5105400"/>
            <a:ext cx="497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Net Promoter Score</a:t>
            </a:r>
          </a:p>
        </p:txBody>
      </p:sp>
      <p:sp>
        <p:nvSpPr>
          <p:cNvPr id="31" name="col-L-row-4-value"/>
          <p:cNvSpPr txBox="1"/>
          <p:nvPr/>
        </p:nvSpPr>
        <p:spPr>
          <a:xfrm>
            <a:off x="590550" y="529590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NPS +52 · ↑ 4pts QoQ</a:t>
            </a:r>
          </a:p>
        </p:txBody>
      </p:sp>
      <p:sp>
        <p:nvSpPr>
          <p:cNvPr id="32" name="col-L-row-5-bg"/>
          <p:cNvSpPr/>
          <p:nvPr/>
        </p:nvSpPr>
        <p:spPr>
          <a:xfrm>
            <a:off x="457200" y="5657850"/>
            <a:ext cx="52578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3" name="col-L-row-5-bar"/>
          <p:cNvSpPr/>
          <p:nvPr/>
        </p:nvSpPr>
        <p:spPr>
          <a:xfrm>
            <a:off x="457200" y="5657850"/>
            <a:ext cx="381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4" name="col-L-row-5-name"/>
          <p:cNvSpPr txBox="1"/>
          <p:nvPr/>
        </p:nvSpPr>
        <p:spPr>
          <a:xfrm>
            <a:off x="590550" y="5734050"/>
            <a:ext cx="497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Avg. Response Time</a:t>
            </a:r>
          </a:p>
        </p:txBody>
      </p:sp>
      <p:sp>
        <p:nvSpPr>
          <p:cNvPr id="35" name="col-L-row-5-value"/>
          <p:cNvSpPr txBox="1"/>
          <p:nvPr/>
        </p:nvSpPr>
        <p:spPr>
          <a:xfrm>
            <a:off x="590550" y="592455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4.2 hrs · SLA = 3.0 hrs</a:t>
            </a:r>
          </a:p>
        </p:txBody>
      </p:sp>
      <p:sp>
        <p:nvSpPr>
          <p:cNvPr id="36" name="col-R-row-1-bg"/>
          <p:cNvSpPr/>
          <p:nvPr/>
        </p:nvSpPr>
        <p:spPr>
          <a:xfrm>
            <a:off x="6477000" y="3143250"/>
            <a:ext cx="52578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7" name="col-R-row-1-bar"/>
          <p:cNvSpPr/>
          <p:nvPr/>
        </p:nvSpPr>
        <p:spPr>
          <a:xfrm>
            <a:off x="6477000" y="3143250"/>
            <a:ext cx="38100" cy="5905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8" name="col-R-row-1-name"/>
          <p:cNvSpPr txBox="1"/>
          <p:nvPr/>
        </p:nvSpPr>
        <p:spPr>
          <a:xfrm>
            <a:off x="6610350" y="3219450"/>
            <a:ext cx="497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Quarterly Revenue</a:t>
            </a:r>
          </a:p>
        </p:txBody>
      </p:sp>
      <p:sp>
        <p:nvSpPr>
          <p:cNvPr id="39" name="col-R-row-1-value"/>
          <p:cNvSpPr txBox="1"/>
          <p:nvPr/>
        </p:nvSpPr>
        <p:spPr>
          <a:xfrm>
            <a:off x="6610350" y="340995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$4.2M · +11% vs plan</a:t>
            </a:r>
          </a:p>
        </p:txBody>
      </p:sp>
      <p:sp>
        <p:nvSpPr>
          <p:cNvPr id="40" name="col-R-row-2-bg"/>
          <p:cNvSpPr/>
          <p:nvPr/>
        </p:nvSpPr>
        <p:spPr>
          <a:xfrm>
            <a:off x="6477000" y="3771900"/>
            <a:ext cx="5257800" cy="590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1" name="col-R-row-2-bar"/>
          <p:cNvSpPr/>
          <p:nvPr/>
        </p:nvSpPr>
        <p:spPr>
          <a:xfrm>
            <a:off x="6477000" y="3771900"/>
            <a:ext cx="38100" cy="5905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2" name="col-R-row-2-name"/>
          <p:cNvSpPr txBox="1"/>
          <p:nvPr/>
        </p:nvSpPr>
        <p:spPr>
          <a:xfrm>
            <a:off x="6610350" y="3848100"/>
            <a:ext cx="497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Win Rate</a:t>
            </a:r>
          </a:p>
        </p:txBody>
      </p:sp>
      <p:sp>
        <p:nvSpPr>
          <p:cNvPr id="43" name="col-R-row-2-value"/>
          <p:cNvSpPr txBox="1"/>
          <p:nvPr/>
        </p:nvSpPr>
        <p:spPr>
          <a:xfrm>
            <a:off x="6610350" y="403860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38% · ↑ from 31%</a:t>
            </a:r>
          </a:p>
        </p:txBody>
      </p:sp>
      <p:sp>
        <p:nvSpPr>
          <p:cNvPr id="44" name="col-R-row-3-bg"/>
          <p:cNvSpPr/>
          <p:nvPr/>
        </p:nvSpPr>
        <p:spPr>
          <a:xfrm>
            <a:off x="6477000" y="4400550"/>
            <a:ext cx="52578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5" name="col-R-row-3-bar"/>
          <p:cNvSpPr/>
          <p:nvPr/>
        </p:nvSpPr>
        <p:spPr>
          <a:xfrm>
            <a:off x="6477000" y="4400550"/>
            <a:ext cx="381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6" name="col-R-row-3-name"/>
          <p:cNvSpPr txBox="1"/>
          <p:nvPr/>
        </p:nvSpPr>
        <p:spPr>
          <a:xfrm>
            <a:off x="6610350" y="4476750"/>
            <a:ext cx="497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Employee Attrition</a:t>
            </a:r>
          </a:p>
        </p:txBody>
      </p:sp>
      <p:sp>
        <p:nvSpPr>
          <p:cNvPr id="47" name="col-R-row-3-value"/>
          <p:cNvSpPr txBox="1"/>
          <p:nvPr/>
        </p:nvSpPr>
        <p:spPr>
          <a:xfrm>
            <a:off x="6610350" y="466725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14% annual · target 10%</a:t>
            </a:r>
          </a:p>
        </p:txBody>
      </p:sp>
      <p:sp>
        <p:nvSpPr>
          <p:cNvPr id="48" name="col-R-row-4-bg"/>
          <p:cNvSpPr/>
          <p:nvPr/>
        </p:nvSpPr>
        <p:spPr>
          <a:xfrm>
            <a:off x="6477000" y="5029200"/>
            <a:ext cx="5257800" cy="590550"/>
          </a:xfrm>
          <a:prstGeom prst="rect">
            <a:avLst/>
          </a:prstGeom>
          <a:solidFill>
            <a:srgbClr val="FBF8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49" name="col-R-row-4-bar"/>
          <p:cNvSpPr/>
          <p:nvPr/>
        </p:nvSpPr>
        <p:spPr>
          <a:xfrm>
            <a:off x="6477000" y="5029200"/>
            <a:ext cx="38100" cy="59055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0" name="col-R-row-4-name"/>
          <p:cNvSpPr txBox="1"/>
          <p:nvPr/>
        </p:nvSpPr>
        <p:spPr>
          <a:xfrm>
            <a:off x="6610350" y="5105400"/>
            <a:ext cx="497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Customer Retention</a:t>
            </a:r>
          </a:p>
        </p:txBody>
      </p:sp>
      <p:sp>
        <p:nvSpPr>
          <p:cNvPr id="51" name="col-R-row-4-value"/>
          <p:cNvSpPr txBox="1"/>
          <p:nvPr/>
        </p:nvSpPr>
        <p:spPr>
          <a:xfrm>
            <a:off x="6610350" y="529590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91% · ↑ 3pts YoY</a:t>
            </a:r>
          </a:p>
        </p:txBody>
      </p:sp>
      <p:sp>
        <p:nvSpPr>
          <p:cNvPr id="52" name="col-R-row-5-bg"/>
          <p:cNvSpPr/>
          <p:nvPr/>
        </p:nvSpPr>
        <p:spPr>
          <a:xfrm>
            <a:off x="6477000" y="5657850"/>
            <a:ext cx="5257800" cy="59055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3" name="col-R-row-5-bar"/>
          <p:cNvSpPr/>
          <p:nvPr/>
        </p:nvSpPr>
        <p:spPr>
          <a:xfrm>
            <a:off x="6477000" y="5657850"/>
            <a:ext cx="38100" cy="59055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4" name="col-R-row-5-name"/>
          <p:cNvSpPr txBox="1"/>
          <p:nvPr/>
        </p:nvSpPr>
        <p:spPr>
          <a:xfrm>
            <a:off x="6610350" y="5734050"/>
            <a:ext cx="4972050" cy="1905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1A1A2E"/>
                </a:solidFill>
                <a:latin typeface="Inter"/>
              </a:rPr>
              <a:t>Cost per Acquisition</a:t>
            </a:r>
          </a:p>
        </p:txBody>
      </p:sp>
      <p:sp>
        <p:nvSpPr>
          <p:cNvPr id="55" name="col-R-row-5-value"/>
          <p:cNvSpPr txBox="1"/>
          <p:nvPr/>
        </p:nvSpPr>
        <p:spPr>
          <a:xfrm>
            <a:off x="6610350" y="5924550"/>
            <a:ext cx="497205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64748B"/>
                </a:solidFill>
                <a:latin typeface="Inter"/>
              </a:rPr>
              <a:t>$1,840 · target $1,500</a:t>
            </a:r>
          </a:p>
        </p:txBody>
      </p:sp>
      <p:sp>
        <p:nvSpPr>
          <p:cNvPr id="56" name="drive-label"/>
          <p:cNvSpPr txBox="1"/>
          <p:nvPr/>
        </p:nvSpPr>
        <p:spPr>
          <a:xfrm>
            <a:off x="5715000" y="4533900"/>
            <a:ext cx="762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A100FF"/>
                </a:solidFill>
                <a:latin typeface="Inter"/>
              </a:rPr>
              <a:t>DRIVE</a:t>
            </a:r>
          </a:p>
        </p:txBody>
      </p:sp>
      <p:sp>
        <p:nvSpPr>
          <p:cNvPr id="57" name="drive-arrow-shaft"/>
          <p:cNvSpPr/>
          <p:nvPr/>
        </p:nvSpPr>
        <p:spPr>
          <a:xfrm>
            <a:off x="5829300" y="4724400"/>
            <a:ext cx="381000" cy="381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8" name="drive-arrow-head1"/>
          <p:cNvSpPr/>
          <p:nvPr/>
        </p:nvSpPr>
        <p:spPr>
          <a:xfrm>
            <a:off x="6172200" y="4667250"/>
            <a:ext cx="38100" cy="1524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9" name="drive-arrow-head2"/>
          <p:cNvSpPr/>
          <p:nvPr/>
        </p:nvSpPr>
        <p:spPr>
          <a:xfrm>
            <a:off x="6248400" y="4686300"/>
            <a:ext cx="38100" cy="1143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0" name="drive-arrow-head3"/>
          <p:cNvSpPr/>
          <p:nvPr/>
        </p:nvSpPr>
        <p:spPr>
          <a:xfrm>
            <a:off x="6324600" y="4705350"/>
            <a:ext cx="38100" cy="762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1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62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63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311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