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FFFFFF"/>
                </a:solidFill>
                <a:latin typeface="Inter"/>
              </a:rPr>
              <a:t>Enterprise AI Platform Market: </a:t>
            </a:r>
            <a:r>
              <a:rPr sz="2100" b="1" i="0">
                <a:solidFill>
                  <a:srgbClr val="C780FF"/>
                </a:solidFill>
                <a:latin typeface="Inter"/>
              </a:rPr>
              <a:t>Competitive Landscape</a:t>
            </a:r>
            <a:r>
              <a:rPr sz="2100" b="1" i="0">
                <a:solidFill>
                  <a:srgbClr val="FFFFFF"/>
                </a:solidFill>
                <a:latin typeface="Inter"/>
              </a:rPr>
              <a:t> &amp; White Space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Market dynamics, player positioning, and underserved opportunity segments — FY2026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market-bg"/>
          <p:cNvSpPr/>
          <p:nvPr/>
        </p:nvSpPr>
        <p:spPr>
          <a:xfrm>
            <a:off x="609600" y="1524000"/>
            <a:ext cx="3562350" cy="47625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market-label"/>
          <p:cNvSpPr txBox="1"/>
          <p:nvPr/>
        </p:nvSpPr>
        <p:spPr>
          <a:xfrm>
            <a:off x="781050" y="1676400"/>
            <a:ext cx="32194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MARKET SIZE</a:t>
            </a:r>
          </a:p>
        </p:txBody>
      </p:sp>
      <p:sp>
        <p:nvSpPr>
          <p:cNvPr id="7" name="market-stat"/>
          <p:cNvSpPr txBox="1"/>
          <p:nvPr/>
        </p:nvSpPr>
        <p:spPr>
          <a:xfrm>
            <a:off x="781050" y="1905000"/>
            <a:ext cx="321945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300" b="1" i="0">
                <a:solidFill>
                  <a:srgbClr val="FFFFFF"/>
                </a:solidFill>
                <a:latin typeface="Inter"/>
              </a:rPr>
              <a:t>$184B</a:t>
            </a:r>
          </a:p>
        </p:txBody>
      </p:sp>
      <p:sp>
        <p:nvSpPr>
          <p:cNvPr id="8" name="market-stat-label"/>
          <p:cNvSpPr txBox="1"/>
          <p:nvPr/>
        </p:nvSpPr>
        <p:spPr>
          <a:xfrm>
            <a:off x="781050" y="2438400"/>
            <a:ext cx="3219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Total Addressable Market, 2025E</a:t>
            </a:r>
          </a:p>
        </p:txBody>
      </p:sp>
      <p:sp>
        <p:nvSpPr>
          <p:cNvPr id="9" name="cagr-bg"/>
          <p:cNvSpPr/>
          <p:nvPr/>
        </p:nvSpPr>
        <p:spPr>
          <a:xfrm>
            <a:off x="781050" y="2705100"/>
            <a:ext cx="762000" cy="228600"/>
          </a:xfrm>
          <a:prstGeom prst="rect">
            <a:avLst/>
          </a:prstGeom>
          <a:solidFill>
            <a:srgbClr val="3C1F5C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cagr-badge"/>
          <p:cNvSpPr txBox="1"/>
          <p:nvPr/>
        </p:nvSpPr>
        <p:spPr>
          <a:xfrm>
            <a:off x="781050" y="27051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2C55E"/>
                </a:solidFill>
                <a:latin typeface="Inter"/>
              </a:rPr>
              <a:t>▲ 34%</a:t>
            </a:r>
          </a:p>
        </p:txBody>
      </p:sp>
      <p:sp>
        <p:nvSpPr>
          <p:cNvPr id="11" name="cagr-label"/>
          <p:cNvSpPr txBox="1"/>
          <p:nvPr/>
        </p:nvSpPr>
        <p:spPr>
          <a:xfrm>
            <a:off x="1619250" y="2705100"/>
            <a:ext cx="23241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5-yr CAGR (2025–2030)</a:t>
            </a:r>
          </a:p>
        </p:txBody>
      </p:sp>
      <p:sp>
        <p:nvSpPr>
          <p:cNvPr id="12" name="drivers-heading"/>
          <p:cNvSpPr txBox="1"/>
          <p:nvPr/>
        </p:nvSpPr>
        <p:spPr>
          <a:xfrm>
            <a:off x="781050" y="3124200"/>
            <a:ext cx="32194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KEY MARKET DRIVERS</a:t>
            </a:r>
          </a:p>
        </p:txBody>
      </p:sp>
      <p:sp>
        <p:nvSpPr>
          <p:cNvPr id="13" name="drv-1-dot"/>
          <p:cNvSpPr/>
          <p:nvPr/>
        </p:nvSpPr>
        <p:spPr>
          <a:xfrm>
            <a:off x="781050" y="3390900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drv-1-text"/>
          <p:cNvSpPr txBox="1"/>
          <p:nvPr/>
        </p:nvSpPr>
        <p:spPr>
          <a:xfrm>
            <a:off x="895350" y="3333750"/>
            <a:ext cx="3105150" cy="857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Generative AI adoption accelerating across regulated industries, compressing legacy vendor cycles</a:t>
            </a:r>
          </a:p>
        </p:txBody>
      </p:sp>
      <p:sp>
        <p:nvSpPr>
          <p:cNvPr id="15" name="drv-2-dot"/>
          <p:cNvSpPr/>
          <p:nvPr/>
        </p:nvSpPr>
        <p:spPr>
          <a:xfrm>
            <a:off x="781050" y="4343400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drv-2-text"/>
          <p:cNvSpPr txBox="1"/>
          <p:nvPr/>
        </p:nvSpPr>
        <p:spPr>
          <a:xfrm>
            <a:off x="895350" y="4286250"/>
            <a:ext cx="3105150" cy="857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Enterprise governance mandates driving demand for auditable, explainable AI platforms</a:t>
            </a:r>
          </a:p>
        </p:txBody>
      </p:sp>
      <p:sp>
        <p:nvSpPr>
          <p:cNvPr id="17" name="drv-3-dot"/>
          <p:cNvSpPr/>
          <p:nvPr/>
        </p:nvSpPr>
        <p:spPr>
          <a:xfrm>
            <a:off x="781050" y="5295900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drv-3-text"/>
          <p:cNvSpPr txBox="1"/>
          <p:nvPr/>
        </p:nvSpPr>
        <p:spPr>
          <a:xfrm>
            <a:off x="895350" y="5238750"/>
            <a:ext cx="3105150" cy="857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Hyperscaler commoditisation pushing differentiation toward vertical-specific orchestration layers</a:t>
            </a:r>
          </a:p>
        </p:txBody>
      </p:sp>
      <p:sp>
        <p:nvSpPr>
          <p:cNvPr id="19" name="comp-bg"/>
          <p:cNvSpPr/>
          <p:nvPr/>
        </p:nvSpPr>
        <p:spPr>
          <a:xfrm>
            <a:off x="4305300" y="1524000"/>
            <a:ext cx="3562350" cy="47625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comp-label"/>
          <p:cNvSpPr txBox="1"/>
          <p:nvPr/>
        </p:nvSpPr>
        <p:spPr>
          <a:xfrm>
            <a:off x="4476750" y="1676400"/>
            <a:ext cx="32194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COMPETITIVE LANDSCAPE</a:t>
            </a:r>
          </a:p>
        </p:txBody>
      </p:sp>
      <p:sp>
        <p:nvSpPr>
          <p:cNvPr id="21" name="comp-1-logo"/>
          <p:cNvSpPr/>
          <p:nvPr/>
        </p:nvSpPr>
        <p:spPr>
          <a:xfrm>
            <a:off x="4476750" y="1981200"/>
            <a:ext cx="285750" cy="2857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comp-1-init"/>
          <p:cNvSpPr txBox="1"/>
          <p:nvPr/>
        </p:nvSpPr>
        <p:spPr>
          <a:xfrm>
            <a:off x="4476750" y="198120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</a:t>
            </a:r>
          </a:p>
        </p:txBody>
      </p:sp>
      <p:sp>
        <p:nvSpPr>
          <p:cNvPr id="23" name="comp-1-name"/>
          <p:cNvSpPr txBox="1"/>
          <p:nvPr/>
        </p:nvSpPr>
        <p:spPr>
          <a:xfrm>
            <a:off x="4838700" y="1943100"/>
            <a:ext cx="2800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Microsoft Azure AI</a:t>
            </a:r>
          </a:p>
        </p:txBody>
      </p:sp>
      <p:sp>
        <p:nvSpPr>
          <p:cNvPr id="24" name="comp-1-pill-1-bg"/>
          <p:cNvSpPr/>
          <p:nvPr/>
        </p:nvSpPr>
        <p:spPr>
          <a:xfrm>
            <a:off x="4838700" y="2133600"/>
            <a:ext cx="857250" cy="152400"/>
          </a:xfrm>
          <a:prstGeom prst="rect">
            <a:avLst/>
          </a:prstGeom>
          <a:solidFill>
            <a:srgbClr val="3C1F5C"/>
          </a:solidFill>
          <a:ln w="63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omp-1-pill-1"/>
          <p:cNvSpPr txBox="1"/>
          <p:nvPr/>
        </p:nvSpPr>
        <p:spPr>
          <a:xfrm>
            <a:off x="4838700" y="2133600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563EB"/>
                </a:solidFill>
                <a:latin typeface="Inter"/>
              </a:rPr>
              <a:t>Cloud Infra</a:t>
            </a:r>
          </a:p>
        </p:txBody>
      </p:sp>
      <p:sp>
        <p:nvSpPr>
          <p:cNvPr id="26" name="comp-1-pill-2-bg"/>
          <p:cNvSpPr/>
          <p:nvPr/>
        </p:nvSpPr>
        <p:spPr>
          <a:xfrm>
            <a:off x="5743575" y="2133600"/>
            <a:ext cx="857250" cy="152400"/>
          </a:xfrm>
          <a:prstGeom prst="rect">
            <a:avLst/>
          </a:prstGeom>
          <a:solidFill>
            <a:srgbClr val="3C1F5C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comp-1-pill-2"/>
          <p:cNvSpPr txBox="1"/>
          <p:nvPr/>
        </p:nvSpPr>
        <p:spPr>
          <a:xfrm>
            <a:off x="5743575" y="2133600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2C55E"/>
                </a:solidFill>
                <a:latin typeface="Inter"/>
              </a:rPr>
              <a:t>Enterprise Suite</a:t>
            </a:r>
          </a:p>
        </p:txBody>
      </p:sp>
      <p:sp>
        <p:nvSpPr>
          <p:cNvPr id="28" name="comp-1-rev"/>
          <p:cNvSpPr txBox="1"/>
          <p:nvPr/>
        </p:nvSpPr>
        <p:spPr>
          <a:xfrm>
            <a:off x="4838700" y="2305050"/>
            <a:ext cx="28003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≈$62B revenue</a:t>
            </a:r>
          </a:p>
        </p:txBody>
      </p:sp>
      <p:sp>
        <p:nvSpPr>
          <p:cNvPr id="29" name="comp-2-logo"/>
          <p:cNvSpPr/>
          <p:nvPr/>
        </p:nvSpPr>
        <p:spPr>
          <a:xfrm>
            <a:off x="4476750" y="2819400"/>
            <a:ext cx="285750" cy="28575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omp-2-init"/>
          <p:cNvSpPr txBox="1"/>
          <p:nvPr/>
        </p:nvSpPr>
        <p:spPr>
          <a:xfrm>
            <a:off x="4476750" y="281940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</a:t>
            </a:r>
          </a:p>
        </p:txBody>
      </p:sp>
      <p:sp>
        <p:nvSpPr>
          <p:cNvPr id="31" name="comp-2-name"/>
          <p:cNvSpPr txBox="1"/>
          <p:nvPr/>
        </p:nvSpPr>
        <p:spPr>
          <a:xfrm>
            <a:off x="4838700" y="2781300"/>
            <a:ext cx="2800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Google Vertex AI</a:t>
            </a:r>
          </a:p>
        </p:txBody>
      </p:sp>
      <p:sp>
        <p:nvSpPr>
          <p:cNvPr id="32" name="comp-2-pill-1-bg"/>
          <p:cNvSpPr/>
          <p:nvPr/>
        </p:nvSpPr>
        <p:spPr>
          <a:xfrm>
            <a:off x="4838700" y="2971800"/>
            <a:ext cx="857250" cy="152400"/>
          </a:xfrm>
          <a:prstGeom prst="rect">
            <a:avLst/>
          </a:prstGeom>
          <a:solidFill>
            <a:srgbClr val="3C1F5C"/>
          </a:solidFill>
          <a:ln w="63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comp-2-pill-1"/>
          <p:cNvSpPr txBox="1"/>
          <p:nvPr/>
        </p:nvSpPr>
        <p:spPr>
          <a:xfrm>
            <a:off x="4838700" y="2971800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563EB"/>
                </a:solidFill>
                <a:latin typeface="Inter"/>
              </a:rPr>
              <a:t>Cloud Infra</a:t>
            </a:r>
          </a:p>
        </p:txBody>
      </p:sp>
      <p:sp>
        <p:nvSpPr>
          <p:cNvPr id="34" name="comp-2-pill-2-bg"/>
          <p:cNvSpPr/>
          <p:nvPr/>
        </p:nvSpPr>
        <p:spPr>
          <a:xfrm>
            <a:off x="5743575" y="2971800"/>
            <a:ext cx="857250" cy="152400"/>
          </a:xfrm>
          <a:prstGeom prst="rect">
            <a:avLst/>
          </a:prstGeom>
          <a:solidFill>
            <a:srgbClr val="3C1F5C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comp-2-pill-2"/>
          <p:cNvSpPr txBox="1"/>
          <p:nvPr/>
        </p:nvSpPr>
        <p:spPr>
          <a:xfrm>
            <a:off x="5743575" y="2971800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7C3AED"/>
                </a:solidFill>
                <a:latin typeface="Inter"/>
              </a:rPr>
              <a:t>MLOps</a:t>
            </a:r>
          </a:p>
        </p:txBody>
      </p:sp>
      <p:sp>
        <p:nvSpPr>
          <p:cNvPr id="36" name="comp-2-rev"/>
          <p:cNvSpPr txBox="1"/>
          <p:nvPr/>
        </p:nvSpPr>
        <p:spPr>
          <a:xfrm>
            <a:off x="4838700" y="3143250"/>
            <a:ext cx="28003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≈$38B revenue</a:t>
            </a:r>
          </a:p>
        </p:txBody>
      </p:sp>
      <p:sp>
        <p:nvSpPr>
          <p:cNvPr id="37" name="comp-3-logo"/>
          <p:cNvSpPr/>
          <p:nvPr/>
        </p:nvSpPr>
        <p:spPr>
          <a:xfrm>
            <a:off x="4476750" y="3657600"/>
            <a:ext cx="285750" cy="28575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comp-3-init"/>
          <p:cNvSpPr txBox="1"/>
          <p:nvPr/>
        </p:nvSpPr>
        <p:spPr>
          <a:xfrm>
            <a:off x="4476750" y="365760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39" name="comp-3-name"/>
          <p:cNvSpPr txBox="1"/>
          <p:nvPr/>
        </p:nvSpPr>
        <p:spPr>
          <a:xfrm>
            <a:off x="4838700" y="3619500"/>
            <a:ext cx="2800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AWS SageMaker</a:t>
            </a:r>
          </a:p>
        </p:txBody>
      </p:sp>
      <p:sp>
        <p:nvSpPr>
          <p:cNvPr id="40" name="comp-3-pill-1-bg"/>
          <p:cNvSpPr/>
          <p:nvPr/>
        </p:nvSpPr>
        <p:spPr>
          <a:xfrm>
            <a:off x="4838700" y="3810000"/>
            <a:ext cx="857250" cy="152400"/>
          </a:xfrm>
          <a:prstGeom prst="rect">
            <a:avLst/>
          </a:prstGeom>
          <a:solidFill>
            <a:srgbClr val="3C1F5C"/>
          </a:solidFill>
          <a:ln w="63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comp-3-pill-1"/>
          <p:cNvSpPr txBox="1"/>
          <p:nvPr/>
        </p:nvSpPr>
        <p:spPr>
          <a:xfrm>
            <a:off x="4838700" y="3810000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A4335"/>
                </a:solidFill>
                <a:latin typeface="Inter"/>
              </a:rPr>
              <a:t>Cloud Infra</a:t>
            </a:r>
          </a:p>
        </p:txBody>
      </p:sp>
      <p:sp>
        <p:nvSpPr>
          <p:cNvPr id="42" name="comp-3-pill-2-bg"/>
          <p:cNvSpPr/>
          <p:nvPr/>
        </p:nvSpPr>
        <p:spPr>
          <a:xfrm>
            <a:off x="5743575" y="3810000"/>
            <a:ext cx="857250" cy="152400"/>
          </a:xfrm>
          <a:prstGeom prst="rect">
            <a:avLst/>
          </a:prstGeom>
          <a:solidFill>
            <a:srgbClr val="3C1F5C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comp-3-pill-2"/>
          <p:cNvSpPr txBox="1"/>
          <p:nvPr/>
        </p:nvSpPr>
        <p:spPr>
          <a:xfrm>
            <a:off x="5743575" y="3810000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2C55E"/>
                </a:solidFill>
                <a:latin typeface="Inter"/>
              </a:rPr>
              <a:t>Data Platform</a:t>
            </a:r>
          </a:p>
        </p:txBody>
      </p:sp>
      <p:sp>
        <p:nvSpPr>
          <p:cNvPr id="44" name="comp-3-rev"/>
          <p:cNvSpPr txBox="1"/>
          <p:nvPr/>
        </p:nvSpPr>
        <p:spPr>
          <a:xfrm>
            <a:off x="4838700" y="3981450"/>
            <a:ext cx="28003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≈$29B revenue</a:t>
            </a:r>
          </a:p>
        </p:txBody>
      </p:sp>
      <p:sp>
        <p:nvSpPr>
          <p:cNvPr id="45" name="comp-4-hl"/>
          <p:cNvSpPr/>
          <p:nvPr/>
        </p:nvSpPr>
        <p:spPr>
          <a:xfrm>
            <a:off x="4362450" y="4419600"/>
            <a:ext cx="3448050" cy="800100"/>
          </a:xfrm>
          <a:prstGeom prst="rect">
            <a:avLst/>
          </a:prstGeom>
          <a:solidFill>
            <a:srgbClr val="5C2D87"/>
          </a:solidFill>
          <a:ln w="9525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omp-4-logo"/>
          <p:cNvSpPr/>
          <p:nvPr/>
        </p:nvSpPr>
        <p:spPr>
          <a:xfrm>
            <a:off x="4476750" y="4495800"/>
            <a:ext cx="285750" cy="2857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comp-4-init"/>
          <p:cNvSpPr txBox="1"/>
          <p:nvPr/>
        </p:nvSpPr>
        <p:spPr>
          <a:xfrm>
            <a:off x="4476750" y="449580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AC</a:t>
            </a:r>
          </a:p>
        </p:txBody>
      </p:sp>
      <p:sp>
        <p:nvSpPr>
          <p:cNvPr id="48" name="comp-4-name"/>
          <p:cNvSpPr txBox="1"/>
          <p:nvPr/>
        </p:nvSpPr>
        <p:spPr>
          <a:xfrm>
            <a:off x="4838700" y="4457700"/>
            <a:ext cx="2800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Accenture AI Platform</a:t>
            </a:r>
          </a:p>
        </p:txBody>
      </p:sp>
      <p:sp>
        <p:nvSpPr>
          <p:cNvPr id="49" name="comp-4-pill-1-bg"/>
          <p:cNvSpPr/>
          <p:nvPr/>
        </p:nvSpPr>
        <p:spPr>
          <a:xfrm>
            <a:off x="4838700" y="4648200"/>
            <a:ext cx="857250" cy="152400"/>
          </a:xfrm>
          <a:prstGeom prst="rect">
            <a:avLst/>
          </a:prstGeom>
          <a:solidFill>
            <a:srgbClr val="3C1F5C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comp-4-pill-1"/>
          <p:cNvSpPr txBox="1"/>
          <p:nvPr/>
        </p:nvSpPr>
        <p:spPr>
          <a:xfrm>
            <a:off x="4838700" y="4648200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Vertical AI</a:t>
            </a:r>
          </a:p>
        </p:txBody>
      </p:sp>
      <p:sp>
        <p:nvSpPr>
          <p:cNvPr id="51" name="comp-4-pill-2-bg"/>
          <p:cNvSpPr/>
          <p:nvPr/>
        </p:nvSpPr>
        <p:spPr>
          <a:xfrm>
            <a:off x="5743575" y="4648200"/>
            <a:ext cx="857250" cy="152400"/>
          </a:xfrm>
          <a:prstGeom prst="rect">
            <a:avLst/>
          </a:prstGeom>
          <a:solidFill>
            <a:srgbClr val="3C1F5C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comp-4-pill-2"/>
          <p:cNvSpPr txBox="1"/>
          <p:nvPr/>
        </p:nvSpPr>
        <p:spPr>
          <a:xfrm>
            <a:off x="5743575" y="4648200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Managed Services</a:t>
            </a:r>
          </a:p>
        </p:txBody>
      </p:sp>
      <p:sp>
        <p:nvSpPr>
          <p:cNvPr id="53" name="comp-4-rev"/>
          <p:cNvSpPr txBox="1"/>
          <p:nvPr/>
        </p:nvSpPr>
        <p:spPr>
          <a:xfrm>
            <a:off x="4838700" y="4819650"/>
            <a:ext cx="28003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≈$9B revenue</a:t>
            </a:r>
          </a:p>
        </p:txBody>
      </p:sp>
      <p:sp>
        <p:nvSpPr>
          <p:cNvPr id="54" name="comp-4-us-label"/>
          <p:cNvSpPr txBox="1"/>
          <p:nvPr/>
        </p:nvSpPr>
        <p:spPr>
          <a:xfrm>
            <a:off x="6819900" y="4476750"/>
            <a:ext cx="876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OUR POSITION</a:t>
            </a:r>
          </a:p>
        </p:txBody>
      </p:sp>
      <p:sp>
        <p:nvSpPr>
          <p:cNvPr id="55" name="comp-5-logo"/>
          <p:cNvSpPr/>
          <p:nvPr/>
        </p:nvSpPr>
        <p:spPr>
          <a:xfrm>
            <a:off x="4476750" y="5334000"/>
            <a:ext cx="285750" cy="28575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comp-5-init"/>
          <p:cNvSpPr txBox="1"/>
          <p:nvPr/>
        </p:nvSpPr>
        <p:spPr>
          <a:xfrm>
            <a:off x="4476750" y="533400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</a:t>
            </a:r>
          </a:p>
        </p:txBody>
      </p:sp>
      <p:sp>
        <p:nvSpPr>
          <p:cNvPr id="57" name="comp-5-name"/>
          <p:cNvSpPr txBox="1"/>
          <p:nvPr/>
        </p:nvSpPr>
        <p:spPr>
          <a:xfrm>
            <a:off x="4838700" y="5295900"/>
            <a:ext cx="2800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Salesforce Einstein</a:t>
            </a:r>
          </a:p>
        </p:txBody>
      </p:sp>
      <p:sp>
        <p:nvSpPr>
          <p:cNvPr id="58" name="comp-5-pill-1-bg"/>
          <p:cNvSpPr/>
          <p:nvPr/>
        </p:nvSpPr>
        <p:spPr>
          <a:xfrm>
            <a:off x="4838700" y="5486400"/>
            <a:ext cx="857250" cy="152400"/>
          </a:xfrm>
          <a:prstGeom prst="rect">
            <a:avLst/>
          </a:prstGeom>
          <a:solidFill>
            <a:srgbClr val="3C1F5C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comp-5-pill-1"/>
          <p:cNvSpPr txBox="1"/>
          <p:nvPr/>
        </p:nvSpPr>
        <p:spPr>
          <a:xfrm>
            <a:off x="4838700" y="5486400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7C3AED"/>
                </a:solidFill>
                <a:latin typeface="Inter"/>
              </a:rPr>
              <a:t>CRM AI</a:t>
            </a:r>
          </a:p>
        </p:txBody>
      </p:sp>
      <p:sp>
        <p:nvSpPr>
          <p:cNvPr id="60" name="comp-5-pill-2-bg"/>
          <p:cNvSpPr/>
          <p:nvPr/>
        </p:nvSpPr>
        <p:spPr>
          <a:xfrm>
            <a:off x="5743575" y="5486400"/>
            <a:ext cx="857250" cy="152400"/>
          </a:xfrm>
          <a:prstGeom prst="rect">
            <a:avLst/>
          </a:prstGeom>
          <a:solidFill>
            <a:srgbClr val="3C1F5C"/>
          </a:solidFill>
          <a:ln w="63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comp-5-pill-2"/>
          <p:cNvSpPr txBox="1"/>
          <p:nvPr/>
        </p:nvSpPr>
        <p:spPr>
          <a:xfrm>
            <a:off x="5743575" y="5486400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C4899"/>
                </a:solidFill>
                <a:latin typeface="Inter"/>
              </a:rPr>
              <a:t>Automation</a:t>
            </a:r>
          </a:p>
        </p:txBody>
      </p:sp>
      <p:sp>
        <p:nvSpPr>
          <p:cNvPr id="62" name="comp-5-rev"/>
          <p:cNvSpPr txBox="1"/>
          <p:nvPr/>
        </p:nvSpPr>
        <p:spPr>
          <a:xfrm>
            <a:off x="4838700" y="5657850"/>
            <a:ext cx="28003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≈$11B revenue</a:t>
            </a:r>
          </a:p>
        </p:txBody>
      </p:sp>
      <p:sp>
        <p:nvSpPr>
          <p:cNvPr id="63" name="opp-bg"/>
          <p:cNvSpPr/>
          <p:nvPr/>
        </p:nvSpPr>
        <p:spPr>
          <a:xfrm>
            <a:off x="8001000" y="1524000"/>
            <a:ext cx="3562350" cy="47625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opp-label"/>
          <p:cNvSpPr txBox="1"/>
          <p:nvPr/>
        </p:nvSpPr>
        <p:spPr>
          <a:xfrm>
            <a:off x="8172450" y="1676400"/>
            <a:ext cx="32194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OPPORTUNITY</a:t>
            </a:r>
          </a:p>
        </p:txBody>
      </p:sp>
      <p:sp>
        <p:nvSpPr>
          <p:cNvPr id="65" name="opp-1-title"/>
          <p:cNvSpPr txBox="1"/>
          <p:nvPr/>
        </p:nvSpPr>
        <p:spPr>
          <a:xfrm>
            <a:off x="8172450" y="1905000"/>
            <a:ext cx="26098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Regulated Industry Verticals</a:t>
            </a:r>
          </a:p>
        </p:txBody>
      </p:sp>
      <p:sp>
        <p:nvSpPr>
          <p:cNvPr id="66" name="opp-1-growth"/>
          <p:cNvSpPr txBox="1"/>
          <p:nvPr/>
        </p:nvSpPr>
        <p:spPr>
          <a:xfrm>
            <a:off x="10706100" y="1905000"/>
            <a:ext cx="685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2C55E"/>
                </a:solidFill>
                <a:latin typeface="Inter"/>
              </a:rPr>
              <a:t>▲ 51%</a:t>
            </a:r>
          </a:p>
        </p:txBody>
      </p:sp>
      <p:sp>
        <p:nvSpPr>
          <p:cNvPr id="67" name="opp-1-body"/>
          <p:cNvSpPr txBox="1"/>
          <p:nvPr/>
        </p:nvSpPr>
        <p:spPr>
          <a:xfrm>
            <a:off x="8172450" y="2114550"/>
            <a:ext cx="3219450" cy="1143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BFSI, healthcare, and public sector remain underserved by hyperscalers; compliance-first AI platforms command 2–3× pricing premium.</a:t>
            </a:r>
          </a:p>
        </p:txBody>
      </p:sp>
      <p:sp>
        <p:nvSpPr>
          <p:cNvPr id="68" name="opp-2-title"/>
          <p:cNvSpPr txBox="1"/>
          <p:nvPr/>
        </p:nvSpPr>
        <p:spPr>
          <a:xfrm>
            <a:off x="8172450" y="3314700"/>
            <a:ext cx="26098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Sovereign &amp; On-Premise AI</a:t>
            </a:r>
          </a:p>
        </p:txBody>
      </p:sp>
      <p:sp>
        <p:nvSpPr>
          <p:cNvPr id="69" name="opp-2-growth"/>
          <p:cNvSpPr txBox="1"/>
          <p:nvPr/>
        </p:nvSpPr>
        <p:spPr>
          <a:xfrm>
            <a:off x="10706100" y="3314700"/>
            <a:ext cx="685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2C55E"/>
                </a:solidFill>
                <a:latin typeface="Inter"/>
              </a:rPr>
              <a:t>▲ 44%</a:t>
            </a:r>
          </a:p>
        </p:txBody>
      </p:sp>
      <p:sp>
        <p:nvSpPr>
          <p:cNvPr id="70" name="opp-2-body"/>
          <p:cNvSpPr txBox="1"/>
          <p:nvPr/>
        </p:nvSpPr>
        <p:spPr>
          <a:xfrm>
            <a:off x="8172450" y="3524250"/>
            <a:ext cx="3219450" cy="1143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Data residency mandates in EU, APAC, and Middle East creating demand for air-gapped deployments no hyperscaler currently addresses at scale.</a:t>
            </a:r>
          </a:p>
        </p:txBody>
      </p:sp>
      <p:sp>
        <p:nvSpPr>
          <p:cNvPr id="71" name="opp-3-title"/>
          <p:cNvSpPr txBox="1"/>
          <p:nvPr/>
        </p:nvSpPr>
        <p:spPr>
          <a:xfrm>
            <a:off x="8172450" y="4724400"/>
            <a:ext cx="26098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AI Governance &amp; Audit Layer</a:t>
            </a:r>
          </a:p>
        </p:txBody>
      </p:sp>
      <p:sp>
        <p:nvSpPr>
          <p:cNvPr id="72" name="opp-3-growth"/>
          <p:cNvSpPr txBox="1"/>
          <p:nvPr/>
        </p:nvSpPr>
        <p:spPr>
          <a:xfrm>
            <a:off x="10706100" y="4724400"/>
            <a:ext cx="685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2C55E"/>
                </a:solidFill>
                <a:latin typeface="Inter"/>
              </a:rPr>
              <a:t>▲ 67%</a:t>
            </a:r>
          </a:p>
        </p:txBody>
      </p:sp>
      <p:sp>
        <p:nvSpPr>
          <p:cNvPr id="73" name="opp-3-body"/>
          <p:cNvSpPr txBox="1"/>
          <p:nvPr/>
        </p:nvSpPr>
        <p:spPr>
          <a:xfrm>
            <a:off x="8172450" y="4933950"/>
            <a:ext cx="3219450" cy="1143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Regulatory pressure (EU AI Act, SEC guidance) driving greenfield spend on explainability tooling; no dominant vendor has emerged in this segment.</a:t>
            </a:r>
          </a:p>
        </p:txBody>
      </p:sp>
      <p:sp>
        <p:nvSpPr>
          <p:cNvPr id="74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75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76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347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