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Our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Strategy</a:t>
            </a:r>
            <a:r>
              <a:rPr sz="1950" b="1" i="0">
                <a:solidFill>
                  <a:srgbClr val="FFFFFF"/>
                </a:solidFill>
                <a:latin typeface="Inter"/>
              </a:rPr>
              <a:t> on a Page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Enterprise direction, pillars, and measurable outcomes — FY2026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vision-card"/>
          <p:cNvSpPr/>
          <p:nvPr/>
        </p:nvSpPr>
        <p:spPr>
          <a:xfrm>
            <a:off x="457200" y="2095500"/>
            <a:ext cx="2095500" cy="1600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vision-label"/>
          <p:cNvSpPr txBox="1"/>
          <p:nvPr/>
        </p:nvSpPr>
        <p:spPr>
          <a:xfrm>
            <a:off x="571500" y="219075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VISION</a:t>
            </a:r>
          </a:p>
        </p:txBody>
      </p:sp>
      <p:sp>
        <p:nvSpPr>
          <p:cNvPr id="7" name="vision-text"/>
          <p:cNvSpPr txBox="1"/>
          <p:nvPr/>
        </p:nvSpPr>
        <p:spPr>
          <a:xfrm>
            <a:off x="571500" y="2343150"/>
            <a:ext cx="1866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"To be the most trusted partner in human-centered digital transformation by 2028."</a:t>
            </a:r>
          </a:p>
        </p:txBody>
      </p:sp>
      <p:sp>
        <p:nvSpPr>
          <p:cNvPr id="8" name="mission-card"/>
          <p:cNvSpPr/>
          <p:nvPr/>
        </p:nvSpPr>
        <p:spPr>
          <a:xfrm>
            <a:off x="457200" y="3762375"/>
            <a:ext cx="2095500" cy="1600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mission-label"/>
          <p:cNvSpPr txBox="1"/>
          <p:nvPr/>
        </p:nvSpPr>
        <p:spPr>
          <a:xfrm>
            <a:off x="571500" y="3857625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MISSION</a:t>
            </a:r>
          </a:p>
        </p:txBody>
      </p:sp>
      <p:sp>
        <p:nvSpPr>
          <p:cNvPr id="10" name="mission-text"/>
          <p:cNvSpPr txBox="1"/>
          <p:nvPr/>
        </p:nvSpPr>
        <p:spPr>
          <a:xfrm>
            <a:off x="571500" y="4010025"/>
            <a:ext cx="1866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 accelerate client impact through technology, talent, and data — delivering measurable outcomes at enterprise scale.</a:t>
            </a:r>
          </a:p>
        </p:txBody>
      </p:sp>
      <p:sp>
        <p:nvSpPr>
          <p:cNvPr id="11" name="pillars-card"/>
          <p:cNvSpPr/>
          <p:nvPr/>
        </p:nvSpPr>
        <p:spPr>
          <a:xfrm>
            <a:off x="2619375" y="2095500"/>
            <a:ext cx="6858000" cy="3276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ars-label"/>
          <p:cNvSpPr txBox="1"/>
          <p:nvPr/>
        </p:nvSpPr>
        <p:spPr>
          <a:xfrm>
            <a:off x="2733675" y="219075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STRATEGIC PILLARS</a:t>
            </a:r>
          </a:p>
        </p:txBody>
      </p:sp>
      <p:sp>
        <p:nvSpPr>
          <p:cNvPr id="13" name="pillars-accent"/>
          <p:cNvSpPr/>
          <p:nvPr/>
        </p:nvSpPr>
        <p:spPr>
          <a:xfrm>
            <a:off x="4524375" y="2228850"/>
            <a:ext cx="47625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illar-1-num-bg"/>
          <p:cNvSpPr/>
          <p:nvPr/>
        </p:nvSpPr>
        <p:spPr>
          <a:xfrm>
            <a:off x="2752725" y="24384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illar-1-num"/>
          <p:cNvSpPr txBox="1"/>
          <p:nvPr/>
        </p:nvSpPr>
        <p:spPr>
          <a:xfrm>
            <a:off x="2752725" y="24384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6" name="pillar-1-name"/>
          <p:cNvSpPr txBox="1"/>
          <p:nvPr/>
        </p:nvSpPr>
        <p:spPr>
          <a:xfrm>
            <a:off x="3038475" y="241935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AI-Led Delivery at Scale</a:t>
            </a:r>
          </a:p>
        </p:txBody>
      </p:sp>
      <p:sp>
        <p:nvSpPr>
          <p:cNvPr id="17" name="pillar-1-desc"/>
          <p:cNvSpPr txBox="1"/>
          <p:nvPr/>
        </p:nvSpPr>
        <p:spPr>
          <a:xfrm>
            <a:off x="3038475" y="2590800"/>
            <a:ext cx="6286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Embed AI-native tooling into every engagement; reduce delivery cycle time by 30% through intelligent automation and co-pilot platforms.</a:t>
            </a:r>
          </a:p>
        </p:txBody>
      </p:sp>
      <p:sp>
        <p:nvSpPr>
          <p:cNvPr id="18" name="pillar-1-divider"/>
          <p:cNvSpPr/>
          <p:nvPr/>
        </p:nvSpPr>
        <p:spPr>
          <a:xfrm>
            <a:off x="2752725" y="3352800"/>
            <a:ext cx="65913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illar-2-num-bg"/>
          <p:cNvSpPr/>
          <p:nvPr/>
        </p:nvSpPr>
        <p:spPr>
          <a:xfrm>
            <a:off x="2752725" y="34099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illar-2-num"/>
          <p:cNvSpPr txBox="1"/>
          <p:nvPr/>
        </p:nvSpPr>
        <p:spPr>
          <a:xfrm>
            <a:off x="2752725" y="34099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1" name="pillar-2-name"/>
          <p:cNvSpPr txBox="1"/>
          <p:nvPr/>
        </p:nvSpPr>
        <p:spPr>
          <a:xfrm>
            <a:off x="3038475" y="339090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Talent &amp; Capability Edge</a:t>
            </a:r>
          </a:p>
        </p:txBody>
      </p:sp>
      <p:sp>
        <p:nvSpPr>
          <p:cNvPr id="22" name="pillar-2-desc"/>
          <p:cNvSpPr txBox="1"/>
          <p:nvPr/>
        </p:nvSpPr>
        <p:spPr>
          <a:xfrm>
            <a:off x="3038475" y="3562350"/>
            <a:ext cx="6286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Upskill 80% of delivery staff on next-gen tools; build differentiated centers of excellence in cloud, data, and security.</a:t>
            </a:r>
          </a:p>
        </p:txBody>
      </p:sp>
      <p:sp>
        <p:nvSpPr>
          <p:cNvPr id="23" name="pillar-2-divider"/>
          <p:cNvSpPr/>
          <p:nvPr/>
        </p:nvSpPr>
        <p:spPr>
          <a:xfrm>
            <a:off x="2752725" y="4324350"/>
            <a:ext cx="65913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3-num-bg"/>
          <p:cNvSpPr/>
          <p:nvPr/>
        </p:nvSpPr>
        <p:spPr>
          <a:xfrm>
            <a:off x="2752725" y="43815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illar-3-num"/>
          <p:cNvSpPr txBox="1"/>
          <p:nvPr/>
        </p:nvSpPr>
        <p:spPr>
          <a:xfrm>
            <a:off x="2752725" y="43815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pillar-3-name"/>
          <p:cNvSpPr txBox="1"/>
          <p:nvPr/>
        </p:nvSpPr>
        <p:spPr>
          <a:xfrm>
            <a:off x="3038475" y="436245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Client-Centric Growth</a:t>
            </a:r>
          </a:p>
        </p:txBody>
      </p:sp>
      <p:sp>
        <p:nvSpPr>
          <p:cNvPr id="27" name="pillar-3-desc"/>
          <p:cNvSpPr txBox="1"/>
          <p:nvPr/>
        </p:nvSpPr>
        <p:spPr>
          <a:xfrm>
            <a:off x="3038475" y="4533900"/>
            <a:ext cx="6286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Deepen relationships in top-20 accounts; grow share-of-wallet by 25% through outcome-based commercial models and proactive advisory.</a:t>
            </a:r>
          </a:p>
        </p:txBody>
      </p:sp>
      <p:sp>
        <p:nvSpPr>
          <p:cNvPr id="28" name="okrs-card"/>
          <p:cNvSpPr/>
          <p:nvPr/>
        </p:nvSpPr>
        <p:spPr>
          <a:xfrm>
            <a:off x="9544050" y="2095500"/>
            <a:ext cx="2190750" cy="3276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okrs-label"/>
          <p:cNvSpPr txBox="1"/>
          <p:nvPr/>
        </p:nvSpPr>
        <p:spPr>
          <a:xfrm>
            <a:off x="9658350" y="219075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OKRS / KPIS</a:t>
            </a:r>
          </a:p>
        </p:txBody>
      </p:sp>
      <p:sp>
        <p:nvSpPr>
          <p:cNvPr id="30" name="okr-1-obj-pill"/>
          <p:cNvSpPr txBox="1"/>
          <p:nvPr/>
        </p:nvSpPr>
        <p:spPr>
          <a:xfrm>
            <a:off x="9658350" y="2419350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1" name="okr-1-objective"/>
          <p:cNvSpPr txBox="1"/>
          <p:nvPr/>
        </p:nvSpPr>
        <p:spPr>
          <a:xfrm>
            <a:off x="9829800" y="240030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Accelerate AI-driven revenue</a:t>
            </a:r>
          </a:p>
        </p:txBody>
      </p:sp>
      <p:sp>
        <p:nvSpPr>
          <p:cNvPr id="32" name="okr-1-kr"/>
          <p:cNvSpPr txBox="1"/>
          <p:nvPr/>
        </p:nvSpPr>
        <p:spPr>
          <a:xfrm>
            <a:off x="9829800" y="2571750"/>
            <a:ext cx="17907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KR  AI-attributed revenue ≥ $500M by Q4</a:t>
            </a:r>
          </a:p>
        </p:txBody>
      </p:sp>
      <p:sp>
        <p:nvSpPr>
          <p:cNvPr id="33" name="okr-1-divider"/>
          <p:cNvSpPr/>
          <p:nvPr/>
        </p:nvSpPr>
        <p:spPr>
          <a:xfrm>
            <a:off x="9658350" y="3352800"/>
            <a:ext cx="1962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okr-2-obj-pill"/>
          <p:cNvSpPr txBox="1"/>
          <p:nvPr/>
        </p:nvSpPr>
        <p:spPr>
          <a:xfrm>
            <a:off x="9658350" y="3390900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5" name="okr-2-objective"/>
          <p:cNvSpPr txBox="1"/>
          <p:nvPr/>
        </p:nvSpPr>
        <p:spPr>
          <a:xfrm>
            <a:off x="9829800" y="337185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Strengthen talent pipeline</a:t>
            </a:r>
          </a:p>
        </p:txBody>
      </p:sp>
      <p:sp>
        <p:nvSpPr>
          <p:cNvPr id="36" name="okr-2-kr"/>
          <p:cNvSpPr txBox="1"/>
          <p:nvPr/>
        </p:nvSpPr>
        <p:spPr>
          <a:xfrm>
            <a:off x="9829800" y="3543300"/>
            <a:ext cx="17907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KR  80% workforce AI-certified by H2</a:t>
            </a:r>
          </a:p>
        </p:txBody>
      </p:sp>
      <p:sp>
        <p:nvSpPr>
          <p:cNvPr id="37" name="okr-2-divider"/>
          <p:cNvSpPr/>
          <p:nvPr/>
        </p:nvSpPr>
        <p:spPr>
          <a:xfrm>
            <a:off x="9658350" y="4324350"/>
            <a:ext cx="1962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kr-3-obj-pill"/>
          <p:cNvSpPr txBox="1"/>
          <p:nvPr/>
        </p:nvSpPr>
        <p:spPr>
          <a:xfrm>
            <a:off x="9658350" y="4362450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9" name="okr-3-objective"/>
          <p:cNvSpPr txBox="1"/>
          <p:nvPr/>
        </p:nvSpPr>
        <p:spPr>
          <a:xfrm>
            <a:off x="9829800" y="434340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Grow strategic accounts</a:t>
            </a:r>
          </a:p>
        </p:txBody>
      </p:sp>
      <p:sp>
        <p:nvSpPr>
          <p:cNvPr id="40" name="okr-3-kr"/>
          <p:cNvSpPr txBox="1"/>
          <p:nvPr/>
        </p:nvSpPr>
        <p:spPr>
          <a:xfrm>
            <a:off x="9829800" y="4514850"/>
            <a:ext cx="17907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KR  NPS ≥ 72; wallet share +25% YoY</a:t>
            </a:r>
          </a:p>
        </p:txBody>
      </p:sp>
      <p:sp>
        <p:nvSpPr>
          <p:cNvPr id="41" name="initiative-1-bg"/>
          <p:cNvSpPr/>
          <p:nvPr/>
        </p:nvSpPr>
        <p:spPr>
          <a:xfrm>
            <a:off x="457200" y="5438775"/>
            <a:ext cx="276225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initiative-1-accent"/>
          <p:cNvSpPr/>
          <p:nvPr/>
        </p:nvSpPr>
        <p:spPr>
          <a:xfrm>
            <a:off x="457200" y="543877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initiative-1-num"/>
          <p:cNvSpPr txBox="1"/>
          <p:nvPr/>
        </p:nvSpPr>
        <p:spPr>
          <a:xfrm>
            <a:off x="571500" y="553402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01</a:t>
            </a:r>
          </a:p>
        </p:txBody>
      </p:sp>
      <p:sp>
        <p:nvSpPr>
          <p:cNvPr id="44" name="initiative-1-title"/>
          <p:cNvSpPr txBox="1"/>
          <p:nvPr/>
        </p:nvSpPr>
        <p:spPr>
          <a:xfrm>
            <a:off x="571500" y="568642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GenAI Rapid Deployment Program</a:t>
            </a:r>
          </a:p>
        </p:txBody>
      </p:sp>
      <p:sp>
        <p:nvSpPr>
          <p:cNvPr id="45" name="initiative-1-desc"/>
          <p:cNvSpPr txBox="1"/>
          <p:nvPr/>
        </p:nvSpPr>
        <p:spPr>
          <a:xfrm>
            <a:off x="571500" y="589597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Deploy GenAI co-pilots across top 10 client engagements by Q2</a:t>
            </a:r>
          </a:p>
        </p:txBody>
      </p:sp>
      <p:sp>
        <p:nvSpPr>
          <p:cNvPr id="46" name="initiative-2-bg"/>
          <p:cNvSpPr/>
          <p:nvPr/>
        </p:nvSpPr>
        <p:spPr>
          <a:xfrm>
            <a:off x="3286125" y="5438775"/>
            <a:ext cx="276225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initiative-2-accent"/>
          <p:cNvSpPr/>
          <p:nvPr/>
        </p:nvSpPr>
        <p:spPr>
          <a:xfrm>
            <a:off x="3286125" y="543877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initiative-2-num"/>
          <p:cNvSpPr txBox="1"/>
          <p:nvPr/>
        </p:nvSpPr>
        <p:spPr>
          <a:xfrm>
            <a:off x="3400425" y="553402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02</a:t>
            </a:r>
          </a:p>
        </p:txBody>
      </p:sp>
      <p:sp>
        <p:nvSpPr>
          <p:cNvPr id="49" name="initiative-2-title"/>
          <p:cNvSpPr txBox="1"/>
          <p:nvPr/>
        </p:nvSpPr>
        <p:spPr>
          <a:xfrm>
            <a:off x="3400425" y="568642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Migration Accelerator</a:t>
            </a:r>
          </a:p>
        </p:txBody>
      </p:sp>
      <p:sp>
        <p:nvSpPr>
          <p:cNvPr id="50" name="initiative-2-desc"/>
          <p:cNvSpPr txBox="1"/>
          <p:nvPr/>
        </p:nvSpPr>
        <p:spPr>
          <a:xfrm>
            <a:off x="3400425" y="589597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Move 60% of legacy workloads to hybrid cloud within 18 months</a:t>
            </a:r>
          </a:p>
        </p:txBody>
      </p:sp>
      <p:sp>
        <p:nvSpPr>
          <p:cNvPr id="51" name="initiative-3-bg"/>
          <p:cNvSpPr/>
          <p:nvPr/>
        </p:nvSpPr>
        <p:spPr>
          <a:xfrm>
            <a:off x="6115050" y="5438775"/>
            <a:ext cx="276225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initiative-3-accent"/>
          <p:cNvSpPr/>
          <p:nvPr/>
        </p:nvSpPr>
        <p:spPr>
          <a:xfrm>
            <a:off x="6115050" y="543877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initiative-3-num"/>
          <p:cNvSpPr txBox="1"/>
          <p:nvPr/>
        </p:nvSpPr>
        <p:spPr>
          <a:xfrm>
            <a:off x="6229350" y="553402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03</a:t>
            </a:r>
          </a:p>
        </p:txBody>
      </p:sp>
      <p:sp>
        <p:nvSpPr>
          <p:cNvPr id="54" name="initiative-3-title"/>
          <p:cNvSpPr txBox="1"/>
          <p:nvPr/>
        </p:nvSpPr>
        <p:spPr>
          <a:xfrm>
            <a:off x="6229350" y="568642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Fabric &amp; Governance</a:t>
            </a:r>
          </a:p>
        </p:txBody>
      </p:sp>
      <p:sp>
        <p:nvSpPr>
          <p:cNvPr id="55" name="initiative-3-desc"/>
          <p:cNvSpPr txBox="1"/>
          <p:nvPr/>
        </p:nvSpPr>
        <p:spPr>
          <a:xfrm>
            <a:off x="6229350" y="589597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Unified data platform live in 5 priority accounts by Q3</a:t>
            </a:r>
          </a:p>
        </p:txBody>
      </p:sp>
      <p:sp>
        <p:nvSpPr>
          <p:cNvPr id="56" name="initiative-4-bg"/>
          <p:cNvSpPr/>
          <p:nvPr/>
        </p:nvSpPr>
        <p:spPr>
          <a:xfrm>
            <a:off x="8943975" y="5438775"/>
            <a:ext cx="276225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initiative-4-accent"/>
          <p:cNvSpPr/>
          <p:nvPr/>
        </p:nvSpPr>
        <p:spPr>
          <a:xfrm>
            <a:off x="8943975" y="543877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initiative-4-num"/>
          <p:cNvSpPr txBox="1"/>
          <p:nvPr/>
        </p:nvSpPr>
        <p:spPr>
          <a:xfrm>
            <a:off x="9058275" y="553402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04</a:t>
            </a:r>
          </a:p>
        </p:txBody>
      </p:sp>
      <p:sp>
        <p:nvSpPr>
          <p:cNvPr id="59" name="initiative-4-title"/>
          <p:cNvSpPr txBox="1"/>
          <p:nvPr/>
        </p:nvSpPr>
        <p:spPr>
          <a:xfrm>
            <a:off x="9058275" y="568642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Cyber Resilience Baseline</a:t>
            </a:r>
          </a:p>
        </p:txBody>
      </p:sp>
      <p:sp>
        <p:nvSpPr>
          <p:cNvPr id="60" name="initiative-4-desc"/>
          <p:cNvSpPr txBox="1"/>
          <p:nvPr/>
        </p:nvSpPr>
        <p:spPr>
          <a:xfrm>
            <a:off x="9058275" y="589597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Zero-trust architecture rolled out across all internal systems by EOY</a:t>
            </a:r>
          </a:p>
        </p:txBody>
      </p:sp>
      <p:sp>
        <p:nvSpPr>
          <p:cNvPr id="6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