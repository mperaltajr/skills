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Seven milestones that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define the transformation arc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represents a distinct phase gate — progress is sequential and momentum compounds across all seven stages.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age-past"/>
          <p:cNvSpPr txBox="1"/>
          <p:nvPr/>
        </p:nvSpPr>
        <p:spPr>
          <a:xfrm>
            <a:off x="457200" y="19431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PAST</a:t>
            </a:r>
          </a:p>
        </p:txBody>
      </p:sp>
      <p:sp>
        <p:nvSpPr>
          <p:cNvPr id="6" name="stage-future"/>
          <p:cNvSpPr txBox="1"/>
          <p:nvPr/>
        </p:nvSpPr>
        <p:spPr>
          <a:xfrm>
            <a:off x="10972800" y="19431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FUTURE</a:t>
            </a:r>
          </a:p>
        </p:txBody>
      </p:sp>
      <p:cxnSp>
        <p:nvCxnSpPr>
          <p:cNvPr id="7" name="arc-seg-1"/>
          <p:cNvCxnSpPr/>
          <p:nvPr/>
        </p:nvCxnSpPr>
        <p:spPr>
          <a:xfrm>
            <a:off x="1028700" y="4086225"/>
            <a:ext cx="1689100" cy="1905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c-seg-2"/>
          <p:cNvCxnSpPr/>
          <p:nvPr/>
        </p:nvCxnSpPr>
        <p:spPr>
          <a:xfrm>
            <a:off x="2717800" y="4276725"/>
            <a:ext cx="1689100" cy="1143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c-seg-3"/>
          <p:cNvCxnSpPr/>
          <p:nvPr/>
        </p:nvCxnSpPr>
        <p:spPr>
          <a:xfrm>
            <a:off x="4406900" y="4391025"/>
            <a:ext cx="1689100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c-seg-4"/>
          <p:cNvCxnSpPr/>
          <p:nvPr/>
        </p:nvCxnSpPr>
        <p:spPr>
          <a:xfrm flipV="1">
            <a:off x="6096000" y="4391025"/>
            <a:ext cx="1689099" cy="381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c-seg-5"/>
          <p:cNvCxnSpPr/>
          <p:nvPr/>
        </p:nvCxnSpPr>
        <p:spPr>
          <a:xfrm flipV="1">
            <a:off x="7785099" y="4276725"/>
            <a:ext cx="1689101" cy="1143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c-seg-6"/>
          <p:cNvCxnSpPr/>
          <p:nvPr/>
        </p:nvCxnSpPr>
        <p:spPr>
          <a:xfrm flipV="1">
            <a:off x="9474200" y="4086225"/>
            <a:ext cx="1689100" cy="190500"/>
          </a:xfrm>
          <a:prstGeom prst="line">
            <a:avLst/>
          </a:prstGeom>
          <a:ln w="1905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ode-1-bg"/>
          <p:cNvSpPr/>
          <p:nvPr/>
        </p:nvSpPr>
        <p:spPr>
          <a:xfrm>
            <a:off x="819150" y="38766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node-1-text"/>
          <p:cNvSpPr txBox="1"/>
          <p:nvPr/>
        </p:nvSpPr>
        <p:spPr>
          <a:xfrm>
            <a:off x="819150" y="38766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5" name="node-1-title"/>
          <p:cNvSpPr txBox="1"/>
          <p:nvPr/>
        </p:nvSpPr>
        <p:spPr>
          <a:xfrm>
            <a:off x="361950" y="439102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Discovery</a:t>
            </a:r>
          </a:p>
        </p:txBody>
      </p:sp>
      <p:sp>
        <p:nvSpPr>
          <p:cNvPr id="16" name="node-1-capA"/>
          <p:cNvSpPr txBox="1"/>
          <p:nvPr/>
        </p:nvSpPr>
        <p:spPr>
          <a:xfrm>
            <a:off x="361950" y="45815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Baseline &amp; stakeholder</a:t>
            </a:r>
          </a:p>
        </p:txBody>
      </p:sp>
      <p:sp>
        <p:nvSpPr>
          <p:cNvPr id="17" name="node-1-capB"/>
          <p:cNvSpPr txBox="1"/>
          <p:nvPr/>
        </p:nvSpPr>
        <p:spPr>
          <a:xfrm>
            <a:off x="361950" y="47148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assessment complete</a:t>
            </a:r>
          </a:p>
        </p:txBody>
      </p:sp>
      <p:sp>
        <p:nvSpPr>
          <p:cNvPr id="18" name="node-2-bg"/>
          <p:cNvSpPr/>
          <p:nvPr/>
        </p:nvSpPr>
        <p:spPr>
          <a:xfrm>
            <a:off x="2508250" y="40671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node-2-text"/>
          <p:cNvSpPr txBox="1"/>
          <p:nvPr/>
        </p:nvSpPr>
        <p:spPr>
          <a:xfrm>
            <a:off x="2508250" y="40671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node-2-title"/>
          <p:cNvSpPr txBox="1"/>
          <p:nvPr/>
        </p:nvSpPr>
        <p:spPr>
          <a:xfrm>
            <a:off x="2047875" y="345757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Design</a:t>
            </a:r>
          </a:p>
        </p:txBody>
      </p:sp>
      <p:sp>
        <p:nvSpPr>
          <p:cNvPr id="21" name="node-2-capA"/>
          <p:cNvSpPr txBox="1"/>
          <p:nvPr/>
        </p:nvSpPr>
        <p:spPr>
          <a:xfrm>
            <a:off x="2047875" y="36480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Future-state blueprint</a:t>
            </a:r>
          </a:p>
        </p:txBody>
      </p:sp>
      <p:sp>
        <p:nvSpPr>
          <p:cNvPr id="22" name="node-2-capB"/>
          <p:cNvSpPr txBox="1"/>
          <p:nvPr/>
        </p:nvSpPr>
        <p:spPr>
          <a:xfrm>
            <a:off x="2047875" y="37814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signed off</a:t>
            </a:r>
          </a:p>
        </p:txBody>
      </p:sp>
      <p:sp>
        <p:nvSpPr>
          <p:cNvPr id="23" name="node-3-bg"/>
          <p:cNvSpPr/>
          <p:nvPr/>
        </p:nvSpPr>
        <p:spPr>
          <a:xfrm>
            <a:off x="4197350" y="41814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node-3-text"/>
          <p:cNvSpPr txBox="1"/>
          <p:nvPr/>
        </p:nvSpPr>
        <p:spPr>
          <a:xfrm>
            <a:off x="4197350" y="41814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node-3-title"/>
          <p:cNvSpPr txBox="1"/>
          <p:nvPr/>
        </p:nvSpPr>
        <p:spPr>
          <a:xfrm>
            <a:off x="3733800" y="357187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</a:t>
            </a:r>
          </a:p>
        </p:txBody>
      </p:sp>
      <p:sp>
        <p:nvSpPr>
          <p:cNvPr id="26" name="node-3-capA"/>
          <p:cNvSpPr txBox="1"/>
          <p:nvPr/>
        </p:nvSpPr>
        <p:spPr>
          <a:xfrm>
            <a:off x="3733800" y="37623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MVP tested in one</a:t>
            </a:r>
          </a:p>
        </p:txBody>
      </p:sp>
      <p:sp>
        <p:nvSpPr>
          <p:cNvPr id="27" name="node-3-capB"/>
          <p:cNvSpPr txBox="1"/>
          <p:nvPr/>
        </p:nvSpPr>
        <p:spPr>
          <a:xfrm>
            <a:off x="3733800" y="38957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business unit</a:t>
            </a:r>
          </a:p>
        </p:txBody>
      </p:sp>
      <p:sp>
        <p:nvSpPr>
          <p:cNvPr id="28" name="node-4-bg"/>
          <p:cNvSpPr/>
          <p:nvPr/>
        </p:nvSpPr>
        <p:spPr>
          <a:xfrm>
            <a:off x="5886450" y="42195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node-4-text"/>
          <p:cNvSpPr txBox="1"/>
          <p:nvPr/>
        </p:nvSpPr>
        <p:spPr>
          <a:xfrm>
            <a:off x="5886450" y="42195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node-4-title"/>
          <p:cNvSpPr txBox="1"/>
          <p:nvPr/>
        </p:nvSpPr>
        <p:spPr>
          <a:xfrm>
            <a:off x="5429250" y="360997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</a:t>
            </a:r>
          </a:p>
        </p:txBody>
      </p:sp>
      <p:sp>
        <p:nvSpPr>
          <p:cNvPr id="31" name="node-4-capA"/>
          <p:cNvSpPr txBox="1"/>
          <p:nvPr/>
        </p:nvSpPr>
        <p:spPr>
          <a:xfrm>
            <a:off x="5429250" y="38004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Core platform &amp; data</a:t>
            </a:r>
          </a:p>
        </p:txBody>
      </p:sp>
      <p:sp>
        <p:nvSpPr>
          <p:cNvPr id="32" name="node-4-capB"/>
          <p:cNvSpPr txBox="1"/>
          <p:nvPr/>
        </p:nvSpPr>
        <p:spPr>
          <a:xfrm>
            <a:off x="5429250" y="39338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infrastructure live</a:t>
            </a:r>
          </a:p>
        </p:txBody>
      </p:sp>
      <p:sp>
        <p:nvSpPr>
          <p:cNvPr id="33" name="node-5-bg"/>
          <p:cNvSpPr/>
          <p:nvPr/>
        </p:nvSpPr>
        <p:spPr>
          <a:xfrm>
            <a:off x="7575549" y="41814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node-5-text"/>
          <p:cNvSpPr txBox="1"/>
          <p:nvPr/>
        </p:nvSpPr>
        <p:spPr>
          <a:xfrm>
            <a:off x="7575549" y="41814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5" name="node-5-title"/>
          <p:cNvSpPr txBox="1"/>
          <p:nvPr/>
        </p:nvSpPr>
        <p:spPr>
          <a:xfrm>
            <a:off x="7115175" y="357187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Scale</a:t>
            </a:r>
          </a:p>
        </p:txBody>
      </p:sp>
      <p:sp>
        <p:nvSpPr>
          <p:cNvPr id="36" name="node-5-capA"/>
          <p:cNvSpPr txBox="1"/>
          <p:nvPr/>
        </p:nvSpPr>
        <p:spPr>
          <a:xfrm>
            <a:off x="7115175" y="37623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Rollout to all regions</a:t>
            </a:r>
          </a:p>
        </p:txBody>
      </p:sp>
      <p:sp>
        <p:nvSpPr>
          <p:cNvPr id="37" name="node-5-capB"/>
          <p:cNvSpPr txBox="1"/>
          <p:nvPr/>
        </p:nvSpPr>
        <p:spPr>
          <a:xfrm>
            <a:off x="7115175" y="38957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and functions</a:t>
            </a:r>
          </a:p>
        </p:txBody>
      </p:sp>
      <p:sp>
        <p:nvSpPr>
          <p:cNvPr id="38" name="node-6-bg"/>
          <p:cNvSpPr/>
          <p:nvPr/>
        </p:nvSpPr>
        <p:spPr>
          <a:xfrm>
            <a:off x="9264650" y="40671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node-6-text"/>
          <p:cNvSpPr txBox="1"/>
          <p:nvPr/>
        </p:nvSpPr>
        <p:spPr>
          <a:xfrm>
            <a:off x="9264650" y="40671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0" name="node-6-title"/>
          <p:cNvSpPr txBox="1"/>
          <p:nvPr/>
        </p:nvSpPr>
        <p:spPr>
          <a:xfrm>
            <a:off x="8801100" y="345757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Optimise</a:t>
            </a:r>
          </a:p>
        </p:txBody>
      </p:sp>
      <p:sp>
        <p:nvSpPr>
          <p:cNvPr id="41" name="node-6-capA"/>
          <p:cNvSpPr txBox="1"/>
          <p:nvPr/>
        </p:nvSpPr>
        <p:spPr>
          <a:xfrm>
            <a:off x="8801100" y="36480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Value realisation &amp;</a:t>
            </a:r>
          </a:p>
        </p:txBody>
      </p:sp>
      <p:sp>
        <p:nvSpPr>
          <p:cNvPr id="42" name="node-6-capB"/>
          <p:cNvSpPr txBox="1"/>
          <p:nvPr/>
        </p:nvSpPr>
        <p:spPr>
          <a:xfrm>
            <a:off x="8801100" y="37814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continuous improvement</a:t>
            </a:r>
          </a:p>
        </p:txBody>
      </p:sp>
      <p:sp>
        <p:nvSpPr>
          <p:cNvPr id="43" name="node-7-bg"/>
          <p:cNvSpPr/>
          <p:nvPr/>
        </p:nvSpPr>
        <p:spPr>
          <a:xfrm>
            <a:off x="10953750" y="3876675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node-7-text"/>
          <p:cNvSpPr txBox="1"/>
          <p:nvPr/>
        </p:nvSpPr>
        <p:spPr>
          <a:xfrm>
            <a:off x="10953750" y="3876675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5" name="node-7-title"/>
          <p:cNvSpPr txBox="1"/>
          <p:nvPr/>
        </p:nvSpPr>
        <p:spPr>
          <a:xfrm>
            <a:off x="10496550" y="439102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Embed</a:t>
            </a:r>
          </a:p>
        </p:txBody>
      </p:sp>
      <p:sp>
        <p:nvSpPr>
          <p:cNvPr id="46" name="node-7-capA"/>
          <p:cNvSpPr txBox="1"/>
          <p:nvPr/>
        </p:nvSpPr>
        <p:spPr>
          <a:xfrm>
            <a:off x="10496550" y="458152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New operating model</a:t>
            </a:r>
          </a:p>
        </p:txBody>
      </p:sp>
      <p:sp>
        <p:nvSpPr>
          <p:cNvPr id="47" name="node-7-capB"/>
          <p:cNvSpPr txBox="1"/>
          <p:nvPr/>
        </p:nvSpPr>
        <p:spPr>
          <a:xfrm>
            <a:off x="10496550" y="4714875"/>
            <a:ext cx="1333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fully sustained</a:t>
            </a:r>
          </a:p>
        </p:txBody>
      </p:sp>
      <p:sp>
        <p:nvSpPr>
          <p:cNvPr id="4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