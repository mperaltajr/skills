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Our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Solution</a:t>
            </a:r>
            <a:r>
              <a:rPr sz="2400" b="1" i="0">
                <a:solidFill>
                  <a:srgbClr val="FFFFFF"/>
                </a:solidFill>
                <a:latin typeface="Inter"/>
              </a:rPr>
              <a:t> — At a Glance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What we solve, how we solve it, and the outcomes you can expect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l-1-header"/>
          <p:cNvSpPr txBox="1"/>
          <p:nvPr/>
        </p:nvSpPr>
        <p:spPr>
          <a:xfrm>
            <a:off x="609600" y="2095500"/>
            <a:ext cx="3067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THE CHALLENGE</a:t>
            </a:r>
          </a:p>
        </p:txBody>
      </p:sp>
      <p:sp>
        <p:nvSpPr>
          <p:cNvPr id="6" name="col-1-rule"/>
          <p:cNvSpPr/>
          <p:nvPr/>
        </p:nvSpPr>
        <p:spPr>
          <a:xfrm>
            <a:off x="609600" y="2286000"/>
            <a:ext cx="30670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hallenge-1-marker"/>
          <p:cNvSpPr txBox="1"/>
          <p:nvPr/>
        </p:nvSpPr>
        <p:spPr>
          <a:xfrm>
            <a:off x="609600" y="2438400"/>
            <a:ext cx="171450" cy="171450"/>
          </a:xfrm>
          <a:prstGeom prst="rect">
            <a:avLst/>
          </a:prstGeom>
          <a:solidFill>
            <a:srgbClr val="4A1422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B7285"/>
                </a:solidFill>
                <a:latin typeface="Inter"/>
              </a:rPr>
              <a:t>✗</a:t>
            </a:r>
          </a:p>
        </p:txBody>
      </p:sp>
      <p:sp>
        <p:nvSpPr>
          <p:cNvPr id="8" name="challenge-1-heading"/>
          <p:cNvSpPr txBox="1"/>
          <p:nvPr/>
        </p:nvSpPr>
        <p:spPr>
          <a:xfrm>
            <a:off x="857250" y="2438400"/>
            <a:ext cx="2819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Fragmented Processes</a:t>
            </a:r>
          </a:p>
        </p:txBody>
      </p:sp>
      <p:sp>
        <p:nvSpPr>
          <p:cNvPr id="9" name="challenge-1-body"/>
          <p:cNvSpPr txBox="1"/>
          <p:nvPr/>
        </p:nvSpPr>
        <p:spPr>
          <a:xfrm>
            <a:off x="857250" y="2609850"/>
            <a:ext cx="28194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Siloed teams operate on disconnected workflows, creating costly hand-off delays and version errors.</a:t>
            </a:r>
          </a:p>
        </p:txBody>
      </p:sp>
      <p:sp>
        <p:nvSpPr>
          <p:cNvPr id="10" name="challenge-2-marker"/>
          <p:cNvSpPr txBox="1"/>
          <p:nvPr/>
        </p:nvSpPr>
        <p:spPr>
          <a:xfrm>
            <a:off x="609600" y="3486150"/>
            <a:ext cx="171450" cy="171450"/>
          </a:xfrm>
          <a:prstGeom prst="rect">
            <a:avLst/>
          </a:prstGeom>
          <a:solidFill>
            <a:srgbClr val="4A1422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B7285"/>
                </a:solidFill>
                <a:latin typeface="Inter"/>
              </a:rPr>
              <a:t>✗</a:t>
            </a:r>
          </a:p>
        </p:txBody>
      </p:sp>
      <p:sp>
        <p:nvSpPr>
          <p:cNvPr id="11" name="challenge-2-heading"/>
          <p:cNvSpPr txBox="1"/>
          <p:nvPr/>
        </p:nvSpPr>
        <p:spPr>
          <a:xfrm>
            <a:off x="857250" y="3486150"/>
            <a:ext cx="2819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Limited Visibility</a:t>
            </a:r>
          </a:p>
        </p:txBody>
      </p:sp>
      <p:sp>
        <p:nvSpPr>
          <p:cNvPr id="12" name="challenge-2-body"/>
          <p:cNvSpPr txBox="1"/>
          <p:nvPr/>
        </p:nvSpPr>
        <p:spPr>
          <a:xfrm>
            <a:off x="857250" y="3657600"/>
            <a:ext cx="28194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Leadership lacks real-time data to make confident decisions, relying on lagging weekly reports.</a:t>
            </a:r>
          </a:p>
        </p:txBody>
      </p:sp>
      <p:sp>
        <p:nvSpPr>
          <p:cNvPr id="13" name="challenge-3-marker"/>
          <p:cNvSpPr txBox="1"/>
          <p:nvPr/>
        </p:nvSpPr>
        <p:spPr>
          <a:xfrm>
            <a:off x="609600" y="4533900"/>
            <a:ext cx="171450" cy="171450"/>
          </a:xfrm>
          <a:prstGeom prst="rect">
            <a:avLst/>
          </a:prstGeom>
          <a:solidFill>
            <a:srgbClr val="4A1422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B7285"/>
                </a:solidFill>
                <a:latin typeface="Inter"/>
              </a:rPr>
              <a:t>✗</a:t>
            </a:r>
          </a:p>
        </p:txBody>
      </p:sp>
      <p:sp>
        <p:nvSpPr>
          <p:cNvPr id="14" name="challenge-3-heading"/>
          <p:cNvSpPr txBox="1"/>
          <p:nvPr/>
        </p:nvSpPr>
        <p:spPr>
          <a:xfrm>
            <a:off x="857250" y="4533900"/>
            <a:ext cx="2819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Slow Time-to-Market</a:t>
            </a:r>
          </a:p>
        </p:txBody>
      </p:sp>
      <p:sp>
        <p:nvSpPr>
          <p:cNvPr id="15" name="challenge-3-body"/>
          <p:cNvSpPr txBox="1"/>
          <p:nvPr/>
        </p:nvSpPr>
        <p:spPr>
          <a:xfrm>
            <a:off x="857250" y="4705350"/>
            <a:ext cx="28194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Manual approvals and legacy tooling extend delivery cycles well beyond competitive benchmarks.</a:t>
            </a:r>
          </a:p>
        </p:txBody>
      </p:sp>
      <p:sp>
        <p:nvSpPr>
          <p:cNvPr id="16" name="col-2-bg"/>
          <p:cNvSpPr/>
          <p:nvPr/>
        </p:nvSpPr>
        <p:spPr>
          <a:xfrm>
            <a:off x="3829050" y="2095500"/>
            <a:ext cx="4819650" cy="3619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ol-2-left-border"/>
          <p:cNvSpPr/>
          <p:nvPr/>
        </p:nvSpPr>
        <p:spPr>
          <a:xfrm>
            <a:off x="3829050" y="2095500"/>
            <a:ext cx="19050" cy="3619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l-2-right-border"/>
          <p:cNvSpPr/>
          <p:nvPr/>
        </p:nvSpPr>
        <p:spPr>
          <a:xfrm>
            <a:off x="8629650" y="2095500"/>
            <a:ext cx="19050" cy="3619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l-2-header"/>
          <p:cNvSpPr txBox="1"/>
          <p:nvPr/>
        </p:nvSpPr>
        <p:spPr>
          <a:xfrm>
            <a:off x="3981450" y="2247900"/>
            <a:ext cx="4514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OUR SOLUTION</a:t>
            </a:r>
          </a:p>
        </p:txBody>
      </p:sp>
      <p:sp>
        <p:nvSpPr>
          <p:cNvPr id="20" name="col-2-rule"/>
          <p:cNvSpPr/>
          <p:nvPr/>
        </p:nvSpPr>
        <p:spPr>
          <a:xfrm>
            <a:off x="3981450" y="2438400"/>
            <a:ext cx="45148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olution-name"/>
          <p:cNvSpPr txBox="1"/>
          <p:nvPr/>
        </p:nvSpPr>
        <p:spPr>
          <a:xfrm>
            <a:off x="3981450" y="2571750"/>
            <a:ext cx="45148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Accenture Intelligent Operations Platform</a:t>
            </a:r>
          </a:p>
        </p:txBody>
      </p:sp>
      <p:sp>
        <p:nvSpPr>
          <p:cNvPr id="22" name="solution-desc"/>
          <p:cNvSpPr txBox="1"/>
          <p:nvPr/>
        </p:nvSpPr>
        <p:spPr>
          <a:xfrm>
            <a:off x="3981450" y="2819400"/>
            <a:ext cx="451485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 cloud-native, AI-augmented platform that unifies your end-to-end operating model — connecting people, processes, and data in a single pane of glass. Embedded intelligence surfaces exceptions before they escalate, and modular architecture means you go live in weeks, not years.</a:t>
            </a:r>
          </a:p>
        </p:txBody>
      </p:sp>
      <p:sp>
        <p:nvSpPr>
          <p:cNvPr id="23" name="capabilities-label"/>
          <p:cNvSpPr txBox="1"/>
          <p:nvPr/>
        </p:nvSpPr>
        <p:spPr>
          <a:xfrm>
            <a:off x="3981450" y="3962400"/>
            <a:ext cx="4514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CORE CAPABILITIES</a:t>
            </a:r>
          </a:p>
        </p:txBody>
      </p:sp>
      <p:sp>
        <p:nvSpPr>
          <p:cNvPr id="24" name="capability-1-bg"/>
          <p:cNvSpPr/>
          <p:nvPr/>
        </p:nvSpPr>
        <p:spPr>
          <a:xfrm>
            <a:off x="3981450" y="4152900"/>
            <a:ext cx="4514850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pability-1-icon-bg"/>
          <p:cNvSpPr/>
          <p:nvPr/>
        </p:nvSpPr>
        <p:spPr>
          <a:xfrm>
            <a:off x="4038600" y="4210050"/>
            <a:ext cx="1524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pability-1"/>
          <p:cNvSpPr txBox="1"/>
          <p:nvPr/>
        </p:nvSpPr>
        <p:spPr>
          <a:xfrm>
            <a:off x="4267200" y="4210050"/>
            <a:ext cx="4210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Unified Data &amp; Process Orchestration</a:t>
            </a:r>
          </a:p>
        </p:txBody>
      </p:sp>
      <p:sp>
        <p:nvSpPr>
          <p:cNvPr id="27" name="capability-2-bg"/>
          <p:cNvSpPr/>
          <p:nvPr/>
        </p:nvSpPr>
        <p:spPr>
          <a:xfrm>
            <a:off x="3981450" y="4514850"/>
            <a:ext cx="4514850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pability-2-icon-bg"/>
          <p:cNvSpPr/>
          <p:nvPr/>
        </p:nvSpPr>
        <p:spPr>
          <a:xfrm>
            <a:off x="4038600" y="4572000"/>
            <a:ext cx="1524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apability-2"/>
          <p:cNvSpPr txBox="1"/>
          <p:nvPr/>
        </p:nvSpPr>
        <p:spPr>
          <a:xfrm>
            <a:off x="4267200" y="4572000"/>
            <a:ext cx="4210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AI-Powered Decision Intelligence</a:t>
            </a:r>
          </a:p>
        </p:txBody>
      </p:sp>
      <p:sp>
        <p:nvSpPr>
          <p:cNvPr id="30" name="capability-3-bg"/>
          <p:cNvSpPr/>
          <p:nvPr/>
        </p:nvSpPr>
        <p:spPr>
          <a:xfrm>
            <a:off x="3981450" y="4876800"/>
            <a:ext cx="4514850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pability-3-icon-bg"/>
          <p:cNvSpPr/>
          <p:nvPr/>
        </p:nvSpPr>
        <p:spPr>
          <a:xfrm>
            <a:off x="4038600" y="4933950"/>
            <a:ext cx="1524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pability-3"/>
          <p:cNvSpPr txBox="1"/>
          <p:nvPr/>
        </p:nvSpPr>
        <p:spPr>
          <a:xfrm>
            <a:off x="4267200" y="4933950"/>
            <a:ext cx="4210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Modular, Cloud-Ready Architecture</a:t>
            </a:r>
          </a:p>
        </p:txBody>
      </p:sp>
      <p:sp>
        <p:nvSpPr>
          <p:cNvPr id="33" name="col-3-header"/>
          <p:cNvSpPr txBox="1"/>
          <p:nvPr/>
        </p:nvSpPr>
        <p:spPr>
          <a:xfrm>
            <a:off x="8801100" y="2095500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KEY BENEFITS</a:t>
            </a:r>
          </a:p>
        </p:txBody>
      </p:sp>
      <p:sp>
        <p:nvSpPr>
          <p:cNvPr id="34" name="col-3-rule"/>
          <p:cNvSpPr/>
          <p:nvPr/>
        </p:nvSpPr>
        <p:spPr>
          <a:xfrm>
            <a:off x="8801100" y="2286000"/>
            <a:ext cx="27813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benefit-1-marker"/>
          <p:cNvSpPr txBox="1"/>
          <p:nvPr/>
        </p:nvSpPr>
        <p:spPr>
          <a:xfrm>
            <a:off x="8801100" y="2438400"/>
            <a:ext cx="171450" cy="171450"/>
          </a:xfrm>
          <a:prstGeom prst="rect">
            <a:avLst/>
          </a:prstGeom>
          <a:solidFill>
            <a:srgbClr val="0F3F2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✓</a:t>
            </a:r>
          </a:p>
        </p:txBody>
      </p:sp>
      <p:sp>
        <p:nvSpPr>
          <p:cNvPr id="36" name="benefit-1-heading"/>
          <p:cNvSpPr txBox="1"/>
          <p:nvPr/>
        </p:nvSpPr>
        <p:spPr>
          <a:xfrm>
            <a:off x="9048750" y="2438400"/>
            <a:ext cx="25336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Operational Cost Reduction</a:t>
            </a:r>
          </a:p>
        </p:txBody>
      </p:sp>
      <p:sp>
        <p:nvSpPr>
          <p:cNvPr id="37" name="benefit-1-body"/>
          <p:cNvSpPr txBox="1"/>
          <p:nvPr/>
        </p:nvSpPr>
        <p:spPr>
          <a:xfrm>
            <a:off x="9048750" y="2609850"/>
            <a:ext cx="2533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Automated workflows eliminate manual overhead and rework across finance and supply chain.</a:t>
            </a:r>
          </a:p>
        </p:txBody>
      </p:sp>
      <p:sp>
        <p:nvSpPr>
          <p:cNvPr id="38" name="benefit-1-metric"/>
          <p:cNvSpPr txBox="1"/>
          <p:nvPr/>
        </p:nvSpPr>
        <p:spPr>
          <a:xfrm>
            <a:off x="9048750" y="3124200"/>
            <a:ext cx="10477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−30% cost</a:t>
            </a:r>
          </a:p>
        </p:txBody>
      </p:sp>
      <p:sp>
        <p:nvSpPr>
          <p:cNvPr id="39" name="benefit-2-marker"/>
          <p:cNvSpPr txBox="1"/>
          <p:nvPr/>
        </p:nvSpPr>
        <p:spPr>
          <a:xfrm>
            <a:off x="8801100" y="3486150"/>
            <a:ext cx="171450" cy="171450"/>
          </a:xfrm>
          <a:prstGeom prst="rect">
            <a:avLst/>
          </a:prstGeom>
          <a:solidFill>
            <a:srgbClr val="0F3F2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✓</a:t>
            </a:r>
          </a:p>
        </p:txBody>
      </p:sp>
      <p:sp>
        <p:nvSpPr>
          <p:cNvPr id="40" name="benefit-2-heading"/>
          <p:cNvSpPr txBox="1"/>
          <p:nvPr/>
        </p:nvSpPr>
        <p:spPr>
          <a:xfrm>
            <a:off x="9048750" y="3486150"/>
            <a:ext cx="25336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Faster Delivery Cycles</a:t>
            </a:r>
          </a:p>
        </p:txBody>
      </p:sp>
      <p:sp>
        <p:nvSpPr>
          <p:cNvPr id="41" name="benefit-2-body"/>
          <p:cNvSpPr txBox="1"/>
          <p:nvPr/>
        </p:nvSpPr>
        <p:spPr>
          <a:xfrm>
            <a:off x="9048750" y="3657600"/>
            <a:ext cx="2533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Parallel processing and intelligent routing cut end-to-end cycle times dramatically.</a:t>
            </a:r>
          </a:p>
        </p:txBody>
      </p:sp>
      <p:sp>
        <p:nvSpPr>
          <p:cNvPr id="42" name="benefit-2-metric"/>
          <p:cNvSpPr txBox="1"/>
          <p:nvPr/>
        </p:nvSpPr>
        <p:spPr>
          <a:xfrm>
            <a:off x="9048750" y="4171950"/>
            <a:ext cx="10477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+2× speed</a:t>
            </a:r>
          </a:p>
        </p:txBody>
      </p:sp>
      <p:sp>
        <p:nvSpPr>
          <p:cNvPr id="43" name="benefit-3-marker"/>
          <p:cNvSpPr txBox="1"/>
          <p:nvPr/>
        </p:nvSpPr>
        <p:spPr>
          <a:xfrm>
            <a:off x="8801100" y="4533900"/>
            <a:ext cx="171450" cy="171450"/>
          </a:xfrm>
          <a:prstGeom prst="rect">
            <a:avLst/>
          </a:prstGeom>
          <a:solidFill>
            <a:srgbClr val="0F3F2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✓</a:t>
            </a:r>
          </a:p>
        </p:txBody>
      </p:sp>
      <p:sp>
        <p:nvSpPr>
          <p:cNvPr id="44" name="benefit-3-heading"/>
          <p:cNvSpPr txBox="1"/>
          <p:nvPr/>
        </p:nvSpPr>
        <p:spPr>
          <a:xfrm>
            <a:off x="9048750" y="4533900"/>
            <a:ext cx="25336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Improved Decision Quality</a:t>
            </a:r>
          </a:p>
        </p:txBody>
      </p:sp>
      <p:sp>
        <p:nvSpPr>
          <p:cNvPr id="45" name="benefit-3-body"/>
          <p:cNvSpPr txBox="1"/>
          <p:nvPr/>
        </p:nvSpPr>
        <p:spPr>
          <a:xfrm>
            <a:off x="9048750" y="4705350"/>
            <a:ext cx="2533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Real-time dashboards and AI alerts keep leadership ahead of issues, not behind them.</a:t>
            </a:r>
          </a:p>
        </p:txBody>
      </p:sp>
      <p:sp>
        <p:nvSpPr>
          <p:cNvPr id="46" name="benefit-3-metric"/>
          <p:cNvSpPr txBox="1"/>
          <p:nvPr/>
        </p:nvSpPr>
        <p:spPr>
          <a:xfrm>
            <a:off x="9048750" y="5219700"/>
            <a:ext cx="10477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+45% accuracy</a:t>
            </a:r>
          </a:p>
        </p:txBody>
      </p:sp>
      <p:sp>
        <p:nvSpPr>
          <p:cNvPr id="47" name="convergence-bg"/>
          <p:cNvSpPr/>
          <p:nvPr/>
        </p:nvSpPr>
        <p:spPr>
          <a:xfrm>
            <a:off x="609600" y="5905500"/>
            <a:ext cx="10972800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onvergence"/>
          <p:cNvSpPr txBox="1"/>
          <p:nvPr/>
        </p:nvSpPr>
        <p:spPr>
          <a:xfrm>
            <a:off x="609600" y="5905500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Proven across 40+ deployments — ready to activate in 8 weeks.</a:t>
            </a:r>
          </a:p>
        </p:txBody>
      </p:sp>
      <p:sp>
        <p:nvSpPr>
          <p:cNvPr id="4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