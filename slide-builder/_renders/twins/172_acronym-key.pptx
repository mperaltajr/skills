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Glossary of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Key Acronyms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Reference card — alphabetized by acronym across Business, Technology, and Regulatory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ft-col-acronym-header"/>
          <p:cNvSpPr txBox="1"/>
          <p:nvPr/>
        </p:nvSpPr>
        <p:spPr>
          <a:xfrm>
            <a:off x="533400" y="1409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ACRONYM</a:t>
            </a:r>
          </a:p>
        </p:txBody>
      </p:sp>
      <p:sp>
        <p:nvSpPr>
          <p:cNvPr id="6" name="left-col-fullform-header"/>
          <p:cNvSpPr txBox="1"/>
          <p:nvPr/>
        </p:nvSpPr>
        <p:spPr>
          <a:xfrm>
            <a:off x="1371600" y="1409700"/>
            <a:ext cx="3752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FULL FORM</a:t>
            </a:r>
          </a:p>
        </p:txBody>
      </p:sp>
      <p:sp>
        <p:nvSpPr>
          <p:cNvPr id="7" name="left-col-category-header"/>
          <p:cNvSpPr txBox="1"/>
          <p:nvPr/>
        </p:nvSpPr>
        <p:spPr>
          <a:xfrm>
            <a:off x="5124450" y="1409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8" name="left-col-header-rule"/>
          <p:cNvSpPr/>
          <p:nvPr/>
        </p:nvSpPr>
        <p:spPr>
          <a:xfrm>
            <a:off x="457200" y="1562100"/>
            <a:ext cx="5524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ight-col-acronym-header"/>
          <p:cNvSpPr txBox="1"/>
          <p:nvPr/>
        </p:nvSpPr>
        <p:spPr>
          <a:xfrm>
            <a:off x="6286500" y="1409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ACRONYM</a:t>
            </a:r>
          </a:p>
        </p:txBody>
      </p:sp>
      <p:sp>
        <p:nvSpPr>
          <p:cNvPr id="10" name="right-col-fullform-header"/>
          <p:cNvSpPr txBox="1"/>
          <p:nvPr/>
        </p:nvSpPr>
        <p:spPr>
          <a:xfrm>
            <a:off x="7124700" y="1409700"/>
            <a:ext cx="3752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FULL FORM</a:t>
            </a:r>
          </a:p>
        </p:txBody>
      </p:sp>
      <p:sp>
        <p:nvSpPr>
          <p:cNvPr id="11" name="right-col-category-header"/>
          <p:cNvSpPr txBox="1"/>
          <p:nvPr/>
        </p:nvSpPr>
        <p:spPr>
          <a:xfrm>
            <a:off x="10877550" y="14097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CATEGORY</a:t>
            </a:r>
          </a:p>
        </p:txBody>
      </p:sp>
      <p:sp>
        <p:nvSpPr>
          <p:cNvPr id="12" name="right-col-header-rule"/>
          <p:cNvSpPr/>
          <p:nvPr/>
        </p:nvSpPr>
        <p:spPr>
          <a:xfrm>
            <a:off x="6210300" y="1562100"/>
            <a:ext cx="55245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group-1-header"/>
          <p:cNvSpPr txBox="1"/>
          <p:nvPr/>
        </p:nvSpPr>
        <p:spPr>
          <a:xfrm>
            <a:off x="533400" y="16192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</a:t>
            </a:r>
          </a:p>
        </p:txBody>
      </p:sp>
      <p:sp>
        <p:nvSpPr>
          <p:cNvPr id="14" name="acronym-1-key"/>
          <p:cNvSpPr txBox="1"/>
          <p:nvPr/>
        </p:nvSpPr>
        <p:spPr>
          <a:xfrm>
            <a:off x="533400" y="17716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AGI</a:t>
            </a:r>
          </a:p>
        </p:txBody>
      </p:sp>
      <p:sp>
        <p:nvSpPr>
          <p:cNvPr id="15" name="acronym-1-full"/>
          <p:cNvSpPr txBox="1"/>
          <p:nvPr/>
        </p:nvSpPr>
        <p:spPr>
          <a:xfrm>
            <a:off x="1371600" y="17716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Artificial General Intelligence</a:t>
            </a:r>
          </a:p>
        </p:txBody>
      </p:sp>
      <p:sp>
        <p:nvSpPr>
          <p:cNvPr id="16" name="acronym-1-tag-bg"/>
          <p:cNvSpPr/>
          <p:nvPr/>
        </p:nvSpPr>
        <p:spPr>
          <a:xfrm>
            <a:off x="5200650" y="179070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acronym-1-tag"/>
          <p:cNvSpPr txBox="1"/>
          <p:nvPr/>
        </p:nvSpPr>
        <p:spPr>
          <a:xfrm>
            <a:off x="5200650" y="17907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18" name="acronym-2-row-bg"/>
          <p:cNvSpPr/>
          <p:nvPr/>
        </p:nvSpPr>
        <p:spPr>
          <a:xfrm>
            <a:off x="457200" y="19526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cronym-2-key"/>
          <p:cNvSpPr txBox="1"/>
          <p:nvPr/>
        </p:nvSpPr>
        <p:spPr>
          <a:xfrm>
            <a:off x="533400" y="19526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API</a:t>
            </a:r>
          </a:p>
        </p:txBody>
      </p:sp>
      <p:sp>
        <p:nvSpPr>
          <p:cNvPr id="20" name="acronym-2-full"/>
          <p:cNvSpPr txBox="1"/>
          <p:nvPr/>
        </p:nvSpPr>
        <p:spPr>
          <a:xfrm>
            <a:off x="1371600" y="19526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Application Programming Interface</a:t>
            </a:r>
          </a:p>
        </p:txBody>
      </p:sp>
      <p:sp>
        <p:nvSpPr>
          <p:cNvPr id="21" name="acronym-2-tag-bg"/>
          <p:cNvSpPr/>
          <p:nvPr/>
        </p:nvSpPr>
        <p:spPr>
          <a:xfrm>
            <a:off x="5200650" y="1971675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acronym-2-tag"/>
          <p:cNvSpPr txBox="1"/>
          <p:nvPr/>
        </p:nvSpPr>
        <p:spPr>
          <a:xfrm>
            <a:off x="5200650" y="19716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23" name="acronym-3-key"/>
          <p:cNvSpPr txBox="1"/>
          <p:nvPr/>
        </p:nvSpPr>
        <p:spPr>
          <a:xfrm>
            <a:off x="533400" y="21336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AUM</a:t>
            </a:r>
          </a:p>
        </p:txBody>
      </p:sp>
      <p:sp>
        <p:nvSpPr>
          <p:cNvPr id="24" name="acronym-3-full"/>
          <p:cNvSpPr txBox="1"/>
          <p:nvPr/>
        </p:nvSpPr>
        <p:spPr>
          <a:xfrm>
            <a:off x="1371600" y="21336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Assets Under Management</a:t>
            </a:r>
          </a:p>
        </p:txBody>
      </p:sp>
      <p:sp>
        <p:nvSpPr>
          <p:cNvPr id="25" name="acronym-3-tag-bg"/>
          <p:cNvSpPr/>
          <p:nvPr/>
        </p:nvSpPr>
        <p:spPr>
          <a:xfrm>
            <a:off x="5200650" y="2152650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cronym-3-tag"/>
          <p:cNvSpPr txBox="1"/>
          <p:nvPr/>
        </p:nvSpPr>
        <p:spPr>
          <a:xfrm>
            <a:off x="5200650" y="21526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27" name="group-2-header"/>
          <p:cNvSpPr txBox="1"/>
          <p:nvPr/>
        </p:nvSpPr>
        <p:spPr>
          <a:xfrm>
            <a:off x="533400" y="231457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B</a:t>
            </a:r>
          </a:p>
        </p:txBody>
      </p:sp>
      <p:sp>
        <p:nvSpPr>
          <p:cNvPr id="28" name="acronym-4-row-bg"/>
          <p:cNvSpPr/>
          <p:nvPr/>
        </p:nvSpPr>
        <p:spPr>
          <a:xfrm>
            <a:off x="457200" y="24669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cronym-4-key"/>
          <p:cNvSpPr txBox="1"/>
          <p:nvPr/>
        </p:nvSpPr>
        <p:spPr>
          <a:xfrm>
            <a:off x="533400" y="24669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BI</a:t>
            </a:r>
          </a:p>
        </p:txBody>
      </p:sp>
      <p:sp>
        <p:nvSpPr>
          <p:cNvPr id="30" name="acronym-4-full"/>
          <p:cNvSpPr txBox="1"/>
          <p:nvPr/>
        </p:nvSpPr>
        <p:spPr>
          <a:xfrm>
            <a:off x="1371600" y="24669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Business Intelligence</a:t>
            </a:r>
          </a:p>
        </p:txBody>
      </p:sp>
      <p:sp>
        <p:nvSpPr>
          <p:cNvPr id="31" name="acronym-4-tag-bg"/>
          <p:cNvSpPr/>
          <p:nvPr/>
        </p:nvSpPr>
        <p:spPr>
          <a:xfrm>
            <a:off x="5200650" y="248602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acronym-4-tag"/>
          <p:cNvSpPr txBox="1"/>
          <p:nvPr/>
        </p:nvSpPr>
        <p:spPr>
          <a:xfrm>
            <a:off x="5200650" y="24860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33" name="acronym-5-key"/>
          <p:cNvSpPr txBox="1"/>
          <p:nvPr/>
        </p:nvSpPr>
        <p:spPr>
          <a:xfrm>
            <a:off x="533400" y="26479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BPO</a:t>
            </a:r>
          </a:p>
        </p:txBody>
      </p:sp>
      <p:sp>
        <p:nvSpPr>
          <p:cNvPr id="34" name="acronym-5-full"/>
          <p:cNvSpPr txBox="1"/>
          <p:nvPr/>
        </p:nvSpPr>
        <p:spPr>
          <a:xfrm>
            <a:off x="1371600" y="26479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Business Process Outsourcing</a:t>
            </a:r>
          </a:p>
        </p:txBody>
      </p:sp>
      <p:sp>
        <p:nvSpPr>
          <p:cNvPr id="35" name="acronym-5-tag-bg"/>
          <p:cNvSpPr/>
          <p:nvPr/>
        </p:nvSpPr>
        <p:spPr>
          <a:xfrm>
            <a:off x="5200650" y="2667000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acronym-5-tag"/>
          <p:cNvSpPr txBox="1"/>
          <p:nvPr/>
        </p:nvSpPr>
        <p:spPr>
          <a:xfrm>
            <a:off x="5200650" y="26670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37" name="group-3-header"/>
          <p:cNvSpPr txBox="1"/>
          <p:nvPr/>
        </p:nvSpPr>
        <p:spPr>
          <a:xfrm>
            <a:off x="533400" y="282892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C</a:t>
            </a:r>
          </a:p>
        </p:txBody>
      </p:sp>
      <p:sp>
        <p:nvSpPr>
          <p:cNvPr id="38" name="acronym-6-row-bg"/>
          <p:cNvSpPr/>
          <p:nvPr/>
        </p:nvSpPr>
        <p:spPr>
          <a:xfrm>
            <a:off x="457200" y="29813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acronym-6-key"/>
          <p:cNvSpPr txBox="1"/>
          <p:nvPr/>
        </p:nvSpPr>
        <p:spPr>
          <a:xfrm>
            <a:off x="533400" y="29813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CAGR</a:t>
            </a:r>
          </a:p>
        </p:txBody>
      </p:sp>
      <p:sp>
        <p:nvSpPr>
          <p:cNvPr id="40" name="acronym-6-full"/>
          <p:cNvSpPr txBox="1"/>
          <p:nvPr/>
        </p:nvSpPr>
        <p:spPr>
          <a:xfrm>
            <a:off x="1371600" y="29813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Compound Annual Growth Rate</a:t>
            </a:r>
          </a:p>
        </p:txBody>
      </p:sp>
      <p:sp>
        <p:nvSpPr>
          <p:cNvPr id="41" name="acronym-6-tag-bg"/>
          <p:cNvSpPr/>
          <p:nvPr/>
        </p:nvSpPr>
        <p:spPr>
          <a:xfrm>
            <a:off x="5200650" y="300037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acronym-6-tag"/>
          <p:cNvSpPr txBox="1"/>
          <p:nvPr/>
        </p:nvSpPr>
        <p:spPr>
          <a:xfrm>
            <a:off x="5200650" y="30003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43" name="acronym-7-key"/>
          <p:cNvSpPr txBox="1"/>
          <p:nvPr/>
        </p:nvSpPr>
        <p:spPr>
          <a:xfrm>
            <a:off x="533400" y="31623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CRM</a:t>
            </a:r>
          </a:p>
        </p:txBody>
      </p:sp>
      <p:sp>
        <p:nvSpPr>
          <p:cNvPr id="44" name="acronym-7-full"/>
          <p:cNvSpPr txBox="1"/>
          <p:nvPr/>
        </p:nvSpPr>
        <p:spPr>
          <a:xfrm>
            <a:off x="1371600" y="31623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Customer Relationship Management</a:t>
            </a:r>
          </a:p>
        </p:txBody>
      </p:sp>
      <p:sp>
        <p:nvSpPr>
          <p:cNvPr id="45" name="acronym-7-tag-bg"/>
          <p:cNvSpPr/>
          <p:nvPr/>
        </p:nvSpPr>
        <p:spPr>
          <a:xfrm>
            <a:off x="5200650" y="318135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acronym-7-tag"/>
          <p:cNvSpPr txBox="1"/>
          <p:nvPr/>
        </p:nvSpPr>
        <p:spPr>
          <a:xfrm>
            <a:off x="5200650" y="31813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47" name="acronym-8-row-bg"/>
          <p:cNvSpPr/>
          <p:nvPr/>
        </p:nvSpPr>
        <p:spPr>
          <a:xfrm>
            <a:off x="457200" y="33432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acronym-8-key"/>
          <p:cNvSpPr txBox="1"/>
          <p:nvPr/>
        </p:nvSpPr>
        <p:spPr>
          <a:xfrm>
            <a:off x="533400" y="33432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CSAT</a:t>
            </a:r>
          </a:p>
        </p:txBody>
      </p:sp>
      <p:sp>
        <p:nvSpPr>
          <p:cNvPr id="49" name="acronym-8-full"/>
          <p:cNvSpPr txBox="1"/>
          <p:nvPr/>
        </p:nvSpPr>
        <p:spPr>
          <a:xfrm>
            <a:off x="1371600" y="33432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Customer Satisfaction Score</a:t>
            </a:r>
          </a:p>
        </p:txBody>
      </p:sp>
      <p:sp>
        <p:nvSpPr>
          <p:cNvPr id="50" name="acronym-8-tag-bg"/>
          <p:cNvSpPr/>
          <p:nvPr/>
        </p:nvSpPr>
        <p:spPr>
          <a:xfrm>
            <a:off x="5200650" y="336232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acronym-8-tag"/>
          <p:cNvSpPr txBox="1"/>
          <p:nvPr/>
        </p:nvSpPr>
        <p:spPr>
          <a:xfrm>
            <a:off x="5200650" y="33623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52" name="group-4-header"/>
          <p:cNvSpPr txBox="1"/>
          <p:nvPr/>
        </p:nvSpPr>
        <p:spPr>
          <a:xfrm>
            <a:off x="533400" y="35242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D</a:t>
            </a:r>
          </a:p>
        </p:txBody>
      </p:sp>
      <p:sp>
        <p:nvSpPr>
          <p:cNvPr id="53" name="acronym-9-key"/>
          <p:cNvSpPr txBox="1"/>
          <p:nvPr/>
        </p:nvSpPr>
        <p:spPr>
          <a:xfrm>
            <a:off x="533400" y="36766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DLP</a:t>
            </a:r>
          </a:p>
        </p:txBody>
      </p:sp>
      <p:sp>
        <p:nvSpPr>
          <p:cNvPr id="54" name="acronym-9-full"/>
          <p:cNvSpPr txBox="1"/>
          <p:nvPr/>
        </p:nvSpPr>
        <p:spPr>
          <a:xfrm>
            <a:off x="1371600" y="36766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Loss Prevention</a:t>
            </a:r>
          </a:p>
        </p:txBody>
      </p:sp>
      <p:sp>
        <p:nvSpPr>
          <p:cNvPr id="55" name="acronym-9-tag-bg"/>
          <p:cNvSpPr/>
          <p:nvPr/>
        </p:nvSpPr>
        <p:spPr>
          <a:xfrm>
            <a:off x="5200650" y="3695700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acronym-9-tag"/>
          <p:cNvSpPr txBox="1"/>
          <p:nvPr/>
        </p:nvSpPr>
        <p:spPr>
          <a:xfrm>
            <a:off x="5200650" y="36957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57" name="acronym-10-row-bg"/>
          <p:cNvSpPr/>
          <p:nvPr/>
        </p:nvSpPr>
        <p:spPr>
          <a:xfrm>
            <a:off x="457200" y="38576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acronym-10-key"/>
          <p:cNvSpPr txBox="1"/>
          <p:nvPr/>
        </p:nvSpPr>
        <p:spPr>
          <a:xfrm>
            <a:off x="533400" y="38576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DW</a:t>
            </a:r>
          </a:p>
        </p:txBody>
      </p:sp>
      <p:sp>
        <p:nvSpPr>
          <p:cNvPr id="59" name="acronym-10-full"/>
          <p:cNvSpPr txBox="1"/>
          <p:nvPr/>
        </p:nvSpPr>
        <p:spPr>
          <a:xfrm>
            <a:off x="1371600" y="38576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Warehouse</a:t>
            </a:r>
          </a:p>
        </p:txBody>
      </p:sp>
      <p:sp>
        <p:nvSpPr>
          <p:cNvPr id="60" name="acronym-10-tag-bg"/>
          <p:cNvSpPr/>
          <p:nvPr/>
        </p:nvSpPr>
        <p:spPr>
          <a:xfrm>
            <a:off x="5200650" y="3876675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acronym-10-tag"/>
          <p:cNvSpPr txBox="1"/>
          <p:nvPr/>
        </p:nvSpPr>
        <p:spPr>
          <a:xfrm>
            <a:off x="5200650" y="38766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62" name="group-5-header"/>
          <p:cNvSpPr txBox="1"/>
          <p:nvPr/>
        </p:nvSpPr>
        <p:spPr>
          <a:xfrm>
            <a:off x="533400" y="40386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</a:t>
            </a:r>
          </a:p>
        </p:txBody>
      </p:sp>
      <p:sp>
        <p:nvSpPr>
          <p:cNvPr id="63" name="acronym-11-key"/>
          <p:cNvSpPr txBox="1"/>
          <p:nvPr/>
        </p:nvSpPr>
        <p:spPr>
          <a:xfrm>
            <a:off x="533400" y="41910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ERP</a:t>
            </a:r>
          </a:p>
        </p:txBody>
      </p:sp>
      <p:sp>
        <p:nvSpPr>
          <p:cNvPr id="64" name="acronym-11-full"/>
          <p:cNvSpPr txBox="1"/>
          <p:nvPr/>
        </p:nvSpPr>
        <p:spPr>
          <a:xfrm>
            <a:off x="1371600" y="41910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Enterprise Resource Planning</a:t>
            </a:r>
          </a:p>
        </p:txBody>
      </p:sp>
      <p:sp>
        <p:nvSpPr>
          <p:cNvPr id="65" name="acronym-11-tag-bg"/>
          <p:cNvSpPr/>
          <p:nvPr/>
        </p:nvSpPr>
        <p:spPr>
          <a:xfrm>
            <a:off x="5200650" y="421005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acronym-11-tag"/>
          <p:cNvSpPr txBox="1"/>
          <p:nvPr/>
        </p:nvSpPr>
        <p:spPr>
          <a:xfrm>
            <a:off x="5200650" y="42100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67" name="acronym-12-row-bg"/>
          <p:cNvSpPr/>
          <p:nvPr/>
        </p:nvSpPr>
        <p:spPr>
          <a:xfrm>
            <a:off x="457200" y="43719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acronym-12-key"/>
          <p:cNvSpPr txBox="1"/>
          <p:nvPr/>
        </p:nvSpPr>
        <p:spPr>
          <a:xfrm>
            <a:off x="533400" y="43719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ESG</a:t>
            </a:r>
          </a:p>
        </p:txBody>
      </p:sp>
      <p:sp>
        <p:nvSpPr>
          <p:cNvPr id="69" name="acronym-12-full"/>
          <p:cNvSpPr txBox="1"/>
          <p:nvPr/>
        </p:nvSpPr>
        <p:spPr>
          <a:xfrm>
            <a:off x="1371600" y="43719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Environmental, Social &amp; Governance</a:t>
            </a:r>
          </a:p>
        </p:txBody>
      </p:sp>
      <p:sp>
        <p:nvSpPr>
          <p:cNvPr id="70" name="acronym-12-tag-bg"/>
          <p:cNvSpPr/>
          <p:nvPr/>
        </p:nvSpPr>
        <p:spPr>
          <a:xfrm>
            <a:off x="5200650" y="4391025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acronym-12-tag"/>
          <p:cNvSpPr txBox="1"/>
          <p:nvPr/>
        </p:nvSpPr>
        <p:spPr>
          <a:xfrm>
            <a:off x="5200650" y="43910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72" name="group-6-header"/>
          <p:cNvSpPr txBox="1"/>
          <p:nvPr/>
        </p:nvSpPr>
        <p:spPr>
          <a:xfrm>
            <a:off x="533400" y="45529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G</a:t>
            </a:r>
          </a:p>
        </p:txBody>
      </p:sp>
      <p:sp>
        <p:nvSpPr>
          <p:cNvPr id="73" name="acronym-13-key"/>
          <p:cNvSpPr txBox="1"/>
          <p:nvPr/>
        </p:nvSpPr>
        <p:spPr>
          <a:xfrm>
            <a:off x="533400" y="47053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GDPR</a:t>
            </a:r>
          </a:p>
        </p:txBody>
      </p:sp>
      <p:sp>
        <p:nvSpPr>
          <p:cNvPr id="74" name="acronym-13-full"/>
          <p:cNvSpPr txBox="1"/>
          <p:nvPr/>
        </p:nvSpPr>
        <p:spPr>
          <a:xfrm>
            <a:off x="1371600" y="47053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General Data Protection Regulation</a:t>
            </a:r>
          </a:p>
        </p:txBody>
      </p:sp>
      <p:sp>
        <p:nvSpPr>
          <p:cNvPr id="75" name="acronym-13-tag-bg"/>
          <p:cNvSpPr/>
          <p:nvPr/>
        </p:nvSpPr>
        <p:spPr>
          <a:xfrm>
            <a:off x="5200650" y="4724400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acronym-13-tag"/>
          <p:cNvSpPr txBox="1"/>
          <p:nvPr/>
        </p:nvSpPr>
        <p:spPr>
          <a:xfrm>
            <a:off x="5200650" y="47244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77" name="group-7-header"/>
          <p:cNvSpPr txBox="1"/>
          <p:nvPr/>
        </p:nvSpPr>
        <p:spPr>
          <a:xfrm>
            <a:off x="6286500" y="16192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</a:t>
            </a:r>
          </a:p>
        </p:txBody>
      </p:sp>
      <p:sp>
        <p:nvSpPr>
          <p:cNvPr id="78" name="acronym-14-key"/>
          <p:cNvSpPr txBox="1"/>
          <p:nvPr/>
        </p:nvSpPr>
        <p:spPr>
          <a:xfrm>
            <a:off x="6286500" y="17716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IAM</a:t>
            </a:r>
          </a:p>
        </p:txBody>
      </p:sp>
      <p:sp>
        <p:nvSpPr>
          <p:cNvPr id="79" name="acronym-14-full"/>
          <p:cNvSpPr txBox="1"/>
          <p:nvPr/>
        </p:nvSpPr>
        <p:spPr>
          <a:xfrm>
            <a:off x="7124700" y="17716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Identity &amp; Access Management</a:t>
            </a:r>
          </a:p>
        </p:txBody>
      </p:sp>
      <p:sp>
        <p:nvSpPr>
          <p:cNvPr id="80" name="acronym-14-tag-bg"/>
          <p:cNvSpPr/>
          <p:nvPr/>
        </p:nvSpPr>
        <p:spPr>
          <a:xfrm>
            <a:off x="10953750" y="179070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acronym-14-tag"/>
          <p:cNvSpPr txBox="1"/>
          <p:nvPr/>
        </p:nvSpPr>
        <p:spPr>
          <a:xfrm>
            <a:off x="10953750" y="17907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82" name="acronym-15-row-bg"/>
          <p:cNvSpPr/>
          <p:nvPr/>
        </p:nvSpPr>
        <p:spPr>
          <a:xfrm>
            <a:off x="6210300" y="19526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acronym-15-key"/>
          <p:cNvSpPr txBox="1"/>
          <p:nvPr/>
        </p:nvSpPr>
        <p:spPr>
          <a:xfrm>
            <a:off x="6286500" y="19526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IP</a:t>
            </a:r>
          </a:p>
        </p:txBody>
      </p:sp>
      <p:sp>
        <p:nvSpPr>
          <p:cNvPr id="84" name="acronym-15-full"/>
          <p:cNvSpPr txBox="1"/>
          <p:nvPr/>
        </p:nvSpPr>
        <p:spPr>
          <a:xfrm>
            <a:off x="7124700" y="19526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Intellectual Property</a:t>
            </a:r>
          </a:p>
        </p:txBody>
      </p:sp>
      <p:sp>
        <p:nvSpPr>
          <p:cNvPr id="85" name="acronym-15-tag-bg"/>
          <p:cNvSpPr/>
          <p:nvPr/>
        </p:nvSpPr>
        <p:spPr>
          <a:xfrm>
            <a:off x="10953750" y="1971675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acronym-15-tag"/>
          <p:cNvSpPr txBox="1"/>
          <p:nvPr/>
        </p:nvSpPr>
        <p:spPr>
          <a:xfrm>
            <a:off x="10953750" y="19716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87" name="acronym-16-key"/>
          <p:cNvSpPr txBox="1"/>
          <p:nvPr/>
        </p:nvSpPr>
        <p:spPr>
          <a:xfrm>
            <a:off x="6286500" y="21336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IRR</a:t>
            </a:r>
          </a:p>
        </p:txBody>
      </p:sp>
      <p:sp>
        <p:nvSpPr>
          <p:cNvPr id="88" name="acronym-16-full"/>
          <p:cNvSpPr txBox="1"/>
          <p:nvPr/>
        </p:nvSpPr>
        <p:spPr>
          <a:xfrm>
            <a:off x="7124700" y="21336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Internal Rate of Return</a:t>
            </a:r>
          </a:p>
        </p:txBody>
      </p:sp>
      <p:sp>
        <p:nvSpPr>
          <p:cNvPr id="89" name="acronym-16-tag-bg"/>
          <p:cNvSpPr/>
          <p:nvPr/>
        </p:nvSpPr>
        <p:spPr>
          <a:xfrm>
            <a:off x="10953750" y="2152650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acronym-16-tag"/>
          <p:cNvSpPr txBox="1"/>
          <p:nvPr/>
        </p:nvSpPr>
        <p:spPr>
          <a:xfrm>
            <a:off x="10953750" y="21526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91" name="group-8-header"/>
          <p:cNvSpPr txBox="1"/>
          <p:nvPr/>
        </p:nvSpPr>
        <p:spPr>
          <a:xfrm>
            <a:off x="6286500" y="2314575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K</a:t>
            </a:r>
          </a:p>
        </p:txBody>
      </p:sp>
      <p:sp>
        <p:nvSpPr>
          <p:cNvPr id="92" name="acronym-17-row-bg"/>
          <p:cNvSpPr/>
          <p:nvPr/>
        </p:nvSpPr>
        <p:spPr>
          <a:xfrm>
            <a:off x="6210300" y="24669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acronym-17-key"/>
          <p:cNvSpPr txBox="1"/>
          <p:nvPr/>
        </p:nvSpPr>
        <p:spPr>
          <a:xfrm>
            <a:off x="6286500" y="24669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KPI</a:t>
            </a:r>
          </a:p>
        </p:txBody>
      </p:sp>
      <p:sp>
        <p:nvSpPr>
          <p:cNvPr id="94" name="acronym-17-full"/>
          <p:cNvSpPr txBox="1"/>
          <p:nvPr/>
        </p:nvSpPr>
        <p:spPr>
          <a:xfrm>
            <a:off x="7124700" y="24669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Key Performance Indicator</a:t>
            </a:r>
          </a:p>
        </p:txBody>
      </p:sp>
      <p:sp>
        <p:nvSpPr>
          <p:cNvPr id="95" name="acronym-17-tag-bg"/>
          <p:cNvSpPr/>
          <p:nvPr/>
        </p:nvSpPr>
        <p:spPr>
          <a:xfrm>
            <a:off x="10953750" y="248602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acronym-17-tag"/>
          <p:cNvSpPr txBox="1"/>
          <p:nvPr/>
        </p:nvSpPr>
        <p:spPr>
          <a:xfrm>
            <a:off x="10953750" y="24860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97" name="group-9-header"/>
          <p:cNvSpPr txBox="1"/>
          <p:nvPr/>
        </p:nvSpPr>
        <p:spPr>
          <a:xfrm>
            <a:off x="6286500" y="26479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L</a:t>
            </a:r>
          </a:p>
        </p:txBody>
      </p:sp>
      <p:sp>
        <p:nvSpPr>
          <p:cNvPr id="98" name="acronym-18-key"/>
          <p:cNvSpPr txBox="1"/>
          <p:nvPr/>
        </p:nvSpPr>
        <p:spPr>
          <a:xfrm>
            <a:off x="6286500" y="28003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LLM</a:t>
            </a:r>
          </a:p>
        </p:txBody>
      </p:sp>
      <p:sp>
        <p:nvSpPr>
          <p:cNvPr id="99" name="acronym-18-full"/>
          <p:cNvSpPr txBox="1"/>
          <p:nvPr/>
        </p:nvSpPr>
        <p:spPr>
          <a:xfrm>
            <a:off x="7124700" y="28003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Large Language Model</a:t>
            </a:r>
          </a:p>
        </p:txBody>
      </p:sp>
      <p:sp>
        <p:nvSpPr>
          <p:cNvPr id="100" name="acronym-18-tag-bg"/>
          <p:cNvSpPr/>
          <p:nvPr/>
        </p:nvSpPr>
        <p:spPr>
          <a:xfrm>
            <a:off x="10953750" y="281940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acronym-18-tag"/>
          <p:cNvSpPr txBox="1"/>
          <p:nvPr/>
        </p:nvSpPr>
        <p:spPr>
          <a:xfrm>
            <a:off x="10953750" y="28194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102" name="acronym-19-row-bg"/>
          <p:cNvSpPr/>
          <p:nvPr/>
        </p:nvSpPr>
        <p:spPr>
          <a:xfrm>
            <a:off x="6210300" y="29813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acronym-19-key"/>
          <p:cNvSpPr txBox="1"/>
          <p:nvPr/>
        </p:nvSpPr>
        <p:spPr>
          <a:xfrm>
            <a:off x="6286500" y="29813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LOE</a:t>
            </a:r>
          </a:p>
        </p:txBody>
      </p:sp>
      <p:sp>
        <p:nvSpPr>
          <p:cNvPr id="104" name="acronym-19-full"/>
          <p:cNvSpPr txBox="1"/>
          <p:nvPr/>
        </p:nvSpPr>
        <p:spPr>
          <a:xfrm>
            <a:off x="7124700" y="29813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Level of Effort</a:t>
            </a:r>
          </a:p>
        </p:txBody>
      </p:sp>
      <p:sp>
        <p:nvSpPr>
          <p:cNvPr id="105" name="acronym-19-tag-bg"/>
          <p:cNvSpPr/>
          <p:nvPr/>
        </p:nvSpPr>
        <p:spPr>
          <a:xfrm>
            <a:off x="10953750" y="300037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acronym-19-tag"/>
          <p:cNvSpPr txBox="1"/>
          <p:nvPr/>
        </p:nvSpPr>
        <p:spPr>
          <a:xfrm>
            <a:off x="10953750" y="30003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07" name="group-10-header"/>
          <p:cNvSpPr txBox="1"/>
          <p:nvPr/>
        </p:nvSpPr>
        <p:spPr>
          <a:xfrm>
            <a:off x="6286500" y="31623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M</a:t>
            </a:r>
          </a:p>
        </p:txBody>
      </p:sp>
      <p:sp>
        <p:nvSpPr>
          <p:cNvPr id="108" name="acronym-20-key"/>
          <p:cNvSpPr txBox="1"/>
          <p:nvPr/>
        </p:nvSpPr>
        <p:spPr>
          <a:xfrm>
            <a:off x="6286500" y="33147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MLOps</a:t>
            </a:r>
          </a:p>
        </p:txBody>
      </p:sp>
      <p:sp>
        <p:nvSpPr>
          <p:cNvPr id="109" name="acronym-20-full"/>
          <p:cNvSpPr txBox="1"/>
          <p:nvPr/>
        </p:nvSpPr>
        <p:spPr>
          <a:xfrm>
            <a:off x="7124700" y="33147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Machine Learning Operations</a:t>
            </a:r>
          </a:p>
        </p:txBody>
      </p:sp>
      <p:sp>
        <p:nvSpPr>
          <p:cNvPr id="110" name="acronym-20-tag-bg"/>
          <p:cNvSpPr/>
          <p:nvPr/>
        </p:nvSpPr>
        <p:spPr>
          <a:xfrm>
            <a:off x="10953750" y="3333750"/>
            <a:ext cx="723900" cy="142875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acronym-20-tag"/>
          <p:cNvSpPr txBox="1"/>
          <p:nvPr/>
        </p:nvSpPr>
        <p:spPr>
          <a:xfrm>
            <a:off x="10953750" y="33337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369A1"/>
                </a:solidFill>
                <a:latin typeface="Inter"/>
              </a:rPr>
              <a:t>Tech</a:t>
            </a:r>
          </a:p>
        </p:txBody>
      </p:sp>
      <p:sp>
        <p:nvSpPr>
          <p:cNvPr id="112" name="acronym-21-row-bg"/>
          <p:cNvSpPr/>
          <p:nvPr/>
        </p:nvSpPr>
        <p:spPr>
          <a:xfrm>
            <a:off x="6210300" y="34956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acronym-21-key"/>
          <p:cNvSpPr txBox="1"/>
          <p:nvPr/>
        </p:nvSpPr>
        <p:spPr>
          <a:xfrm>
            <a:off x="6286500" y="34956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MoM</a:t>
            </a:r>
          </a:p>
        </p:txBody>
      </p:sp>
      <p:sp>
        <p:nvSpPr>
          <p:cNvPr id="114" name="acronym-21-full"/>
          <p:cNvSpPr txBox="1"/>
          <p:nvPr/>
        </p:nvSpPr>
        <p:spPr>
          <a:xfrm>
            <a:off x="7124700" y="34956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Month-over-Month</a:t>
            </a:r>
          </a:p>
        </p:txBody>
      </p:sp>
      <p:sp>
        <p:nvSpPr>
          <p:cNvPr id="115" name="acronym-21-tag-bg"/>
          <p:cNvSpPr/>
          <p:nvPr/>
        </p:nvSpPr>
        <p:spPr>
          <a:xfrm>
            <a:off x="10953750" y="351472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acronym-21-tag"/>
          <p:cNvSpPr txBox="1"/>
          <p:nvPr/>
        </p:nvSpPr>
        <p:spPr>
          <a:xfrm>
            <a:off x="10953750" y="35147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17" name="group-11-header"/>
          <p:cNvSpPr txBox="1"/>
          <p:nvPr/>
        </p:nvSpPr>
        <p:spPr>
          <a:xfrm>
            <a:off x="6286500" y="36766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N</a:t>
            </a:r>
          </a:p>
        </p:txBody>
      </p:sp>
      <p:sp>
        <p:nvSpPr>
          <p:cNvPr id="118" name="acronym-22-key"/>
          <p:cNvSpPr txBox="1"/>
          <p:nvPr/>
        </p:nvSpPr>
        <p:spPr>
          <a:xfrm>
            <a:off x="6286500" y="38290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NPS</a:t>
            </a:r>
          </a:p>
        </p:txBody>
      </p:sp>
      <p:sp>
        <p:nvSpPr>
          <p:cNvPr id="119" name="acronym-22-full"/>
          <p:cNvSpPr txBox="1"/>
          <p:nvPr/>
        </p:nvSpPr>
        <p:spPr>
          <a:xfrm>
            <a:off x="7124700" y="38290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Net Promoter Score</a:t>
            </a:r>
          </a:p>
        </p:txBody>
      </p:sp>
      <p:sp>
        <p:nvSpPr>
          <p:cNvPr id="120" name="acronym-22-tag-bg"/>
          <p:cNvSpPr/>
          <p:nvPr/>
        </p:nvSpPr>
        <p:spPr>
          <a:xfrm>
            <a:off x="10953750" y="3848100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acronym-22-tag"/>
          <p:cNvSpPr txBox="1"/>
          <p:nvPr/>
        </p:nvSpPr>
        <p:spPr>
          <a:xfrm>
            <a:off x="10953750" y="38481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22" name="acronym-23-row-bg"/>
          <p:cNvSpPr/>
          <p:nvPr/>
        </p:nvSpPr>
        <p:spPr>
          <a:xfrm>
            <a:off x="6210300" y="40100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acronym-23-key"/>
          <p:cNvSpPr txBox="1"/>
          <p:nvPr/>
        </p:nvSpPr>
        <p:spPr>
          <a:xfrm>
            <a:off x="6286500" y="40100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NPV</a:t>
            </a:r>
          </a:p>
        </p:txBody>
      </p:sp>
      <p:sp>
        <p:nvSpPr>
          <p:cNvPr id="124" name="acronym-23-full"/>
          <p:cNvSpPr txBox="1"/>
          <p:nvPr/>
        </p:nvSpPr>
        <p:spPr>
          <a:xfrm>
            <a:off x="7124700" y="40100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Net Present Value</a:t>
            </a:r>
          </a:p>
        </p:txBody>
      </p:sp>
      <p:sp>
        <p:nvSpPr>
          <p:cNvPr id="125" name="acronym-23-tag-bg"/>
          <p:cNvSpPr/>
          <p:nvPr/>
        </p:nvSpPr>
        <p:spPr>
          <a:xfrm>
            <a:off x="10953750" y="402907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acronym-23-tag"/>
          <p:cNvSpPr txBox="1"/>
          <p:nvPr/>
        </p:nvSpPr>
        <p:spPr>
          <a:xfrm>
            <a:off x="10953750" y="40290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27" name="group-12-header"/>
          <p:cNvSpPr txBox="1"/>
          <p:nvPr/>
        </p:nvSpPr>
        <p:spPr>
          <a:xfrm>
            <a:off x="6286500" y="41910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R</a:t>
            </a:r>
          </a:p>
        </p:txBody>
      </p:sp>
      <p:sp>
        <p:nvSpPr>
          <p:cNvPr id="128" name="acronym-24-key"/>
          <p:cNvSpPr txBox="1"/>
          <p:nvPr/>
        </p:nvSpPr>
        <p:spPr>
          <a:xfrm>
            <a:off x="6286500" y="434340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RACI</a:t>
            </a:r>
          </a:p>
        </p:txBody>
      </p:sp>
      <p:sp>
        <p:nvSpPr>
          <p:cNvPr id="129" name="acronym-24-full"/>
          <p:cNvSpPr txBox="1"/>
          <p:nvPr/>
        </p:nvSpPr>
        <p:spPr>
          <a:xfrm>
            <a:off x="7124700" y="434340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Responsible, Accountable, Consulted, Informed</a:t>
            </a:r>
          </a:p>
        </p:txBody>
      </p:sp>
      <p:sp>
        <p:nvSpPr>
          <p:cNvPr id="130" name="acronym-24-tag-bg"/>
          <p:cNvSpPr/>
          <p:nvPr/>
        </p:nvSpPr>
        <p:spPr>
          <a:xfrm>
            <a:off x="10953750" y="4362450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acronym-24-tag"/>
          <p:cNvSpPr txBox="1"/>
          <p:nvPr/>
        </p:nvSpPr>
        <p:spPr>
          <a:xfrm>
            <a:off x="10953750" y="436245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32" name="acronym-25-row-bg"/>
          <p:cNvSpPr/>
          <p:nvPr/>
        </p:nvSpPr>
        <p:spPr>
          <a:xfrm>
            <a:off x="6210300" y="452437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acronym-25-key"/>
          <p:cNvSpPr txBox="1"/>
          <p:nvPr/>
        </p:nvSpPr>
        <p:spPr>
          <a:xfrm>
            <a:off x="6286500" y="452437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ROI</a:t>
            </a:r>
          </a:p>
        </p:txBody>
      </p:sp>
      <p:sp>
        <p:nvSpPr>
          <p:cNvPr id="134" name="acronym-25-full"/>
          <p:cNvSpPr txBox="1"/>
          <p:nvPr/>
        </p:nvSpPr>
        <p:spPr>
          <a:xfrm>
            <a:off x="7124700" y="452437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Return on Investment</a:t>
            </a:r>
          </a:p>
        </p:txBody>
      </p:sp>
      <p:sp>
        <p:nvSpPr>
          <p:cNvPr id="135" name="acronym-25-tag-bg"/>
          <p:cNvSpPr/>
          <p:nvPr/>
        </p:nvSpPr>
        <p:spPr>
          <a:xfrm>
            <a:off x="10953750" y="4543425"/>
            <a:ext cx="723900" cy="142875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acronym-25-tag"/>
          <p:cNvSpPr txBox="1"/>
          <p:nvPr/>
        </p:nvSpPr>
        <p:spPr>
          <a:xfrm>
            <a:off x="10953750" y="454342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B21B6"/>
                </a:solidFill>
                <a:latin typeface="Inter"/>
              </a:rPr>
              <a:t>Business</a:t>
            </a:r>
          </a:p>
        </p:txBody>
      </p:sp>
      <p:sp>
        <p:nvSpPr>
          <p:cNvPr id="137" name="group-13-header"/>
          <p:cNvSpPr txBox="1"/>
          <p:nvPr/>
        </p:nvSpPr>
        <p:spPr>
          <a:xfrm>
            <a:off x="6286500" y="47053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</a:t>
            </a:r>
          </a:p>
        </p:txBody>
      </p:sp>
      <p:sp>
        <p:nvSpPr>
          <p:cNvPr id="138" name="acronym-26-key"/>
          <p:cNvSpPr txBox="1"/>
          <p:nvPr/>
        </p:nvSpPr>
        <p:spPr>
          <a:xfrm>
            <a:off x="6286500" y="4857750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SLA</a:t>
            </a:r>
          </a:p>
        </p:txBody>
      </p:sp>
      <p:sp>
        <p:nvSpPr>
          <p:cNvPr id="139" name="acronym-26-full"/>
          <p:cNvSpPr txBox="1"/>
          <p:nvPr/>
        </p:nvSpPr>
        <p:spPr>
          <a:xfrm>
            <a:off x="7124700" y="4857750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Service Level Agreement</a:t>
            </a:r>
          </a:p>
        </p:txBody>
      </p:sp>
      <p:sp>
        <p:nvSpPr>
          <p:cNvPr id="140" name="acronym-26-tag-bg"/>
          <p:cNvSpPr/>
          <p:nvPr/>
        </p:nvSpPr>
        <p:spPr>
          <a:xfrm>
            <a:off x="10953750" y="4876800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acronym-26-tag"/>
          <p:cNvSpPr txBox="1"/>
          <p:nvPr/>
        </p:nvSpPr>
        <p:spPr>
          <a:xfrm>
            <a:off x="10953750" y="4876800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142" name="acronym-27-row-bg"/>
          <p:cNvSpPr/>
          <p:nvPr/>
        </p:nvSpPr>
        <p:spPr>
          <a:xfrm>
            <a:off x="6210300" y="5038725"/>
            <a:ext cx="5524500" cy="1809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acronym-27-key"/>
          <p:cNvSpPr txBox="1"/>
          <p:nvPr/>
        </p:nvSpPr>
        <p:spPr>
          <a:xfrm>
            <a:off x="6286500" y="5038725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SOC 2</a:t>
            </a:r>
          </a:p>
        </p:txBody>
      </p:sp>
      <p:sp>
        <p:nvSpPr>
          <p:cNvPr id="144" name="acronym-27-full"/>
          <p:cNvSpPr txBox="1"/>
          <p:nvPr/>
        </p:nvSpPr>
        <p:spPr>
          <a:xfrm>
            <a:off x="7124700" y="5038725"/>
            <a:ext cx="3733800" cy="180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System &amp; Org. Controls 2</a:t>
            </a:r>
          </a:p>
        </p:txBody>
      </p:sp>
      <p:sp>
        <p:nvSpPr>
          <p:cNvPr id="145" name="acronym-27-tag-bg"/>
          <p:cNvSpPr/>
          <p:nvPr/>
        </p:nvSpPr>
        <p:spPr>
          <a:xfrm>
            <a:off x="10953750" y="5057775"/>
            <a:ext cx="723900" cy="142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acronym-27-tag"/>
          <p:cNvSpPr txBox="1"/>
          <p:nvPr/>
        </p:nvSpPr>
        <p:spPr>
          <a:xfrm>
            <a:off x="10953750" y="5057775"/>
            <a:ext cx="723900" cy="142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Regulatory</a:t>
            </a:r>
          </a:p>
        </p:txBody>
      </p:sp>
      <p:sp>
        <p:nvSpPr>
          <p:cNvPr id="1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