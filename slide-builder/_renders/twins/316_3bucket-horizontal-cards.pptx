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Three levers drive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sustained margin expansion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101346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Priority focus areas for Q3–Q4 execution across the portfolio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1239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bucket-1-card"/>
          <p:cNvSpPr/>
          <p:nvPr/>
        </p:nvSpPr>
        <p:spPr>
          <a:xfrm>
            <a:off x="457200" y="1905000"/>
            <a:ext cx="3638550" cy="45148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bucket-1-accent"/>
          <p:cNvSpPr/>
          <p:nvPr/>
        </p:nvSpPr>
        <p:spPr>
          <a:xfrm>
            <a:off x="457200" y="1905000"/>
            <a:ext cx="363855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bucket-1-num"/>
          <p:cNvSpPr txBox="1"/>
          <p:nvPr/>
        </p:nvSpPr>
        <p:spPr>
          <a:xfrm>
            <a:off x="685800" y="2114550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C780FF"/>
                </a:solidFill>
                <a:latin typeface="Inter"/>
              </a:rPr>
              <a:t>01</a:t>
            </a:r>
          </a:p>
        </p:txBody>
      </p:sp>
      <p:sp>
        <p:nvSpPr>
          <p:cNvPr id="8" name="bucket-1-title"/>
          <p:cNvSpPr txBox="1"/>
          <p:nvPr/>
        </p:nvSpPr>
        <p:spPr>
          <a:xfrm>
            <a:off x="685800" y="2438400"/>
            <a:ext cx="3181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2D0A4E"/>
                </a:solidFill>
                <a:latin typeface="Inter"/>
              </a:rPr>
              <a:t>Cost Structure Optimisation</a:t>
            </a:r>
          </a:p>
        </p:txBody>
      </p:sp>
      <p:sp>
        <p:nvSpPr>
          <p:cNvPr id="9" name="bucket-1-rule"/>
          <p:cNvSpPr/>
          <p:nvPr/>
        </p:nvSpPr>
        <p:spPr>
          <a:xfrm>
            <a:off x="685800" y="2895600"/>
            <a:ext cx="3810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bucket-1-bullet-1-dash"/>
          <p:cNvSpPr txBox="1"/>
          <p:nvPr/>
        </p:nvSpPr>
        <p:spPr>
          <a:xfrm>
            <a:off x="685800" y="3067050"/>
            <a:ext cx="1143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–</a:t>
            </a:r>
          </a:p>
        </p:txBody>
      </p:sp>
      <p:sp>
        <p:nvSpPr>
          <p:cNvPr id="11" name="bucket-1-bullet-1-text"/>
          <p:cNvSpPr txBox="1"/>
          <p:nvPr/>
        </p:nvSpPr>
        <p:spPr>
          <a:xfrm>
            <a:off x="819150" y="3067050"/>
            <a:ext cx="30670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Consolidate tier-2 vendor roster from 47 to 18 strategic partners</a:t>
            </a:r>
          </a:p>
        </p:txBody>
      </p:sp>
      <p:sp>
        <p:nvSpPr>
          <p:cNvPr id="12" name="bucket-1-bullet-2-dash"/>
          <p:cNvSpPr txBox="1"/>
          <p:nvPr/>
        </p:nvSpPr>
        <p:spPr>
          <a:xfrm>
            <a:off x="685800" y="3448050"/>
            <a:ext cx="1143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–</a:t>
            </a:r>
          </a:p>
        </p:txBody>
      </p:sp>
      <p:sp>
        <p:nvSpPr>
          <p:cNvPr id="13" name="bucket-1-bullet-2-text"/>
          <p:cNvSpPr txBox="1"/>
          <p:nvPr/>
        </p:nvSpPr>
        <p:spPr>
          <a:xfrm>
            <a:off x="819150" y="3448050"/>
            <a:ext cx="30670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Migrate 60% of on-prem workloads to managed cloud by Q4</a:t>
            </a:r>
          </a:p>
        </p:txBody>
      </p:sp>
      <p:sp>
        <p:nvSpPr>
          <p:cNvPr id="14" name="bucket-1-bullet-3-dash"/>
          <p:cNvSpPr txBox="1"/>
          <p:nvPr/>
        </p:nvSpPr>
        <p:spPr>
          <a:xfrm>
            <a:off x="685800" y="3829050"/>
            <a:ext cx="1143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–</a:t>
            </a:r>
          </a:p>
        </p:txBody>
      </p:sp>
      <p:sp>
        <p:nvSpPr>
          <p:cNvPr id="15" name="bucket-1-bullet-3-text"/>
          <p:cNvSpPr txBox="1"/>
          <p:nvPr/>
        </p:nvSpPr>
        <p:spPr>
          <a:xfrm>
            <a:off x="819150" y="3829050"/>
            <a:ext cx="30670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Standardise procurement across BUs to unlock volume rebates</a:t>
            </a:r>
          </a:p>
        </p:txBody>
      </p:sp>
      <p:sp>
        <p:nvSpPr>
          <p:cNvPr id="16" name="bucket-1-bullet-4-dash"/>
          <p:cNvSpPr txBox="1"/>
          <p:nvPr/>
        </p:nvSpPr>
        <p:spPr>
          <a:xfrm>
            <a:off x="685800" y="4210050"/>
            <a:ext cx="1143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–</a:t>
            </a:r>
          </a:p>
        </p:txBody>
      </p:sp>
      <p:sp>
        <p:nvSpPr>
          <p:cNvPr id="17" name="bucket-1-bullet-4-text"/>
          <p:cNvSpPr txBox="1"/>
          <p:nvPr/>
        </p:nvSpPr>
        <p:spPr>
          <a:xfrm>
            <a:off x="819150" y="4210050"/>
            <a:ext cx="30670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Automate AP/AR reconciliation — 80% straight-through processing</a:t>
            </a:r>
          </a:p>
        </p:txBody>
      </p:sp>
      <p:sp>
        <p:nvSpPr>
          <p:cNvPr id="18" name="bucket-1-metric"/>
          <p:cNvSpPr txBox="1"/>
          <p:nvPr/>
        </p:nvSpPr>
        <p:spPr>
          <a:xfrm>
            <a:off x="685800" y="5753100"/>
            <a:ext cx="31813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100" b="1" i="0">
                <a:solidFill>
                  <a:srgbClr val="2D0A4E"/>
                </a:solidFill>
                <a:latin typeface="Inter"/>
              </a:rPr>
              <a:t>$42M</a:t>
            </a:r>
          </a:p>
        </p:txBody>
      </p:sp>
      <p:sp>
        <p:nvSpPr>
          <p:cNvPr id="19" name="bucket-1-metric-label"/>
          <p:cNvSpPr txBox="1"/>
          <p:nvPr/>
        </p:nvSpPr>
        <p:spPr>
          <a:xfrm>
            <a:off x="685800" y="6115050"/>
            <a:ext cx="31813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IDENTIFIED SAVINGS POTENTIAL</a:t>
            </a:r>
          </a:p>
        </p:txBody>
      </p:sp>
      <p:sp>
        <p:nvSpPr>
          <p:cNvPr id="20" name="bucket-2-card"/>
          <p:cNvSpPr/>
          <p:nvPr/>
        </p:nvSpPr>
        <p:spPr>
          <a:xfrm>
            <a:off x="4267200" y="1905000"/>
            <a:ext cx="3638550" cy="45148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bucket-2-accent"/>
          <p:cNvSpPr/>
          <p:nvPr/>
        </p:nvSpPr>
        <p:spPr>
          <a:xfrm>
            <a:off x="4267200" y="1905000"/>
            <a:ext cx="363855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bucket-2-num"/>
          <p:cNvSpPr txBox="1"/>
          <p:nvPr/>
        </p:nvSpPr>
        <p:spPr>
          <a:xfrm>
            <a:off x="4495800" y="2114550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C780FF"/>
                </a:solidFill>
                <a:latin typeface="Inter"/>
              </a:rPr>
              <a:t>02</a:t>
            </a:r>
          </a:p>
        </p:txBody>
      </p:sp>
      <p:sp>
        <p:nvSpPr>
          <p:cNvPr id="23" name="bucket-2-title"/>
          <p:cNvSpPr txBox="1"/>
          <p:nvPr/>
        </p:nvSpPr>
        <p:spPr>
          <a:xfrm>
            <a:off x="4495800" y="2438400"/>
            <a:ext cx="3181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2D0A4E"/>
                </a:solidFill>
                <a:latin typeface="Inter"/>
              </a:rPr>
              <a:t>Revenue Mix Improvement</a:t>
            </a:r>
          </a:p>
        </p:txBody>
      </p:sp>
      <p:sp>
        <p:nvSpPr>
          <p:cNvPr id="24" name="bucket-2-rule"/>
          <p:cNvSpPr/>
          <p:nvPr/>
        </p:nvSpPr>
        <p:spPr>
          <a:xfrm>
            <a:off x="4495800" y="2895600"/>
            <a:ext cx="3810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bucket-2-bullet-1-dash"/>
          <p:cNvSpPr txBox="1"/>
          <p:nvPr/>
        </p:nvSpPr>
        <p:spPr>
          <a:xfrm>
            <a:off x="4495800" y="3067050"/>
            <a:ext cx="1143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–</a:t>
            </a:r>
          </a:p>
        </p:txBody>
      </p:sp>
      <p:sp>
        <p:nvSpPr>
          <p:cNvPr id="26" name="bucket-2-bullet-1-text"/>
          <p:cNvSpPr txBox="1"/>
          <p:nvPr/>
        </p:nvSpPr>
        <p:spPr>
          <a:xfrm>
            <a:off x="4629150" y="3067050"/>
            <a:ext cx="30670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Shift product revenue toward higher-margin SaaS subscription tiers</a:t>
            </a:r>
          </a:p>
        </p:txBody>
      </p:sp>
      <p:sp>
        <p:nvSpPr>
          <p:cNvPr id="27" name="bucket-2-bullet-2-dash"/>
          <p:cNvSpPr txBox="1"/>
          <p:nvPr/>
        </p:nvSpPr>
        <p:spPr>
          <a:xfrm>
            <a:off x="4495800" y="3448050"/>
            <a:ext cx="1143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–</a:t>
            </a:r>
          </a:p>
        </p:txBody>
      </p:sp>
      <p:sp>
        <p:nvSpPr>
          <p:cNvPr id="28" name="bucket-2-bullet-2-text"/>
          <p:cNvSpPr txBox="1"/>
          <p:nvPr/>
        </p:nvSpPr>
        <p:spPr>
          <a:xfrm>
            <a:off x="4629150" y="3448050"/>
            <a:ext cx="30670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Expand managed services attach rate from 31% to 55% by year-end</a:t>
            </a:r>
          </a:p>
        </p:txBody>
      </p:sp>
      <p:sp>
        <p:nvSpPr>
          <p:cNvPr id="29" name="bucket-2-bullet-3-dash"/>
          <p:cNvSpPr txBox="1"/>
          <p:nvPr/>
        </p:nvSpPr>
        <p:spPr>
          <a:xfrm>
            <a:off x="4495800" y="3829050"/>
            <a:ext cx="1143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–</a:t>
            </a:r>
          </a:p>
        </p:txBody>
      </p:sp>
      <p:sp>
        <p:nvSpPr>
          <p:cNvPr id="30" name="bucket-2-bullet-3-text"/>
          <p:cNvSpPr txBox="1"/>
          <p:nvPr/>
        </p:nvSpPr>
        <p:spPr>
          <a:xfrm>
            <a:off x="4629150" y="3829050"/>
            <a:ext cx="30670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Retire tail SKUs representing &lt;2% revenue but 18% support load</a:t>
            </a:r>
          </a:p>
        </p:txBody>
      </p:sp>
      <p:sp>
        <p:nvSpPr>
          <p:cNvPr id="31" name="bucket-2-bullet-4-dash"/>
          <p:cNvSpPr txBox="1"/>
          <p:nvPr/>
        </p:nvSpPr>
        <p:spPr>
          <a:xfrm>
            <a:off x="4495800" y="4210050"/>
            <a:ext cx="1143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–</a:t>
            </a:r>
          </a:p>
        </p:txBody>
      </p:sp>
      <p:sp>
        <p:nvSpPr>
          <p:cNvPr id="32" name="bucket-2-bullet-4-text"/>
          <p:cNvSpPr txBox="1"/>
          <p:nvPr/>
        </p:nvSpPr>
        <p:spPr>
          <a:xfrm>
            <a:off x="4629150" y="4210050"/>
            <a:ext cx="30670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Re-price legacy contracts at renewal using updated benchmarks</a:t>
            </a:r>
          </a:p>
        </p:txBody>
      </p:sp>
      <p:sp>
        <p:nvSpPr>
          <p:cNvPr id="33" name="bucket-2-metric"/>
          <p:cNvSpPr txBox="1"/>
          <p:nvPr/>
        </p:nvSpPr>
        <p:spPr>
          <a:xfrm>
            <a:off x="4495800" y="5753100"/>
            <a:ext cx="31813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100" b="1" i="0">
                <a:solidFill>
                  <a:srgbClr val="5C2D87"/>
                </a:solidFill>
                <a:latin typeface="Inter"/>
              </a:rPr>
              <a:t>+8.4pp</a:t>
            </a:r>
          </a:p>
        </p:txBody>
      </p:sp>
      <p:sp>
        <p:nvSpPr>
          <p:cNvPr id="34" name="bucket-2-metric-label"/>
          <p:cNvSpPr txBox="1"/>
          <p:nvPr/>
        </p:nvSpPr>
        <p:spPr>
          <a:xfrm>
            <a:off x="4495800" y="6115050"/>
            <a:ext cx="31813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GROSS MARGIN UPLIFT TARGET</a:t>
            </a:r>
          </a:p>
        </p:txBody>
      </p:sp>
      <p:sp>
        <p:nvSpPr>
          <p:cNvPr id="35" name="bucket-3-card"/>
          <p:cNvSpPr/>
          <p:nvPr/>
        </p:nvSpPr>
        <p:spPr>
          <a:xfrm>
            <a:off x="8077200" y="1905000"/>
            <a:ext cx="3638550" cy="45148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bucket-3-accent"/>
          <p:cNvSpPr/>
          <p:nvPr/>
        </p:nvSpPr>
        <p:spPr>
          <a:xfrm>
            <a:off x="8077200" y="1905000"/>
            <a:ext cx="363855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bucket-3-num"/>
          <p:cNvSpPr txBox="1"/>
          <p:nvPr/>
        </p:nvSpPr>
        <p:spPr>
          <a:xfrm>
            <a:off x="8305800" y="2114550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C780FF"/>
                </a:solidFill>
                <a:latin typeface="Inter"/>
              </a:rPr>
              <a:t>03</a:t>
            </a:r>
          </a:p>
        </p:txBody>
      </p:sp>
      <p:sp>
        <p:nvSpPr>
          <p:cNvPr id="38" name="bucket-3-title"/>
          <p:cNvSpPr txBox="1"/>
          <p:nvPr/>
        </p:nvSpPr>
        <p:spPr>
          <a:xfrm>
            <a:off x="8305800" y="2438400"/>
            <a:ext cx="3181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2D0A4E"/>
                </a:solidFill>
                <a:latin typeface="Inter"/>
              </a:rPr>
              <a:t>Operational Velocity</a:t>
            </a:r>
          </a:p>
        </p:txBody>
      </p:sp>
      <p:sp>
        <p:nvSpPr>
          <p:cNvPr id="39" name="bucket-3-rule"/>
          <p:cNvSpPr/>
          <p:nvPr/>
        </p:nvSpPr>
        <p:spPr>
          <a:xfrm>
            <a:off x="8305800" y="2895600"/>
            <a:ext cx="3810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bucket-3-bullet-1-dash"/>
          <p:cNvSpPr txBox="1"/>
          <p:nvPr/>
        </p:nvSpPr>
        <p:spPr>
          <a:xfrm>
            <a:off x="8305800" y="3067050"/>
            <a:ext cx="1143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–</a:t>
            </a:r>
          </a:p>
        </p:txBody>
      </p:sp>
      <p:sp>
        <p:nvSpPr>
          <p:cNvPr id="41" name="bucket-3-bullet-1-text"/>
          <p:cNvSpPr txBox="1"/>
          <p:nvPr/>
        </p:nvSpPr>
        <p:spPr>
          <a:xfrm>
            <a:off x="8439150" y="3067050"/>
            <a:ext cx="30670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Reduce quote-to-cash cycle from 22 days to under 9 days</a:t>
            </a:r>
          </a:p>
        </p:txBody>
      </p:sp>
      <p:sp>
        <p:nvSpPr>
          <p:cNvPr id="42" name="bucket-3-bullet-2-dash"/>
          <p:cNvSpPr txBox="1"/>
          <p:nvPr/>
        </p:nvSpPr>
        <p:spPr>
          <a:xfrm>
            <a:off x="8305800" y="3448050"/>
            <a:ext cx="1143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–</a:t>
            </a:r>
          </a:p>
        </p:txBody>
      </p:sp>
      <p:sp>
        <p:nvSpPr>
          <p:cNvPr id="43" name="bucket-3-bullet-2-text"/>
          <p:cNvSpPr txBox="1"/>
          <p:nvPr/>
        </p:nvSpPr>
        <p:spPr>
          <a:xfrm>
            <a:off x="8439150" y="3448050"/>
            <a:ext cx="30670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Deploy AI-assisted demand forecasting to cut excess inventory 35%</a:t>
            </a:r>
          </a:p>
        </p:txBody>
      </p:sp>
      <p:sp>
        <p:nvSpPr>
          <p:cNvPr id="44" name="bucket-3-bullet-3-dash"/>
          <p:cNvSpPr txBox="1"/>
          <p:nvPr/>
        </p:nvSpPr>
        <p:spPr>
          <a:xfrm>
            <a:off x="8305800" y="3829050"/>
            <a:ext cx="1143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–</a:t>
            </a:r>
          </a:p>
        </p:txBody>
      </p:sp>
      <p:sp>
        <p:nvSpPr>
          <p:cNvPr id="45" name="bucket-3-bullet-3-text"/>
          <p:cNvSpPr txBox="1"/>
          <p:nvPr/>
        </p:nvSpPr>
        <p:spPr>
          <a:xfrm>
            <a:off x="8439150" y="3829050"/>
            <a:ext cx="30670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Implement unified delivery dashboard across all regional teams</a:t>
            </a:r>
          </a:p>
        </p:txBody>
      </p:sp>
      <p:sp>
        <p:nvSpPr>
          <p:cNvPr id="46" name="bucket-3-bullet-4-dash"/>
          <p:cNvSpPr txBox="1"/>
          <p:nvPr/>
        </p:nvSpPr>
        <p:spPr>
          <a:xfrm>
            <a:off x="8305800" y="4210050"/>
            <a:ext cx="1143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–</a:t>
            </a:r>
          </a:p>
        </p:txBody>
      </p:sp>
      <p:sp>
        <p:nvSpPr>
          <p:cNvPr id="47" name="bucket-3-bullet-4-text"/>
          <p:cNvSpPr txBox="1"/>
          <p:nvPr/>
        </p:nvSpPr>
        <p:spPr>
          <a:xfrm>
            <a:off x="8439150" y="4210050"/>
            <a:ext cx="30670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Establish bi-weekly leadership cadence on leading indicators</a:t>
            </a:r>
          </a:p>
        </p:txBody>
      </p:sp>
      <p:sp>
        <p:nvSpPr>
          <p:cNvPr id="48" name="bucket-3-metric"/>
          <p:cNvSpPr txBox="1"/>
          <p:nvPr/>
        </p:nvSpPr>
        <p:spPr>
          <a:xfrm>
            <a:off x="8305800" y="5753100"/>
            <a:ext cx="31813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100" b="1" i="0">
                <a:solidFill>
                  <a:srgbClr val="A100FF"/>
                </a:solidFill>
                <a:latin typeface="Inter"/>
              </a:rPr>
              <a:t>2.1×</a:t>
            </a:r>
          </a:p>
        </p:txBody>
      </p:sp>
      <p:sp>
        <p:nvSpPr>
          <p:cNvPr id="49" name="bucket-3-metric-label"/>
          <p:cNvSpPr txBox="1"/>
          <p:nvPr/>
        </p:nvSpPr>
        <p:spPr>
          <a:xfrm>
            <a:off x="8305800" y="6115050"/>
            <a:ext cx="31813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THROUGHPUT IMPROVEMENT TARGET</a:t>
            </a:r>
          </a:p>
        </p:txBody>
      </p:sp>
      <p:sp>
        <p:nvSpPr>
          <p:cNvPr id="50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51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52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316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