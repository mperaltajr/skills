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Stakeholder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Power / Interest Map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Engagement strategy by quadrant · Color = sentiment (green supportive · amber neutral · red resistant)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-1-dot"/>
          <p:cNvSpPr/>
          <p:nvPr/>
        </p:nvSpPr>
        <p:spPr>
          <a:xfrm>
            <a:off x="8667750" y="2247900"/>
            <a:ext cx="95250" cy="9525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-1"/>
          <p:cNvSpPr txBox="1"/>
          <p:nvPr/>
        </p:nvSpPr>
        <p:spPr>
          <a:xfrm>
            <a:off x="8801100" y="22098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Supportive</a:t>
            </a:r>
          </a:p>
        </p:txBody>
      </p:sp>
      <p:sp>
        <p:nvSpPr>
          <p:cNvPr id="7" name="leg-2-dot"/>
          <p:cNvSpPr/>
          <p:nvPr/>
        </p:nvSpPr>
        <p:spPr>
          <a:xfrm>
            <a:off x="9715500" y="22479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-2"/>
          <p:cNvSpPr txBox="1"/>
          <p:nvPr/>
        </p:nvSpPr>
        <p:spPr>
          <a:xfrm>
            <a:off x="9848850" y="22098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Neutral</a:t>
            </a:r>
          </a:p>
        </p:txBody>
      </p:sp>
      <p:sp>
        <p:nvSpPr>
          <p:cNvPr id="9" name="leg-3-dot"/>
          <p:cNvSpPr/>
          <p:nvPr/>
        </p:nvSpPr>
        <p:spPr>
          <a:xfrm>
            <a:off x="10763250" y="2247900"/>
            <a:ext cx="95250" cy="952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-3"/>
          <p:cNvSpPr txBox="1"/>
          <p:nvPr/>
        </p:nvSpPr>
        <p:spPr>
          <a:xfrm>
            <a:off x="10896600" y="22098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Resistant</a:t>
            </a:r>
          </a:p>
        </p:txBody>
      </p:sp>
      <p:sp>
        <p:nvSpPr>
          <p:cNvPr id="11" name="quad-tl"/>
          <p:cNvSpPr/>
          <p:nvPr/>
        </p:nvSpPr>
        <p:spPr>
          <a:xfrm>
            <a:off x="952500" y="2571750"/>
            <a:ext cx="3114675" cy="1543050"/>
          </a:xfrm>
          <a:prstGeom prst="rect">
            <a:avLst/>
          </a:prstGeom>
          <a:solidFill>
            <a:srgbClr val="4E1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quad-tr"/>
          <p:cNvSpPr/>
          <p:nvPr/>
        </p:nvSpPr>
        <p:spPr>
          <a:xfrm>
            <a:off x="4067175" y="2571750"/>
            <a:ext cx="3114675" cy="1543050"/>
          </a:xfrm>
          <a:prstGeom prst="rect">
            <a:avLst/>
          </a:prstGeom>
          <a:solidFill>
            <a:srgbClr val="1F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quad-bl"/>
          <p:cNvSpPr/>
          <p:nvPr/>
        </p:nvSpPr>
        <p:spPr>
          <a:xfrm>
            <a:off x="952500" y="4114800"/>
            <a:ext cx="3114675" cy="1543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uad-br"/>
          <p:cNvSpPr/>
          <p:nvPr/>
        </p:nvSpPr>
        <p:spPr>
          <a:xfrm>
            <a:off x="4067175" y="4114800"/>
            <a:ext cx="3114675" cy="1543050"/>
          </a:xfrm>
          <a:prstGeom prst="rect">
            <a:avLst/>
          </a:prstGeom>
          <a:solidFill>
            <a:srgbClr val="4A4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axis-y"/>
          <p:cNvSpPr/>
          <p:nvPr/>
        </p:nvSpPr>
        <p:spPr>
          <a:xfrm>
            <a:off x="952500" y="2571750"/>
            <a:ext cx="9525" cy="3086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div-v"/>
          <p:cNvSpPr/>
          <p:nvPr/>
        </p:nvSpPr>
        <p:spPr>
          <a:xfrm>
            <a:off x="4067175" y="2571750"/>
            <a:ext cx="9525" cy="30861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div-h"/>
          <p:cNvSpPr/>
          <p:nvPr/>
        </p:nvSpPr>
        <p:spPr>
          <a:xfrm>
            <a:off x="952500" y="4114800"/>
            <a:ext cx="62293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quad-tl-label"/>
          <p:cNvSpPr txBox="1"/>
          <p:nvPr/>
        </p:nvSpPr>
        <p:spPr>
          <a:xfrm>
            <a:off x="952500" y="2628900"/>
            <a:ext cx="31146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Manage Closely</a:t>
            </a:r>
          </a:p>
        </p:txBody>
      </p:sp>
      <p:sp>
        <p:nvSpPr>
          <p:cNvPr id="20" name="quad-tr-label"/>
          <p:cNvSpPr txBox="1"/>
          <p:nvPr/>
        </p:nvSpPr>
        <p:spPr>
          <a:xfrm>
            <a:off x="4067175" y="2628900"/>
            <a:ext cx="31146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Keep Satisfied</a:t>
            </a:r>
          </a:p>
        </p:txBody>
      </p:sp>
      <p:sp>
        <p:nvSpPr>
          <p:cNvPr id="21" name="quad-bl-label"/>
          <p:cNvSpPr txBox="1"/>
          <p:nvPr/>
        </p:nvSpPr>
        <p:spPr>
          <a:xfrm>
            <a:off x="952500" y="4171950"/>
            <a:ext cx="31146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Monitor</a:t>
            </a:r>
          </a:p>
        </p:txBody>
      </p:sp>
      <p:sp>
        <p:nvSpPr>
          <p:cNvPr id="22" name="quad-br-label"/>
          <p:cNvSpPr txBox="1"/>
          <p:nvPr/>
        </p:nvSpPr>
        <p:spPr>
          <a:xfrm>
            <a:off x="4067175" y="4171950"/>
            <a:ext cx="31146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Keep Informed</a:t>
            </a:r>
          </a:p>
        </p:txBody>
      </p:sp>
      <p:sp>
        <p:nvSpPr>
          <p:cNvPr id="23" name="axis-x-label"/>
          <p:cNvSpPr txBox="1"/>
          <p:nvPr/>
        </p:nvSpPr>
        <p:spPr>
          <a:xfrm>
            <a:off x="952500" y="5715000"/>
            <a:ext cx="6229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INTEREST →</a:t>
            </a:r>
          </a:p>
        </p:txBody>
      </p:sp>
      <p:sp>
        <p:nvSpPr>
          <p:cNvPr id="24" name="axis-y-label"/>
          <p:cNvSpPr txBox="1"/>
          <p:nvPr/>
        </p:nvSpPr>
        <p:spPr>
          <a:xfrm>
            <a:off x="609600" y="2571750"/>
            <a:ext cx="304800" cy="3086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↑ POWER</a:t>
            </a:r>
          </a:p>
        </p:txBody>
      </p:sp>
      <p:sp>
        <p:nvSpPr>
          <p:cNvPr id="25" name="bubble-1"/>
          <p:cNvSpPr/>
          <p:nvPr/>
        </p:nvSpPr>
        <p:spPr>
          <a:xfrm>
            <a:off x="2362200" y="2886075"/>
            <a:ext cx="285750" cy="28575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ubble-1-init"/>
          <p:cNvSpPr txBox="1"/>
          <p:nvPr/>
        </p:nvSpPr>
        <p:spPr>
          <a:xfrm>
            <a:off x="2362200" y="28860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SK</a:t>
            </a:r>
          </a:p>
        </p:txBody>
      </p:sp>
      <p:sp>
        <p:nvSpPr>
          <p:cNvPr id="27" name="bubble-2"/>
          <p:cNvSpPr/>
          <p:nvPr/>
        </p:nvSpPr>
        <p:spPr>
          <a:xfrm>
            <a:off x="3238500" y="3276600"/>
            <a:ext cx="285750" cy="2857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bubble-2-init"/>
          <p:cNvSpPr txBox="1"/>
          <p:nvPr/>
        </p:nvSpPr>
        <p:spPr>
          <a:xfrm>
            <a:off x="3238500" y="32766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DL</a:t>
            </a:r>
          </a:p>
        </p:txBody>
      </p:sp>
      <p:sp>
        <p:nvSpPr>
          <p:cNvPr id="29" name="bubble-3"/>
          <p:cNvSpPr/>
          <p:nvPr/>
        </p:nvSpPr>
        <p:spPr>
          <a:xfrm>
            <a:off x="2114550" y="3581400"/>
            <a:ext cx="285750" cy="2857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ubble-3-init"/>
          <p:cNvSpPr txBox="1"/>
          <p:nvPr/>
        </p:nvSpPr>
        <p:spPr>
          <a:xfrm>
            <a:off x="2114550" y="35814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PM</a:t>
            </a:r>
          </a:p>
        </p:txBody>
      </p:sp>
      <p:sp>
        <p:nvSpPr>
          <p:cNvPr id="31" name="bubble-4"/>
          <p:cNvSpPr/>
          <p:nvPr/>
        </p:nvSpPr>
        <p:spPr>
          <a:xfrm>
            <a:off x="4791075" y="2733675"/>
            <a:ext cx="285750" cy="28575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ubble-4-init"/>
          <p:cNvSpPr txBox="1"/>
          <p:nvPr/>
        </p:nvSpPr>
        <p:spPr>
          <a:xfrm>
            <a:off x="4791075" y="27336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JR</a:t>
            </a:r>
          </a:p>
        </p:txBody>
      </p:sp>
      <p:sp>
        <p:nvSpPr>
          <p:cNvPr id="33" name="bubble-5"/>
          <p:cNvSpPr/>
          <p:nvPr/>
        </p:nvSpPr>
        <p:spPr>
          <a:xfrm>
            <a:off x="5943600" y="3276600"/>
            <a:ext cx="285750" cy="2857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bubble-5-init"/>
          <p:cNvSpPr txBox="1"/>
          <p:nvPr/>
        </p:nvSpPr>
        <p:spPr>
          <a:xfrm>
            <a:off x="5943600" y="32766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NT</a:t>
            </a:r>
          </a:p>
        </p:txBody>
      </p:sp>
      <p:sp>
        <p:nvSpPr>
          <p:cNvPr id="35" name="bubble-6"/>
          <p:cNvSpPr/>
          <p:nvPr/>
        </p:nvSpPr>
        <p:spPr>
          <a:xfrm>
            <a:off x="1485900" y="4581525"/>
            <a:ext cx="285750" cy="2857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bubble-6-init"/>
          <p:cNvSpPr txBox="1"/>
          <p:nvPr/>
        </p:nvSpPr>
        <p:spPr>
          <a:xfrm>
            <a:off x="1485900" y="458152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OF</a:t>
            </a:r>
          </a:p>
        </p:txBody>
      </p:sp>
      <p:sp>
        <p:nvSpPr>
          <p:cNvPr id="37" name="bubble-7"/>
          <p:cNvSpPr/>
          <p:nvPr/>
        </p:nvSpPr>
        <p:spPr>
          <a:xfrm>
            <a:off x="2609850" y="5124450"/>
            <a:ext cx="285750" cy="28575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bubble-7-init"/>
          <p:cNvSpPr txBox="1"/>
          <p:nvPr/>
        </p:nvSpPr>
        <p:spPr>
          <a:xfrm>
            <a:off x="2609850" y="51244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LW</a:t>
            </a:r>
          </a:p>
        </p:txBody>
      </p:sp>
      <p:sp>
        <p:nvSpPr>
          <p:cNvPr id="39" name="bubble-8"/>
          <p:cNvSpPr/>
          <p:nvPr/>
        </p:nvSpPr>
        <p:spPr>
          <a:xfrm>
            <a:off x="4857750" y="4819650"/>
            <a:ext cx="285750" cy="2857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bubble-8-init"/>
          <p:cNvSpPr txBox="1"/>
          <p:nvPr/>
        </p:nvSpPr>
        <p:spPr>
          <a:xfrm>
            <a:off x="4857750" y="48196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TB</a:t>
            </a:r>
          </a:p>
        </p:txBody>
      </p:sp>
      <p:sp>
        <p:nvSpPr>
          <p:cNvPr id="41" name="bubble-9"/>
          <p:cNvSpPr/>
          <p:nvPr/>
        </p:nvSpPr>
        <p:spPr>
          <a:xfrm>
            <a:off x="5848350" y="5200650"/>
            <a:ext cx="285750" cy="28575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bubble-9-init"/>
          <p:cNvSpPr txBox="1"/>
          <p:nvPr/>
        </p:nvSpPr>
        <p:spPr>
          <a:xfrm>
            <a:off x="5848350" y="520065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</a:t>
            </a:r>
          </a:p>
        </p:txBody>
      </p:sp>
      <p:sp>
        <p:nvSpPr>
          <p:cNvPr id="43" name="bubble-10"/>
          <p:cNvSpPr/>
          <p:nvPr/>
        </p:nvSpPr>
        <p:spPr>
          <a:xfrm>
            <a:off x="6562725" y="4352925"/>
            <a:ext cx="285750" cy="2857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bubble-10-init"/>
          <p:cNvSpPr txBox="1"/>
          <p:nvPr/>
        </p:nvSpPr>
        <p:spPr>
          <a:xfrm>
            <a:off x="6562725" y="435292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BH</a:t>
            </a:r>
          </a:p>
        </p:txBody>
      </p:sp>
      <p:sp>
        <p:nvSpPr>
          <p:cNvPr id="45" name="register-label"/>
          <p:cNvSpPr txBox="1"/>
          <p:nvPr/>
        </p:nvSpPr>
        <p:spPr>
          <a:xfrm>
            <a:off x="7467600" y="2476500"/>
            <a:ext cx="4114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STAKEHOLDER REGISTER</a:t>
            </a:r>
          </a:p>
        </p:txBody>
      </p:sp>
      <p:sp>
        <p:nvSpPr>
          <p:cNvPr id="46" name="reg-1-dot"/>
          <p:cNvSpPr/>
          <p:nvPr/>
        </p:nvSpPr>
        <p:spPr>
          <a:xfrm>
            <a:off x="7467600" y="2762250"/>
            <a:ext cx="95250" cy="9525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eg-1-name"/>
          <p:cNvSpPr txBox="1"/>
          <p:nvPr/>
        </p:nvSpPr>
        <p:spPr>
          <a:xfrm>
            <a:off x="7620000" y="26860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Sarah K.</a:t>
            </a:r>
          </a:p>
        </p:txBody>
      </p:sp>
      <p:sp>
        <p:nvSpPr>
          <p:cNvPr id="48" name="reg-1-role"/>
          <p:cNvSpPr txBox="1"/>
          <p:nvPr/>
        </p:nvSpPr>
        <p:spPr>
          <a:xfrm>
            <a:off x="7620000" y="28384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Chief Financial Officer</a:t>
            </a:r>
          </a:p>
        </p:txBody>
      </p:sp>
      <p:sp>
        <p:nvSpPr>
          <p:cNvPr id="49" name="reg-1-chip-bg"/>
          <p:cNvSpPr/>
          <p:nvPr/>
        </p:nvSpPr>
        <p:spPr>
          <a:xfrm>
            <a:off x="10534650" y="27432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reg-1-chip"/>
          <p:cNvSpPr txBox="1"/>
          <p:nvPr/>
        </p:nvSpPr>
        <p:spPr>
          <a:xfrm>
            <a:off x="10534650" y="27432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MANAGE CLOSELY</a:t>
            </a:r>
          </a:p>
        </p:txBody>
      </p:sp>
      <p:sp>
        <p:nvSpPr>
          <p:cNvPr id="51" name="reg-2-dot"/>
          <p:cNvSpPr/>
          <p:nvPr/>
        </p:nvSpPr>
        <p:spPr>
          <a:xfrm>
            <a:off x="7467600" y="31051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eg-2-name"/>
          <p:cNvSpPr txBox="1"/>
          <p:nvPr/>
        </p:nvSpPr>
        <p:spPr>
          <a:xfrm>
            <a:off x="7620000" y="30289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David L.</a:t>
            </a:r>
          </a:p>
        </p:txBody>
      </p:sp>
      <p:sp>
        <p:nvSpPr>
          <p:cNvPr id="53" name="reg-2-role"/>
          <p:cNvSpPr txBox="1"/>
          <p:nvPr/>
        </p:nvSpPr>
        <p:spPr>
          <a:xfrm>
            <a:off x="7620000" y="31813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Chief Technology Officer</a:t>
            </a:r>
          </a:p>
        </p:txBody>
      </p:sp>
      <p:sp>
        <p:nvSpPr>
          <p:cNvPr id="54" name="reg-2-chip-bg"/>
          <p:cNvSpPr/>
          <p:nvPr/>
        </p:nvSpPr>
        <p:spPr>
          <a:xfrm>
            <a:off x="10534650" y="30861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reg-2-chip"/>
          <p:cNvSpPr txBox="1"/>
          <p:nvPr/>
        </p:nvSpPr>
        <p:spPr>
          <a:xfrm>
            <a:off x="10534650" y="30861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MANAGE CLOSELY</a:t>
            </a:r>
          </a:p>
        </p:txBody>
      </p:sp>
      <p:sp>
        <p:nvSpPr>
          <p:cNvPr id="56" name="reg-3-dot"/>
          <p:cNvSpPr/>
          <p:nvPr/>
        </p:nvSpPr>
        <p:spPr>
          <a:xfrm>
            <a:off x="7467600" y="3448050"/>
            <a:ext cx="95250" cy="952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eg-3-name"/>
          <p:cNvSpPr txBox="1"/>
          <p:nvPr/>
        </p:nvSpPr>
        <p:spPr>
          <a:xfrm>
            <a:off x="7620000" y="33718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Priya M.</a:t>
            </a:r>
          </a:p>
        </p:txBody>
      </p:sp>
      <p:sp>
        <p:nvSpPr>
          <p:cNvPr id="58" name="reg-3-role"/>
          <p:cNvSpPr txBox="1"/>
          <p:nvPr/>
        </p:nvSpPr>
        <p:spPr>
          <a:xfrm>
            <a:off x="7620000" y="35242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Chief Operating Officer</a:t>
            </a:r>
          </a:p>
        </p:txBody>
      </p:sp>
      <p:sp>
        <p:nvSpPr>
          <p:cNvPr id="59" name="reg-3-chip-bg"/>
          <p:cNvSpPr/>
          <p:nvPr/>
        </p:nvSpPr>
        <p:spPr>
          <a:xfrm>
            <a:off x="10534650" y="34290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reg-3-chip"/>
          <p:cNvSpPr txBox="1"/>
          <p:nvPr/>
        </p:nvSpPr>
        <p:spPr>
          <a:xfrm>
            <a:off x="10534650" y="34290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MANAGE CLOSELY</a:t>
            </a:r>
          </a:p>
        </p:txBody>
      </p:sp>
      <p:sp>
        <p:nvSpPr>
          <p:cNvPr id="61" name="reg-4-dot"/>
          <p:cNvSpPr/>
          <p:nvPr/>
        </p:nvSpPr>
        <p:spPr>
          <a:xfrm>
            <a:off x="7467600" y="3790950"/>
            <a:ext cx="95250" cy="9525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reg-4-name"/>
          <p:cNvSpPr txBox="1"/>
          <p:nvPr/>
        </p:nvSpPr>
        <p:spPr>
          <a:xfrm>
            <a:off x="7620000" y="37147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James R.</a:t>
            </a:r>
          </a:p>
        </p:txBody>
      </p:sp>
      <p:sp>
        <p:nvSpPr>
          <p:cNvPr id="63" name="reg-4-role"/>
          <p:cNvSpPr txBox="1"/>
          <p:nvPr/>
        </p:nvSpPr>
        <p:spPr>
          <a:xfrm>
            <a:off x="7620000" y="38671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Chief Executive Officer</a:t>
            </a:r>
          </a:p>
        </p:txBody>
      </p:sp>
      <p:sp>
        <p:nvSpPr>
          <p:cNvPr id="64" name="reg-4-chip-bg"/>
          <p:cNvSpPr/>
          <p:nvPr/>
        </p:nvSpPr>
        <p:spPr>
          <a:xfrm>
            <a:off x="10534650" y="37719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eg-4-chip"/>
          <p:cNvSpPr txBox="1"/>
          <p:nvPr/>
        </p:nvSpPr>
        <p:spPr>
          <a:xfrm>
            <a:off x="10534650" y="37719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KEEP SATISFIED</a:t>
            </a:r>
          </a:p>
        </p:txBody>
      </p:sp>
      <p:sp>
        <p:nvSpPr>
          <p:cNvPr id="66" name="reg-5-dot"/>
          <p:cNvSpPr/>
          <p:nvPr/>
        </p:nvSpPr>
        <p:spPr>
          <a:xfrm>
            <a:off x="7467600" y="41338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reg-5-name"/>
          <p:cNvSpPr txBox="1"/>
          <p:nvPr/>
        </p:nvSpPr>
        <p:spPr>
          <a:xfrm>
            <a:off x="7620000" y="40576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Nina T.</a:t>
            </a:r>
          </a:p>
        </p:txBody>
      </p:sp>
      <p:sp>
        <p:nvSpPr>
          <p:cNvPr id="68" name="reg-5-role"/>
          <p:cNvSpPr txBox="1"/>
          <p:nvPr/>
        </p:nvSpPr>
        <p:spPr>
          <a:xfrm>
            <a:off x="7620000" y="42100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Board Member</a:t>
            </a:r>
          </a:p>
        </p:txBody>
      </p:sp>
      <p:sp>
        <p:nvSpPr>
          <p:cNvPr id="69" name="reg-5-chip-bg"/>
          <p:cNvSpPr/>
          <p:nvPr/>
        </p:nvSpPr>
        <p:spPr>
          <a:xfrm>
            <a:off x="10534650" y="41148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reg-5-chip"/>
          <p:cNvSpPr txBox="1"/>
          <p:nvPr/>
        </p:nvSpPr>
        <p:spPr>
          <a:xfrm>
            <a:off x="10534650" y="41148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KEEP SATISFIED</a:t>
            </a:r>
          </a:p>
        </p:txBody>
      </p:sp>
      <p:sp>
        <p:nvSpPr>
          <p:cNvPr id="71" name="reg-6-dot"/>
          <p:cNvSpPr/>
          <p:nvPr/>
        </p:nvSpPr>
        <p:spPr>
          <a:xfrm>
            <a:off x="7467600" y="44767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reg-6-name"/>
          <p:cNvSpPr txBox="1"/>
          <p:nvPr/>
        </p:nvSpPr>
        <p:spPr>
          <a:xfrm>
            <a:off x="7620000" y="44005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Omar F.</a:t>
            </a:r>
          </a:p>
        </p:txBody>
      </p:sp>
      <p:sp>
        <p:nvSpPr>
          <p:cNvPr id="73" name="reg-6-role"/>
          <p:cNvSpPr txBox="1"/>
          <p:nvPr/>
        </p:nvSpPr>
        <p:spPr>
          <a:xfrm>
            <a:off x="7620000" y="45529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VP Operations</a:t>
            </a:r>
          </a:p>
        </p:txBody>
      </p:sp>
      <p:sp>
        <p:nvSpPr>
          <p:cNvPr id="74" name="reg-6-chip-bg"/>
          <p:cNvSpPr/>
          <p:nvPr/>
        </p:nvSpPr>
        <p:spPr>
          <a:xfrm>
            <a:off x="10534650" y="44577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reg-6-chip"/>
          <p:cNvSpPr txBox="1"/>
          <p:nvPr/>
        </p:nvSpPr>
        <p:spPr>
          <a:xfrm>
            <a:off x="10534650" y="44577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MONITOR</a:t>
            </a:r>
          </a:p>
        </p:txBody>
      </p:sp>
      <p:sp>
        <p:nvSpPr>
          <p:cNvPr id="76" name="reg-7-dot"/>
          <p:cNvSpPr/>
          <p:nvPr/>
        </p:nvSpPr>
        <p:spPr>
          <a:xfrm>
            <a:off x="7467600" y="4819650"/>
            <a:ext cx="95250" cy="9525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reg-7-name"/>
          <p:cNvSpPr txBox="1"/>
          <p:nvPr/>
        </p:nvSpPr>
        <p:spPr>
          <a:xfrm>
            <a:off x="7620000" y="47434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Lisa W.</a:t>
            </a:r>
          </a:p>
        </p:txBody>
      </p:sp>
      <p:sp>
        <p:nvSpPr>
          <p:cNvPr id="78" name="reg-7-role"/>
          <p:cNvSpPr txBox="1"/>
          <p:nvPr/>
        </p:nvSpPr>
        <p:spPr>
          <a:xfrm>
            <a:off x="7620000" y="48958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HR Director</a:t>
            </a:r>
          </a:p>
        </p:txBody>
      </p:sp>
      <p:sp>
        <p:nvSpPr>
          <p:cNvPr id="79" name="reg-7-chip-bg"/>
          <p:cNvSpPr/>
          <p:nvPr/>
        </p:nvSpPr>
        <p:spPr>
          <a:xfrm>
            <a:off x="10534650" y="48006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eg-7-chip"/>
          <p:cNvSpPr txBox="1"/>
          <p:nvPr/>
        </p:nvSpPr>
        <p:spPr>
          <a:xfrm>
            <a:off x="10534650" y="48006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MONITOR</a:t>
            </a:r>
          </a:p>
        </p:txBody>
      </p:sp>
      <p:sp>
        <p:nvSpPr>
          <p:cNvPr id="81" name="reg-8-dot"/>
          <p:cNvSpPr/>
          <p:nvPr/>
        </p:nvSpPr>
        <p:spPr>
          <a:xfrm>
            <a:off x="7467600" y="5162550"/>
            <a:ext cx="95250" cy="952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reg-8-name"/>
          <p:cNvSpPr txBox="1"/>
          <p:nvPr/>
        </p:nvSpPr>
        <p:spPr>
          <a:xfrm>
            <a:off x="7620000" y="50863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Tom B.</a:t>
            </a:r>
          </a:p>
        </p:txBody>
      </p:sp>
      <p:sp>
        <p:nvSpPr>
          <p:cNvPr id="83" name="reg-8-role"/>
          <p:cNvSpPr txBox="1"/>
          <p:nvPr/>
        </p:nvSpPr>
        <p:spPr>
          <a:xfrm>
            <a:off x="7620000" y="52387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IT Manager</a:t>
            </a:r>
          </a:p>
        </p:txBody>
      </p:sp>
      <p:sp>
        <p:nvSpPr>
          <p:cNvPr id="84" name="reg-8-chip-bg"/>
          <p:cNvSpPr/>
          <p:nvPr/>
        </p:nvSpPr>
        <p:spPr>
          <a:xfrm>
            <a:off x="10534650" y="51435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reg-8-chip"/>
          <p:cNvSpPr txBox="1"/>
          <p:nvPr/>
        </p:nvSpPr>
        <p:spPr>
          <a:xfrm>
            <a:off x="10534650" y="51435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KEEP INFORMED</a:t>
            </a:r>
          </a:p>
        </p:txBody>
      </p:sp>
      <p:sp>
        <p:nvSpPr>
          <p:cNvPr id="86" name="reg-9-dot"/>
          <p:cNvSpPr/>
          <p:nvPr/>
        </p:nvSpPr>
        <p:spPr>
          <a:xfrm>
            <a:off x="7467600" y="5505450"/>
            <a:ext cx="95250" cy="9525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eg-9-name"/>
          <p:cNvSpPr txBox="1"/>
          <p:nvPr/>
        </p:nvSpPr>
        <p:spPr>
          <a:xfrm>
            <a:off x="7620000" y="54292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Ana C.</a:t>
            </a:r>
          </a:p>
        </p:txBody>
      </p:sp>
      <p:sp>
        <p:nvSpPr>
          <p:cNvPr id="88" name="reg-9-role"/>
          <p:cNvSpPr txBox="1"/>
          <p:nvPr/>
        </p:nvSpPr>
        <p:spPr>
          <a:xfrm>
            <a:off x="7620000" y="55816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Communications Lead</a:t>
            </a:r>
          </a:p>
        </p:txBody>
      </p:sp>
      <p:sp>
        <p:nvSpPr>
          <p:cNvPr id="89" name="reg-9-chip-bg"/>
          <p:cNvSpPr/>
          <p:nvPr/>
        </p:nvSpPr>
        <p:spPr>
          <a:xfrm>
            <a:off x="10534650" y="54864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reg-9-chip"/>
          <p:cNvSpPr txBox="1"/>
          <p:nvPr/>
        </p:nvSpPr>
        <p:spPr>
          <a:xfrm>
            <a:off x="10534650" y="54864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KEEP INFORMED</a:t>
            </a:r>
          </a:p>
        </p:txBody>
      </p:sp>
      <p:sp>
        <p:nvSpPr>
          <p:cNvPr id="91" name="reg-10-dot"/>
          <p:cNvSpPr/>
          <p:nvPr/>
        </p:nvSpPr>
        <p:spPr>
          <a:xfrm>
            <a:off x="7467600" y="58483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reg-10-name"/>
          <p:cNvSpPr txBox="1"/>
          <p:nvPr/>
        </p:nvSpPr>
        <p:spPr>
          <a:xfrm>
            <a:off x="7620000" y="57721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Ben H.</a:t>
            </a:r>
          </a:p>
        </p:txBody>
      </p:sp>
      <p:sp>
        <p:nvSpPr>
          <p:cNvPr id="93" name="reg-10-role"/>
          <p:cNvSpPr txBox="1"/>
          <p:nvPr/>
        </p:nvSpPr>
        <p:spPr>
          <a:xfrm>
            <a:off x="7620000" y="59245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Finance Analyst</a:t>
            </a:r>
          </a:p>
        </p:txBody>
      </p:sp>
      <p:sp>
        <p:nvSpPr>
          <p:cNvPr id="94" name="reg-10-chip-bg"/>
          <p:cNvSpPr/>
          <p:nvPr/>
        </p:nvSpPr>
        <p:spPr>
          <a:xfrm>
            <a:off x="10534650" y="5829300"/>
            <a:ext cx="1047750" cy="1714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reg-10-chip"/>
          <p:cNvSpPr txBox="1"/>
          <p:nvPr/>
        </p:nvSpPr>
        <p:spPr>
          <a:xfrm>
            <a:off x="10534650" y="58293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KEEP INFORMED</a:t>
            </a:r>
          </a:p>
        </p:txBody>
      </p:sp>
      <p:sp>
        <p:nvSpPr>
          <p:cNvPr id="9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