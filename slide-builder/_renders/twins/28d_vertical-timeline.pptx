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How Slide Lab got here — six course corrections.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step was a course-correction. The next one is yours to choose.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05000"/>
            <a:ext cx="10972800" cy="4381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event-1-date"/>
          <p:cNvSpPr txBox="1"/>
          <p:nvPr/>
        </p:nvSpPr>
        <p:spPr>
          <a:xfrm>
            <a:off x="1885950" y="19050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Q2 2025</a:t>
            </a:r>
          </a:p>
        </p:txBody>
      </p:sp>
      <p:sp>
        <p:nvSpPr>
          <p:cNvPr id="7" name="event-1-title"/>
          <p:cNvSpPr txBox="1"/>
          <p:nvPr/>
        </p:nvSpPr>
        <p:spPr>
          <a:xfrm>
            <a:off x="1885950" y="20764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Spark</a:t>
            </a:r>
          </a:p>
        </p:txBody>
      </p:sp>
      <p:sp>
        <p:nvSpPr>
          <p:cNvPr id="8" name="event-1-desc"/>
          <p:cNvSpPr txBox="1"/>
          <p:nvPr/>
        </p:nvSpPr>
        <p:spPr>
          <a:xfrm>
            <a:off x="1885950" y="22860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Notice the pattern: senior consultants escape the deck-bloat trap; juniors get crushed by it.</a:t>
            </a:r>
          </a:p>
        </p:txBody>
      </p:sp>
      <p:sp>
        <p:nvSpPr>
          <p:cNvPr id="9" name="event-2-date"/>
          <p:cNvSpPr txBox="1"/>
          <p:nvPr/>
        </p:nvSpPr>
        <p:spPr>
          <a:xfrm>
            <a:off x="7067550" y="26860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Q3 2025</a:t>
            </a:r>
          </a:p>
        </p:txBody>
      </p:sp>
      <p:sp>
        <p:nvSpPr>
          <p:cNvPr id="10" name="event-2-title"/>
          <p:cNvSpPr txBox="1"/>
          <p:nvPr/>
        </p:nvSpPr>
        <p:spPr>
          <a:xfrm>
            <a:off x="7067550" y="28575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Hypothesis</a:t>
            </a:r>
          </a:p>
        </p:txBody>
      </p:sp>
      <p:sp>
        <p:nvSpPr>
          <p:cNvPr id="11" name="event-2-desc"/>
          <p:cNvSpPr txBox="1"/>
          <p:nvPr/>
        </p:nvSpPr>
        <p:spPr>
          <a:xfrm>
            <a:off x="7067550" y="306705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The fix isn't training. It's a structural tool that enforces the discipline.</a:t>
            </a:r>
          </a:p>
        </p:txBody>
      </p:sp>
      <p:sp>
        <p:nvSpPr>
          <p:cNvPr id="12" name="event-3-date"/>
          <p:cNvSpPr txBox="1"/>
          <p:nvPr/>
        </p:nvSpPr>
        <p:spPr>
          <a:xfrm>
            <a:off x="1885950" y="34671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Q4 2025</a:t>
            </a:r>
          </a:p>
        </p:txBody>
      </p:sp>
      <p:sp>
        <p:nvSpPr>
          <p:cNvPr id="13" name="event-3-title"/>
          <p:cNvSpPr txBox="1"/>
          <p:nvPr/>
        </p:nvSpPr>
        <p:spPr>
          <a:xfrm>
            <a:off x="1885950" y="36385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Prototype V1</a:t>
            </a:r>
          </a:p>
        </p:txBody>
      </p:sp>
      <p:sp>
        <p:nvSpPr>
          <p:cNvPr id="14" name="event-3-desc"/>
          <p:cNvSpPr txBox="1"/>
          <p:nvPr/>
        </p:nvSpPr>
        <p:spPr>
          <a:xfrm>
            <a:off x="1885950" y="38481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First HTML/Playwright build of Slide Lab. Twelve decks tested internally.</a:t>
            </a:r>
          </a:p>
        </p:txBody>
      </p:sp>
      <p:sp>
        <p:nvSpPr>
          <p:cNvPr id="15" name="event-4-date"/>
          <p:cNvSpPr txBox="1"/>
          <p:nvPr/>
        </p:nvSpPr>
        <p:spPr>
          <a:xfrm>
            <a:off x="7067550" y="42481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Q1 2026</a:t>
            </a:r>
          </a:p>
        </p:txBody>
      </p:sp>
      <p:sp>
        <p:nvSpPr>
          <p:cNvPr id="16" name="event-4-title"/>
          <p:cNvSpPr txBox="1"/>
          <p:nvPr/>
        </p:nvSpPr>
        <p:spPr>
          <a:xfrm>
            <a:off x="7067550" y="44196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V2 Architecture</a:t>
            </a:r>
          </a:p>
        </p:txBody>
      </p:sp>
      <p:sp>
        <p:nvSpPr>
          <p:cNvPr id="17" name="event-4-desc"/>
          <p:cNvSpPr txBox="1"/>
          <p:nvPr/>
        </p:nvSpPr>
        <p:spPr>
          <a:xfrm>
            <a:off x="7067550" y="462915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Skeleton-first pipeline. Speed gains, but visual quality regressed.</a:t>
            </a:r>
          </a:p>
        </p:txBody>
      </p:sp>
      <p:sp>
        <p:nvSpPr>
          <p:cNvPr id="18" name="event-5-date"/>
          <p:cNvSpPr txBox="1"/>
          <p:nvPr/>
        </p:nvSpPr>
        <p:spPr>
          <a:xfrm>
            <a:off x="1885950" y="50292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Q2 2026</a:t>
            </a:r>
          </a:p>
        </p:txBody>
      </p:sp>
      <p:sp>
        <p:nvSpPr>
          <p:cNvPr id="19" name="event-5-title"/>
          <p:cNvSpPr txBox="1"/>
          <p:nvPr/>
        </p:nvSpPr>
        <p:spPr>
          <a:xfrm>
            <a:off x="1885950" y="52006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V2.5 Hybrid</a:t>
            </a:r>
          </a:p>
        </p:txBody>
      </p:sp>
      <p:sp>
        <p:nvSpPr>
          <p:cNvPr id="20" name="event-5-desc"/>
          <p:cNvSpPr txBox="1"/>
          <p:nvPr/>
        </p:nvSpPr>
        <p:spPr>
          <a:xfrm>
            <a:off x="1885950" y="54102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Pattern library curation. Skeletons + HTML treatments. Editorial chrome restored.</a:t>
            </a:r>
          </a:p>
        </p:txBody>
      </p:sp>
      <p:sp>
        <p:nvSpPr>
          <p:cNvPr id="21" name="event-6-date"/>
          <p:cNvSpPr txBox="1"/>
          <p:nvPr/>
        </p:nvSpPr>
        <p:spPr>
          <a:xfrm>
            <a:off x="7067550" y="53340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TODAY</a:t>
            </a:r>
          </a:p>
        </p:txBody>
      </p:sp>
      <p:sp>
        <p:nvSpPr>
          <p:cNvPr id="22" name="event-6-title"/>
          <p:cNvSpPr txBox="1"/>
          <p:nvPr/>
        </p:nvSpPr>
        <p:spPr>
          <a:xfrm>
            <a:off x="7067550" y="55054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Pilot</a:t>
            </a:r>
          </a:p>
        </p:txBody>
      </p:sp>
      <p:sp>
        <p:nvSpPr>
          <p:cNvPr id="23" name="event-6-desc"/>
          <p:cNvSpPr txBox="1"/>
          <p:nvPr/>
        </p:nvSpPr>
        <p:spPr>
          <a:xfrm>
            <a:off x="7067550" y="57150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Four-week pilot with the FedEx strategy practice. The data speaks.</a:t>
            </a:r>
          </a:p>
        </p:txBody>
      </p:sp>
      <p:sp>
        <p:nvSpPr>
          <p:cNvPr id="2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