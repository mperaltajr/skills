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Regional Revenue Performance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FY2026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Ranked by absolute value with six-year trend and year-on-year delta · All figures in USD millions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header-bg"/>
          <p:cNvSpPr/>
          <p:nvPr/>
        </p:nvSpPr>
        <p:spPr>
          <a:xfrm>
            <a:off x="457200" y="2190750"/>
            <a:ext cx="7886700" cy="2286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l-header-1"/>
          <p:cNvSpPr txBox="1"/>
          <p:nvPr/>
        </p:nvSpPr>
        <p:spPr>
          <a:xfrm>
            <a:off x="552450" y="219075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7" name="col-header-2"/>
          <p:cNvSpPr txBox="1"/>
          <p:nvPr/>
        </p:nvSpPr>
        <p:spPr>
          <a:xfrm>
            <a:off x="1790700" y="2190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VALUE (FY26)</a:t>
            </a:r>
          </a:p>
        </p:txBody>
      </p:sp>
      <p:sp>
        <p:nvSpPr>
          <p:cNvPr id="8" name="col-header-3"/>
          <p:cNvSpPr txBox="1"/>
          <p:nvPr/>
        </p:nvSpPr>
        <p:spPr>
          <a:xfrm>
            <a:off x="5219700" y="21907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TREND (FY21–26)</a:t>
            </a:r>
          </a:p>
        </p:txBody>
      </p:sp>
      <p:sp>
        <p:nvSpPr>
          <p:cNvPr id="9" name="col-header-4"/>
          <p:cNvSpPr txBox="1"/>
          <p:nvPr/>
        </p:nvSpPr>
        <p:spPr>
          <a:xfrm>
            <a:off x="6267450" y="2190750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ΔYOY</a:t>
            </a:r>
          </a:p>
        </p:txBody>
      </p:sp>
      <p:sp>
        <p:nvSpPr>
          <p:cNvPr id="10" name="row-1-cat"/>
          <p:cNvSpPr txBox="1"/>
          <p:nvPr/>
        </p:nvSpPr>
        <p:spPr>
          <a:xfrm>
            <a:off x="552450" y="2419350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North America</a:t>
            </a:r>
          </a:p>
        </p:txBody>
      </p:sp>
      <p:sp>
        <p:nvSpPr>
          <p:cNvPr id="11" name="row-1-bar-track"/>
          <p:cNvSpPr/>
          <p:nvPr/>
        </p:nvSpPr>
        <p:spPr>
          <a:xfrm>
            <a:off x="1790700" y="2581275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1-bar-fill"/>
          <p:cNvSpPr/>
          <p:nvPr/>
        </p:nvSpPr>
        <p:spPr>
          <a:xfrm>
            <a:off x="1790700" y="2581275"/>
            <a:ext cx="225742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-1-val"/>
          <p:cNvSpPr txBox="1"/>
          <p:nvPr/>
        </p:nvSpPr>
        <p:spPr>
          <a:xfrm>
            <a:off x="4514850" y="2419350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$847M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219700" y="2771775"/>
            <a:ext cx="171450" cy="190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391150" y="273367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62600" y="2686050"/>
            <a:ext cx="171450" cy="4762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734050" y="2619375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05500" y="2495550"/>
            <a:ext cx="171450" cy="12382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w-1-delta"/>
          <p:cNvSpPr txBox="1"/>
          <p:nvPr/>
        </p:nvSpPr>
        <p:spPr>
          <a:xfrm>
            <a:off x="6172200" y="2419350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+18% ↑</a:t>
            </a:r>
          </a:p>
        </p:txBody>
      </p:sp>
      <p:sp>
        <p:nvSpPr>
          <p:cNvPr id="20" name="row-2-bg"/>
          <p:cNvSpPr/>
          <p:nvPr/>
        </p:nvSpPr>
        <p:spPr>
          <a:xfrm>
            <a:off x="457200" y="2867025"/>
            <a:ext cx="7886700" cy="4476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2-cat"/>
          <p:cNvSpPr txBox="1"/>
          <p:nvPr/>
        </p:nvSpPr>
        <p:spPr>
          <a:xfrm>
            <a:off x="552450" y="2867025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EMEA</a:t>
            </a:r>
          </a:p>
        </p:txBody>
      </p:sp>
      <p:sp>
        <p:nvSpPr>
          <p:cNvPr id="22" name="row-2-bar-track"/>
          <p:cNvSpPr/>
          <p:nvPr/>
        </p:nvSpPr>
        <p:spPr>
          <a:xfrm>
            <a:off x="1790700" y="3028950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2-bar-fill"/>
          <p:cNvSpPr/>
          <p:nvPr/>
        </p:nvSpPr>
        <p:spPr>
          <a:xfrm>
            <a:off x="1790700" y="3028950"/>
            <a:ext cx="162877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2-val"/>
          <p:cNvSpPr txBox="1"/>
          <p:nvPr/>
        </p:nvSpPr>
        <p:spPr>
          <a:xfrm>
            <a:off x="4514850" y="2867025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$612M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219700" y="3219450"/>
            <a:ext cx="171450" cy="190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91150" y="3190875"/>
            <a:ext cx="171450" cy="285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62600" y="3124200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34050" y="3048000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05500" y="2943225"/>
            <a:ext cx="171450" cy="1047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w-2-delta"/>
          <p:cNvSpPr txBox="1"/>
          <p:nvPr/>
        </p:nvSpPr>
        <p:spPr>
          <a:xfrm>
            <a:off x="6172200" y="2867025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+7% ↑</a:t>
            </a:r>
          </a:p>
        </p:txBody>
      </p:sp>
      <p:sp>
        <p:nvSpPr>
          <p:cNvPr id="31" name="row-3-cat"/>
          <p:cNvSpPr txBox="1"/>
          <p:nvPr/>
        </p:nvSpPr>
        <p:spPr>
          <a:xfrm>
            <a:off x="552450" y="3314700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Asia Pacific</a:t>
            </a:r>
          </a:p>
        </p:txBody>
      </p:sp>
      <p:sp>
        <p:nvSpPr>
          <p:cNvPr id="32" name="row-3-bar-track"/>
          <p:cNvSpPr/>
          <p:nvPr/>
        </p:nvSpPr>
        <p:spPr>
          <a:xfrm>
            <a:off x="1790700" y="3476625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ow-3-bar-fill"/>
          <p:cNvSpPr/>
          <p:nvPr/>
        </p:nvSpPr>
        <p:spPr>
          <a:xfrm>
            <a:off x="1790700" y="3476625"/>
            <a:ext cx="117157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3-val"/>
          <p:cNvSpPr txBox="1"/>
          <p:nvPr/>
        </p:nvSpPr>
        <p:spPr>
          <a:xfrm>
            <a:off x="4514850" y="3314700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$441M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219700" y="364807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91150" y="3600450"/>
            <a:ext cx="171450" cy="4762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562600" y="3552825"/>
            <a:ext cx="171450" cy="4762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734050" y="3476625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905500" y="3390900"/>
            <a:ext cx="171450" cy="8572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w-3-delta"/>
          <p:cNvSpPr txBox="1"/>
          <p:nvPr/>
        </p:nvSpPr>
        <p:spPr>
          <a:xfrm>
            <a:off x="6172200" y="3314700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+31% ↑</a:t>
            </a:r>
          </a:p>
        </p:txBody>
      </p:sp>
      <p:sp>
        <p:nvSpPr>
          <p:cNvPr id="41" name="row-4-bg"/>
          <p:cNvSpPr/>
          <p:nvPr/>
        </p:nvSpPr>
        <p:spPr>
          <a:xfrm>
            <a:off x="457200" y="3762375"/>
            <a:ext cx="7886700" cy="4476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4-cat"/>
          <p:cNvSpPr txBox="1"/>
          <p:nvPr/>
        </p:nvSpPr>
        <p:spPr>
          <a:xfrm>
            <a:off x="552450" y="3762375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Latin America</a:t>
            </a:r>
          </a:p>
        </p:txBody>
      </p:sp>
      <p:sp>
        <p:nvSpPr>
          <p:cNvPr id="43" name="row-4-bar-track"/>
          <p:cNvSpPr/>
          <p:nvPr/>
        </p:nvSpPr>
        <p:spPr>
          <a:xfrm>
            <a:off x="1790700" y="3924300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4-bar-fill"/>
          <p:cNvSpPr/>
          <p:nvPr/>
        </p:nvSpPr>
        <p:spPr>
          <a:xfrm>
            <a:off x="1790700" y="3924300"/>
            <a:ext cx="52387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4-val"/>
          <p:cNvSpPr txBox="1"/>
          <p:nvPr/>
        </p:nvSpPr>
        <p:spPr>
          <a:xfrm>
            <a:off x="4514850" y="3762375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$198M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219700" y="3838575"/>
            <a:ext cx="171450" cy="1333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91150" y="3971925"/>
            <a:ext cx="171450" cy="1047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62600" y="4076700"/>
            <a:ext cx="171450" cy="571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734050" y="4029075"/>
            <a:ext cx="171450" cy="1047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905500" y="399097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w-4-delta"/>
          <p:cNvSpPr txBox="1"/>
          <p:nvPr/>
        </p:nvSpPr>
        <p:spPr>
          <a:xfrm>
            <a:off x="6172200" y="3762375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+3% ↑</a:t>
            </a:r>
          </a:p>
        </p:txBody>
      </p:sp>
      <p:sp>
        <p:nvSpPr>
          <p:cNvPr id="52" name="row-5-cat"/>
          <p:cNvSpPr txBox="1"/>
          <p:nvPr/>
        </p:nvSpPr>
        <p:spPr>
          <a:xfrm>
            <a:off x="552450" y="4210050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Middle East</a:t>
            </a:r>
          </a:p>
        </p:txBody>
      </p:sp>
      <p:sp>
        <p:nvSpPr>
          <p:cNvPr id="53" name="row-5-bar-track"/>
          <p:cNvSpPr/>
          <p:nvPr/>
        </p:nvSpPr>
        <p:spPr>
          <a:xfrm>
            <a:off x="1790700" y="4371975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5-bar-fill"/>
          <p:cNvSpPr/>
          <p:nvPr/>
        </p:nvSpPr>
        <p:spPr>
          <a:xfrm>
            <a:off x="1790700" y="4371975"/>
            <a:ext cx="3238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ow-5-val"/>
          <p:cNvSpPr txBox="1"/>
          <p:nvPr/>
        </p:nvSpPr>
        <p:spPr>
          <a:xfrm>
            <a:off x="4514850" y="4210050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$124M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5219700" y="454342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391150" y="450532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62600" y="4448175"/>
            <a:ext cx="171450" cy="571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34050" y="4381500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05500" y="4286250"/>
            <a:ext cx="171450" cy="952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w-5-delta"/>
          <p:cNvSpPr txBox="1"/>
          <p:nvPr/>
        </p:nvSpPr>
        <p:spPr>
          <a:xfrm>
            <a:off x="6172200" y="4210050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+22% ↑</a:t>
            </a:r>
          </a:p>
        </p:txBody>
      </p:sp>
      <p:sp>
        <p:nvSpPr>
          <p:cNvPr id="62" name="row-6-bg"/>
          <p:cNvSpPr/>
          <p:nvPr/>
        </p:nvSpPr>
        <p:spPr>
          <a:xfrm>
            <a:off x="457200" y="4657725"/>
            <a:ext cx="7886700" cy="4476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6-cat"/>
          <p:cNvSpPr txBox="1"/>
          <p:nvPr/>
        </p:nvSpPr>
        <p:spPr>
          <a:xfrm>
            <a:off x="552450" y="4657725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Africa</a:t>
            </a:r>
          </a:p>
        </p:txBody>
      </p:sp>
      <p:sp>
        <p:nvSpPr>
          <p:cNvPr id="64" name="row-6-bar-track"/>
          <p:cNvSpPr/>
          <p:nvPr/>
        </p:nvSpPr>
        <p:spPr>
          <a:xfrm>
            <a:off x="1790700" y="4819650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6-bar-fill"/>
          <p:cNvSpPr/>
          <p:nvPr/>
        </p:nvSpPr>
        <p:spPr>
          <a:xfrm>
            <a:off x="1790700" y="4819650"/>
            <a:ext cx="22860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ow-6-val"/>
          <p:cNvSpPr txBox="1"/>
          <p:nvPr/>
        </p:nvSpPr>
        <p:spPr>
          <a:xfrm>
            <a:off x="4514850" y="4657725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$89M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219700" y="4733925"/>
            <a:ext cx="171450" cy="952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91150" y="482917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62600" y="4867275"/>
            <a:ext cx="171450" cy="571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34050" y="4924425"/>
            <a:ext cx="17145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905500" y="4962525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w-6-delta"/>
          <p:cNvSpPr txBox="1"/>
          <p:nvPr/>
        </p:nvSpPr>
        <p:spPr>
          <a:xfrm>
            <a:off x="6172200" y="4657725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-4% ↓</a:t>
            </a:r>
          </a:p>
        </p:txBody>
      </p:sp>
      <p:sp>
        <p:nvSpPr>
          <p:cNvPr id="73" name="row-7-cat"/>
          <p:cNvSpPr txBox="1"/>
          <p:nvPr/>
        </p:nvSpPr>
        <p:spPr>
          <a:xfrm>
            <a:off x="552450" y="5105400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Central Asia</a:t>
            </a:r>
          </a:p>
        </p:txBody>
      </p:sp>
      <p:sp>
        <p:nvSpPr>
          <p:cNvPr id="74" name="row-7-bar-track"/>
          <p:cNvSpPr/>
          <p:nvPr/>
        </p:nvSpPr>
        <p:spPr>
          <a:xfrm>
            <a:off x="1790700" y="5267325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ow-7-bar-fill"/>
          <p:cNvSpPr/>
          <p:nvPr/>
        </p:nvSpPr>
        <p:spPr>
          <a:xfrm>
            <a:off x="1790700" y="5267325"/>
            <a:ext cx="14287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7-val"/>
          <p:cNvSpPr txBox="1"/>
          <p:nvPr/>
        </p:nvSpPr>
        <p:spPr>
          <a:xfrm>
            <a:off x="4514850" y="5105400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$54M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5219700" y="5410200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391150" y="5334000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562600" y="5257800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734050" y="5257800"/>
            <a:ext cx="171450" cy="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905500" y="5181600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w-7-delta"/>
          <p:cNvSpPr txBox="1"/>
          <p:nvPr/>
        </p:nvSpPr>
        <p:spPr>
          <a:xfrm>
            <a:off x="6172200" y="5105400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+1% ↑</a:t>
            </a:r>
          </a:p>
        </p:txBody>
      </p:sp>
      <p:sp>
        <p:nvSpPr>
          <p:cNvPr id="83" name="row-8-bg"/>
          <p:cNvSpPr/>
          <p:nvPr/>
        </p:nvSpPr>
        <p:spPr>
          <a:xfrm>
            <a:off x="457200" y="5553075"/>
            <a:ext cx="7886700" cy="4476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8-cat"/>
          <p:cNvSpPr txBox="1"/>
          <p:nvPr/>
        </p:nvSpPr>
        <p:spPr>
          <a:xfrm>
            <a:off x="552450" y="5553075"/>
            <a:ext cx="1047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ANZ</a:t>
            </a:r>
          </a:p>
        </p:txBody>
      </p:sp>
      <p:sp>
        <p:nvSpPr>
          <p:cNvPr id="85" name="row-8-bar-track"/>
          <p:cNvSpPr/>
          <p:nvPr/>
        </p:nvSpPr>
        <p:spPr>
          <a:xfrm>
            <a:off x="1790700" y="5715000"/>
            <a:ext cx="2667000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ow-8-bar-fill"/>
          <p:cNvSpPr/>
          <p:nvPr/>
        </p:nvSpPr>
        <p:spPr>
          <a:xfrm>
            <a:off x="1790700" y="5715000"/>
            <a:ext cx="123825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ow-8-val"/>
          <p:cNvSpPr txBox="1"/>
          <p:nvPr/>
        </p:nvSpPr>
        <p:spPr>
          <a:xfrm>
            <a:off x="4514850" y="5553075"/>
            <a:ext cx="6667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$47M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219700" y="5629275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391150" y="5695950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562600" y="5762625"/>
            <a:ext cx="171450" cy="66675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734050" y="5829300"/>
            <a:ext cx="171450" cy="1905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905500" y="5848350"/>
            <a:ext cx="171450" cy="762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w-8-delta"/>
          <p:cNvSpPr txBox="1"/>
          <p:nvPr/>
        </p:nvSpPr>
        <p:spPr>
          <a:xfrm>
            <a:off x="6172200" y="5553075"/>
            <a:ext cx="20764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-11% ↓</a:t>
            </a:r>
          </a:p>
        </p:txBody>
      </p:sp>
      <p:sp>
        <p:nvSpPr>
          <p:cNvPr id="94" name="panel-heading"/>
          <p:cNvSpPr txBox="1"/>
          <p:nvPr/>
        </p:nvSpPr>
        <p:spPr>
          <a:xfrm>
            <a:off x="8496300" y="21907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KEY INSIGHTS</a:t>
            </a:r>
          </a:p>
        </p:txBody>
      </p:sp>
      <p:sp>
        <p:nvSpPr>
          <p:cNvPr id="95" name="insight-card-1"/>
          <p:cNvSpPr/>
          <p:nvPr/>
        </p:nvSpPr>
        <p:spPr>
          <a:xfrm>
            <a:off x="8496300" y="2400300"/>
            <a:ext cx="32385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insight-card-1-accent"/>
          <p:cNvSpPr/>
          <p:nvPr/>
        </p:nvSpPr>
        <p:spPr>
          <a:xfrm>
            <a:off x="8496300" y="240030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insight-card-1-label"/>
          <p:cNvSpPr txBox="1"/>
          <p:nvPr/>
        </p:nvSpPr>
        <p:spPr>
          <a:xfrm>
            <a:off x="8629650" y="2514600"/>
            <a:ext cx="2971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GROWTH LEADER</a:t>
            </a:r>
          </a:p>
        </p:txBody>
      </p:sp>
      <p:sp>
        <p:nvSpPr>
          <p:cNvPr id="98" name="insight-card-1-body"/>
          <p:cNvSpPr txBox="1"/>
          <p:nvPr/>
        </p:nvSpPr>
        <p:spPr>
          <a:xfrm>
            <a:off x="8629650" y="2667000"/>
            <a:ext cx="2971800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Asia Pacific posted the strongest YoY growth at </a:t>
            </a:r>
            <a:r>
              <a:rPr sz="1050" b="1" i="0">
                <a:solidFill>
                  <a:srgbClr val="2D0A4E"/>
                </a:solidFill>
                <a:latin typeface="Inter"/>
              </a:rPr>
              <a:t>+31%</a:t>
            </a:r>
            <a:r>
              <a:rPr sz="1050" b="0" i="0">
                <a:solidFill>
                  <a:srgbClr val="1A1A2E"/>
                </a:solidFill>
                <a:latin typeface="Inter"/>
              </a:rPr>
              <a:t>, driven by accelerated digital transformation investment across SEA markets. Momentum is steepening — FY27 could surpass Latin America in absolute scale.</a:t>
            </a:r>
          </a:p>
        </p:txBody>
      </p:sp>
      <p:sp>
        <p:nvSpPr>
          <p:cNvPr id="99" name="insight-card-2"/>
          <p:cNvSpPr/>
          <p:nvPr/>
        </p:nvSpPr>
        <p:spPr>
          <a:xfrm>
            <a:off x="8496300" y="3943350"/>
            <a:ext cx="32385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insight-card-2-accent"/>
          <p:cNvSpPr/>
          <p:nvPr/>
        </p:nvSpPr>
        <p:spPr>
          <a:xfrm>
            <a:off x="8496300" y="394335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insight-card-2-label"/>
          <p:cNvSpPr txBox="1"/>
          <p:nvPr/>
        </p:nvSpPr>
        <p:spPr>
          <a:xfrm>
            <a:off x="8629650" y="4057650"/>
            <a:ext cx="2971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WATCH LIST</a:t>
            </a:r>
          </a:p>
        </p:txBody>
      </p:sp>
      <p:sp>
        <p:nvSpPr>
          <p:cNvPr id="102" name="insight-card-2-body"/>
          <p:cNvSpPr txBox="1"/>
          <p:nvPr/>
        </p:nvSpPr>
        <p:spPr>
          <a:xfrm>
            <a:off x="8629650" y="4210050"/>
            <a:ext cx="2971800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Africa and ANZ are in structural decline. Combined revenue contraction of </a:t>
            </a:r>
            <a:r>
              <a:rPr sz="1050" b="1" i="0">
                <a:solidFill>
                  <a:srgbClr val="2D0A4E"/>
                </a:solidFill>
                <a:latin typeface="Inter"/>
              </a:rPr>
              <a:t>−$14M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YoY warrants portfolio review. Flat trend in Central Asia signals limited near-term upside.</a:t>
            </a:r>
          </a:p>
        </p:txBody>
      </p:sp>
      <p:sp>
        <p:nvSpPr>
          <p:cNvPr id="103" name="source-note"/>
          <p:cNvSpPr txBox="1"/>
          <p:nvPr/>
        </p:nvSpPr>
        <p:spPr>
          <a:xfrm>
            <a:off x="8496300" y="57531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Source: Global Revenue Operations Dashboard, FY26 Q4 Close · Figures rounded to nearest $1M.</a:t>
            </a:r>
          </a:p>
        </p:txBody>
      </p:sp>
      <p:sp>
        <p:nvSpPr>
          <p:cNvPr id="10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