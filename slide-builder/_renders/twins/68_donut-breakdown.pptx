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1A1A2E"/>
                </a:solidFill>
                <a:latin typeface="Inter"/>
              </a:rPr>
              <a:t>Where the time goes — 30% to rework alone.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93345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Per-deck baseline across the practice. The rework slice is the kill — Slide Lab targets it directly.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3716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donut-focal-ring"/>
          <p:cNvSpPr/>
          <p:nvPr/>
        </p:nvSpPr>
        <p:spPr>
          <a:xfrm>
            <a:off x="1304925" y="2085975"/>
            <a:ext cx="3543300" cy="35433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donut-track"/>
          <p:cNvSpPr/>
          <p:nvPr/>
        </p:nvSpPr>
        <p:spPr>
          <a:xfrm>
            <a:off x="1362075" y="2143125"/>
            <a:ext cx="3429000" cy="3429000"/>
          </a:xfrm>
          <a:prstGeom prst="ellipse">
            <a:avLst/>
          </a:prstGeom>
          <a:solidFill>
            <a:srgbClr val="F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donut-slice-1"/>
          <p:cNvSpPr/>
          <p:nvPr/>
        </p:nvSpPr>
        <p:spPr>
          <a:xfrm>
            <a:off x="2962275" y="2047875"/>
            <a:ext cx="228600" cy="22860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donut-slice-2"/>
          <p:cNvSpPr/>
          <p:nvPr/>
        </p:nvSpPr>
        <p:spPr>
          <a:xfrm>
            <a:off x="4695825" y="3743325"/>
            <a:ext cx="228600" cy="2286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donut-slice-3"/>
          <p:cNvSpPr/>
          <p:nvPr/>
        </p:nvSpPr>
        <p:spPr>
          <a:xfrm>
            <a:off x="2962275" y="5438775"/>
            <a:ext cx="228600" cy="2286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donut-slice-4"/>
          <p:cNvSpPr/>
          <p:nvPr/>
        </p:nvSpPr>
        <p:spPr>
          <a:xfrm>
            <a:off x="1228725" y="3743325"/>
            <a:ext cx="228600" cy="2286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donut-hole"/>
          <p:cNvSpPr/>
          <p:nvPr/>
        </p:nvSpPr>
        <p:spPr>
          <a:xfrm>
            <a:off x="1885950" y="2667000"/>
            <a:ext cx="2381250" cy="2381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donut-center-label"/>
          <p:cNvSpPr txBox="1"/>
          <p:nvPr/>
        </p:nvSpPr>
        <p:spPr>
          <a:xfrm>
            <a:off x="1362075" y="3381375"/>
            <a:ext cx="3429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PER DECK</a:t>
            </a:r>
          </a:p>
        </p:txBody>
      </p:sp>
      <p:sp>
        <p:nvSpPr>
          <p:cNvPr id="13" name="donut-center-value"/>
          <p:cNvSpPr txBox="1"/>
          <p:nvPr/>
        </p:nvSpPr>
        <p:spPr>
          <a:xfrm>
            <a:off x="1362075" y="3552825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4200" b="1" i="0">
                <a:solidFill>
                  <a:srgbClr val="2D0A4E"/>
                </a:solidFill>
                <a:latin typeface="Inter"/>
              </a:rPr>
              <a:t>60 hr</a:t>
            </a:r>
          </a:p>
        </p:txBody>
      </p:sp>
      <p:sp>
        <p:nvSpPr>
          <p:cNvPr id="14" name="donut-center-sub"/>
          <p:cNvSpPr txBox="1"/>
          <p:nvPr/>
        </p:nvSpPr>
        <p:spPr>
          <a:xfrm>
            <a:off x="1933575" y="4219575"/>
            <a:ext cx="2286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baseline effort, end to end</a:t>
            </a:r>
          </a:p>
        </p:txBody>
      </p:sp>
      <p:sp>
        <p:nvSpPr>
          <p:cNvPr id="15" name="breakdown-col-name-header"/>
          <p:cNvSpPr txBox="1"/>
          <p:nvPr/>
        </p:nvSpPr>
        <p:spPr>
          <a:xfrm>
            <a:off x="6115050" y="2038350"/>
            <a:ext cx="3905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ACTIVITY</a:t>
            </a:r>
          </a:p>
        </p:txBody>
      </p:sp>
      <p:sp>
        <p:nvSpPr>
          <p:cNvPr id="16" name="breakdown-col-num-header"/>
          <p:cNvSpPr txBox="1"/>
          <p:nvPr/>
        </p:nvSpPr>
        <p:spPr>
          <a:xfrm>
            <a:off x="10344150" y="20383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HOURS</a:t>
            </a:r>
          </a:p>
        </p:txBody>
      </p:sp>
      <p:sp>
        <p:nvSpPr>
          <p:cNvPr id="17" name="breakdown-col-pct-header"/>
          <p:cNvSpPr txBox="1"/>
          <p:nvPr/>
        </p:nvSpPr>
        <p:spPr>
          <a:xfrm>
            <a:off x="11010900" y="20383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SHARE</a:t>
            </a:r>
          </a:p>
        </p:txBody>
      </p:sp>
      <p:sp>
        <p:nvSpPr>
          <p:cNvPr id="18" name="breakdown-head-rule"/>
          <p:cNvSpPr/>
          <p:nvPr/>
        </p:nvSpPr>
        <p:spPr>
          <a:xfrm>
            <a:off x="5772150" y="2228850"/>
            <a:ext cx="58102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breakdown-focal-tag"/>
          <p:cNvSpPr txBox="1"/>
          <p:nvPr/>
        </p:nvSpPr>
        <p:spPr>
          <a:xfrm>
            <a:off x="5819775" y="4562475"/>
            <a:ext cx="228600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THE KILL · SLIDE LAB TARGETS THIS</a:t>
            </a:r>
          </a:p>
        </p:txBody>
      </p:sp>
      <p:sp>
        <p:nvSpPr>
          <p:cNvPr id="20" name="breakdown-1-swatch"/>
          <p:cNvSpPr/>
          <p:nvPr/>
        </p:nvSpPr>
        <p:spPr>
          <a:xfrm>
            <a:off x="5819775" y="2676525"/>
            <a:ext cx="13335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breakdown-1-name"/>
          <p:cNvSpPr txBox="1"/>
          <p:nvPr/>
        </p:nvSpPr>
        <p:spPr>
          <a:xfrm>
            <a:off x="6057900" y="2400300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Storyline coaching</a:t>
            </a:r>
          </a:p>
        </p:txBody>
      </p:sp>
      <p:sp>
        <p:nvSpPr>
          <p:cNvPr id="22" name="breakdown-1-name-sub"/>
          <p:cNvSpPr txBox="1"/>
          <p:nvPr/>
        </p:nvSpPr>
        <p:spPr>
          <a:xfrm>
            <a:off x="6057900" y="2590800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framing, governing thought, structure</a:t>
            </a:r>
          </a:p>
        </p:txBody>
      </p:sp>
      <p:sp>
        <p:nvSpPr>
          <p:cNvPr id="23" name="breakdown-1-num"/>
          <p:cNvSpPr txBox="1"/>
          <p:nvPr/>
        </p:nvSpPr>
        <p:spPr>
          <a:xfrm>
            <a:off x="10344150" y="245745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10 hr</a:t>
            </a:r>
          </a:p>
        </p:txBody>
      </p:sp>
      <p:sp>
        <p:nvSpPr>
          <p:cNvPr id="24" name="breakdown-1-pct"/>
          <p:cNvSpPr txBox="1"/>
          <p:nvPr/>
        </p:nvSpPr>
        <p:spPr>
          <a:xfrm>
            <a:off x="11010900" y="2476500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17%</a:t>
            </a:r>
          </a:p>
        </p:txBody>
      </p:sp>
      <p:sp>
        <p:nvSpPr>
          <p:cNvPr id="25" name="breakdown-2-swatch"/>
          <p:cNvSpPr/>
          <p:nvPr/>
        </p:nvSpPr>
        <p:spPr>
          <a:xfrm>
            <a:off x="5819775" y="3486150"/>
            <a:ext cx="133350" cy="1333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reakdown-2-name"/>
          <p:cNvSpPr txBox="1"/>
          <p:nvPr/>
        </p:nvSpPr>
        <p:spPr>
          <a:xfrm>
            <a:off x="6057900" y="3209925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Building slides</a:t>
            </a:r>
          </a:p>
        </p:txBody>
      </p:sp>
      <p:sp>
        <p:nvSpPr>
          <p:cNvPr id="27" name="breakdown-2-name-sub"/>
          <p:cNvSpPr txBox="1"/>
          <p:nvPr/>
        </p:nvSpPr>
        <p:spPr>
          <a:xfrm>
            <a:off x="6057900" y="3400425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layout, charts, visuals, formatting</a:t>
            </a:r>
          </a:p>
        </p:txBody>
      </p:sp>
      <p:sp>
        <p:nvSpPr>
          <p:cNvPr id="28" name="breakdown-2-num"/>
          <p:cNvSpPr txBox="1"/>
          <p:nvPr/>
        </p:nvSpPr>
        <p:spPr>
          <a:xfrm>
            <a:off x="10344150" y="3267075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20 hr</a:t>
            </a:r>
          </a:p>
        </p:txBody>
      </p:sp>
      <p:sp>
        <p:nvSpPr>
          <p:cNvPr id="29" name="breakdown-2-pct"/>
          <p:cNvSpPr txBox="1"/>
          <p:nvPr/>
        </p:nvSpPr>
        <p:spPr>
          <a:xfrm>
            <a:off x="11010900" y="3286125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33%</a:t>
            </a:r>
          </a:p>
        </p:txBody>
      </p:sp>
      <p:sp>
        <p:nvSpPr>
          <p:cNvPr id="30" name="breakdown-3-swatch"/>
          <p:cNvSpPr/>
          <p:nvPr/>
        </p:nvSpPr>
        <p:spPr>
          <a:xfrm>
            <a:off x="5819775" y="4295775"/>
            <a:ext cx="1333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reakdown-3-name"/>
          <p:cNvSpPr txBox="1"/>
          <p:nvPr/>
        </p:nvSpPr>
        <p:spPr>
          <a:xfrm>
            <a:off x="6057900" y="4019550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Reviewing</a:t>
            </a:r>
          </a:p>
        </p:txBody>
      </p:sp>
      <p:sp>
        <p:nvSpPr>
          <p:cNvPr id="32" name="breakdown-3-name-sub"/>
          <p:cNvSpPr txBox="1"/>
          <p:nvPr/>
        </p:nvSpPr>
        <p:spPr>
          <a:xfrm>
            <a:off x="6057900" y="4210050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partner reads, comments, sign-off</a:t>
            </a:r>
          </a:p>
        </p:txBody>
      </p:sp>
      <p:sp>
        <p:nvSpPr>
          <p:cNvPr id="33" name="breakdown-3-num"/>
          <p:cNvSpPr txBox="1"/>
          <p:nvPr/>
        </p:nvSpPr>
        <p:spPr>
          <a:xfrm>
            <a:off x="10344150" y="40767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12 hr</a:t>
            </a:r>
          </a:p>
        </p:txBody>
      </p:sp>
      <p:sp>
        <p:nvSpPr>
          <p:cNvPr id="34" name="breakdown-3-pct"/>
          <p:cNvSpPr txBox="1"/>
          <p:nvPr/>
        </p:nvSpPr>
        <p:spPr>
          <a:xfrm>
            <a:off x="11010900" y="4095750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20%</a:t>
            </a:r>
          </a:p>
        </p:txBody>
      </p:sp>
      <p:sp>
        <p:nvSpPr>
          <p:cNvPr id="35" name="breakdown-4-bg"/>
          <p:cNvSpPr/>
          <p:nvPr/>
        </p:nvSpPr>
        <p:spPr>
          <a:xfrm>
            <a:off x="5772150" y="4772025"/>
            <a:ext cx="5810250" cy="80962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breakdown-4-stripe"/>
          <p:cNvSpPr/>
          <p:nvPr/>
        </p:nvSpPr>
        <p:spPr>
          <a:xfrm>
            <a:off x="5772150" y="4772025"/>
            <a:ext cx="28575" cy="809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breakdown-4-swatch"/>
          <p:cNvSpPr/>
          <p:nvPr/>
        </p:nvSpPr>
        <p:spPr>
          <a:xfrm>
            <a:off x="5895975" y="510540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breakdown-4-name"/>
          <p:cNvSpPr txBox="1"/>
          <p:nvPr/>
        </p:nvSpPr>
        <p:spPr>
          <a:xfrm>
            <a:off x="6134100" y="4829175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Reworking after reviews</a:t>
            </a:r>
          </a:p>
        </p:txBody>
      </p:sp>
      <p:sp>
        <p:nvSpPr>
          <p:cNvPr id="39" name="breakdown-4-name-sub"/>
          <p:cNvSpPr txBox="1"/>
          <p:nvPr/>
        </p:nvSpPr>
        <p:spPr>
          <a:xfrm>
            <a:off x="6134100" y="5019675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redo cycles, late-stage edits, version churn</a:t>
            </a:r>
          </a:p>
        </p:txBody>
      </p:sp>
      <p:sp>
        <p:nvSpPr>
          <p:cNvPr id="40" name="breakdown-4-num"/>
          <p:cNvSpPr txBox="1"/>
          <p:nvPr/>
        </p:nvSpPr>
        <p:spPr>
          <a:xfrm>
            <a:off x="10344150" y="4886325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200" b="1" i="0">
                <a:solidFill>
                  <a:srgbClr val="A100FF"/>
                </a:solidFill>
                <a:latin typeface="Inter"/>
              </a:rPr>
              <a:t>18 hr</a:t>
            </a:r>
          </a:p>
        </p:txBody>
      </p:sp>
      <p:sp>
        <p:nvSpPr>
          <p:cNvPr id="41" name="breakdown-4-pct"/>
          <p:cNvSpPr txBox="1"/>
          <p:nvPr/>
        </p:nvSpPr>
        <p:spPr>
          <a:xfrm>
            <a:off x="11010900" y="4905375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30%</a:t>
            </a:r>
          </a:p>
        </p:txBody>
      </p:sp>
      <p:sp>
        <p:nvSpPr>
          <p:cNvPr id="42" name="convergence"/>
          <p:cNvSpPr txBox="1"/>
          <p:nvPr/>
        </p:nvSpPr>
        <p:spPr>
          <a:xfrm>
            <a:off x="609600" y="6057900"/>
            <a:ext cx="1097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2D0A4E"/>
                </a:solidFill>
                <a:latin typeface="Inter"/>
              </a:rPr>
              <a:t>30% of deck time goes to rework. Slide Lab kills this — structure-first means edits land once.</a:t>
            </a:r>
          </a:p>
        </p:txBody>
      </p:sp>
      <p:sp>
        <p:nvSpPr>
          <p:cNvPr id="4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