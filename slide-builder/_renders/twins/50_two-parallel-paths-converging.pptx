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533400" y="47625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THE COMBINED OUTCOME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3400" y="666750"/>
            <a:ext cx="111252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Two parallel paths — </a:t>
            </a:r>
            <a:r>
              <a:rPr sz="1800" b="1" i="0">
                <a:solidFill>
                  <a:srgbClr val="C780FF"/>
                </a:solidFill>
                <a:latin typeface="Inter"/>
              </a:rPr>
              <a:t>each creates value alone; together they compound</a:t>
            </a:r>
            <a:r>
              <a:rPr sz="1800" b="1" i="0">
                <a:solidFill>
                  <a:srgbClr val="FFFFFF"/>
                </a:solidFill>
                <a:latin typeface="Inter"/>
              </a:rPr>
              <a:t> into something durable.</a:t>
            </a:r>
          </a:p>
        </p:txBody>
      </p:sp>
      <p:sp>
        <p:nvSpPr>
          <p:cNvPr id="4" name="brand-rule"/>
          <p:cNvSpPr/>
          <p:nvPr/>
        </p:nvSpPr>
        <p:spPr>
          <a:xfrm>
            <a:off x="533400" y="13716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ane-a-tag"/>
          <p:cNvSpPr txBox="1"/>
          <p:nvPr/>
        </p:nvSpPr>
        <p:spPr>
          <a:xfrm>
            <a:off x="457200" y="1714500"/>
            <a:ext cx="1181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PATH 1</a:t>
            </a:r>
          </a:p>
        </p:txBody>
      </p:sp>
      <p:sp>
        <p:nvSpPr>
          <p:cNvPr id="6" name="lane-a-label"/>
          <p:cNvSpPr txBox="1"/>
          <p:nvPr/>
        </p:nvSpPr>
        <p:spPr>
          <a:xfrm>
            <a:off x="457200" y="1866900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BEHAVIORAL TRACK</a:t>
            </a:r>
          </a:p>
        </p:txBody>
      </p:sp>
      <p:sp>
        <p:nvSpPr>
          <p:cNvPr id="7" name="lane-b-tag"/>
          <p:cNvSpPr txBox="1"/>
          <p:nvPr/>
        </p:nvSpPr>
        <p:spPr>
          <a:xfrm>
            <a:off x="457200" y="3886200"/>
            <a:ext cx="1181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9DD6"/>
                </a:solidFill>
                <a:latin typeface="Inter"/>
              </a:rPr>
              <a:t>PATH 2</a:t>
            </a:r>
          </a:p>
        </p:txBody>
      </p:sp>
      <p:sp>
        <p:nvSpPr>
          <p:cNvPr id="8" name="lane-b-label"/>
          <p:cNvSpPr txBox="1"/>
          <p:nvPr/>
        </p:nvSpPr>
        <p:spPr>
          <a:xfrm>
            <a:off x="457200" y="4038600"/>
            <a:ext cx="1181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9DD6"/>
                </a:solidFill>
                <a:latin typeface="Inter"/>
              </a:rPr>
              <a:t>KNOWLEDGE TRACK</a:t>
            </a:r>
          </a:p>
        </p:txBody>
      </p:sp>
      <p:sp>
        <p:nvSpPr>
          <p:cNvPr id="9" name="path-a-node-1"/>
          <p:cNvSpPr/>
          <p:nvPr/>
        </p:nvSpPr>
        <p:spPr>
          <a:xfrm>
            <a:off x="1752600" y="1905000"/>
            <a:ext cx="1752600" cy="1028700"/>
          </a:xfrm>
          <a:prstGeom prst="rect">
            <a:avLst/>
          </a:prstGeom>
          <a:solidFill>
            <a:srgbClr val="4C1882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ath-a-node-1-eyebrow"/>
          <p:cNvSpPr txBox="1"/>
          <p:nvPr/>
        </p:nvSpPr>
        <p:spPr>
          <a:xfrm>
            <a:off x="1885950" y="1981200"/>
            <a:ext cx="1485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BEHAVIORAL INPUT</a:t>
            </a:r>
          </a:p>
        </p:txBody>
      </p:sp>
      <p:sp>
        <p:nvSpPr>
          <p:cNvPr id="11" name="path-a-node-1-desc"/>
          <p:cNvSpPr txBox="1"/>
          <p:nvPr/>
        </p:nvSpPr>
        <p:spPr>
          <a:xfrm>
            <a:off x="1885950" y="2209800"/>
            <a:ext cx="14859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How we think, engage, and prioritize across the account</a:t>
            </a:r>
          </a:p>
        </p:txBody>
      </p:sp>
      <p:sp>
        <p:nvSpPr>
          <p:cNvPr id="12" name="path-a-node-2"/>
          <p:cNvSpPr/>
          <p:nvPr/>
        </p:nvSpPr>
        <p:spPr>
          <a:xfrm>
            <a:off x="3943350" y="1905000"/>
            <a:ext cx="1866900" cy="1028700"/>
          </a:xfrm>
          <a:prstGeom prst="rect">
            <a:avLst/>
          </a:prstGeom>
          <a:solidFill>
            <a:srgbClr val="3A1A5E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ath-a-node-2-eyebrow"/>
          <p:cNvSpPr txBox="1"/>
          <p:nvPr/>
        </p:nvSpPr>
        <p:spPr>
          <a:xfrm>
            <a:off x="4076700" y="1981200"/>
            <a:ext cx="1600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CREATES</a:t>
            </a:r>
          </a:p>
        </p:txBody>
      </p:sp>
      <p:sp>
        <p:nvSpPr>
          <p:cNvPr id="14" name="path-a-node-2-title"/>
          <p:cNvSpPr txBox="1"/>
          <p:nvPr/>
        </p:nvSpPr>
        <p:spPr>
          <a:xfrm>
            <a:off x="4076700" y="21336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Trusted relationships</a:t>
            </a:r>
          </a:p>
        </p:txBody>
      </p:sp>
      <p:sp>
        <p:nvSpPr>
          <p:cNvPr id="15" name="path-a-node-2-desc"/>
          <p:cNvSpPr txBox="1"/>
          <p:nvPr/>
        </p:nvSpPr>
        <p:spPr>
          <a:xfrm>
            <a:off x="4076700" y="2343150"/>
            <a:ext cx="16002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Client treats us as advisor, not vendor</a:t>
            </a:r>
          </a:p>
        </p:txBody>
      </p:sp>
      <p:sp>
        <p:nvSpPr>
          <p:cNvPr id="16" name="path-a-node-3"/>
          <p:cNvSpPr/>
          <p:nvPr/>
        </p:nvSpPr>
        <p:spPr>
          <a:xfrm>
            <a:off x="6248400" y="1905000"/>
            <a:ext cx="1752600" cy="1028700"/>
          </a:xfrm>
          <a:prstGeom prst="rect">
            <a:avLst/>
          </a:prstGeom>
          <a:solidFill>
            <a:srgbClr val="6A1AB0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path-a-node-3-eyebrow"/>
          <p:cNvSpPr txBox="1"/>
          <p:nvPr/>
        </p:nvSpPr>
        <p:spPr>
          <a:xfrm>
            <a:off x="6381750" y="1981200"/>
            <a:ext cx="1485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LEADS TO</a:t>
            </a:r>
          </a:p>
        </p:txBody>
      </p:sp>
      <p:sp>
        <p:nvSpPr>
          <p:cNvPr id="18" name="path-a-node-3-outcome"/>
          <p:cNvSpPr txBox="1"/>
          <p:nvPr/>
        </p:nvSpPr>
        <p:spPr>
          <a:xfrm>
            <a:off x="6381750" y="2133600"/>
            <a:ext cx="1485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C780FF"/>
                </a:solidFill>
                <a:latin typeface="Inter"/>
              </a:rPr>
              <a:t>INFLUENCE</a:t>
            </a:r>
          </a:p>
        </p:txBody>
      </p:sp>
      <p:sp>
        <p:nvSpPr>
          <p:cNvPr id="19" name="path-a-node-3-desc"/>
          <p:cNvSpPr txBox="1"/>
          <p:nvPr/>
        </p:nvSpPr>
        <p:spPr>
          <a:xfrm>
            <a:off x="6381750" y="2400300"/>
            <a:ext cx="14859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We shape decisions before they are made</a:t>
            </a:r>
          </a:p>
        </p:txBody>
      </p:sp>
      <p:sp>
        <p:nvSpPr>
          <p:cNvPr id="20" name="path-b-node-1"/>
          <p:cNvSpPr/>
          <p:nvPr/>
        </p:nvSpPr>
        <p:spPr>
          <a:xfrm>
            <a:off x="1752600" y="4076700"/>
            <a:ext cx="1752600" cy="1028700"/>
          </a:xfrm>
          <a:prstGeom prst="rect">
            <a:avLst/>
          </a:prstGeom>
          <a:solidFill>
            <a:srgbClr val="4B2670"/>
          </a:solidFill>
          <a:ln w="19050">
            <a:solidFill>
              <a:srgbClr val="B79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ath-b-node-1-eyebrow"/>
          <p:cNvSpPr txBox="1"/>
          <p:nvPr/>
        </p:nvSpPr>
        <p:spPr>
          <a:xfrm>
            <a:off x="1885950" y="4152900"/>
            <a:ext cx="1485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9DD6"/>
                </a:solidFill>
                <a:latin typeface="Inter"/>
              </a:rPr>
              <a:t>KNOWLEDGE INPUT</a:t>
            </a:r>
          </a:p>
        </p:txBody>
      </p:sp>
      <p:sp>
        <p:nvSpPr>
          <p:cNvPr id="22" name="path-b-node-1-desc"/>
          <p:cNvSpPr txBox="1"/>
          <p:nvPr/>
        </p:nvSpPr>
        <p:spPr>
          <a:xfrm>
            <a:off x="1885950" y="4381500"/>
            <a:ext cx="14859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What we know and deliver about the client's business</a:t>
            </a:r>
          </a:p>
        </p:txBody>
      </p:sp>
      <p:sp>
        <p:nvSpPr>
          <p:cNvPr id="23" name="path-b-node-2"/>
          <p:cNvSpPr/>
          <p:nvPr/>
        </p:nvSpPr>
        <p:spPr>
          <a:xfrm>
            <a:off x="3943350" y="4076700"/>
            <a:ext cx="1866900" cy="1028700"/>
          </a:xfrm>
          <a:prstGeom prst="rect">
            <a:avLst/>
          </a:prstGeom>
          <a:solidFill>
            <a:srgbClr val="3A1A5E"/>
          </a:solidFill>
          <a:ln w="19050">
            <a:solidFill>
              <a:srgbClr val="B79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ath-b-node-2-eyebrow"/>
          <p:cNvSpPr txBox="1"/>
          <p:nvPr/>
        </p:nvSpPr>
        <p:spPr>
          <a:xfrm>
            <a:off x="4076700" y="4152900"/>
            <a:ext cx="1600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9DD6"/>
                </a:solidFill>
                <a:latin typeface="Inter"/>
              </a:rPr>
              <a:t>GENERATES</a:t>
            </a:r>
          </a:p>
        </p:txBody>
      </p:sp>
      <p:sp>
        <p:nvSpPr>
          <p:cNvPr id="25" name="path-b-node-2-title"/>
          <p:cNvSpPr txBox="1"/>
          <p:nvPr/>
        </p:nvSpPr>
        <p:spPr>
          <a:xfrm>
            <a:off x="4076700" y="4305300"/>
            <a:ext cx="16002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Operational insights</a:t>
            </a:r>
          </a:p>
        </p:txBody>
      </p:sp>
      <p:sp>
        <p:nvSpPr>
          <p:cNvPr id="26" name="path-b-node-2-desc"/>
          <p:cNvSpPr txBox="1"/>
          <p:nvPr/>
        </p:nvSpPr>
        <p:spPr>
          <a:xfrm>
            <a:off x="4076700" y="4514850"/>
            <a:ext cx="16002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We surface value gaps the client didn't see coming</a:t>
            </a:r>
          </a:p>
        </p:txBody>
      </p:sp>
      <p:sp>
        <p:nvSpPr>
          <p:cNvPr id="27" name="path-b-node-3"/>
          <p:cNvSpPr/>
          <p:nvPr/>
        </p:nvSpPr>
        <p:spPr>
          <a:xfrm>
            <a:off x="6248400" y="4076700"/>
            <a:ext cx="1752600" cy="1028700"/>
          </a:xfrm>
          <a:prstGeom prst="rect">
            <a:avLst/>
          </a:prstGeom>
          <a:solidFill>
            <a:srgbClr val="572C82"/>
          </a:solidFill>
          <a:ln w="19050">
            <a:solidFill>
              <a:srgbClr val="B79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ath-b-node-3-eyebrow"/>
          <p:cNvSpPr txBox="1"/>
          <p:nvPr/>
        </p:nvSpPr>
        <p:spPr>
          <a:xfrm>
            <a:off x="6381750" y="4152900"/>
            <a:ext cx="14859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9DD6"/>
                </a:solidFill>
                <a:latin typeface="Inter"/>
              </a:rPr>
              <a:t>BUILDS</a:t>
            </a:r>
          </a:p>
        </p:txBody>
      </p:sp>
      <p:sp>
        <p:nvSpPr>
          <p:cNvPr id="29" name="path-b-node-3-outcome"/>
          <p:cNvSpPr txBox="1"/>
          <p:nvPr/>
        </p:nvSpPr>
        <p:spPr>
          <a:xfrm>
            <a:off x="6381750" y="4305300"/>
            <a:ext cx="1485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B79DD6"/>
                </a:solidFill>
                <a:latin typeface="Inter"/>
              </a:rPr>
              <a:t>CREDIBILITY</a:t>
            </a:r>
          </a:p>
        </p:txBody>
      </p:sp>
      <p:sp>
        <p:nvSpPr>
          <p:cNvPr id="30" name="path-b-node-3-desc"/>
          <p:cNvSpPr txBox="1"/>
          <p:nvPr/>
        </p:nvSpPr>
        <p:spPr>
          <a:xfrm>
            <a:off x="6381750" y="4572000"/>
            <a:ext cx="14859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Client listens — grounded in operations, not pitch</a:t>
            </a:r>
          </a:p>
        </p:txBody>
      </p:sp>
      <p:sp>
        <p:nvSpPr>
          <p:cNvPr id="31" name="arrow-a-1-stem"/>
          <p:cNvSpPr/>
          <p:nvPr/>
        </p:nvSpPr>
        <p:spPr>
          <a:xfrm>
            <a:off x="3543300" y="2409825"/>
            <a:ext cx="3619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arrow-a-1-head"/>
          <p:cNvSpPr/>
          <p:nvPr/>
        </p:nvSpPr>
        <p:spPr>
          <a:xfrm>
            <a:off x="3886200" y="2362200"/>
            <a:ext cx="114300" cy="114300"/>
          </a:xfrm>
          <a:prstGeom prst="rt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arrow-a-2-stem"/>
          <p:cNvSpPr/>
          <p:nvPr/>
        </p:nvSpPr>
        <p:spPr>
          <a:xfrm>
            <a:off x="5848350" y="2409825"/>
            <a:ext cx="3619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arrow-a-2-head"/>
          <p:cNvSpPr/>
          <p:nvPr/>
        </p:nvSpPr>
        <p:spPr>
          <a:xfrm>
            <a:off x="6191250" y="2362200"/>
            <a:ext cx="114300" cy="114300"/>
          </a:xfrm>
          <a:prstGeom prst="rt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arrow-a-3-stem"/>
          <p:cNvSpPr/>
          <p:nvPr/>
        </p:nvSpPr>
        <p:spPr>
          <a:xfrm>
            <a:off x="8039100" y="2409825"/>
            <a:ext cx="3619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arrow-a-3-head"/>
          <p:cNvSpPr/>
          <p:nvPr/>
        </p:nvSpPr>
        <p:spPr>
          <a:xfrm>
            <a:off x="8382000" y="2362200"/>
            <a:ext cx="114300" cy="114300"/>
          </a:xfrm>
          <a:prstGeom prst="rt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arrow-b-1-stem"/>
          <p:cNvSpPr/>
          <p:nvPr/>
        </p:nvSpPr>
        <p:spPr>
          <a:xfrm>
            <a:off x="3543300" y="4581525"/>
            <a:ext cx="361950" cy="19050"/>
          </a:xfrm>
          <a:prstGeom prst="rect">
            <a:avLst/>
          </a:prstGeom>
          <a:solidFill>
            <a:srgbClr val="B7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arrow-b-1-head"/>
          <p:cNvSpPr/>
          <p:nvPr/>
        </p:nvSpPr>
        <p:spPr>
          <a:xfrm>
            <a:off x="3886200" y="4533900"/>
            <a:ext cx="114300" cy="114300"/>
          </a:xfrm>
          <a:prstGeom prst="rtTriangle">
            <a:avLst/>
          </a:prstGeom>
          <a:solidFill>
            <a:srgbClr val="B7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arrow-b-2-stem"/>
          <p:cNvSpPr/>
          <p:nvPr/>
        </p:nvSpPr>
        <p:spPr>
          <a:xfrm>
            <a:off x="5848350" y="4581525"/>
            <a:ext cx="361950" cy="19050"/>
          </a:xfrm>
          <a:prstGeom prst="rect">
            <a:avLst/>
          </a:prstGeom>
          <a:solidFill>
            <a:srgbClr val="B7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arrow-b-2-head"/>
          <p:cNvSpPr/>
          <p:nvPr/>
        </p:nvSpPr>
        <p:spPr>
          <a:xfrm>
            <a:off x="6191250" y="4533900"/>
            <a:ext cx="114300" cy="114300"/>
          </a:xfrm>
          <a:prstGeom prst="rtTriangle">
            <a:avLst/>
          </a:prstGeom>
          <a:solidFill>
            <a:srgbClr val="B7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arrow-b-3-stem"/>
          <p:cNvSpPr/>
          <p:nvPr/>
        </p:nvSpPr>
        <p:spPr>
          <a:xfrm>
            <a:off x="8039100" y="4581525"/>
            <a:ext cx="361950" cy="19050"/>
          </a:xfrm>
          <a:prstGeom prst="rect">
            <a:avLst/>
          </a:prstGeom>
          <a:solidFill>
            <a:srgbClr val="B7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arrow-b-3-head"/>
          <p:cNvSpPr/>
          <p:nvPr/>
        </p:nvSpPr>
        <p:spPr>
          <a:xfrm>
            <a:off x="8382000" y="4533900"/>
            <a:ext cx="114300" cy="114300"/>
          </a:xfrm>
          <a:prstGeom prst="rtTriangle">
            <a:avLst/>
          </a:prstGeom>
          <a:solidFill>
            <a:srgbClr val="B79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nv-panel-bg"/>
          <p:cNvSpPr/>
          <p:nvPr/>
        </p:nvSpPr>
        <p:spPr>
          <a:xfrm>
            <a:off x="8534400" y="1752600"/>
            <a:ext cx="3124200" cy="4191000"/>
          </a:xfrm>
          <a:prstGeom prst="rect">
            <a:avLst/>
          </a:prstGeom>
          <a:solidFill>
            <a:srgbClr val="140428"/>
          </a:solidFill>
          <a:ln w="9525">
            <a:solidFill>
              <a:srgbClr val="C0B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onv-eyebrow"/>
          <p:cNvSpPr txBox="1"/>
          <p:nvPr/>
        </p:nvSpPr>
        <p:spPr>
          <a:xfrm>
            <a:off x="8743950" y="1924050"/>
            <a:ext cx="2705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0B6CF"/>
                </a:solidFill>
                <a:latin typeface="Inter"/>
              </a:rPr>
              <a:t>COMBINED EFFECT</a:t>
            </a:r>
          </a:p>
        </p:txBody>
      </p:sp>
      <p:sp>
        <p:nvSpPr>
          <p:cNvPr id="45" name="conv-pill-a"/>
          <p:cNvSpPr/>
          <p:nvPr/>
        </p:nvSpPr>
        <p:spPr>
          <a:xfrm>
            <a:off x="8743950" y="2171700"/>
            <a:ext cx="7429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nv-pill-a-text"/>
          <p:cNvSpPr txBox="1"/>
          <p:nvPr/>
        </p:nvSpPr>
        <p:spPr>
          <a:xfrm>
            <a:off x="8743950" y="217170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INFLUENCE</a:t>
            </a:r>
          </a:p>
        </p:txBody>
      </p:sp>
      <p:sp>
        <p:nvSpPr>
          <p:cNvPr id="47" name="conv-row-a-text"/>
          <p:cNvSpPr txBox="1"/>
          <p:nvPr/>
        </p:nvSpPr>
        <p:spPr>
          <a:xfrm>
            <a:off x="9582150" y="217170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We shape the agenda before the client asks</a:t>
            </a:r>
          </a:p>
        </p:txBody>
      </p:sp>
      <p:sp>
        <p:nvSpPr>
          <p:cNvPr id="48" name="conv-pill-b"/>
          <p:cNvSpPr/>
          <p:nvPr/>
        </p:nvSpPr>
        <p:spPr>
          <a:xfrm>
            <a:off x="8743950" y="2609850"/>
            <a:ext cx="742950" cy="1714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onv-pill-b-text"/>
          <p:cNvSpPr txBox="1"/>
          <p:nvPr/>
        </p:nvSpPr>
        <p:spPr>
          <a:xfrm>
            <a:off x="8743950" y="260985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CREDIBILITY</a:t>
            </a:r>
          </a:p>
        </p:txBody>
      </p:sp>
      <p:sp>
        <p:nvSpPr>
          <p:cNvPr id="50" name="conv-row-b-text"/>
          <p:cNvSpPr txBox="1"/>
          <p:nvPr/>
        </p:nvSpPr>
        <p:spPr>
          <a:xfrm>
            <a:off x="9582150" y="2609850"/>
            <a:ext cx="188595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Client listens because we understand their business</a:t>
            </a:r>
          </a:p>
        </p:txBody>
      </p:sp>
      <p:sp>
        <p:nvSpPr>
          <p:cNvPr id="51" name="conv-divider"/>
          <p:cNvSpPr/>
          <p:nvPr/>
        </p:nvSpPr>
        <p:spPr>
          <a:xfrm>
            <a:off x="8743950" y="3086100"/>
            <a:ext cx="2705100" cy="9525"/>
          </a:xfrm>
          <a:prstGeom prst="rect">
            <a:avLst/>
          </a:prstGeom>
          <a:solidFill>
            <a:srgbClr val="C0B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nv-equals"/>
          <p:cNvSpPr txBox="1"/>
          <p:nvPr/>
        </p:nvSpPr>
        <p:spPr>
          <a:xfrm>
            <a:off x="8743950" y="320040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= New work. Expanded scope. </a:t>
            </a:r>
            <a:r>
              <a:rPr sz="1275" b="1" i="1">
                <a:solidFill>
                  <a:srgbClr val="FFFFFF"/>
                </a:solidFill>
                <a:latin typeface="Inter"/>
              </a:rPr>
              <a:t>Durable success.</a:t>
            </a:r>
          </a:p>
        </p:txBody>
      </p:sp>
      <p:sp>
        <p:nvSpPr>
          <p:cNvPr id="53" name="conv-callout-bg"/>
          <p:cNvSpPr/>
          <p:nvPr/>
        </p:nvSpPr>
        <p:spPr>
          <a:xfrm>
            <a:off x="8743950" y="5086350"/>
            <a:ext cx="2705100" cy="723900"/>
          </a:xfrm>
          <a:prstGeom prst="rect">
            <a:avLst/>
          </a:prstGeom>
          <a:solidFill>
            <a:srgbClr val="4C1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onv-callout-accent"/>
          <p:cNvSpPr/>
          <p:nvPr/>
        </p:nvSpPr>
        <p:spPr>
          <a:xfrm>
            <a:off x="8743950" y="5086350"/>
            <a:ext cx="28575" cy="723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nv-callout-title"/>
          <p:cNvSpPr txBox="1"/>
          <p:nvPr/>
        </p:nvSpPr>
        <p:spPr>
          <a:xfrm>
            <a:off x="8858250" y="5181600"/>
            <a:ext cx="25336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Without one path — value is left on the table.</a:t>
            </a:r>
          </a:p>
        </p:txBody>
      </p:sp>
      <p:sp>
        <p:nvSpPr>
          <p:cNvPr id="56" name="conv-callout-body"/>
          <p:cNvSpPr txBox="1"/>
          <p:nvPr/>
        </p:nvSpPr>
        <p:spPr>
          <a:xfrm>
            <a:off x="8858250" y="5372100"/>
            <a:ext cx="25336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DFD6EC"/>
                </a:solidFill>
                <a:latin typeface="Inter"/>
              </a:rPr>
              <a:t>Operating with only one track today. Adding the second completes the equation and compounds returns.</a:t>
            </a:r>
          </a:p>
        </p:txBody>
      </p:sp>
      <p:sp>
        <p:nvSpPr>
          <p:cNvPr id="5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FFFFFF"/>
                </a:solidFill>
                <a:latin typeface="Inter"/>
              </a:rP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