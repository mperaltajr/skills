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90500"/>
            <a:ext cx="112776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C780FF"/>
                </a:solidFill>
                <a:latin typeface="Inter"/>
              </a:rPr>
              <a:t>Integration testing is the critical path risk</a:t>
            </a:r>
            <a:r>
              <a:rPr sz="1650" b="1" i="0">
                <a:solidFill>
                  <a:srgbClr val="FFFFFF"/>
                </a:solidFill>
                <a:latin typeface="Inter"/>
              </a:rPr>
              <a:t> — Phase 2 go-live slides to Q4 2025 if not resolved by Week 3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1028700"/>
            <a:ext cx="112776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Implementation tracker · 10 milestones across 5 workstreams · target vs. actual/forecast</a:t>
            </a:r>
          </a:p>
        </p:txBody>
      </p:sp>
      <p:sp>
        <p:nvSpPr>
          <p:cNvPr id="4" name="brand-rule"/>
          <p:cNvSpPr/>
          <p:nvPr/>
        </p:nvSpPr>
        <p:spPr>
          <a:xfrm>
            <a:off x="457200" y="1257300"/>
            <a:ext cx="6096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table-head-bg"/>
          <p:cNvSpPr/>
          <p:nvPr/>
        </p:nvSpPr>
        <p:spPr>
          <a:xfrm>
            <a:off x="457200" y="2095500"/>
            <a:ext cx="11277600" cy="2476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table-col-1-header"/>
          <p:cNvSpPr txBox="1"/>
          <p:nvPr/>
        </p:nvSpPr>
        <p:spPr>
          <a:xfrm>
            <a:off x="533400" y="2152650"/>
            <a:ext cx="29527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#</a:t>
            </a:r>
          </a:p>
        </p:txBody>
      </p:sp>
      <p:sp>
        <p:nvSpPr>
          <p:cNvPr id="7" name="table-col-2-header"/>
          <p:cNvSpPr txBox="1"/>
          <p:nvPr/>
        </p:nvSpPr>
        <p:spPr>
          <a:xfrm>
            <a:off x="981075" y="2152650"/>
            <a:ext cx="288607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MILESTONE</a:t>
            </a:r>
          </a:p>
        </p:txBody>
      </p:sp>
      <p:sp>
        <p:nvSpPr>
          <p:cNvPr id="8" name="table-col-3-header"/>
          <p:cNvSpPr txBox="1"/>
          <p:nvPr/>
        </p:nvSpPr>
        <p:spPr>
          <a:xfrm>
            <a:off x="4019550" y="2152650"/>
            <a:ext cx="12001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WORKSTREAM</a:t>
            </a:r>
          </a:p>
        </p:txBody>
      </p:sp>
      <p:sp>
        <p:nvSpPr>
          <p:cNvPr id="9" name="table-col-4-header"/>
          <p:cNvSpPr txBox="1"/>
          <p:nvPr/>
        </p:nvSpPr>
        <p:spPr>
          <a:xfrm>
            <a:off x="5372100" y="2152650"/>
            <a:ext cx="10858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TARGET DATE</a:t>
            </a:r>
          </a:p>
        </p:txBody>
      </p:sp>
      <p:sp>
        <p:nvSpPr>
          <p:cNvPr id="10" name="table-col-5-header"/>
          <p:cNvSpPr txBox="1"/>
          <p:nvPr/>
        </p:nvSpPr>
        <p:spPr>
          <a:xfrm>
            <a:off x="6610350" y="2152650"/>
            <a:ext cx="13049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ACTUAL / FORECAST</a:t>
            </a:r>
          </a:p>
        </p:txBody>
      </p:sp>
      <p:sp>
        <p:nvSpPr>
          <p:cNvPr id="11" name="table-col-6-header"/>
          <p:cNvSpPr txBox="1"/>
          <p:nvPr/>
        </p:nvSpPr>
        <p:spPr>
          <a:xfrm>
            <a:off x="8067675" y="2152650"/>
            <a:ext cx="13049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STATUS</a:t>
            </a:r>
          </a:p>
        </p:txBody>
      </p:sp>
      <p:sp>
        <p:nvSpPr>
          <p:cNvPr id="12" name="table-col-7-header"/>
          <p:cNvSpPr txBox="1"/>
          <p:nvPr/>
        </p:nvSpPr>
        <p:spPr>
          <a:xfrm>
            <a:off x="9525000" y="2152650"/>
            <a:ext cx="21336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% COMPLETE</a:t>
            </a:r>
          </a:p>
        </p:txBody>
      </p:sp>
      <p:sp>
        <p:nvSpPr>
          <p:cNvPr id="13" name="table-row-1-divider"/>
          <p:cNvSpPr/>
          <p:nvPr/>
        </p:nvSpPr>
        <p:spPr>
          <a:xfrm>
            <a:off x="457200" y="2343150"/>
            <a:ext cx="112776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table-row-1-num"/>
          <p:cNvSpPr txBox="1"/>
          <p:nvPr/>
        </p:nvSpPr>
        <p:spPr>
          <a:xfrm>
            <a:off x="457200" y="2419350"/>
            <a:ext cx="4476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01</a:t>
            </a:r>
          </a:p>
        </p:txBody>
      </p:sp>
      <p:sp>
        <p:nvSpPr>
          <p:cNvPr id="15" name="table-row-1-cell-2"/>
          <p:cNvSpPr txBox="1"/>
          <p:nvPr/>
        </p:nvSpPr>
        <p:spPr>
          <a:xfrm>
            <a:off x="981075" y="2419350"/>
            <a:ext cx="28860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Project kickoff</a:t>
            </a:r>
          </a:p>
        </p:txBody>
      </p:sp>
      <p:sp>
        <p:nvSpPr>
          <p:cNvPr id="16" name="table-row-1-ws-dot"/>
          <p:cNvSpPr/>
          <p:nvPr/>
        </p:nvSpPr>
        <p:spPr>
          <a:xfrm>
            <a:off x="4019550" y="2476500"/>
            <a:ext cx="76200" cy="762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table-row-1-cell-3"/>
          <p:cNvSpPr txBox="1"/>
          <p:nvPr/>
        </p:nvSpPr>
        <p:spPr>
          <a:xfrm>
            <a:off x="4152900" y="2419350"/>
            <a:ext cx="10668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All</a:t>
            </a:r>
          </a:p>
        </p:txBody>
      </p:sp>
      <p:sp>
        <p:nvSpPr>
          <p:cNvPr id="18" name="table-row-1-cell-4"/>
          <p:cNvSpPr txBox="1"/>
          <p:nvPr/>
        </p:nvSpPr>
        <p:spPr>
          <a:xfrm>
            <a:off x="5334000" y="2419350"/>
            <a:ext cx="11620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15 Jan 2025</a:t>
            </a:r>
          </a:p>
        </p:txBody>
      </p:sp>
      <p:sp>
        <p:nvSpPr>
          <p:cNvPr id="19" name="table-row-1-cell-5"/>
          <p:cNvSpPr txBox="1"/>
          <p:nvPr/>
        </p:nvSpPr>
        <p:spPr>
          <a:xfrm>
            <a:off x="6572250" y="2419350"/>
            <a:ext cx="13811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15 Jan 2025</a:t>
            </a:r>
          </a:p>
        </p:txBody>
      </p:sp>
      <p:sp>
        <p:nvSpPr>
          <p:cNvPr id="20" name="table-row-1-pill"/>
          <p:cNvSpPr txBox="1"/>
          <p:nvPr/>
        </p:nvSpPr>
        <p:spPr>
          <a:xfrm>
            <a:off x="8048625" y="2419350"/>
            <a:ext cx="1343025" cy="171450"/>
          </a:xfrm>
          <a:prstGeom prst="rect">
            <a:avLst/>
          </a:prstGeom>
          <a:solidFill>
            <a:srgbClr val="144E2A"/>
          </a:solidFill>
          <a:ln>
            <a:noFill/>
          </a:ln>
        </p:spPr>
        <p:txBody>
          <a:bodyPr wrap="square" tIns="19050" rIns="38100" bIns="19050" lIns="1143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86EFAC"/>
                </a:solidFill>
                <a:latin typeface="Inter"/>
              </a:rPr>
              <a:t>COMPLETE</a:t>
            </a:r>
          </a:p>
        </p:txBody>
      </p:sp>
      <p:sp>
        <p:nvSpPr>
          <p:cNvPr id="21" name="table-row-1-rag-dot"/>
          <p:cNvSpPr/>
          <p:nvPr/>
        </p:nvSpPr>
        <p:spPr>
          <a:xfrm>
            <a:off x="8086725" y="2466975"/>
            <a:ext cx="57150" cy="5715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table-row-1-pct-label"/>
          <p:cNvSpPr txBox="1"/>
          <p:nvPr/>
        </p:nvSpPr>
        <p:spPr>
          <a:xfrm>
            <a:off x="11258550" y="2419350"/>
            <a:ext cx="4191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100%</a:t>
            </a:r>
          </a:p>
        </p:txBody>
      </p:sp>
      <p:sp>
        <p:nvSpPr>
          <p:cNvPr id="23" name="table-row-1-bar-bg"/>
          <p:cNvSpPr/>
          <p:nvPr/>
        </p:nvSpPr>
        <p:spPr>
          <a:xfrm>
            <a:off x="9505950" y="2476500"/>
            <a:ext cx="1714500" cy="5715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table-row-1-bar-fill"/>
          <p:cNvSpPr/>
          <p:nvPr/>
        </p:nvSpPr>
        <p:spPr>
          <a:xfrm>
            <a:off x="9505950" y="2476500"/>
            <a:ext cx="1714500" cy="5715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table-row-2-bg"/>
          <p:cNvSpPr/>
          <p:nvPr/>
        </p:nvSpPr>
        <p:spPr>
          <a:xfrm>
            <a:off x="457200" y="2676525"/>
            <a:ext cx="11277600" cy="333375"/>
          </a:xfrm>
          <a:prstGeom prst="rect">
            <a:avLst/>
          </a:prstGeom>
          <a:solidFill>
            <a:srgbClr val="351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table-row-2-flag"/>
          <p:cNvSpPr/>
          <p:nvPr/>
        </p:nvSpPr>
        <p:spPr>
          <a:xfrm>
            <a:off x="457200" y="2676525"/>
            <a:ext cx="28575" cy="333375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table-row-2-divider"/>
          <p:cNvSpPr/>
          <p:nvPr/>
        </p:nvSpPr>
        <p:spPr>
          <a:xfrm>
            <a:off x="457200" y="2676525"/>
            <a:ext cx="112776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table-row-2-num"/>
          <p:cNvSpPr txBox="1"/>
          <p:nvPr/>
        </p:nvSpPr>
        <p:spPr>
          <a:xfrm>
            <a:off x="457200" y="2752725"/>
            <a:ext cx="4476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02</a:t>
            </a:r>
          </a:p>
        </p:txBody>
      </p:sp>
      <p:sp>
        <p:nvSpPr>
          <p:cNvPr id="29" name="table-row-2-cell-2"/>
          <p:cNvSpPr txBox="1"/>
          <p:nvPr/>
        </p:nvSpPr>
        <p:spPr>
          <a:xfrm>
            <a:off x="981075" y="2752725"/>
            <a:ext cx="28860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Architecture design approved</a:t>
            </a:r>
          </a:p>
        </p:txBody>
      </p:sp>
      <p:sp>
        <p:nvSpPr>
          <p:cNvPr id="30" name="table-row-2-ws-dot"/>
          <p:cNvSpPr/>
          <p:nvPr/>
        </p:nvSpPr>
        <p:spPr>
          <a:xfrm>
            <a:off x="4019550" y="2809875"/>
            <a:ext cx="76200" cy="762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table-row-2-cell-3"/>
          <p:cNvSpPr txBox="1"/>
          <p:nvPr/>
        </p:nvSpPr>
        <p:spPr>
          <a:xfrm>
            <a:off x="4152900" y="2752725"/>
            <a:ext cx="10668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Technology</a:t>
            </a:r>
          </a:p>
        </p:txBody>
      </p:sp>
      <p:sp>
        <p:nvSpPr>
          <p:cNvPr id="32" name="table-row-2-cell-4"/>
          <p:cNvSpPr txBox="1"/>
          <p:nvPr/>
        </p:nvSpPr>
        <p:spPr>
          <a:xfrm>
            <a:off x="5334000" y="2752725"/>
            <a:ext cx="11620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28 Feb 2025</a:t>
            </a:r>
          </a:p>
        </p:txBody>
      </p:sp>
      <p:sp>
        <p:nvSpPr>
          <p:cNvPr id="33" name="table-row-2-cell-5"/>
          <p:cNvSpPr txBox="1"/>
          <p:nvPr/>
        </p:nvSpPr>
        <p:spPr>
          <a:xfrm>
            <a:off x="6572250" y="2752725"/>
            <a:ext cx="13811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CD34D"/>
                </a:solidFill>
                <a:latin typeface="Inter"/>
              </a:rPr>
              <a:t>7 Mar 2025</a:t>
            </a:r>
          </a:p>
        </p:txBody>
      </p:sp>
      <p:sp>
        <p:nvSpPr>
          <p:cNvPr id="34" name="table-row-2-pill"/>
          <p:cNvSpPr txBox="1"/>
          <p:nvPr/>
        </p:nvSpPr>
        <p:spPr>
          <a:xfrm>
            <a:off x="8048625" y="2752725"/>
            <a:ext cx="1343025" cy="171450"/>
          </a:xfrm>
          <a:prstGeom prst="rect">
            <a:avLst/>
          </a:prstGeom>
          <a:solidFill>
            <a:srgbClr val="574012"/>
          </a:solidFill>
          <a:ln>
            <a:noFill/>
          </a:ln>
        </p:spPr>
        <p:txBody>
          <a:bodyPr wrap="square" tIns="19050" rIns="38100" bIns="19050" lIns="1143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CD34D"/>
                </a:solidFill>
                <a:latin typeface="Inter"/>
              </a:rPr>
              <a:t>COMPLETE (LATE)</a:t>
            </a:r>
          </a:p>
        </p:txBody>
      </p:sp>
      <p:sp>
        <p:nvSpPr>
          <p:cNvPr id="35" name="table-row-2-rag-dot"/>
          <p:cNvSpPr/>
          <p:nvPr/>
        </p:nvSpPr>
        <p:spPr>
          <a:xfrm>
            <a:off x="8086725" y="2800350"/>
            <a:ext cx="57150" cy="57150"/>
          </a:xfrm>
          <a:prstGeom prst="rect">
            <a:avLst/>
          </a:prstGeom>
          <a:solidFill>
            <a:srgbClr val="FCD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" name="table-row-2-pct-label"/>
          <p:cNvSpPr txBox="1"/>
          <p:nvPr/>
        </p:nvSpPr>
        <p:spPr>
          <a:xfrm>
            <a:off x="11258550" y="2752725"/>
            <a:ext cx="4191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100%</a:t>
            </a:r>
          </a:p>
        </p:txBody>
      </p:sp>
      <p:sp>
        <p:nvSpPr>
          <p:cNvPr id="37" name="table-row-2-bar-bg"/>
          <p:cNvSpPr/>
          <p:nvPr/>
        </p:nvSpPr>
        <p:spPr>
          <a:xfrm>
            <a:off x="9505950" y="2809875"/>
            <a:ext cx="1714500" cy="5715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" name="table-row-2-bar-fill"/>
          <p:cNvSpPr/>
          <p:nvPr/>
        </p:nvSpPr>
        <p:spPr>
          <a:xfrm>
            <a:off x="9505950" y="2809875"/>
            <a:ext cx="1714500" cy="57150"/>
          </a:xfrm>
          <a:prstGeom prst="rect">
            <a:avLst/>
          </a:prstGeom>
          <a:solidFill>
            <a:srgbClr val="FCD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" name="table-row-3-divider"/>
          <p:cNvSpPr/>
          <p:nvPr/>
        </p:nvSpPr>
        <p:spPr>
          <a:xfrm>
            <a:off x="457200" y="3009900"/>
            <a:ext cx="112776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" name="table-row-3-num"/>
          <p:cNvSpPr txBox="1"/>
          <p:nvPr/>
        </p:nvSpPr>
        <p:spPr>
          <a:xfrm>
            <a:off x="457200" y="3086100"/>
            <a:ext cx="4476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03</a:t>
            </a:r>
          </a:p>
        </p:txBody>
      </p:sp>
      <p:sp>
        <p:nvSpPr>
          <p:cNvPr id="41" name="table-row-3-cell-2"/>
          <p:cNvSpPr txBox="1"/>
          <p:nvPr/>
        </p:nvSpPr>
        <p:spPr>
          <a:xfrm>
            <a:off x="981075" y="3086100"/>
            <a:ext cx="28860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Phase 1 pilot launch</a:t>
            </a:r>
          </a:p>
        </p:txBody>
      </p:sp>
      <p:sp>
        <p:nvSpPr>
          <p:cNvPr id="42" name="table-row-3-ws-dot"/>
          <p:cNvSpPr/>
          <p:nvPr/>
        </p:nvSpPr>
        <p:spPr>
          <a:xfrm>
            <a:off x="4019550" y="3143250"/>
            <a:ext cx="7620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" name="table-row-3-cell-3"/>
          <p:cNvSpPr txBox="1"/>
          <p:nvPr/>
        </p:nvSpPr>
        <p:spPr>
          <a:xfrm>
            <a:off x="4152900" y="3086100"/>
            <a:ext cx="10668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Operations</a:t>
            </a:r>
          </a:p>
        </p:txBody>
      </p:sp>
      <p:sp>
        <p:nvSpPr>
          <p:cNvPr id="44" name="table-row-3-cell-4"/>
          <p:cNvSpPr txBox="1"/>
          <p:nvPr/>
        </p:nvSpPr>
        <p:spPr>
          <a:xfrm>
            <a:off x="5334000" y="3086100"/>
            <a:ext cx="11620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1 Apr 2025</a:t>
            </a:r>
          </a:p>
        </p:txBody>
      </p:sp>
      <p:sp>
        <p:nvSpPr>
          <p:cNvPr id="45" name="table-row-3-cell-5"/>
          <p:cNvSpPr txBox="1"/>
          <p:nvPr/>
        </p:nvSpPr>
        <p:spPr>
          <a:xfrm>
            <a:off x="6572250" y="3086100"/>
            <a:ext cx="13811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1 Apr 2025</a:t>
            </a:r>
          </a:p>
        </p:txBody>
      </p:sp>
      <p:sp>
        <p:nvSpPr>
          <p:cNvPr id="46" name="table-row-3-pill"/>
          <p:cNvSpPr txBox="1"/>
          <p:nvPr/>
        </p:nvSpPr>
        <p:spPr>
          <a:xfrm>
            <a:off x="8048625" y="3086100"/>
            <a:ext cx="1343025" cy="171450"/>
          </a:xfrm>
          <a:prstGeom prst="rect">
            <a:avLst/>
          </a:prstGeom>
          <a:solidFill>
            <a:srgbClr val="144E2A"/>
          </a:solidFill>
          <a:ln>
            <a:noFill/>
          </a:ln>
        </p:spPr>
        <p:txBody>
          <a:bodyPr wrap="square" tIns="19050" rIns="38100" bIns="19050" lIns="1143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86EFAC"/>
                </a:solidFill>
                <a:latin typeface="Inter"/>
              </a:rPr>
              <a:t>COMPLETE</a:t>
            </a:r>
          </a:p>
        </p:txBody>
      </p:sp>
      <p:sp>
        <p:nvSpPr>
          <p:cNvPr id="47" name="table-row-3-rag-dot"/>
          <p:cNvSpPr/>
          <p:nvPr/>
        </p:nvSpPr>
        <p:spPr>
          <a:xfrm>
            <a:off x="8086725" y="3133725"/>
            <a:ext cx="57150" cy="5715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" name="table-row-3-pct-label"/>
          <p:cNvSpPr txBox="1"/>
          <p:nvPr/>
        </p:nvSpPr>
        <p:spPr>
          <a:xfrm>
            <a:off x="11258550" y="3086100"/>
            <a:ext cx="4191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100%</a:t>
            </a:r>
          </a:p>
        </p:txBody>
      </p:sp>
      <p:sp>
        <p:nvSpPr>
          <p:cNvPr id="49" name="table-row-3-bar-bg"/>
          <p:cNvSpPr/>
          <p:nvPr/>
        </p:nvSpPr>
        <p:spPr>
          <a:xfrm>
            <a:off x="9505950" y="3143250"/>
            <a:ext cx="1714500" cy="5715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" name="table-row-3-bar-fill"/>
          <p:cNvSpPr/>
          <p:nvPr/>
        </p:nvSpPr>
        <p:spPr>
          <a:xfrm>
            <a:off x="9505950" y="3143250"/>
            <a:ext cx="1714500" cy="5715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1" name="table-row-4-bg"/>
          <p:cNvSpPr/>
          <p:nvPr/>
        </p:nvSpPr>
        <p:spPr>
          <a:xfrm>
            <a:off x="457200" y="3343275"/>
            <a:ext cx="11277600" cy="333375"/>
          </a:xfrm>
          <a:prstGeom prst="rect">
            <a:avLst/>
          </a:prstGeom>
          <a:solidFill>
            <a:srgbClr val="351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" name="table-row-4-flag"/>
          <p:cNvSpPr/>
          <p:nvPr/>
        </p:nvSpPr>
        <p:spPr>
          <a:xfrm>
            <a:off x="457200" y="3343275"/>
            <a:ext cx="28575" cy="333375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3" name="table-row-4-divider"/>
          <p:cNvSpPr/>
          <p:nvPr/>
        </p:nvSpPr>
        <p:spPr>
          <a:xfrm>
            <a:off x="457200" y="3343275"/>
            <a:ext cx="112776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4" name="table-row-4-num"/>
          <p:cNvSpPr txBox="1"/>
          <p:nvPr/>
        </p:nvSpPr>
        <p:spPr>
          <a:xfrm>
            <a:off x="457200" y="3419475"/>
            <a:ext cx="4476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04</a:t>
            </a:r>
          </a:p>
        </p:txBody>
      </p:sp>
      <p:sp>
        <p:nvSpPr>
          <p:cNvPr id="55" name="table-row-4-cell-2"/>
          <p:cNvSpPr txBox="1"/>
          <p:nvPr/>
        </p:nvSpPr>
        <p:spPr>
          <a:xfrm>
            <a:off x="981075" y="3419475"/>
            <a:ext cx="28860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Data migration Wave 1</a:t>
            </a:r>
          </a:p>
        </p:txBody>
      </p:sp>
      <p:sp>
        <p:nvSpPr>
          <p:cNvPr id="56" name="table-row-4-ws-dot"/>
          <p:cNvSpPr/>
          <p:nvPr/>
        </p:nvSpPr>
        <p:spPr>
          <a:xfrm>
            <a:off x="4019550" y="3476625"/>
            <a:ext cx="76200" cy="76200"/>
          </a:xfrm>
          <a:prstGeom prst="rect">
            <a:avLst/>
          </a:prstGeom>
          <a:solidFill>
            <a:srgbClr val="FCD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7" name="table-row-4-cell-3"/>
          <p:cNvSpPr txBox="1"/>
          <p:nvPr/>
        </p:nvSpPr>
        <p:spPr>
          <a:xfrm>
            <a:off x="4152900" y="3419475"/>
            <a:ext cx="10668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Data</a:t>
            </a:r>
          </a:p>
        </p:txBody>
      </p:sp>
      <p:sp>
        <p:nvSpPr>
          <p:cNvPr id="58" name="table-row-4-cell-4"/>
          <p:cNvSpPr txBox="1"/>
          <p:nvPr/>
        </p:nvSpPr>
        <p:spPr>
          <a:xfrm>
            <a:off x="5334000" y="3419475"/>
            <a:ext cx="11620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15 May 2025</a:t>
            </a:r>
          </a:p>
        </p:txBody>
      </p:sp>
      <p:sp>
        <p:nvSpPr>
          <p:cNvPr id="59" name="table-row-4-cell-5"/>
          <p:cNvSpPr txBox="1"/>
          <p:nvPr/>
        </p:nvSpPr>
        <p:spPr>
          <a:xfrm>
            <a:off x="6572250" y="3419475"/>
            <a:ext cx="13811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CD34D"/>
                </a:solidFill>
                <a:latin typeface="Inter"/>
              </a:rPr>
              <a:t>20 May 2025</a:t>
            </a:r>
          </a:p>
        </p:txBody>
      </p:sp>
      <p:sp>
        <p:nvSpPr>
          <p:cNvPr id="60" name="table-row-4-pill"/>
          <p:cNvSpPr txBox="1"/>
          <p:nvPr/>
        </p:nvSpPr>
        <p:spPr>
          <a:xfrm>
            <a:off x="8048625" y="3419475"/>
            <a:ext cx="1343025" cy="171450"/>
          </a:xfrm>
          <a:prstGeom prst="rect">
            <a:avLst/>
          </a:prstGeom>
          <a:solidFill>
            <a:srgbClr val="574012"/>
          </a:solidFill>
          <a:ln>
            <a:noFill/>
          </a:ln>
        </p:spPr>
        <p:txBody>
          <a:bodyPr wrap="square" tIns="19050" rIns="38100" bIns="19050" lIns="1143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CD34D"/>
                </a:solidFill>
                <a:latin typeface="Inter"/>
              </a:rPr>
              <a:t>COMPLETE (LATE)</a:t>
            </a:r>
          </a:p>
        </p:txBody>
      </p:sp>
      <p:sp>
        <p:nvSpPr>
          <p:cNvPr id="61" name="table-row-4-rag-dot"/>
          <p:cNvSpPr/>
          <p:nvPr/>
        </p:nvSpPr>
        <p:spPr>
          <a:xfrm>
            <a:off x="8086725" y="3467100"/>
            <a:ext cx="57150" cy="57150"/>
          </a:xfrm>
          <a:prstGeom prst="rect">
            <a:avLst/>
          </a:prstGeom>
          <a:solidFill>
            <a:srgbClr val="FCD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2" name="table-row-4-pct-label"/>
          <p:cNvSpPr txBox="1"/>
          <p:nvPr/>
        </p:nvSpPr>
        <p:spPr>
          <a:xfrm>
            <a:off x="11258550" y="3419475"/>
            <a:ext cx="4191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100%</a:t>
            </a:r>
          </a:p>
        </p:txBody>
      </p:sp>
      <p:sp>
        <p:nvSpPr>
          <p:cNvPr id="63" name="table-row-4-bar-bg"/>
          <p:cNvSpPr/>
          <p:nvPr/>
        </p:nvSpPr>
        <p:spPr>
          <a:xfrm>
            <a:off x="9505950" y="3476625"/>
            <a:ext cx="1714500" cy="5715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4" name="table-row-4-bar-fill"/>
          <p:cNvSpPr/>
          <p:nvPr/>
        </p:nvSpPr>
        <p:spPr>
          <a:xfrm>
            <a:off x="9505950" y="3476625"/>
            <a:ext cx="1714500" cy="57150"/>
          </a:xfrm>
          <a:prstGeom prst="rect">
            <a:avLst/>
          </a:prstGeom>
          <a:solidFill>
            <a:srgbClr val="FCD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5" name="table-row-5-divider"/>
          <p:cNvSpPr/>
          <p:nvPr/>
        </p:nvSpPr>
        <p:spPr>
          <a:xfrm>
            <a:off x="457200" y="3676650"/>
            <a:ext cx="112776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6" name="table-row-5-num"/>
          <p:cNvSpPr txBox="1"/>
          <p:nvPr/>
        </p:nvSpPr>
        <p:spPr>
          <a:xfrm>
            <a:off x="457200" y="3752850"/>
            <a:ext cx="4476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05</a:t>
            </a:r>
          </a:p>
        </p:txBody>
      </p:sp>
      <p:sp>
        <p:nvSpPr>
          <p:cNvPr id="67" name="table-row-5-cell-2"/>
          <p:cNvSpPr txBox="1"/>
          <p:nvPr/>
        </p:nvSpPr>
        <p:spPr>
          <a:xfrm>
            <a:off x="981075" y="3752850"/>
            <a:ext cx="28860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Training program begins</a:t>
            </a:r>
          </a:p>
        </p:txBody>
      </p:sp>
      <p:sp>
        <p:nvSpPr>
          <p:cNvPr id="68" name="table-row-5-ws-dot"/>
          <p:cNvSpPr/>
          <p:nvPr/>
        </p:nvSpPr>
        <p:spPr>
          <a:xfrm>
            <a:off x="4019550" y="3810000"/>
            <a:ext cx="76200" cy="76200"/>
          </a:xfrm>
          <a:prstGeom prst="rect">
            <a:avLst/>
          </a:prstGeom>
          <a:solidFill>
            <a:srgbClr val="E04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9" name="table-row-5-cell-3"/>
          <p:cNvSpPr txBox="1"/>
          <p:nvPr/>
        </p:nvSpPr>
        <p:spPr>
          <a:xfrm>
            <a:off x="4152900" y="3752850"/>
            <a:ext cx="10668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People</a:t>
            </a:r>
          </a:p>
        </p:txBody>
      </p:sp>
      <p:sp>
        <p:nvSpPr>
          <p:cNvPr id="70" name="table-row-5-cell-4"/>
          <p:cNvSpPr txBox="1"/>
          <p:nvPr/>
        </p:nvSpPr>
        <p:spPr>
          <a:xfrm>
            <a:off x="5334000" y="3752850"/>
            <a:ext cx="11620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1 Jun 2025</a:t>
            </a:r>
          </a:p>
        </p:txBody>
      </p:sp>
      <p:sp>
        <p:nvSpPr>
          <p:cNvPr id="71" name="table-row-5-cell-5"/>
          <p:cNvSpPr txBox="1"/>
          <p:nvPr/>
        </p:nvSpPr>
        <p:spPr>
          <a:xfrm>
            <a:off x="6572250" y="3752850"/>
            <a:ext cx="13811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1 Jun 2025</a:t>
            </a:r>
          </a:p>
        </p:txBody>
      </p:sp>
      <p:sp>
        <p:nvSpPr>
          <p:cNvPr id="72" name="table-row-5-pill"/>
          <p:cNvSpPr txBox="1"/>
          <p:nvPr/>
        </p:nvSpPr>
        <p:spPr>
          <a:xfrm>
            <a:off x="8048625" y="3752850"/>
            <a:ext cx="1343025" cy="171450"/>
          </a:xfrm>
          <a:prstGeom prst="rect">
            <a:avLst/>
          </a:prstGeom>
          <a:solidFill>
            <a:srgbClr val="1E3A5C"/>
          </a:solidFill>
          <a:ln>
            <a:noFill/>
          </a:ln>
        </p:spPr>
        <p:txBody>
          <a:bodyPr wrap="square" tIns="19050" rIns="38100" bIns="19050" lIns="1143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60A5FA"/>
                </a:solidFill>
                <a:latin typeface="Inter"/>
              </a:rPr>
              <a:t>ON TRACK</a:t>
            </a:r>
          </a:p>
        </p:txBody>
      </p:sp>
      <p:sp>
        <p:nvSpPr>
          <p:cNvPr id="73" name="table-row-5-rag-dot"/>
          <p:cNvSpPr/>
          <p:nvPr/>
        </p:nvSpPr>
        <p:spPr>
          <a:xfrm>
            <a:off x="8086725" y="3800475"/>
            <a:ext cx="57150" cy="5715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4" name="table-row-5-pct-label"/>
          <p:cNvSpPr txBox="1"/>
          <p:nvPr/>
        </p:nvSpPr>
        <p:spPr>
          <a:xfrm>
            <a:off x="11258550" y="3752850"/>
            <a:ext cx="4191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65%</a:t>
            </a:r>
          </a:p>
        </p:txBody>
      </p:sp>
      <p:sp>
        <p:nvSpPr>
          <p:cNvPr id="75" name="table-row-5-bar-bg"/>
          <p:cNvSpPr/>
          <p:nvPr/>
        </p:nvSpPr>
        <p:spPr>
          <a:xfrm>
            <a:off x="9505950" y="3810000"/>
            <a:ext cx="1714500" cy="5715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6" name="table-row-5-bar-fill"/>
          <p:cNvSpPr/>
          <p:nvPr/>
        </p:nvSpPr>
        <p:spPr>
          <a:xfrm>
            <a:off x="9505950" y="3810000"/>
            <a:ext cx="1114425" cy="5715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7" name="table-row-6-bg"/>
          <p:cNvSpPr/>
          <p:nvPr/>
        </p:nvSpPr>
        <p:spPr>
          <a:xfrm>
            <a:off x="457200" y="4010025"/>
            <a:ext cx="11277600" cy="333375"/>
          </a:xfrm>
          <a:prstGeom prst="rect">
            <a:avLst/>
          </a:prstGeom>
          <a:solidFill>
            <a:srgbClr val="351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8" name="table-row-6-flag"/>
          <p:cNvSpPr/>
          <p:nvPr/>
        </p:nvSpPr>
        <p:spPr>
          <a:xfrm>
            <a:off x="457200" y="4010025"/>
            <a:ext cx="28575" cy="333375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9" name="table-row-6-divider"/>
          <p:cNvSpPr/>
          <p:nvPr/>
        </p:nvSpPr>
        <p:spPr>
          <a:xfrm>
            <a:off x="457200" y="4010025"/>
            <a:ext cx="112776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0" name="table-row-6-num"/>
          <p:cNvSpPr txBox="1"/>
          <p:nvPr/>
        </p:nvSpPr>
        <p:spPr>
          <a:xfrm>
            <a:off x="457200" y="4086225"/>
            <a:ext cx="4476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06</a:t>
            </a:r>
          </a:p>
        </p:txBody>
      </p:sp>
      <p:sp>
        <p:nvSpPr>
          <p:cNvPr id="81" name="table-row-6-cell-2"/>
          <p:cNvSpPr txBox="1"/>
          <p:nvPr/>
        </p:nvSpPr>
        <p:spPr>
          <a:xfrm>
            <a:off x="981075" y="4086225"/>
            <a:ext cx="28860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Integration testing complete</a:t>
            </a:r>
          </a:p>
        </p:txBody>
      </p:sp>
      <p:sp>
        <p:nvSpPr>
          <p:cNvPr id="82" name="table-row-6-ws-dot"/>
          <p:cNvSpPr/>
          <p:nvPr/>
        </p:nvSpPr>
        <p:spPr>
          <a:xfrm>
            <a:off x="4019550" y="4143375"/>
            <a:ext cx="76200" cy="762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3" name="table-row-6-cell-3"/>
          <p:cNvSpPr txBox="1"/>
          <p:nvPr/>
        </p:nvSpPr>
        <p:spPr>
          <a:xfrm>
            <a:off x="4152900" y="4086225"/>
            <a:ext cx="10668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Technology</a:t>
            </a:r>
          </a:p>
        </p:txBody>
      </p:sp>
      <p:sp>
        <p:nvSpPr>
          <p:cNvPr id="84" name="table-row-6-cell-4"/>
          <p:cNvSpPr txBox="1"/>
          <p:nvPr/>
        </p:nvSpPr>
        <p:spPr>
          <a:xfrm>
            <a:off x="5334000" y="4086225"/>
            <a:ext cx="11620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15 Jul 2025</a:t>
            </a:r>
          </a:p>
        </p:txBody>
      </p:sp>
      <p:sp>
        <p:nvSpPr>
          <p:cNvPr id="85" name="table-row-6-cell-5"/>
          <p:cNvSpPr txBox="1"/>
          <p:nvPr/>
        </p:nvSpPr>
        <p:spPr>
          <a:xfrm>
            <a:off x="6572250" y="4086225"/>
            <a:ext cx="13811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CD34D"/>
                </a:solidFill>
                <a:latin typeface="Inter"/>
              </a:rPr>
              <a:t>1 Aug 2025</a:t>
            </a:r>
          </a:p>
        </p:txBody>
      </p:sp>
      <p:sp>
        <p:nvSpPr>
          <p:cNvPr id="86" name="table-row-6-pill"/>
          <p:cNvSpPr txBox="1"/>
          <p:nvPr/>
        </p:nvSpPr>
        <p:spPr>
          <a:xfrm>
            <a:off x="8048625" y="4086225"/>
            <a:ext cx="1343025" cy="171450"/>
          </a:xfrm>
          <a:prstGeom prst="rect">
            <a:avLst/>
          </a:prstGeom>
          <a:solidFill>
            <a:srgbClr val="574012"/>
          </a:solidFill>
          <a:ln>
            <a:noFill/>
          </a:ln>
        </p:spPr>
        <p:txBody>
          <a:bodyPr wrap="square" tIns="19050" rIns="38100" bIns="19050" lIns="1143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CD34D"/>
                </a:solidFill>
                <a:latin typeface="Inter"/>
              </a:rPr>
              <a:t>AT RISK</a:t>
            </a:r>
          </a:p>
        </p:txBody>
      </p:sp>
      <p:sp>
        <p:nvSpPr>
          <p:cNvPr id="87" name="table-row-6-rag-dot"/>
          <p:cNvSpPr/>
          <p:nvPr/>
        </p:nvSpPr>
        <p:spPr>
          <a:xfrm>
            <a:off x="8086725" y="4133850"/>
            <a:ext cx="57150" cy="57150"/>
          </a:xfrm>
          <a:prstGeom prst="rect">
            <a:avLst/>
          </a:prstGeom>
          <a:solidFill>
            <a:srgbClr val="FCD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8" name="table-row-6-pct-label"/>
          <p:cNvSpPr txBox="1"/>
          <p:nvPr/>
        </p:nvSpPr>
        <p:spPr>
          <a:xfrm>
            <a:off x="11258550" y="4086225"/>
            <a:ext cx="4191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30%</a:t>
            </a:r>
          </a:p>
        </p:txBody>
      </p:sp>
      <p:sp>
        <p:nvSpPr>
          <p:cNvPr id="89" name="table-row-6-bar-bg"/>
          <p:cNvSpPr/>
          <p:nvPr/>
        </p:nvSpPr>
        <p:spPr>
          <a:xfrm>
            <a:off x="9505950" y="4143375"/>
            <a:ext cx="1714500" cy="5715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0" name="table-row-6-bar-fill"/>
          <p:cNvSpPr/>
          <p:nvPr/>
        </p:nvSpPr>
        <p:spPr>
          <a:xfrm>
            <a:off x="9505950" y="4143375"/>
            <a:ext cx="514350" cy="57150"/>
          </a:xfrm>
          <a:prstGeom prst="rect">
            <a:avLst/>
          </a:prstGeom>
          <a:solidFill>
            <a:srgbClr val="FCD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1" name="table-row-7-flag"/>
          <p:cNvSpPr/>
          <p:nvPr/>
        </p:nvSpPr>
        <p:spPr>
          <a:xfrm>
            <a:off x="457200" y="4343400"/>
            <a:ext cx="28575" cy="333375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2" name="table-row-7-divider"/>
          <p:cNvSpPr/>
          <p:nvPr/>
        </p:nvSpPr>
        <p:spPr>
          <a:xfrm>
            <a:off x="457200" y="4343400"/>
            <a:ext cx="112776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3" name="table-row-7-num"/>
          <p:cNvSpPr txBox="1"/>
          <p:nvPr/>
        </p:nvSpPr>
        <p:spPr>
          <a:xfrm>
            <a:off x="457200" y="4419600"/>
            <a:ext cx="4476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07</a:t>
            </a:r>
          </a:p>
        </p:txBody>
      </p:sp>
      <p:sp>
        <p:nvSpPr>
          <p:cNvPr id="94" name="table-row-7-cell-2"/>
          <p:cNvSpPr txBox="1"/>
          <p:nvPr/>
        </p:nvSpPr>
        <p:spPr>
          <a:xfrm>
            <a:off x="981075" y="4419600"/>
            <a:ext cx="28860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Phase 2 UAT</a:t>
            </a:r>
          </a:p>
        </p:txBody>
      </p:sp>
      <p:sp>
        <p:nvSpPr>
          <p:cNvPr id="95" name="table-row-7-ws-dot"/>
          <p:cNvSpPr/>
          <p:nvPr/>
        </p:nvSpPr>
        <p:spPr>
          <a:xfrm>
            <a:off x="4019550" y="4476750"/>
            <a:ext cx="76200" cy="762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6" name="table-row-7-cell-3"/>
          <p:cNvSpPr txBox="1"/>
          <p:nvPr/>
        </p:nvSpPr>
        <p:spPr>
          <a:xfrm>
            <a:off x="4152900" y="4419600"/>
            <a:ext cx="10668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All</a:t>
            </a:r>
          </a:p>
        </p:txBody>
      </p:sp>
      <p:sp>
        <p:nvSpPr>
          <p:cNvPr id="97" name="table-row-7-cell-4"/>
          <p:cNvSpPr txBox="1"/>
          <p:nvPr/>
        </p:nvSpPr>
        <p:spPr>
          <a:xfrm>
            <a:off x="5334000" y="4419600"/>
            <a:ext cx="11620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1 Sep 2025</a:t>
            </a:r>
          </a:p>
        </p:txBody>
      </p:sp>
      <p:sp>
        <p:nvSpPr>
          <p:cNvPr id="98" name="table-row-7-cell-5"/>
          <p:cNvSpPr txBox="1"/>
          <p:nvPr/>
        </p:nvSpPr>
        <p:spPr>
          <a:xfrm>
            <a:off x="6572250" y="4419600"/>
            <a:ext cx="13811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9C88B8"/>
                </a:solidFill>
                <a:latin typeface="Inter"/>
              </a:rPr>
              <a:t>TBD</a:t>
            </a:r>
          </a:p>
        </p:txBody>
      </p:sp>
      <p:sp>
        <p:nvSpPr>
          <p:cNvPr id="99" name="table-row-7-pill"/>
          <p:cNvSpPr txBox="1"/>
          <p:nvPr/>
        </p:nvSpPr>
        <p:spPr>
          <a:xfrm>
            <a:off x="8048625" y="4419600"/>
            <a:ext cx="1343025" cy="171450"/>
          </a:xfrm>
          <a:prstGeom prst="rect">
            <a:avLst/>
          </a:prstGeom>
          <a:solidFill>
            <a:srgbClr val="5C1F1F"/>
          </a:solidFill>
          <a:ln>
            <a:noFill/>
          </a:ln>
        </p:spPr>
        <p:txBody>
          <a:bodyPr wrap="square" tIns="19050" rIns="38100" bIns="19050" lIns="1143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87171"/>
                </a:solidFill>
                <a:latin typeface="Inter"/>
              </a:rPr>
              <a:t>DELAYED</a:t>
            </a:r>
          </a:p>
        </p:txBody>
      </p:sp>
      <p:sp>
        <p:nvSpPr>
          <p:cNvPr id="100" name="table-row-7-rag-dot"/>
          <p:cNvSpPr/>
          <p:nvPr/>
        </p:nvSpPr>
        <p:spPr>
          <a:xfrm>
            <a:off x="8086725" y="4467225"/>
            <a:ext cx="57150" cy="5715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1" name="table-row-7-pct-label"/>
          <p:cNvSpPr txBox="1"/>
          <p:nvPr/>
        </p:nvSpPr>
        <p:spPr>
          <a:xfrm>
            <a:off x="11258550" y="4419600"/>
            <a:ext cx="4191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0%</a:t>
            </a:r>
          </a:p>
        </p:txBody>
      </p:sp>
      <p:sp>
        <p:nvSpPr>
          <p:cNvPr id="102" name="table-row-7-bar-bg"/>
          <p:cNvSpPr/>
          <p:nvPr/>
        </p:nvSpPr>
        <p:spPr>
          <a:xfrm>
            <a:off x="9505950" y="4476750"/>
            <a:ext cx="1714500" cy="5715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3" name="table-row-8-bg"/>
          <p:cNvSpPr/>
          <p:nvPr/>
        </p:nvSpPr>
        <p:spPr>
          <a:xfrm>
            <a:off x="457200" y="4676775"/>
            <a:ext cx="11277600" cy="333375"/>
          </a:xfrm>
          <a:prstGeom prst="rect">
            <a:avLst/>
          </a:prstGeom>
          <a:solidFill>
            <a:srgbClr val="351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4" name="table-row-8-flag"/>
          <p:cNvSpPr/>
          <p:nvPr/>
        </p:nvSpPr>
        <p:spPr>
          <a:xfrm>
            <a:off x="457200" y="4676775"/>
            <a:ext cx="28575" cy="333375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5" name="table-row-8-divider"/>
          <p:cNvSpPr/>
          <p:nvPr/>
        </p:nvSpPr>
        <p:spPr>
          <a:xfrm>
            <a:off x="457200" y="4676775"/>
            <a:ext cx="112776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6" name="table-row-8-num"/>
          <p:cNvSpPr txBox="1"/>
          <p:nvPr/>
        </p:nvSpPr>
        <p:spPr>
          <a:xfrm>
            <a:off x="457200" y="4752975"/>
            <a:ext cx="4476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08</a:t>
            </a:r>
          </a:p>
        </p:txBody>
      </p:sp>
      <p:sp>
        <p:nvSpPr>
          <p:cNvPr id="107" name="table-row-8-cell-2"/>
          <p:cNvSpPr txBox="1"/>
          <p:nvPr/>
        </p:nvSpPr>
        <p:spPr>
          <a:xfrm>
            <a:off x="981075" y="4752975"/>
            <a:ext cx="28860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Phase 2 go-live</a:t>
            </a:r>
          </a:p>
        </p:txBody>
      </p:sp>
      <p:sp>
        <p:nvSpPr>
          <p:cNvPr id="108" name="table-row-8-ws-dot"/>
          <p:cNvSpPr/>
          <p:nvPr/>
        </p:nvSpPr>
        <p:spPr>
          <a:xfrm>
            <a:off x="4019550" y="4810125"/>
            <a:ext cx="76200" cy="762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9" name="table-row-8-cell-3"/>
          <p:cNvSpPr txBox="1"/>
          <p:nvPr/>
        </p:nvSpPr>
        <p:spPr>
          <a:xfrm>
            <a:off x="4152900" y="4752975"/>
            <a:ext cx="10668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All</a:t>
            </a:r>
          </a:p>
        </p:txBody>
      </p:sp>
      <p:sp>
        <p:nvSpPr>
          <p:cNvPr id="110" name="table-row-8-cell-4"/>
          <p:cNvSpPr txBox="1"/>
          <p:nvPr/>
        </p:nvSpPr>
        <p:spPr>
          <a:xfrm>
            <a:off x="5334000" y="4752975"/>
            <a:ext cx="11620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1 Oct 2025</a:t>
            </a:r>
          </a:p>
        </p:txBody>
      </p:sp>
      <p:sp>
        <p:nvSpPr>
          <p:cNvPr id="111" name="table-row-8-cell-5"/>
          <p:cNvSpPr txBox="1"/>
          <p:nvPr/>
        </p:nvSpPr>
        <p:spPr>
          <a:xfrm>
            <a:off x="6572250" y="4752975"/>
            <a:ext cx="13811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9C88B8"/>
                </a:solidFill>
                <a:latin typeface="Inter"/>
              </a:rPr>
              <a:t>TBD</a:t>
            </a:r>
          </a:p>
        </p:txBody>
      </p:sp>
      <p:sp>
        <p:nvSpPr>
          <p:cNvPr id="112" name="table-row-8-pill"/>
          <p:cNvSpPr txBox="1"/>
          <p:nvPr/>
        </p:nvSpPr>
        <p:spPr>
          <a:xfrm>
            <a:off x="8048625" y="4752975"/>
            <a:ext cx="1343025" cy="171450"/>
          </a:xfrm>
          <a:prstGeom prst="rect">
            <a:avLst/>
          </a:prstGeom>
          <a:solidFill>
            <a:srgbClr val="5C1F1F"/>
          </a:solidFill>
          <a:ln>
            <a:noFill/>
          </a:ln>
        </p:spPr>
        <p:txBody>
          <a:bodyPr wrap="square" tIns="19050" rIns="38100" bIns="19050" lIns="1143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87171"/>
                </a:solidFill>
                <a:latin typeface="Inter"/>
              </a:rPr>
              <a:t>DELAYED</a:t>
            </a:r>
          </a:p>
        </p:txBody>
      </p:sp>
      <p:sp>
        <p:nvSpPr>
          <p:cNvPr id="113" name="table-row-8-rag-dot"/>
          <p:cNvSpPr/>
          <p:nvPr/>
        </p:nvSpPr>
        <p:spPr>
          <a:xfrm>
            <a:off x="8086725" y="4800600"/>
            <a:ext cx="57150" cy="5715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4" name="table-row-8-pct-label"/>
          <p:cNvSpPr txBox="1"/>
          <p:nvPr/>
        </p:nvSpPr>
        <p:spPr>
          <a:xfrm>
            <a:off x="11258550" y="4752975"/>
            <a:ext cx="4191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0%</a:t>
            </a:r>
          </a:p>
        </p:txBody>
      </p:sp>
      <p:sp>
        <p:nvSpPr>
          <p:cNvPr id="115" name="table-row-8-bar-bg"/>
          <p:cNvSpPr/>
          <p:nvPr/>
        </p:nvSpPr>
        <p:spPr>
          <a:xfrm>
            <a:off x="9505950" y="4810125"/>
            <a:ext cx="1714500" cy="5715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6" name="table-row-9-divider"/>
          <p:cNvSpPr/>
          <p:nvPr/>
        </p:nvSpPr>
        <p:spPr>
          <a:xfrm>
            <a:off x="457200" y="5010150"/>
            <a:ext cx="112776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7" name="table-row-9-num"/>
          <p:cNvSpPr txBox="1"/>
          <p:nvPr/>
        </p:nvSpPr>
        <p:spPr>
          <a:xfrm>
            <a:off x="457200" y="5086350"/>
            <a:ext cx="4476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09</a:t>
            </a:r>
          </a:p>
        </p:txBody>
      </p:sp>
      <p:sp>
        <p:nvSpPr>
          <p:cNvPr id="118" name="table-row-9-cell-2"/>
          <p:cNvSpPr txBox="1"/>
          <p:nvPr/>
        </p:nvSpPr>
        <p:spPr>
          <a:xfrm>
            <a:off x="981075" y="5086350"/>
            <a:ext cx="28860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Phase 3 planning</a:t>
            </a:r>
          </a:p>
        </p:txBody>
      </p:sp>
      <p:sp>
        <p:nvSpPr>
          <p:cNvPr id="119" name="table-row-9-ws-dot"/>
          <p:cNvSpPr/>
          <p:nvPr/>
        </p:nvSpPr>
        <p:spPr>
          <a:xfrm>
            <a:off x="4019550" y="5143500"/>
            <a:ext cx="76200" cy="76200"/>
          </a:xfrm>
          <a:prstGeom prst="rect">
            <a:avLst/>
          </a:prstGeom>
          <a:solidFill>
            <a:srgbClr val="9C8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0" name="table-row-9-cell-3"/>
          <p:cNvSpPr txBox="1"/>
          <p:nvPr/>
        </p:nvSpPr>
        <p:spPr>
          <a:xfrm>
            <a:off x="4152900" y="5086350"/>
            <a:ext cx="10668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Program</a:t>
            </a:r>
          </a:p>
        </p:txBody>
      </p:sp>
      <p:sp>
        <p:nvSpPr>
          <p:cNvPr id="121" name="table-row-9-cell-4"/>
          <p:cNvSpPr txBox="1"/>
          <p:nvPr/>
        </p:nvSpPr>
        <p:spPr>
          <a:xfrm>
            <a:off x="5334000" y="5086350"/>
            <a:ext cx="11620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1 Nov 2025</a:t>
            </a:r>
          </a:p>
        </p:txBody>
      </p:sp>
      <p:sp>
        <p:nvSpPr>
          <p:cNvPr id="122" name="table-row-9-cell-5"/>
          <p:cNvSpPr txBox="1"/>
          <p:nvPr/>
        </p:nvSpPr>
        <p:spPr>
          <a:xfrm>
            <a:off x="6572250" y="5086350"/>
            <a:ext cx="13811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9C88B8"/>
                </a:solidFill>
                <a:latin typeface="Inter"/>
              </a:rPr>
              <a:t>TBD</a:t>
            </a:r>
          </a:p>
        </p:txBody>
      </p:sp>
      <p:sp>
        <p:nvSpPr>
          <p:cNvPr id="123" name="table-row-9-pill"/>
          <p:cNvSpPr txBox="1"/>
          <p:nvPr/>
        </p:nvSpPr>
        <p:spPr>
          <a:xfrm>
            <a:off x="8048625" y="5086350"/>
            <a:ext cx="1343025" cy="17145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txBody>
          <a:bodyPr wrap="square" tIns="19050" rIns="38100" bIns="19050" lIns="1143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NOT STARTED</a:t>
            </a:r>
          </a:p>
        </p:txBody>
      </p:sp>
      <p:sp>
        <p:nvSpPr>
          <p:cNvPr id="124" name="table-row-9-rag-dot"/>
          <p:cNvSpPr/>
          <p:nvPr/>
        </p:nvSpPr>
        <p:spPr>
          <a:xfrm>
            <a:off x="8086725" y="5133975"/>
            <a:ext cx="57150" cy="57150"/>
          </a:xfrm>
          <a:prstGeom prst="rect">
            <a:avLst/>
          </a:prstGeom>
          <a:solidFill>
            <a:srgbClr val="9C8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5" name="table-row-9-pct-label"/>
          <p:cNvSpPr txBox="1"/>
          <p:nvPr/>
        </p:nvSpPr>
        <p:spPr>
          <a:xfrm>
            <a:off x="11258550" y="5086350"/>
            <a:ext cx="4191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0%</a:t>
            </a:r>
          </a:p>
        </p:txBody>
      </p:sp>
      <p:sp>
        <p:nvSpPr>
          <p:cNvPr id="126" name="table-row-9-bar-bg"/>
          <p:cNvSpPr/>
          <p:nvPr/>
        </p:nvSpPr>
        <p:spPr>
          <a:xfrm>
            <a:off x="9505950" y="5143500"/>
            <a:ext cx="1714500" cy="5715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7" name="table-row-10-bg"/>
          <p:cNvSpPr/>
          <p:nvPr/>
        </p:nvSpPr>
        <p:spPr>
          <a:xfrm>
            <a:off x="457200" y="5343525"/>
            <a:ext cx="11277600" cy="333375"/>
          </a:xfrm>
          <a:prstGeom prst="rect">
            <a:avLst/>
          </a:prstGeom>
          <a:solidFill>
            <a:srgbClr val="351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8" name="table-row-10-divider"/>
          <p:cNvSpPr/>
          <p:nvPr/>
        </p:nvSpPr>
        <p:spPr>
          <a:xfrm>
            <a:off x="457200" y="5343525"/>
            <a:ext cx="112776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9" name="table-row-10-num"/>
          <p:cNvSpPr txBox="1"/>
          <p:nvPr/>
        </p:nvSpPr>
        <p:spPr>
          <a:xfrm>
            <a:off x="457200" y="5419725"/>
            <a:ext cx="4476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10</a:t>
            </a:r>
          </a:p>
        </p:txBody>
      </p:sp>
      <p:sp>
        <p:nvSpPr>
          <p:cNvPr id="130" name="table-row-10-cell-2"/>
          <p:cNvSpPr txBox="1"/>
          <p:nvPr/>
        </p:nvSpPr>
        <p:spPr>
          <a:xfrm>
            <a:off x="981075" y="5419725"/>
            <a:ext cx="28860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Program closure</a:t>
            </a:r>
          </a:p>
        </p:txBody>
      </p:sp>
      <p:sp>
        <p:nvSpPr>
          <p:cNvPr id="131" name="table-row-10-ws-dot"/>
          <p:cNvSpPr/>
          <p:nvPr/>
        </p:nvSpPr>
        <p:spPr>
          <a:xfrm>
            <a:off x="4019550" y="5476875"/>
            <a:ext cx="76200" cy="762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2" name="table-row-10-cell-3"/>
          <p:cNvSpPr txBox="1"/>
          <p:nvPr/>
        </p:nvSpPr>
        <p:spPr>
          <a:xfrm>
            <a:off x="4152900" y="5419725"/>
            <a:ext cx="10668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All</a:t>
            </a:r>
          </a:p>
        </p:txBody>
      </p:sp>
      <p:sp>
        <p:nvSpPr>
          <p:cNvPr id="133" name="table-row-10-cell-4"/>
          <p:cNvSpPr txBox="1"/>
          <p:nvPr/>
        </p:nvSpPr>
        <p:spPr>
          <a:xfrm>
            <a:off x="5334000" y="5419725"/>
            <a:ext cx="11620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31 Mar 2026</a:t>
            </a:r>
          </a:p>
        </p:txBody>
      </p:sp>
      <p:sp>
        <p:nvSpPr>
          <p:cNvPr id="134" name="table-row-10-cell-5"/>
          <p:cNvSpPr txBox="1"/>
          <p:nvPr/>
        </p:nvSpPr>
        <p:spPr>
          <a:xfrm>
            <a:off x="6572250" y="5419725"/>
            <a:ext cx="13811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9C88B8"/>
                </a:solidFill>
                <a:latin typeface="Inter"/>
              </a:rPr>
              <a:t>TBD</a:t>
            </a:r>
          </a:p>
        </p:txBody>
      </p:sp>
      <p:sp>
        <p:nvSpPr>
          <p:cNvPr id="135" name="table-row-10-pill"/>
          <p:cNvSpPr txBox="1"/>
          <p:nvPr/>
        </p:nvSpPr>
        <p:spPr>
          <a:xfrm>
            <a:off x="8048625" y="5419725"/>
            <a:ext cx="1343025" cy="17145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txBody>
          <a:bodyPr wrap="square" tIns="19050" rIns="38100" bIns="19050" lIns="1143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NOT STARTED</a:t>
            </a:r>
          </a:p>
        </p:txBody>
      </p:sp>
      <p:sp>
        <p:nvSpPr>
          <p:cNvPr id="136" name="table-row-10-rag-dot"/>
          <p:cNvSpPr/>
          <p:nvPr/>
        </p:nvSpPr>
        <p:spPr>
          <a:xfrm>
            <a:off x="8086725" y="5467350"/>
            <a:ext cx="57150" cy="57150"/>
          </a:xfrm>
          <a:prstGeom prst="rect">
            <a:avLst/>
          </a:prstGeom>
          <a:solidFill>
            <a:srgbClr val="9C8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7" name="table-row-10-pct-label"/>
          <p:cNvSpPr txBox="1"/>
          <p:nvPr/>
        </p:nvSpPr>
        <p:spPr>
          <a:xfrm>
            <a:off x="11258550" y="5419725"/>
            <a:ext cx="4191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0%</a:t>
            </a:r>
          </a:p>
        </p:txBody>
      </p:sp>
      <p:sp>
        <p:nvSpPr>
          <p:cNvPr id="138" name="table-row-10-bar-bg"/>
          <p:cNvSpPr/>
          <p:nvPr/>
        </p:nvSpPr>
        <p:spPr>
          <a:xfrm>
            <a:off x="9505950" y="5476875"/>
            <a:ext cx="1714500" cy="5715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9" name="convergence-bg"/>
          <p:cNvSpPr/>
          <p:nvPr/>
        </p:nvSpPr>
        <p:spPr>
          <a:xfrm>
            <a:off x="457200" y="5810250"/>
            <a:ext cx="11277600" cy="381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0" name="convergence-mark"/>
          <p:cNvSpPr txBox="1"/>
          <p:nvPr/>
        </p:nvSpPr>
        <p:spPr>
          <a:xfrm>
            <a:off x="571500" y="5924550"/>
            <a:ext cx="10477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CRITICAL PATH</a:t>
            </a:r>
          </a:p>
        </p:txBody>
      </p:sp>
      <p:sp>
        <p:nvSpPr>
          <p:cNvPr id="141" name="convergence"/>
          <p:cNvSpPr txBox="1"/>
          <p:nvPr/>
        </p:nvSpPr>
        <p:spPr>
          <a:xfrm>
            <a:off x="1752600" y="5810250"/>
            <a:ext cx="998220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Integration testing is the critical path risk — Phase 2 go-live slides to Q4 2025 if not resolved by Week 3.</a:t>
            </a:r>
          </a:p>
        </p:txBody>
      </p:sp>
      <p:sp>
        <p:nvSpPr>
          <p:cNvPr id="142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143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154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