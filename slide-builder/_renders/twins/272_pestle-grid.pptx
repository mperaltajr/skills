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PESTLE analysis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macro forces shaping the strategic landscape.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environmental dimensions assessed for impact on current and future operating context.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ell-1"/>
          <p:cNvSpPr/>
          <p:nvPr/>
        </p:nvSpPr>
        <p:spPr>
          <a:xfrm>
            <a:off x="457200" y="2190750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ell-1-band"/>
          <p:cNvSpPr/>
          <p:nvPr/>
        </p:nvSpPr>
        <p:spPr>
          <a:xfrm>
            <a:off x="457200" y="2190750"/>
            <a:ext cx="3676650" cy="342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ell-1-letter"/>
          <p:cNvSpPr txBox="1"/>
          <p:nvPr/>
        </p:nvSpPr>
        <p:spPr>
          <a:xfrm>
            <a:off x="552450" y="22288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P</a:t>
            </a:r>
          </a:p>
        </p:txBody>
      </p:sp>
      <p:sp>
        <p:nvSpPr>
          <p:cNvPr id="8" name="cell-1-name"/>
          <p:cNvSpPr txBox="1"/>
          <p:nvPr/>
        </p:nvSpPr>
        <p:spPr>
          <a:xfrm>
            <a:off x="971550" y="2190750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Political</a:t>
            </a:r>
          </a:p>
        </p:txBody>
      </p:sp>
      <p:sp>
        <p:nvSpPr>
          <p:cNvPr id="9" name="cell-1-impact-bg"/>
          <p:cNvSpPr/>
          <p:nvPr/>
        </p:nvSpPr>
        <p:spPr>
          <a:xfrm>
            <a:off x="3352800" y="2266950"/>
            <a:ext cx="685800" cy="1905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ell-1-impact"/>
          <p:cNvSpPr txBox="1"/>
          <p:nvPr/>
        </p:nvSpPr>
        <p:spPr>
          <a:xfrm>
            <a:off x="3352800" y="22669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HIGH</a:t>
            </a:r>
          </a:p>
        </p:txBody>
      </p:sp>
      <p:sp>
        <p:nvSpPr>
          <p:cNvPr id="11" name="cell-1-b1-marker"/>
          <p:cNvSpPr/>
          <p:nvPr/>
        </p:nvSpPr>
        <p:spPr>
          <a:xfrm>
            <a:off x="571500" y="27146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ell-1-b1"/>
          <p:cNvSpPr txBox="1"/>
          <p:nvPr/>
        </p:nvSpPr>
        <p:spPr>
          <a:xfrm>
            <a:off x="685800" y="26479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Regulatory reform under new administration</a:t>
            </a:r>
          </a:p>
        </p:txBody>
      </p:sp>
      <p:sp>
        <p:nvSpPr>
          <p:cNvPr id="13" name="cell-1-b2-marker"/>
          <p:cNvSpPr/>
          <p:nvPr/>
        </p:nvSpPr>
        <p:spPr>
          <a:xfrm>
            <a:off x="571500" y="31432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ell-1-b2"/>
          <p:cNvSpPr txBox="1"/>
          <p:nvPr/>
        </p:nvSpPr>
        <p:spPr>
          <a:xfrm>
            <a:off x="685800" y="30765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Trade policy uncertainty</a:t>
            </a:r>
          </a:p>
        </p:txBody>
      </p:sp>
      <p:sp>
        <p:nvSpPr>
          <p:cNvPr id="15" name="cell-1-b3-marker"/>
          <p:cNvSpPr/>
          <p:nvPr/>
        </p:nvSpPr>
        <p:spPr>
          <a:xfrm>
            <a:off x="571500" y="35718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ell-1-b3"/>
          <p:cNvSpPr txBox="1"/>
          <p:nvPr/>
        </p:nvSpPr>
        <p:spPr>
          <a:xfrm>
            <a:off x="685800" y="350520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Government digitization agenda</a:t>
            </a:r>
          </a:p>
        </p:txBody>
      </p:sp>
      <p:sp>
        <p:nvSpPr>
          <p:cNvPr id="17" name="cell-2"/>
          <p:cNvSpPr/>
          <p:nvPr/>
        </p:nvSpPr>
        <p:spPr>
          <a:xfrm>
            <a:off x="4248150" y="2190750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ell-2-band"/>
          <p:cNvSpPr/>
          <p:nvPr/>
        </p:nvSpPr>
        <p:spPr>
          <a:xfrm>
            <a:off x="4248150" y="2190750"/>
            <a:ext cx="367665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ell-2-letter"/>
          <p:cNvSpPr txBox="1"/>
          <p:nvPr/>
        </p:nvSpPr>
        <p:spPr>
          <a:xfrm>
            <a:off x="4343400" y="22288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E</a:t>
            </a:r>
          </a:p>
        </p:txBody>
      </p:sp>
      <p:sp>
        <p:nvSpPr>
          <p:cNvPr id="20" name="cell-2-name"/>
          <p:cNvSpPr txBox="1"/>
          <p:nvPr/>
        </p:nvSpPr>
        <p:spPr>
          <a:xfrm>
            <a:off x="4762500" y="2190750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Economic</a:t>
            </a:r>
          </a:p>
        </p:txBody>
      </p:sp>
      <p:sp>
        <p:nvSpPr>
          <p:cNvPr id="21" name="cell-2-impact-bg"/>
          <p:cNvSpPr/>
          <p:nvPr/>
        </p:nvSpPr>
        <p:spPr>
          <a:xfrm>
            <a:off x="7143750" y="2266950"/>
            <a:ext cx="685800" cy="1905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ell-2-impact"/>
          <p:cNvSpPr txBox="1"/>
          <p:nvPr/>
        </p:nvSpPr>
        <p:spPr>
          <a:xfrm>
            <a:off x="7143750" y="22669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HIGH</a:t>
            </a:r>
          </a:p>
        </p:txBody>
      </p:sp>
      <p:sp>
        <p:nvSpPr>
          <p:cNvPr id="23" name="cell-2-b1-marker"/>
          <p:cNvSpPr/>
          <p:nvPr/>
        </p:nvSpPr>
        <p:spPr>
          <a:xfrm>
            <a:off x="4362450" y="27146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ell-2-b1"/>
          <p:cNvSpPr txBox="1"/>
          <p:nvPr/>
        </p:nvSpPr>
        <p:spPr>
          <a:xfrm>
            <a:off x="4476750" y="26479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Inflationary pressure on costs</a:t>
            </a:r>
          </a:p>
        </p:txBody>
      </p:sp>
      <p:sp>
        <p:nvSpPr>
          <p:cNvPr id="25" name="cell-2-b2-marker"/>
          <p:cNvSpPr/>
          <p:nvPr/>
        </p:nvSpPr>
        <p:spPr>
          <a:xfrm>
            <a:off x="4362450" y="31432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ell-2-b2"/>
          <p:cNvSpPr txBox="1"/>
          <p:nvPr/>
        </p:nvSpPr>
        <p:spPr>
          <a:xfrm>
            <a:off x="4476750" y="30765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Interest rate normalisation</a:t>
            </a:r>
          </a:p>
        </p:txBody>
      </p:sp>
      <p:sp>
        <p:nvSpPr>
          <p:cNvPr id="27" name="cell-2-b3-marker"/>
          <p:cNvSpPr/>
          <p:nvPr/>
        </p:nvSpPr>
        <p:spPr>
          <a:xfrm>
            <a:off x="4362450" y="35718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ell-2-b3"/>
          <p:cNvSpPr txBox="1"/>
          <p:nvPr/>
        </p:nvSpPr>
        <p:spPr>
          <a:xfrm>
            <a:off x="4476750" y="350520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FX volatility in key markets</a:t>
            </a:r>
          </a:p>
        </p:txBody>
      </p:sp>
      <p:sp>
        <p:nvSpPr>
          <p:cNvPr id="29" name="cell-3"/>
          <p:cNvSpPr/>
          <p:nvPr/>
        </p:nvSpPr>
        <p:spPr>
          <a:xfrm>
            <a:off x="8039100" y="2190750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ell-3-band"/>
          <p:cNvSpPr/>
          <p:nvPr/>
        </p:nvSpPr>
        <p:spPr>
          <a:xfrm>
            <a:off x="8039100" y="2190750"/>
            <a:ext cx="3676650" cy="3429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ell-3-letter"/>
          <p:cNvSpPr txBox="1"/>
          <p:nvPr/>
        </p:nvSpPr>
        <p:spPr>
          <a:xfrm>
            <a:off x="8134350" y="22288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32" name="cell-3-name"/>
          <p:cNvSpPr txBox="1"/>
          <p:nvPr/>
        </p:nvSpPr>
        <p:spPr>
          <a:xfrm>
            <a:off x="8553450" y="2190750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Social</a:t>
            </a:r>
          </a:p>
        </p:txBody>
      </p:sp>
      <p:sp>
        <p:nvSpPr>
          <p:cNvPr id="33" name="cell-3-impact-bg"/>
          <p:cNvSpPr/>
          <p:nvPr/>
        </p:nvSpPr>
        <p:spPr>
          <a:xfrm>
            <a:off x="10934700" y="2266950"/>
            <a:ext cx="685800" cy="190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ell-3-impact"/>
          <p:cNvSpPr txBox="1"/>
          <p:nvPr/>
        </p:nvSpPr>
        <p:spPr>
          <a:xfrm>
            <a:off x="10934700" y="22669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MEDIUM</a:t>
            </a:r>
          </a:p>
        </p:txBody>
      </p:sp>
      <p:sp>
        <p:nvSpPr>
          <p:cNvPr id="35" name="cell-3-b1-marker"/>
          <p:cNvSpPr/>
          <p:nvPr/>
        </p:nvSpPr>
        <p:spPr>
          <a:xfrm>
            <a:off x="8153400" y="27146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ell-3-b1"/>
          <p:cNvSpPr txBox="1"/>
          <p:nvPr/>
        </p:nvSpPr>
        <p:spPr>
          <a:xfrm>
            <a:off x="8267700" y="26479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Workforce skill gap in digital roles</a:t>
            </a:r>
          </a:p>
        </p:txBody>
      </p:sp>
      <p:sp>
        <p:nvSpPr>
          <p:cNvPr id="37" name="cell-3-b2-marker"/>
          <p:cNvSpPr/>
          <p:nvPr/>
        </p:nvSpPr>
        <p:spPr>
          <a:xfrm>
            <a:off x="8153400" y="31432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ell-3-b2"/>
          <p:cNvSpPr txBox="1"/>
          <p:nvPr/>
        </p:nvSpPr>
        <p:spPr>
          <a:xfrm>
            <a:off x="8267700" y="30765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ESG expectations from stakeholders</a:t>
            </a:r>
          </a:p>
        </p:txBody>
      </p:sp>
      <p:sp>
        <p:nvSpPr>
          <p:cNvPr id="39" name="cell-3-b3-marker"/>
          <p:cNvSpPr/>
          <p:nvPr/>
        </p:nvSpPr>
        <p:spPr>
          <a:xfrm>
            <a:off x="8153400" y="35718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ell-3-b3"/>
          <p:cNvSpPr txBox="1"/>
          <p:nvPr/>
        </p:nvSpPr>
        <p:spPr>
          <a:xfrm>
            <a:off x="8267700" y="350520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Remote work normalisation</a:t>
            </a:r>
          </a:p>
        </p:txBody>
      </p:sp>
      <p:sp>
        <p:nvSpPr>
          <p:cNvPr id="41" name="cell-4"/>
          <p:cNvSpPr/>
          <p:nvPr/>
        </p:nvSpPr>
        <p:spPr>
          <a:xfrm>
            <a:off x="457200" y="4162425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ell-4-band"/>
          <p:cNvSpPr/>
          <p:nvPr/>
        </p:nvSpPr>
        <p:spPr>
          <a:xfrm>
            <a:off x="457200" y="4162425"/>
            <a:ext cx="367665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ell-4-letter"/>
          <p:cNvSpPr txBox="1"/>
          <p:nvPr/>
        </p:nvSpPr>
        <p:spPr>
          <a:xfrm>
            <a:off x="552450" y="4200525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T</a:t>
            </a:r>
          </a:p>
        </p:txBody>
      </p:sp>
      <p:sp>
        <p:nvSpPr>
          <p:cNvPr id="44" name="cell-4-name"/>
          <p:cNvSpPr txBox="1"/>
          <p:nvPr/>
        </p:nvSpPr>
        <p:spPr>
          <a:xfrm>
            <a:off x="971550" y="4162425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Technological</a:t>
            </a:r>
          </a:p>
        </p:txBody>
      </p:sp>
      <p:sp>
        <p:nvSpPr>
          <p:cNvPr id="45" name="cell-4-impact-bg"/>
          <p:cNvSpPr/>
          <p:nvPr/>
        </p:nvSpPr>
        <p:spPr>
          <a:xfrm>
            <a:off x="3352800" y="4238625"/>
            <a:ext cx="685800" cy="1905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ell-4-impact"/>
          <p:cNvSpPr txBox="1"/>
          <p:nvPr/>
        </p:nvSpPr>
        <p:spPr>
          <a:xfrm>
            <a:off x="3352800" y="4238625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HIGH</a:t>
            </a:r>
          </a:p>
        </p:txBody>
      </p:sp>
      <p:sp>
        <p:nvSpPr>
          <p:cNvPr id="47" name="cell-4-b1-marker"/>
          <p:cNvSpPr/>
          <p:nvPr/>
        </p:nvSpPr>
        <p:spPr>
          <a:xfrm>
            <a:off x="571500" y="46863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ell-4-b1"/>
          <p:cNvSpPr txBox="1"/>
          <p:nvPr/>
        </p:nvSpPr>
        <p:spPr>
          <a:xfrm>
            <a:off x="685800" y="461962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GenAI adoption accelerating</a:t>
            </a:r>
          </a:p>
        </p:txBody>
      </p:sp>
      <p:sp>
        <p:nvSpPr>
          <p:cNvPr id="49" name="cell-4-b2-marker"/>
          <p:cNvSpPr/>
          <p:nvPr/>
        </p:nvSpPr>
        <p:spPr>
          <a:xfrm>
            <a:off x="571500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ell-4-b2"/>
          <p:cNvSpPr txBox="1"/>
          <p:nvPr/>
        </p:nvSpPr>
        <p:spPr>
          <a:xfrm>
            <a:off x="685800" y="50482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Cybersecurity threat landscape</a:t>
            </a:r>
          </a:p>
        </p:txBody>
      </p:sp>
      <p:sp>
        <p:nvSpPr>
          <p:cNvPr id="51" name="cell-4-b3-marker"/>
          <p:cNvSpPr/>
          <p:nvPr/>
        </p:nvSpPr>
        <p:spPr>
          <a:xfrm>
            <a:off x="571500" y="5543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ell-4-b3"/>
          <p:cNvSpPr txBox="1"/>
          <p:nvPr/>
        </p:nvSpPr>
        <p:spPr>
          <a:xfrm>
            <a:off x="685800" y="54768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Cloud-first procurement mandates</a:t>
            </a:r>
          </a:p>
        </p:txBody>
      </p:sp>
      <p:sp>
        <p:nvSpPr>
          <p:cNvPr id="53" name="cell-5"/>
          <p:cNvSpPr/>
          <p:nvPr/>
        </p:nvSpPr>
        <p:spPr>
          <a:xfrm>
            <a:off x="4248150" y="4162425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ell-5-band"/>
          <p:cNvSpPr/>
          <p:nvPr/>
        </p:nvSpPr>
        <p:spPr>
          <a:xfrm>
            <a:off x="4248150" y="4162425"/>
            <a:ext cx="3676650" cy="3429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ell-5-letter"/>
          <p:cNvSpPr txBox="1"/>
          <p:nvPr/>
        </p:nvSpPr>
        <p:spPr>
          <a:xfrm>
            <a:off x="4343400" y="4200525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56" name="cell-5-name"/>
          <p:cNvSpPr txBox="1"/>
          <p:nvPr/>
        </p:nvSpPr>
        <p:spPr>
          <a:xfrm>
            <a:off x="4762500" y="4162425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Legal</a:t>
            </a:r>
          </a:p>
        </p:txBody>
      </p:sp>
      <p:sp>
        <p:nvSpPr>
          <p:cNvPr id="57" name="cell-5-impact-bg"/>
          <p:cNvSpPr/>
          <p:nvPr/>
        </p:nvSpPr>
        <p:spPr>
          <a:xfrm>
            <a:off x="7143750" y="4238625"/>
            <a:ext cx="685800" cy="190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ell-5-impact"/>
          <p:cNvSpPr txBox="1"/>
          <p:nvPr/>
        </p:nvSpPr>
        <p:spPr>
          <a:xfrm>
            <a:off x="7143750" y="4238625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MEDIUM</a:t>
            </a:r>
          </a:p>
        </p:txBody>
      </p:sp>
      <p:sp>
        <p:nvSpPr>
          <p:cNvPr id="59" name="cell-5-b1-marker"/>
          <p:cNvSpPr/>
          <p:nvPr/>
        </p:nvSpPr>
        <p:spPr>
          <a:xfrm>
            <a:off x="4362450" y="46863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ell-5-b1"/>
          <p:cNvSpPr txBox="1"/>
          <p:nvPr/>
        </p:nvSpPr>
        <p:spPr>
          <a:xfrm>
            <a:off x="4476750" y="461962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privacy regulation (GDPR v2)</a:t>
            </a:r>
          </a:p>
        </p:txBody>
      </p:sp>
      <p:sp>
        <p:nvSpPr>
          <p:cNvPr id="61" name="cell-5-b2-marker"/>
          <p:cNvSpPr/>
          <p:nvPr/>
        </p:nvSpPr>
        <p:spPr>
          <a:xfrm>
            <a:off x="4362450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ell-5-b2"/>
          <p:cNvSpPr txBox="1"/>
          <p:nvPr/>
        </p:nvSpPr>
        <p:spPr>
          <a:xfrm>
            <a:off x="4476750" y="50482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AI liability frameworks</a:t>
            </a:r>
          </a:p>
        </p:txBody>
      </p:sp>
      <p:sp>
        <p:nvSpPr>
          <p:cNvPr id="63" name="cell-5-b3-marker"/>
          <p:cNvSpPr/>
          <p:nvPr/>
        </p:nvSpPr>
        <p:spPr>
          <a:xfrm>
            <a:off x="4362450" y="5543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ell-5-b3"/>
          <p:cNvSpPr txBox="1"/>
          <p:nvPr/>
        </p:nvSpPr>
        <p:spPr>
          <a:xfrm>
            <a:off x="4476750" y="54768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Employment law changes</a:t>
            </a:r>
          </a:p>
        </p:txBody>
      </p:sp>
      <p:sp>
        <p:nvSpPr>
          <p:cNvPr id="65" name="cell-6"/>
          <p:cNvSpPr/>
          <p:nvPr/>
        </p:nvSpPr>
        <p:spPr>
          <a:xfrm>
            <a:off x="8039100" y="4162425"/>
            <a:ext cx="367665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ell-6-band"/>
          <p:cNvSpPr/>
          <p:nvPr/>
        </p:nvSpPr>
        <p:spPr>
          <a:xfrm>
            <a:off x="8039100" y="4162425"/>
            <a:ext cx="3676650" cy="342900"/>
          </a:xfrm>
          <a:prstGeom prst="rect">
            <a:avLst/>
          </a:prstGeom>
          <a:solidFill>
            <a:srgbClr val="86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ell-6-letter"/>
          <p:cNvSpPr txBox="1"/>
          <p:nvPr/>
        </p:nvSpPr>
        <p:spPr>
          <a:xfrm>
            <a:off x="8134350" y="4200525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E²</a:t>
            </a:r>
          </a:p>
        </p:txBody>
      </p:sp>
      <p:sp>
        <p:nvSpPr>
          <p:cNvPr id="68" name="cell-6-name"/>
          <p:cNvSpPr txBox="1"/>
          <p:nvPr/>
        </p:nvSpPr>
        <p:spPr>
          <a:xfrm>
            <a:off x="8553450" y="4162425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Environmental</a:t>
            </a:r>
          </a:p>
        </p:txBody>
      </p:sp>
      <p:sp>
        <p:nvSpPr>
          <p:cNvPr id="69" name="cell-6-impact-bg"/>
          <p:cNvSpPr/>
          <p:nvPr/>
        </p:nvSpPr>
        <p:spPr>
          <a:xfrm>
            <a:off x="10934700" y="4238625"/>
            <a:ext cx="6858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ell-6-impact"/>
          <p:cNvSpPr txBox="1"/>
          <p:nvPr/>
        </p:nvSpPr>
        <p:spPr>
          <a:xfrm>
            <a:off x="10934700" y="4238625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LOW</a:t>
            </a:r>
          </a:p>
        </p:txBody>
      </p:sp>
      <p:sp>
        <p:nvSpPr>
          <p:cNvPr id="71" name="cell-6-b1-marker"/>
          <p:cNvSpPr/>
          <p:nvPr/>
        </p:nvSpPr>
        <p:spPr>
          <a:xfrm>
            <a:off x="8153400" y="46863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ell-6-b1"/>
          <p:cNvSpPr txBox="1"/>
          <p:nvPr/>
        </p:nvSpPr>
        <p:spPr>
          <a:xfrm>
            <a:off x="8267700" y="461962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Net zero commitments</a:t>
            </a:r>
          </a:p>
        </p:txBody>
      </p:sp>
      <p:sp>
        <p:nvSpPr>
          <p:cNvPr id="73" name="cell-6-b2-marker"/>
          <p:cNvSpPr/>
          <p:nvPr/>
        </p:nvSpPr>
        <p:spPr>
          <a:xfrm>
            <a:off x="8153400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ell-6-b2"/>
          <p:cNvSpPr txBox="1"/>
          <p:nvPr/>
        </p:nvSpPr>
        <p:spPr>
          <a:xfrm>
            <a:off x="8267700" y="5048250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Supply chain sustainability</a:t>
            </a:r>
          </a:p>
        </p:txBody>
      </p:sp>
      <p:sp>
        <p:nvSpPr>
          <p:cNvPr id="75" name="cell-6-b3-marker"/>
          <p:cNvSpPr/>
          <p:nvPr/>
        </p:nvSpPr>
        <p:spPr>
          <a:xfrm>
            <a:off x="8153400" y="5543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ell-6-b3"/>
          <p:cNvSpPr txBox="1"/>
          <p:nvPr/>
        </p:nvSpPr>
        <p:spPr>
          <a:xfrm>
            <a:off x="8267700" y="5476875"/>
            <a:ext cx="3333750" cy="390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Carbon reporting requirements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