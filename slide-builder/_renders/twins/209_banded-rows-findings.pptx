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Key findings reveal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critical gaps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in operational maturity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Four priority findings across process, technology, talent, and governance dimensions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col-1-header"/>
          <p:cNvSpPr txBox="1"/>
          <p:nvPr/>
        </p:nvSpPr>
        <p:spPr>
          <a:xfrm>
            <a:off x="457200" y="1333500"/>
            <a:ext cx="1333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Finding</a:t>
            </a:r>
          </a:p>
        </p:txBody>
      </p:sp>
      <p:sp>
        <p:nvSpPr>
          <p:cNvPr id="6" name="table-col-2-header"/>
          <p:cNvSpPr txBox="1"/>
          <p:nvPr/>
        </p:nvSpPr>
        <p:spPr>
          <a:xfrm>
            <a:off x="1924050" y="1333500"/>
            <a:ext cx="7200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Description</a:t>
            </a:r>
          </a:p>
        </p:txBody>
      </p:sp>
      <p:sp>
        <p:nvSpPr>
          <p:cNvPr id="7" name="table-col-3-header"/>
          <p:cNvSpPr txBox="1"/>
          <p:nvPr/>
        </p:nvSpPr>
        <p:spPr>
          <a:xfrm>
            <a:off x="9391650" y="1333500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Evidence</a:t>
            </a:r>
          </a:p>
        </p:txBody>
      </p:sp>
      <p:sp>
        <p:nvSpPr>
          <p:cNvPr id="8" name="table-head-rule"/>
          <p:cNvSpPr/>
          <p:nvPr/>
        </p:nvSpPr>
        <p:spPr>
          <a:xfrm>
            <a:off x="457200" y="1619250"/>
            <a:ext cx="112776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able-row-1-bg"/>
          <p:cNvSpPr/>
          <p:nvPr/>
        </p:nvSpPr>
        <p:spPr>
          <a:xfrm>
            <a:off x="1790700" y="1657350"/>
            <a:ext cx="9944100" cy="1047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able-row-1-cell-1-bg"/>
          <p:cNvSpPr/>
          <p:nvPr/>
        </p:nvSpPr>
        <p:spPr>
          <a:xfrm>
            <a:off x="457200" y="1657350"/>
            <a:ext cx="1333500" cy="1047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able-row-1-cell-1"/>
          <p:cNvSpPr txBox="1"/>
          <p:nvPr/>
        </p:nvSpPr>
        <p:spPr>
          <a:xfrm>
            <a:off x="514350" y="1657350"/>
            <a:ext cx="12192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F1
Process
Fragmentation</a:t>
            </a:r>
          </a:p>
        </p:txBody>
      </p:sp>
      <p:sp>
        <p:nvSpPr>
          <p:cNvPr id="12" name="table-row-1-cell-2"/>
          <p:cNvSpPr txBox="1"/>
          <p:nvPr/>
        </p:nvSpPr>
        <p:spPr>
          <a:xfrm>
            <a:off x="1943100" y="1733550"/>
            <a:ext cx="7162800" cy="895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Core order-to-cash workflows span 7 disconnected systems with no single source of truth
• Manual re-keying at 4 handoff points introduces error rates exceeding tolerance
• Process owners lack visibility into end-to-end cycle time, preventing improvement</a:t>
            </a:r>
          </a:p>
        </p:txBody>
      </p:sp>
      <p:sp>
        <p:nvSpPr>
          <p:cNvPr id="13" name="table-row-1-stat"/>
          <p:cNvSpPr txBox="1"/>
          <p:nvPr/>
        </p:nvSpPr>
        <p:spPr>
          <a:xfrm>
            <a:off x="9391650" y="175260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38%</a:t>
            </a:r>
          </a:p>
        </p:txBody>
      </p:sp>
      <p:sp>
        <p:nvSpPr>
          <p:cNvPr id="14" name="table-row-1-stat-label"/>
          <p:cNvSpPr txBox="1"/>
          <p:nvPr/>
        </p:nvSpPr>
        <p:spPr>
          <a:xfrm>
            <a:off x="9391650" y="20574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of transactions require manual rework before close; avg. 2.4 hrs per incident</a:t>
            </a:r>
          </a:p>
        </p:txBody>
      </p:sp>
      <p:sp>
        <p:nvSpPr>
          <p:cNvPr id="15" name="table-row-1-source"/>
          <p:cNvSpPr txBox="1"/>
          <p:nvPr/>
        </p:nvSpPr>
        <p:spPr>
          <a:xfrm>
            <a:off x="9391650" y="253365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Process mining analysis, Apr 2026</a:t>
            </a:r>
          </a:p>
        </p:txBody>
      </p:sp>
      <p:sp>
        <p:nvSpPr>
          <p:cNvPr id="16" name="table-row-1-divider"/>
          <p:cNvSpPr/>
          <p:nvPr/>
        </p:nvSpPr>
        <p:spPr>
          <a:xfrm>
            <a:off x="1790700" y="2695575"/>
            <a:ext cx="9944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able-row-1-vsep"/>
          <p:cNvSpPr/>
          <p:nvPr/>
        </p:nvSpPr>
        <p:spPr>
          <a:xfrm>
            <a:off x="9258300" y="1657350"/>
            <a:ext cx="9525" cy="1047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able-row-2-bg"/>
          <p:cNvSpPr/>
          <p:nvPr/>
        </p:nvSpPr>
        <p:spPr>
          <a:xfrm>
            <a:off x="1790700" y="2705100"/>
            <a:ext cx="9944100" cy="1047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able-row-2-cell-1-bg"/>
          <p:cNvSpPr/>
          <p:nvPr/>
        </p:nvSpPr>
        <p:spPr>
          <a:xfrm>
            <a:off x="457200" y="2705100"/>
            <a:ext cx="1333500" cy="1047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able-row-2-cell-1"/>
          <p:cNvSpPr txBox="1"/>
          <p:nvPr/>
        </p:nvSpPr>
        <p:spPr>
          <a:xfrm>
            <a:off x="514350" y="2705100"/>
            <a:ext cx="12192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F2
Technology
Debt</a:t>
            </a:r>
          </a:p>
        </p:txBody>
      </p:sp>
      <p:sp>
        <p:nvSpPr>
          <p:cNvPr id="21" name="table-row-2-cell-2"/>
          <p:cNvSpPr txBox="1"/>
          <p:nvPr/>
        </p:nvSpPr>
        <p:spPr>
          <a:xfrm>
            <a:off x="1943100" y="2781300"/>
            <a:ext cx="7162800" cy="895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Legacy ERP modules running on end-of-life versions unsupported since Q3 2024
• API layer lacks idempotency guarantees, causing duplicate postings during peak load
• No automated regression suite; releases require 6-week manual UAT cycles</a:t>
            </a:r>
          </a:p>
        </p:txBody>
      </p:sp>
      <p:sp>
        <p:nvSpPr>
          <p:cNvPr id="22" name="table-row-2-stat"/>
          <p:cNvSpPr txBox="1"/>
          <p:nvPr/>
        </p:nvSpPr>
        <p:spPr>
          <a:xfrm>
            <a:off x="9391650" y="280035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$4.2M</a:t>
            </a:r>
          </a:p>
        </p:txBody>
      </p:sp>
      <p:sp>
        <p:nvSpPr>
          <p:cNvPr id="23" name="table-row-2-stat-label"/>
          <p:cNvSpPr txBox="1"/>
          <p:nvPr/>
        </p:nvSpPr>
        <p:spPr>
          <a:xfrm>
            <a:off x="9391650" y="310515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estimated annual cost of unplanned downtime and emergency patching</a:t>
            </a:r>
          </a:p>
        </p:txBody>
      </p:sp>
      <p:sp>
        <p:nvSpPr>
          <p:cNvPr id="24" name="table-row-2-source"/>
          <p:cNvSpPr txBox="1"/>
          <p:nvPr/>
        </p:nvSpPr>
        <p:spPr>
          <a:xfrm>
            <a:off x="9391650" y="358140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IT cost model, FY2025 actuals</a:t>
            </a:r>
          </a:p>
        </p:txBody>
      </p:sp>
      <p:sp>
        <p:nvSpPr>
          <p:cNvPr id="25" name="table-row-2-divider"/>
          <p:cNvSpPr/>
          <p:nvPr/>
        </p:nvSpPr>
        <p:spPr>
          <a:xfrm>
            <a:off x="1790700" y="3743325"/>
            <a:ext cx="9944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2-vsep"/>
          <p:cNvSpPr/>
          <p:nvPr/>
        </p:nvSpPr>
        <p:spPr>
          <a:xfrm>
            <a:off x="9258300" y="2705100"/>
            <a:ext cx="9525" cy="1047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3-bg"/>
          <p:cNvSpPr/>
          <p:nvPr/>
        </p:nvSpPr>
        <p:spPr>
          <a:xfrm>
            <a:off x="1790700" y="3752850"/>
            <a:ext cx="9944100" cy="1047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3-cell-1-bg"/>
          <p:cNvSpPr/>
          <p:nvPr/>
        </p:nvSpPr>
        <p:spPr>
          <a:xfrm>
            <a:off x="457200" y="3752850"/>
            <a:ext cx="1333500" cy="1047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3-cell-1"/>
          <p:cNvSpPr txBox="1"/>
          <p:nvPr/>
        </p:nvSpPr>
        <p:spPr>
          <a:xfrm>
            <a:off x="514350" y="3752850"/>
            <a:ext cx="12192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F3
Talent
Readiness</a:t>
            </a:r>
          </a:p>
        </p:txBody>
      </p:sp>
      <p:sp>
        <p:nvSpPr>
          <p:cNvPr id="30" name="table-row-3-cell-2"/>
          <p:cNvSpPr txBox="1"/>
          <p:nvPr/>
        </p:nvSpPr>
        <p:spPr>
          <a:xfrm>
            <a:off x="1943100" y="3829050"/>
            <a:ext cx="7162800" cy="895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Only 12% of ops staff hold current certification in target-state tooling
• Knowledge concentrated in 3 SMEs with no documented succession or cross-training
• Attrition risk rated HIGH for 2 of 3 SMEs based on tenure and benchmarks</a:t>
            </a:r>
          </a:p>
        </p:txBody>
      </p:sp>
      <p:sp>
        <p:nvSpPr>
          <p:cNvPr id="31" name="table-row-3-stat"/>
          <p:cNvSpPr txBox="1"/>
          <p:nvPr/>
        </p:nvSpPr>
        <p:spPr>
          <a:xfrm>
            <a:off x="9391650" y="384810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~9 mo</a:t>
            </a:r>
          </a:p>
        </p:txBody>
      </p:sp>
      <p:sp>
        <p:nvSpPr>
          <p:cNvPr id="32" name="table-row-3-stat-label"/>
          <p:cNvSpPr txBox="1"/>
          <p:nvPr/>
        </p:nvSpPr>
        <p:spPr>
          <a:xfrm>
            <a:off x="9391650" y="415290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to full proficiency for a new hire under current onboarding programme</a:t>
            </a:r>
          </a:p>
        </p:txBody>
      </p:sp>
      <p:sp>
        <p:nvSpPr>
          <p:cNvPr id="33" name="table-row-3-source"/>
          <p:cNvSpPr txBox="1"/>
          <p:nvPr/>
        </p:nvSpPr>
        <p:spPr>
          <a:xfrm>
            <a:off x="9391650" y="462915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HR skills assessment, Mar 2026</a:t>
            </a:r>
          </a:p>
        </p:txBody>
      </p:sp>
      <p:sp>
        <p:nvSpPr>
          <p:cNvPr id="34" name="table-row-3-divider"/>
          <p:cNvSpPr/>
          <p:nvPr/>
        </p:nvSpPr>
        <p:spPr>
          <a:xfrm>
            <a:off x="1790700" y="4791075"/>
            <a:ext cx="99441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able-row-3-vsep"/>
          <p:cNvSpPr/>
          <p:nvPr/>
        </p:nvSpPr>
        <p:spPr>
          <a:xfrm>
            <a:off x="9258300" y="3752850"/>
            <a:ext cx="9525" cy="1047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4-bg"/>
          <p:cNvSpPr/>
          <p:nvPr/>
        </p:nvSpPr>
        <p:spPr>
          <a:xfrm>
            <a:off x="1790700" y="4800600"/>
            <a:ext cx="9944100" cy="1047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4-cell-1-bg"/>
          <p:cNvSpPr/>
          <p:nvPr/>
        </p:nvSpPr>
        <p:spPr>
          <a:xfrm>
            <a:off x="457200" y="4800600"/>
            <a:ext cx="1333500" cy="1047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4-cell-1"/>
          <p:cNvSpPr txBox="1"/>
          <p:nvPr/>
        </p:nvSpPr>
        <p:spPr>
          <a:xfrm>
            <a:off x="514350" y="4800600"/>
            <a:ext cx="12192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F4
Governance
Gaps</a:t>
            </a:r>
          </a:p>
        </p:txBody>
      </p:sp>
      <p:sp>
        <p:nvSpPr>
          <p:cNvPr id="39" name="table-row-4-cell-2"/>
          <p:cNvSpPr txBox="1"/>
          <p:nvPr/>
        </p:nvSpPr>
        <p:spPr>
          <a:xfrm>
            <a:off x="1943100" y="4876800"/>
            <a:ext cx="7162800" cy="895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No formal change-advisory board; 60% of production changes deployed without peer review
• SLA targets defined but not instrumented — breaches detected only via client complaint
• Ownership matrix last updated 18 months ago; 5 critical controls show 'TBD' owner</a:t>
            </a:r>
          </a:p>
        </p:txBody>
      </p:sp>
      <p:sp>
        <p:nvSpPr>
          <p:cNvPr id="40" name="table-row-4-stat"/>
          <p:cNvSpPr txBox="1"/>
          <p:nvPr/>
        </p:nvSpPr>
        <p:spPr>
          <a:xfrm>
            <a:off x="9391650" y="489585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3 of 5</a:t>
            </a:r>
          </a:p>
        </p:txBody>
      </p:sp>
      <p:sp>
        <p:nvSpPr>
          <p:cNvPr id="41" name="table-row-4-stat-label"/>
          <p:cNvSpPr txBox="1"/>
          <p:nvPr/>
        </p:nvSpPr>
        <p:spPr>
          <a:xfrm>
            <a:off x="9391650" y="5200650"/>
            <a:ext cx="22098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audit findings from FY2025 remain open past remediation deadline</a:t>
            </a:r>
          </a:p>
        </p:txBody>
      </p:sp>
      <p:sp>
        <p:nvSpPr>
          <p:cNvPr id="42" name="table-row-4-source"/>
          <p:cNvSpPr txBox="1"/>
          <p:nvPr/>
        </p:nvSpPr>
        <p:spPr>
          <a:xfrm>
            <a:off x="9391650" y="5676900"/>
            <a:ext cx="2209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Source: Internal audit report, Jan 2026</a:t>
            </a:r>
          </a:p>
        </p:txBody>
      </p:sp>
      <p:sp>
        <p:nvSpPr>
          <p:cNvPr id="44" name="table-row-4-vsep"/>
          <p:cNvSpPr/>
          <p:nvPr/>
        </p:nvSpPr>
        <p:spPr>
          <a:xfrm>
            <a:off x="9258300" y="4800600"/>
            <a:ext cx="9525" cy="10477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