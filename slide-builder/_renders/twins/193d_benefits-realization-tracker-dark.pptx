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Benefits Realization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Tracker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7810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YTD performance against committed benefit targets across all workstreams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summary-stat-value"/>
          <p:cNvSpPr txBox="1"/>
          <p:nvPr/>
        </p:nvSpPr>
        <p:spPr>
          <a:xfrm>
            <a:off x="9486900" y="2209800"/>
            <a:ext cx="20955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500" b="1" i="0">
                <a:solidFill>
                  <a:srgbClr val="C780FF"/>
                </a:solidFill>
                <a:latin typeface="Inter"/>
              </a:rPr>
              <a:t>$42M</a:t>
            </a:r>
          </a:p>
        </p:txBody>
      </p:sp>
      <p:sp>
        <p:nvSpPr>
          <p:cNvPr id="6" name="summary-stat-label"/>
          <p:cNvSpPr txBox="1"/>
          <p:nvPr/>
        </p:nvSpPr>
        <p:spPr>
          <a:xfrm>
            <a:off x="9486900" y="247650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benefits realized YTD</a:t>
            </a:r>
          </a:p>
        </p:txBody>
      </p:sp>
      <p:sp>
        <p:nvSpPr>
          <p:cNvPr id="7" name="table-header-bg"/>
          <p:cNvSpPr/>
          <p:nvPr/>
        </p:nvSpPr>
        <p:spPr>
          <a:xfrm>
            <a:off x="609600" y="2686050"/>
            <a:ext cx="10972800" cy="3048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able-col-1-header"/>
          <p:cNvSpPr txBox="1"/>
          <p:nvPr/>
        </p:nvSpPr>
        <p:spPr>
          <a:xfrm>
            <a:off x="704850" y="276225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BENEFIT</a:t>
            </a:r>
          </a:p>
        </p:txBody>
      </p:sp>
      <p:sp>
        <p:nvSpPr>
          <p:cNvPr id="9" name="table-col-2-header"/>
          <p:cNvSpPr txBox="1"/>
          <p:nvPr/>
        </p:nvSpPr>
        <p:spPr>
          <a:xfrm>
            <a:off x="3552825" y="2762250"/>
            <a:ext cx="1123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TARGET</a:t>
            </a:r>
          </a:p>
        </p:txBody>
      </p:sp>
      <p:sp>
        <p:nvSpPr>
          <p:cNvPr id="10" name="table-col-3-header"/>
          <p:cNvSpPr txBox="1"/>
          <p:nvPr/>
        </p:nvSpPr>
        <p:spPr>
          <a:xfrm>
            <a:off x="4867275" y="2762250"/>
            <a:ext cx="12287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ACTUAL (YTD)</a:t>
            </a:r>
          </a:p>
        </p:txBody>
      </p:sp>
      <p:sp>
        <p:nvSpPr>
          <p:cNvPr id="11" name="table-col-4-header"/>
          <p:cNvSpPr txBox="1"/>
          <p:nvPr/>
        </p:nvSpPr>
        <p:spPr>
          <a:xfrm>
            <a:off x="6286500" y="2762250"/>
            <a:ext cx="17811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% ACHIEVED</a:t>
            </a:r>
          </a:p>
        </p:txBody>
      </p:sp>
      <p:sp>
        <p:nvSpPr>
          <p:cNvPr id="12" name="table-col-5-header"/>
          <p:cNvSpPr txBox="1"/>
          <p:nvPr/>
        </p:nvSpPr>
        <p:spPr>
          <a:xfrm>
            <a:off x="8258175" y="2762250"/>
            <a:ext cx="15621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STATUS</a:t>
            </a:r>
          </a:p>
        </p:txBody>
      </p:sp>
      <p:sp>
        <p:nvSpPr>
          <p:cNvPr id="13" name="table-col-6-header"/>
          <p:cNvSpPr txBox="1"/>
          <p:nvPr/>
        </p:nvSpPr>
        <p:spPr>
          <a:xfrm>
            <a:off x="10010775" y="2762250"/>
            <a:ext cx="1447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OWNER</a:t>
            </a:r>
          </a:p>
        </p:txBody>
      </p:sp>
      <p:sp>
        <p:nvSpPr>
          <p:cNvPr id="14" name="table-row-1-bg"/>
          <p:cNvSpPr/>
          <p:nvPr/>
        </p:nvSpPr>
        <p:spPr>
          <a:xfrm>
            <a:off x="609600" y="2990850"/>
            <a:ext cx="10972800" cy="4667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able-row-1-cell-1-name"/>
          <p:cNvSpPr txBox="1"/>
          <p:nvPr/>
        </p:nvSpPr>
        <p:spPr>
          <a:xfrm>
            <a:off x="704850" y="306705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Procurement Cost Savings</a:t>
            </a:r>
          </a:p>
        </p:txBody>
      </p:sp>
      <p:sp>
        <p:nvSpPr>
          <p:cNvPr id="16" name="table-row-1-cell-1-type"/>
          <p:cNvSpPr txBox="1"/>
          <p:nvPr/>
        </p:nvSpPr>
        <p:spPr>
          <a:xfrm>
            <a:off x="704850" y="325755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Reduction</a:t>
            </a:r>
          </a:p>
        </p:txBody>
      </p:sp>
      <p:sp>
        <p:nvSpPr>
          <p:cNvPr id="17" name="table-row-1-cell-2"/>
          <p:cNvSpPr txBox="1"/>
          <p:nvPr/>
        </p:nvSpPr>
        <p:spPr>
          <a:xfrm>
            <a:off x="3533775" y="31242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$18.0M</a:t>
            </a:r>
          </a:p>
        </p:txBody>
      </p:sp>
      <p:sp>
        <p:nvSpPr>
          <p:cNvPr id="18" name="table-row-1-cell-3"/>
          <p:cNvSpPr txBox="1"/>
          <p:nvPr/>
        </p:nvSpPr>
        <p:spPr>
          <a:xfrm>
            <a:off x="4848225" y="31242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$15.3M</a:t>
            </a:r>
          </a:p>
        </p:txBody>
      </p:sp>
      <p:sp>
        <p:nvSpPr>
          <p:cNvPr id="19" name="table-row-1-cell-4-pct"/>
          <p:cNvSpPr txBox="1"/>
          <p:nvPr/>
        </p:nvSpPr>
        <p:spPr>
          <a:xfrm>
            <a:off x="6267450" y="31242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85%</a:t>
            </a:r>
          </a:p>
        </p:txBody>
      </p:sp>
      <p:sp>
        <p:nvSpPr>
          <p:cNvPr id="20" name="table-row-1-cell-4-track"/>
          <p:cNvSpPr/>
          <p:nvPr/>
        </p:nvSpPr>
        <p:spPr>
          <a:xfrm>
            <a:off x="6724650" y="3162300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table-row-1-cell-4-bar"/>
          <p:cNvSpPr/>
          <p:nvPr/>
        </p:nvSpPr>
        <p:spPr>
          <a:xfrm>
            <a:off x="6724650" y="3162300"/>
            <a:ext cx="1152525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able-row-1-status-pill"/>
          <p:cNvSpPr txBox="1"/>
          <p:nvPr/>
        </p:nvSpPr>
        <p:spPr>
          <a:xfrm>
            <a:off x="8743950" y="3105150"/>
            <a:ext cx="685800" cy="190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On Track</a:t>
            </a:r>
          </a:p>
        </p:txBody>
      </p:sp>
      <p:sp>
        <p:nvSpPr>
          <p:cNvPr id="23" name="table-row-1-rag-dot"/>
          <p:cNvSpPr/>
          <p:nvPr/>
        </p:nvSpPr>
        <p:spPr>
          <a:xfrm>
            <a:off x="8782050" y="3171825"/>
            <a:ext cx="66675" cy="666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table-row-1-cell-6"/>
          <p:cNvSpPr txBox="1"/>
          <p:nvPr/>
        </p:nvSpPr>
        <p:spPr>
          <a:xfrm>
            <a:off x="9991725" y="312420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J. Reeves</a:t>
            </a:r>
          </a:p>
        </p:txBody>
      </p:sp>
      <p:sp>
        <p:nvSpPr>
          <p:cNvPr id="25" name="table-row-2-bg"/>
          <p:cNvSpPr/>
          <p:nvPr/>
        </p:nvSpPr>
        <p:spPr>
          <a:xfrm>
            <a:off x="609600" y="3457575"/>
            <a:ext cx="10972800" cy="4667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able-row-2-cell-1-name"/>
          <p:cNvSpPr txBox="1"/>
          <p:nvPr/>
        </p:nvSpPr>
        <p:spPr>
          <a:xfrm>
            <a:off x="704850" y="353377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New Revenue Streams</a:t>
            </a:r>
          </a:p>
        </p:txBody>
      </p:sp>
      <p:sp>
        <p:nvSpPr>
          <p:cNvPr id="27" name="table-row-2-cell-1-type"/>
          <p:cNvSpPr txBox="1"/>
          <p:nvPr/>
        </p:nvSpPr>
        <p:spPr>
          <a:xfrm>
            <a:off x="704850" y="372427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Revenue Growth</a:t>
            </a:r>
          </a:p>
        </p:txBody>
      </p:sp>
      <p:sp>
        <p:nvSpPr>
          <p:cNvPr id="28" name="table-row-2-cell-2"/>
          <p:cNvSpPr txBox="1"/>
          <p:nvPr/>
        </p:nvSpPr>
        <p:spPr>
          <a:xfrm>
            <a:off x="3533775" y="35909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$12.0M</a:t>
            </a:r>
          </a:p>
        </p:txBody>
      </p:sp>
      <p:sp>
        <p:nvSpPr>
          <p:cNvPr id="29" name="table-row-2-cell-3"/>
          <p:cNvSpPr txBox="1"/>
          <p:nvPr/>
        </p:nvSpPr>
        <p:spPr>
          <a:xfrm>
            <a:off x="4848225" y="359092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$7.2M</a:t>
            </a:r>
          </a:p>
        </p:txBody>
      </p:sp>
      <p:sp>
        <p:nvSpPr>
          <p:cNvPr id="30" name="table-row-2-cell-4-pct"/>
          <p:cNvSpPr txBox="1"/>
          <p:nvPr/>
        </p:nvSpPr>
        <p:spPr>
          <a:xfrm>
            <a:off x="6267450" y="359092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60%</a:t>
            </a:r>
          </a:p>
        </p:txBody>
      </p:sp>
      <p:sp>
        <p:nvSpPr>
          <p:cNvPr id="31" name="table-row-2-cell-4-track"/>
          <p:cNvSpPr/>
          <p:nvPr/>
        </p:nvSpPr>
        <p:spPr>
          <a:xfrm>
            <a:off x="6724650" y="3629025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table-row-2-cell-4-bar"/>
          <p:cNvSpPr/>
          <p:nvPr/>
        </p:nvSpPr>
        <p:spPr>
          <a:xfrm>
            <a:off x="6724650" y="3629025"/>
            <a:ext cx="80962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table-row-2-status-pill"/>
          <p:cNvSpPr txBox="1"/>
          <p:nvPr/>
        </p:nvSpPr>
        <p:spPr>
          <a:xfrm>
            <a:off x="8743950" y="3571875"/>
            <a:ext cx="685800" cy="1905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9C3"/>
                </a:solidFill>
                <a:latin typeface="Inter"/>
              </a:rPr>
              <a:t>At Risk</a:t>
            </a:r>
          </a:p>
        </p:txBody>
      </p:sp>
      <p:sp>
        <p:nvSpPr>
          <p:cNvPr id="34" name="table-row-2-rag-dot"/>
          <p:cNvSpPr/>
          <p:nvPr/>
        </p:nvSpPr>
        <p:spPr>
          <a:xfrm>
            <a:off x="8782050" y="3638550"/>
            <a:ext cx="66675" cy="666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table-row-2-cell-6"/>
          <p:cNvSpPr txBox="1"/>
          <p:nvPr/>
        </p:nvSpPr>
        <p:spPr>
          <a:xfrm>
            <a:off x="9991725" y="359092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S. Patel</a:t>
            </a:r>
          </a:p>
        </p:txBody>
      </p:sp>
      <p:sp>
        <p:nvSpPr>
          <p:cNvPr id="36" name="table-row-3-bg"/>
          <p:cNvSpPr/>
          <p:nvPr/>
        </p:nvSpPr>
        <p:spPr>
          <a:xfrm>
            <a:off x="609600" y="3924300"/>
            <a:ext cx="10972800" cy="4667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table-row-3-cell-1-name"/>
          <p:cNvSpPr txBox="1"/>
          <p:nvPr/>
        </p:nvSpPr>
        <p:spPr>
          <a:xfrm>
            <a:off x="704850" y="400050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 Automation Gains</a:t>
            </a:r>
          </a:p>
        </p:txBody>
      </p:sp>
      <p:sp>
        <p:nvSpPr>
          <p:cNvPr id="38" name="table-row-3-cell-1-type"/>
          <p:cNvSpPr txBox="1"/>
          <p:nvPr/>
        </p:nvSpPr>
        <p:spPr>
          <a:xfrm>
            <a:off x="704850" y="419100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Efficiency / FTE</a:t>
            </a:r>
          </a:p>
        </p:txBody>
      </p:sp>
      <p:sp>
        <p:nvSpPr>
          <p:cNvPr id="39" name="table-row-3-cell-2"/>
          <p:cNvSpPr txBox="1"/>
          <p:nvPr/>
        </p:nvSpPr>
        <p:spPr>
          <a:xfrm>
            <a:off x="3533775" y="40576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$9.5M</a:t>
            </a:r>
          </a:p>
        </p:txBody>
      </p:sp>
      <p:sp>
        <p:nvSpPr>
          <p:cNvPr id="40" name="table-row-3-cell-3"/>
          <p:cNvSpPr txBox="1"/>
          <p:nvPr/>
        </p:nvSpPr>
        <p:spPr>
          <a:xfrm>
            <a:off x="4848225" y="405765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$8.6M</a:t>
            </a:r>
          </a:p>
        </p:txBody>
      </p:sp>
      <p:sp>
        <p:nvSpPr>
          <p:cNvPr id="41" name="table-row-3-cell-4-pct"/>
          <p:cNvSpPr txBox="1"/>
          <p:nvPr/>
        </p:nvSpPr>
        <p:spPr>
          <a:xfrm>
            <a:off x="6267450" y="40576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91%</a:t>
            </a:r>
          </a:p>
        </p:txBody>
      </p:sp>
      <p:sp>
        <p:nvSpPr>
          <p:cNvPr id="42" name="table-row-3-cell-4-track"/>
          <p:cNvSpPr/>
          <p:nvPr/>
        </p:nvSpPr>
        <p:spPr>
          <a:xfrm>
            <a:off x="6724650" y="4095750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table-row-3-cell-4-bar"/>
          <p:cNvSpPr/>
          <p:nvPr/>
        </p:nvSpPr>
        <p:spPr>
          <a:xfrm>
            <a:off x="6724650" y="4095750"/>
            <a:ext cx="1238250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table-row-3-status-pill"/>
          <p:cNvSpPr txBox="1"/>
          <p:nvPr/>
        </p:nvSpPr>
        <p:spPr>
          <a:xfrm>
            <a:off x="8743950" y="4038600"/>
            <a:ext cx="685800" cy="190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On Track</a:t>
            </a:r>
          </a:p>
        </p:txBody>
      </p:sp>
      <p:sp>
        <p:nvSpPr>
          <p:cNvPr id="45" name="table-row-3-rag-dot"/>
          <p:cNvSpPr/>
          <p:nvPr/>
        </p:nvSpPr>
        <p:spPr>
          <a:xfrm>
            <a:off x="8782050" y="4105275"/>
            <a:ext cx="66675" cy="666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table-row-3-cell-6"/>
          <p:cNvSpPr txBox="1"/>
          <p:nvPr/>
        </p:nvSpPr>
        <p:spPr>
          <a:xfrm>
            <a:off x="9991725" y="405765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L. Tran</a:t>
            </a:r>
          </a:p>
        </p:txBody>
      </p:sp>
      <p:sp>
        <p:nvSpPr>
          <p:cNvPr id="47" name="table-row-4-bg"/>
          <p:cNvSpPr/>
          <p:nvPr/>
        </p:nvSpPr>
        <p:spPr>
          <a:xfrm>
            <a:off x="609600" y="4391025"/>
            <a:ext cx="10972800" cy="4667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table-row-4-cell-1-name"/>
          <p:cNvSpPr txBox="1"/>
          <p:nvPr/>
        </p:nvSpPr>
        <p:spPr>
          <a:xfrm>
            <a:off x="704850" y="446722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Regulatory Penalty Avoidance</a:t>
            </a:r>
          </a:p>
        </p:txBody>
      </p:sp>
      <p:sp>
        <p:nvSpPr>
          <p:cNvPr id="49" name="table-row-4-cell-1-type"/>
          <p:cNvSpPr txBox="1"/>
          <p:nvPr/>
        </p:nvSpPr>
        <p:spPr>
          <a:xfrm>
            <a:off x="704850" y="465772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Compliance / Risk</a:t>
            </a:r>
          </a:p>
        </p:txBody>
      </p:sp>
      <p:sp>
        <p:nvSpPr>
          <p:cNvPr id="50" name="table-row-4-cell-2"/>
          <p:cNvSpPr txBox="1"/>
          <p:nvPr/>
        </p:nvSpPr>
        <p:spPr>
          <a:xfrm>
            <a:off x="3533775" y="452437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$5.0M</a:t>
            </a:r>
          </a:p>
        </p:txBody>
      </p:sp>
      <p:sp>
        <p:nvSpPr>
          <p:cNvPr id="51" name="table-row-4-cell-3"/>
          <p:cNvSpPr txBox="1"/>
          <p:nvPr/>
        </p:nvSpPr>
        <p:spPr>
          <a:xfrm>
            <a:off x="4848225" y="452437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$2.1M</a:t>
            </a:r>
          </a:p>
        </p:txBody>
      </p:sp>
      <p:sp>
        <p:nvSpPr>
          <p:cNvPr id="52" name="table-row-4-cell-4-pct"/>
          <p:cNvSpPr txBox="1"/>
          <p:nvPr/>
        </p:nvSpPr>
        <p:spPr>
          <a:xfrm>
            <a:off x="6267450" y="452437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42%</a:t>
            </a:r>
          </a:p>
        </p:txBody>
      </p:sp>
      <p:sp>
        <p:nvSpPr>
          <p:cNvPr id="53" name="table-row-4-cell-4-track"/>
          <p:cNvSpPr/>
          <p:nvPr/>
        </p:nvSpPr>
        <p:spPr>
          <a:xfrm>
            <a:off x="6724650" y="4562475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table-row-4-cell-4-bar"/>
          <p:cNvSpPr/>
          <p:nvPr/>
        </p:nvSpPr>
        <p:spPr>
          <a:xfrm>
            <a:off x="6724650" y="4562475"/>
            <a:ext cx="571500" cy="76200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table-row-4-status-pill"/>
          <p:cNvSpPr txBox="1"/>
          <p:nvPr/>
        </p:nvSpPr>
        <p:spPr>
          <a:xfrm>
            <a:off x="8743950" y="4505325"/>
            <a:ext cx="685800" cy="19050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E2E2"/>
                </a:solidFill>
                <a:latin typeface="Inter"/>
              </a:rPr>
              <a:t>Behind</a:t>
            </a:r>
          </a:p>
        </p:txBody>
      </p:sp>
      <p:sp>
        <p:nvSpPr>
          <p:cNvPr id="56" name="table-row-4-rag-dot"/>
          <p:cNvSpPr/>
          <p:nvPr/>
        </p:nvSpPr>
        <p:spPr>
          <a:xfrm>
            <a:off x="8782050" y="4572000"/>
            <a:ext cx="66675" cy="66675"/>
          </a:xfrm>
          <a:prstGeom prst="rect">
            <a:avLst/>
          </a:prstGeom>
          <a:solidFill>
            <a:srgbClr val="FB7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table-row-4-cell-6"/>
          <p:cNvSpPr txBox="1"/>
          <p:nvPr/>
        </p:nvSpPr>
        <p:spPr>
          <a:xfrm>
            <a:off x="9991725" y="452437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A. Mwangi</a:t>
            </a:r>
          </a:p>
        </p:txBody>
      </p:sp>
      <p:sp>
        <p:nvSpPr>
          <p:cNvPr id="58" name="table-row-5-bg"/>
          <p:cNvSpPr/>
          <p:nvPr/>
        </p:nvSpPr>
        <p:spPr>
          <a:xfrm>
            <a:off x="609600" y="4857750"/>
            <a:ext cx="10972800" cy="466725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table-row-5-cell-1-name"/>
          <p:cNvSpPr txBox="1"/>
          <p:nvPr/>
        </p:nvSpPr>
        <p:spPr>
          <a:xfrm>
            <a:off x="704850" y="493395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Customer Satisfaction Uplift</a:t>
            </a:r>
          </a:p>
        </p:txBody>
      </p:sp>
      <p:sp>
        <p:nvSpPr>
          <p:cNvPr id="60" name="table-row-5-cell-1-type"/>
          <p:cNvSpPr txBox="1"/>
          <p:nvPr/>
        </p:nvSpPr>
        <p:spPr>
          <a:xfrm>
            <a:off x="704850" y="512445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NPS / Experience</a:t>
            </a:r>
          </a:p>
        </p:txBody>
      </p:sp>
      <p:sp>
        <p:nvSpPr>
          <p:cNvPr id="61" name="table-row-5-cell-2"/>
          <p:cNvSpPr txBox="1"/>
          <p:nvPr/>
        </p:nvSpPr>
        <p:spPr>
          <a:xfrm>
            <a:off x="3533775" y="499110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$6.0M</a:t>
            </a:r>
          </a:p>
        </p:txBody>
      </p:sp>
      <p:sp>
        <p:nvSpPr>
          <p:cNvPr id="62" name="table-row-5-cell-3"/>
          <p:cNvSpPr txBox="1"/>
          <p:nvPr/>
        </p:nvSpPr>
        <p:spPr>
          <a:xfrm>
            <a:off x="4848225" y="499110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$5.5M</a:t>
            </a:r>
          </a:p>
        </p:txBody>
      </p:sp>
      <p:sp>
        <p:nvSpPr>
          <p:cNvPr id="63" name="table-row-5-cell-4-pct"/>
          <p:cNvSpPr txBox="1"/>
          <p:nvPr/>
        </p:nvSpPr>
        <p:spPr>
          <a:xfrm>
            <a:off x="6267450" y="499110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92%</a:t>
            </a:r>
          </a:p>
        </p:txBody>
      </p:sp>
      <p:sp>
        <p:nvSpPr>
          <p:cNvPr id="64" name="table-row-5-cell-4-track"/>
          <p:cNvSpPr/>
          <p:nvPr/>
        </p:nvSpPr>
        <p:spPr>
          <a:xfrm>
            <a:off x="6724650" y="5029200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table-row-5-cell-4-bar"/>
          <p:cNvSpPr/>
          <p:nvPr/>
        </p:nvSpPr>
        <p:spPr>
          <a:xfrm>
            <a:off x="6724650" y="5029200"/>
            <a:ext cx="1247775" cy="762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6" name="table-row-5-status-pill"/>
          <p:cNvSpPr txBox="1"/>
          <p:nvPr/>
        </p:nvSpPr>
        <p:spPr>
          <a:xfrm>
            <a:off x="8743950" y="4972050"/>
            <a:ext cx="685800" cy="190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D7F1DA"/>
                </a:solidFill>
                <a:latin typeface="Inter"/>
              </a:rPr>
              <a:t>On Track</a:t>
            </a:r>
          </a:p>
        </p:txBody>
      </p:sp>
      <p:sp>
        <p:nvSpPr>
          <p:cNvPr id="67" name="table-row-5-rag-dot"/>
          <p:cNvSpPr/>
          <p:nvPr/>
        </p:nvSpPr>
        <p:spPr>
          <a:xfrm>
            <a:off x="8782050" y="5038725"/>
            <a:ext cx="66675" cy="666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table-row-5-cell-6"/>
          <p:cNvSpPr txBox="1"/>
          <p:nvPr/>
        </p:nvSpPr>
        <p:spPr>
          <a:xfrm>
            <a:off x="9991725" y="499110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C. Okonkwo</a:t>
            </a:r>
          </a:p>
        </p:txBody>
      </p:sp>
      <p:sp>
        <p:nvSpPr>
          <p:cNvPr id="69" name="table-row-6-bg"/>
          <p:cNvSpPr/>
          <p:nvPr/>
        </p:nvSpPr>
        <p:spPr>
          <a:xfrm>
            <a:off x="609600" y="5324475"/>
            <a:ext cx="10972800" cy="466725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table-row-6-cell-1-name"/>
          <p:cNvSpPr txBox="1"/>
          <p:nvPr/>
        </p:nvSpPr>
        <p:spPr>
          <a:xfrm>
            <a:off x="704850" y="5400675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Talent Retention Value</a:t>
            </a:r>
          </a:p>
        </p:txBody>
      </p:sp>
      <p:sp>
        <p:nvSpPr>
          <p:cNvPr id="71" name="table-row-6-cell-1-type"/>
          <p:cNvSpPr txBox="1"/>
          <p:nvPr/>
        </p:nvSpPr>
        <p:spPr>
          <a:xfrm>
            <a:off x="704850" y="5591175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People / Attrition</a:t>
            </a:r>
          </a:p>
        </p:txBody>
      </p:sp>
      <p:sp>
        <p:nvSpPr>
          <p:cNvPr id="72" name="table-row-6-cell-2"/>
          <p:cNvSpPr txBox="1"/>
          <p:nvPr/>
        </p:nvSpPr>
        <p:spPr>
          <a:xfrm>
            <a:off x="3533775" y="5457825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$6.2M</a:t>
            </a:r>
          </a:p>
        </p:txBody>
      </p:sp>
      <p:sp>
        <p:nvSpPr>
          <p:cNvPr id="73" name="table-row-6-cell-3"/>
          <p:cNvSpPr txBox="1"/>
          <p:nvPr/>
        </p:nvSpPr>
        <p:spPr>
          <a:xfrm>
            <a:off x="4848225" y="5457825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$3.3M</a:t>
            </a:r>
          </a:p>
        </p:txBody>
      </p:sp>
      <p:sp>
        <p:nvSpPr>
          <p:cNvPr id="74" name="table-row-6-cell-4-pct"/>
          <p:cNvSpPr txBox="1"/>
          <p:nvPr/>
        </p:nvSpPr>
        <p:spPr>
          <a:xfrm>
            <a:off x="6267450" y="5457825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53%</a:t>
            </a:r>
          </a:p>
        </p:txBody>
      </p:sp>
      <p:sp>
        <p:nvSpPr>
          <p:cNvPr id="75" name="table-row-6-cell-4-track"/>
          <p:cNvSpPr/>
          <p:nvPr/>
        </p:nvSpPr>
        <p:spPr>
          <a:xfrm>
            <a:off x="6724650" y="5495925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6" name="table-row-6-cell-4-bar"/>
          <p:cNvSpPr/>
          <p:nvPr/>
        </p:nvSpPr>
        <p:spPr>
          <a:xfrm>
            <a:off x="6724650" y="5495925"/>
            <a:ext cx="714375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table-row-6-status-pill"/>
          <p:cNvSpPr txBox="1"/>
          <p:nvPr/>
        </p:nvSpPr>
        <p:spPr>
          <a:xfrm>
            <a:off x="8743950" y="5438775"/>
            <a:ext cx="685800" cy="190500"/>
          </a:xfrm>
          <a:prstGeom prst="rect">
            <a:avLst/>
          </a:prstGeom>
          <a:solidFill>
            <a:srgbClr val="854D0E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EF9C3"/>
                </a:solidFill>
                <a:latin typeface="Inter"/>
              </a:rPr>
              <a:t>At Risk</a:t>
            </a:r>
          </a:p>
        </p:txBody>
      </p:sp>
      <p:sp>
        <p:nvSpPr>
          <p:cNvPr id="78" name="table-row-6-rag-dot"/>
          <p:cNvSpPr/>
          <p:nvPr/>
        </p:nvSpPr>
        <p:spPr>
          <a:xfrm>
            <a:off x="8782050" y="5505450"/>
            <a:ext cx="66675" cy="6667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table-row-6-cell-6"/>
          <p:cNvSpPr txBox="1"/>
          <p:nvPr/>
        </p:nvSpPr>
        <p:spPr>
          <a:xfrm>
            <a:off x="9991725" y="5457825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D. Flores</a:t>
            </a:r>
          </a:p>
        </p:txBody>
      </p:sp>
      <p:sp>
        <p:nvSpPr>
          <p:cNvPr id="80" name="table-row-7-bg"/>
          <p:cNvSpPr/>
          <p:nvPr/>
        </p:nvSpPr>
        <p:spPr>
          <a:xfrm>
            <a:off x="609600" y="5791200"/>
            <a:ext cx="10972800" cy="4667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1" name="table-row-7-cell-1-name"/>
          <p:cNvSpPr txBox="1"/>
          <p:nvPr/>
        </p:nvSpPr>
        <p:spPr>
          <a:xfrm>
            <a:off x="704850" y="5867400"/>
            <a:ext cx="26574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Total Benefits</a:t>
            </a:r>
          </a:p>
        </p:txBody>
      </p:sp>
      <p:sp>
        <p:nvSpPr>
          <p:cNvPr id="82" name="table-row-7-cell-1-type"/>
          <p:cNvSpPr txBox="1"/>
          <p:nvPr/>
        </p:nvSpPr>
        <p:spPr>
          <a:xfrm>
            <a:off x="704850" y="6057900"/>
            <a:ext cx="26574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EEDDFF"/>
                </a:solidFill>
                <a:latin typeface="Inter"/>
              </a:rPr>
              <a:t>All workstreams</a:t>
            </a:r>
          </a:p>
        </p:txBody>
      </p:sp>
      <p:sp>
        <p:nvSpPr>
          <p:cNvPr id="83" name="table-row-7-cell-2"/>
          <p:cNvSpPr txBox="1"/>
          <p:nvPr/>
        </p:nvSpPr>
        <p:spPr>
          <a:xfrm>
            <a:off x="3533775" y="5924550"/>
            <a:ext cx="116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$56.7M</a:t>
            </a:r>
          </a:p>
        </p:txBody>
      </p:sp>
      <p:sp>
        <p:nvSpPr>
          <p:cNvPr id="84" name="table-row-7-cell-3"/>
          <p:cNvSpPr txBox="1"/>
          <p:nvPr/>
        </p:nvSpPr>
        <p:spPr>
          <a:xfrm>
            <a:off x="4848225" y="5924550"/>
            <a:ext cx="1266825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$42.0M</a:t>
            </a:r>
          </a:p>
        </p:txBody>
      </p:sp>
      <p:sp>
        <p:nvSpPr>
          <p:cNvPr id="85" name="table-row-7-cell-4-pct"/>
          <p:cNvSpPr txBox="1"/>
          <p:nvPr/>
        </p:nvSpPr>
        <p:spPr>
          <a:xfrm>
            <a:off x="6267450" y="5924550"/>
            <a:ext cx="34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74%</a:t>
            </a:r>
          </a:p>
        </p:txBody>
      </p:sp>
      <p:sp>
        <p:nvSpPr>
          <p:cNvPr id="86" name="table-row-7-cell-4-track"/>
          <p:cNvSpPr/>
          <p:nvPr/>
        </p:nvSpPr>
        <p:spPr>
          <a:xfrm>
            <a:off x="6724650" y="5962650"/>
            <a:ext cx="1362075" cy="762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table-row-7-cell-4-bar"/>
          <p:cNvSpPr/>
          <p:nvPr/>
        </p:nvSpPr>
        <p:spPr>
          <a:xfrm>
            <a:off x="6724650" y="5962650"/>
            <a:ext cx="1000125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table-row-7-status-pill"/>
          <p:cNvSpPr txBox="1"/>
          <p:nvPr/>
        </p:nvSpPr>
        <p:spPr>
          <a:xfrm>
            <a:off x="8743950" y="5905500"/>
            <a:ext cx="6858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19050" rIns="57150" bIns="19050" lIns="17145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On Track</a:t>
            </a:r>
          </a:p>
        </p:txBody>
      </p:sp>
      <p:sp>
        <p:nvSpPr>
          <p:cNvPr id="89" name="table-row-7-rag-dot"/>
          <p:cNvSpPr/>
          <p:nvPr/>
        </p:nvSpPr>
        <p:spPr>
          <a:xfrm>
            <a:off x="8782050" y="5972175"/>
            <a:ext cx="66675" cy="66675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0" name="table-row-7-cell-6"/>
          <p:cNvSpPr txBox="1"/>
          <p:nvPr/>
        </p:nvSpPr>
        <p:spPr>
          <a:xfrm>
            <a:off x="9991725" y="5924550"/>
            <a:ext cx="14859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PMO</a:t>
            </a:r>
          </a:p>
        </p:txBody>
      </p:sp>
      <p:sp>
        <p:nvSpPr>
          <p:cNvPr id="9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9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9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