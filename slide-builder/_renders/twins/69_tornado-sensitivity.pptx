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1A1A2E"/>
                </a:solidFill>
                <a:latin typeface="Inter"/>
              </a:rPr>
              <a:t>Cycle-time sensitivity — storyline coaching is the biggest lever.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9334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Six factors move cycle time; one moves it almost twice as much as the next.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3525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panel-bg"/>
          <p:cNvSpPr/>
          <p:nvPr/>
        </p:nvSpPr>
        <p:spPr>
          <a:xfrm>
            <a:off x="533400" y="1714500"/>
            <a:ext cx="8286750" cy="3848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723900" y="18478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DAYS VS. 14-DAY BASELINE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962650" y="1876425"/>
            <a:ext cx="95250" cy="95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6096000" y="18478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Reduces cycle time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7334250" y="1876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7467600" y="18478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Increases cycle time</a:t>
            </a:r>
          </a:p>
        </p:txBody>
      </p:sp>
      <p:sp>
        <p:nvSpPr>
          <p:cNvPr id="11" name="chart-baseline-axis"/>
          <p:cNvSpPr/>
          <p:nvPr/>
        </p:nvSpPr>
        <p:spPr>
          <a:xfrm>
            <a:off x="5343525" y="2266950"/>
            <a:ext cx="19050" cy="2914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hart-tick-1-label"/>
          <p:cNvSpPr txBox="1"/>
          <p:nvPr/>
        </p:nvSpPr>
        <p:spPr>
          <a:xfrm>
            <a:off x="205740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-6d</a:t>
            </a:r>
          </a:p>
        </p:txBody>
      </p:sp>
      <p:sp>
        <p:nvSpPr>
          <p:cNvPr id="13" name="chart-tick-2-label"/>
          <p:cNvSpPr txBox="1"/>
          <p:nvPr/>
        </p:nvSpPr>
        <p:spPr>
          <a:xfrm>
            <a:off x="3114675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-4d</a:t>
            </a:r>
          </a:p>
        </p:txBody>
      </p:sp>
      <p:sp>
        <p:nvSpPr>
          <p:cNvPr id="14" name="chart-tick-3-label"/>
          <p:cNvSpPr txBox="1"/>
          <p:nvPr/>
        </p:nvSpPr>
        <p:spPr>
          <a:xfrm>
            <a:off x="417195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-2d</a:t>
            </a:r>
          </a:p>
        </p:txBody>
      </p:sp>
      <p:sp>
        <p:nvSpPr>
          <p:cNvPr id="15" name="chart-tick-4-label"/>
          <p:cNvSpPr txBox="1"/>
          <p:nvPr/>
        </p:nvSpPr>
        <p:spPr>
          <a:xfrm>
            <a:off x="5229225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</a:t>
            </a:r>
          </a:p>
        </p:txBody>
      </p:sp>
      <p:sp>
        <p:nvSpPr>
          <p:cNvPr id="16" name="chart-tick-5-label"/>
          <p:cNvSpPr txBox="1"/>
          <p:nvPr/>
        </p:nvSpPr>
        <p:spPr>
          <a:xfrm>
            <a:off x="628650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+2d</a:t>
            </a:r>
          </a:p>
        </p:txBody>
      </p:sp>
      <p:sp>
        <p:nvSpPr>
          <p:cNvPr id="17" name="chart-tick-6-label"/>
          <p:cNvSpPr txBox="1"/>
          <p:nvPr/>
        </p:nvSpPr>
        <p:spPr>
          <a:xfrm>
            <a:off x="7343775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+4d</a:t>
            </a:r>
          </a:p>
        </p:txBody>
      </p:sp>
      <p:sp>
        <p:nvSpPr>
          <p:cNvPr id="18" name="chart-tick-7-label"/>
          <p:cNvSpPr txBox="1"/>
          <p:nvPr/>
        </p:nvSpPr>
        <p:spPr>
          <a:xfrm>
            <a:off x="840105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+6d</a:t>
            </a:r>
          </a:p>
        </p:txBody>
      </p:sp>
      <p:sp>
        <p:nvSpPr>
          <p:cNvPr id="19" name="chart-axis-label"/>
          <p:cNvSpPr txBox="1"/>
          <p:nvPr/>
        </p:nvSpPr>
        <p:spPr>
          <a:xfrm>
            <a:off x="2171700" y="5410200"/>
            <a:ext cx="6343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Change vs. baseline (days)</a:t>
            </a:r>
          </a:p>
        </p:txBody>
      </p:sp>
      <p:sp>
        <p:nvSpPr>
          <p:cNvPr id="20" name="chart-subtitle"/>
          <p:cNvSpPr txBox="1"/>
          <p:nvPr/>
        </p:nvSpPr>
        <p:spPr>
          <a:xfrm>
            <a:off x="2019300" y="541020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Baseline: 14 days</a:t>
            </a:r>
          </a:p>
        </p:txBody>
      </p:sp>
      <p:sp>
        <p:nvSpPr>
          <p:cNvPr id="21" name="bar-1-label"/>
          <p:cNvSpPr txBox="1"/>
          <p:nvPr/>
        </p:nvSpPr>
        <p:spPr>
          <a:xfrm>
            <a:off x="704850" y="25812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Storyline session present</a:t>
            </a:r>
          </a:p>
        </p:txBody>
      </p:sp>
      <p:sp>
        <p:nvSpPr>
          <p:cNvPr id="22" name="bar-1-neg-bar"/>
          <p:cNvSpPr/>
          <p:nvPr/>
        </p:nvSpPr>
        <p:spPr>
          <a:xfrm>
            <a:off x="2171700" y="2552700"/>
            <a:ext cx="31718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1-neg-val"/>
          <p:cNvSpPr txBox="1"/>
          <p:nvPr/>
        </p:nvSpPr>
        <p:spPr>
          <a:xfrm>
            <a:off x="1828800" y="25717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-6d</a:t>
            </a:r>
          </a:p>
        </p:txBody>
      </p:sp>
      <p:sp>
        <p:nvSpPr>
          <p:cNvPr id="24" name="bar-2-label"/>
          <p:cNvSpPr txBox="1"/>
          <p:nvPr/>
        </p:nvSpPr>
        <p:spPr>
          <a:xfrm>
            <a:off x="704850" y="30194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Pattern library size</a:t>
            </a:r>
          </a:p>
        </p:txBody>
      </p:sp>
      <p:sp>
        <p:nvSpPr>
          <p:cNvPr id="25" name="bar-2-neg-bar"/>
          <p:cNvSpPr/>
          <p:nvPr/>
        </p:nvSpPr>
        <p:spPr>
          <a:xfrm>
            <a:off x="3762375" y="2990850"/>
            <a:ext cx="15811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ar-2-neg-val"/>
          <p:cNvSpPr txBox="1"/>
          <p:nvPr/>
        </p:nvSpPr>
        <p:spPr>
          <a:xfrm>
            <a:off x="3419475" y="30099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-3d</a:t>
            </a:r>
          </a:p>
        </p:txBody>
      </p:sp>
      <p:sp>
        <p:nvSpPr>
          <p:cNvPr id="27" name="bar-2-pos-bar"/>
          <p:cNvSpPr/>
          <p:nvPr/>
        </p:nvSpPr>
        <p:spPr>
          <a:xfrm>
            <a:off x="5343525" y="2990850"/>
            <a:ext cx="5238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ar-2-pos-val"/>
          <p:cNvSpPr txBox="1"/>
          <p:nvPr/>
        </p:nvSpPr>
        <p:spPr>
          <a:xfrm>
            <a:off x="5905500" y="3009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+1d</a:t>
            </a:r>
          </a:p>
        </p:txBody>
      </p:sp>
      <p:sp>
        <p:nvSpPr>
          <p:cNvPr id="29" name="bar-3-label"/>
          <p:cNvSpPr txBox="1"/>
          <p:nvPr/>
        </p:nvSpPr>
        <p:spPr>
          <a:xfrm>
            <a:off x="704850" y="34575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Reviewer count</a:t>
            </a:r>
          </a:p>
        </p:txBody>
      </p:sp>
      <p:sp>
        <p:nvSpPr>
          <p:cNvPr id="30" name="bar-3-pos-bar"/>
          <p:cNvSpPr/>
          <p:nvPr/>
        </p:nvSpPr>
        <p:spPr>
          <a:xfrm>
            <a:off x="5343525" y="3429000"/>
            <a:ext cx="2114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r-3-pos-val"/>
          <p:cNvSpPr txBox="1"/>
          <p:nvPr/>
        </p:nvSpPr>
        <p:spPr>
          <a:xfrm>
            <a:off x="7496175" y="34480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+4d</a:t>
            </a:r>
          </a:p>
        </p:txBody>
      </p:sp>
      <p:sp>
        <p:nvSpPr>
          <p:cNvPr id="32" name="bar-4-label"/>
          <p:cNvSpPr txBox="1"/>
          <p:nvPr/>
        </p:nvSpPr>
        <p:spPr>
          <a:xfrm>
            <a:off x="704850" y="38957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Partner pre-read</a:t>
            </a:r>
          </a:p>
        </p:txBody>
      </p:sp>
      <p:sp>
        <p:nvSpPr>
          <p:cNvPr id="33" name="bar-4-neg-bar"/>
          <p:cNvSpPr/>
          <p:nvPr/>
        </p:nvSpPr>
        <p:spPr>
          <a:xfrm>
            <a:off x="4286250" y="3867150"/>
            <a:ext cx="105727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ar-4-neg-val"/>
          <p:cNvSpPr txBox="1"/>
          <p:nvPr/>
        </p:nvSpPr>
        <p:spPr>
          <a:xfrm>
            <a:off x="3943350" y="388620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-2d</a:t>
            </a:r>
          </a:p>
        </p:txBody>
      </p:sp>
      <p:sp>
        <p:nvSpPr>
          <p:cNvPr id="35" name="bar-4-pos-bar"/>
          <p:cNvSpPr/>
          <p:nvPr/>
        </p:nvSpPr>
        <p:spPr>
          <a:xfrm>
            <a:off x="5343525" y="3867150"/>
            <a:ext cx="10572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ar-4-pos-val"/>
          <p:cNvSpPr txBox="1"/>
          <p:nvPr/>
        </p:nvSpPr>
        <p:spPr>
          <a:xfrm>
            <a:off x="6438900" y="38862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+2d</a:t>
            </a:r>
          </a:p>
        </p:txBody>
      </p:sp>
      <p:sp>
        <p:nvSpPr>
          <p:cNvPr id="37" name="bar-5-label"/>
          <p:cNvSpPr txBox="1"/>
          <p:nvPr/>
        </p:nvSpPr>
        <p:spPr>
          <a:xfrm>
            <a:off x="704850" y="43338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Junior on team</a:t>
            </a:r>
          </a:p>
        </p:txBody>
      </p:sp>
      <p:sp>
        <p:nvSpPr>
          <p:cNvPr id="38" name="bar-5-pos-bar"/>
          <p:cNvSpPr/>
          <p:nvPr/>
        </p:nvSpPr>
        <p:spPr>
          <a:xfrm>
            <a:off x="5343525" y="4305300"/>
            <a:ext cx="10572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ar-5-pos-val"/>
          <p:cNvSpPr txBox="1"/>
          <p:nvPr/>
        </p:nvSpPr>
        <p:spPr>
          <a:xfrm>
            <a:off x="6438900" y="43243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+2d</a:t>
            </a:r>
          </a:p>
        </p:txBody>
      </p:sp>
      <p:sp>
        <p:nvSpPr>
          <p:cNvPr id="40" name="bar-6-label"/>
          <p:cNvSpPr txBox="1"/>
          <p:nvPr/>
        </p:nvSpPr>
        <p:spPr>
          <a:xfrm>
            <a:off x="704850" y="47720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Brand template complexity</a:t>
            </a:r>
          </a:p>
        </p:txBody>
      </p:sp>
      <p:sp>
        <p:nvSpPr>
          <p:cNvPr id="41" name="bar-6-pos-bar"/>
          <p:cNvSpPr/>
          <p:nvPr/>
        </p:nvSpPr>
        <p:spPr>
          <a:xfrm>
            <a:off x="5343525" y="4743450"/>
            <a:ext cx="5238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ar-6-pos-val"/>
          <p:cNvSpPr txBox="1"/>
          <p:nvPr/>
        </p:nvSpPr>
        <p:spPr>
          <a:xfrm>
            <a:off x="5905500" y="47625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+1d</a:t>
            </a:r>
          </a:p>
        </p:txBody>
      </p:sp>
      <p:sp>
        <p:nvSpPr>
          <p:cNvPr id="43" name="annot-bg"/>
          <p:cNvSpPr/>
          <p:nvPr/>
        </p:nvSpPr>
        <p:spPr>
          <a:xfrm>
            <a:off x="8991600" y="1714500"/>
            <a:ext cx="2667000" cy="3848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annot-header"/>
          <p:cNvSpPr txBox="1"/>
          <p:nvPr/>
        </p:nvSpPr>
        <p:spPr>
          <a:xfrm>
            <a:off x="9163050" y="1924050"/>
            <a:ext cx="2324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TOP 3 SENSITIVITIES</a:t>
            </a:r>
          </a:p>
        </p:txBody>
      </p:sp>
      <p:sp>
        <p:nvSpPr>
          <p:cNvPr id="45" name="annot-sub"/>
          <p:cNvSpPr txBox="1"/>
          <p:nvPr/>
        </p:nvSpPr>
        <p:spPr>
          <a:xfrm>
            <a:off x="9163050" y="2114550"/>
            <a:ext cx="2324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Where to invest first — and where not to bother.</a:t>
            </a:r>
          </a:p>
        </p:txBody>
      </p:sp>
      <p:sp>
        <p:nvSpPr>
          <p:cNvPr id="46" name="annot-1-marker"/>
          <p:cNvSpPr txBox="1"/>
          <p:nvPr/>
        </p:nvSpPr>
        <p:spPr>
          <a:xfrm>
            <a:off x="9163050" y="26670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7" name="annot-1-label"/>
          <p:cNvSpPr txBox="1"/>
          <p:nvPr/>
        </p:nvSpPr>
        <p:spPr>
          <a:xfrm>
            <a:off x="9410700" y="26479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 session present (-6d)</a:t>
            </a:r>
          </a:p>
        </p:txBody>
      </p:sp>
      <p:sp>
        <p:nvSpPr>
          <p:cNvPr id="48" name="annot-1-body"/>
          <p:cNvSpPr txBox="1"/>
          <p:nvPr/>
        </p:nvSpPr>
        <p:spPr>
          <a:xfrm>
            <a:off x="9410700" y="2838450"/>
            <a:ext cx="2095500" cy="704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Single biggest lever. Coaching upstream prevents 60% of rework cycles downstream.</a:t>
            </a:r>
          </a:p>
        </p:txBody>
      </p:sp>
      <p:sp>
        <p:nvSpPr>
          <p:cNvPr id="49" name="annot-2-marker"/>
          <p:cNvSpPr txBox="1"/>
          <p:nvPr/>
        </p:nvSpPr>
        <p:spPr>
          <a:xfrm>
            <a:off x="9163050" y="36004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0" name="annot-2-label"/>
          <p:cNvSpPr txBox="1"/>
          <p:nvPr/>
        </p:nvSpPr>
        <p:spPr>
          <a:xfrm>
            <a:off x="9410700" y="35814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Reviewer count (+4d)</a:t>
            </a:r>
          </a:p>
        </p:txBody>
      </p:sp>
      <p:sp>
        <p:nvSpPr>
          <p:cNvPr id="51" name="annot-2-body"/>
          <p:cNvSpPr txBox="1"/>
          <p:nvPr/>
        </p:nvSpPr>
        <p:spPr>
          <a:xfrm>
            <a:off x="9410700" y="3771900"/>
            <a:ext cx="2095500" cy="704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Each extra reviewer adds ~1.3 days. Cap at two for non-exec decks.</a:t>
            </a:r>
          </a:p>
        </p:txBody>
      </p:sp>
      <p:sp>
        <p:nvSpPr>
          <p:cNvPr id="52" name="annot-3-marker"/>
          <p:cNvSpPr txBox="1"/>
          <p:nvPr/>
        </p:nvSpPr>
        <p:spPr>
          <a:xfrm>
            <a:off x="9163050" y="45339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3" name="annot-3-label"/>
          <p:cNvSpPr txBox="1"/>
          <p:nvPr/>
        </p:nvSpPr>
        <p:spPr>
          <a:xfrm>
            <a:off x="9410700" y="45148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Pattern library size (-3d)</a:t>
            </a:r>
          </a:p>
        </p:txBody>
      </p:sp>
      <p:sp>
        <p:nvSpPr>
          <p:cNvPr id="54" name="annot-3-body"/>
          <p:cNvSpPr txBox="1"/>
          <p:nvPr/>
        </p:nvSpPr>
        <p:spPr>
          <a:xfrm>
            <a:off x="9410700" y="4705350"/>
            <a:ext cx="2095500" cy="704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Doubling the library cuts build time by a fifth. Keep investing in skeletons.</a:t>
            </a:r>
          </a:p>
        </p:txBody>
      </p:sp>
      <p:sp>
        <p:nvSpPr>
          <p:cNvPr id="55" name="convergence-bg"/>
          <p:cNvSpPr/>
          <p:nvPr/>
        </p:nvSpPr>
        <p:spPr>
          <a:xfrm>
            <a:off x="533400" y="5619750"/>
            <a:ext cx="111252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nvergence-accent"/>
          <p:cNvSpPr/>
          <p:nvPr/>
        </p:nvSpPr>
        <p:spPr>
          <a:xfrm>
            <a:off x="533400" y="561975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nvergence"/>
          <p:cNvSpPr txBox="1"/>
          <p:nvPr/>
        </p:nvSpPr>
        <p:spPr>
          <a:xfrm>
            <a:off x="742950" y="5619750"/>
            <a:ext cx="107061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Invest in storyline coaching first — it moves the needle twice as much as anything else on the list.</a:t>
            </a:r>
          </a:p>
        </p:txBody>
      </p:sp>
      <p:sp>
        <p:nvSpPr>
          <p:cNvPr id="5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