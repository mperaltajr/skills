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09600" y="266700"/>
            <a:ext cx="10477500" cy="685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2025" b="1" i="0">
                <a:solidFill>
                  <a:srgbClr val="1A1A2E"/>
                </a:solidFill>
                <a:latin typeface="Inter"/>
              </a:rPr>
              <a:t>Q3 OKRs — one objective, three key results, nine initiatives.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609600" y="933450"/>
            <a:ext cx="104775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Each level commits the level below: the objective sets ambition, KRs make it measurable, initiatives make it doable this quarter.</a:t>
            </a:r>
          </a:p>
        </p:txBody>
      </p:sp>
      <p:sp>
        <p:nvSpPr>
          <p:cNvPr id="4" name="brand-rule"/>
          <p:cNvSpPr/>
          <p:nvPr/>
        </p:nvSpPr>
        <p:spPr>
          <a:xfrm>
            <a:off x="609600" y="1352550"/>
            <a:ext cx="533400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chart-canvas"/>
          <p:cNvSpPr/>
          <p:nvPr/>
        </p:nvSpPr>
        <p:spPr>
          <a:xfrm>
            <a:off x="609600" y="1657350"/>
            <a:ext cx="10972800" cy="4324350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objective"/>
          <p:cNvSpPr/>
          <p:nvPr/>
        </p:nvSpPr>
        <p:spPr>
          <a:xfrm>
            <a:off x="2667000" y="1657350"/>
            <a:ext cx="6858000" cy="7429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" name="objective-tag"/>
          <p:cNvSpPr txBox="1"/>
          <p:nvPr/>
        </p:nvSpPr>
        <p:spPr>
          <a:xfrm>
            <a:off x="2895600" y="1771650"/>
            <a:ext cx="64008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OBJECTIVE</a:t>
            </a:r>
          </a:p>
        </p:txBody>
      </p:sp>
      <p:sp>
        <p:nvSpPr>
          <p:cNvPr id="8" name="objective-label"/>
          <p:cNvSpPr txBox="1"/>
          <p:nvPr/>
        </p:nvSpPr>
        <p:spPr>
          <a:xfrm>
            <a:off x="2895600" y="1943100"/>
            <a:ext cx="6400800" cy="4000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200" b="1" i="0">
                <a:solidFill>
                  <a:srgbClr val="FFFFFF"/>
                </a:solidFill>
                <a:latin typeface="Inter"/>
              </a:rPr>
              <a:t>Make Slide Lab the default deck-building method across three practices.</a:t>
            </a:r>
          </a:p>
        </p:txBody>
      </p:sp>
      <p:sp>
        <p:nvSpPr>
          <p:cNvPr id="9" name="kr-1"/>
          <p:cNvSpPr/>
          <p:nvPr/>
        </p:nvSpPr>
        <p:spPr>
          <a:xfrm>
            <a:off x="609600" y="2933700"/>
            <a:ext cx="3505200" cy="68580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" name="kr-1-tag"/>
          <p:cNvSpPr txBox="1"/>
          <p:nvPr/>
        </p:nvSpPr>
        <p:spPr>
          <a:xfrm>
            <a:off x="762000" y="3028950"/>
            <a:ext cx="32004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KEY RESULT 1</a:t>
            </a:r>
          </a:p>
        </p:txBody>
      </p:sp>
      <p:sp>
        <p:nvSpPr>
          <p:cNvPr id="11" name="kr-1-label"/>
          <p:cNvSpPr txBox="1"/>
          <p:nvPr/>
        </p:nvSpPr>
        <p:spPr>
          <a:xfrm>
            <a:off x="762000" y="3200400"/>
            <a:ext cx="3200400" cy="3619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Roll out to 3 practice areas by Q3 end</a:t>
            </a:r>
          </a:p>
        </p:txBody>
      </p:sp>
      <p:sp>
        <p:nvSpPr>
          <p:cNvPr id="12" name="kr-1-init-1"/>
          <p:cNvSpPr/>
          <p:nvPr/>
        </p:nvSpPr>
        <p:spPr>
          <a:xfrm>
            <a:off x="609600" y="3981450"/>
            <a:ext cx="3505200" cy="36195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" name="kr-1-init-1-num"/>
          <p:cNvSpPr txBox="1"/>
          <p:nvPr/>
        </p:nvSpPr>
        <p:spPr>
          <a:xfrm>
            <a:off x="704850" y="4086225"/>
            <a:ext cx="2286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5C2D87"/>
                </a:solidFill>
                <a:latin typeface="Inter"/>
              </a:rPr>
              <a:t>1.1</a:t>
            </a:r>
          </a:p>
        </p:txBody>
      </p:sp>
      <p:sp>
        <p:nvSpPr>
          <p:cNvPr id="14" name="kr-1-init-1-text"/>
          <p:cNvSpPr txBox="1"/>
          <p:nvPr/>
        </p:nvSpPr>
        <p:spPr>
          <a:xfrm>
            <a:off x="971550" y="4057650"/>
            <a:ext cx="30480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Coach 6 senior managers through full deck cycle</a:t>
            </a:r>
          </a:p>
        </p:txBody>
      </p:sp>
      <p:sp>
        <p:nvSpPr>
          <p:cNvPr id="15" name="kr-1-init-2"/>
          <p:cNvSpPr/>
          <p:nvPr/>
        </p:nvSpPr>
        <p:spPr>
          <a:xfrm>
            <a:off x="609600" y="4419600"/>
            <a:ext cx="3505200" cy="36195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" name="kr-1-init-2-num"/>
          <p:cNvSpPr txBox="1"/>
          <p:nvPr/>
        </p:nvSpPr>
        <p:spPr>
          <a:xfrm>
            <a:off x="704850" y="4524375"/>
            <a:ext cx="2286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5C2D87"/>
                </a:solidFill>
                <a:latin typeface="Inter"/>
              </a:rPr>
              <a:t>1.2</a:t>
            </a:r>
          </a:p>
        </p:txBody>
      </p:sp>
      <p:sp>
        <p:nvSpPr>
          <p:cNvPr id="17" name="kr-1-init-2-text"/>
          <p:cNvSpPr txBox="1"/>
          <p:nvPr/>
        </p:nvSpPr>
        <p:spPr>
          <a:xfrm>
            <a:off x="971550" y="4495800"/>
            <a:ext cx="30480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Brand-theme each practice (colors, type, marks)</a:t>
            </a:r>
          </a:p>
        </p:txBody>
      </p:sp>
      <p:sp>
        <p:nvSpPr>
          <p:cNvPr id="18" name="kr-1-init-3"/>
          <p:cNvSpPr/>
          <p:nvPr/>
        </p:nvSpPr>
        <p:spPr>
          <a:xfrm>
            <a:off x="609600" y="4857750"/>
            <a:ext cx="3505200" cy="36195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9" name="kr-1-init-3-num"/>
          <p:cNvSpPr txBox="1"/>
          <p:nvPr/>
        </p:nvSpPr>
        <p:spPr>
          <a:xfrm>
            <a:off x="704850" y="4962525"/>
            <a:ext cx="2286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5C2D87"/>
                </a:solidFill>
                <a:latin typeface="Inter"/>
              </a:rPr>
              <a:t>1.3</a:t>
            </a:r>
          </a:p>
        </p:txBody>
      </p:sp>
      <p:sp>
        <p:nvSpPr>
          <p:cNvPr id="20" name="kr-1-init-3-text"/>
          <p:cNvSpPr txBox="1"/>
          <p:nvPr/>
        </p:nvSpPr>
        <p:spPr>
          <a:xfrm>
            <a:off x="971550" y="4933950"/>
            <a:ext cx="30480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Weekly pilot review with practice leads</a:t>
            </a:r>
          </a:p>
        </p:txBody>
      </p:sp>
      <p:sp>
        <p:nvSpPr>
          <p:cNvPr id="21" name="kr-2"/>
          <p:cNvSpPr/>
          <p:nvPr/>
        </p:nvSpPr>
        <p:spPr>
          <a:xfrm>
            <a:off x="4343400" y="2933700"/>
            <a:ext cx="3505200" cy="68580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2" name="kr-2-tag"/>
          <p:cNvSpPr txBox="1"/>
          <p:nvPr/>
        </p:nvSpPr>
        <p:spPr>
          <a:xfrm>
            <a:off x="4495800" y="3028950"/>
            <a:ext cx="32004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KEY RESULT 2</a:t>
            </a:r>
          </a:p>
        </p:txBody>
      </p:sp>
      <p:sp>
        <p:nvSpPr>
          <p:cNvPr id="23" name="kr-2-label"/>
          <p:cNvSpPr txBox="1"/>
          <p:nvPr/>
        </p:nvSpPr>
        <p:spPr>
          <a:xfrm>
            <a:off x="4495800" y="3200400"/>
            <a:ext cx="3200400" cy="3619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80%+ partner-ready sign-off rate</a:t>
            </a:r>
          </a:p>
        </p:txBody>
      </p:sp>
      <p:sp>
        <p:nvSpPr>
          <p:cNvPr id="24" name="kr-2-init-1"/>
          <p:cNvSpPr/>
          <p:nvPr/>
        </p:nvSpPr>
        <p:spPr>
          <a:xfrm>
            <a:off x="4343400" y="3981450"/>
            <a:ext cx="3505200" cy="36195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5" name="kr-2-init-1-num"/>
          <p:cNvSpPr txBox="1"/>
          <p:nvPr/>
        </p:nvSpPr>
        <p:spPr>
          <a:xfrm>
            <a:off x="4438650" y="4086225"/>
            <a:ext cx="2286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5C2D87"/>
                </a:solidFill>
                <a:latin typeface="Inter"/>
              </a:rPr>
              <a:t>2.1</a:t>
            </a:r>
          </a:p>
        </p:txBody>
      </p:sp>
      <p:sp>
        <p:nvSpPr>
          <p:cNvPr id="26" name="kr-2-init-1-text"/>
          <p:cNvSpPr txBox="1"/>
          <p:nvPr/>
        </p:nvSpPr>
        <p:spPr>
          <a:xfrm>
            <a:off x="4705350" y="4057650"/>
            <a:ext cx="30480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Ship QC framework v2 with deterministic checks</a:t>
            </a:r>
          </a:p>
        </p:txBody>
      </p:sp>
      <p:sp>
        <p:nvSpPr>
          <p:cNvPr id="27" name="kr-2-init-2"/>
          <p:cNvSpPr/>
          <p:nvPr/>
        </p:nvSpPr>
        <p:spPr>
          <a:xfrm>
            <a:off x="4343400" y="4419600"/>
            <a:ext cx="3505200" cy="36195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8" name="kr-2-init-2-num"/>
          <p:cNvSpPr txBox="1"/>
          <p:nvPr/>
        </p:nvSpPr>
        <p:spPr>
          <a:xfrm>
            <a:off x="4438650" y="4524375"/>
            <a:ext cx="2286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5C2D87"/>
                </a:solidFill>
                <a:latin typeface="Inter"/>
              </a:rPr>
              <a:t>2.2</a:t>
            </a:r>
          </a:p>
        </p:txBody>
      </p:sp>
      <p:sp>
        <p:nvSpPr>
          <p:cNvPr id="29" name="kr-2-init-2-text"/>
          <p:cNvSpPr txBox="1"/>
          <p:nvPr/>
        </p:nvSpPr>
        <p:spPr>
          <a:xfrm>
            <a:off x="4705350" y="4495800"/>
            <a:ext cx="30480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Grow pattern library to 100+ vetted patterns</a:t>
            </a:r>
          </a:p>
        </p:txBody>
      </p:sp>
      <p:sp>
        <p:nvSpPr>
          <p:cNvPr id="30" name="kr-2-init-3"/>
          <p:cNvSpPr/>
          <p:nvPr/>
        </p:nvSpPr>
        <p:spPr>
          <a:xfrm>
            <a:off x="4343400" y="4857750"/>
            <a:ext cx="3505200" cy="36195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1" name="kr-2-init-3-num"/>
          <p:cNvSpPr txBox="1"/>
          <p:nvPr/>
        </p:nvSpPr>
        <p:spPr>
          <a:xfrm>
            <a:off x="4438650" y="4962525"/>
            <a:ext cx="2286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5C2D87"/>
                </a:solidFill>
                <a:latin typeface="Inter"/>
              </a:rPr>
              <a:t>2.3</a:t>
            </a:r>
          </a:p>
        </p:txBody>
      </p:sp>
      <p:sp>
        <p:nvSpPr>
          <p:cNvPr id="32" name="kr-2-init-3-text"/>
          <p:cNvSpPr txBox="1"/>
          <p:nvPr/>
        </p:nvSpPr>
        <p:spPr>
          <a:xfrm>
            <a:off x="4705350" y="4933950"/>
            <a:ext cx="30480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Close the coach feedback loop after every deck</a:t>
            </a:r>
          </a:p>
        </p:txBody>
      </p:sp>
      <p:sp>
        <p:nvSpPr>
          <p:cNvPr id="33" name="kr-3"/>
          <p:cNvSpPr/>
          <p:nvPr/>
        </p:nvSpPr>
        <p:spPr>
          <a:xfrm>
            <a:off x="8077200" y="2933700"/>
            <a:ext cx="3505200" cy="68580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4" name="kr-3-tag"/>
          <p:cNvSpPr txBox="1"/>
          <p:nvPr/>
        </p:nvSpPr>
        <p:spPr>
          <a:xfrm>
            <a:off x="8229600" y="3028950"/>
            <a:ext cx="32004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KEY RESULT 3</a:t>
            </a:r>
          </a:p>
        </p:txBody>
      </p:sp>
      <p:sp>
        <p:nvSpPr>
          <p:cNvPr id="35" name="kr-3-label"/>
          <p:cNvSpPr txBox="1"/>
          <p:nvPr/>
        </p:nvSpPr>
        <p:spPr>
          <a:xfrm>
            <a:off x="8229600" y="3200400"/>
            <a:ext cx="3200400" cy="3619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−50% deck cycle time vs Q2 baseline</a:t>
            </a:r>
          </a:p>
        </p:txBody>
      </p:sp>
      <p:sp>
        <p:nvSpPr>
          <p:cNvPr id="36" name="kr-3-init-1"/>
          <p:cNvSpPr/>
          <p:nvPr/>
        </p:nvSpPr>
        <p:spPr>
          <a:xfrm>
            <a:off x="8077200" y="3981450"/>
            <a:ext cx="3505200" cy="36195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7" name="kr-3-init-1-num"/>
          <p:cNvSpPr txBox="1"/>
          <p:nvPr/>
        </p:nvSpPr>
        <p:spPr>
          <a:xfrm>
            <a:off x="8172450" y="4086225"/>
            <a:ext cx="2286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5C2D87"/>
                </a:solidFill>
                <a:latin typeface="Inter"/>
              </a:rPr>
              <a:t>3.1</a:t>
            </a:r>
          </a:p>
        </p:txBody>
      </p:sp>
      <p:sp>
        <p:nvSpPr>
          <p:cNvPr id="38" name="kr-3-init-1-text"/>
          <p:cNvSpPr txBox="1"/>
          <p:nvPr/>
        </p:nvSpPr>
        <p:spPr>
          <a:xfrm>
            <a:off x="8439150" y="4057650"/>
            <a:ext cx="30480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Optimize the storyline session to under 30 min</a:t>
            </a:r>
          </a:p>
        </p:txBody>
      </p:sp>
      <p:sp>
        <p:nvSpPr>
          <p:cNvPr id="39" name="kr-3-init-2"/>
          <p:cNvSpPr/>
          <p:nvPr/>
        </p:nvSpPr>
        <p:spPr>
          <a:xfrm>
            <a:off x="8077200" y="4419600"/>
            <a:ext cx="3505200" cy="36195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0" name="kr-3-init-2-num"/>
          <p:cNvSpPr txBox="1"/>
          <p:nvPr/>
        </p:nvSpPr>
        <p:spPr>
          <a:xfrm>
            <a:off x="8172450" y="4524375"/>
            <a:ext cx="2286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5C2D87"/>
                </a:solidFill>
                <a:latin typeface="Inter"/>
              </a:rPr>
              <a:t>3.2</a:t>
            </a:r>
          </a:p>
        </p:txBody>
      </p:sp>
      <p:sp>
        <p:nvSpPr>
          <p:cNvPr id="41" name="kr-3-init-2-text"/>
          <p:cNvSpPr txBox="1"/>
          <p:nvPr/>
        </p:nvSpPr>
        <p:spPr>
          <a:xfrm>
            <a:off x="8439150" y="4495800"/>
            <a:ext cx="30480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Build the HTML-to-PPTX translator end-to-end</a:t>
            </a:r>
          </a:p>
        </p:txBody>
      </p:sp>
      <p:sp>
        <p:nvSpPr>
          <p:cNvPr id="42" name="kr-3-init-3"/>
          <p:cNvSpPr/>
          <p:nvPr/>
        </p:nvSpPr>
        <p:spPr>
          <a:xfrm>
            <a:off x="8077200" y="4857750"/>
            <a:ext cx="3505200" cy="36195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3" name="kr-3-init-3-num"/>
          <p:cNvSpPr txBox="1"/>
          <p:nvPr/>
        </p:nvSpPr>
        <p:spPr>
          <a:xfrm>
            <a:off x="8172450" y="4962525"/>
            <a:ext cx="2286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5C2D87"/>
                </a:solidFill>
                <a:latin typeface="Inter"/>
              </a:rPr>
              <a:t>3.3</a:t>
            </a:r>
          </a:p>
        </p:txBody>
      </p:sp>
      <p:sp>
        <p:nvSpPr>
          <p:cNvPr id="44" name="kr-3-init-3-text"/>
          <p:cNvSpPr txBox="1"/>
          <p:nvPr/>
        </p:nvSpPr>
        <p:spPr>
          <a:xfrm>
            <a:off x="8439150" y="4933950"/>
            <a:ext cx="30480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Enable one-click template hot-swap per practice</a:t>
            </a:r>
          </a:p>
        </p:txBody>
      </p:sp>
      <p:sp>
        <p:nvSpPr>
          <p:cNvPr id="45" name="convergence-bg"/>
          <p:cNvSpPr/>
          <p:nvPr/>
        </p:nvSpPr>
        <p:spPr>
          <a:xfrm>
            <a:off x="609600" y="6076950"/>
            <a:ext cx="10972800" cy="41910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6" name="convergence"/>
          <p:cNvSpPr txBox="1"/>
          <p:nvPr/>
        </p:nvSpPr>
        <p:spPr>
          <a:xfrm>
            <a:off x="819150" y="6076950"/>
            <a:ext cx="10553700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FFFFFF"/>
                </a:solidFill>
                <a:latin typeface="Inter"/>
              </a:rPr>
              <a:t>Nine initiatives, three measurable outcomes, one ambition — if an initiative does not ladder up, it does not ship this quarter.</a:t>
            </a:r>
          </a:p>
        </p:txBody>
      </p:sp>
      <p:sp>
        <p:nvSpPr>
          <p:cNvPr id="47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48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4A3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49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4A3B8"/>
                </a:solidFill>
                <a:latin typeface="Inter"/>
              </a:rPr>
              <a:t>72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