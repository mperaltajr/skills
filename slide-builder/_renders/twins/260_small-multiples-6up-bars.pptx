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Revenue by segment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consistent scale, 5-year view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FY22–FY26 · Revenue $M · Consistent scale 0–$300M across all panels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"/>
          <p:cNvSpPr/>
          <p:nvPr/>
        </p:nvSpPr>
        <p:spPr>
          <a:xfrm>
            <a:off x="457200" y="2190750"/>
            <a:ext cx="36576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title"/>
          <p:cNvSpPr txBox="1"/>
          <p:nvPr/>
        </p:nvSpPr>
        <p:spPr>
          <a:xfrm>
            <a:off x="590550" y="2286000"/>
            <a:ext cx="3390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Retail</a:t>
            </a:r>
          </a:p>
        </p:txBody>
      </p:sp>
      <p:sp>
        <p:nvSpPr>
          <p:cNvPr id="7" name="card-1-bar-1"/>
          <p:cNvSpPr/>
          <p:nvPr/>
        </p:nvSpPr>
        <p:spPr>
          <a:xfrm>
            <a:off x="762000" y="3209925"/>
            <a:ext cx="361950" cy="447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val-1"/>
          <p:cNvSpPr txBox="1"/>
          <p:nvPr/>
        </p:nvSpPr>
        <p:spPr>
          <a:xfrm>
            <a:off x="704850" y="307657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120</a:t>
            </a:r>
          </a:p>
        </p:txBody>
      </p:sp>
      <p:sp>
        <p:nvSpPr>
          <p:cNvPr id="9" name="card-1-year-1"/>
          <p:cNvSpPr txBox="1"/>
          <p:nvPr/>
        </p:nvSpPr>
        <p:spPr>
          <a:xfrm>
            <a:off x="704850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FY22</a:t>
            </a:r>
          </a:p>
        </p:txBody>
      </p:sp>
      <p:sp>
        <p:nvSpPr>
          <p:cNvPr id="10" name="card-1-bar-2"/>
          <p:cNvSpPr/>
          <p:nvPr/>
        </p:nvSpPr>
        <p:spPr>
          <a:xfrm>
            <a:off x="1428750" y="3114675"/>
            <a:ext cx="361950" cy="5429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val-2"/>
          <p:cNvSpPr txBox="1"/>
          <p:nvPr/>
        </p:nvSpPr>
        <p:spPr>
          <a:xfrm>
            <a:off x="1371600" y="29813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145</a:t>
            </a:r>
          </a:p>
        </p:txBody>
      </p:sp>
      <p:sp>
        <p:nvSpPr>
          <p:cNvPr id="12" name="card-1-year-2"/>
          <p:cNvSpPr txBox="1"/>
          <p:nvPr/>
        </p:nvSpPr>
        <p:spPr>
          <a:xfrm>
            <a:off x="1371600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FY23</a:t>
            </a:r>
          </a:p>
        </p:txBody>
      </p:sp>
      <p:sp>
        <p:nvSpPr>
          <p:cNvPr id="13" name="card-1-bar-3"/>
          <p:cNvSpPr/>
          <p:nvPr/>
        </p:nvSpPr>
        <p:spPr>
          <a:xfrm>
            <a:off x="2105025" y="3057525"/>
            <a:ext cx="361950" cy="6000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1-val-3"/>
          <p:cNvSpPr txBox="1"/>
          <p:nvPr/>
        </p:nvSpPr>
        <p:spPr>
          <a:xfrm>
            <a:off x="2047875" y="292417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162</a:t>
            </a:r>
          </a:p>
        </p:txBody>
      </p:sp>
      <p:sp>
        <p:nvSpPr>
          <p:cNvPr id="15" name="card-1-year-3"/>
          <p:cNvSpPr txBox="1"/>
          <p:nvPr/>
        </p:nvSpPr>
        <p:spPr>
          <a:xfrm>
            <a:off x="204787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FY24</a:t>
            </a:r>
          </a:p>
        </p:txBody>
      </p:sp>
      <p:sp>
        <p:nvSpPr>
          <p:cNvPr id="16" name="card-1-bar-4"/>
          <p:cNvSpPr/>
          <p:nvPr/>
        </p:nvSpPr>
        <p:spPr>
          <a:xfrm>
            <a:off x="2771775" y="2990850"/>
            <a:ext cx="361950" cy="666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1-val-4"/>
          <p:cNvSpPr txBox="1"/>
          <p:nvPr/>
        </p:nvSpPr>
        <p:spPr>
          <a:xfrm>
            <a:off x="2714625" y="28575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178</a:t>
            </a:r>
          </a:p>
        </p:txBody>
      </p:sp>
      <p:sp>
        <p:nvSpPr>
          <p:cNvPr id="18" name="card-1-year-4"/>
          <p:cNvSpPr txBox="1"/>
          <p:nvPr/>
        </p:nvSpPr>
        <p:spPr>
          <a:xfrm>
            <a:off x="271462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FY25</a:t>
            </a:r>
          </a:p>
        </p:txBody>
      </p:sp>
      <p:sp>
        <p:nvSpPr>
          <p:cNvPr id="19" name="card-1-bar-5"/>
          <p:cNvSpPr/>
          <p:nvPr/>
        </p:nvSpPr>
        <p:spPr>
          <a:xfrm>
            <a:off x="3438525" y="2905125"/>
            <a:ext cx="361950" cy="752475"/>
          </a:xfrm>
          <a:prstGeom prst="rect">
            <a:avLst/>
          </a:prstGeom>
          <a:solidFill>
            <a:srgbClr val="6B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1-val-5"/>
          <p:cNvSpPr txBox="1"/>
          <p:nvPr/>
        </p:nvSpPr>
        <p:spPr>
          <a:xfrm>
            <a:off x="3381375" y="277177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00CC"/>
                </a:solidFill>
                <a:latin typeface="Inter"/>
              </a:rPr>
              <a:t>201</a:t>
            </a:r>
          </a:p>
        </p:txBody>
      </p:sp>
      <p:sp>
        <p:nvSpPr>
          <p:cNvPr id="21" name="card-1-year-5"/>
          <p:cNvSpPr txBox="1"/>
          <p:nvPr/>
        </p:nvSpPr>
        <p:spPr>
          <a:xfrm>
            <a:off x="338137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FY26</a:t>
            </a:r>
          </a:p>
        </p:txBody>
      </p:sp>
      <p:sp>
        <p:nvSpPr>
          <p:cNvPr id="22" name="card-1-cagr"/>
          <p:cNvSpPr txBox="1"/>
          <p:nvPr/>
        </p:nvSpPr>
        <p:spPr>
          <a:xfrm>
            <a:off x="590550" y="37909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+14%</a:t>
            </a:r>
          </a:p>
        </p:txBody>
      </p:sp>
      <p:sp>
        <p:nvSpPr>
          <p:cNvPr id="23" name="card-1-cagr-label"/>
          <p:cNvSpPr txBox="1"/>
          <p:nvPr/>
        </p:nvSpPr>
        <p:spPr>
          <a:xfrm>
            <a:off x="1028700" y="38290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CAGR FY22–26</a:t>
            </a:r>
          </a:p>
        </p:txBody>
      </p:sp>
      <p:sp>
        <p:nvSpPr>
          <p:cNvPr id="24" name="card-2"/>
          <p:cNvSpPr/>
          <p:nvPr/>
        </p:nvSpPr>
        <p:spPr>
          <a:xfrm>
            <a:off x="4267200" y="2190750"/>
            <a:ext cx="36576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2-title"/>
          <p:cNvSpPr txBox="1"/>
          <p:nvPr/>
        </p:nvSpPr>
        <p:spPr>
          <a:xfrm>
            <a:off x="4400550" y="2286000"/>
            <a:ext cx="3390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Healthcare</a:t>
            </a:r>
          </a:p>
        </p:txBody>
      </p:sp>
      <p:sp>
        <p:nvSpPr>
          <p:cNvPr id="26" name="card-2-bar-1"/>
          <p:cNvSpPr/>
          <p:nvPr/>
        </p:nvSpPr>
        <p:spPr>
          <a:xfrm>
            <a:off x="4572000" y="3343275"/>
            <a:ext cx="361950" cy="3143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2-val-1"/>
          <p:cNvSpPr txBox="1"/>
          <p:nvPr/>
        </p:nvSpPr>
        <p:spPr>
          <a:xfrm>
            <a:off x="4514850" y="32099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85</a:t>
            </a:r>
          </a:p>
        </p:txBody>
      </p:sp>
      <p:sp>
        <p:nvSpPr>
          <p:cNvPr id="28" name="card-2-year-1"/>
          <p:cNvSpPr txBox="1"/>
          <p:nvPr/>
        </p:nvSpPr>
        <p:spPr>
          <a:xfrm>
            <a:off x="4514850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FY22</a:t>
            </a:r>
          </a:p>
        </p:txBody>
      </p:sp>
      <p:sp>
        <p:nvSpPr>
          <p:cNvPr id="29" name="card-2-bar-2"/>
          <p:cNvSpPr/>
          <p:nvPr/>
        </p:nvSpPr>
        <p:spPr>
          <a:xfrm>
            <a:off x="5238750" y="3295650"/>
            <a:ext cx="361950" cy="3619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2-val-2"/>
          <p:cNvSpPr txBox="1"/>
          <p:nvPr/>
        </p:nvSpPr>
        <p:spPr>
          <a:xfrm>
            <a:off x="5181600" y="31623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98</a:t>
            </a:r>
          </a:p>
        </p:txBody>
      </p:sp>
      <p:sp>
        <p:nvSpPr>
          <p:cNvPr id="31" name="card-2-year-2"/>
          <p:cNvSpPr txBox="1"/>
          <p:nvPr/>
        </p:nvSpPr>
        <p:spPr>
          <a:xfrm>
            <a:off x="5181600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FY23</a:t>
            </a:r>
          </a:p>
        </p:txBody>
      </p:sp>
      <p:sp>
        <p:nvSpPr>
          <p:cNvPr id="32" name="card-2-bar-3"/>
          <p:cNvSpPr/>
          <p:nvPr/>
        </p:nvSpPr>
        <p:spPr>
          <a:xfrm>
            <a:off x="5915025" y="3248025"/>
            <a:ext cx="361950" cy="409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ard-2-val-3"/>
          <p:cNvSpPr txBox="1"/>
          <p:nvPr/>
        </p:nvSpPr>
        <p:spPr>
          <a:xfrm>
            <a:off x="5857875" y="311467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110</a:t>
            </a:r>
          </a:p>
        </p:txBody>
      </p:sp>
      <p:sp>
        <p:nvSpPr>
          <p:cNvPr id="34" name="card-2-year-3"/>
          <p:cNvSpPr txBox="1"/>
          <p:nvPr/>
        </p:nvSpPr>
        <p:spPr>
          <a:xfrm>
            <a:off x="585787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FY24</a:t>
            </a:r>
          </a:p>
        </p:txBody>
      </p:sp>
      <p:sp>
        <p:nvSpPr>
          <p:cNvPr id="35" name="card-2-bar-4"/>
          <p:cNvSpPr/>
          <p:nvPr/>
        </p:nvSpPr>
        <p:spPr>
          <a:xfrm>
            <a:off x="6581775" y="3181350"/>
            <a:ext cx="361950" cy="476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2-val-4"/>
          <p:cNvSpPr txBox="1"/>
          <p:nvPr/>
        </p:nvSpPr>
        <p:spPr>
          <a:xfrm>
            <a:off x="6524625" y="30480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129</a:t>
            </a:r>
          </a:p>
        </p:txBody>
      </p:sp>
      <p:sp>
        <p:nvSpPr>
          <p:cNvPr id="37" name="card-2-year-4"/>
          <p:cNvSpPr txBox="1"/>
          <p:nvPr/>
        </p:nvSpPr>
        <p:spPr>
          <a:xfrm>
            <a:off x="652462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FY25</a:t>
            </a:r>
          </a:p>
        </p:txBody>
      </p:sp>
      <p:sp>
        <p:nvSpPr>
          <p:cNvPr id="38" name="card-2-bar-5"/>
          <p:cNvSpPr/>
          <p:nvPr/>
        </p:nvSpPr>
        <p:spPr>
          <a:xfrm>
            <a:off x="7248525" y="3067050"/>
            <a:ext cx="361950" cy="590550"/>
          </a:xfrm>
          <a:prstGeom prst="rect">
            <a:avLst/>
          </a:prstGeom>
          <a:solidFill>
            <a:srgbClr val="6B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ard-2-val-5"/>
          <p:cNvSpPr txBox="1"/>
          <p:nvPr/>
        </p:nvSpPr>
        <p:spPr>
          <a:xfrm>
            <a:off x="7191375" y="29337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00CC"/>
                </a:solidFill>
                <a:latin typeface="Inter"/>
              </a:rPr>
              <a:t>158</a:t>
            </a:r>
          </a:p>
        </p:txBody>
      </p:sp>
      <p:sp>
        <p:nvSpPr>
          <p:cNvPr id="40" name="card-2-year-5"/>
          <p:cNvSpPr txBox="1"/>
          <p:nvPr/>
        </p:nvSpPr>
        <p:spPr>
          <a:xfrm>
            <a:off x="719137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FY26</a:t>
            </a:r>
          </a:p>
        </p:txBody>
      </p:sp>
      <p:sp>
        <p:nvSpPr>
          <p:cNvPr id="41" name="card-2-cagr"/>
          <p:cNvSpPr txBox="1"/>
          <p:nvPr/>
        </p:nvSpPr>
        <p:spPr>
          <a:xfrm>
            <a:off x="4400550" y="37909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+17%</a:t>
            </a:r>
          </a:p>
        </p:txBody>
      </p:sp>
      <p:sp>
        <p:nvSpPr>
          <p:cNvPr id="42" name="card-2-cagr-label"/>
          <p:cNvSpPr txBox="1"/>
          <p:nvPr/>
        </p:nvSpPr>
        <p:spPr>
          <a:xfrm>
            <a:off x="4838700" y="38290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CAGR FY22–26</a:t>
            </a:r>
          </a:p>
        </p:txBody>
      </p:sp>
      <p:sp>
        <p:nvSpPr>
          <p:cNvPr id="43" name="card-3"/>
          <p:cNvSpPr/>
          <p:nvPr/>
        </p:nvSpPr>
        <p:spPr>
          <a:xfrm>
            <a:off x="8077200" y="2190750"/>
            <a:ext cx="36576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3-title"/>
          <p:cNvSpPr txBox="1"/>
          <p:nvPr/>
        </p:nvSpPr>
        <p:spPr>
          <a:xfrm>
            <a:off x="8210550" y="2286000"/>
            <a:ext cx="3390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Financial Services</a:t>
            </a:r>
          </a:p>
        </p:txBody>
      </p:sp>
      <p:sp>
        <p:nvSpPr>
          <p:cNvPr id="45" name="card-3-bar-1"/>
          <p:cNvSpPr/>
          <p:nvPr/>
        </p:nvSpPr>
        <p:spPr>
          <a:xfrm>
            <a:off x="8382000" y="2876550"/>
            <a:ext cx="361950" cy="781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3-val-1"/>
          <p:cNvSpPr txBox="1"/>
          <p:nvPr/>
        </p:nvSpPr>
        <p:spPr>
          <a:xfrm>
            <a:off x="8324850" y="27432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210</a:t>
            </a:r>
          </a:p>
        </p:txBody>
      </p:sp>
      <p:sp>
        <p:nvSpPr>
          <p:cNvPr id="47" name="card-3-year-1"/>
          <p:cNvSpPr txBox="1"/>
          <p:nvPr/>
        </p:nvSpPr>
        <p:spPr>
          <a:xfrm>
            <a:off x="8324850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FY22</a:t>
            </a:r>
          </a:p>
        </p:txBody>
      </p:sp>
      <p:sp>
        <p:nvSpPr>
          <p:cNvPr id="48" name="card-3-bar-2"/>
          <p:cNvSpPr/>
          <p:nvPr/>
        </p:nvSpPr>
        <p:spPr>
          <a:xfrm>
            <a:off x="9048750" y="2819400"/>
            <a:ext cx="361950" cy="838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ard-3-val-2"/>
          <p:cNvSpPr txBox="1"/>
          <p:nvPr/>
        </p:nvSpPr>
        <p:spPr>
          <a:xfrm>
            <a:off x="8991600" y="26860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225</a:t>
            </a:r>
          </a:p>
        </p:txBody>
      </p:sp>
      <p:sp>
        <p:nvSpPr>
          <p:cNvPr id="50" name="card-3-year-2"/>
          <p:cNvSpPr txBox="1"/>
          <p:nvPr/>
        </p:nvSpPr>
        <p:spPr>
          <a:xfrm>
            <a:off x="8991600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FY23</a:t>
            </a:r>
          </a:p>
        </p:txBody>
      </p:sp>
      <p:sp>
        <p:nvSpPr>
          <p:cNvPr id="51" name="card-3-bar-3"/>
          <p:cNvSpPr/>
          <p:nvPr/>
        </p:nvSpPr>
        <p:spPr>
          <a:xfrm>
            <a:off x="9725025" y="2771775"/>
            <a:ext cx="361950" cy="8858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ard-3-val-3"/>
          <p:cNvSpPr txBox="1"/>
          <p:nvPr/>
        </p:nvSpPr>
        <p:spPr>
          <a:xfrm>
            <a:off x="9667875" y="26384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238</a:t>
            </a:r>
          </a:p>
        </p:txBody>
      </p:sp>
      <p:sp>
        <p:nvSpPr>
          <p:cNvPr id="53" name="card-3-year-3"/>
          <p:cNvSpPr txBox="1"/>
          <p:nvPr/>
        </p:nvSpPr>
        <p:spPr>
          <a:xfrm>
            <a:off x="966787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FY24</a:t>
            </a:r>
          </a:p>
        </p:txBody>
      </p:sp>
      <p:sp>
        <p:nvSpPr>
          <p:cNvPr id="54" name="card-3-bar-4"/>
          <p:cNvSpPr/>
          <p:nvPr/>
        </p:nvSpPr>
        <p:spPr>
          <a:xfrm>
            <a:off x="10391775" y="2724150"/>
            <a:ext cx="361950" cy="933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ard-3-val-4"/>
          <p:cNvSpPr txBox="1"/>
          <p:nvPr/>
        </p:nvSpPr>
        <p:spPr>
          <a:xfrm>
            <a:off x="10334625" y="25908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251</a:t>
            </a:r>
          </a:p>
        </p:txBody>
      </p:sp>
      <p:sp>
        <p:nvSpPr>
          <p:cNvPr id="56" name="card-3-year-4"/>
          <p:cNvSpPr txBox="1"/>
          <p:nvPr/>
        </p:nvSpPr>
        <p:spPr>
          <a:xfrm>
            <a:off x="1033462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FY25</a:t>
            </a:r>
          </a:p>
        </p:txBody>
      </p:sp>
      <p:sp>
        <p:nvSpPr>
          <p:cNvPr id="57" name="card-3-bar-5"/>
          <p:cNvSpPr/>
          <p:nvPr/>
        </p:nvSpPr>
        <p:spPr>
          <a:xfrm>
            <a:off x="11058525" y="2638425"/>
            <a:ext cx="361950" cy="1019175"/>
          </a:xfrm>
          <a:prstGeom prst="rect">
            <a:avLst/>
          </a:prstGeom>
          <a:solidFill>
            <a:srgbClr val="6B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ard-3-val-5"/>
          <p:cNvSpPr txBox="1"/>
          <p:nvPr/>
        </p:nvSpPr>
        <p:spPr>
          <a:xfrm>
            <a:off x="11001375" y="250507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00CC"/>
                </a:solidFill>
                <a:latin typeface="Inter"/>
              </a:rPr>
              <a:t>274</a:t>
            </a:r>
          </a:p>
        </p:txBody>
      </p:sp>
      <p:sp>
        <p:nvSpPr>
          <p:cNvPr id="59" name="card-3-year-5"/>
          <p:cNvSpPr txBox="1"/>
          <p:nvPr/>
        </p:nvSpPr>
        <p:spPr>
          <a:xfrm>
            <a:off x="11001375" y="3676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FY26</a:t>
            </a:r>
          </a:p>
        </p:txBody>
      </p:sp>
      <p:sp>
        <p:nvSpPr>
          <p:cNvPr id="60" name="card-3-cagr"/>
          <p:cNvSpPr txBox="1"/>
          <p:nvPr/>
        </p:nvSpPr>
        <p:spPr>
          <a:xfrm>
            <a:off x="8210550" y="37909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+7%</a:t>
            </a:r>
          </a:p>
        </p:txBody>
      </p:sp>
      <p:sp>
        <p:nvSpPr>
          <p:cNvPr id="61" name="card-3-cagr-label"/>
          <p:cNvSpPr txBox="1"/>
          <p:nvPr/>
        </p:nvSpPr>
        <p:spPr>
          <a:xfrm>
            <a:off x="8648700" y="38290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CAGR FY22–26</a:t>
            </a:r>
          </a:p>
        </p:txBody>
      </p:sp>
      <p:sp>
        <p:nvSpPr>
          <p:cNvPr id="62" name="card-4"/>
          <p:cNvSpPr/>
          <p:nvPr/>
        </p:nvSpPr>
        <p:spPr>
          <a:xfrm>
            <a:off x="457200" y="4171950"/>
            <a:ext cx="36576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ard-4-title"/>
          <p:cNvSpPr txBox="1"/>
          <p:nvPr/>
        </p:nvSpPr>
        <p:spPr>
          <a:xfrm>
            <a:off x="590550" y="4267200"/>
            <a:ext cx="3390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Manufacturing</a:t>
            </a:r>
          </a:p>
        </p:txBody>
      </p:sp>
      <p:sp>
        <p:nvSpPr>
          <p:cNvPr id="64" name="card-4-bar-1"/>
          <p:cNvSpPr/>
          <p:nvPr/>
        </p:nvSpPr>
        <p:spPr>
          <a:xfrm>
            <a:off x="762000" y="5286375"/>
            <a:ext cx="361950" cy="3524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rd-4-val-1"/>
          <p:cNvSpPr txBox="1"/>
          <p:nvPr/>
        </p:nvSpPr>
        <p:spPr>
          <a:xfrm>
            <a:off x="704850" y="51530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95</a:t>
            </a:r>
          </a:p>
        </p:txBody>
      </p:sp>
      <p:sp>
        <p:nvSpPr>
          <p:cNvPr id="66" name="card-4-year-1"/>
          <p:cNvSpPr txBox="1"/>
          <p:nvPr/>
        </p:nvSpPr>
        <p:spPr>
          <a:xfrm>
            <a:off x="704850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FY22</a:t>
            </a:r>
          </a:p>
        </p:txBody>
      </p:sp>
      <p:sp>
        <p:nvSpPr>
          <p:cNvPr id="67" name="card-4-bar-2"/>
          <p:cNvSpPr/>
          <p:nvPr/>
        </p:nvSpPr>
        <p:spPr>
          <a:xfrm>
            <a:off x="1428750" y="5314950"/>
            <a:ext cx="361950" cy="3238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ard-4-val-2"/>
          <p:cNvSpPr txBox="1"/>
          <p:nvPr/>
        </p:nvSpPr>
        <p:spPr>
          <a:xfrm>
            <a:off x="1371600" y="51816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88</a:t>
            </a:r>
          </a:p>
        </p:txBody>
      </p:sp>
      <p:sp>
        <p:nvSpPr>
          <p:cNvPr id="69" name="card-4-year-2"/>
          <p:cNvSpPr txBox="1"/>
          <p:nvPr/>
        </p:nvSpPr>
        <p:spPr>
          <a:xfrm>
            <a:off x="1371600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FY23</a:t>
            </a:r>
          </a:p>
        </p:txBody>
      </p:sp>
      <p:sp>
        <p:nvSpPr>
          <p:cNvPr id="70" name="card-4-bar-3"/>
          <p:cNvSpPr/>
          <p:nvPr/>
        </p:nvSpPr>
        <p:spPr>
          <a:xfrm>
            <a:off x="2105025" y="5295900"/>
            <a:ext cx="36195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card-4-val-3"/>
          <p:cNvSpPr txBox="1"/>
          <p:nvPr/>
        </p:nvSpPr>
        <p:spPr>
          <a:xfrm>
            <a:off x="2047875" y="51625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92</a:t>
            </a:r>
          </a:p>
        </p:txBody>
      </p:sp>
      <p:sp>
        <p:nvSpPr>
          <p:cNvPr id="72" name="card-4-year-3"/>
          <p:cNvSpPr txBox="1"/>
          <p:nvPr/>
        </p:nvSpPr>
        <p:spPr>
          <a:xfrm>
            <a:off x="204787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FY24</a:t>
            </a:r>
          </a:p>
        </p:txBody>
      </p:sp>
      <p:sp>
        <p:nvSpPr>
          <p:cNvPr id="73" name="card-4-bar-4"/>
          <p:cNvSpPr/>
          <p:nvPr/>
        </p:nvSpPr>
        <p:spPr>
          <a:xfrm>
            <a:off x="2771775" y="5248275"/>
            <a:ext cx="361950" cy="3905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ard-4-val-4"/>
          <p:cNvSpPr txBox="1"/>
          <p:nvPr/>
        </p:nvSpPr>
        <p:spPr>
          <a:xfrm>
            <a:off x="2714625" y="51149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105</a:t>
            </a:r>
          </a:p>
        </p:txBody>
      </p:sp>
      <p:sp>
        <p:nvSpPr>
          <p:cNvPr id="75" name="card-4-year-4"/>
          <p:cNvSpPr txBox="1"/>
          <p:nvPr/>
        </p:nvSpPr>
        <p:spPr>
          <a:xfrm>
            <a:off x="271462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FY25</a:t>
            </a:r>
          </a:p>
        </p:txBody>
      </p:sp>
      <p:sp>
        <p:nvSpPr>
          <p:cNvPr id="76" name="card-4-bar-5"/>
          <p:cNvSpPr/>
          <p:nvPr/>
        </p:nvSpPr>
        <p:spPr>
          <a:xfrm>
            <a:off x="3438525" y="5200650"/>
            <a:ext cx="361950" cy="438150"/>
          </a:xfrm>
          <a:prstGeom prst="rect">
            <a:avLst/>
          </a:prstGeom>
          <a:solidFill>
            <a:srgbClr val="6B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card-4-val-5"/>
          <p:cNvSpPr txBox="1"/>
          <p:nvPr/>
        </p:nvSpPr>
        <p:spPr>
          <a:xfrm>
            <a:off x="3381375" y="50673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00CC"/>
                </a:solidFill>
                <a:latin typeface="Inter"/>
              </a:rPr>
              <a:t>119</a:t>
            </a:r>
          </a:p>
        </p:txBody>
      </p:sp>
      <p:sp>
        <p:nvSpPr>
          <p:cNvPr id="78" name="card-4-year-5"/>
          <p:cNvSpPr txBox="1"/>
          <p:nvPr/>
        </p:nvSpPr>
        <p:spPr>
          <a:xfrm>
            <a:off x="338137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FY26</a:t>
            </a:r>
          </a:p>
        </p:txBody>
      </p:sp>
      <p:sp>
        <p:nvSpPr>
          <p:cNvPr id="79" name="card-4-cagr"/>
          <p:cNvSpPr txBox="1"/>
          <p:nvPr/>
        </p:nvSpPr>
        <p:spPr>
          <a:xfrm>
            <a:off x="590550" y="57721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+6%</a:t>
            </a:r>
          </a:p>
        </p:txBody>
      </p:sp>
      <p:sp>
        <p:nvSpPr>
          <p:cNvPr id="80" name="card-4-cagr-label"/>
          <p:cNvSpPr txBox="1"/>
          <p:nvPr/>
        </p:nvSpPr>
        <p:spPr>
          <a:xfrm>
            <a:off x="1028700" y="58102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CAGR FY22–26</a:t>
            </a:r>
          </a:p>
        </p:txBody>
      </p:sp>
      <p:sp>
        <p:nvSpPr>
          <p:cNvPr id="81" name="card-5"/>
          <p:cNvSpPr/>
          <p:nvPr/>
        </p:nvSpPr>
        <p:spPr>
          <a:xfrm>
            <a:off x="4267200" y="4171950"/>
            <a:ext cx="36576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card-5-title"/>
          <p:cNvSpPr txBox="1"/>
          <p:nvPr/>
        </p:nvSpPr>
        <p:spPr>
          <a:xfrm>
            <a:off x="4400550" y="4267200"/>
            <a:ext cx="3390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</a:t>
            </a:r>
          </a:p>
        </p:txBody>
      </p:sp>
      <p:sp>
        <p:nvSpPr>
          <p:cNvPr id="83" name="card-5-bar-1"/>
          <p:cNvSpPr/>
          <p:nvPr/>
        </p:nvSpPr>
        <p:spPr>
          <a:xfrm>
            <a:off x="4572000" y="5391150"/>
            <a:ext cx="3619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card-5-val-1"/>
          <p:cNvSpPr txBox="1"/>
          <p:nvPr/>
        </p:nvSpPr>
        <p:spPr>
          <a:xfrm>
            <a:off x="4514850" y="52578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67</a:t>
            </a:r>
          </a:p>
        </p:txBody>
      </p:sp>
      <p:sp>
        <p:nvSpPr>
          <p:cNvPr id="85" name="card-5-year-1"/>
          <p:cNvSpPr txBox="1"/>
          <p:nvPr/>
        </p:nvSpPr>
        <p:spPr>
          <a:xfrm>
            <a:off x="4514850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FY22</a:t>
            </a:r>
          </a:p>
        </p:txBody>
      </p:sp>
      <p:sp>
        <p:nvSpPr>
          <p:cNvPr id="86" name="card-5-bar-2"/>
          <p:cNvSpPr/>
          <p:nvPr/>
        </p:nvSpPr>
        <p:spPr>
          <a:xfrm>
            <a:off x="5238750" y="5305425"/>
            <a:ext cx="361950" cy="3333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card-5-val-2"/>
          <p:cNvSpPr txBox="1"/>
          <p:nvPr/>
        </p:nvSpPr>
        <p:spPr>
          <a:xfrm>
            <a:off x="5181600" y="517207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89</a:t>
            </a:r>
          </a:p>
        </p:txBody>
      </p:sp>
      <p:sp>
        <p:nvSpPr>
          <p:cNvPr id="88" name="card-5-year-2"/>
          <p:cNvSpPr txBox="1"/>
          <p:nvPr/>
        </p:nvSpPr>
        <p:spPr>
          <a:xfrm>
            <a:off x="5181600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FY23</a:t>
            </a:r>
          </a:p>
        </p:txBody>
      </p:sp>
      <p:sp>
        <p:nvSpPr>
          <p:cNvPr id="89" name="card-5-bar-3"/>
          <p:cNvSpPr/>
          <p:nvPr/>
        </p:nvSpPr>
        <p:spPr>
          <a:xfrm>
            <a:off x="5915025" y="5181600"/>
            <a:ext cx="36195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card-5-val-3"/>
          <p:cNvSpPr txBox="1"/>
          <p:nvPr/>
        </p:nvSpPr>
        <p:spPr>
          <a:xfrm>
            <a:off x="5857875" y="50482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124</a:t>
            </a:r>
          </a:p>
        </p:txBody>
      </p:sp>
      <p:sp>
        <p:nvSpPr>
          <p:cNvPr id="91" name="card-5-year-3"/>
          <p:cNvSpPr txBox="1"/>
          <p:nvPr/>
        </p:nvSpPr>
        <p:spPr>
          <a:xfrm>
            <a:off x="585787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FY24</a:t>
            </a:r>
          </a:p>
        </p:txBody>
      </p:sp>
      <p:sp>
        <p:nvSpPr>
          <p:cNvPr id="92" name="card-5-bar-4"/>
          <p:cNvSpPr/>
          <p:nvPr/>
        </p:nvSpPr>
        <p:spPr>
          <a:xfrm>
            <a:off x="6581775" y="5029200"/>
            <a:ext cx="3619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card-5-val-4"/>
          <p:cNvSpPr txBox="1"/>
          <p:nvPr/>
        </p:nvSpPr>
        <p:spPr>
          <a:xfrm>
            <a:off x="6524625" y="4895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165</a:t>
            </a:r>
          </a:p>
        </p:txBody>
      </p:sp>
      <p:sp>
        <p:nvSpPr>
          <p:cNvPr id="94" name="card-5-year-4"/>
          <p:cNvSpPr txBox="1"/>
          <p:nvPr/>
        </p:nvSpPr>
        <p:spPr>
          <a:xfrm>
            <a:off x="652462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FY25</a:t>
            </a:r>
          </a:p>
        </p:txBody>
      </p:sp>
      <p:sp>
        <p:nvSpPr>
          <p:cNvPr id="95" name="card-5-bar-5"/>
          <p:cNvSpPr/>
          <p:nvPr/>
        </p:nvSpPr>
        <p:spPr>
          <a:xfrm>
            <a:off x="7248525" y="4838700"/>
            <a:ext cx="361950" cy="800100"/>
          </a:xfrm>
          <a:prstGeom prst="rect">
            <a:avLst/>
          </a:prstGeom>
          <a:solidFill>
            <a:srgbClr val="6B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card-5-val-5"/>
          <p:cNvSpPr txBox="1"/>
          <p:nvPr/>
        </p:nvSpPr>
        <p:spPr>
          <a:xfrm>
            <a:off x="7191375" y="47053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00CC"/>
                </a:solidFill>
                <a:latin typeface="Inter"/>
              </a:rPr>
              <a:t>214</a:t>
            </a:r>
          </a:p>
        </p:txBody>
      </p:sp>
      <p:sp>
        <p:nvSpPr>
          <p:cNvPr id="97" name="card-5-year-5"/>
          <p:cNvSpPr txBox="1"/>
          <p:nvPr/>
        </p:nvSpPr>
        <p:spPr>
          <a:xfrm>
            <a:off x="719137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FY26</a:t>
            </a:r>
          </a:p>
        </p:txBody>
      </p:sp>
      <p:sp>
        <p:nvSpPr>
          <p:cNvPr id="98" name="card-5-cagr"/>
          <p:cNvSpPr txBox="1"/>
          <p:nvPr/>
        </p:nvSpPr>
        <p:spPr>
          <a:xfrm>
            <a:off x="4400550" y="57721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+34%</a:t>
            </a:r>
          </a:p>
        </p:txBody>
      </p:sp>
      <p:sp>
        <p:nvSpPr>
          <p:cNvPr id="99" name="card-5-cagr-label"/>
          <p:cNvSpPr txBox="1"/>
          <p:nvPr/>
        </p:nvSpPr>
        <p:spPr>
          <a:xfrm>
            <a:off x="4838700" y="58102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CAGR FY22–26</a:t>
            </a:r>
          </a:p>
        </p:txBody>
      </p:sp>
      <p:sp>
        <p:nvSpPr>
          <p:cNvPr id="100" name="card-6"/>
          <p:cNvSpPr/>
          <p:nvPr/>
        </p:nvSpPr>
        <p:spPr>
          <a:xfrm>
            <a:off x="8077200" y="4171950"/>
            <a:ext cx="36576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card-6-title"/>
          <p:cNvSpPr txBox="1"/>
          <p:nvPr/>
        </p:nvSpPr>
        <p:spPr>
          <a:xfrm>
            <a:off x="8210550" y="4267200"/>
            <a:ext cx="3390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Government</a:t>
            </a:r>
          </a:p>
        </p:txBody>
      </p:sp>
      <p:sp>
        <p:nvSpPr>
          <p:cNvPr id="102" name="card-6-bar-1"/>
          <p:cNvSpPr/>
          <p:nvPr/>
        </p:nvSpPr>
        <p:spPr>
          <a:xfrm>
            <a:off x="8382000" y="4972050"/>
            <a:ext cx="361950" cy="666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card-6-val-1"/>
          <p:cNvSpPr txBox="1"/>
          <p:nvPr/>
        </p:nvSpPr>
        <p:spPr>
          <a:xfrm>
            <a:off x="8324850" y="48387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180</a:t>
            </a:r>
          </a:p>
        </p:txBody>
      </p:sp>
      <p:sp>
        <p:nvSpPr>
          <p:cNvPr id="104" name="card-6-year-1"/>
          <p:cNvSpPr txBox="1"/>
          <p:nvPr/>
        </p:nvSpPr>
        <p:spPr>
          <a:xfrm>
            <a:off x="8324850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FY22</a:t>
            </a:r>
          </a:p>
        </p:txBody>
      </p:sp>
      <p:sp>
        <p:nvSpPr>
          <p:cNvPr id="105" name="card-6-bar-2"/>
          <p:cNvSpPr/>
          <p:nvPr/>
        </p:nvSpPr>
        <p:spPr>
          <a:xfrm>
            <a:off x="9048750" y="4953000"/>
            <a:ext cx="36195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card-6-val-2"/>
          <p:cNvSpPr txBox="1"/>
          <p:nvPr/>
        </p:nvSpPr>
        <p:spPr>
          <a:xfrm>
            <a:off x="8991600" y="48196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184</a:t>
            </a:r>
          </a:p>
        </p:txBody>
      </p:sp>
      <p:sp>
        <p:nvSpPr>
          <p:cNvPr id="107" name="card-6-year-2"/>
          <p:cNvSpPr txBox="1"/>
          <p:nvPr/>
        </p:nvSpPr>
        <p:spPr>
          <a:xfrm>
            <a:off x="8991600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FY23</a:t>
            </a:r>
          </a:p>
        </p:txBody>
      </p:sp>
      <p:sp>
        <p:nvSpPr>
          <p:cNvPr id="108" name="card-6-bar-3"/>
          <p:cNvSpPr/>
          <p:nvPr/>
        </p:nvSpPr>
        <p:spPr>
          <a:xfrm>
            <a:off x="9725025" y="4972050"/>
            <a:ext cx="361950" cy="666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card-6-val-3"/>
          <p:cNvSpPr txBox="1"/>
          <p:nvPr/>
        </p:nvSpPr>
        <p:spPr>
          <a:xfrm>
            <a:off x="9667875" y="483870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179</a:t>
            </a:r>
          </a:p>
        </p:txBody>
      </p:sp>
      <p:sp>
        <p:nvSpPr>
          <p:cNvPr id="110" name="card-6-year-3"/>
          <p:cNvSpPr txBox="1"/>
          <p:nvPr/>
        </p:nvSpPr>
        <p:spPr>
          <a:xfrm>
            <a:off x="966787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FY24</a:t>
            </a:r>
          </a:p>
        </p:txBody>
      </p:sp>
      <p:sp>
        <p:nvSpPr>
          <p:cNvPr id="111" name="card-6-bar-4"/>
          <p:cNvSpPr/>
          <p:nvPr/>
        </p:nvSpPr>
        <p:spPr>
          <a:xfrm>
            <a:off x="10391775" y="4943475"/>
            <a:ext cx="361950" cy="6953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card-6-val-4"/>
          <p:cNvSpPr txBox="1"/>
          <p:nvPr/>
        </p:nvSpPr>
        <p:spPr>
          <a:xfrm>
            <a:off x="10334625" y="48101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188</a:t>
            </a:r>
          </a:p>
        </p:txBody>
      </p:sp>
      <p:sp>
        <p:nvSpPr>
          <p:cNvPr id="113" name="card-6-year-4"/>
          <p:cNvSpPr txBox="1"/>
          <p:nvPr/>
        </p:nvSpPr>
        <p:spPr>
          <a:xfrm>
            <a:off x="1033462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FY25</a:t>
            </a:r>
          </a:p>
        </p:txBody>
      </p:sp>
      <p:sp>
        <p:nvSpPr>
          <p:cNvPr id="114" name="card-6-bar-5"/>
          <p:cNvSpPr/>
          <p:nvPr/>
        </p:nvSpPr>
        <p:spPr>
          <a:xfrm>
            <a:off x="11058525" y="4914900"/>
            <a:ext cx="361950" cy="723900"/>
          </a:xfrm>
          <a:prstGeom prst="rect">
            <a:avLst/>
          </a:prstGeom>
          <a:solidFill>
            <a:srgbClr val="6B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card-6-val-5"/>
          <p:cNvSpPr txBox="1"/>
          <p:nvPr/>
        </p:nvSpPr>
        <p:spPr>
          <a:xfrm>
            <a:off x="11001375" y="47815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00CC"/>
                </a:solidFill>
                <a:latin typeface="Inter"/>
              </a:rPr>
              <a:t>195</a:t>
            </a:r>
          </a:p>
        </p:txBody>
      </p:sp>
      <p:sp>
        <p:nvSpPr>
          <p:cNvPr id="116" name="card-6-year-5"/>
          <p:cNvSpPr txBox="1"/>
          <p:nvPr/>
        </p:nvSpPr>
        <p:spPr>
          <a:xfrm>
            <a:off x="11001375" y="5657850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FY26</a:t>
            </a:r>
          </a:p>
        </p:txBody>
      </p:sp>
      <p:sp>
        <p:nvSpPr>
          <p:cNvPr id="117" name="card-6-cagr"/>
          <p:cNvSpPr txBox="1"/>
          <p:nvPr/>
        </p:nvSpPr>
        <p:spPr>
          <a:xfrm>
            <a:off x="8210550" y="57721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+2%</a:t>
            </a:r>
          </a:p>
        </p:txBody>
      </p:sp>
      <p:sp>
        <p:nvSpPr>
          <p:cNvPr id="118" name="card-6-cagr-label"/>
          <p:cNvSpPr txBox="1"/>
          <p:nvPr/>
        </p:nvSpPr>
        <p:spPr>
          <a:xfrm>
            <a:off x="8648700" y="58102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CAGR FY22–26</a:t>
            </a:r>
          </a:p>
        </p:txBody>
      </p:sp>
      <p:sp>
        <p:nvSpPr>
          <p:cNvPr id="11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2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2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