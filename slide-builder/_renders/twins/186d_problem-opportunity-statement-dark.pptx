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The </a:t>
            </a:r>
            <a:r>
              <a:rPr sz="2400" b="1" i="0">
                <a:solidFill>
                  <a:srgbClr val="C780FF"/>
                </a:solidFill>
                <a:latin typeface="Inter"/>
              </a:rPr>
              <a:t>Problem</a:t>
            </a:r>
            <a:r>
              <a:rPr sz="2400" b="1" i="0">
                <a:solidFill>
                  <a:srgbClr val="FFFFFF"/>
                </a:solidFill>
                <a:latin typeface="Inter"/>
              </a:rPr>
              <a:t> and the Opportunity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Framing the challenge and the strategic upside of acting now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panel-1-bg"/>
          <p:cNvSpPr/>
          <p:nvPr/>
        </p:nvSpPr>
        <p:spPr>
          <a:xfrm>
            <a:off x="609600" y="2095500"/>
            <a:ext cx="5181600" cy="34290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panel-1-header-bg"/>
          <p:cNvSpPr/>
          <p:nvPr/>
        </p:nvSpPr>
        <p:spPr>
          <a:xfrm>
            <a:off x="609600" y="2095500"/>
            <a:ext cx="5181600" cy="3429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panel-1-header"/>
          <p:cNvSpPr txBox="1"/>
          <p:nvPr/>
        </p:nvSpPr>
        <p:spPr>
          <a:xfrm>
            <a:off x="781050" y="2171700"/>
            <a:ext cx="48387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THE PROBLEM</a:t>
            </a:r>
          </a:p>
        </p:txBody>
      </p:sp>
      <p:sp>
        <p:nvSpPr>
          <p:cNvPr id="8" name="panel-1-bullet-1-dot"/>
          <p:cNvSpPr/>
          <p:nvPr/>
        </p:nvSpPr>
        <p:spPr>
          <a:xfrm>
            <a:off x="781050" y="2628900"/>
            <a:ext cx="47625" cy="476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panel-1-bullet-1"/>
          <p:cNvSpPr txBox="1"/>
          <p:nvPr/>
        </p:nvSpPr>
        <p:spPr>
          <a:xfrm>
            <a:off x="914400" y="2571750"/>
            <a:ext cx="4686300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Fragmented legacy systems create data silos that delay decision-making by an average of 4-6 weeks per cycle.</a:t>
            </a:r>
          </a:p>
        </p:txBody>
      </p:sp>
      <p:sp>
        <p:nvSpPr>
          <p:cNvPr id="10" name="panel-1-bullet-2-dot"/>
          <p:cNvSpPr/>
          <p:nvPr/>
        </p:nvSpPr>
        <p:spPr>
          <a:xfrm>
            <a:off x="781050" y="3162300"/>
            <a:ext cx="47625" cy="476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panel-1-bullet-2"/>
          <p:cNvSpPr txBox="1"/>
          <p:nvPr/>
        </p:nvSpPr>
        <p:spPr>
          <a:xfrm>
            <a:off x="914400" y="3105150"/>
            <a:ext cx="4686300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Manual reconciliation processes consume an estimated 30% of analyst capacity, crowding out higher-value work.</a:t>
            </a:r>
          </a:p>
        </p:txBody>
      </p:sp>
      <p:sp>
        <p:nvSpPr>
          <p:cNvPr id="12" name="panel-1-bullet-3-dot"/>
          <p:cNvSpPr/>
          <p:nvPr/>
        </p:nvSpPr>
        <p:spPr>
          <a:xfrm>
            <a:off x="781050" y="3695700"/>
            <a:ext cx="47625" cy="476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panel-1-bullet-3"/>
          <p:cNvSpPr txBox="1"/>
          <p:nvPr/>
        </p:nvSpPr>
        <p:spPr>
          <a:xfrm>
            <a:off x="914400" y="3638550"/>
            <a:ext cx="4686300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Rising regulatory complexity exposes the organisation to compounding compliance risk with each quarterly reporting period.</a:t>
            </a:r>
          </a:p>
        </p:txBody>
      </p:sp>
      <p:sp>
        <p:nvSpPr>
          <p:cNvPr id="14" name="panel-1-stat-rule"/>
          <p:cNvSpPr/>
          <p:nvPr/>
        </p:nvSpPr>
        <p:spPr>
          <a:xfrm>
            <a:off x="781050" y="4533900"/>
            <a:ext cx="48387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panel-1-stat"/>
          <p:cNvSpPr txBox="1"/>
          <p:nvPr/>
        </p:nvSpPr>
        <p:spPr>
          <a:xfrm>
            <a:off x="781050" y="4648200"/>
            <a:ext cx="48387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800" b="1" i="0">
                <a:solidFill>
                  <a:srgbClr val="C780FF"/>
                </a:solidFill>
                <a:latin typeface="Inter"/>
              </a:rPr>
              <a:t>$120M+</a:t>
            </a:r>
          </a:p>
        </p:txBody>
      </p:sp>
      <p:sp>
        <p:nvSpPr>
          <p:cNvPr id="16" name="panel-1-stat-label"/>
          <p:cNvSpPr txBox="1"/>
          <p:nvPr/>
        </p:nvSpPr>
        <p:spPr>
          <a:xfrm>
            <a:off x="781050" y="4953000"/>
            <a:ext cx="4838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estimated annual cost of operational inefficiency and rework</a:t>
            </a:r>
          </a:p>
        </p:txBody>
      </p:sp>
      <p:sp>
        <p:nvSpPr>
          <p:cNvPr id="17" name="panel-1-source"/>
          <p:cNvSpPr txBox="1"/>
          <p:nvPr/>
        </p:nvSpPr>
        <p:spPr>
          <a:xfrm>
            <a:off x="781050" y="5143500"/>
            <a:ext cx="48387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9C88B8"/>
                </a:solidFill>
                <a:latin typeface="Inter"/>
              </a:rPr>
              <a:t>Source: Internal operations audit, Q1 2026</a:t>
            </a:r>
          </a:p>
        </p:txBody>
      </p:sp>
      <p:sp>
        <p:nvSpPr>
          <p:cNvPr id="18" name="transformation-arrow"/>
          <p:cNvSpPr txBox="1"/>
          <p:nvPr/>
        </p:nvSpPr>
        <p:spPr>
          <a:xfrm>
            <a:off x="5791200" y="3581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0" rIns="0" anchor="ctr">
            <a:spAutoFit/>
          </a:bodyPr>
          <a:lstStyle/>
          <a:p>
            <a:pPr algn="ctr">
              <a:defRPr/>
            </a:pPr>
            <a:r>
              <a:rPr sz="3000">
                <a:solidFill>
                  <a:srgbClr val="C780FF"/>
                </a:solidFill>
                <a:latin typeface="Segoe UI Symbol"/>
              </a:rPr>
              <a:t>→</a:t>
            </a:r>
          </a:p>
        </p:txBody>
      </p:sp>
      <p:sp>
        <p:nvSpPr>
          <p:cNvPr id="19" name="panel-2-bg"/>
          <p:cNvSpPr/>
          <p:nvPr/>
        </p:nvSpPr>
        <p:spPr>
          <a:xfrm>
            <a:off x="6400800" y="2095500"/>
            <a:ext cx="5181600" cy="34290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panel-2-header-bg"/>
          <p:cNvSpPr/>
          <p:nvPr/>
        </p:nvSpPr>
        <p:spPr>
          <a:xfrm>
            <a:off x="6400800" y="2095500"/>
            <a:ext cx="5181600" cy="3429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panel-2-header"/>
          <p:cNvSpPr txBox="1"/>
          <p:nvPr/>
        </p:nvSpPr>
        <p:spPr>
          <a:xfrm>
            <a:off x="6572250" y="2171700"/>
            <a:ext cx="48387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THE OPPORTUNITY</a:t>
            </a:r>
          </a:p>
        </p:txBody>
      </p:sp>
      <p:sp>
        <p:nvSpPr>
          <p:cNvPr id="22" name="panel-2-bullet-1-dot"/>
          <p:cNvSpPr/>
          <p:nvPr/>
        </p:nvSpPr>
        <p:spPr>
          <a:xfrm>
            <a:off x="6572250" y="2628900"/>
            <a:ext cx="47625" cy="4762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panel-2-bullet-1"/>
          <p:cNvSpPr txBox="1"/>
          <p:nvPr/>
        </p:nvSpPr>
        <p:spPr>
          <a:xfrm>
            <a:off x="6705600" y="2571750"/>
            <a:ext cx="4686300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A unified data platform reduces cycle time by up to 70%, enabling real-time insight and faster strategic response.</a:t>
            </a:r>
          </a:p>
        </p:txBody>
      </p:sp>
      <p:sp>
        <p:nvSpPr>
          <p:cNvPr id="24" name="panel-2-bullet-2-dot"/>
          <p:cNvSpPr/>
          <p:nvPr/>
        </p:nvSpPr>
        <p:spPr>
          <a:xfrm>
            <a:off x="6572250" y="3162300"/>
            <a:ext cx="47625" cy="4762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panel-2-bullet-2"/>
          <p:cNvSpPr txBox="1"/>
          <p:nvPr/>
        </p:nvSpPr>
        <p:spPr>
          <a:xfrm>
            <a:off x="6705600" y="3105150"/>
            <a:ext cx="4686300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Automating reconciliation and reporting frees analyst bandwidth to focus on analysis, modelling, and stakeholder value.</a:t>
            </a:r>
          </a:p>
        </p:txBody>
      </p:sp>
      <p:sp>
        <p:nvSpPr>
          <p:cNvPr id="26" name="panel-2-bullet-3-dot"/>
          <p:cNvSpPr/>
          <p:nvPr/>
        </p:nvSpPr>
        <p:spPr>
          <a:xfrm>
            <a:off x="6572250" y="3695700"/>
            <a:ext cx="47625" cy="4762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panel-2-bullet-3"/>
          <p:cNvSpPr txBox="1"/>
          <p:nvPr/>
        </p:nvSpPr>
        <p:spPr>
          <a:xfrm>
            <a:off x="6705600" y="3638550"/>
            <a:ext cx="4686300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Embedded compliance controls reduce regulatory exposure and build audit-readiness into every process by default.</a:t>
            </a:r>
          </a:p>
        </p:txBody>
      </p:sp>
      <p:sp>
        <p:nvSpPr>
          <p:cNvPr id="28" name="panel-2-stat-rule"/>
          <p:cNvSpPr/>
          <p:nvPr/>
        </p:nvSpPr>
        <p:spPr>
          <a:xfrm>
            <a:off x="6572250" y="4533900"/>
            <a:ext cx="48387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panel-2-stat"/>
          <p:cNvSpPr txBox="1"/>
          <p:nvPr/>
        </p:nvSpPr>
        <p:spPr>
          <a:xfrm>
            <a:off x="6572250" y="4648200"/>
            <a:ext cx="48387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800" b="1" i="0">
                <a:solidFill>
                  <a:srgbClr val="A100FF"/>
                </a:solidFill>
                <a:latin typeface="Inter"/>
              </a:rPr>
              <a:t>3.4× ROI</a:t>
            </a:r>
          </a:p>
        </p:txBody>
      </p:sp>
      <p:sp>
        <p:nvSpPr>
          <p:cNvPr id="30" name="panel-2-stat-label"/>
          <p:cNvSpPr txBox="1"/>
          <p:nvPr/>
        </p:nvSpPr>
        <p:spPr>
          <a:xfrm>
            <a:off x="6572250" y="4953000"/>
            <a:ext cx="4838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projected return over 36 months with phased modernisation</a:t>
            </a:r>
          </a:p>
        </p:txBody>
      </p:sp>
      <p:sp>
        <p:nvSpPr>
          <p:cNvPr id="31" name="panel-2-source"/>
          <p:cNvSpPr txBox="1"/>
          <p:nvPr/>
        </p:nvSpPr>
        <p:spPr>
          <a:xfrm>
            <a:off x="6572250" y="5143500"/>
            <a:ext cx="48387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9C88B8"/>
                </a:solidFill>
                <a:latin typeface="Inter"/>
              </a:rPr>
              <a:t>Basis: Accenture benchmark, Finance Transformation 2025</a:t>
            </a:r>
          </a:p>
        </p:txBody>
      </p:sp>
      <p:sp>
        <p:nvSpPr>
          <p:cNvPr id="32" name="convergence-bg"/>
          <p:cNvSpPr/>
          <p:nvPr/>
        </p:nvSpPr>
        <p:spPr>
          <a:xfrm>
            <a:off x="609600" y="5638800"/>
            <a:ext cx="10972800" cy="381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convergence"/>
          <p:cNvSpPr txBox="1"/>
          <p:nvPr/>
        </p:nvSpPr>
        <p:spPr>
          <a:xfrm>
            <a:off x="609600" y="5638800"/>
            <a:ext cx="109728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Addressing operational fragmentation unlocks $400M+ in recoverable enterprise value over three years</a:t>
            </a:r>
          </a:p>
        </p:txBody>
      </p:sp>
      <p:sp>
        <p:nvSpPr>
          <p:cNvPr id="34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35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36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186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