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Three rollout options — pick one to learn from, not three to maintain.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Two of these defer the decision; one gives us the evidence to make it. The middle path is sized to learn fast and reverse cleanly.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"/>
          <p:cNvSpPr/>
          <p:nvPr/>
        </p:nvSpPr>
        <p:spPr>
          <a:xfrm>
            <a:off x="609600" y="1714500"/>
            <a:ext cx="3524250" cy="4000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eyebrow"/>
          <p:cNvSpPr txBox="1"/>
          <p:nvPr/>
        </p:nvSpPr>
        <p:spPr>
          <a:xfrm>
            <a:off x="819150" y="1943100"/>
            <a:ext cx="3105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OPTION A · INTERNAL PILOT</a:t>
            </a:r>
          </a:p>
        </p:txBody>
      </p:sp>
      <p:sp>
        <p:nvSpPr>
          <p:cNvPr id="7" name="card-1-heading"/>
          <p:cNvSpPr txBox="1"/>
          <p:nvPr/>
        </p:nvSpPr>
        <p:spPr>
          <a:xfrm>
            <a:off x="819150" y="211455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Quiet single-workstream test</a:t>
            </a:r>
          </a:p>
        </p:txBody>
      </p:sp>
      <p:sp>
        <p:nvSpPr>
          <p:cNvPr id="8" name="card-1-tagline"/>
          <p:cNvSpPr txBox="1"/>
          <p:nvPr/>
        </p:nvSpPr>
        <p:spPr>
          <a:xfrm>
            <a:off x="819150" y="25527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Low-visibility trial on one team</a:t>
            </a:r>
          </a:p>
        </p:txBody>
      </p:sp>
      <p:sp>
        <p:nvSpPr>
          <p:cNvPr id="9" name="card-1-feat-1-icon"/>
          <p:cNvSpPr txBox="1"/>
          <p:nvPr/>
        </p:nvSpPr>
        <p:spPr>
          <a:xfrm>
            <a:off x="819150" y="2952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10" name="card-1-feat-1-text"/>
          <p:cNvSpPr txBox="1"/>
          <p:nvPr/>
        </p:nvSpPr>
        <p:spPr>
          <a:xfrm>
            <a:off x="1085850" y="2952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One workstream</a:t>
            </a:r>
          </a:p>
        </p:txBody>
      </p:sp>
      <p:sp>
        <p:nvSpPr>
          <p:cNvPr id="11" name="card-1-feat-2-rule"/>
          <p:cNvSpPr/>
          <p:nvPr/>
        </p:nvSpPr>
        <p:spPr>
          <a:xfrm>
            <a:off x="819150" y="32194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feat-2-icon"/>
          <p:cNvSpPr txBox="1"/>
          <p:nvPr/>
        </p:nvSpPr>
        <p:spPr>
          <a:xfrm>
            <a:off x="819150" y="3295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13" name="card-1-feat-2-text"/>
          <p:cNvSpPr txBox="1"/>
          <p:nvPr/>
        </p:nvSpPr>
        <p:spPr>
          <a:xfrm>
            <a:off x="1085850" y="32956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4-week duration</a:t>
            </a:r>
          </a:p>
        </p:txBody>
      </p:sp>
      <p:sp>
        <p:nvSpPr>
          <p:cNvPr id="14" name="card-1-feat-3-rule"/>
          <p:cNvSpPr/>
          <p:nvPr/>
        </p:nvSpPr>
        <p:spPr>
          <a:xfrm>
            <a:off x="819150" y="35623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1-feat-3-icon"/>
          <p:cNvSpPr txBox="1"/>
          <p:nvPr/>
        </p:nvSpPr>
        <p:spPr>
          <a:xfrm>
            <a:off x="819150" y="3638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✗</a:t>
            </a:r>
          </a:p>
        </p:txBody>
      </p:sp>
      <p:sp>
        <p:nvSpPr>
          <p:cNvPr id="16" name="card-1-feat-3-text"/>
          <p:cNvSpPr txBox="1"/>
          <p:nvPr/>
        </p:nvSpPr>
        <p:spPr>
          <a:xfrm>
            <a:off x="1085850" y="36385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Public commitment</a:t>
            </a:r>
          </a:p>
        </p:txBody>
      </p:sp>
      <p:sp>
        <p:nvSpPr>
          <p:cNvPr id="17" name="card-1-feat-4-rule"/>
          <p:cNvSpPr/>
          <p:nvPr/>
        </p:nvSpPr>
        <p:spPr>
          <a:xfrm>
            <a:off x="819150" y="39052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1-feat-4-icon"/>
          <p:cNvSpPr txBox="1"/>
          <p:nvPr/>
        </p:nvSpPr>
        <p:spPr>
          <a:xfrm>
            <a:off x="819150" y="3981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19" name="card-1-feat-4-text"/>
          <p:cNvSpPr txBox="1"/>
          <p:nvPr/>
        </p:nvSpPr>
        <p:spPr>
          <a:xfrm>
            <a:off x="1085850" y="39814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Reversible decision</a:t>
            </a:r>
          </a:p>
        </p:txBody>
      </p:sp>
      <p:sp>
        <p:nvSpPr>
          <p:cNvPr id="20" name="card-1-feat-5-rule"/>
          <p:cNvSpPr/>
          <p:nvPr/>
        </p:nvSpPr>
        <p:spPr>
          <a:xfrm>
            <a:off x="819150" y="42481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1-feat-5-icon"/>
          <p:cNvSpPr txBox="1"/>
          <p:nvPr/>
        </p:nvSpPr>
        <p:spPr>
          <a:xfrm>
            <a:off x="819150" y="4324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–</a:t>
            </a:r>
          </a:p>
        </p:txBody>
      </p:sp>
      <p:sp>
        <p:nvSpPr>
          <p:cNvPr id="22" name="card-1-feat-5-text"/>
          <p:cNvSpPr txBox="1"/>
          <p:nvPr/>
        </p:nvSpPr>
        <p:spPr>
          <a:xfrm>
            <a:off x="1085850" y="432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Limited learning</a:t>
            </a:r>
          </a:p>
        </p:txBody>
      </p:sp>
      <p:sp>
        <p:nvSpPr>
          <p:cNvPr id="23" name="card-1-stat-rule"/>
          <p:cNvSpPr/>
          <p:nvPr/>
        </p:nvSpPr>
        <p:spPr>
          <a:xfrm>
            <a:off x="819150" y="5181600"/>
            <a:ext cx="3105150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1-stat-label"/>
          <p:cNvSpPr txBox="1"/>
          <p:nvPr/>
        </p:nvSpPr>
        <p:spPr>
          <a:xfrm>
            <a:off x="819150" y="5238750"/>
            <a:ext cx="3105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INVESTMENT</a:t>
            </a:r>
          </a:p>
        </p:txBody>
      </p:sp>
      <p:sp>
        <p:nvSpPr>
          <p:cNvPr id="25" name="card-1-stat-value"/>
          <p:cNvSpPr txBox="1"/>
          <p:nvPr/>
        </p:nvSpPr>
        <p:spPr>
          <a:xfrm>
            <a:off x="819150" y="539115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~40 hr / 4 weeks</a:t>
            </a:r>
          </a:p>
        </p:txBody>
      </p:sp>
      <p:sp>
        <p:nvSpPr>
          <p:cNvPr id="26" name="card-2"/>
          <p:cNvSpPr/>
          <p:nvPr/>
        </p:nvSpPr>
        <p:spPr>
          <a:xfrm>
            <a:off x="4324350" y="1714500"/>
            <a:ext cx="3524250" cy="4000500"/>
          </a:xfrm>
          <a:prstGeom prst="rect">
            <a:avLst/>
          </a:prstGeom>
          <a:solidFill>
            <a:srgbClr val="C780FF"/>
          </a:solidFill>
          <a:ln w="2540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2-badge"/>
          <p:cNvSpPr/>
          <p:nvPr/>
        </p:nvSpPr>
        <p:spPr>
          <a:xfrm>
            <a:off x="5467350" y="1609725"/>
            <a:ext cx="12382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2-badge-text"/>
          <p:cNvSpPr txBox="1"/>
          <p:nvPr/>
        </p:nvSpPr>
        <p:spPr>
          <a:xfrm>
            <a:off x="5467350" y="160972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RECOMMENDED</a:t>
            </a:r>
          </a:p>
        </p:txBody>
      </p:sp>
      <p:sp>
        <p:nvSpPr>
          <p:cNvPr id="29" name="card-2-eyebrow"/>
          <p:cNvSpPr txBox="1"/>
          <p:nvPr/>
        </p:nvSpPr>
        <p:spPr>
          <a:xfrm>
            <a:off x="4533900" y="1943100"/>
            <a:ext cx="3105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OPTION B · FULL PRACTICE ROLLOUT</a:t>
            </a:r>
          </a:p>
        </p:txBody>
      </p:sp>
      <p:sp>
        <p:nvSpPr>
          <p:cNvPr id="30" name="card-2-heading"/>
          <p:cNvSpPr txBox="1"/>
          <p:nvPr/>
        </p:nvSpPr>
        <p:spPr>
          <a:xfrm>
            <a:off x="4533900" y="211455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Structured pilot, measured against baseline</a:t>
            </a:r>
          </a:p>
        </p:txBody>
      </p:sp>
      <p:sp>
        <p:nvSpPr>
          <p:cNvPr id="31" name="card-2-tagline"/>
          <p:cNvSpPr txBox="1"/>
          <p:nvPr/>
        </p:nvSpPr>
        <p:spPr>
          <a:xfrm>
            <a:off x="4533900" y="25527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2D0A4E"/>
                </a:solidFill>
                <a:latin typeface="Inter"/>
              </a:rPr>
              <a:t>All practice areas, evidence-based decision</a:t>
            </a:r>
          </a:p>
        </p:txBody>
      </p:sp>
      <p:sp>
        <p:nvSpPr>
          <p:cNvPr id="32" name="card-2-feat-1-icon"/>
          <p:cNvSpPr txBox="1"/>
          <p:nvPr/>
        </p:nvSpPr>
        <p:spPr>
          <a:xfrm>
            <a:off x="4533900" y="2952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33" name="card-2-feat-1-text"/>
          <p:cNvSpPr txBox="1"/>
          <p:nvPr/>
        </p:nvSpPr>
        <p:spPr>
          <a:xfrm>
            <a:off x="4800600" y="2952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All practice areas</a:t>
            </a:r>
          </a:p>
        </p:txBody>
      </p:sp>
      <p:sp>
        <p:nvSpPr>
          <p:cNvPr id="34" name="card-2-feat-2-rule"/>
          <p:cNvSpPr/>
          <p:nvPr/>
        </p:nvSpPr>
        <p:spPr>
          <a:xfrm>
            <a:off x="4533900" y="32194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2-feat-2-icon"/>
          <p:cNvSpPr txBox="1"/>
          <p:nvPr/>
        </p:nvSpPr>
        <p:spPr>
          <a:xfrm>
            <a:off x="4533900" y="3295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36" name="card-2-feat-2-text"/>
          <p:cNvSpPr txBox="1"/>
          <p:nvPr/>
        </p:nvSpPr>
        <p:spPr>
          <a:xfrm>
            <a:off x="4800600" y="32956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8 weeks with checkpoint</a:t>
            </a:r>
          </a:p>
        </p:txBody>
      </p:sp>
      <p:sp>
        <p:nvSpPr>
          <p:cNvPr id="37" name="card-2-feat-3-rule"/>
          <p:cNvSpPr/>
          <p:nvPr/>
        </p:nvSpPr>
        <p:spPr>
          <a:xfrm>
            <a:off x="4533900" y="35623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rd-2-feat-3-icon"/>
          <p:cNvSpPr txBox="1"/>
          <p:nvPr/>
        </p:nvSpPr>
        <p:spPr>
          <a:xfrm>
            <a:off x="4533900" y="3638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39" name="card-2-feat-3-text"/>
          <p:cNvSpPr txBox="1"/>
          <p:nvPr/>
        </p:nvSpPr>
        <p:spPr>
          <a:xfrm>
            <a:off x="4800600" y="36385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Measurable outcomes</a:t>
            </a:r>
          </a:p>
        </p:txBody>
      </p:sp>
      <p:sp>
        <p:nvSpPr>
          <p:cNvPr id="40" name="card-2-feat-4-rule"/>
          <p:cNvSpPr/>
          <p:nvPr/>
        </p:nvSpPr>
        <p:spPr>
          <a:xfrm>
            <a:off x="4533900" y="39052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ard-2-feat-4-icon"/>
          <p:cNvSpPr txBox="1"/>
          <p:nvPr/>
        </p:nvSpPr>
        <p:spPr>
          <a:xfrm>
            <a:off x="4533900" y="3981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42" name="card-2-feat-4-text"/>
          <p:cNvSpPr txBox="1"/>
          <p:nvPr/>
        </p:nvSpPr>
        <p:spPr>
          <a:xfrm>
            <a:off x="4800600" y="39814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Reversible at week 4</a:t>
            </a:r>
          </a:p>
        </p:txBody>
      </p:sp>
      <p:sp>
        <p:nvSpPr>
          <p:cNvPr id="43" name="card-2-feat-5-rule"/>
          <p:cNvSpPr/>
          <p:nvPr/>
        </p:nvSpPr>
        <p:spPr>
          <a:xfrm>
            <a:off x="4533900" y="42481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2-feat-5-icon"/>
          <p:cNvSpPr txBox="1"/>
          <p:nvPr/>
        </p:nvSpPr>
        <p:spPr>
          <a:xfrm>
            <a:off x="4533900" y="4324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45" name="card-2-feat-5-text"/>
          <p:cNvSpPr txBox="1"/>
          <p:nvPr/>
        </p:nvSpPr>
        <p:spPr>
          <a:xfrm>
            <a:off x="4800600" y="432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Builds case for scale</a:t>
            </a:r>
          </a:p>
        </p:txBody>
      </p:sp>
      <p:sp>
        <p:nvSpPr>
          <p:cNvPr id="46" name="card-2-stat-rule"/>
          <p:cNvSpPr/>
          <p:nvPr/>
        </p:nvSpPr>
        <p:spPr>
          <a:xfrm>
            <a:off x="4533900" y="5181600"/>
            <a:ext cx="310515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ard-2-stat-label"/>
          <p:cNvSpPr txBox="1"/>
          <p:nvPr/>
        </p:nvSpPr>
        <p:spPr>
          <a:xfrm>
            <a:off x="4533900" y="5238750"/>
            <a:ext cx="3105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INVESTMENT</a:t>
            </a:r>
          </a:p>
        </p:txBody>
      </p:sp>
      <p:sp>
        <p:nvSpPr>
          <p:cNvPr id="48" name="card-2-stat-value"/>
          <p:cNvSpPr txBox="1"/>
          <p:nvPr/>
        </p:nvSpPr>
        <p:spPr>
          <a:xfrm>
            <a:off x="4533900" y="539115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~160 hr / 8 weeks</a:t>
            </a:r>
          </a:p>
        </p:txBody>
      </p:sp>
      <p:sp>
        <p:nvSpPr>
          <p:cNvPr id="49" name="card-3"/>
          <p:cNvSpPr/>
          <p:nvPr/>
        </p:nvSpPr>
        <p:spPr>
          <a:xfrm>
            <a:off x="8039100" y="1714500"/>
            <a:ext cx="3524250" cy="4000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ard-3-eyebrow"/>
          <p:cNvSpPr txBox="1"/>
          <p:nvPr/>
        </p:nvSpPr>
        <p:spPr>
          <a:xfrm>
            <a:off x="8248650" y="1943100"/>
            <a:ext cx="3105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OPTION C · FIRM-WIDE LICENSE</a:t>
            </a:r>
          </a:p>
        </p:txBody>
      </p:sp>
      <p:sp>
        <p:nvSpPr>
          <p:cNvPr id="51" name="card-3-heading"/>
          <p:cNvSpPr txBox="1"/>
          <p:nvPr/>
        </p:nvSpPr>
        <p:spPr>
          <a:xfrm>
            <a:off x="8248650" y="211455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Buy a vendor tool firm-wide</a:t>
            </a:r>
          </a:p>
        </p:txBody>
      </p:sp>
      <p:sp>
        <p:nvSpPr>
          <p:cNvPr id="52" name="card-3-tagline"/>
          <p:cNvSpPr txBox="1"/>
          <p:nvPr/>
        </p:nvSpPr>
        <p:spPr>
          <a:xfrm>
            <a:off x="8248650" y="25527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Procurement-led, off-the-shelf rollout</a:t>
            </a:r>
          </a:p>
        </p:txBody>
      </p:sp>
      <p:sp>
        <p:nvSpPr>
          <p:cNvPr id="53" name="card-3-feat-1-icon"/>
          <p:cNvSpPr txBox="1"/>
          <p:nvPr/>
        </p:nvSpPr>
        <p:spPr>
          <a:xfrm>
            <a:off x="8248650" y="2952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✓</a:t>
            </a:r>
          </a:p>
        </p:txBody>
      </p:sp>
      <p:sp>
        <p:nvSpPr>
          <p:cNvPr id="54" name="card-3-feat-1-text"/>
          <p:cNvSpPr txBox="1"/>
          <p:nvPr/>
        </p:nvSpPr>
        <p:spPr>
          <a:xfrm>
            <a:off x="8515350" y="2952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Vendor support</a:t>
            </a:r>
          </a:p>
        </p:txBody>
      </p:sp>
      <p:sp>
        <p:nvSpPr>
          <p:cNvPr id="55" name="card-3-feat-2-rule"/>
          <p:cNvSpPr/>
          <p:nvPr/>
        </p:nvSpPr>
        <p:spPr>
          <a:xfrm>
            <a:off x="8248650" y="32194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ard-3-feat-2-icon"/>
          <p:cNvSpPr txBox="1"/>
          <p:nvPr/>
        </p:nvSpPr>
        <p:spPr>
          <a:xfrm>
            <a:off x="8248650" y="3295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✗</a:t>
            </a:r>
          </a:p>
        </p:txBody>
      </p:sp>
      <p:sp>
        <p:nvSpPr>
          <p:cNvPr id="57" name="card-3-feat-2-text"/>
          <p:cNvSpPr txBox="1"/>
          <p:nvPr/>
        </p:nvSpPr>
        <p:spPr>
          <a:xfrm>
            <a:off x="8515350" y="32956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Tunable to our taste</a:t>
            </a:r>
          </a:p>
        </p:txBody>
      </p:sp>
      <p:sp>
        <p:nvSpPr>
          <p:cNvPr id="58" name="card-3-feat-3-rule"/>
          <p:cNvSpPr/>
          <p:nvPr/>
        </p:nvSpPr>
        <p:spPr>
          <a:xfrm>
            <a:off x="8248650" y="35623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ard-3-feat-3-icon"/>
          <p:cNvSpPr txBox="1"/>
          <p:nvPr/>
        </p:nvSpPr>
        <p:spPr>
          <a:xfrm>
            <a:off x="8248650" y="3638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✗</a:t>
            </a:r>
          </a:p>
        </p:txBody>
      </p:sp>
      <p:sp>
        <p:nvSpPr>
          <p:cNvPr id="60" name="card-3-feat-3-text"/>
          <p:cNvSpPr txBox="1"/>
          <p:nvPr/>
        </p:nvSpPr>
        <p:spPr>
          <a:xfrm>
            <a:off x="8515350" y="36385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Reversible</a:t>
            </a:r>
          </a:p>
        </p:txBody>
      </p:sp>
      <p:sp>
        <p:nvSpPr>
          <p:cNvPr id="61" name="card-3-feat-4-rule"/>
          <p:cNvSpPr/>
          <p:nvPr/>
        </p:nvSpPr>
        <p:spPr>
          <a:xfrm>
            <a:off x="8248650" y="39052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ard-3-feat-4-icon"/>
          <p:cNvSpPr txBox="1"/>
          <p:nvPr/>
        </p:nvSpPr>
        <p:spPr>
          <a:xfrm>
            <a:off x="8248650" y="3981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✗</a:t>
            </a:r>
          </a:p>
        </p:txBody>
      </p:sp>
      <p:sp>
        <p:nvSpPr>
          <p:cNvPr id="63" name="card-3-feat-4-text"/>
          <p:cNvSpPr txBox="1"/>
          <p:nvPr/>
        </p:nvSpPr>
        <p:spPr>
          <a:xfrm>
            <a:off x="8515350" y="39814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Internal IP</a:t>
            </a:r>
          </a:p>
        </p:txBody>
      </p:sp>
      <p:sp>
        <p:nvSpPr>
          <p:cNvPr id="64" name="card-3-feat-5-rule"/>
          <p:cNvSpPr/>
          <p:nvPr/>
        </p:nvSpPr>
        <p:spPr>
          <a:xfrm>
            <a:off x="8248650" y="4248150"/>
            <a:ext cx="3105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ard-3-feat-5-icon"/>
          <p:cNvSpPr txBox="1"/>
          <p:nvPr/>
        </p:nvSpPr>
        <p:spPr>
          <a:xfrm>
            <a:off x="8248650" y="4324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A5A5"/>
                </a:solidFill>
                <a:latin typeface="Inter"/>
              </a:rPr>
              <a:t>✗</a:t>
            </a:r>
          </a:p>
        </p:txBody>
      </p:sp>
      <p:sp>
        <p:nvSpPr>
          <p:cNvPr id="66" name="card-3-feat-5-text"/>
          <p:cNvSpPr txBox="1"/>
          <p:nvPr/>
        </p:nvSpPr>
        <p:spPr>
          <a:xfrm>
            <a:off x="8515350" y="432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Compounds across decks</a:t>
            </a:r>
          </a:p>
        </p:txBody>
      </p:sp>
      <p:sp>
        <p:nvSpPr>
          <p:cNvPr id="67" name="card-3-stat-rule"/>
          <p:cNvSpPr/>
          <p:nvPr/>
        </p:nvSpPr>
        <p:spPr>
          <a:xfrm>
            <a:off x="8248650" y="5181600"/>
            <a:ext cx="3105150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ard-3-stat-label"/>
          <p:cNvSpPr txBox="1"/>
          <p:nvPr/>
        </p:nvSpPr>
        <p:spPr>
          <a:xfrm>
            <a:off x="8248650" y="5238750"/>
            <a:ext cx="3105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INVESTMENT</a:t>
            </a:r>
          </a:p>
        </p:txBody>
      </p:sp>
      <p:sp>
        <p:nvSpPr>
          <p:cNvPr id="69" name="card-3-stat-value"/>
          <p:cNvSpPr txBox="1"/>
          <p:nvPr/>
        </p:nvSpPr>
        <p:spPr>
          <a:xfrm>
            <a:off x="8248650" y="539115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$X license + ramp</a:t>
            </a:r>
          </a:p>
        </p:txBody>
      </p:sp>
      <p:sp>
        <p:nvSpPr>
          <p:cNvPr id="70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Pilot only the middle option — it gets you the data you need to decide on the others.</a:t>
            </a:r>
          </a:p>
        </p:txBody>
      </p:sp>
      <p:sp>
        <p:nvSpPr>
          <p:cNvPr id="7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