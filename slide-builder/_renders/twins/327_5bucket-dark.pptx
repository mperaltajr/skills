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Five pillars of </a:t>
            </a:r>
            <a:r>
              <a:rPr sz="2100" b="1" i="0">
                <a:solidFill>
                  <a:srgbClr val="C780FF"/>
                </a:solidFill>
                <a:latin typeface="Inter"/>
              </a:rPr>
              <a:t>platform transformation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Each workstream delivers measurable outcomes across people, process, and technology.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1905000"/>
            <a:ext cx="2143125" cy="45148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top"/>
          <p:cNvSpPr/>
          <p:nvPr/>
        </p:nvSpPr>
        <p:spPr>
          <a:xfrm>
            <a:off x="457200" y="1905000"/>
            <a:ext cx="2143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badge-bg"/>
          <p:cNvSpPr/>
          <p:nvPr/>
        </p:nvSpPr>
        <p:spPr>
          <a:xfrm>
            <a:off x="609600" y="2076450"/>
            <a:ext cx="2476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badge"/>
          <p:cNvSpPr txBox="1"/>
          <p:nvPr/>
        </p:nvSpPr>
        <p:spPr>
          <a:xfrm>
            <a:off x="609600" y="20764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card-1-title"/>
          <p:cNvSpPr txBox="1"/>
          <p:nvPr/>
        </p:nvSpPr>
        <p:spPr>
          <a:xfrm>
            <a:off x="609600" y="2438400"/>
            <a:ext cx="18383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Foundation &amp; Architecture</a:t>
            </a:r>
          </a:p>
        </p:txBody>
      </p:sp>
      <p:sp>
        <p:nvSpPr>
          <p:cNvPr id="10" name="card-1-bullet-1"/>
          <p:cNvSpPr txBox="1"/>
          <p:nvPr/>
        </p:nvSpPr>
        <p:spPr>
          <a:xfrm>
            <a:off x="609600" y="30099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Cloud-native core platform build-out</a:t>
            </a:r>
          </a:p>
        </p:txBody>
      </p:sp>
      <p:sp>
        <p:nvSpPr>
          <p:cNvPr id="11" name="card-1-bullet-2"/>
          <p:cNvSpPr txBox="1"/>
          <p:nvPr/>
        </p:nvSpPr>
        <p:spPr>
          <a:xfrm>
            <a:off x="609600" y="33528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API mesh and integration layer</a:t>
            </a:r>
          </a:p>
        </p:txBody>
      </p:sp>
      <p:sp>
        <p:nvSpPr>
          <p:cNvPr id="12" name="card-1-stat"/>
          <p:cNvSpPr txBox="1"/>
          <p:nvPr/>
        </p:nvSpPr>
        <p:spPr>
          <a:xfrm>
            <a:off x="609600" y="5848350"/>
            <a:ext cx="18383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38%</a:t>
            </a:r>
          </a:p>
        </p:txBody>
      </p:sp>
      <p:sp>
        <p:nvSpPr>
          <p:cNvPr id="13" name="card-1-stat-label"/>
          <p:cNvSpPr txBox="1"/>
          <p:nvPr/>
        </p:nvSpPr>
        <p:spPr>
          <a:xfrm>
            <a:off x="609600" y="6153150"/>
            <a:ext cx="18383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cost reduction</a:t>
            </a:r>
          </a:p>
        </p:txBody>
      </p:sp>
      <p:sp>
        <p:nvSpPr>
          <p:cNvPr id="14" name="card-2-bg"/>
          <p:cNvSpPr/>
          <p:nvPr/>
        </p:nvSpPr>
        <p:spPr>
          <a:xfrm>
            <a:off x="2733675" y="1905000"/>
            <a:ext cx="2143125" cy="45148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2-top"/>
          <p:cNvSpPr/>
          <p:nvPr/>
        </p:nvSpPr>
        <p:spPr>
          <a:xfrm>
            <a:off x="2733675" y="1905000"/>
            <a:ext cx="2143125" cy="28575"/>
          </a:xfrm>
          <a:prstGeom prst="rect">
            <a:avLst/>
          </a:prstGeom>
          <a:solidFill>
            <a:srgbClr val="77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2-badge-bg"/>
          <p:cNvSpPr/>
          <p:nvPr/>
        </p:nvSpPr>
        <p:spPr>
          <a:xfrm>
            <a:off x="2886075" y="2076450"/>
            <a:ext cx="2476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ard-2-badge"/>
          <p:cNvSpPr txBox="1"/>
          <p:nvPr/>
        </p:nvSpPr>
        <p:spPr>
          <a:xfrm>
            <a:off x="2886075" y="20764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8" name="card-2-title"/>
          <p:cNvSpPr txBox="1"/>
          <p:nvPr/>
        </p:nvSpPr>
        <p:spPr>
          <a:xfrm>
            <a:off x="2886075" y="2438400"/>
            <a:ext cx="18383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&amp; Intelligence</a:t>
            </a:r>
          </a:p>
        </p:txBody>
      </p:sp>
      <p:sp>
        <p:nvSpPr>
          <p:cNvPr id="19" name="card-2-bullet-1"/>
          <p:cNvSpPr txBox="1"/>
          <p:nvPr/>
        </p:nvSpPr>
        <p:spPr>
          <a:xfrm>
            <a:off x="2886075" y="30099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Unified data fabric deployment</a:t>
            </a:r>
          </a:p>
        </p:txBody>
      </p:sp>
      <p:sp>
        <p:nvSpPr>
          <p:cNvPr id="20" name="card-2-bullet-2"/>
          <p:cNvSpPr txBox="1"/>
          <p:nvPr/>
        </p:nvSpPr>
        <p:spPr>
          <a:xfrm>
            <a:off x="2886075" y="33528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ML pipeline and model ops</a:t>
            </a:r>
          </a:p>
        </p:txBody>
      </p:sp>
      <p:sp>
        <p:nvSpPr>
          <p:cNvPr id="21" name="card-2-stat"/>
          <p:cNvSpPr txBox="1"/>
          <p:nvPr/>
        </p:nvSpPr>
        <p:spPr>
          <a:xfrm>
            <a:off x="2886075" y="5848350"/>
            <a:ext cx="18383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2.4×</a:t>
            </a:r>
          </a:p>
        </p:txBody>
      </p:sp>
      <p:sp>
        <p:nvSpPr>
          <p:cNvPr id="22" name="card-2-stat-label"/>
          <p:cNvSpPr txBox="1"/>
          <p:nvPr/>
        </p:nvSpPr>
        <p:spPr>
          <a:xfrm>
            <a:off x="2886075" y="6153150"/>
            <a:ext cx="18383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faster insights</a:t>
            </a:r>
          </a:p>
        </p:txBody>
      </p:sp>
      <p:sp>
        <p:nvSpPr>
          <p:cNvPr id="23" name="card-3-bg"/>
          <p:cNvSpPr/>
          <p:nvPr/>
        </p:nvSpPr>
        <p:spPr>
          <a:xfrm>
            <a:off x="5010150" y="1905000"/>
            <a:ext cx="2143125" cy="45148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3-top"/>
          <p:cNvSpPr/>
          <p:nvPr/>
        </p:nvSpPr>
        <p:spPr>
          <a:xfrm>
            <a:off x="5010150" y="1905000"/>
            <a:ext cx="2143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3-badge-bg"/>
          <p:cNvSpPr/>
          <p:nvPr/>
        </p:nvSpPr>
        <p:spPr>
          <a:xfrm>
            <a:off x="5162550" y="2076450"/>
            <a:ext cx="2476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rd-3-badge"/>
          <p:cNvSpPr txBox="1"/>
          <p:nvPr/>
        </p:nvSpPr>
        <p:spPr>
          <a:xfrm>
            <a:off x="5162550" y="20764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7" name="card-3-title"/>
          <p:cNvSpPr txBox="1"/>
          <p:nvPr/>
        </p:nvSpPr>
        <p:spPr>
          <a:xfrm>
            <a:off x="5162550" y="2438400"/>
            <a:ext cx="18383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Security &amp; Compliance</a:t>
            </a:r>
          </a:p>
        </p:txBody>
      </p:sp>
      <p:sp>
        <p:nvSpPr>
          <p:cNvPr id="28" name="card-3-bullet-1"/>
          <p:cNvSpPr txBox="1"/>
          <p:nvPr/>
        </p:nvSpPr>
        <p:spPr>
          <a:xfrm>
            <a:off x="5162550" y="30099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Zero-trust identity framework</a:t>
            </a:r>
          </a:p>
        </p:txBody>
      </p:sp>
      <p:sp>
        <p:nvSpPr>
          <p:cNvPr id="29" name="card-3-bullet-2"/>
          <p:cNvSpPr txBox="1"/>
          <p:nvPr/>
        </p:nvSpPr>
        <p:spPr>
          <a:xfrm>
            <a:off x="5162550" y="33528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Automated controls monitoring</a:t>
            </a:r>
          </a:p>
        </p:txBody>
      </p:sp>
      <p:sp>
        <p:nvSpPr>
          <p:cNvPr id="30" name="card-3-stat"/>
          <p:cNvSpPr txBox="1"/>
          <p:nvPr/>
        </p:nvSpPr>
        <p:spPr>
          <a:xfrm>
            <a:off x="5162550" y="5848350"/>
            <a:ext cx="18383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99.7%</a:t>
            </a:r>
          </a:p>
        </p:txBody>
      </p:sp>
      <p:sp>
        <p:nvSpPr>
          <p:cNvPr id="31" name="card-3-stat-label"/>
          <p:cNvSpPr txBox="1"/>
          <p:nvPr/>
        </p:nvSpPr>
        <p:spPr>
          <a:xfrm>
            <a:off x="5162550" y="6153150"/>
            <a:ext cx="18383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audit pass rate</a:t>
            </a:r>
          </a:p>
        </p:txBody>
      </p:sp>
      <p:sp>
        <p:nvSpPr>
          <p:cNvPr id="32" name="card-4-bg"/>
          <p:cNvSpPr/>
          <p:nvPr/>
        </p:nvSpPr>
        <p:spPr>
          <a:xfrm>
            <a:off x="7286625" y="1905000"/>
            <a:ext cx="2143125" cy="45148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ard-4-top"/>
          <p:cNvSpPr/>
          <p:nvPr/>
        </p:nvSpPr>
        <p:spPr>
          <a:xfrm>
            <a:off x="7286625" y="1905000"/>
            <a:ext cx="2143125" cy="28575"/>
          </a:xfrm>
          <a:prstGeom prst="rect">
            <a:avLst/>
          </a:prstGeom>
          <a:solidFill>
            <a:srgbClr val="77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ard-4-badge-bg"/>
          <p:cNvSpPr/>
          <p:nvPr/>
        </p:nvSpPr>
        <p:spPr>
          <a:xfrm>
            <a:off x="7439025" y="2076450"/>
            <a:ext cx="2476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rd-4-badge"/>
          <p:cNvSpPr txBox="1"/>
          <p:nvPr/>
        </p:nvSpPr>
        <p:spPr>
          <a:xfrm>
            <a:off x="7439025" y="20764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36" name="card-4-title"/>
          <p:cNvSpPr txBox="1"/>
          <p:nvPr/>
        </p:nvSpPr>
        <p:spPr>
          <a:xfrm>
            <a:off x="7439025" y="2438400"/>
            <a:ext cx="18383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Experience &amp; Adoption</a:t>
            </a:r>
          </a:p>
        </p:txBody>
      </p:sp>
      <p:sp>
        <p:nvSpPr>
          <p:cNvPr id="37" name="card-4-bullet-1"/>
          <p:cNvSpPr txBox="1"/>
          <p:nvPr/>
        </p:nvSpPr>
        <p:spPr>
          <a:xfrm>
            <a:off x="7439025" y="30099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Role-based UX redesign</a:t>
            </a:r>
          </a:p>
        </p:txBody>
      </p:sp>
      <p:sp>
        <p:nvSpPr>
          <p:cNvPr id="38" name="card-4-bullet-2"/>
          <p:cNvSpPr txBox="1"/>
          <p:nvPr/>
        </p:nvSpPr>
        <p:spPr>
          <a:xfrm>
            <a:off x="7439025" y="33528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Change management playbook</a:t>
            </a:r>
          </a:p>
        </p:txBody>
      </p:sp>
      <p:sp>
        <p:nvSpPr>
          <p:cNvPr id="39" name="card-4-stat"/>
          <p:cNvSpPr txBox="1"/>
          <p:nvPr/>
        </p:nvSpPr>
        <p:spPr>
          <a:xfrm>
            <a:off x="7439025" y="5848350"/>
            <a:ext cx="18383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+41pts</a:t>
            </a:r>
          </a:p>
        </p:txBody>
      </p:sp>
      <p:sp>
        <p:nvSpPr>
          <p:cNvPr id="40" name="card-4-stat-label"/>
          <p:cNvSpPr txBox="1"/>
          <p:nvPr/>
        </p:nvSpPr>
        <p:spPr>
          <a:xfrm>
            <a:off x="7439025" y="6153150"/>
            <a:ext cx="18383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NPS lift</a:t>
            </a:r>
          </a:p>
        </p:txBody>
      </p:sp>
      <p:sp>
        <p:nvSpPr>
          <p:cNvPr id="41" name="card-5-bg"/>
          <p:cNvSpPr/>
          <p:nvPr/>
        </p:nvSpPr>
        <p:spPr>
          <a:xfrm>
            <a:off x="9563100" y="1905000"/>
            <a:ext cx="2143125" cy="45148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ard-5-top"/>
          <p:cNvSpPr/>
          <p:nvPr/>
        </p:nvSpPr>
        <p:spPr>
          <a:xfrm>
            <a:off x="9563100" y="1905000"/>
            <a:ext cx="2143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ard-5-badge-bg"/>
          <p:cNvSpPr/>
          <p:nvPr/>
        </p:nvSpPr>
        <p:spPr>
          <a:xfrm>
            <a:off x="9715500" y="2076450"/>
            <a:ext cx="2476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5-badge"/>
          <p:cNvSpPr txBox="1"/>
          <p:nvPr/>
        </p:nvSpPr>
        <p:spPr>
          <a:xfrm>
            <a:off x="9715500" y="20764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45" name="card-5-title"/>
          <p:cNvSpPr txBox="1"/>
          <p:nvPr/>
        </p:nvSpPr>
        <p:spPr>
          <a:xfrm>
            <a:off x="9715500" y="2438400"/>
            <a:ext cx="18383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Operations &amp; Scale</a:t>
            </a:r>
          </a:p>
        </p:txBody>
      </p:sp>
      <p:sp>
        <p:nvSpPr>
          <p:cNvPr id="46" name="card-5-bullet-1"/>
          <p:cNvSpPr txBox="1"/>
          <p:nvPr/>
        </p:nvSpPr>
        <p:spPr>
          <a:xfrm>
            <a:off x="9715500" y="30099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AIOps and auto-remediation</a:t>
            </a:r>
          </a:p>
        </p:txBody>
      </p:sp>
      <p:sp>
        <p:nvSpPr>
          <p:cNvPr id="47" name="card-5-bullet-2"/>
          <p:cNvSpPr txBox="1"/>
          <p:nvPr/>
        </p:nvSpPr>
        <p:spPr>
          <a:xfrm>
            <a:off x="9715500" y="33528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Multi-region resilience design</a:t>
            </a:r>
          </a:p>
        </p:txBody>
      </p:sp>
      <p:sp>
        <p:nvSpPr>
          <p:cNvPr id="48" name="card-5-stat"/>
          <p:cNvSpPr txBox="1"/>
          <p:nvPr/>
        </p:nvSpPr>
        <p:spPr>
          <a:xfrm>
            <a:off x="9715500" y="5848350"/>
            <a:ext cx="18383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6 min</a:t>
            </a:r>
          </a:p>
        </p:txBody>
      </p:sp>
      <p:sp>
        <p:nvSpPr>
          <p:cNvPr id="49" name="card-5-stat-label"/>
          <p:cNvSpPr txBox="1"/>
          <p:nvPr/>
        </p:nvSpPr>
        <p:spPr>
          <a:xfrm>
            <a:off x="9715500" y="6153150"/>
            <a:ext cx="18383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mean time to restore</a:t>
            </a:r>
          </a:p>
        </p:txBody>
      </p:sp>
      <p:sp>
        <p:nvSpPr>
          <p:cNvPr id="5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