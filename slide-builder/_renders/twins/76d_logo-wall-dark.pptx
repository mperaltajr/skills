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39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Where Slide Lab has worked — twelve practices, eight industries.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Engagements span Fortune 500 and category leaders across four continents. Logos shown as placeholders pending client approval — full reference list available on request.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4478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ogo-1-tile"/>
          <p:cNvSpPr/>
          <p:nvPr/>
        </p:nvSpPr>
        <p:spPr>
          <a:xfrm>
            <a:off x="457200" y="2095500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ogo-1-text"/>
          <p:cNvSpPr txBox="1"/>
          <p:nvPr/>
        </p:nvSpPr>
        <p:spPr>
          <a:xfrm>
            <a:off x="457200" y="2095500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ACME CORP</a:t>
            </a:r>
          </a:p>
        </p:txBody>
      </p:sp>
      <p:sp>
        <p:nvSpPr>
          <p:cNvPr id="7" name="logo-2-tile"/>
          <p:cNvSpPr/>
          <p:nvPr/>
        </p:nvSpPr>
        <p:spPr>
          <a:xfrm>
            <a:off x="3305175" y="2095500"/>
            <a:ext cx="2714625" cy="1114425"/>
          </a:xfrm>
          <a:prstGeom prst="rect">
            <a:avLst/>
          </a:prstGeom>
          <a:solidFill>
            <a:srgbClr val="5C2D87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ogo-2-text"/>
          <p:cNvSpPr txBox="1"/>
          <p:nvPr/>
        </p:nvSpPr>
        <p:spPr>
          <a:xfrm>
            <a:off x="3305175" y="2095500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GLOBEX</a:t>
            </a:r>
          </a:p>
        </p:txBody>
      </p:sp>
      <p:sp>
        <p:nvSpPr>
          <p:cNvPr id="9" name="logo-3-tile"/>
          <p:cNvSpPr/>
          <p:nvPr/>
        </p:nvSpPr>
        <p:spPr>
          <a:xfrm>
            <a:off x="6153150" y="2095500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ogo-3-text"/>
          <p:cNvSpPr txBox="1"/>
          <p:nvPr/>
        </p:nvSpPr>
        <p:spPr>
          <a:xfrm>
            <a:off x="6153150" y="2095500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INITECH</a:t>
            </a:r>
          </a:p>
        </p:txBody>
      </p:sp>
      <p:sp>
        <p:nvSpPr>
          <p:cNvPr id="11" name="logo-4-tile"/>
          <p:cNvSpPr/>
          <p:nvPr/>
        </p:nvSpPr>
        <p:spPr>
          <a:xfrm>
            <a:off x="9001125" y="2095500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ogo-4-text"/>
          <p:cNvSpPr txBox="1"/>
          <p:nvPr/>
        </p:nvSpPr>
        <p:spPr>
          <a:xfrm>
            <a:off x="9001125" y="2095500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UMBRELLA</a:t>
            </a:r>
          </a:p>
        </p:txBody>
      </p:sp>
      <p:sp>
        <p:nvSpPr>
          <p:cNvPr id="13" name="logo-5-tile"/>
          <p:cNvSpPr/>
          <p:nvPr/>
        </p:nvSpPr>
        <p:spPr>
          <a:xfrm>
            <a:off x="457200" y="3343275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logo-5-text"/>
          <p:cNvSpPr txBox="1"/>
          <p:nvPr/>
        </p:nvSpPr>
        <p:spPr>
          <a:xfrm>
            <a:off x="457200" y="3343275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WEYLAND</a:t>
            </a:r>
          </a:p>
        </p:txBody>
      </p:sp>
      <p:sp>
        <p:nvSpPr>
          <p:cNvPr id="15" name="logo-6-tile"/>
          <p:cNvSpPr/>
          <p:nvPr/>
        </p:nvSpPr>
        <p:spPr>
          <a:xfrm>
            <a:off x="3305175" y="3343275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logo-6-text"/>
          <p:cNvSpPr txBox="1"/>
          <p:nvPr/>
        </p:nvSpPr>
        <p:spPr>
          <a:xfrm>
            <a:off x="3305175" y="3343275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TYRELL</a:t>
            </a:r>
          </a:p>
        </p:txBody>
      </p:sp>
      <p:sp>
        <p:nvSpPr>
          <p:cNvPr id="17" name="logo-7-tile"/>
          <p:cNvSpPr/>
          <p:nvPr/>
        </p:nvSpPr>
        <p:spPr>
          <a:xfrm>
            <a:off x="6153150" y="3343275"/>
            <a:ext cx="2714625" cy="1114425"/>
          </a:xfrm>
          <a:prstGeom prst="rect">
            <a:avLst/>
          </a:prstGeom>
          <a:solidFill>
            <a:srgbClr val="5C2D87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ogo-7-text"/>
          <p:cNvSpPr txBox="1"/>
          <p:nvPr/>
        </p:nvSpPr>
        <p:spPr>
          <a:xfrm>
            <a:off x="6153150" y="3343275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STARK</a:t>
            </a:r>
          </a:p>
        </p:txBody>
      </p:sp>
      <p:sp>
        <p:nvSpPr>
          <p:cNvPr id="19" name="logo-8-tile"/>
          <p:cNvSpPr/>
          <p:nvPr/>
        </p:nvSpPr>
        <p:spPr>
          <a:xfrm>
            <a:off x="9001125" y="3343275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logo-8-text"/>
          <p:cNvSpPr txBox="1"/>
          <p:nvPr/>
        </p:nvSpPr>
        <p:spPr>
          <a:xfrm>
            <a:off x="9001125" y="3343275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WAYNE</a:t>
            </a:r>
          </a:p>
        </p:txBody>
      </p:sp>
      <p:sp>
        <p:nvSpPr>
          <p:cNvPr id="21" name="logo-9-tile"/>
          <p:cNvSpPr/>
          <p:nvPr/>
        </p:nvSpPr>
        <p:spPr>
          <a:xfrm>
            <a:off x="457200" y="4591050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logo-9-text"/>
          <p:cNvSpPr txBox="1"/>
          <p:nvPr/>
        </p:nvSpPr>
        <p:spPr>
          <a:xfrm>
            <a:off x="457200" y="4591050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SOYLENT</a:t>
            </a:r>
          </a:p>
        </p:txBody>
      </p:sp>
      <p:sp>
        <p:nvSpPr>
          <p:cNvPr id="23" name="logo-10-tile"/>
          <p:cNvSpPr/>
          <p:nvPr/>
        </p:nvSpPr>
        <p:spPr>
          <a:xfrm>
            <a:off x="3305175" y="4591050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logo-10-text"/>
          <p:cNvSpPr txBox="1"/>
          <p:nvPr/>
        </p:nvSpPr>
        <p:spPr>
          <a:xfrm>
            <a:off x="3305175" y="4591050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CYBERDYNE</a:t>
            </a:r>
          </a:p>
        </p:txBody>
      </p:sp>
      <p:sp>
        <p:nvSpPr>
          <p:cNvPr id="25" name="logo-11-tile"/>
          <p:cNvSpPr/>
          <p:nvPr/>
        </p:nvSpPr>
        <p:spPr>
          <a:xfrm>
            <a:off x="6153150" y="4591050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logo-11-text"/>
          <p:cNvSpPr txBox="1"/>
          <p:nvPr/>
        </p:nvSpPr>
        <p:spPr>
          <a:xfrm>
            <a:off x="6153150" y="4591050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MASSIVE</a:t>
            </a:r>
          </a:p>
        </p:txBody>
      </p:sp>
      <p:sp>
        <p:nvSpPr>
          <p:cNvPr id="27" name="logo-12-tile"/>
          <p:cNvSpPr/>
          <p:nvPr/>
        </p:nvSpPr>
        <p:spPr>
          <a:xfrm>
            <a:off x="9001125" y="4591050"/>
            <a:ext cx="2714625" cy="111442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logo-12-text"/>
          <p:cNvSpPr txBox="1"/>
          <p:nvPr/>
        </p:nvSpPr>
        <p:spPr>
          <a:xfrm>
            <a:off x="9001125" y="4591050"/>
            <a:ext cx="2714625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OMNI</a:t>
            </a:r>
          </a:p>
        </p:txBody>
      </p:sp>
      <p:sp>
        <p:nvSpPr>
          <p:cNvPr id="29" name="convergence-bg"/>
          <p:cNvSpPr/>
          <p:nvPr/>
        </p:nvSpPr>
        <p:spPr>
          <a:xfrm>
            <a:off x="609600" y="5924550"/>
            <a:ext cx="10972800" cy="400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nvergence"/>
          <p:cNvSpPr txBox="1"/>
          <p:nvPr/>
        </p:nvSpPr>
        <p:spPr>
          <a:xfrm>
            <a:off x="609600" y="592455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12 practices, 8 industries, 3 continents — common pattern.</a:t>
            </a:r>
          </a:p>
        </p:txBody>
      </p:sp>
      <p:sp>
        <p:nvSpPr>
          <p:cNvPr id="3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