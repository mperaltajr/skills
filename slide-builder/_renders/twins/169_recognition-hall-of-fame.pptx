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Celebrating Our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Outstanding Performers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Recognizing individuals who exemplify excellence, innovation, and impact across the organization.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erson-1-card"/>
          <p:cNvSpPr/>
          <p:nvPr/>
        </p:nvSpPr>
        <p:spPr>
          <a:xfrm>
            <a:off x="457200" y="1485900"/>
            <a:ext cx="3667125" cy="2476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erson-1-accent"/>
          <p:cNvSpPr/>
          <p:nvPr/>
        </p:nvSpPr>
        <p:spPr>
          <a:xfrm>
            <a:off x="457200" y="1485900"/>
            <a:ext cx="38100" cy="2476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erson-1-avatar-bg"/>
          <p:cNvSpPr/>
          <p:nvPr/>
        </p:nvSpPr>
        <p:spPr>
          <a:xfrm>
            <a:off x="1981200" y="1771650"/>
            <a:ext cx="609600" cy="6096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erson-1-avatar"/>
          <p:cNvSpPr txBox="1"/>
          <p:nvPr/>
        </p:nvSpPr>
        <p:spPr>
          <a:xfrm>
            <a:off x="1981200" y="177165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JR</a:t>
            </a:r>
          </a:p>
        </p:txBody>
      </p:sp>
      <p:sp>
        <p:nvSpPr>
          <p:cNvPr id="9" name="person-1-name"/>
          <p:cNvSpPr txBox="1"/>
          <p:nvPr/>
        </p:nvSpPr>
        <p:spPr>
          <a:xfrm>
            <a:off x="571500" y="2514600"/>
            <a:ext cx="3438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Jamie Rodriguez</a:t>
            </a:r>
          </a:p>
        </p:txBody>
      </p:sp>
      <p:sp>
        <p:nvSpPr>
          <p:cNvPr id="10" name="person-1-role"/>
          <p:cNvSpPr txBox="1"/>
          <p:nvPr/>
        </p:nvSpPr>
        <p:spPr>
          <a:xfrm>
            <a:off x="571500" y="276225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Senior Manager, Strategy &amp; Consulting</a:t>
            </a:r>
          </a:p>
        </p:txBody>
      </p:sp>
      <p:sp>
        <p:nvSpPr>
          <p:cNvPr id="11" name="person-1-note"/>
          <p:cNvSpPr txBox="1"/>
          <p:nvPr/>
        </p:nvSpPr>
        <p:spPr>
          <a:xfrm>
            <a:off x="571500" y="327660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Employee of the Quarter — Q1 2026</a:t>
            </a:r>
          </a:p>
        </p:txBody>
      </p:sp>
      <p:sp>
        <p:nvSpPr>
          <p:cNvPr id="12" name="person-2-card"/>
          <p:cNvSpPr/>
          <p:nvPr/>
        </p:nvSpPr>
        <p:spPr>
          <a:xfrm>
            <a:off x="4257675" y="1485900"/>
            <a:ext cx="3667125" cy="2476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erson-2-accent"/>
          <p:cNvSpPr/>
          <p:nvPr/>
        </p:nvSpPr>
        <p:spPr>
          <a:xfrm>
            <a:off x="4257675" y="1485900"/>
            <a:ext cx="38100" cy="2476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erson-2-avatar-bg"/>
          <p:cNvSpPr/>
          <p:nvPr/>
        </p:nvSpPr>
        <p:spPr>
          <a:xfrm>
            <a:off x="5781675" y="1771650"/>
            <a:ext cx="609600" cy="6096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erson-2-avatar"/>
          <p:cNvSpPr txBox="1"/>
          <p:nvPr/>
        </p:nvSpPr>
        <p:spPr>
          <a:xfrm>
            <a:off x="5781675" y="177165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TN</a:t>
            </a:r>
          </a:p>
        </p:txBody>
      </p:sp>
      <p:sp>
        <p:nvSpPr>
          <p:cNvPr id="16" name="person-2-name"/>
          <p:cNvSpPr txBox="1"/>
          <p:nvPr/>
        </p:nvSpPr>
        <p:spPr>
          <a:xfrm>
            <a:off x="4371975" y="2514600"/>
            <a:ext cx="3438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Tariq Nkosi</a:t>
            </a:r>
          </a:p>
        </p:txBody>
      </p:sp>
      <p:sp>
        <p:nvSpPr>
          <p:cNvPr id="17" name="person-2-role"/>
          <p:cNvSpPr txBox="1"/>
          <p:nvPr/>
        </p:nvSpPr>
        <p:spPr>
          <a:xfrm>
            <a:off x="4371975" y="276225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Principal Architect, Cloud Engineering</a:t>
            </a:r>
          </a:p>
        </p:txBody>
      </p:sp>
      <p:sp>
        <p:nvSpPr>
          <p:cNvPr id="18" name="person-2-note"/>
          <p:cNvSpPr txBox="1"/>
          <p:nvPr/>
        </p:nvSpPr>
        <p:spPr>
          <a:xfrm>
            <a:off x="4371975" y="327660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Innovation Award — Client Impact</a:t>
            </a:r>
          </a:p>
        </p:txBody>
      </p:sp>
      <p:sp>
        <p:nvSpPr>
          <p:cNvPr id="19" name="person-3-card"/>
          <p:cNvSpPr/>
          <p:nvPr/>
        </p:nvSpPr>
        <p:spPr>
          <a:xfrm>
            <a:off x="8058150" y="1485900"/>
            <a:ext cx="3667125" cy="2476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erson-3-accent"/>
          <p:cNvSpPr/>
          <p:nvPr/>
        </p:nvSpPr>
        <p:spPr>
          <a:xfrm>
            <a:off x="8058150" y="1485900"/>
            <a:ext cx="38100" cy="2476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erson-3-avatar-bg"/>
          <p:cNvSpPr/>
          <p:nvPr/>
        </p:nvSpPr>
        <p:spPr>
          <a:xfrm>
            <a:off x="9582150" y="1771650"/>
            <a:ext cx="609600" cy="6096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erson-3-avatar"/>
          <p:cNvSpPr txBox="1"/>
          <p:nvPr/>
        </p:nvSpPr>
        <p:spPr>
          <a:xfrm>
            <a:off x="9582150" y="177165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5C2D87"/>
                </a:solidFill>
                <a:latin typeface="Inter"/>
              </a:rPr>
              <a:t>SP</a:t>
            </a:r>
          </a:p>
        </p:txBody>
      </p:sp>
      <p:sp>
        <p:nvSpPr>
          <p:cNvPr id="23" name="person-3-name"/>
          <p:cNvSpPr txBox="1"/>
          <p:nvPr/>
        </p:nvSpPr>
        <p:spPr>
          <a:xfrm>
            <a:off x="8172450" y="2514600"/>
            <a:ext cx="3438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1A1A2E"/>
                </a:solidFill>
                <a:latin typeface="Inter"/>
              </a:rPr>
              <a:t>Sunita Patel</a:t>
            </a:r>
          </a:p>
        </p:txBody>
      </p:sp>
      <p:sp>
        <p:nvSpPr>
          <p:cNvPr id="24" name="person-3-role"/>
          <p:cNvSpPr txBox="1"/>
          <p:nvPr/>
        </p:nvSpPr>
        <p:spPr>
          <a:xfrm>
            <a:off x="8172450" y="276225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Director, People &amp; Change</a:t>
            </a:r>
          </a:p>
        </p:txBody>
      </p:sp>
      <p:sp>
        <p:nvSpPr>
          <p:cNvPr id="25" name="person-3-note"/>
          <p:cNvSpPr txBox="1"/>
          <p:nvPr/>
        </p:nvSpPr>
        <p:spPr>
          <a:xfrm>
            <a:off x="8172450" y="3276600"/>
            <a:ext cx="34385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Leadership Excellence — 2026</a:t>
            </a:r>
          </a:p>
        </p:txBody>
      </p:sp>
      <p:sp>
        <p:nvSpPr>
          <p:cNvPr id="26" name="row-divider"/>
          <p:cNvSpPr/>
          <p:nvPr/>
        </p:nvSpPr>
        <p:spPr>
          <a:xfrm>
            <a:off x="457200" y="4095750"/>
            <a:ext cx="112776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erson-4-card"/>
          <p:cNvSpPr/>
          <p:nvPr/>
        </p:nvSpPr>
        <p:spPr>
          <a:xfrm>
            <a:off x="457200" y="4324350"/>
            <a:ext cx="2714625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erson-4-avatar-bg"/>
          <p:cNvSpPr/>
          <p:nvPr/>
        </p:nvSpPr>
        <p:spPr>
          <a:xfrm>
            <a:off x="1562100" y="4514850"/>
            <a:ext cx="495300" cy="4953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erson-4-avatar"/>
          <p:cNvSpPr txBox="1"/>
          <p:nvPr/>
        </p:nvSpPr>
        <p:spPr>
          <a:xfrm>
            <a:off x="1562100" y="451485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C2D87"/>
                </a:solidFill>
                <a:latin typeface="Inter"/>
              </a:rPr>
              <a:t>MK</a:t>
            </a:r>
          </a:p>
        </p:txBody>
      </p:sp>
      <p:sp>
        <p:nvSpPr>
          <p:cNvPr id="30" name="person-4-name"/>
          <p:cNvSpPr txBox="1"/>
          <p:nvPr/>
        </p:nvSpPr>
        <p:spPr>
          <a:xfrm>
            <a:off x="533400" y="5124450"/>
            <a:ext cx="2562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Maya Kim</a:t>
            </a:r>
          </a:p>
        </p:txBody>
      </p:sp>
      <p:sp>
        <p:nvSpPr>
          <p:cNvPr id="31" name="person-4-role"/>
          <p:cNvSpPr txBox="1"/>
          <p:nvPr/>
        </p:nvSpPr>
        <p:spPr>
          <a:xfrm>
            <a:off x="533400" y="5353050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 Lead, Data &amp; AI</a:t>
            </a:r>
          </a:p>
        </p:txBody>
      </p:sp>
      <p:sp>
        <p:nvSpPr>
          <p:cNvPr id="32" name="person-4-note"/>
          <p:cNvSpPr txBox="1"/>
          <p:nvPr/>
        </p:nvSpPr>
        <p:spPr>
          <a:xfrm>
            <a:off x="533400" y="5772150"/>
            <a:ext cx="25622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Rising Star — Q1 2026</a:t>
            </a:r>
          </a:p>
        </p:txBody>
      </p:sp>
      <p:sp>
        <p:nvSpPr>
          <p:cNvPr id="33" name="person-5-card"/>
          <p:cNvSpPr/>
          <p:nvPr/>
        </p:nvSpPr>
        <p:spPr>
          <a:xfrm>
            <a:off x="3305175" y="4324350"/>
            <a:ext cx="2714625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erson-5-avatar-bg"/>
          <p:cNvSpPr/>
          <p:nvPr/>
        </p:nvSpPr>
        <p:spPr>
          <a:xfrm>
            <a:off x="4410075" y="4514850"/>
            <a:ext cx="495300" cy="4953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erson-5-avatar"/>
          <p:cNvSpPr txBox="1"/>
          <p:nvPr/>
        </p:nvSpPr>
        <p:spPr>
          <a:xfrm>
            <a:off x="4410075" y="451485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C2D87"/>
                </a:solidFill>
                <a:latin typeface="Inter"/>
              </a:rPr>
              <a:t>LB</a:t>
            </a:r>
          </a:p>
        </p:txBody>
      </p:sp>
      <p:sp>
        <p:nvSpPr>
          <p:cNvPr id="36" name="person-5-name"/>
          <p:cNvSpPr txBox="1"/>
          <p:nvPr/>
        </p:nvSpPr>
        <p:spPr>
          <a:xfrm>
            <a:off x="3381375" y="5124450"/>
            <a:ext cx="2562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Luca Bianchi</a:t>
            </a:r>
          </a:p>
        </p:txBody>
      </p:sp>
      <p:sp>
        <p:nvSpPr>
          <p:cNvPr id="37" name="person-5-role"/>
          <p:cNvSpPr txBox="1"/>
          <p:nvPr/>
        </p:nvSpPr>
        <p:spPr>
          <a:xfrm>
            <a:off x="3381375" y="5353050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Analyst, Finance Transformation</a:t>
            </a:r>
          </a:p>
        </p:txBody>
      </p:sp>
      <p:sp>
        <p:nvSpPr>
          <p:cNvPr id="38" name="person-5-note"/>
          <p:cNvSpPr txBox="1"/>
          <p:nvPr/>
        </p:nvSpPr>
        <p:spPr>
          <a:xfrm>
            <a:off x="3381375" y="5772150"/>
            <a:ext cx="25622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Client Commendation</a:t>
            </a:r>
          </a:p>
        </p:txBody>
      </p:sp>
      <p:sp>
        <p:nvSpPr>
          <p:cNvPr id="39" name="person-6-card"/>
          <p:cNvSpPr/>
          <p:nvPr/>
        </p:nvSpPr>
        <p:spPr>
          <a:xfrm>
            <a:off x="6153150" y="4324350"/>
            <a:ext cx="2714625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erson-6-avatar-bg"/>
          <p:cNvSpPr/>
          <p:nvPr/>
        </p:nvSpPr>
        <p:spPr>
          <a:xfrm>
            <a:off x="7258050" y="4514850"/>
            <a:ext cx="495300" cy="4953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erson-6-avatar"/>
          <p:cNvSpPr txBox="1"/>
          <p:nvPr/>
        </p:nvSpPr>
        <p:spPr>
          <a:xfrm>
            <a:off x="7258050" y="451485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C2D87"/>
                </a:solidFill>
                <a:latin typeface="Inter"/>
              </a:rPr>
              <a:t>AO</a:t>
            </a:r>
          </a:p>
        </p:txBody>
      </p:sp>
      <p:sp>
        <p:nvSpPr>
          <p:cNvPr id="42" name="person-6-name"/>
          <p:cNvSpPr txBox="1"/>
          <p:nvPr/>
        </p:nvSpPr>
        <p:spPr>
          <a:xfrm>
            <a:off x="6229350" y="5124450"/>
            <a:ext cx="2562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Amara Osei</a:t>
            </a:r>
          </a:p>
        </p:txBody>
      </p:sp>
      <p:sp>
        <p:nvSpPr>
          <p:cNvPr id="43" name="person-6-role"/>
          <p:cNvSpPr txBox="1"/>
          <p:nvPr/>
        </p:nvSpPr>
        <p:spPr>
          <a:xfrm>
            <a:off x="6229350" y="5353050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Manager, Digital Products</a:t>
            </a:r>
          </a:p>
        </p:txBody>
      </p:sp>
      <p:sp>
        <p:nvSpPr>
          <p:cNvPr id="44" name="person-6-note"/>
          <p:cNvSpPr txBox="1"/>
          <p:nvPr/>
        </p:nvSpPr>
        <p:spPr>
          <a:xfrm>
            <a:off x="6229350" y="5772150"/>
            <a:ext cx="25622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Delivery Excellence Award</a:t>
            </a:r>
          </a:p>
        </p:txBody>
      </p:sp>
      <p:sp>
        <p:nvSpPr>
          <p:cNvPr id="45" name="person-7-card"/>
          <p:cNvSpPr/>
          <p:nvPr/>
        </p:nvSpPr>
        <p:spPr>
          <a:xfrm>
            <a:off x="9001125" y="4324350"/>
            <a:ext cx="2714625" cy="19526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erson-7-avatar-bg"/>
          <p:cNvSpPr/>
          <p:nvPr/>
        </p:nvSpPr>
        <p:spPr>
          <a:xfrm>
            <a:off x="10106025" y="4514850"/>
            <a:ext cx="495300" cy="495300"/>
          </a:xfrm>
          <a:prstGeom prst="ellipse">
            <a:avLst/>
          </a:prstGeom>
          <a:solidFill>
            <a:srgbClr val="D4C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erson-7-avatar"/>
          <p:cNvSpPr txBox="1"/>
          <p:nvPr/>
        </p:nvSpPr>
        <p:spPr>
          <a:xfrm>
            <a:off x="10106025" y="451485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5C2D87"/>
                </a:solidFill>
                <a:latin typeface="Inter"/>
              </a:rPr>
              <a:t>DW</a:t>
            </a:r>
          </a:p>
        </p:txBody>
      </p:sp>
      <p:sp>
        <p:nvSpPr>
          <p:cNvPr id="48" name="person-7-name"/>
          <p:cNvSpPr txBox="1"/>
          <p:nvPr/>
        </p:nvSpPr>
        <p:spPr>
          <a:xfrm>
            <a:off x="9077325" y="5124450"/>
            <a:ext cx="25622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Dana Walsh</a:t>
            </a:r>
          </a:p>
        </p:txBody>
      </p:sp>
      <p:sp>
        <p:nvSpPr>
          <p:cNvPr id="49" name="person-7-role"/>
          <p:cNvSpPr txBox="1"/>
          <p:nvPr/>
        </p:nvSpPr>
        <p:spPr>
          <a:xfrm>
            <a:off x="9077325" y="5353050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Consultant, Sustainability</a:t>
            </a:r>
          </a:p>
        </p:txBody>
      </p:sp>
      <p:sp>
        <p:nvSpPr>
          <p:cNvPr id="50" name="person-7-note"/>
          <p:cNvSpPr txBox="1"/>
          <p:nvPr/>
        </p:nvSpPr>
        <p:spPr>
          <a:xfrm>
            <a:off x="9077325" y="5772150"/>
            <a:ext cx="25622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Community Impact — 2026</a:t>
            </a:r>
          </a:p>
        </p:txBody>
      </p:sp>
      <p:sp>
        <p:nvSpPr>
          <p:cNvPr id="5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