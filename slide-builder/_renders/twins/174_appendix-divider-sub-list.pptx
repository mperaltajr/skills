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Appendix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Supporting Materials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Reference documentation, data exhibits, and methodology notes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ft-panel-bg"/>
          <p:cNvSpPr/>
          <p:nvPr/>
        </p:nvSpPr>
        <p:spPr>
          <a:xfrm>
            <a:off x="0" y="1352550"/>
            <a:ext cx="4572000" cy="4972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ft-panel-accent"/>
          <p:cNvSpPr/>
          <p:nvPr/>
        </p:nvSpPr>
        <p:spPr>
          <a:xfrm>
            <a:off x="4533900" y="1352550"/>
            <a:ext cx="38100" cy="4972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appendix-label"/>
          <p:cNvSpPr txBox="1"/>
          <p:nvPr/>
        </p:nvSpPr>
        <p:spPr>
          <a:xfrm>
            <a:off x="0" y="30765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APPENDIX</a:t>
            </a:r>
          </a:p>
        </p:txBody>
      </p:sp>
      <p:sp>
        <p:nvSpPr>
          <p:cNvPr id="8" name="appendix-letter"/>
          <p:cNvSpPr txBox="1"/>
          <p:nvPr/>
        </p:nvSpPr>
        <p:spPr>
          <a:xfrm>
            <a:off x="0" y="3438525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7200" b="1" i="0">
                <a:solidFill>
                  <a:srgbClr val="C780FF"/>
                </a:solidFill>
                <a:latin typeface="Inter"/>
              </a:rPr>
              <a:t>A</a:t>
            </a:r>
          </a:p>
        </p:txBody>
      </p:sp>
      <p:sp>
        <p:nvSpPr>
          <p:cNvPr id="9" name="contains-header"/>
          <p:cNvSpPr txBox="1"/>
          <p:nvPr/>
        </p:nvSpPr>
        <p:spPr>
          <a:xfrm>
            <a:off x="4800600" y="1657350"/>
            <a:ext cx="6934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This appendix contains:</a:t>
            </a:r>
          </a:p>
        </p:txBody>
      </p:sp>
      <p:sp>
        <p:nvSpPr>
          <p:cNvPr id="10" name="item-1-rule"/>
          <p:cNvSpPr/>
          <p:nvPr/>
        </p:nvSpPr>
        <p:spPr>
          <a:xfrm>
            <a:off x="4800600" y="2000250"/>
            <a:ext cx="6934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item-1-num"/>
          <p:cNvSpPr txBox="1"/>
          <p:nvPr/>
        </p:nvSpPr>
        <p:spPr>
          <a:xfrm>
            <a:off x="4800600" y="20574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12" name="item-1-title"/>
          <p:cNvSpPr txBox="1"/>
          <p:nvPr/>
        </p:nvSpPr>
        <p:spPr>
          <a:xfrm>
            <a:off x="5162550" y="205740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Detailed Financial Model</a:t>
            </a:r>
          </a:p>
        </p:txBody>
      </p:sp>
      <p:sp>
        <p:nvSpPr>
          <p:cNvPr id="13" name="item-1-subtitle"/>
          <p:cNvSpPr txBox="1"/>
          <p:nvPr/>
        </p:nvSpPr>
        <p:spPr>
          <a:xfrm>
            <a:off x="5162550" y="222885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Five-year P&amp;L projections with sensitivity tables</a:t>
            </a:r>
          </a:p>
        </p:txBody>
      </p:sp>
      <p:sp>
        <p:nvSpPr>
          <p:cNvPr id="14" name="item-1-page"/>
          <p:cNvSpPr txBox="1"/>
          <p:nvPr/>
        </p:nvSpPr>
        <p:spPr>
          <a:xfrm>
            <a:off x="11068050" y="20574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A1 – A3</a:t>
            </a:r>
          </a:p>
        </p:txBody>
      </p:sp>
      <p:sp>
        <p:nvSpPr>
          <p:cNvPr id="15" name="item-2-rule"/>
          <p:cNvSpPr/>
          <p:nvPr/>
        </p:nvSpPr>
        <p:spPr>
          <a:xfrm>
            <a:off x="4800600" y="2438400"/>
            <a:ext cx="6934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item-2-num"/>
          <p:cNvSpPr txBox="1"/>
          <p:nvPr/>
        </p:nvSpPr>
        <p:spPr>
          <a:xfrm>
            <a:off x="4800600" y="24955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7" name="item-2-title"/>
          <p:cNvSpPr txBox="1"/>
          <p:nvPr/>
        </p:nvSpPr>
        <p:spPr>
          <a:xfrm>
            <a:off x="5162550" y="249555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Market Sizing &amp; Benchmarks</a:t>
            </a:r>
          </a:p>
        </p:txBody>
      </p:sp>
      <p:sp>
        <p:nvSpPr>
          <p:cNvPr id="18" name="item-2-subtitle"/>
          <p:cNvSpPr txBox="1"/>
          <p:nvPr/>
        </p:nvSpPr>
        <p:spPr>
          <a:xfrm>
            <a:off x="5162550" y="266700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TAM/SAM/SOM analysis and competitive landscape</a:t>
            </a:r>
          </a:p>
        </p:txBody>
      </p:sp>
      <p:sp>
        <p:nvSpPr>
          <p:cNvPr id="19" name="item-2-page"/>
          <p:cNvSpPr txBox="1"/>
          <p:nvPr/>
        </p:nvSpPr>
        <p:spPr>
          <a:xfrm>
            <a:off x="11068050" y="249555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A4 – A5</a:t>
            </a:r>
          </a:p>
        </p:txBody>
      </p:sp>
      <p:sp>
        <p:nvSpPr>
          <p:cNvPr id="20" name="item-3-rule"/>
          <p:cNvSpPr/>
          <p:nvPr/>
        </p:nvSpPr>
        <p:spPr>
          <a:xfrm>
            <a:off x="4800600" y="2876550"/>
            <a:ext cx="6934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item-3-num"/>
          <p:cNvSpPr txBox="1"/>
          <p:nvPr/>
        </p:nvSpPr>
        <p:spPr>
          <a:xfrm>
            <a:off x="4800600" y="29337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22" name="item-3-title"/>
          <p:cNvSpPr txBox="1"/>
          <p:nvPr/>
        </p:nvSpPr>
        <p:spPr>
          <a:xfrm>
            <a:off x="5162550" y="293370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Stakeholder Interview Summary</a:t>
            </a:r>
          </a:p>
        </p:txBody>
      </p:sp>
      <p:sp>
        <p:nvSpPr>
          <p:cNvPr id="23" name="item-3-subtitle"/>
          <p:cNvSpPr txBox="1"/>
          <p:nvPr/>
        </p:nvSpPr>
        <p:spPr>
          <a:xfrm>
            <a:off x="5162550" y="310515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Key themes from 24 structured interviews</a:t>
            </a:r>
          </a:p>
        </p:txBody>
      </p:sp>
      <p:sp>
        <p:nvSpPr>
          <p:cNvPr id="24" name="item-3-page"/>
          <p:cNvSpPr txBox="1"/>
          <p:nvPr/>
        </p:nvSpPr>
        <p:spPr>
          <a:xfrm>
            <a:off x="11068050" y="29337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A6 – A7</a:t>
            </a:r>
          </a:p>
        </p:txBody>
      </p:sp>
      <p:sp>
        <p:nvSpPr>
          <p:cNvPr id="25" name="item-4-rule"/>
          <p:cNvSpPr/>
          <p:nvPr/>
        </p:nvSpPr>
        <p:spPr>
          <a:xfrm>
            <a:off x="4800600" y="3314700"/>
            <a:ext cx="6934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item-4-num"/>
          <p:cNvSpPr txBox="1"/>
          <p:nvPr/>
        </p:nvSpPr>
        <p:spPr>
          <a:xfrm>
            <a:off x="4800600" y="33718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27" name="item-4-title"/>
          <p:cNvSpPr txBox="1"/>
          <p:nvPr/>
        </p:nvSpPr>
        <p:spPr>
          <a:xfrm>
            <a:off x="5162550" y="337185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Technology Architecture Overview</a:t>
            </a:r>
          </a:p>
        </p:txBody>
      </p:sp>
      <p:sp>
        <p:nvSpPr>
          <p:cNvPr id="28" name="item-4-subtitle"/>
          <p:cNvSpPr txBox="1"/>
          <p:nvPr/>
        </p:nvSpPr>
        <p:spPr>
          <a:xfrm>
            <a:off x="5162550" y="354330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Current-state and target-state system diagrams</a:t>
            </a:r>
          </a:p>
        </p:txBody>
      </p:sp>
      <p:sp>
        <p:nvSpPr>
          <p:cNvPr id="29" name="item-4-page"/>
          <p:cNvSpPr txBox="1"/>
          <p:nvPr/>
        </p:nvSpPr>
        <p:spPr>
          <a:xfrm>
            <a:off x="11068050" y="337185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A8 – A9</a:t>
            </a:r>
          </a:p>
        </p:txBody>
      </p:sp>
      <p:sp>
        <p:nvSpPr>
          <p:cNvPr id="30" name="item-5-rule"/>
          <p:cNvSpPr/>
          <p:nvPr/>
        </p:nvSpPr>
        <p:spPr>
          <a:xfrm>
            <a:off x="4800600" y="3752850"/>
            <a:ext cx="6934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item-5-num"/>
          <p:cNvSpPr txBox="1"/>
          <p:nvPr/>
        </p:nvSpPr>
        <p:spPr>
          <a:xfrm>
            <a:off x="4800600" y="381000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05</a:t>
            </a:r>
          </a:p>
        </p:txBody>
      </p:sp>
      <p:sp>
        <p:nvSpPr>
          <p:cNvPr id="32" name="item-5-title"/>
          <p:cNvSpPr txBox="1"/>
          <p:nvPr/>
        </p:nvSpPr>
        <p:spPr>
          <a:xfrm>
            <a:off x="5162550" y="381000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Risk Register &amp; Mitigation Plan</a:t>
            </a:r>
          </a:p>
        </p:txBody>
      </p:sp>
      <p:sp>
        <p:nvSpPr>
          <p:cNvPr id="33" name="item-5-subtitle"/>
          <p:cNvSpPr txBox="1"/>
          <p:nvPr/>
        </p:nvSpPr>
        <p:spPr>
          <a:xfrm>
            <a:off x="5162550" y="398145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RAG-rated risks with owners and response actions</a:t>
            </a:r>
          </a:p>
        </p:txBody>
      </p:sp>
      <p:sp>
        <p:nvSpPr>
          <p:cNvPr id="34" name="item-5-page"/>
          <p:cNvSpPr txBox="1"/>
          <p:nvPr/>
        </p:nvSpPr>
        <p:spPr>
          <a:xfrm>
            <a:off x="11068050" y="38100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A10 – A11</a:t>
            </a:r>
          </a:p>
        </p:txBody>
      </p:sp>
      <p:sp>
        <p:nvSpPr>
          <p:cNvPr id="35" name="item-6-rule"/>
          <p:cNvSpPr/>
          <p:nvPr/>
        </p:nvSpPr>
        <p:spPr>
          <a:xfrm>
            <a:off x="4800600" y="4191000"/>
            <a:ext cx="6934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item-6-num"/>
          <p:cNvSpPr txBox="1"/>
          <p:nvPr/>
        </p:nvSpPr>
        <p:spPr>
          <a:xfrm>
            <a:off x="4800600" y="4248150"/>
            <a:ext cx="285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06</a:t>
            </a:r>
          </a:p>
        </p:txBody>
      </p:sp>
      <p:sp>
        <p:nvSpPr>
          <p:cNvPr id="37" name="item-6-title"/>
          <p:cNvSpPr txBox="1"/>
          <p:nvPr/>
        </p:nvSpPr>
        <p:spPr>
          <a:xfrm>
            <a:off x="5162550" y="4248150"/>
            <a:ext cx="5886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Data Sources &amp; Methodology</a:t>
            </a:r>
          </a:p>
        </p:txBody>
      </p:sp>
      <p:sp>
        <p:nvSpPr>
          <p:cNvPr id="38" name="item-6-subtitle"/>
          <p:cNvSpPr txBox="1"/>
          <p:nvPr/>
        </p:nvSpPr>
        <p:spPr>
          <a:xfrm>
            <a:off x="5162550" y="4419600"/>
            <a:ext cx="5886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Reference list and analytical approach notes</a:t>
            </a:r>
          </a:p>
        </p:txBody>
      </p:sp>
      <p:sp>
        <p:nvSpPr>
          <p:cNvPr id="39" name="item-6-page"/>
          <p:cNvSpPr txBox="1"/>
          <p:nvPr/>
        </p:nvSpPr>
        <p:spPr>
          <a:xfrm>
            <a:off x="11068050" y="424815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A12</a:t>
            </a:r>
          </a:p>
        </p:txBody>
      </p:sp>
      <p:sp>
        <p:nvSpPr>
          <p:cNvPr id="40" name="items-bottom-rule"/>
          <p:cNvSpPr/>
          <p:nvPr/>
        </p:nvSpPr>
        <p:spPr>
          <a:xfrm>
            <a:off x="4800600" y="4629150"/>
            <a:ext cx="6934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age-range"/>
          <p:cNvSpPr txBox="1"/>
          <p:nvPr/>
        </p:nvSpPr>
        <p:spPr>
          <a:xfrm>
            <a:off x="10210800" y="60579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PAGES A1 – A12</a:t>
            </a:r>
          </a:p>
        </p:txBody>
      </p:sp>
      <p:sp>
        <p:nvSpPr>
          <p:cNvPr id="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