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band"/>
          <p:cNvSpPr/>
          <p:nvPr/>
        </p:nvSpPr>
        <p:spPr>
          <a:xfrm>
            <a:off x="0" y="419100"/>
            <a:ext cx="12192000" cy="685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itle"/>
          <p:cNvSpPr txBox="1"/>
          <p:nvPr/>
        </p:nvSpPr>
        <p:spPr>
          <a:xfrm>
            <a:off x="381000" y="62865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0" i="0">
                <a:solidFill>
                  <a:srgbClr val="FFFFFF"/>
                </a:solidFill>
                <a:latin typeface="Inter"/>
              </a:rPr>
              <a:t>Four focus areas deliver the integrated, intelligent enterprise</a:t>
            </a:r>
          </a:p>
        </p:txBody>
      </p:sp>
      <p:sp>
        <p:nvSpPr>
          <p:cNvPr id="4" name="brand-rule"/>
          <p:cNvSpPr/>
          <p:nvPr/>
        </p:nvSpPr>
        <p:spPr>
          <a:xfrm>
            <a:off x="0" y="1104900"/>
            <a:ext cx="121920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accent"/>
          <p:cNvSpPr/>
          <p:nvPr/>
        </p:nvSpPr>
        <p:spPr>
          <a:xfrm>
            <a:off x="381000" y="1276350"/>
            <a:ext cx="2743200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body"/>
          <p:cNvSpPr/>
          <p:nvPr/>
        </p:nvSpPr>
        <p:spPr>
          <a:xfrm>
            <a:off x="381000" y="1304925"/>
            <a:ext cx="2743200" cy="5095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icon"/>
          <p:cNvSpPr/>
          <p:nvPr/>
        </p:nvSpPr>
        <p:spPr>
          <a:xfrm>
            <a:off x="1524000" y="146685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ard-1-heading"/>
          <p:cNvSpPr txBox="1"/>
          <p:nvPr/>
        </p:nvSpPr>
        <p:spPr>
          <a:xfrm>
            <a:off x="4953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 &amp; DIRECTION</a:t>
            </a:r>
          </a:p>
        </p:txBody>
      </p:sp>
      <p:sp>
        <p:nvSpPr>
          <p:cNvPr id="9" name="card-1-body"/>
          <p:cNvSpPr txBox="1"/>
          <p:nvPr/>
        </p:nvSpPr>
        <p:spPr>
          <a:xfrm>
            <a:off x="5334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Align D&amp;T roadmap to FedEx One priorities and DRIVE value bundles. Build integrated intelligent enterprise vision with clear FY26 milestones. Outside-in view of industry disruption. Cross-portfolio governance for sequencing.</a:t>
            </a:r>
          </a:p>
        </p:txBody>
      </p:sp>
      <p:sp>
        <p:nvSpPr>
          <p:cNvPr id="10" name="card-1-stat-bg"/>
          <p:cNvSpPr/>
          <p:nvPr/>
        </p:nvSpPr>
        <p:spPr>
          <a:xfrm>
            <a:off x="3810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metric-1-value"/>
          <p:cNvSpPr txBox="1"/>
          <p:nvPr/>
        </p:nvSpPr>
        <p:spPr>
          <a:xfrm>
            <a:off x="3810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4</a:t>
            </a:r>
          </a:p>
        </p:txBody>
      </p:sp>
      <p:sp>
        <p:nvSpPr>
          <p:cNvPr id="12" name="metric-1-label"/>
          <p:cNvSpPr txBox="1"/>
          <p:nvPr/>
        </p:nvSpPr>
        <p:spPr>
          <a:xfrm>
            <a:off x="3810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E8E8E8"/>
                </a:solidFill>
                <a:latin typeface="Inter"/>
              </a:rPr>
              <a:t>STRATEGIC PILLARS</a:t>
            </a:r>
          </a:p>
        </p:txBody>
      </p:sp>
      <p:sp>
        <p:nvSpPr>
          <p:cNvPr id="13" name="card-2-accent"/>
          <p:cNvSpPr/>
          <p:nvPr/>
        </p:nvSpPr>
        <p:spPr>
          <a:xfrm>
            <a:off x="3276600" y="1276350"/>
            <a:ext cx="2743200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2-body"/>
          <p:cNvSpPr/>
          <p:nvPr/>
        </p:nvSpPr>
        <p:spPr>
          <a:xfrm>
            <a:off x="3276600" y="1304925"/>
            <a:ext cx="2743200" cy="5095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ard-2-icon"/>
          <p:cNvSpPr/>
          <p:nvPr/>
        </p:nvSpPr>
        <p:spPr>
          <a:xfrm>
            <a:off x="4419600" y="146685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2-heading"/>
          <p:cNvSpPr txBox="1"/>
          <p:nvPr/>
        </p:nvSpPr>
        <p:spPr>
          <a:xfrm>
            <a:off x="33909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 &amp; AI</a:t>
            </a:r>
          </a:p>
        </p:txBody>
      </p:sp>
      <p:sp>
        <p:nvSpPr>
          <p:cNvPr id="17" name="card-2-body"/>
          <p:cNvSpPr txBox="1"/>
          <p:nvPr/>
        </p:nvSpPr>
        <p:spPr>
          <a:xfrm>
            <a:off x="34290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JARVIS agentic platform scaled across 40k enterprise employees. Tech Mod: Odyssey Joint Council governing modernization. Journey 2 Cloud Phase 2 architecture approved. GitHub Copilot active for 3,800+ developers.</a:t>
            </a:r>
          </a:p>
        </p:txBody>
      </p:sp>
      <p:sp>
        <p:nvSpPr>
          <p:cNvPr id="18" name="card-2-stat-bg"/>
          <p:cNvSpPr/>
          <p:nvPr/>
        </p:nvSpPr>
        <p:spPr>
          <a:xfrm>
            <a:off x="32766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metric-2-value"/>
          <p:cNvSpPr txBox="1"/>
          <p:nvPr/>
        </p:nvSpPr>
        <p:spPr>
          <a:xfrm>
            <a:off x="32766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40k</a:t>
            </a:r>
          </a:p>
        </p:txBody>
      </p:sp>
      <p:sp>
        <p:nvSpPr>
          <p:cNvPr id="20" name="metric-2-label"/>
          <p:cNvSpPr txBox="1"/>
          <p:nvPr/>
        </p:nvSpPr>
        <p:spPr>
          <a:xfrm>
            <a:off x="32766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E8E8E8"/>
                </a:solidFill>
                <a:latin typeface="Inter"/>
              </a:rPr>
              <a:t>AI USERS ENABLED</a:t>
            </a:r>
          </a:p>
        </p:txBody>
      </p:sp>
      <p:sp>
        <p:nvSpPr>
          <p:cNvPr id="21" name="card-3-accent"/>
          <p:cNvSpPr/>
          <p:nvPr/>
        </p:nvSpPr>
        <p:spPr>
          <a:xfrm>
            <a:off x="6172200" y="1276350"/>
            <a:ext cx="2743200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rd-3-body"/>
          <p:cNvSpPr/>
          <p:nvPr/>
        </p:nvSpPr>
        <p:spPr>
          <a:xfrm>
            <a:off x="6172200" y="1304925"/>
            <a:ext cx="2743200" cy="5095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ard-3-icon"/>
          <p:cNvSpPr/>
          <p:nvPr/>
        </p:nvSpPr>
        <p:spPr>
          <a:xfrm>
            <a:off x="7315200" y="146685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3-heading"/>
          <p:cNvSpPr txBox="1"/>
          <p:nvPr/>
        </p:nvSpPr>
        <p:spPr>
          <a:xfrm>
            <a:off x="62865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PEOPLE &amp; TALENT</a:t>
            </a:r>
          </a:p>
        </p:txBody>
      </p:sp>
      <p:sp>
        <p:nvSpPr>
          <p:cNvPr id="25" name="card-3-body"/>
          <p:cNvSpPr txBox="1"/>
          <p:nvPr/>
        </p:nvSpPr>
        <p:spPr>
          <a:xfrm>
            <a:off x="63246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Prometheus talent rebrand — thought leadership and capability showcase. AIQ Learning: 10,000+ courses completed; exec coaching program active. Recognition programs running. Workforce upskilling aligned to roadmap.</a:t>
            </a:r>
          </a:p>
        </p:txBody>
      </p:sp>
      <p:sp>
        <p:nvSpPr>
          <p:cNvPr id="26" name="card-3-stat-bg"/>
          <p:cNvSpPr/>
          <p:nvPr/>
        </p:nvSpPr>
        <p:spPr>
          <a:xfrm>
            <a:off x="61722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metric-3-value"/>
          <p:cNvSpPr txBox="1"/>
          <p:nvPr/>
        </p:nvSpPr>
        <p:spPr>
          <a:xfrm>
            <a:off x="61722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10k+</a:t>
            </a:r>
          </a:p>
        </p:txBody>
      </p:sp>
      <p:sp>
        <p:nvSpPr>
          <p:cNvPr id="28" name="metric-3-label"/>
          <p:cNvSpPr txBox="1"/>
          <p:nvPr/>
        </p:nvSpPr>
        <p:spPr>
          <a:xfrm>
            <a:off x="61722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E8E8E8"/>
                </a:solidFill>
                <a:latin typeface="Inter"/>
              </a:rPr>
              <a:t>COURSES COMPLETED</a:t>
            </a:r>
          </a:p>
        </p:txBody>
      </p:sp>
      <p:sp>
        <p:nvSpPr>
          <p:cNvPr id="29" name="card-4-accent"/>
          <p:cNvSpPr/>
          <p:nvPr/>
        </p:nvSpPr>
        <p:spPr>
          <a:xfrm>
            <a:off x="9067800" y="1276350"/>
            <a:ext cx="2743200" cy="2857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4-body"/>
          <p:cNvSpPr/>
          <p:nvPr/>
        </p:nvSpPr>
        <p:spPr>
          <a:xfrm>
            <a:off x="9067800" y="1304925"/>
            <a:ext cx="2743200" cy="50958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4-icon"/>
          <p:cNvSpPr/>
          <p:nvPr/>
        </p:nvSpPr>
        <p:spPr>
          <a:xfrm>
            <a:off x="10210800" y="1466850"/>
            <a:ext cx="4572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ard-4-heading"/>
          <p:cNvSpPr txBox="1"/>
          <p:nvPr/>
        </p:nvSpPr>
        <p:spPr>
          <a:xfrm>
            <a:off x="9182100" y="2000250"/>
            <a:ext cx="25146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DELIVERY &amp; VALUE</a:t>
            </a:r>
          </a:p>
        </p:txBody>
      </p:sp>
      <p:sp>
        <p:nvSpPr>
          <p:cNvPr id="33" name="card-4-body"/>
          <p:cNvSpPr txBox="1"/>
          <p:nvPr/>
        </p:nvSpPr>
        <p:spPr>
          <a:xfrm>
            <a:off x="9220200" y="2476500"/>
            <a:ext cx="2438400" cy="3162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25+ DRIVE value bundles — $1.2M revenue, $500K savings delivered. Best peak performance in 10 years. Scorecard shifting to delivery-focused outcomes. Q4 outlook: 8 incremental bundles, $400K additional benefit.</a:t>
            </a:r>
          </a:p>
        </p:txBody>
      </p:sp>
      <p:sp>
        <p:nvSpPr>
          <p:cNvPr id="34" name="card-4-stat-bg"/>
          <p:cNvSpPr/>
          <p:nvPr/>
        </p:nvSpPr>
        <p:spPr>
          <a:xfrm>
            <a:off x="9067800" y="5638800"/>
            <a:ext cx="2743200" cy="762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metric-4-value"/>
          <p:cNvSpPr txBox="1"/>
          <p:nvPr/>
        </p:nvSpPr>
        <p:spPr>
          <a:xfrm>
            <a:off x="9067800" y="577215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25+</a:t>
            </a:r>
          </a:p>
        </p:txBody>
      </p:sp>
      <p:sp>
        <p:nvSpPr>
          <p:cNvPr id="36" name="metric-4-label"/>
          <p:cNvSpPr txBox="1"/>
          <p:nvPr/>
        </p:nvSpPr>
        <p:spPr>
          <a:xfrm>
            <a:off x="9067800" y="6115050"/>
            <a:ext cx="2743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E8E8E8"/>
                </a:solidFill>
                <a:latin typeface="Inter"/>
              </a:rPr>
              <a:t>DRIVE BUNDLES LIVE</a:t>
            </a:r>
          </a:p>
        </p:txBody>
      </p:sp>
      <p:sp>
        <p:nvSpPr>
          <p:cNvPr id="3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