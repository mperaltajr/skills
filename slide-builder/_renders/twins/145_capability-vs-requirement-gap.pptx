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334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CAPABILITY ASSESSMENT · PHASE 2 READINESS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AI and UX are critical gaps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must close before Phase 2 begins in Q3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104900"/>
            <a:ext cx="819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Current team capability mapped against client requirements across 10 delivery areas. Three critical gaps identified; training plan in progress.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head-bg"/>
          <p:cNvSpPr/>
          <p:nvPr/>
        </p:nvSpPr>
        <p:spPr>
          <a:xfrm>
            <a:off x="457200" y="1504950"/>
            <a:ext cx="112776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able-col-1-header"/>
          <p:cNvSpPr txBox="1"/>
          <p:nvPr/>
        </p:nvSpPr>
        <p:spPr>
          <a:xfrm>
            <a:off x="552450" y="156210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CAPABILITY AREA</a:t>
            </a:r>
          </a:p>
        </p:txBody>
      </p:sp>
      <p:sp>
        <p:nvSpPr>
          <p:cNvPr id="8" name="table-col-2-header"/>
          <p:cNvSpPr txBox="1"/>
          <p:nvPr/>
        </p:nvSpPr>
        <p:spPr>
          <a:xfrm>
            <a:off x="3257550" y="156210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REQUIRED LEVEL</a:t>
            </a:r>
          </a:p>
        </p:txBody>
      </p:sp>
      <p:sp>
        <p:nvSpPr>
          <p:cNvPr id="9" name="table-col-3-header"/>
          <p:cNvSpPr txBox="1"/>
          <p:nvPr/>
        </p:nvSpPr>
        <p:spPr>
          <a:xfrm>
            <a:off x="5057775" y="156210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LEVEL</a:t>
            </a:r>
          </a:p>
        </p:txBody>
      </p:sp>
      <p:sp>
        <p:nvSpPr>
          <p:cNvPr id="10" name="table-col-4-header"/>
          <p:cNvSpPr txBox="1"/>
          <p:nvPr/>
        </p:nvSpPr>
        <p:spPr>
          <a:xfrm>
            <a:off x="6858000" y="156210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GAP</a:t>
            </a:r>
          </a:p>
        </p:txBody>
      </p:sp>
      <p:sp>
        <p:nvSpPr>
          <p:cNvPr id="11" name="table-col-5-header"/>
          <p:cNvSpPr txBox="1"/>
          <p:nvPr/>
        </p:nvSpPr>
        <p:spPr>
          <a:xfrm>
            <a:off x="9563100" y="156210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PRIORITY TO CLOSE</a:t>
            </a:r>
          </a:p>
        </p:txBody>
      </p:sp>
      <p:sp>
        <p:nvSpPr>
          <p:cNvPr id="12" name="table-row-1-divider"/>
          <p:cNvSpPr/>
          <p:nvPr/>
        </p:nvSpPr>
        <p:spPr>
          <a:xfrm>
            <a:off x="457200" y="17716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row-1-cell-1"/>
          <p:cNvSpPr txBox="1"/>
          <p:nvPr/>
        </p:nvSpPr>
        <p:spPr>
          <a:xfrm>
            <a:off x="590550" y="18669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Cloud Architecture</a:t>
            </a:r>
          </a:p>
        </p:txBody>
      </p:sp>
      <p:sp>
        <p:nvSpPr>
          <p:cNvPr id="14" name="table-row-1-cell-2"/>
          <p:cNvSpPr txBox="1"/>
          <p:nvPr/>
        </p:nvSpPr>
        <p:spPr>
          <a:xfrm>
            <a:off x="3686175" y="1866900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15" name="table-row-1-cell-3"/>
          <p:cNvSpPr txBox="1"/>
          <p:nvPr/>
        </p:nvSpPr>
        <p:spPr>
          <a:xfrm>
            <a:off x="5486400" y="18669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16" name="table-row-1-gap-badge"/>
          <p:cNvSpPr txBox="1"/>
          <p:nvPr/>
        </p:nvSpPr>
        <p:spPr>
          <a:xfrm>
            <a:off x="6896100" y="1866900"/>
            <a:ext cx="914400" cy="17145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54D0E"/>
                </a:solidFill>
                <a:latin typeface="Inter"/>
              </a:rPr>
              <a:t>MINOR</a:t>
            </a:r>
          </a:p>
        </p:txBody>
      </p:sp>
      <p:sp>
        <p:nvSpPr>
          <p:cNvPr id="17" name="table-row-1-cell-5"/>
          <p:cNvSpPr txBox="1"/>
          <p:nvPr/>
        </p:nvSpPr>
        <p:spPr>
          <a:xfrm>
            <a:off x="10229850" y="1866900"/>
            <a:ext cx="742950" cy="1714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LOW</a:t>
            </a:r>
          </a:p>
        </p:txBody>
      </p:sp>
      <p:sp>
        <p:nvSpPr>
          <p:cNvPr id="18" name="table-row-2-divider"/>
          <p:cNvSpPr/>
          <p:nvPr/>
        </p:nvSpPr>
        <p:spPr>
          <a:xfrm>
            <a:off x="457200" y="21812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able-row-2-cell-1"/>
          <p:cNvSpPr txBox="1"/>
          <p:nvPr/>
        </p:nvSpPr>
        <p:spPr>
          <a:xfrm>
            <a:off x="590550" y="22764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Engineering</a:t>
            </a:r>
          </a:p>
        </p:txBody>
      </p:sp>
      <p:sp>
        <p:nvSpPr>
          <p:cNvPr id="20" name="table-row-2-cell-2"/>
          <p:cNvSpPr txBox="1"/>
          <p:nvPr/>
        </p:nvSpPr>
        <p:spPr>
          <a:xfrm>
            <a:off x="3686175" y="2276475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1" name="table-row-2-cell-3"/>
          <p:cNvSpPr txBox="1"/>
          <p:nvPr/>
        </p:nvSpPr>
        <p:spPr>
          <a:xfrm>
            <a:off x="5486400" y="2276475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2" name="table-row-2-gap-badge"/>
          <p:cNvSpPr txBox="1"/>
          <p:nvPr/>
        </p:nvSpPr>
        <p:spPr>
          <a:xfrm>
            <a:off x="6896100" y="2276475"/>
            <a:ext cx="9144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NONE</a:t>
            </a:r>
          </a:p>
        </p:txBody>
      </p:sp>
      <p:sp>
        <p:nvSpPr>
          <p:cNvPr id="23" name="table-row-2-cell-5"/>
          <p:cNvSpPr txBox="1"/>
          <p:nvPr/>
        </p:nvSpPr>
        <p:spPr>
          <a:xfrm>
            <a:off x="10229850" y="2276475"/>
            <a:ext cx="7429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24" name="table-row-3-bg"/>
          <p:cNvSpPr/>
          <p:nvPr/>
        </p:nvSpPr>
        <p:spPr>
          <a:xfrm>
            <a:off x="457200" y="2590800"/>
            <a:ext cx="11277600" cy="409575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3-flag"/>
          <p:cNvSpPr/>
          <p:nvPr/>
        </p:nvSpPr>
        <p:spPr>
          <a:xfrm>
            <a:off x="457200" y="2590800"/>
            <a:ext cx="38100" cy="409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3-divider"/>
          <p:cNvSpPr/>
          <p:nvPr/>
        </p:nvSpPr>
        <p:spPr>
          <a:xfrm>
            <a:off x="457200" y="25908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3-cell-1"/>
          <p:cNvSpPr txBox="1"/>
          <p:nvPr/>
        </p:nvSpPr>
        <p:spPr>
          <a:xfrm>
            <a:off x="590550" y="26860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AI/ML Production</a:t>
            </a:r>
          </a:p>
        </p:txBody>
      </p:sp>
      <p:sp>
        <p:nvSpPr>
          <p:cNvPr id="28" name="table-row-3-cell-2"/>
          <p:cNvSpPr txBox="1"/>
          <p:nvPr/>
        </p:nvSpPr>
        <p:spPr>
          <a:xfrm>
            <a:off x="3686175" y="2686050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9" name="table-row-3-cell-3"/>
          <p:cNvSpPr txBox="1"/>
          <p:nvPr/>
        </p:nvSpPr>
        <p:spPr>
          <a:xfrm>
            <a:off x="5486400" y="2686050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30" name="table-row-3-gap-badge"/>
          <p:cNvSpPr txBox="1"/>
          <p:nvPr/>
        </p:nvSpPr>
        <p:spPr>
          <a:xfrm>
            <a:off x="6896100" y="2686050"/>
            <a:ext cx="91440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CRITICAL</a:t>
            </a:r>
          </a:p>
        </p:txBody>
      </p:sp>
      <p:sp>
        <p:nvSpPr>
          <p:cNvPr id="31" name="table-row-3-cell-5"/>
          <p:cNvSpPr txBox="1"/>
          <p:nvPr/>
        </p:nvSpPr>
        <p:spPr>
          <a:xfrm>
            <a:off x="10229850" y="2686050"/>
            <a:ext cx="7429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HIGH</a:t>
            </a:r>
          </a:p>
        </p:txBody>
      </p:sp>
      <p:sp>
        <p:nvSpPr>
          <p:cNvPr id="32" name="table-row-4-divider"/>
          <p:cNvSpPr/>
          <p:nvPr/>
        </p:nvSpPr>
        <p:spPr>
          <a:xfrm>
            <a:off x="457200" y="30003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4-cell-1"/>
          <p:cNvSpPr txBox="1"/>
          <p:nvPr/>
        </p:nvSpPr>
        <p:spPr>
          <a:xfrm>
            <a:off x="590550" y="30956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Change Management</a:t>
            </a:r>
          </a:p>
        </p:txBody>
      </p:sp>
      <p:sp>
        <p:nvSpPr>
          <p:cNvPr id="34" name="table-row-4-cell-2"/>
          <p:cNvSpPr txBox="1"/>
          <p:nvPr/>
        </p:nvSpPr>
        <p:spPr>
          <a:xfrm>
            <a:off x="3686175" y="309562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35" name="table-row-4-cell-3"/>
          <p:cNvSpPr txBox="1"/>
          <p:nvPr/>
        </p:nvSpPr>
        <p:spPr>
          <a:xfrm>
            <a:off x="5486400" y="3095625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36" name="table-row-4-gap-badge"/>
          <p:cNvSpPr txBox="1"/>
          <p:nvPr/>
        </p:nvSpPr>
        <p:spPr>
          <a:xfrm>
            <a:off x="6896100" y="3095625"/>
            <a:ext cx="9144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NONE</a:t>
            </a:r>
          </a:p>
        </p:txBody>
      </p:sp>
      <p:sp>
        <p:nvSpPr>
          <p:cNvPr id="37" name="table-row-4-cell-5"/>
          <p:cNvSpPr txBox="1"/>
          <p:nvPr/>
        </p:nvSpPr>
        <p:spPr>
          <a:xfrm>
            <a:off x="10229850" y="3095625"/>
            <a:ext cx="7429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38" name="table-row-5-divider"/>
          <p:cNvSpPr/>
          <p:nvPr/>
        </p:nvSpPr>
        <p:spPr>
          <a:xfrm>
            <a:off x="457200" y="34099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5-cell-1"/>
          <p:cNvSpPr txBox="1"/>
          <p:nvPr/>
        </p:nvSpPr>
        <p:spPr>
          <a:xfrm>
            <a:off x="590550" y="35052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Cyber Security</a:t>
            </a:r>
          </a:p>
        </p:txBody>
      </p:sp>
      <p:sp>
        <p:nvSpPr>
          <p:cNvPr id="40" name="table-row-5-cell-2"/>
          <p:cNvSpPr txBox="1"/>
          <p:nvPr/>
        </p:nvSpPr>
        <p:spPr>
          <a:xfrm>
            <a:off x="3686175" y="350520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41" name="table-row-5-cell-3"/>
          <p:cNvSpPr txBox="1"/>
          <p:nvPr/>
        </p:nvSpPr>
        <p:spPr>
          <a:xfrm>
            <a:off x="5486400" y="35052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42" name="table-row-5-gap-badge"/>
          <p:cNvSpPr txBox="1"/>
          <p:nvPr/>
        </p:nvSpPr>
        <p:spPr>
          <a:xfrm>
            <a:off x="6896100" y="3505200"/>
            <a:ext cx="9144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MODERATE</a:t>
            </a:r>
          </a:p>
        </p:txBody>
      </p:sp>
      <p:sp>
        <p:nvSpPr>
          <p:cNvPr id="43" name="table-row-5-cell-5"/>
          <p:cNvSpPr txBox="1"/>
          <p:nvPr/>
        </p:nvSpPr>
        <p:spPr>
          <a:xfrm>
            <a:off x="10229850" y="3505200"/>
            <a:ext cx="74295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MEDIUM</a:t>
            </a:r>
          </a:p>
        </p:txBody>
      </p:sp>
      <p:sp>
        <p:nvSpPr>
          <p:cNvPr id="44" name="table-row-6-divider"/>
          <p:cNvSpPr/>
          <p:nvPr/>
        </p:nvSpPr>
        <p:spPr>
          <a:xfrm>
            <a:off x="457200" y="38195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ble-row-6-cell-1"/>
          <p:cNvSpPr txBox="1"/>
          <p:nvPr/>
        </p:nvSpPr>
        <p:spPr>
          <a:xfrm>
            <a:off x="590550" y="39147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Program Delivery</a:t>
            </a:r>
          </a:p>
        </p:txBody>
      </p:sp>
      <p:sp>
        <p:nvSpPr>
          <p:cNvPr id="46" name="table-row-6-cell-2"/>
          <p:cNvSpPr txBox="1"/>
          <p:nvPr/>
        </p:nvSpPr>
        <p:spPr>
          <a:xfrm>
            <a:off x="3686175" y="3914775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7" name="table-row-6-cell-3"/>
          <p:cNvSpPr txBox="1"/>
          <p:nvPr/>
        </p:nvSpPr>
        <p:spPr>
          <a:xfrm>
            <a:off x="5486400" y="3914775"/>
            <a:ext cx="7429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8" name="table-row-6-gap-badge"/>
          <p:cNvSpPr txBox="1"/>
          <p:nvPr/>
        </p:nvSpPr>
        <p:spPr>
          <a:xfrm>
            <a:off x="6896100" y="3914775"/>
            <a:ext cx="9144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NONE</a:t>
            </a:r>
          </a:p>
        </p:txBody>
      </p:sp>
      <p:sp>
        <p:nvSpPr>
          <p:cNvPr id="49" name="table-row-6-cell-5"/>
          <p:cNvSpPr txBox="1"/>
          <p:nvPr/>
        </p:nvSpPr>
        <p:spPr>
          <a:xfrm>
            <a:off x="10229850" y="3914775"/>
            <a:ext cx="7429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50" name="table-row-7-divider"/>
          <p:cNvSpPr/>
          <p:nvPr/>
        </p:nvSpPr>
        <p:spPr>
          <a:xfrm>
            <a:off x="457200" y="42291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7-cell-1"/>
          <p:cNvSpPr txBox="1"/>
          <p:nvPr/>
        </p:nvSpPr>
        <p:spPr>
          <a:xfrm>
            <a:off x="590550" y="43243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Business Analysis</a:t>
            </a:r>
          </a:p>
        </p:txBody>
      </p:sp>
      <p:sp>
        <p:nvSpPr>
          <p:cNvPr id="52" name="table-row-7-cell-2"/>
          <p:cNvSpPr txBox="1"/>
          <p:nvPr/>
        </p:nvSpPr>
        <p:spPr>
          <a:xfrm>
            <a:off x="3686175" y="432435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53" name="table-row-7-cell-3"/>
          <p:cNvSpPr txBox="1"/>
          <p:nvPr/>
        </p:nvSpPr>
        <p:spPr>
          <a:xfrm>
            <a:off x="5486400" y="43243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54" name="table-row-7-gap-badge"/>
          <p:cNvSpPr txBox="1"/>
          <p:nvPr/>
        </p:nvSpPr>
        <p:spPr>
          <a:xfrm>
            <a:off x="6896100" y="4324350"/>
            <a:ext cx="914400" cy="17145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54D0E"/>
                </a:solidFill>
                <a:latin typeface="Inter"/>
              </a:rPr>
              <a:t>MINOR</a:t>
            </a:r>
          </a:p>
        </p:txBody>
      </p:sp>
      <p:sp>
        <p:nvSpPr>
          <p:cNvPr id="55" name="table-row-7-cell-5"/>
          <p:cNvSpPr txBox="1"/>
          <p:nvPr/>
        </p:nvSpPr>
        <p:spPr>
          <a:xfrm>
            <a:off x="10229850" y="4324350"/>
            <a:ext cx="742950" cy="1714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LOW</a:t>
            </a:r>
          </a:p>
        </p:txBody>
      </p:sp>
      <p:sp>
        <p:nvSpPr>
          <p:cNvPr id="56" name="table-row-8-bg"/>
          <p:cNvSpPr/>
          <p:nvPr/>
        </p:nvSpPr>
        <p:spPr>
          <a:xfrm>
            <a:off x="457200" y="4638675"/>
            <a:ext cx="11277600" cy="409575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8-flag"/>
          <p:cNvSpPr/>
          <p:nvPr/>
        </p:nvSpPr>
        <p:spPr>
          <a:xfrm>
            <a:off x="457200" y="4638675"/>
            <a:ext cx="38100" cy="409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8-divider"/>
          <p:cNvSpPr/>
          <p:nvPr/>
        </p:nvSpPr>
        <p:spPr>
          <a:xfrm>
            <a:off x="457200" y="46386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8-cell-1"/>
          <p:cNvSpPr txBox="1"/>
          <p:nvPr/>
        </p:nvSpPr>
        <p:spPr>
          <a:xfrm>
            <a:off x="590550" y="47339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UX / Design</a:t>
            </a:r>
          </a:p>
        </p:txBody>
      </p:sp>
      <p:sp>
        <p:nvSpPr>
          <p:cNvPr id="60" name="table-row-8-cell-2"/>
          <p:cNvSpPr txBox="1"/>
          <p:nvPr/>
        </p:nvSpPr>
        <p:spPr>
          <a:xfrm>
            <a:off x="3686175" y="473392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61" name="table-row-8-cell-3"/>
          <p:cNvSpPr txBox="1"/>
          <p:nvPr/>
        </p:nvSpPr>
        <p:spPr>
          <a:xfrm>
            <a:off x="5486400" y="4733925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62" name="table-row-8-gap-badge"/>
          <p:cNvSpPr txBox="1"/>
          <p:nvPr/>
        </p:nvSpPr>
        <p:spPr>
          <a:xfrm>
            <a:off x="6896100" y="4733925"/>
            <a:ext cx="91440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SIGNIFICANT</a:t>
            </a:r>
          </a:p>
        </p:txBody>
      </p:sp>
      <p:sp>
        <p:nvSpPr>
          <p:cNvPr id="63" name="table-row-8-cell-5"/>
          <p:cNvSpPr txBox="1"/>
          <p:nvPr/>
        </p:nvSpPr>
        <p:spPr>
          <a:xfrm>
            <a:off x="10229850" y="4733925"/>
            <a:ext cx="7429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HIGH</a:t>
            </a:r>
          </a:p>
        </p:txBody>
      </p:sp>
      <p:sp>
        <p:nvSpPr>
          <p:cNvPr id="64" name="table-row-9-divider"/>
          <p:cNvSpPr/>
          <p:nvPr/>
        </p:nvSpPr>
        <p:spPr>
          <a:xfrm>
            <a:off x="457200" y="5048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9-cell-1"/>
          <p:cNvSpPr txBox="1"/>
          <p:nvPr/>
        </p:nvSpPr>
        <p:spPr>
          <a:xfrm>
            <a:off x="590550" y="51435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Financial Modeling</a:t>
            </a:r>
          </a:p>
        </p:txBody>
      </p:sp>
      <p:sp>
        <p:nvSpPr>
          <p:cNvPr id="66" name="table-row-9-cell-2"/>
          <p:cNvSpPr txBox="1"/>
          <p:nvPr/>
        </p:nvSpPr>
        <p:spPr>
          <a:xfrm>
            <a:off x="3686175" y="51435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7" name="table-row-9-cell-3"/>
          <p:cNvSpPr txBox="1"/>
          <p:nvPr/>
        </p:nvSpPr>
        <p:spPr>
          <a:xfrm>
            <a:off x="5486400" y="51435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8" name="table-row-9-gap-badge"/>
          <p:cNvSpPr txBox="1"/>
          <p:nvPr/>
        </p:nvSpPr>
        <p:spPr>
          <a:xfrm>
            <a:off x="6896100" y="5143500"/>
            <a:ext cx="9144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NONE</a:t>
            </a:r>
          </a:p>
        </p:txBody>
      </p:sp>
      <p:sp>
        <p:nvSpPr>
          <p:cNvPr id="69" name="table-row-9-cell-5"/>
          <p:cNvSpPr txBox="1"/>
          <p:nvPr/>
        </p:nvSpPr>
        <p:spPr>
          <a:xfrm>
            <a:off x="10229850" y="5143500"/>
            <a:ext cx="7429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70" name="table-row-10-bg"/>
          <p:cNvSpPr/>
          <p:nvPr/>
        </p:nvSpPr>
        <p:spPr>
          <a:xfrm>
            <a:off x="457200" y="5457825"/>
            <a:ext cx="11277600" cy="409575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10-flag"/>
          <p:cNvSpPr/>
          <p:nvPr/>
        </p:nvSpPr>
        <p:spPr>
          <a:xfrm>
            <a:off x="457200" y="5457825"/>
            <a:ext cx="38100" cy="409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10-divider"/>
          <p:cNvSpPr/>
          <p:nvPr/>
        </p:nvSpPr>
        <p:spPr>
          <a:xfrm>
            <a:off x="457200" y="54578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10-cell-1"/>
          <p:cNvSpPr txBox="1"/>
          <p:nvPr/>
        </p:nvSpPr>
        <p:spPr>
          <a:xfrm>
            <a:off x="590550" y="55530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Regulatory / Compliance</a:t>
            </a:r>
          </a:p>
        </p:txBody>
      </p:sp>
      <p:sp>
        <p:nvSpPr>
          <p:cNvPr id="74" name="table-row-10-cell-2"/>
          <p:cNvSpPr txBox="1"/>
          <p:nvPr/>
        </p:nvSpPr>
        <p:spPr>
          <a:xfrm>
            <a:off x="3686175" y="555307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75" name="table-row-10-cell-3"/>
          <p:cNvSpPr txBox="1"/>
          <p:nvPr/>
        </p:nvSpPr>
        <p:spPr>
          <a:xfrm>
            <a:off x="5486400" y="5553075"/>
            <a:ext cx="742950" cy="1714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76" name="table-row-10-gap-badge"/>
          <p:cNvSpPr txBox="1"/>
          <p:nvPr/>
        </p:nvSpPr>
        <p:spPr>
          <a:xfrm>
            <a:off x="6896100" y="5553075"/>
            <a:ext cx="91440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CRITICAL</a:t>
            </a:r>
          </a:p>
        </p:txBody>
      </p:sp>
      <p:sp>
        <p:nvSpPr>
          <p:cNvPr id="77" name="table-row-10-cell-5"/>
          <p:cNvSpPr txBox="1"/>
          <p:nvPr/>
        </p:nvSpPr>
        <p:spPr>
          <a:xfrm>
            <a:off x="10229850" y="5553075"/>
            <a:ext cx="7429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HIGH</a:t>
            </a:r>
          </a:p>
        </p:txBody>
      </p:sp>
      <p:sp>
        <p:nvSpPr>
          <p:cNvPr id="78" name="convergence-bg"/>
          <p:cNvSpPr/>
          <p:nvPr/>
        </p:nvSpPr>
        <p:spPr>
          <a:xfrm>
            <a:off x="457200" y="6134100"/>
            <a:ext cx="112776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convergence-mark"/>
          <p:cNvSpPr txBox="1"/>
          <p:nvPr/>
        </p:nvSpPr>
        <p:spPr>
          <a:xfrm>
            <a:off x="571500" y="622935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DELIVERY RISK</a:t>
            </a:r>
          </a:p>
        </p:txBody>
      </p:sp>
      <p:sp>
        <p:nvSpPr>
          <p:cNvPr id="80" name="convergence"/>
          <p:cNvSpPr txBox="1"/>
          <p:nvPr/>
        </p:nvSpPr>
        <p:spPr>
          <a:xfrm>
            <a:off x="1657350" y="6134100"/>
            <a:ext cx="100774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 critical gaps — training plan in progress; delivery risk remains until Q3 2025. AI/ML and Compliance require external hires or accelerated upskilling before Phase 2 kickoff.</a:t>
            </a:r>
          </a:p>
        </p:txBody>
      </p:sp>
      <p:sp>
        <p:nvSpPr>
          <p:cNvPr id="8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