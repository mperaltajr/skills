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38200" y="1333500"/>
            <a:ext cx="7239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VOICE OF THE PRACTICE</a:t>
            </a:r>
          </a:p>
        </p:txBody>
      </p:sp>
      <p:sp>
        <p:nvSpPr>
          <p:cNvPr id="3" name="quote-mark"/>
          <p:cNvSpPr txBox="1"/>
          <p:nvPr/>
        </p:nvSpPr>
        <p:spPr>
          <a:xfrm>
            <a:off x="762000" y="1047750"/>
            <a:ext cx="1905000" cy="1714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0" b="0" i="0">
                <a:solidFill>
                  <a:srgbClr val="A100FF"/>
                </a:solidFill>
                <a:latin typeface="Georgia"/>
              </a:rPr>
              <a:t>“</a:t>
            </a:r>
          </a:p>
        </p:txBody>
      </p:sp>
      <p:sp>
        <p:nvSpPr>
          <p:cNvPr id="4" name="quote-text"/>
          <p:cNvSpPr txBox="1"/>
          <p:nvPr/>
        </p:nvSpPr>
        <p:spPr>
          <a:xfrm>
            <a:off x="838200" y="2286000"/>
            <a:ext cx="7239000" cy="1905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400" b="0" i="1">
                <a:solidFill>
                  <a:srgbClr val="FFFFFF"/>
                </a:solidFill>
                <a:latin typeface="Inter"/>
              </a:rPr>
              <a:t>I didn’t realize how much of the deck-cycle pain was on me. I thought the tools were broken. Turns out the tool was fine — I just never had a way to sharpen the thinking before I started building.</a:t>
            </a:r>
          </a:p>
        </p:txBody>
      </p:sp>
      <p:sp>
        <p:nvSpPr>
          <p:cNvPr id="5" name="quote-rule"/>
          <p:cNvSpPr/>
          <p:nvPr/>
        </p:nvSpPr>
        <p:spPr>
          <a:xfrm>
            <a:off x="838200" y="4343400"/>
            <a:ext cx="5715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quote-attribution-name"/>
          <p:cNvSpPr txBox="1"/>
          <p:nvPr/>
        </p:nvSpPr>
        <p:spPr>
          <a:xfrm>
            <a:off x="838200" y="45529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Anna Reyes</a:t>
            </a:r>
          </a:p>
        </p:txBody>
      </p:sp>
      <p:sp>
        <p:nvSpPr>
          <p:cNvPr id="7" name="quote-attribution-role"/>
          <p:cNvSpPr txBox="1"/>
          <p:nvPr/>
        </p:nvSpPr>
        <p:spPr>
          <a:xfrm>
            <a:off x="838200" y="4781550"/>
            <a:ext cx="7239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80FF"/>
                </a:solidFill>
                <a:latin typeface="Inter"/>
              </a:rPr>
              <a:t>Senior Manager, Strategy Practice</a:t>
            </a:r>
          </a:p>
        </p:txBody>
      </p:sp>
      <p:sp>
        <p:nvSpPr>
          <p:cNvPr id="8" name="quote-attribution-context"/>
          <p:cNvSpPr txBox="1"/>
          <p:nvPr/>
        </p:nvSpPr>
        <p:spPr>
          <a:xfrm>
            <a:off x="838200" y="50101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B8A5D9"/>
                </a:solidFill>
                <a:latin typeface="Inter"/>
              </a:rPr>
              <a:t>Week 3 of the four-week Slide Lab pilot · May 2026</a:t>
            </a:r>
          </a:p>
        </p:txBody>
      </p:sp>
      <p:sp>
        <p:nvSpPr>
          <p:cNvPr id="9" name="side-context-bg"/>
          <p:cNvSpPr/>
          <p:nvPr/>
        </p:nvSpPr>
        <p:spPr>
          <a:xfrm>
            <a:off x="8686800" y="3619500"/>
            <a:ext cx="2667000" cy="1714500"/>
          </a:xfrm>
          <a:prstGeom prst="rect">
            <a:avLst/>
          </a:prstGeom>
          <a:solidFill>
            <a:srgbClr val="422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side-context-border"/>
          <p:cNvSpPr/>
          <p:nvPr/>
        </p:nvSpPr>
        <p:spPr>
          <a:xfrm>
            <a:off x="8686800" y="3619500"/>
            <a:ext cx="28575" cy="1714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side-context-label"/>
          <p:cNvSpPr txBox="1"/>
          <p:nvPr/>
        </p:nvSpPr>
        <p:spPr>
          <a:xfrm>
            <a:off x="8896350" y="3829050"/>
            <a:ext cx="22479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CONTEXT</a:t>
            </a:r>
          </a:p>
        </p:txBody>
      </p:sp>
      <p:sp>
        <p:nvSpPr>
          <p:cNvPr id="12" name="side-context-body"/>
          <p:cNvSpPr txBox="1"/>
          <p:nvPr/>
        </p:nvSpPr>
        <p:spPr>
          <a:xfrm>
            <a:off x="8896350" y="4095750"/>
            <a:ext cx="2247900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Said unprompted in the post-deck retro. Permission granted to share this quote for internal pitch use.</a:t>
            </a:r>
          </a:p>
        </p:txBody>
      </p:sp>
      <p:sp>
        <p:nvSpPr>
          <p:cNvPr id="1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C780FF"/>
                </a:solidFill>
                <a:latin typeface="Inter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