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52450"/>
            <a:ext cx="666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STRATEGY ON ONE PAGE — VISION · PILLARS · METRICS · PRIORITIES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Strategy on one page</a:t>
            </a:r>
            <a:r>
              <a:rPr sz="1500" b="1" i="0">
                <a:solidFill>
                  <a:srgbClr val="1A1A2E"/>
                </a:solidFill>
                <a:latin typeface="Inter"/>
              </a:rPr>
              <a:t> — share with all 1,200 employees as the single source of strategic truth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914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Three strategic pillars, key performance targets and the top four priorities for the next 12 months.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573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ision-banner"/>
          <p:cNvSpPr/>
          <p:nvPr/>
        </p:nvSpPr>
        <p:spPr>
          <a:xfrm>
            <a:off x="742950" y="1409700"/>
            <a:ext cx="10991850" cy="552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ag-vision"/>
          <p:cNvSpPr txBox="1"/>
          <p:nvPr/>
        </p:nvSpPr>
        <p:spPr>
          <a:xfrm>
            <a:off x="457200" y="16192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VISION</a:t>
            </a:r>
          </a:p>
        </p:txBody>
      </p:sp>
      <p:sp>
        <p:nvSpPr>
          <p:cNvPr id="8" name="vision-label"/>
          <p:cNvSpPr txBox="1"/>
          <p:nvPr/>
        </p:nvSpPr>
        <p:spPr>
          <a:xfrm>
            <a:off x="933450" y="16192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9" name="vision-text"/>
          <p:cNvSpPr txBox="1"/>
          <p:nvPr/>
        </p:nvSpPr>
        <p:spPr>
          <a:xfrm>
            <a:off x="1695450" y="1409700"/>
            <a:ext cx="984885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 be the most trusted digital transformation partner in financial services by 2028</a:t>
            </a:r>
          </a:p>
        </p:txBody>
      </p:sp>
      <p:sp>
        <p:nvSpPr>
          <p:cNvPr id="10" name="tag-pillars"/>
          <p:cNvSpPr txBox="1"/>
          <p:nvPr/>
        </p:nvSpPr>
        <p:spPr>
          <a:xfrm>
            <a:off x="457200" y="27622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PILLARS</a:t>
            </a:r>
          </a:p>
        </p:txBody>
      </p:sp>
      <p:sp>
        <p:nvSpPr>
          <p:cNvPr id="11" name="pillar-1-bg"/>
          <p:cNvSpPr/>
          <p:nvPr/>
        </p:nvSpPr>
        <p:spPr>
          <a:xfrm>
            <a:off x="742950" y="2038350"/>
            <a:ext cx="3609975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-1-accent"/>
          <p:cNvSpPr/>
          <p:nvPr/>
        </p:nvSpPr>
        <p:spPr>
          <a:xfrm>
            <a:off x="742950" y="20383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lar-1-num"/>
          <p:cNvSpPr txBox="1"/>
          <p:nvPr/>
        </p:nvSpPr>
        <p:spPr>
          <a:xfrm>
            <a:off x="857250" y="21336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01</a:t>
            </a:r>
          </a:p>
        </p:txBody>
      </p:sp>
      <p:sp>
        <p:nvSpPr>
          <p:cNvPr id="14" name="pillar-1-title"/>
          <p:cNvSpPr txBox="1"/>
          <p:nvPr/>
        </p:nvSpPr>
        <p:spPr>
          <a:xfrm>
            <a:off x="857250" y="22860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Customer Centricity</a:t>
            </a:r>
          </a:p>
        </p:txBody>
      </p:sp>
      <p:sp>
        <p:nvSpPr>
          <p:cNvPr id="15" name="pillar-1-divider"/>
          <p:cNvSpPr/>
          <p:nvPr/>
        </p:nvSpPr>
        <p:spPr>
          <a:xfrm>
            <a:off x="857250" y="25146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illar-1-list"/>
          <p:cNvSpPr txBox="1"/>
          <p:nvPr/>
        </p:nvSpPr>
        <p:spPr>
          <a:xfrm>
            <a:off x="857250" y="2609850"/>
            <a:ext cx="33813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· Redesign end-to-end client onboarding journey
· Launch real-time NPS feedback loop across all channels
· Embed customer advisory board into product roadmap</a:t>
            </a:r>
          </a:p>
        </p:txBody>
      </p:sp>
      <p:sp>
        <p:nvSpPr>
          <p:cNvPr id="17" name="pillar-2-bg"/>
          <p:cNvSpPr/>
          <p:nvPr/>
        </p:nvSpPr>
        <p:spPr>
          <a:xfrm>
            <a:off x="4429125" y="2038350"/>
            <a:ext cx="3609975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illar-2-accent"/>
          <p:cNvSpPr/>
          <p:nvPr/>
        </p:nvSpPr>
        <p:spPr>
          <a:xfrm>
            <a:off x="4429125" y="20383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illar-2-num"/>
          <p:cNvSpPr txBox="1"/>
          <p:nvPr/>
        </p:nvSpPr>
        <p:spPr>
          <a:xfrm>
            <a:off x="4543425" y="21336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02</a:t>
            </a:r>
          </a:p>
        </p:txBody>
      </p:sp>
      <p:sp>
        <p:nvSpPr>
          <p:cNvPr id="20" name="pillar-2-title"/>
          <p:cNvSpPr txBox="1"/>
          <p:nvPr/>
        </p:nvSpPr>
        <p:spPr>
          <a:xfrm>
            <a:off x="4543425" y="22860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Operational Excellence</a:t>
            </a:r>
          </a:p>
        </p:txBody>
      </p:sp>
      <p:sp>
        <p:nvSpPr>
          <p:cNvPr id="21" name="pillar-2-divider"/>
          <p:cNvSpPr/>
          <p:nvPr/>
        </p:nvSpPr>
        <p:spPr>
          <a:xfrm>
            <a:off x="4543425" y="25146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illar-2-list"/>
          <p:cNvSpPr txBox="1"/>
          <p:nvPr/>
        </p:nvSpPr>
        <p:spPr>
          <a:xfrm>
            <a:off x="4543425" y="2609850"/>
            <a:ext cx="33813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· Consolidate ERP and finance systems onto single platform
· Automate 60% of back-office reconciliation workflows
· Reduce cost-to-income ratio from 58% to 48% by 2027</a:t>
            </a:r>
          </a:p>
        </p:txBody>
      </p:sp>
      <p:sp>
        <p:nvSpPr>
          <p:cNvPr id="23" name="pillar-3-bg"/>
          <p:cNvSpPr/>
          <p:nvPr/>
        </p:nvSpPr>
        <p:spPr>
          <a:xfrm>
            <a:off x="8115300" y="2038350"/>
            <a:ext cx="3609975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accent"/>
          <p:cNvSpPr/>
          <p:nvPr/>
        </p:nvSpPr>
        <p:spPr>
          <a:xfrm>
            <a:off x="8115300" y="20383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illar-3-num"/>
          <p:cNvSpPr txBox="1"/>
          <p:nvPr/>
        </p:nvSpPr>
        <p:spPr>
          <a:xfrm>
            <a:off x="8229600" y="21336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03</a:t>
            </a:r>
          </a:p>
        </p:txBody>
      </p:sp>
      <p:sp>
        <p:nvSpPr>
          <p:cNvPr id="26" name="pillar-3-title"/>
          <p:cNvSpPr txBox="1"/>
          <p:nvPr/>
        </p:nvSpPr>
        <p:spPr>
          <a:xfrm>
            <a:off x="8229600" y="22860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Innovation</a:t>
            </a:r>
          </a:p>
        </p:txBody>
      </p:sp>
      <p:sp>
        <p:nvSpPr>
          <p:cNvPr id="27" name="pillar-3-divider"/>
          <p:cNvSpPr/>
          <p:nvPr/>
        </p:nvSpPr>
        <p:spPr>
          <a:xfrm>
            <a:off x="8229600" y="25146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illar-3-list"/>
          <p:cNvSpPr txBox="1"/>
          <p:nvPr/>
        </p:nvSpPr>
        <p:spPr>
          <a:xfrm>
            <a:off x="8229600" y="2609850"/>
            <a:ext cx="33813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· Launch AI-powered advisory platform in H1 2025
· Build open banking API ecosystem with 50+ partners
· Scale cloud-native infrastructure to 100% of core systems</a:t>
            </a:r>
          </a:p>
        </p:txBody>
      </p:sp>
      <p:sp>
        <p:nvSpPr>
          <p:cNvPr id="29" name="tag-metrics"/>
          <p:cNvSpPr txBox="1"/>
          <p:nvPr/>
        </p:nvSpPr>
        <p:spPr>
          <a:xfrm>
            <a:off x="457200" y="39814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METRICS</a:t>
            </a:r>
          </a:p>
        </p:txBody>
      </p:sp>
      <p:sp>
        <p:nvSpPr>
          <p:cNvPr id="30" name="metric-1-bg"/>
          <p:cNvSpPr/>
          <p:nvPr/>
        </p:nvSpPr>
        <p:spPr>
          <a:xfrm>
            <a:off x="742950" y="3714750"/>
            <a:ext cx="3609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metric-1-value"/>
          <p:cNvSpPr txBox="1"/>
          <p:nvPr/>
        </p:nvSpPr>
        <p:spPr>
          <a:xfrm>
            <a:off x="742950" y="382905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$2B</a:t>
            </a:r>
          </a:p>
        </p:txBody>
      </p:sp>
      <p:sp>
        <p:nvSpPr>
          <p:cNvPr id="32" name="metric-1-label"/>
          <p:cNvSpPr txBox="1"/>
          <p:nvPr/>
        </p:nvSpPr>
        <p:spPr>
          <a:xfrm>
            <a:off x="742950" y="411480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REVENUE TARGET BY 2028</a:t>
            </a:r>
          </a:p>
        </p:txBody>
      </p:sp>
      <p:sp>
        <p:nvSpPr>
          <p:cNvPr id="33" name="metric-2-bg"/>
          <p:cNvSpPr/>
          <p:nvPr/>
        </p:nvSpPr>
        <p:spPr>
          <a:xfrm>
            <a:off x="4429125" y="3714750"/>
            <a:ext cx="3609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metric-2-value"/>
          <p:cNvSpPr txBox="1"/>
          <p:nvPr/>
        </p:nvSpPr>
        <p:spPr>
          <a:xfrm>
            <a:off x="4429125" y="382905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95%</a:t>
            </a:r>
          </a:p>
        </p:txBody>
      </p:sp>
      <p:sp>
        <p:nvSpPr>
          <p:cNvPr id="35" name="metric-2-label"/>
          <p:cNvSpPr txBox="1"/>
          <p:nvPr/>
        </p:nvSpPr>
        <p:spPr>
          <a:xfrm>
            <a:off x="4429125" y="411480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CSAT SCORE TARGET</a:t>
            </a:r>
          </a:p>
        </p:txBody>
      </p:sp>
      <p:sp>
        <p:nvSpPr>
          <p:cNvPr id="36" name="metric-3-bg"/>
          <p:cNvSpPr/>
          <p:nvPr/>
        </p:nvSpPr>
        <p:spPr>
          <a:xfrm>
            <a:off x="8115300" y="3714750"/>
            <a:ext cx="3609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metric-3-value"/>
          <p:cNvSpPr txBox="1"/>
          <p:nvPr/>
        </p:nvSpPr>
        <p:spPr>
          <a:xfrm>
            <a:off x="8115300" y="382905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Top 3</a:t>
            </a:r>
          </a:p>
        </p:txBody>
      </p:sp>
      <p:sp>
        <p:nvSpPr>
          <p:cNvPr id="38" name="metric-3-label"/>
          <p:cNvSpPr txBox="1"/>
          <p:nvPr/>
        </p:nvSpPr>
        <p:spPr>
          <a:xfrm>
            <a:off x="8115300" y="411480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NPS RANKING IN SECTOR</a:t>
            </a:r>
          </a:p>
        </p:txBody>
      </p:sp>
      <p:sp>
        <p:nvSpPr>
          <p:cNvPr id="39" name="tag-priorities"/>
          <p:cNvSpPr txBox="1"/>
          <p:nvPr/>
        </p:nvSpPr>
        <p:spPr>
          <a:xfrm>
            <a:off x="457200" y="46863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12 MO</a:t>
            </a:r>
          </a:p>
        </p:txBody>
      </p:sp>
      <p:sp>
        <p:nvSpPr>
          <p:cNvPr id="40" name="priority-1-bg"/>
          <p:cNvSpPr/>
          <p:nvPr/>
        </p:nvSpPr>
        <p:spPr>
          <a:xfrm>
            <a:off x="742950" y="4476750"/>
            <a:ext cx="2686050" cy="57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riority-1-num"/>
          <p:cNvSpPr txBox="1"/>
          <p:nvPr/>
        </p:nvSpPr>
        <p:spPr>
          <a:xfrm>
            <a:off x="742950" y="45529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PRIORITY 01</a:t>
            </a:r>
          </a:p>
        </p:txBody>
      </p:sp>
      <p:sp>
        <p:nvSpPr>
          <p:cNvPr id="42" name="priority-1-text"/>
          <p:cNvSpPr txBox="1"/>
          <p:nvPr/>
        </p:nvSpPr>
        <p:spPr>
          <a:xfrm>
            <a:off x="819150" y="47244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Complete ERP migration</a:t>
            </a:r>
          </a:p>
        </p:txBody>
      </p:sp>
      <p:sp>
        <p:nvSpPr>
          <p:cNvPr id="43" name="priority-2-bg"/>
          <p:cNvSpPr/>
          <p:nvPr/>
        </p:nvSpPr>
        <p:spPr>
          <a:xfrm>
            <a:off x="3505200" y="4476750"/>
            <a:ext cx="2686050" cy="57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priority-2-num"/>
          <p:cNvSpPr txBox="1"/>
          <p:nvPr/>
        </p:nvSpPr>
        <p:spPr>
          <a:xfrm>
            <a:off x="3505200" y="45529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PRIORITY 02</a:t>
            </a:r>
          </a:p>
        </p:txBody>
      </p:sp>
      <p:sp>
        <p:nvSpPr>
          <p:cNvPr id="45" name="priority-2-text"/>
          <p:cNvSpPr txBox="1"/>
          <p:nvPr/>
        </p:nvSpPr>
        <p:spPr>
          <a:xfrm>
            <a:off x="3581400" y="47244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Launch AI platform</a:t>
            </a:r>
          </a:p>
        </p:txBody>
      </p:sp>
      <p:sp>
        <p:nvSpPr>
          <p:cNvPr id="46" name="priority-3-bg"/>
          <p:cNvSpPr/>
          <p:nvPr/>
        </p:nvSpPr>
        <p:spPr>
          <a:xfrm>
            <a:off x="6267450" y="4476750"/>
            <a:ext cx="2686050" cy="57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riority-3-num"/>
          <p:cNvSpPr txBox="1"/>
          <p:nvPr/>
        </p:nvSpPr>
        <p:spPr>
          <a:xfrm>
            <a:off x="6267450" y="45529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PRIORITY 03</a:t>
            </a:r>
          </a:p>
        </p:txBody>
      </p:sp>
      <p:sp>
        <p:nvSpPr>
          <p:cNvPr id="48" name="priority-3-text"/>
          <p:cNvSpPr txBox="1"/>
          <p:nvPr/>
        </p:nvSpPr>
        <p:spPr>
          <a:xfrm>
            <a:off x="6343650" y="47244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Hire 200 digital specialists</a:t>
            </a:r>
          </a:p>
        </p:txBody>
      </p:sp>
      <p:sp>
        <p:nvSpPr>
          <p:cNvPr id="49" name="priority-4-bg"/>
          <p:cNvSpPr/>
          <p:nvPr/>
        </p:nvSpPr>
        <p:spPr>
          <a:xfrm>
            <a:off x="9029700" y="4476750"/>
            <a:ext cx="2686050" cy="57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priority-4-num"/>
          <p:cNvSpPr txBox="1"/>
          <p:nvPr/>
        </p:nvSpPr>
        <p:spPr>
          <a:xfrm>
            <a:off x="9029700" y="45529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PRIORITY 04</a:t>
            </a:r>
          </a:p>
        </p:txBody>
      </p:sp>
      <p:sp>
        <p:nvSpPr>
          <p:cNvPr id="51" name="priority-4-text"/>
          <p:cNvSpPr txBox="1"/>
          <p:nvPr/>
        </p:nvSpPr>
        <p:spPr>
          <a:xfrm>
            <a:off x="9105900" y="47244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Enter APAC markets</a:t>
            </a:r>
          </a:p>
        </p:txBody>
      </p:sp>
      <p:sp>
        <p:nvSpPr>
          <p:cNvPr id="5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