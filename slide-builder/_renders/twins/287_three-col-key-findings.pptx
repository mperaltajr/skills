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Three critical gaps are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widening the delivery risk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Diagnostic summary · Phase 1 assessment · May 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bg"/>
          <p:cNvSpPr/>
          <p:nvPr/>
        </p:nvSpPr>
        <p:spPr>
          <a:xfrm>
            <a:off x="533400" y="2228850"/>
            <a:ext cx="3581400" cy="4210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num"/>
          <p:cNvSpPr txBox="1"/>
          <p:nvPr/>
        </p:nvSpPr>
        <p:spPr>
          <a:xfrm>
            <a:off x="723900" y="2381250"/>
            <a:ext cx="32004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45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7" name="card-1-headline"/>
          <p:cNvSpPr txBox="1"/>
          <p:nvPr/>
        </p:nvSpPr>
        <p:spPr>
          <a:xfrm>
            <a:off x="723900" y="2990850"/>
            <a:ext cx="32004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Data quality issues upstream of every key report</a:t>
            </a:r>
          </a:p>
        </p:txBody>
      </p:sp>
      <p:sp>
        <p:nvSpPr>
          <p:cNvPr id="8" name="card-1-rule"/>
          <p:cNvSpPr/>
          <p:nvPr/>
        </p:nvSpPr>
        <p:spPr>
          <a:xfrm>
            <a:off x="723900" y="3543300"/>
            <a:ext cx="3200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ard-1-bullet-1-dot"/>
          <p:cNvSpPr/>
          <p:nvPr/>
        </p:nvSpPr>
        <p:spPr>
          <a:xfrm>
            <a:off x="723900" y="37242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card-1-bullet-1"/>
          <p:cNvSpPr txBox="1"/>
          <p:nvPr/>
        </p:nvSpPr>
        <p:spPr>
          <a:xfrm>
            <a:off x="857250" y="3657600"/>
            <a:ext cx="30670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34%</a:t>
            </a:r>
            <a:r>
              <a:rPr sz="1050" b="0" i="0">
                <a:solidFill>
                  <a:srgbClr val="64748B"/>
                </a:solidFill>
                <a:latin typeface="Inter"/>
              </a:rPr>
              <a:t> of source records fail validation on first pass</a:t>
            </a:r>
          </a:p>
        </p:txBody>
      </p:sp>
      <p:sp>
        <p:nvSpPr>
          <p:cNvPr id="11" name="card-1-bullet-2-dot"/>
          <p:cNvSpPr/>
          <p:nvPr/>
        </p:nvSpPr>
        <p:spPr>
          <a:xfrm>
            <a:off x="723900" y="40671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1-bullet-2"/>
          <p:cNvSpPr txBox="1"/>
          <p:nvPr/>
        </p:nvSpPr>
        <p:spPr>
          <a:xfrm>
            <a:off x="857250" y="4000500"/>
            <a:ext cx="30670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3 of 5 upstream feeds have no lineage documentation</a:t>
            </a:r>
          </a:p>
        </p:txBody>
      </p:sp>
      <p:sp>
        <p:nvSpPr>
          <p:cNvPr id="13" name="card-1-bullet-3-dot"/>
          <p:cNvSpPr/>
          <p:nvPr/>
        </p:nvSpPr>
        <p:spPr>
          <a:xfrm>
            <a:off x="723900" y="44100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1-bullet-3"/>
          <p:cNvSpPr txBox="1"/>
          <p:nvPr/>
        </p:nvSpPr>
        <p:spPr>
          <a:xfrm>
            <a:off x="857250" y="4343400"/>
            <a:ext cx="30670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Remediation SLA routinely missed by </a:t>
            </a:r>
            <a:r>
              <a:rPr sz="1050" b="1" i="0">
                <a:solidFill>
                  <a:srgbClr val="5C2D87"/>
                </a:solidFill>
                <a:latin typeface="Inter"/>
              </a:rPr>
              <a:t>8–12 days</a:t>
            </a:r>
          </a:p>
        </p:txBody>
      </p:sp>
      <p:sp>
        <p:nvSpPr>
          <p:cNvPr id="15" name="card-1-bullet-4-dot"/>
          <p:cNvSpPr/>
          <p:nvPr/>
        </p:nvSpPr>
        <p:spPr>
          <a:xfrm>
            <a:off x="723900" y="47529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rd-1-bullet-4"/>
          <p:cNvSpPr txBox="1"/>
          <p:nvPr/>
        </p:nvSpPr>
        <p:spPr>
          <a:xfrm>
            <a:off x="857250" y="4686300"/>
            <a:ext cx="30670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No automated alerting for schema drift events</a:t>
            </a:r>
          </a:p>
        </p:txBody>
      </p:sp>
      <p:sp>
        <p:nvSpPr>
          <p:cNvPr id="17" name="card-1-impl-bg"/>
          <p:cNvSpPr/>
          <p:nvPr/>
        </p:nvSpPr>
        <p:spPr>
          <a:xfrm>
            <a:off x="533400" y="5829300"/>
            <a:ext cx="3581400" cy="609600"/>
          </a:xfrm>
          <a:prstGeom prst="rect">
            <a:avLst/>
          </a:prstGeom>
          <a:solidFill>
            <a:srgbClr val="EDE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ard-1-impl-rule"/>
          <p:cNvSpPr/>
          <p:nvPr/>
        </p:nvSpPr>
        <p:spPr>
          <a:xfrm>
            <a:off x="533400" y="5829300"/>
            <a:ext cx="35814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1-impl-label"/>
          <p:cNvSpPr txBox="1"/>
          <p:nvPr/>
        </p:nvSpPr>
        <p:spPr>
          <a:xfrm>
            <a:off x="723900" y="5905500"/>
            <a:ext cx="32004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IMPLICATION</a:t>
            </a:r>
          </a:p>
        </p:txBody>
      </p:sp>
      <p:sp>
        <p:nvSpPr>
          <p:cNvPr id="20" name="card-1-impl-text"/>
          <p:cNvSpPr txBox="1"/>
          <p:nvPr/>
        </p:nvSpPr>
        <p:spPr>
          <a:xfrm>
            <a:off x="723900" y="6038850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5C2D87"/>
                </a:solidFill>
                <a:latin typeface="Inter"/>
              </a:rPr>
              <a:t>Leadership dashboards carry unquantified error risk every reporting cycle.</a:t>
            </a:r>
          </a:p>
        </p:txBody>
      </p:sp>
      <p:sp>
        <p:nvSpPr>
          <p:cNvPr id="21" name="card-2-bg"/>
          <p:cNvSpPr/>
          <p:nvPr/>
        </p:nvSpPr>
        <p:spPr>
          <a:xfrm>
            <a:off x="4305300" y="2228850"/>
            <a:ext cx="3581400" cy="4210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ard-2-num"/>
          <p:cNvSpPr txBox="1"/>
          <p:nvPr/>
        </p:nvSpPr>
        <p:spPr>
          <a:xfrm>
            <a:off x="4495800" y="2381250"/>
            <a:ext cx="32004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45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23" name="card-2-headline"/>
          <p:cNvSpPr txBox="1"/>
          <p:nvPr/>
        </p:nvSpPr>
        <p:spPr>
          <a:xfrm>
            <a:off x="4495800" y="2990850"/>
            <a:ext cx="32004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Ownership gaps create single points of failure</a:t>
            </a:r>
          </a:p>
        </p:txBody>
      </p:sp>
      <p:sp>
        <p:nvSpPr>
          <p:cNvPr id="24" name="card-2-rule"/>
          <p:cNvSpPr/>
          <p:nvPr/>
        </p:nvSpPr>
        <p:spPr>
          <a:xfrm>
            <a:off x="4495800" y="3543300"/>
            <a:ext cx="3200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rd-2-bullet-1-dot"/>
          <p:cNvSpPr/>
          <p:nvPr/>
        </p:nvSpPr>
        <p:spPr>
          <a:xfrm>
            <a:off x="4495800" y="37242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ard-2-bullet-1"/>
          <p:cNvSpPr txBox="1"/>
          <p:nvPr/>
        </p:nvSpPr>
        <p:spPr>
          <a:xfrm>
            <a:off x="4629150" y="3657600"/>
            <a:ext cx="30670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7 core processes</a:t>
            </a:r>
            <a:r>
              <a:rPr sz="1050" b="0" i="0">
                <a:solidFill>
                  <a:srgbClr val="64748B"/>
                </a:solidFill>
                <a:latin typeface="Inter"/>
              </a:rPr>
              <a:t> have no documented owner as of Q1</a:t>
            </a:r>
          </a:p>
        </p:txBody>
      </p:sp>
      <p:sp>
        <p:nvSpPr>
          <p:cNvPr id="27" name="card-2-bullet-2-dot"/>
          <p:cNvSpPr/>
          <p:nvPr/>
        </p:nvSpPr>
        <p:spPr>
          <a:xfrm>
            <a:off x="4495800" y="40671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rd-2-bullet-2"/>
          <p:cNvSpPr txBox="1"/>
          <p:nvPr/>
        </p:nvSpPr>
        <p:spPr>
          <a:xfrm>
            <a:off x="4629150" y="4000500"/>
            <a:ext cx="30670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2 critical system admins are the sole holders of access credentials</a:t>
            </a:r>
          </a:p>
        </p:txBody>
      </p:sp>
      <p:sp>
        <p:nvSpPr>
          <p:cNvPr id="29" name="card-2-bullet-3-dot"/>
          <p:cNvSpPr/>
          <p:nvPr/>
        </p:nvSpPr>
        <p:spPr>
          <a:xfrm>
            <a:off x="4495800" y="44100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2-bullet-3"/>
          <p:cNvSpPr txBox="1"/>
          <p:nvPr/>
        </p:nvSpPr>
        <p:spPr>
          <a:xfrm>
            <a:off x="4629150" y="4343400"/>
            <a:ext cx="30670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Onboarding time for replacements estimated at </a:t>
            </a:r>
            <a:r>
              <a:rPr sz="1050" b="1" i="0">
                <a:solidFill>
                  <a:srgbClr val="5C2D87"/>
                </a:solidFill>
                <a:latin typeface="Inter"/>
              </a:rPr>
              <a:t>14+ weeks</a:t>
            </a:r>
          </a:p>
        </p:txBody>
      </p:sp>
      <p:sp>
        <p:nvSpPr>
          <p:cNvPr id="31" name="card-2-bullet-4-dot"/>
          <p:cNvSpPr/>
          <p:nvPr/>
        </p:nvSpPr>
        <p:spPr>
          <a:xfrm>
            <a:off x="4495800" y="47529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ard-2-bullet-4"/>
          <p:cNvSpPr txBox="1"/>
          <p:nvPr/>
        </p:nvSpPr>
        <p:spPr>
          <a:xfrm>
            <a:off x="4629150" y="4686300"/>
            <a:ext cx="30670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Cross-team escalation path undefined for P1 incidents</a:t>
            </a:r>
          </a:p>
        </p:txBody>
      </p:sp>
      <p:sp>
        <p:nvSpPr>
          <p:cNvPr id="33" name="card-2-impl-bg"/>
          <p:cNvSpPr/>
          <p:nvPr/>
        </p:nvSpPr>
        <p:spPr>
          <a:xfrm>
            <a:off x="4305300" y="5829300"/>
            <a:ext cx="3581400" cy="609600"/>
          </a:xfrm>
          <a:prstGeom prst="rect">
            <a:avLst/>
          </a:prstGeom>
          <a:solidFill>
            <a:srgbClr val="EDE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ard-2-impl-rule"/>
          <p:cNvSpPr/>
          <p:nvPr/>
        </p:nvSpPr>
        <p:spPr>
          <a:xfrm>
            <a:off x="4305300" y="5829300"/>
            <a:ext cx="35814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ard-2-impl-label"/>
          <p:cNvSpPr txBox="1"/>
          <p:nvPr/>
        </p:nvSpPr>
        <p:spPr>
          <a:xfrm>
            <a:off x="4495800" y="5905500"/>
            <a:ext cx="32004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IMPLICATION</a:t>
            </a:r>
          </a:p>
        </p:txBody>
      </p:sp>
      <p:sp>
        <p:nvSpPr>
          <p:cNvPr id="36" name="card-2-impl-text"/>
          <p:cNvSpPr txBox="1"/>
          <p:nvPr/>
        </p:nvSpPr>
        <p:spPr>
          <a:xfrm>
            <a:off x="4495800" y="6038850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5C2D87"/>
                </a:solidFill>
                <a:latin typeface="Inter"/>
              </a:rPr>
              <a:t>Any unplanned attrition in these roles carries a material continuity threat.</a:t>
            </a:r>
          </a:p>
        </p:txBody>
      </p:sp>
      <p:sp>
        <p:nvSpPr>
          <p:cNvPr id="37" name="card-3-bg"/>
          <p:cNvSpPr/>
          <p:nvPr/>
        </p:nvSpPr>
        <p:spPr>
          <a:xfrm>
            <a:off x="8077200" y="2228850"/>
            <a:ext cx="3581400" cy="4210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ard-3-num"/>
          <p:cNvSpPr txBox="1"/>
          <p:nvPr/>
        </p:nvSpPr>
        <p:spPr>
          <a:xfrm>
            <a:off x="8267700" y="2381250"/>
            <a:ext cx="32004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45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39" name="card-3-headline"/>
          <p:cNvSpPr txBox="1"/>
          <p:nvPr/>
        </p:nvSpPr>
        <p:spPr>
          <a:xfrm>
            <a:off x="8267700" y="2990850"/>
            <a:ext cx="32004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Technology debt is accelerating faster than remediation</a:t>
            </a:r>
          </a:p>
        </p:txBody>
      </p:sp>
      <p:sp>
        <p:nvSpPr>
          <p:cNvPr id="40" name="card-3-rule"/>
          <p:cNvSpPr/>
          <p:nvPr/>
        </p:nvSpPr>
        <p:spPr>
          <a:xfrm>
            <a:off x="8267700" y="3543300"/>
            <a:ext cx="3200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ard-3-bullet-1-dot"/>
          <p:cNvSpPr/>
          <p:nvPr/>
        </p:nvSpPr>
        <p:spPr>
          <a:xfrm>
            <a:off x="8267700" y="37242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ard-3-bullet-1"/>
          <p:cNvSpPr txBox="1"/>
          <p:nvPr/>
        </p:nvSpPr>
        <p:spPr>
          <a:xfrm>
            <a:off x="8401050" y="3657600"/>
            <a:ext cx="30670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62%</a:t>
            </a:r>
            <a:r>
              <a:rPr sz="1050" b="0" i="0">
                <a:solidFill>
                  <a:srgbClr val="64748B"/>
                </a:solidFill>
                <a:latin typeface="Inter"/>
              </a:rPr>
              <a:t> of the application portfolio is past end-of-support</a:t>
            </a:r>
          </a:p>
        </p:txBody>
      </p:sp>
      <p:sp>
        <p:nvSpPr>
          <p:cNvPr id="43" name="card-3-bullet-2-dot"/>
          <p:cNvSpPr/>
          <p:nvPr/>
        </p:nvSpPr>
        <p:spPr>
          <a:xfrm>
            <a:off x="8267700" y="40671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ard-3-bullet-2"/>
          <p:cNvSpPr txBox="1"/>
          <p:nvPr/>
        </p:nvSpPr>
        <p:spPr>
          <a:xfrm>
            <a:off x="8401050" y="4000500"/>
            <a:ext cx="30670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2.3×</a:t>
            </a:r>
            <a:r>
              <a:rPr sz="1050" b="0" i="0">
                <a:solidFill>
                  <a:srgbClr val="64748B"/>
                </a:solidFill>
                <a:latin typeface="Inter"/>
              </a:rPr>
              <a:t> the rate of retirement (new technical debt added)</a:t>
            </a:r>
          </a:p>
        </p:txBody>
      </p:sp>
      <p:sp>
        <p:nvSpPr>
          <p:cNvPr id="45" name="card-3-bullet-3-dot"/>
          <p:cNvSpPr/>
          <p:nvPr/>
        </p:nvSpPr>
        <p:spPr>
          <a:xfrm>
            <a:off x="8267700" y="44100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ard-3-bullet-3"/>
          <p:cNvSpPr txBox="1"/>
          <p:nvPr/>
        </p:nvSpPr>
        <p:spPr>
          <a:xfrm>
            <a:off x="8401050" y="4343400"/>
            <a:ext cx="30670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Security patch cadence averages 47 days vs. 14-day target</a:t>
            </a:r>
          </a:p>
        </p:txBody>
      </p:sp>
      <p:sp>
        <p:nvSpPr>
          <p:cNvPr id="47" name="card-3-bullet-4-dot"/>
          <p:cNvSpPr/>
          <p:nvPr/>
        </p:nvSpPr>
        <p:spPr>
          <a:xfrm>
            <a:off x="8267700" y="47529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ard-3-bullet-4"/>
          <p:cNvSpPr txBox="1"/>
          <p:nvPr/>
        </p:nvSpPr>
        <p:spPr>
          <a:xfrm>
            <a:off x="8401050" y="4686300"/>
            <a:ext cx="30670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Infrastructure modernisation budget reduced 18% YoY</a:t>
            </a:r>
          </a:p>
        </p:txBody>
      </p:sp>
      <p:sp>
        <p:nvSpPr>
          <p:cNvPr id="49" name="card-3-impl-bg"/>
          <p:cNvSpPr/>
          <p:nvPr/>
        </p:nvSpPr>
        <p:spPr>
          <a:xfrm>
            <a:off x="8077200" y="5829300"/>
            <a:ext cx="3581400" cy="609600"/>
          </a:xfrm>
          <a:prstGeom prst="rect">
            <a:avLst/>
          </a:prstGeom>
          <a:solidFill>
            <a:srgbClr val="EDE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ard-3-impl-rule"/>
          <p:cNvSpPr/>
          <p:nvPr/>
        </p:nvSpPr>
        <p:spPr>
          <a:xfrm>
            <a:off x="8077200" y="5829300"/>
            <a:ext cx="35814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ard-3-impl-label"/>
          <p:cNvSpPr txBox="1"/>
          <p:nvPr/>
        </p:nvSpPr>
        <p:spPr>
          <a:xfrm>
            <a:off x="8267700" y="5905500"/>
            <a:ext cx="32004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IMPLICATION</a:t>
            </a:r>
          </a:p>
        </p:txBody>
      </p:sp>
      <p:sp>
        <p:nvSpPr>
          <p:cNvPr id="52" name="card-3-impl-text"/>
          <p:cNvSpPr txBox="1"/>
          <p:nvPr/>
        </p:nvSpPr>
        <p:spPr>
          <a:xfrm>
            <a:off x="8267700" y="6038850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5C2D87"/>
                </a:solidFill>
                <a:latin typeface="Inter"/>
              </a:rPr>
              <a:t>Without reprioritisation, remediation cost will exceed the modernisation budget by FY28.</a:t>
            </a:r>
          </a:p>
        </p:txBody>
      </p:sp>
      <p:sp>
        <p:nvSpPr>
          <p:cNvPr id="5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