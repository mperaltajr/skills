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Transformation Office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– Program Structure &amp; Governance</a:t>
            </a:r>
          </a:p>
        </p:txBody>
      </p:sp>
      <p:sp>
        <p:nvSpPr>
          <p:cNvPr id="3" name="subhead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Workstream ownership, leads, and active initiative tracking as of Q2 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76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mo-bar-bg"/>
          <p:cNvSpPr/>
          <p:nvPr/>
        </p:nvSpPr>
        <p:spPr>
          <a:xfrm>
            <a:off x="457200" y="2057400"/>
            <a:ext cx="11277600" cy="609600"/>
          </a:xfrm>
          <a:prstGeom prst="rect">
            <a:avLst/>
          </a:prstGeom>
          <a:solidFill>
            <a:srgbClr val="52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mo-icon"/>
          <p:cNvSpPr/>
          <p:nvPr/>
        </p:nvSpPr>
        <p:spPr>
          <a:xfrm>
            <a:off x="571500" y="2171700"/>
            <a:ext cx="342900" cy="342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mo-icon-glyph"/>
          <p:cNvSpPr txBox="1"/>
          <p:nvPr/>
        </p:nvSpPr>
        <p:spPr>
          <a:xfrm>
            <a:off x="571500" y="21717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0" i="0">
                <a:solidFill>
                  <a:srgbClr val="FFFFFF"/>
                </a:solidFill>
                <a:latin typeface="Inter"/>
              </a:rPr>
              <a:t>▦</a:t>
            </a:r>
          </a:p>
        </p:txBody>
      </p:sp>
      <p:sp>
        <p:nvSpPr>
          <p:cNvPr id="8" name="pmo-label"/>
          <p:cNvSpPr txBox="1"/>
          <p:nvPr/>
        </p:nvSpPr>
        <p:spPr>
          <a:xfrm>
            <a:off x="1047750" y="215265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PMO / TRANSFORMATION OFFICE</a:t>
            </a:r>
          </a:p>
        </p:txBody>
      </p:sp>
      <p:sp>
        <p:nvSpPr>
          <p:cNvPr id="9" name="pmo-title"/>
          <p:cNvSpPr txBox="1"/>
          <p:nvPr/>
        </p:nvSpPr>
        <p:spPr>
          <a:xfrm>
            <a:off x="1047750" y="23241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Enterprise Modernisation Programme</a:t>
            </a:r>
          </a:p>
        </p:txBody>
      </p:sp>
      <p:sp>
        <p:nvSpPr>
          <p:cNvPr id="10" name="pmo-director-label"/>
          <p:cNvSpPr txBox="1"/>
          <p:nvPr/>
        </p:nvSpPr>
        <p:spPr>
          <a:xfrm>
            <a:off x="8572500" y="2114550"/>
            <a:ext cx="3048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PROGRAM DIRECTOR</a:t>
            </a:r>
          </a:p>
        </p:txBody>
      </p:sp>
      <p:sp>
        <p:nvSpPr>
          <p:cNvPr id="11" name="pmo-director-name"/>
          <p:cNvSpPr txBox="1"/>
          <p:nvPr/>
        </p:nvSpPr>
        <p:spPr>
          <a:xfrm>
            <a:off x="8572500" y="226695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Sarah Mitchell</a:t>
            </a:r>
          </a:p>
        </p:txBody>
      </p:sp>
      <p:sp>
        <p:nvSpPr>
          <p:cNvPr id="12" name="pmo-reporting"/>
          <p:cNvSpPr txBox="1"/>
          <p:nvPr/>
        </p:nvSpPr>
        <p:spPr>
          <a:xfrm>
            <a:off x="8572500" y="2457450"/>
            <a:ext cx="3048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Reports to: Chief Transformation Officer</a:t>
            </a:r>
          </a:p>
        </p:txBody>
      </p:sp>
      <p:sp>
        <p:nvSpPr>
          <p:cNvPr id="13" name="ws-1-bg"/>
          <p:cNvSpPr/>
          <p:nvPr/>
        </p:nvSpPr>
        <p:spPr>
          <a:xfrm>
            <a:off x="457200" y="2762250"/>
            <a:ext cx="2819400" cy="29527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ws-1-name"/>
          <p:cNvSpPr txBox="1"/>
          <p:nvPr/>
        </p:nvSpPr>
        <p:spPr>
          <a:xfrm>
            <a:off x="609600" y="2895600"/>
            <a:ext cx="2514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&amp; Analytics</a:t>
            </a:r>
          </a:p>
        </p:txBody>
      </p:sp>
      <p:sp>
        <p:nvSpPr>
          <p:cNvPr id="15" name="ws-1-initials-circle"/>
          <p:cNvSpPr/>
          <p:nvPr/>
        </p:nvSpPr>
        <p:spPr>
          <a:xfrm>
            <a:off x="609600" y="3238500"/>
            <a:ext cx="247650" cy="2476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ws-1-initials"/>
          <p:cNvSpPr txBox="1"/>
          <p:nvPr/>
        </p:nvSpPr>
        <p:spPr>
          <a:xfrm>
            <a:off x="609600" y="32385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JK</a:t>
            </a:r>
          </a:p>
        </p:txBody>
      </p:sp>
      <p:sp>
        <p:nvSpPr>
          <p:cNvPr id="17" name="ws-1-lead-label"/>
          <p:cNvSpPr txBox="1"/>
          <p:nvPr/>
        </p:nvSpPr>
        <p:spPr>
          <a:xfrm>
            <a:off x="914400" y="3219450"/>
            <a:ext cx="2209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WORKSTREAM LEAD</a:t>
            </a:r>
          </a:p>
        </p:txBody>
      </p:sp>
      <p:sp>
        <p:nvSpPr>
          <p:cNvPr id="18" name="ws-1-lead-name"/>
          <p:cNvSpPr txBox="1"/>
          <p:nvPr/>
        </p:nvSpPr>
        <p:spPr>
          <a:xfrm>
            <a:off x="914400" y="3333750"/>
            <a:ext cx="2209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James Kwon</a:t>
            </a:r>
          </a:p>
        </p:txBody>
      </p:sp>
      <p:sp>
        <p:nvSpPr>
          <p:cNvPr id="19" name="ws-1-rule"/>
          <p:cNvSpPr/>
          <p:nvPr/>
        </p:nvSpPr>
        <p:spPr>
          <a:xfrm>
            <a:off x="609600" y="3619500"/>
            <a:ext cx="2514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ws-1-init-1-chev"/>
          <p:cNvSpPr txBox="1"/>
          <p:nvPr/>
        </p:nvSpPr>
        <p:spPr>
          <a:xfrm>
            <a:off x="609600" y="37338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›</a:t>
            </a:r>
          </a:p>
        </p:txBody>
      </p:sp>
      <p:sp>
        <p:nvSpPr>
          <p:cNvPr id="21" name="ws-1-init-1"/>
          <p:cNvSpPr txBox="1"/>
          <p:nvPr/>
        </p:nvSpPr>
        <p:spPr>
          <a:xfrm>
            <a:off x="723900" y="373380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Enterprise data lake migration to Azure</a:t>
            </a:r>
          </a:p>
        </p:txBody>
      </p:sp>
      <p:sp>
        <p:nvSpPr>
          <p:cNvPr id="22" name="ws-1-init-2-chev"/>
          <p:cNvSpPr txBox="1"/>
          <p:nvPr/>
        </p:nvSpPr>
        <p:spPr>
          <a:xfrm>
            <a:off x="609600" y="41529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›</a:t>
            </a:r>
          </a:p>
        </p:txBody>
      </p:sp>
      <p:sp>
        <p:nvSpPr>
          <p:cNvPr id="23" name="ws-1-init-2"/>
          <p:cNvSpPr txBox="1"/>
          <p:nvPr/>
        </p:nvSpPr>
        <p:spPr>
          <a:xfrm>
            <a:off x="723900" y="415290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Self-serve BI rollout (Power BI)</a:t>
            </a:r>
          </a:p>
        </p:txBody>
      </p:sp>
      <p:sp>
        <p:nvSpPr>
          <p:cNvPr id="24" name="ws-1-init-3-chev"/>
          <p:cNvSpPr txBox="1"/>
          <p:nvPr/>
        </p:nvSpPr>
        <p:spPr>
          <a:xfrm>
            <a:off x="609600" y="45720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›</a:t>
            </a:r>
          </a:p>
        </p:txBody>
      </p:sp>
      <p:sp>
        <p:nvSpPr>
          <p:cNvPr id="25" name="ws-1-init-3"/>
          <p:cNvSpPr txBox="1"/>
          <p:nvPr/>
        </p:nvSpPr>
        <p:spPr>
          <a:xfrm>
            <a:off x="723900" y="457200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Data governance framework &amp; catalogue</a:t>
            </a:r>
          </a:p>
        </p:txBody>
      </p:sp>
      <p:sp>
        <p:nvSpPr>
          <p:cNvPr id="26" name="ws-1-rag-pill"/>
          <p:cNvSpPr/>
          <p:nvPr/>
        </p:nvSpPr>
        <p:spPr>
          <a:xfrm>
            <a:off x="609600" y="5372100"/>
            <a:ext cx="914400" cy="209550"/>
          </a:xfrm>
          <a:prstGeom prst="rect">
            <a:avLst/>
          </a:prstGeom>
          <a:solidFill>
            <a:srgbClr val="1F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ws-1-rag-dot"/>
          <p:cNvSpPr/>
          <p:nvPr/>
        </p:nvSpPr>
        <p:spPr>
          <a:xfrm>
            <a:off x="685800" y="5448300"/>
            <a:ext cx="57150" cy="571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ws-1-rag-label"/>
          <p:cNvSpPr txBox="1"/>
          <p:nvPr/>
        </p:nvSpPr>
        <p:spPr>
          <a:xfrm>
            <a:off x="781050" y="5372100"/>
            <a:ext cx="742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4ADE80"/>
                </a:solidFill>
                <a:latin typeface="Inter"/>
              </a:rPr>
              <a:t>ON TRACK</a:t>
            </a:r>
          </a:p>
        </p:txBody>
      </p:sp>
      <p:sp>
        <p:nvSpPr>
          <p:cNvPr id="29" name="ws-2-bg"/>
          <p:cNvSpPr/>
          <p:nvPr/>
        </p:nvSpPr>
        <p:spPr>
          <a:xfrm>
            <a:off x="3276600" y="2762250"/>
            <a:ext cx="2819400" cy="29527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ws-2-divider"/>
          <p:cNvSpPr/>
          <p:nvPr/>
        </p:nvSpPr>
        <p:spPr>
          <a:xfrm>
            <a:off x="3276600" y="2857500"/>
            <a:ext cx="9525" cy="27622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ws-2-name"/>
          <p:cNvSpPr txBox="1"/>
          <p:nvPr/>
        </p:nvSpPr>
        <p:spPr>
          <a:xfrm>
            <a:off x="3429000" y="2895600"/>
            <a:ext cx="2514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Cloud &amp; Infrastructure</a:t>
            </a:r>
          </a:p>
        </p:txBody>
      </p:sp>
      <p:sp>
        <p:nvSpPr>
          <p:cNvPr id="32" name="ws-2-initials-circle"/>
          <p:cNvSpPr/>
          <p:nvPr/>
        </p:nvSpPr>
        <p:spPr>
          <a:xfrm>
            <a:off x="3429000" y="3238500"/>
            <a:ext cx="247650" cy="2476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ws-2-initials"/>
          <p:cNvSpPr txBox="1"/>
          <p:nvPr/>
        </p:nvSpPr>
        <p:spPr>
          <a:xfrm>
            <a:off x="3429000" y="32385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</a:t>
            </a:r>
          </a:p>
        </p:txBody>
      </p:sp>
      <p:sp>
        <p:nvSpPr>
          <p:cNvPr id="34" name="ws-2-lead-label"/>
          <p:cNvSpPr txBox="1"/>
          <p:nvPr/>
        </p:nvSpPr>
        <p:spPr>
          <a:xfrm>
            <a:off x="3733800" y="3219450"/>
            <a:ext cx="2209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WORKSTREAM LEAD</a:t>
            </a:r>
          </a:p>
        </p:txBody>
      </p:sp>
      <p:sp>
        <p:nvSpPr>
          <p:cNvPr id="35" name="ws-2-lead-name"/>
          <p:cNvSpPr txBox="1"/>
          <p:nvPr/>
        </p:nvSpPr>
        <p:spPr>
          <a:xfrm>
            <a:off x="3733800" y="3333750"/>
            <a:ext cx="2209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Priya Rao</a:t>
            </a:r>
          </a:p>
        </p:txBody>
      </p:sp>
      <p:sp>
        <p:nvSpPr>
          <p:cNvPr id="36" name="ws-2-rule"/>
          <p:cNvSpPr/>
          <p:nvPr/>
        </p:nvSpPr>
        <p:spPr>
          <a:xfrm>
            <a:off x="3429000" y="3619500"/>
            <a:ext cx="2514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ws-2-init-1-chev"/>
          <p:cNvSpPr txBox="1"/>
          <p:nvPr/>
        </p:nvSpPr>
        <p:spPr>
          <a:xfrm>
            <a:off x="3429000" y="37338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›</a:t>
            </a:r>
          </a:p>
        </p:txBody>
      </p:sp>
      <p:sp>
        <p:nvSpPr>
          <p:cNvPr id="38" name="ws-2-init-1"/>
          <p:cNvSpPr txBox="1"/>
          <p:nvPr/>
        </p:nvSpPr>
        <p:spPr>
          <a:xfrm>
            <a:off x="3543300" y="373380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Lift-and-shift of 42 legacy workloads</a:t>
            </a:r>
          </a:p>
        </p:txBody>
      </p:sp>
      <p:sp>
        <p:nvSpPr>
          <p:cNvPr id="39" name="ws-2-init-2-chev"/>
          <p:cNvSpPr txBox="1"/>
          <p:nvPr/>
        </p:nvSpPr>
        <p:spPr>
          <a:xfrm>
            <a:off x="3429000" y="41529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›</a:t>
            </a:r>
          </a:p>
        </p:txBody>
      </p:sp>
      <p:sp>
        <p:nvSpPr>
          <p:cNvPr id="40" name="ws-2-init-2"/>
          <p:cNvSpPr txBox="1"/>
          <p:nvPr/>
        </p:nvSpPr>
        <p:spPr>
          <a:xfrm>
            <a:off x="3543300" y="415290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Landing zone &amp; network segmentation</a:t>
            </a:r>
          </a:p>
        </p:txBody>
      </p:sp>
      <p:sp>
        <p:nvSpPr>
          <p:cNvPr id="41" name="ws-2-init-3-chev"/>
          <p:cNvSpPr txBox="1"/>
          <p:nvPr/>
        </p:nvSpPr>
        <p:spPr>
          <a:xfrm>
            <a:off x="3429000" y="45720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›</a:t>
            </a:r>
          </a:p>
        </p:txBody>
      </p:sp>
      <p:sp>
        <p:nvSpPr>
          <p:cNvPr id="42" name="ws-2-init-3"/>
          <p:cNvSpPr txBox="1"/>
          <p:nvPr/>
        </p:nvSpPr>
        <p:spPr>
          <a:xfrm>
            <a:off x="3543300" y="457200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FinOps tagging &amp; cost optimisation</a:t>
            </a:r>
          </a:p>
        </p:txBody>
      </p:sp>
      <p:sp>
        <p:nvSpPr>
          <p:cNvPr id="43" name="ws-2-rag-pill"/>
          <p:cNvSpPr/>
          <p:nvPr/>
        </p:nvSpPr>
        <p:spPr>
          <a:xfrm>
            <a:off x="3429000" y="5372100"/>
            <a:ext cx="914400" cy="209550"/>
          </a:xfrm>
          <a:prstGeom prst="rect">
            <a:avLst/>
          </a:prstGeom>
          <a:solidFill>
            <a:srgbClr val="5C4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ws-2-rag-dot"/>
          <p:cNvSpPr/>
          <p:nvPr/>
        </p:nvSpPr>
        <p:spPr>
          <a:xfrm>
            <a:off x="3505200" y="5448300"/>
            <a:ext cx="57150" cy="5715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ws-2-rag-label"/>
          <p:cNvSpPr txBox="1"/>
          <p:nvPr/>
        </p:nvSpPr>
        <p:spPr>
          <a:xfrm>
            <a:off x="3600450" y="5372100"/>
            <a:ext cx="742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AT RISK</a:t>
            </a:r>
          </a:p>
        </p:txBody>
      </p:sp>
      <p:sp>
        <p:nvSpPr>
          <p:cNvPr id="46" name="ws-3-bg"/>
          <p:cNvSpPr/>
          <p:nvPr/>
        </p:nvSpPr>
        <p:spPr>
          <a:xfrm>
            <a:off x="6096000" y="2762250"/>
            <a:ext cx="2819400" cy="29527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ws-3-divider"/>
          <p:cNvSpPr/>
          <p:nvPr/>
        </p:nvSpPr>
        <p:spPr>
          <a:xfrm>
            <a:off x="6096000" y="2857500"/>
            <a:ext cx="9525" cy="27622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ws-3-name"/>
          <p:cNvSpPr txBox="1"/>
          <p:nvPr/>
        </p:nvSpPr>
        <p:spPr>
          <a:xfrm>
            <a:off x="6248400" y="2895600"/>
            <a:ext cx="2514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Process &amp; Automation</a:t>
            </a:r>
          </a:p>
        </p:txBody>
      </p:sp>
      <p:sp>
        <p:nvSpPr>
          <p:cNvPr id="49" name="ws-3-initials-circle"/>
          <p:cNvSpPr/>
          <p:nvPr/>
        </p:nvSpPr>
        <p:spPr>
          <a:xfrm>
            <a:off x="6248400" y="3238500"/>
            <a:ext cx="247650" cy="2476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ws-3-initials"/>
          <p:cNvSpPr txBox="1"/>
          <p:nvPr/>
        </p:nvSpPr>
        <p:spPr>
          <a:xfrm>
            <a:off x="6248400" y="32385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TL</a:t>
            </a:r>
          </a:p>
        </p:txBody>
      </p:sp>
      <p:sp>
        <p:nvSpPr>
          <p:cNvPr id="51" name="ws-3-lead-label"/>
          <p:cNvSpPr txBox="1"/>
          <p:nvPr/>
        </p:nvSpPr>
        <p:spPr>
          <a:xfrm>
            <a:off x="6553200" y="3219450"/>
            <a:ext cx="2209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WORKSTREAM LEAD</a:t>
            </a:r>
          </a:p>
        </p:txBody>
      </p:sp>
      <p:sp>
        <p:nvSpPr>
          <p:cNvPr id="52" name="ws-3-lead-name"/>
          <p:cNvSpPr txBox="1"/>
          <p:nvPr/>
        </p:nvSpPr>
        <p:spPr>
          <a:xfrm>
            <a:off x="6553200" y="3333750"/>
            <a:ext cx="2209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Tom Liang</a:t>
            </a:r>
          </a:p>
        </p:txBody>
      </p:sp>
      <p:sp>
        <p:nvSpPr>
          <p:cNvPr id="53" name="ws-3-rule"/>
          <p:cNvSpPr/>
          <p:nvPr/>
        </p:nvSpPr>
        <p:spPr>
          <a:xfrm>
            <a:off x="6248400" y="3619500"/>
            <a:ext cx="2514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ws-3-init-1-chev"/>
          <p:cNvSpPr txBox="1"/>
          <p:nvPr/>
        </p:nvSpPr>
        <p:spPr>
          <a:xfrm>
            <a:off x="6248400" y="37338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›</a:t>
            </a:r>
          </a:p>
        </p:txBody>
      </p:sp>
      <p:sp>
        <p:nvSpPr>
          <p:cNvPr id="55" name="ws-3-init-1"/>
          <p:cNvSpPr txBox="1"/>
          <p:nvPr/>
        </p:nvSpPr>
        <p:spPr>
          <a:xfrm>
            <a:off x="6362700" y="373380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Order-to-cash RPA deployment</a:t>
            </a:r>
          </a:p>
        </p:txBody>
      </p:sp>
      <p:sp>
        <p:nvSpPr>
          <p:cNvPr id="56" name="ws-3-init-2-chev"/>
          <p:cNvSpPr txBox="1"/>
          <p:nvPr/>
        </p:nvSpPr>
        <p:spPr>
          <a:xfrm>
            <a:off x="6248400" y="41529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›</a:t>
            </a:r>
          </a:p>
        </p:txBody>
      </p:sp>
      <p:sp>
        <p:nvSpPr>
          <p:cNvPr id="57" name="ws-3-init-2"/>
          <p:cNvSpPr txBox="1"/>
          <p:nvPr/>
        </p:nvSpPr>
        <p:spPr>
          <a:xfrm>
            <a:off x="6362700" y="415290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Process mining &amp; baseline mapping</a:t>
            </a:r>
          </a:p>
        </p:txBody>
      </p:sp>
      <p:sp>
        <p:nvSpPr>
          <p:cNvPr id="58" name="ws-3-init-3-chev"/>
          <p:cNvSpPr txBox="1"/>
          <p:nvPr/>
        </p:nvSpPr>
        <p:spPr>
          <a:xfrm>
            <a:off x="6248400" y="45720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›</a:t>
            </a:r>
          </a:p>
        </p:txBody>
      </p:sp>
      <p:sp>
        <p:nvSpPr>
          <p:cNvPr id="59" name="ws-3-init-3"/>
          <p:cNvSpPr txBox="1"/>
          <p:nvPr/>
        </p:nvSpPr>
        <p:spPr>
          <a:xfrm>
            <a:off x="6362700" y="457200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Intelligent document processing pilot</a:t>
            </a:r>
          </a:p>
        </p:txBody>
      </p:sp>
      <p:sp>
        <p:nvSpPr>
          <p:cNvPr id="60" name="ws-3-rag-pill"/>
          <p:cNvSpPr/>
          <p:nvPr/>
        </p:nvSpPr>
        <p:spPr>
          <a:xfrm>
            <a:off x="6248400" y="5372100"/>
            <a:ext cx="914400" cy="209550"/>
          </a:xfrm>
          <a:prstGeom prst="rect">
            <a:avLst/>
          </a:prstGeom>
          <a:solidFill>
            <a:srgbClr val="1F4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ws-3-rag-dot"/>
          <p:cNvSpPr/>
          <p:nvPr/>
        </p:nvSpPr>
        <p:spPr>
          <a:xfrm>
            <a:off x="6324600" y="5448300"/>
            <a:ext cx="57150" cy="571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ws-3-rag-label"/>
          <p:cNvSpPr txBox="1"/>
          <p:nvPr/>
        </p:nvSpPr>
        <p:spPr>
          <a:xfrm>
            <a:off x="6419850" y="5372100"/>
            <a:ext cx="742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4ADE80"/>
                </a:solidFill>
                <a:latin typeface="Inter"/>
              </a:rPr>
              <a:t>ON TRACK</a:t>
            </a:r>
          </a:p>
        </p:txBody>
      </p:sp>
      <p:sp>
        <p:nvSpPr>
          <p:cNvPr id="63" name="ws-4-bg"/>
          <p:cNvSpPr/>
          <p:nvPr/>
        </p:nvSpPr>
        <p:spPr>
          <a:xfrm>
            <a:off x="8915400" y="2762250"/>
            <a:ext cx="2819400" cy="29527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ws-4-divider"/>
          <p:cNvSpPr/>
          <p:nvPr/>
        </p:nvSpPr>
        <p:spPr>
          <a:xfrm>
            <a:off x="8915400" y="2857500"/>
            <a:ext cx="9525" cy="27622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ws-4-name"/>
          <p:cNvSpPr txBox="1"/>
          <p:nvPr/>
        </p:nvSpPr>
        <p:spPr>
          <a:xfrm>
            <a:off x="9067800" y="2895600"/>
            <a:ext cx="2514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Change &amp; Adoption</a:t>
            </a:r>
          </a:p>
        </p:txBody>
      </p:sp>
      <p:sp>
        <p:nvSpPr>
          <p:cNvPr id="66" name="ws-4-initials-circle"/>
          <p:cNvSpPr/>
          <p:nvPr/>
        </p:nvSpPr>
        <p:spPr>
          <a:xfrm>
            <a:off x="9067800" y="3238500"/>
            <a:ext cx="247650" cy="2476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ws-4-initials"/>
          <p:cNvSpPr txBox="1"/>
          <p:nvPr/>
        </p:nvSpPr>
        <p:spPr>
          <a:xfrm>
            <a:off x="9067800" y="32385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AB</a:t>
            </a:r>
          </a:p>
        </p:txBody>
      </p:sp>
      <p:sp>
        <p:nvSpPr>
          <p:cNvPr id="68" name="ws-4-lead-label"/>
          <p:cNvSpPr txBox="1"/>
          <p:nvPr/>
        </p:nvSpPr>
        <p:spPr>
          <a:xfrm>
            <a:off x="9372600" y="3219450"/>
            <a:ext cx="2209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WORKSTREAM LEAD</a:t>
            </a:r>
          </a:p>
        </p:txBody>
      </p:sp>
      <p:sp>
        <p:nvSpPr>
          <p:cNvPr id="69" name="ws-4-lead-name"/>
          <p:cNvSpPr txBox="1"/>
          <p:nvPr/>
        </p:nvSpPr>
        <p:spPr>
          <a:xfrm>
            <a:off x="9372600" y="3333750"/>
            <a:ext cx="2209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Amara Bello</a:t>
            </a:r>
          </a:p>
        </p:txBody>
      </p:sp>
      <p:sp>
        <p:nvSpPr>
          <p:cNvPr id="70" name="ws-4-rule"/>
          <p:cNvSpPr/>
          <p:nvPr/>
        </p:nvSpPr>
        <p:spPr>
          <a:xfrm>
            <a:off x="9067800" y="3619500"/>
            <a:ext cx="2514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ws-4-init-1-chev"/>
          <p:cNvSpPr txBox="1"/>
          <p:nvPr/>
        </p:nvSpPr>
        <p:spPr>
          <a:xfrm>
            <a:off x="9067800" y="37338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›</a:t>
            </a:r>
          </a:p>
        </p:txBody>
      </p:sp>
      <p:sp>
        <p:nvSpPr>
          <p:cNvPr id="72" name="ws-4-init-1"/>
          <p:cNvSpPr txBox="1"/>
          <p:nvPr/>
        </p:nvSpPr>
        <p:spPr>
          <a:xfrm>
            <a:off x="9182100" y="373380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Change impact &amp; stakeholder assessment</a:t>
            </a:r>
          </a:p>
        </p:txBody>
      </p:sp>
      <p:sp>
        <p:nvSpPr>
          <p:cNvPr id="73" name="ws-4-init-2-chev"/>
          <p:cNvSpPr txBox="1"/>
          <p:nvPr/>
        </p:nvSpPr>
        <p:spPr>
          <a:xfrm>
            <a:off x="9067800" y="41529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›</a:t>
            </a:r>
          </a:p>
        </p:txBody>
      </p:sp>
      <p:sp>
        <p:nvSpPr>
          <p:cNvPr id="74" name="ws-4-init-2"/>
          <p:cNvSpPr txBox="1"/>
          <p:nvPr/>
        </p:nvSpPr>
        <p:spPr>
          <a:xfrm>
            <a:off x="9182100" y="415290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Training needs analysis &amp; delivery</a:t>
            </a:r>
          </a:p>
        </p:txBody>
      </p:sp>
      <p:sp>
        <p:nvSpPr>
          <p:cNvPr id="75" name="ws-4-init-3-chev"/>
          <p:cNvSpPr txBox="1"/>
          <p:nvPr/>
        </p:nvSpPr>
        <p:spPr>
          <a:xfrm>
            <a:off x="9067800" y="4572000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›</a:t>
            </a:r>
          </a:p>
        </p:txBody>
      </p:sp>
      <p:sp>
        <p:nvSpPr>
          <p:cNvPr id="76" name="ws-4-init-3"/>
          <p:cNvSpPr txBox="1"/>
          <p:nvPr/>
        </p:nvSpPr>
        <p:spPr>
          <a:xfrm>
            <a:off x="9182100" y="457200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Comms plan &amp; adoption measurement</a:t>
            </a:r>
          </a:p>
        </p:txBody>
      </p:sp>
      <p:sp>
        <p:nvSpPr>
          <p:cNvPr id="77" name="ws-4-rag-pill"/>
          <p:cNvSpPr/>
          <p:nvPr/>
        </p:nvSpPr>
        <p:spPr>
          <a:xfrm>
            <a:off x="9067800" y="5372100"/>
            <a:ext cx="914400" cy="209550"/>
          </a:xfrm>
          <a:prstGeom prst="rect">
            <a:avLst/>
          </a:prstGeom>
          <a:solidFill>
            <a:srgbClr val="5C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ws-4-rag-dot"/>
          <p:cNvSpPr/>
          <p:nvPr/>
        </p:nvSpPr>
        <p:spPr>
          <a:xfrm>
            <a:off x="9144000" y="5448300"/>
            <a:ext cx="57150" cy="5715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ws-4-rag-label"/>
          <p:cNvSpPr txBox="1"/>
          <p:nvPr/>
        </p:nvSpPr>
        <p:spPr>
          <a:xfrm>
            <a:off x="9239250" y="5372100"/>
            <a:ext cx="742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CA5A5"/>
                </a:solidFill>
                <a:latin typeface="Inter"/>
              </a:rPr>
              <a:t>OFF TRACK</a:t>
            </a:r>
          </a:p>
        </p:txBody>
      </p:sp>
      <p:sp>
        <p:nvSpPr>
          <p:cNvPr id="80" name="governance-bg"/>
          <p:cNvSpPr/>
          <p:nvPr/>
        </p:nvSpPr>
        <p:spPr>
          <a:xfrm>
            <a:off x="457200" y="5829300"/>
            <a:ext cx="11277600" cy="3429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governance-label"/>
          <p:cNvSpPr txBox="1"/>
          <p:nvPr/>
        </p:nvSpPr>
        <p:spPr>
          <a:xfrm>
            <a:off x="609600" y="5829300"/>
            <a:ext cx="1524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GOVERNANCE CADENCE</a:t>
            </a:r>
          </a:p>
        </p:txBody>
      </p:sp>
      <p:sp>
        <p:nvSpPr>
          <p:cNvPr id="82" name="gov-divider"/>
          <p:cNvSpPr/>
          <p:nvPr/>
        </p:nvSpPr>
        <p:spPr>
          <a:xfrm>
            <a:off x="2133600" y="5924550"/>
            <a:ext cx="9525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gov-pill-1"/>
          <p:cNvSpPr/>
          <p:nvPr/>
        </p:nvSpPr>
        <p:spPr>
          <a:xfrm>
            <a:off x="2324100" y="5905500"/>
            <a:ext cx="1750695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gov-pill-1-freq"/>
          <p:cNvSpPr txBox="1"/>
          <p:nvPr/>
        </p:nvSpPr>
        <p:spPr>
          <a:xfrm>
            <a:off x="2381250" y="5905500"/>
            <a:ext cx="4381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WEEKLY</a:t>
            </a:r>
          </a:p>
        </p:txBody>
      </p:sp>
      <p:sp>
        <p:nvSpPr>
          <p:cNvPr id="85" name="gov-pill-1-name"/>
          <p:cNvSpPr txBox="1"/>
          <p:nvPr/>
        </p:nvSpPr>
        <p:spPr>
          <a:xfrm>
            <a:off x="2819400" y="5905500"/>
            <a:ext cx="125539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Workstream Leads Sync</a:t>
            </a:r>
          </a:p>
        </p:txBody>
      </p:sp>
      <p:sp>
        <p:nvSpPr>
          <p:cNvPr id="86" name="gov-pill-2"/>
          <p:cNvSpPr/>
          <p:nvPr/>
        </p:nvSpPr>
        <p:spPr>
          <a:xfrm>
            <a:off x="4150995" y="5905500"/>
            <a:ext cx="1971675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gov-pill-2-freq"/>
          <p:cNvSpPr txBox="1"/>
          <p:nvPr/>
        </p:nvSpPr>
        <p:spPr>
          <a:xfrm>
            <a:off x="4208145" y="5905500"/>
            <a:ext cx="4381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WEEKLY</a:t>
            </a:r>
          </a:p>
        </p:txBody>
      </p:sp>
      <p:sp>
        <p:nvSpPr>
          <p:cNvPr id="88" name="gov-pill-2-name"/>
          <p:cNvSpPr txBox="1"/>
          <p:nvPr/>
        </p:nvSpPr>
        <p:spPr>
          <a:xfrm>
            <a:off x="4646295" y="5905500"/>
            <a:ext cx="14763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Program Director Stand-up</a:t>
            </a:r>
          </a:p>
        </p:txBody>
      </p:sp>
      <p:sp>
        <p:nvSpPr>
          <p:cNvPr id="89" name="gov-pill-3"/>
          <p:cNvSpPr/>
          <p:nvPr/>
        </p:nvSpPr>
        <p:spPr>
          <a:xfrm>
            <a:off x="6198870" y="5905500"/>
            <a:ext cx="1756409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gov-pill-3-freq"/>
          <p:cNvSpPr txBox="1"/>
          <p:nvPr/>
        </p:nvSpPr>
        <p:spPr>
          <a:xfrm>
            <a:off x="6256020" y="5905500"/>
            <a:ext cx="609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BI-WEEKLY</a:t>
            </a:r>
          </a:p>
        </p:txBody>
      </p:sp>
      <p:sp>
        <p:nvSpPr>
          <p:cNvPr id="91" name="gov-pill-3-name"/>
          <p:cNvSpPr txBox="1"/>
          <p:nvPr/>
        </p:nvSpPr>
        <p:spPr>
          <a:xfrm>
            <a:off x="6865620" y="5905500"/>
            <a:ext cx="108966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Steering Committee</a:t>
            </a:r>
          </a:p>
        </p:txBody>
      </p:sp>
      <p:sp>
        <p:nvSpPr>
          <p:cNvPr id="92" name="gov-pill-4"/>
          <p:cNvSpPr/>
          <p:nvPr/>
        </p:nvSpPr>
        <p:spPr>
          <a:xfrm>
            <a:off x="8031479" y="5905500"/>
            <a:ext cx="1811655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gov-pill-4-freq"/>
          <p:cNvSpPr txBox="1"/>
          <p:nvPr/>
        </p:nvSpPr>
        <p:spPr>
          <a:xfrm>
            <a:off x="8088629" y="5905500"/>
            <a:ext cx="609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BI-WEEKLY</a:t>
            </a:r>
          </a:p>
        </p:txBody>
      </p:sp>
      <p:sp>
        <p:nvSpPr>
          <p:cNvPr id="94" name="gov-pill-4-name"/>
          <p:cNvSpPr txBox="1"/>
          <p:nvPr/>
        </p:nvSpPr>
        <p:spPr>
          <a:xfrm>
            <a:off x="8698230" y="5905500"/>
            <a:ext cx="114490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Risk &amp; Issue Review</a:t>
            </a:r>
          </a:p>
        </p:txBody>
      </p:sp>
      <p:sp>
        <p:nvSpPr>
          <p:cNvPr id="95" name="gov-pill-5"/>
          <p:cNvSpPr/>
          <p:nvPr/>
        </p:nvSpPr>
        <p:spPr>
          <a:xfrm>
            <a:off x="9919334" y="5905500"/>
            <a:ext cx="2084069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gov-pill-5-freq"/>
          <p:cNvSpPr txBox="1"/>
          <p:nvPr/>
        </p:nvSpPr>
        <p:spPr>
          <a:xfrm>
            <a:off x="9976484" y="5905500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MONTHLY</a:t>
            </a:r>
          </a:p>
        </p:txBody>
      </p:sp>
      <p:sp>
        <p:nvSpPr>
          <p:cNvPr id="97" name="gov-pill-5-name"/>
          <p:cNvSpPr txBox="1"/>
          <p:nvPr/>
        </p:nvSpPr>
        <p:spPr>
          <a:xfrm>
            <a:off x="10471784" y="5905500"/>
            <a:ext cx="153161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Executive Sponsor Briefing</a:t>
            </a:r>
          </a:p>
        </p:txBody>
      </p:sp>
      <p:sp>
        <p:nvSpPr>
          <p:cNvPr id="98" name="gov-pill-6"/>
          <p:cNvSpPr/>
          <p:nvPr/>
        </p:nvSpPr>
        <p:spPr>
          <a:xfrm>
            <a:off x="12079604" y="5905500"/>
            <a:ext cx="1476375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gov-pill-6-freq"/>
          <p:cNvSpPr txBox="1"/>
          <p:nvPr/>
        </p:nvSpPr>
        <p:spPr>
          <a:xfrm>
            <a:off x="12136754" y="5905500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MONTHLY</a:t>
            </a:r>
          </a:p>
        </p:txBody>
      </p:sp>
      <p:sp>
        <p:nvSpPr>
          <p:cNvPr id="100" name="gov-pill-6-name"/>
          <p:cNvSpPr txBox="1"/>
          <p:nvPr/>
        </p:nvSpPr>
        <p:spPr>
          <a:xfrm>
            <a:off x="12632054" y="5905500"/>
            <a:ext cx="923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Portfolio Board</a:t>
            </a:r>
          </a:p>
        </p:txBody>
      </p:sp>
      <p:sp>
        <p:nvSpPr>
          <p:cNvPr id="10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0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