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Three pillars driving </a:t>
            </a:r>
            <a:r>
              <a:rPr sz="1800" b="1" i="0">
                <a:solidFill>
                  <a:srgbClr val="C780FF"/>
                </a:solidFill>
                <a:latin typeface="Inter"/>
              </a:rPr>
              <a:t>sustainable growth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Strategic priorities for the next planning horizon — Q3 through Q4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629025" cy="4267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36290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adge"/>
          <p:cNvSpPr/>
          <p:nvPr/>
        </p:nvSpPr>
        <p:spPr>
          <a:xfrm>
            <a:off x="647700" y="2286000"/>
            <a:ext cx="3048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badge-text"/>
          <p:cNvSpPr txBox="1"/>
          <p:nvPr/>
        </p:nvSpPr>
        <p:spPr>
          <a:xfrm>
            <a:off x="647700" y="2286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card-1-title"/>
          <p:cNvSpPr txBox="1"/>
          <p:nvPr/>
        </p:nvSpPr>
        <p:spPr>
          <a:xfrm>
            <a:off x="647700" y="27051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Accelerate Core Modernisation</a:t>
            </a:r>
          </a:p>
        </p:txBody>
      </p:sp>
      <p:sp>
        <p:nvSpPr>
          <p:cNvPr id="10" name="card-1-bullet-1"/>
          <p:cNvSpPr txBox="1"/>
          <p:nvPr/>
        </p:nvSpPr>
        <p:spPr>
          <a:xfrm>
            <a:off x="647700" y="32385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Migrate legacy platforms to cloud-native architecture</a:t>
            </a:r>
          </a:p>
        </p:txBody>
      </p:sp>
      <p:sp>
        <p:nvSpPr>
          <p:cNvPr id="11" name="card-1-bullet-2"/>
          <p:cNvSpPr txBox="1"/>
          <p:nvPr/>
        </p:nvSpPr>
        <p:spPr>
          <a:xfrm>
            <a:off x="647700" y="36385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Retire technical debt across three critical systems</a:t>
            </a:r>
          </a:p>
        </p:txBody>
      </p:sp>
      <p:sp>
        <p:nvSpPr>
          <p:cNvPr id="12" name="card-1-bullet-3"/>
          <p:cNvSpPr txBox="1"/>
          <p:nvPr/>
        </p:nvSpPr>
        <p:spPr>
          <a:xfrm>
            <a:off x="647700" y="40386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Standardise APIs for interoperability at scale</a:t>
            </a:r>
          </a:p>
        </p:txBody>
      </p:sp>
      <p:sp>
        <p:nvSpPr>
          <p:cNvPr id="13" name="card-1-bullet-4"/>
          <p:cNvSpPr txBox="1"/>
          <p:nvPr/>
        </p:nvSpPr>
        <p:spPr>
          <a:xfrm>
            <a:off x="647700" y="44386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Deliver zero-downtime cutover for flagship product</a:t>
            </a:r>
          </a:p>
        </p:txBody>
      </p:sp>
      <p:sp>
        <p:nvSpPr>
          <p:cNvPr id="14" name="card-1-stat-bg"/>
          <p:cNvSpPr/>
          <p:nvPr/>
        </p:nvSpPr>
        <p:spPr>
          <a:xfrm>
            <a:off x="457200" y="5753100"/>
            <a:ext cx="3629025" cy="60960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1-stat-value"/>
          <p:cNvSpPr txBox="1"/>
          <p:nvPr/>
        </p:nvSpPr>
        <p:spPr>
          <a:xfrm>
            <a:off x="647700" y="5848350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$42M</a:t>
            </a:r>
          </a:p>
        </p:txBody>
      </p:sp>
      <p:sp>
        <p:nvSpPr>
          <p:cNvPr id="16" name="card-1-stat-label"/>
          <p:cNvSpPr txBox="1"/>
          <p:nvPr/>
        </p:nvSpPr>
        <p:spPr>
          <a:xfrm>
            <a:off x="647700" y="6134100"/>
            <a:ext cx="3248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Annualised cost saving target</a:t>
            </a:r>
          </a:p>
        </p:txBody>
      </p:sp>
      <p:sp>
        <p:nvSpPr>
          <p:cNvPr id="17" name="card-2-bg"/>
          <p:cNvSpPr/>
          <p:nvPr/>
        </p:nvSpPr>
        <p:spPr>
          <a:xfrm>
            <a:off x="4276725" y="2095500"/>
            <a:ext cx="3629025" cy="4267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2-accent"/>
          <p:cNvSpPr/>
          <p:nvPr/>
        </p:nvSpPr>
        <p:spPr>
          <a:xfrm>
            <a:off x="4276725" y="2095500"/>
            <a:ext cx="3629025" cy="28575"/>
          </a:xfrm>
          <a:prstGeom prst="rect">
            <a:avLst/>
          </a:prstGeom>
          <a:solidFill>
            <a:srgbClr val="77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2-badge"/>
          <p:cNvSpPr/>
          <p:nvPr/>
        </p:nvSpPr>
        <p:spPr>
          <a:xfrm>
            <a:off x="4467225" y="2286000"/>
            <a:ext cx="3048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2-badge-text"/>
          <p:cNvSpPr txBox="1"/>
          <p:nvPr/>
        </p:nvSpPr>
        <p:spPr>
          <a:xfrm>
            <a:off x="4467225" y="2286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1" name="card-2-title"/>
          <p:cNvSpPr txBox="1"/>
          <p:nvPr/>
        </p:nvSpPr>
        <p:spPr>
          <a:xfrm>
            <a:off x="4467225" y="27051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 AI-Enabled Operations</a:t>
            </a:r>
          </a:p>
        </p:txBody>
      </p:sp>
      <p:sp>
        <p:nvSpPr>
          <p:cNvPr id="22" name="card-2-bullet-1"/>
          <p:cNvSpPr txBox="1"/>
          <p:nvPr/>
        </p:nvSpPr>
        <p:spPr>
          <a:xfrm>
            <a:off x="4467225" y="32385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Deploy intelligent automation across finance and ops</a:t>
            </a:r>
          </a:p>
        </p:txBody>
      </p:sp>
      <p:sp>
        <p:nvSpPr>
          <p:cNvPr id="23" name="card-2-bullet-2"/>
          <p:cNvSpPr txBox="1"/>
          <p:nvPr/>
        </p:nvSpPr>
        <p:spPr>
          <a:xfrm>
            <a:off x="4467225" y="36385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Embed GenAI copilots in front-office workflows</a:t>
            </a:r>
          </a:p>
        </p:txBody>
      </p:sp>
      <p:sp>
        <p:nvSpPr>
          <p:cNvPr id="24" name="card-2-bullet-3"/>
          <p:cNvSpPr txBox="1"/>
          <p:nvPr/>
        </p:nvSpPr>
        <p:spPr>
          <a:xfrm>
            <a:off x="4467225" y="40386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Build data foundation to support model governance</a:t>
            </a:r>
          </a:p>
        </p:txBody>
      </p:sp>
      <p:sp>
        <p:nvSpPr>
          <p:cNvPr id="25" name="card-2-bullet-4"/>
          <p:cNvSpPr txBox="1"/>
          <p:nvPr/>
        </p:nvSpPr>
        <p:spPr>
          <a:xfrm>
            <a:off x="4467225" y="44386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Upskill 2,400 employees through AI fluency programme</a:t>
            </a:r>
          </a:p>
        </p:txBody>
      </p:sp>
      <p:sp>
        <p:nvSpPr>
          <p:cNvPr id="26" name="card-2-stat-bg"/>
          <p:cNvSpPr/>
          <p:nvPr/>
        </p:nvSpPr>
        <p:spPr>
          <a:xfrm>
            <a:off x="4276725" y="5753100"/>
            <a:ext cx="3629025" cy="60960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2-stat-value"/>
          <p:cNvSpPr txBox="1"/>
          <p:nvPr/>
        </p:nvSpPr>
        <p:spPr>
          <a:xfrm>
            <a:off x="4467225" y="5848350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35%</a:t>
            </a:r>
          </a:p>
        </p:txBody>
      </p:sp>
      <p:sp>
        <p:nvSpPr>
          <p:cNvPr id="28" name="card-2-stat-label"/>
          <p:cNvSpPr txBox="1"/>
          <p:nvPr/>
        </p:nvSpPr>
        <p:spPr>
          <a:xfrm>
            <a:off x="4467225" y="6134100"/>
            <a:ext cx="3248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Productivity lift by end of FY26</a:t>
            </a:r>
          </a:p>
        </p:txBody>
      </p:sp>
      <p:sp>
        <p:nvSpPr>
          <p:cNvPr id="29" name="card-3-bg"/>
          <p:cNvSpPr/>
          <p:nvPr/>
        </p:nvSpPr>
        <p:spPr>
          <a:xfrm>
            <a:off x="8096250" y="2095500"/>
            <a:ext cx="3629025" cy="4267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3-accent"/>
          <p:cNvSpPr/>
          <p:nvPr/>
        </p:nvSpPr>
        <p:spPr>
          <a:xfrm>
            <a:off x="8096250" y="2095500"/>
            <a:ext cx="36290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3-badge"/>
          <p:cNvSpPr/>
          <p:nvPr/>
        </p:nvSpPr>
        <p:spPr>
          <a:xfrm>
            <a:off x="8286750" y="2286000"/>
            <a:ext cx="3048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3-badge-text"/>
          <p:cNvSpPr txBox="1"/>
          <p:nvPr/>
        </p:nvSpPr>
        <p:spPr>
          <a:xfrm>
            <a:off x="8286750" y="2286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3" name="card-3-title"/>
          <p:cNvSpPr txBox="1"/>
          <p:nvPr/>
        </p:nvSpPr>
        <p:spPr>
          <a:xfrm>
            <a:off x="8286750" y="27051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Strengthen Client Value Delivery</a:t>
            </a:r>
          </a:p>
        </p:txBody>
      </p:sp>
      <p:sp>
        <p:nvSpPr>
          <p:cNvPr id="34" name="card-3-bullet-1"/>
          <p:cNvSpPr txBox="1"/>
          <p:nvPr/>
        </p:nvSpPr>
        <p:spPr>
          <a:xfrm>
            <a:off x="8286750" y="32385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Redesign delivery model around outcome-based pricing</a:t>
            </a:r>
          </a:p>
        </p:txBody>
      </p:sp>
      <p:sp>
        <p:nvSpPr>
          <p:cNvPr id="35" name="card-3-bullet-2"/>
          <p:cNvSpPr txBox="1"/>
          <p:nvPr/>
        </p:nvSpPr>
        <p:spPr>
          <a:xfrm>
            <a:off x="8286750" y="36385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Launch integrated CX measurement across all accounts</a:t>
            </a:r>
          </a:p>
        </p:txBody>
      </p:sp>
      <p:sp>
        <p:nvSpPr>
          <p:cNvPr id="36" name="card-3-bullet-3"/>
          <p:cNvSpPr txBox="1"/>
          <p:nvPr/>
        </p:nvSpPr>
        <p:spPr>
          <a:xfrm>
            <a:off x="8286750" y="403860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Reduce time-to-value from 18 months to under 9</a:t>
            </a:r>
          </a:p>
        </p:txBody>
      </p:sp>
      <p:sp>
        <p:nvSpPr>
          <p:cNvPr id="37" name="card-3-bullet-4"/>
          <p:cNvSpPr txBox="1"/>
          <p:nvPr/>
        </p:nvSpPr>
        <p:spPr>
          <a:xfrm>
            <a:off x="8286750" y="4438650"/>
            <a:ext cx="32480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Activate strategic alliance ecosystem for co-delivery</a:t>
            </a:r>
          </a:p>
        </p:txBody>
      </p:sp>
      <p:sp>
        <p:nvSpPr>
          <p:cNvPr id="38" name="card-3-stat-bg"/>
          <p:cNvSpPr/>
          <p:nvPr/>
        </p:nvSpPr>
        <p:spPr>
          <a:xfrm>
            <a:off x="8096250" y="5753100"/>
            <a:ext cx="3629025" cy="60960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3-stat-value"/>
          <p:cNvSpPr txBox="1"/>
          <p:nvPr/>
        </p:nvSpPr>
        <p:spPr>
          <a:xfrm>
            <a:off x="8286750" y="5848350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+18 pts</a:t>
            </a:r>
          </a:p>
        </p:txBody>
      </p:sp>
      <p:sp>
        <p:nvSpPr>
          <p:cNvPr id="40" name="card-3-stat-label"/>
          <p:cNvSpPr txBox="1"/>
          <p:nvPr/>
        </p:nvSpPr>
        <p:spPr>
          <a:xfrm>
            <a:off x="8286750" y="6134100"/>
            <a:ext cx="3248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NPS improvement target vs. baseline</a:t>
            </a:r>
          </a:p>
        </p:txBody>
      </p:sp>
      <p:sp>
        <p:nvSpPr>
          <p:cNvPr id="4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