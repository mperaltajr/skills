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Enterprise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Service Catalogue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Consolidated view of active services, ownership, and operational status across all delivery domains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col-1-header"/>
          <p:cNvSpPr txBox="1"/>
          <p:nvPr/>
        </p:nvSpPr>
        <p:spPr>
          <a:xfrm>
            <a:off x="571500" y="20955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SERVICE NAME</a:t>
            </a:r>
          </a:p>
        </p:txBody>
      </p:sp>
      <p:sp>
        <p:nvSpPr>
          <p:cNvPr id="6" name="table-col-2-header"/>
          <p:cNvSpPr txBox="1"/>
          <p:nvPr/>
        </p:nvSpPr>
        <p:spPr>
          <a:xfrm>
            <a:off x="3048000" y="2095500"/>
            <a:ext cx="52959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DESCRIPTION</a:t>
            </a:r>
          </a:p>
        </p:txBody>
      </p:sp>
      <p:sp>
        <p:nvSpPr>
          <p:cNvPr id="7" name="table-col-3-header"/>
          <p:cNvSpPr txBox="1"/>
          <p:nvPr/>
        </p:nvSpPr>
        <p:spPr>
          <a:xfrm>
            <a:off x="8458200" y="2095500"/>
            <a:ext cx="3276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OWNER / SLA STATUS</a:t>
            </a:r>
          </a:p>
        </p:txBody>
      </p:sp>
      <p:sp>
        <p:nvSpPr>
          <p:cNvPr id="8" name="table-header-rule"/>
          <p:cNvSpPr/>
          <p:nvPr/>
        </p:nvSpPr>
        <p:spPr>
          <a:xfrm>
            <a:off x="457200" y="2324100"/>
            <a:ext cx="11277600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t-1-bg"/>
          <p:cNvSpPr/>
          <p:nvPr/>
        </p:nvSpPr>
        <p:spPr>
          <a:xfrm>
            <a:off x="457200" y="2362200"/>
            <a:ext cx="112776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at-1-header"/>
          <p:cNvSpPr txBox="1"/>
          <p:nvPr/>
        </p:nvSpPr>
        <p:spPr>
          <a:xfrm>
            <a:off x="571500" y="236220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INFRASTRUCTURE &amp; PLATFORM SERVICES</a:t>
            </a:r>
          </a:p>
        </p:txBody>
      </p:sp>
      <p:sp>
        <p:nvSpPr>
          <p:cNvPr id="11" name="svc-1-name"/>
          <p:cNvSpPr txBox="1"/>
          <p:nvPr/>
        </p:nvSpPr>
        <p:spPr>
          <a:xfrm>
            <a:off x="571500" y="26098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Provisioning</a:t>
            </a:r>
          </a:p>
        </p:txBody>
      </p:sp>
      <p:sp>
        <p:nvSpPr>
          <p:cNvPr id="12" name="svc-1-desc"/>
          <p:cNvSpPr txBox="1"/>
          <p:nvPr/>
        </p:nvSpPr>
        <p:spPr>
          <a:xfrm>
            <a:off x="3048000" y="260985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Automated VM and container provisioning across Azure and AWS environments</a:t>
            </a:r>
          </a:p>
        </p:txBody>
      </p:sp>
      <p:sp>
        <p:nvSpPr>
          <p:cNvPr id="13" name="svc-1-owner"/>
          <p:cNvSpPr txBox="1"/>
          <p:nvPr/>
        </p:nvSpPr>
        <p:spPr>
          <a:xfrm>
            <a:off x="8458200" y="26098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R. Santos</a:t>
            </a:r>
          </a:p>
        </p:txBody>
      </p:sp>
      <p:sp>
        <p:nvSpPr>
          <p:cNvPr id="14" name="svc-1-status-pill-bg"/>
          <p:cNvSpPr/>
          <p:nvPr/>
        </p:nvSpPr>
        <p:spPr>
          <a:xfrm>
            <a:off x="9315450" y="267652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vc-1-status-pill"/>
          <p:cNvSpPr txBox="1"/>
          <p:nvPr/>
        </p:nvSpPr>
        <p:spPr>
          <a:xfrm>
            <a:off x="9315450" y="26765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16" name="svc-1-rule"/>
          <p:cNvSpPr/>
          <p:nvPr/>
        </p:nvSpPr>
        <p:spPr>
          <a:xfrm>
            <a:off x="457200" y="29241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vc-2-row-bg"/>
          <p:cNvSpPr/>
          <p:nvPr/>
        </p:nvSpPr>
        <p:spPr>
          <a:xfrm>
            <a:off x="457200" y="2933700"/>
            <a:ext cx="112776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vc-2-name"/>
          <p:cNvSpPr txBox="1"/>
          <p:nvPr/>
        </p:nvSpPr>
        <p:spPr>
          <a:xfrm>
            <a:off x="571500" y="297180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Network Operations</a:t>
            </a:r>
          </a:p>
        </p:txBody>
      </p:sp>
      <p:sp>
        <p:nvSpPr>
          <p:cNvPr id="19" name="svc-2-desc"/>
          <p:cNvSpPr txBox="1"/>
          <p:nvPr/>
        </p:nvSpPr>
        <p:spPr>
          <a:xfrm>
            <a:off x="3048000" y="297180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End-to-end network configuration, monitoring and incident management for all regions</a:t>
            </a:r>
          </a:p>
        </p:txBody>
      </p:sp>
      <p:sp>
        <p:nvSpPr>
          <p:cNvPr id="20" name="svc-2-owner"/>
          <p:cNvSpPr txBox="1"/>
          <p:nvPr/>
        </p:nvSpPr>
        <p:spPr>
          <a:xfrm>
            <a:off x="8458200" y="29718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T. Okonkwo</a:t>
            </a:r>
          </a:p>
        </p:txBody>
      </p:sp>
      <p:sp>
        <p:nvSpPr>
          <p:cNvPr id="21" name="svc-2-status-pill-bg"/>
          <p:cNvSpPr/>
          <p:nvPr/>
        </p:nvSpPr>
        <p:spPr>
          <a:xfrm>
            <a:off x="9315450" y="303847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vc-2-status-pill"/>
          <p:cNvSpPr txBox="1"/>
          <p:nvPr/>
        </p:nvSpPr>
        <p:spPr>
          <a:xfrm>
            <a:off x="9315450" y="30384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23" name="svc-2-rule"/>
          <p:cNvSpPr/>
          <p:nvPr/>
        </p:nvSpPr>
        <p:spPr>
          <a:xfrm>
            <a:off x="457200" y="32861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svc-3-name"/>
          <p:cNvSpPr txBox="1"/>
          <p:nvPr/>
        </p:nvSpPr>
        <p:spPr>
          <a:xfrm>
            <a:off x="571500" y="33337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Identity &amp; Access Mgmt</a:t>
            </a:r>
          </a:p>
        </p:txBody>
      </p:sp>
      <p:sp>
        <p:nvSpPr>
          <p:cNvPr id="25" name="svc-3-desc"/>
          <p:cNvSpPr txBox="1"/>
          <p:nvPr/>
        </p:nvSpPr>
        <p:spPr>
          <a:xfrm>
            <a:off x="3048000" y="333375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SSO, MFA, and role-based access control for enterprise applications and data assets</a:t>
            </a:r>
          </a:p>
        </p:txBody>
      </p:sp>
      <p:sp>
        <p:nvSpPr>
          <p:cNvPr id="26" name="svc-3-owner"/>
          <p:cNvSpPr txBox="1"/>
          <p:nvPr/>
        </p:nvSpPr>
        <p:spPr>
          <a:xfrm>
            <a:off x="8458200" y="33337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A. Mehra</a:t>
            </a:r>
          </a:p>
        </p:txBody>
      </p:sp>
      <p:sp>
        <p:nvSpPr>
          <p:cNvPr id="27" name="svc-3-status-pill-bg"/>
          <p:cNvSpPr/>
          <p:nvPr/>
        </p:nvSpPr>
        <p:spPr>
          <a:xfrm>
            <a:off x="9315450" y="3400425"/>
            <a:ext cx="762000" cy="1524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vc-3-status-pill"/>
          <p:cNvSpPr txBox="1"/>
          <p:nvPr/>
        </p:nvSpPr>
        <p:spPr>
          <a:xfrm>
            <a:off x="9315450" y="34004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Review</a:t>
            </a:r>
          </a:p>
        </p:txBody>
      </p:sp>
      <p:sp>
        <p:nvSpPr>
          <p:cNvPr id="29" name="svc-3-rule"/>
          <p:cNvSpPr/>
          <p:nvPr/>
        </p:nvSpPr>
        <p:spPr>
          <a:xfrm>
            <a:off x="457200" y="36480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svc-4-row-bg"/>
          <p:cNvSpPr/>
          <p:nvPr/>
        </p:nvSpPr>
        <p:spPr>
          <a:xfrm>
            <a:off x="457200" y="3657600"/>
            <a:ext cx="112776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vc-4-name"/>
          <p:cNvSpPr txBox="1"/>
          <p:nvPr/>
        </p:nvSpPr>
        <p:spPr>
          <a:xfrm>
            <a:off x="571500" y="369570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Storage &amp; Backup</a:t>
            </a:r>
          </a:p>
        </p:txBody>
      </p:sp>
      <p:sp>
        <p:nvSpPr>
          <p:cNvPr id="32" name="svc-4-desc"/>
          <p:cNvSpPr txBox="1"/>
          <p:nvPr/>
        </p:nvSpPr>
        <p:spPr>
          <a:xfrm>
            <a:off x="3048000" y="369570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Tiered object and block storage with automated daily backup and retention policies</a:t>
            </a:r>
          </a:p>
        </p:txBody>
      </p:sp>
      <p:sp>
        <p:nvSpPr>
          <p:cNvPr id="33" name="svc-4-owner"/>
          <p:cNvSpPr txBox="1"/>
          <p:nvPr/>
        </p:nvSpPr>
        <p:spPr>
          <a:xfrm>
            <a:off x="8458200" y="36957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L. Ferreira</a:t>
            </a:r>
          </a:p>
        </p:txBody>
      </p:sp>
      <p:sp>
        <p:nvSpPr>
          <p:cNvPr id="34" name="svc-4-status-pill-bg"/>
          <p:cNvSpPr/>
          <p:nvPr/>
        </p:nvSpPr>
        <p:spPr>
          <a:xfrm>
            <a:off x="9315450" y="3762375"/>
            <a:ext cx="762000" cy="15240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vc-4-status-pill"/>
          <p:cNvSpPr txBox="1"/>
          <p:nvPr/>
        </p:nvSpPr>
        <p:spPr>
          <a:xfrm>
            <a:off x="9315450" y="37623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Deprecated</a:t>
            </a:r>
          </a:p>
        </p:txBody>
      </p:sp>
      <p:sp>
        <p:nvSpPr>
          <p:cNvPr id="36" name="svc-4-rule"/>
          <p:cNvSpPr/>
          <p:nvPr/>
        </p:nvSpPr>
        <p:spPr>
          <a:xfrm>
            <a:off x="457200" y="40100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t-2-bg"/>
          <p:cNvSpPr/>
          <p:nvPr/>
        </p:nvSpPr>
        <p:spPr>
          <a:xfrm>
            <a:off x="457200" y="4019550"/>
            <a:ext cx="112776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t-2-header"/>
          <p:cNvSpPr txBox="1"/>
          <p:nvPr/>
        </p:nvSpPr>
        <p:spPr>
          <a:xfrm>
            <a:off x="571500" y="401955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APPLICATION &amp; DATA SERVICES</a:t>
            </a:r>
          </a:p>
        </p:txBody>
      </p:sp>
      <p:sp>
        <p:nvSpPr>
          <p:cNvPr id="39" name="svc-5-name"/>
          <p:cNvSpPr txBox="1"/>
          <p:nvPr/>
        </p:nvSpPr>
        <p:spPr>
          <a:xfrm>
            <a:off x="571500" y="426720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 Gateway</a:t>
            </a:r>
          </a:p>
        </p:txBody>
      </p:sp>
      <p:sp>
        <p:nvSpPr>
          <p:cNvPr id="40" name="svc-5-desc"/>
          <p:cNvSpPr txBox="1"/>
          <p:nvPr/>
        </p:nvSpPr>
        <p:spPr>
          <a:xfrm>
            <a:off x="3048000" y="426720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Centralised API management, rate limiting, and analytics for internal and external consumers</a:t>
            </a:r>
          </a:p>
        </p:txBody>
      </p:sp>
      <p:sp>
        <p:nvSpPr>
          <p:cNvPr id="41" name="svc-5-owner"/>
          <p:cNvSpPr txBox="1"/>
          <p:nvPr/>
        </p:nvSpPr>
        <p:spPr>
          <a:xfrm>
            <a:off x="8458200" y="42672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P. Nguyen</a:t>
            </a:r>
          </a:p>
        </p:txBody>
      </p:sp>
      <p:sp>
        <p:nvSpPr>
          <p:cNvPr id="42" name="svc-5-status-pill-bg"/>
          <p:cNvSpPr/>
          <p:nvPr/>
        </p:nvSpPr>
        <p:spPr>
          <a:xfrm>
            <a:off x="9315450" y="433387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svc-5-status-pill"/>
          <p:cNvSpPr txBox="1"/>
          <p:nvPr/>
        </p:nvSpPr>
        <p:spPr>
          <a:xfrm>
            <a:off x="9315450" y="43338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44" name="svc-5-rule"/>
          <p:cNvSpPr/>
          <p:nvPr/>
        </p:nvSpPr>
        <p:spPr>
          <a:xfrm>
            <a:off x="457200" y="45815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svc-6-row-bg"/>
          <p:cNvSpPr/>
          <p:nvPr/>
        </p:nvSpPr>
        <p:spPr>
          <a:xfrm>
            <a:off x="457200" y="4591050"/>
            <a:ext cx="112776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svc-6-name"/>
          <p:cNvSpPr txBox="1"/>
          <p:nvPr/>
        </p:nvSpPr>
        <p:spPr>
          <a:xfrm>
            <a:off x="571500" y="46291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Warehouse</a:t>
            </a:r>
          </a:p>
        </p:txBody>
      </p:sp>
      <p:sp>
        <p:nvSpPr>
          <p:cNvPr id="47" name="svc-6-desc"/>
          <p:cNvSpPr txBox="1"/>
          <p:nvPr/>
        </p:nvSpPr>
        <p:spPr>
          <a:xfrm>
            <a:off x="3048000" y="462915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Governed enterprise data lake and warehouse with self-service BI connectivity</a:t>
            </a:r>
          </a:p>
        </p:txBody>
      </p:sp>
      <p:sp>
        <p:nvSpPr>
          <p:cNvPr id="48" name="svc-6-owner"/>
          <p:cNvSpPr txBox="1"/>
          <p:nvPr/>
        </p:nvSpPr>
        <p:spPr>
          <a:xfrm>
            <a:off x="8458200" y="46291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C. Balogun</a:t>
            </a:r>
          </a:p>
        </p:txBody>
      </p:sp>
      <p:sp>
        <p:nvSpPr>
          <p:cNvPr id="49" name="svc-6-status-pill-bg"/>
          <p:cNvSpPr/>
          <p:nvPr/>
        </p:nvSpPr>
        <p:spPr>
          <a:xfrm>
            <a:off x="9315450" y="469582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vc-6-status-pill"/>
          <p:cNvSpPr txBox="1"/>
          <p:nvPr/>
        </p:nvSpPr>
        <p:spPr>
          <a:xfrm>
            <a:off x="9315450" y="46958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51" name="svc-6-rule"/>
          <p:cNvSpPr/>
          <p:nvPr/>
        </p:nvSpPr>
        <p:spPr>
          <a:xfrm>
            <a:off x="457200" y="49434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vc-7-name"/>
          <p:cNvSpPr txBox="1"/>
          <p:nvPr/>
        </p:nvSpPr>
        <p:spPr>
          <a:xfrm>
            <a:off x="571500" y="499110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CI/CD Pipeline</a:t>
            </a:r>
          </a:p>
        </p:txBody>
      </p:sp>
      <p:sp>
        <p:nvSpPr>
          <p:cNvPr id="53" name="svc-7-desc"/>
          <p:cNvSpPr txBox="1"/>
          <p:nvPr/>
        </p:nvSpPr>
        <p:spPr>
          <a:xfrm>
            <a:off x="3048000" y="499110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Automated build, test, and deployment pipeline supporting microservices and monoliths</a:t>
            </a:r>
          </a:p>
        </p:txBody>
      </p:sp>
      <p:sp>
        <p:nvSpPr>
          <p:cNvPr id="54" name="svc-7-owner"/>
          <p:cNvSpPr txBox="1"/>
          <p:nvPr/>
        </p:nvSpPr>
        <p:spPr>
          <a:xfrm>
            <a:off x="8458200" y="49911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S. Johansson</a:t>
            </a:r>
          </a:p>
        </p:txBody>
      </p:sp>
      <p:sp>
        <p:nvSpPr>
          <p:cNvPr id="55" name="svc-7-status-pill-bg"/>
          <p:cNvSpPr/>
          <p:nvPr/>
        </p:nvSpPr>
        <p:spPr>
          <a:xfrm>
            <a:off x="9315450" y="5057775"/>
            <a:ext cx="762000" cy="1524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vc-7-status-pill"/>
          <p:cNvSpPr txBox="1"/>
          <p:nvPr/>
        </p:nvSpPr>
        <p:spPr>
          <a:xfrm>
            <a:off x="9315450" y="50577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Review</a:t>
            </a:r>
          </a:p>
        </p:txBody>
      </p:sp>
      <p:sp>
        <p:nvSpPr>
          <p:cNvPr id="57" name="svc-7-rule"/>
          <p:cNvSpPr/>
          <p:nvPr/>
        </p:nvSpPr>
        <p:spPr>
          <a:xfrm>
            <a:off x="457200" y="53054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vc-8-row-bg"/>
          <p:cNvSpPr/>
          <p:nvPr/>
        </p:nvSpPr>
        <p:spPr>
          <a:xfrm>
            <a:off x="457200" y="5314950"/>
            <a:ext cx="112776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vc-8-name"/>
          <p:cNvSpPr txBox="1"/>
          <p:nvPr/>
        </p:nvSpPr>
        <p:spPr>
          <a:xfrm>
            <a:off x="571500" y="53530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Observability Platform</a:t>
            </a:r>
          </a:p>
        </p:txBody>
      </p:sp>
      <p:sp>
        <p:nvSpPr>
          <p:cNvPr id="60" name="svc-8-desc"/>
          <p:cNvSpPr txBox="1"/>
          <p:nvPr/>
        </p:nvSpPr>
        <p:spPr>
          <a:xfrm>
            <a:off x="3048000" y="535305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Unified logging, tracing, and alerting stack across all production workloads</a:t>
            </a:r>
          </a:p>
        </p:txBody>
      </p:sp>
      <p:sp>
        <p:nvSpPr>
          <p:cNvPr id="61" name="svc-8-owner"/>
          <p:cNvSpPr txBox="1"/>
          <p:nvPr/>
        </p:nvSpPr>
        <p:spPr>
          <a:xfrm>
            <a:off x="8458200" y="53530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M. Al-Rashid</a:t>
            </a:r>
          </a:p>
        </p:txBody>
      </p:sp>
      <p:sp>
        <p:nvSpPr>
          <p:cNvPr id="62" name="svc-8-status-pill-bg"/>
          <p:cNvSpPr/>
          <p:nvPr/>
        </p:nvSpPr>
        <p:spPr>
          <a:xfrm>
            <a:off x="9315450" y="541972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vc-8-status-pill"/>
          <p:cNvSpPr txBox="1"/>
          <p:nvPr/>
        </p:nvSpPr>
        <p:spPr>
          <a:xfrm>
            <a:off x="9315450" y="54197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6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