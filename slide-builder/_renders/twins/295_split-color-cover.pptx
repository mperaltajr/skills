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-left-bg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deco-circle"/>
          <p:cNvSpPr/>
          <p:nvPr/>
        </p:nvSpPr>
        <p:spPr>
          <a:xfrm>
            <a:off x="6838950" y="1428750"/>
            <a:ext cx="4000500" cy="4000500"/>
          </a:xfrm>
          <a:prstGeom prst="ellipse">
            <a:avLst/>
          </a:prstGeom>
          <a:solidFill>
            <a:srgbClr val="F5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ategory-label"/>
          <p:cNvSpPr txBox="1"/>
          <p:nvPr/>
        </p:nvSpPr>
        <p:spPr>
          <a:xfrm>
            <a:off x="457200" y="22860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0E0"/>
                </a:solidFill>
                <a:latin typeface="Inter"/>
              </a:rPr>
              <a:t>STRATEGY REPORT 2026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457200" y="2571750"/>
            <a:ext cx="45720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Transforming the
Future of Operations</a:t>
            </a:r>
          </a:p>
        </p:txBody>
      </p:sp>
      <p:sp>
        <p:nvSpPr>
          <p:cNvPr id="6" name="accent-rule"/>
          <p:cNvSpPr/>
          <p:nvPr/>
        </p:nvSpPr>
        <p:spPr>
          <a:xfrm>
            <a:off x="457200" y="381000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ub-description"/>
          <p:cNvSpPr txBox="1"/>
          <p:nvPr/>
        </p:nvSpPr>
        <p:spPr>
          <a:xfrm>
            <a:off x="457200" y="4038600"/>
            <a:ext cx="4381500" cy="838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8EC"/>
                </a:solidFill>
                <a:latin typeface="Inter"/>
              </a:rPr>
              <a:t>A structured analysis of enterprise capability gaps and the strategic roadmap to close them over the next 24 months.</a:t>
            </a:r>
          </a:p>
        </p:txBody>
      </p:sp>
      <p:sp>
        <p:nvSpPr>
          <p:cNvPr id="8" name="client-name"/>
          <p:cNvSpPr txBox="1"/>
          <p:nvPr/>
        </p:nvSpPr>
        <p:spPr>
          <a:xfrm>
            <a:off x="457200" y="632460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A80B8"/>
                </a:solidFill>
                <a:latin typeface="Inter"/>
              </a:rPr>
              <a:t>ACME CORPORATION · ENGAGEMENT ALPHA</a:t>
            </a:r>
          </a:p>
        </p:txBody>
      </p:sp>
      <p:sp>
        <p:nvSpPr>
          <p:cNvPr id="9" name="acn-chevron"/>
          <p:cNvSpPr txBox="1"/>
          <p:nvPr/>
        </p:nvSpPr>
        <p:spPr>
          <a:xfrm>
            <a:off x="11239500" y="4191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A100FF"/>
                </a:solidFill>
                <a:latin typeface="Inter"/>
              </a:rPr>
              <a:t>›</a:t>
            </a:r>
          </a:p>
        </p:txBody>
      </p:sp>
      <p:sp>
        <p:nvSpPr>
          <p:cNvPr id="10" name="meta-label-1"/>
          <p:cNvSpPr txBox="1"/>
          <p:nvPr/>
        </p:nvSpPr>
        <p:spPr>
          <a:xfrm>
            <a:off x="6096000" y="514350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DATE</a:t>
            </a:r>
          </a:p>
        </p:txBody>
      </p:sp>
      <p:sp>
        <p:nvSpPr>
          <p:cNvPr id="11" name="meta-value-1"/>
          <p:cNvSpPr txBox="1"/>
          <p:nvPr/>
        </p:nvSpPr>
        <p:spPr>
          <a:xfrm>
            <a:off x="7200900" y="51435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May 2026</a:t>
            </a:r>
          </a:p>
        </p:txBody>
      </p:sp>
      <p:sp>
        <p:nvSpPr>
          <p:cNvPr id="12" name="meta-label-2"/>
          <p:cNvSpPr txBox="1"/>
          <p:nvPr/>
        </p:nvSpPr>
        <p:spPr>
          <a:xfrm>
            <a:off x="6096000" y="539115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PREPARED BY</a:t>
            </a:r>
          </a:p>
        </p:txBody>
      </p:sp>
      <p:sp>
        <p:nvSpPr>
          <p:cNvPr id="13" name="meta-value-2"/>
          <p:cNvSpPr txBox="1"/>
          <p:nvPr/>
        </p:nvSpPr>
        <p:spPr>
          <a:xfrm>
            <a:off x="7200900" y="539115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Accenture Strategy &amp; Consulting</a:t>
            </a:r>
          </a:p>
        </p:txBody>
      </p:sp>
      <p:sp>
        <p:nvSpPr>
          <p:cNvPr id="14" name="meta-label-3"/>
          <p:cNvSpPr txBox="1"/>
          <p:nvPr/>
        </p:nvSpPr>
        <p:spPr>
          <a:xfrm>
            <a:off x="6096000" y="563880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CONTACT</a:t>
            </a:r>
          </a:p>
        </p:txBody>
      </p:sp>
      <p:sp>
        <p:nvSpPr>
          <p:cNvPr id="15" name="meta-value-3"/>
          <p:cNvSpPr txBox="1"/>
          <p:nvPr/>
        </p:nvSpPr>
        <p:spPr>
          <a:xfrm>
            <a:off x="7200900" y="56388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m.a.peralta@accenture.com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