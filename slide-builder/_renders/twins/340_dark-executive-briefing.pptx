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Strategic Rebalancing: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Accelerating High-Margin Growth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Quarterly performance divergence requires immediate portfolio decisions across three business units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memo-bg"/>
          <p:cNvSpPr/>
          <p:nvPr/>
        </p:nvSpPr>
        <p:spPr>
          <a:xfrm>
            <a:off x="609600" y="1409700"/>
            <a:ext cx="10972800" cy="571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emo-type-label"/>
          <p:cNvSpPr txBox="1"/>
          <p:nvPr/>
        </p:nvSpPr>
        <p:spPr>
          <a:xfrm>
            <a:off x="762000" y="14859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EXECUTIVE BRIEFING</a:t>
            </a:r>
          </a:p>
        </p:txBody>
      </p:sp>
      <p:sp>
        <p:nvSpPr>
          <p:cNvPr id="7" name="meta-label-1"/>
          <p:cNvSpPr txBox="1"/>
          <p:nvPr/>
        </p:nvSpPr>
        <p:spPr>
          <a:xfrm>
            <a:off x="762000" y="16764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TO:</a:t>
            </a:r>
          </a:p>
        </p:txBody>
      </p:sp>
      <p:sp>
        <p:nvSpPr>
          <p:cNvPr id="8" name="meta-value-1"/>
          <p:cNvSpPr txBox="1"/>
          <p:nvPr/>
        </p:nvSpPr>
        <p:spPr>
          <a:xfrm>
            <a:off x="1295400" y="1676400"/>
            <a:ext cx="400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Global Leadership Committee</a:t>
            </a:r>
          </a:p>
        </p:txBody>
      </p:sp>
      <p:sp>
        <p:nvSpPr>
          <p:cNvPr id="9" name="meta-label-2"/>
          <p:cNvSpPr txBox="1"/>
          <p:nvPr/>
        </p:nvSpPr>
        <p:spPr>
          <a:xfrm>
            <a:off x="762000" y="18478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RE:</a:t>
            </a:r>
          </a:p>
        </p:txBody>
      </p:sp>
      <p:sp>
        <p:nvSpPr>
          <p:cNvPr id="10" name="meta-value-2"/>
          <p:cNvSpPr txBox="1"/>
          <p:nvPr/>
        </p:nvSpPr>
        <p:spPr>
          <a:xfrm>
            <a:off x="1295400" y="1847850"/>
            <a:ext cx="400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Q2 Portfolio Rebalancing Initiative</a:t>
            </a:r>
          </a:p>
        </p:txBody>
      </p:sp>
      <p:sp>
        <p:nvSpPr>
          <p:cNvPr id="11" name="meta-label-3"/>
          <p:cNvSpPr txBox="1"/>
          <p:nvPr/>
        </p:nvSpPr>
        <p:spPr>
          <a:xfrm>
            <a:off x="6096000" y="16764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FROM:</a:t>
            </a:r>
          </a:p>
        </p:txBody>
      </p:sp>
      <p:sp>
        <p:nvSpPr>
          <p:cNvPr id="12" name="meta-value-3"/>
          <p:cNvSpPr txBox="1"/>
          <p:nvPr/>
        </p:nvSpPr>
        <p:spPr>
          <a:xfrm>
            <a:off x="6629400" y="1676400"/>
            <a:ext cx="400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Chief Strategy Office</a:t>
            </a:r>
          </a:p>
        </p:txBody>
      </p:sp>
      <p:sp>
        <p:nvSpPr>
          <p:cNvPr id="13" name="meta-label-4"/>
          <p:cNvSpPr txBox="1"/>
          <p:nvPr/>
        </p:nvSpPr>
        <p:spPr>
          <a:xfrm>
            <a:off x="6096000" y="18478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DATE:</a:t>
            </a:r>
          </a:p>
        </p:txBody>
      </p:sp>
      <p:sp>
        <p:nvSpPr>
          <p:cNvPr id="14" name="meta-value-4"/>
          <p:cNvSpPr txBox="1"/>
          <p:nvPr/>
        </p:nvSpPr>
        <p:spPr>
          <a:xfrm>
            <a:off x="6629400" y="1847850"/>
            <a:ext cx="400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19 May 2026</a:t>
            </a:r>
          </a:p>
        </p:txBody>
      </p:sp>
      <p:sp>
        <p:nvSpPr>
          <p:cNvPr id="15" name="kp-section-label"/>
          <p:cNvSpPr txBox="1"/>
          <p:nvPr/>
        </p:nvSpPr>
        <p:spPr>
          <a:xfrm>
            <a:off x="609600" y="2114550"/>
            <a:ext cx="6667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POINTS</a:t>
            </a:r>
          </a:p>
        </p:txBody>
      </p:sp>
      <p:sp>
        <p:nvSpPr>
          <p:cNvPr id="16" name="kp-1-num-bg"/>
          <p:cNvSpPr/>
          <p:nvPr/>
        </p:nvSpPr>
        <p:spPr>
          <a:xfrm>
            <a:off x="609600" y="23812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kp-1-num"/>
          <p:cNvSpPr txBox="1"/>
          <p:nvPr/>
        </p:nvSpPr>
        <p:spPr>
          <a:xfrm>
            <a:off x="609600" y="23812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8" name="kp-1-title"/>
          <p:cNvSpPr txBox="1"/>
          <p:nvPr/>
        </p:nvSpPr>
        <p:spPr>
          <a:xfrm>
            <a:off x="933450" y="236220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Revenue concentration risk has crossed threshold</a:t>
            </a:r>
          </a:p>
        </p:txBody>
      </p:sp>
      <p:sp>
        <p:nvSpPr>
          <p:cNvPr id="19" name="kp-1-text"/>
          <p:cNvSpPr txBox="1"/>
          <p:nvPr/>
        </p:nvSpPr>
        <p:spPr>
          <a:xfrm>
            <a:off x="933450" y="2552700"/>
            <a:ext cx="6286500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Top two clients now represent 41% of gross revenue, exceeding the 35% policy ceiling. Diversification action is required within 90 days.</a:t>
            </a:r>
          </a:p>
        </p:txBody>
      </p:sp>
      <p:sp>
        <p:nvSpPr>
          <p:cNvPr id="20" name="kp-2-num-bg"/>
          <p:cNvSpPr/>
          <p:nvPr/>
        </p:nvSpPr>
        <p:spPr>
          <a:xfrm>
            <a:off x="609600" y="336232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kp-2-num"/>
          <p:cNvSpPr txBox="1"/>
          <p:nvPr/>
        </p:nvSpPr>
        <p:spPr>
          <a:xfrm>
            <a:off x="609600" y="33623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2" name="kp-2-title"/>
          <p:cNvSpPr txBox="1"/>
          <p:nvPr/>
        </p:nvSpPr>
        <p:spPr>
          <a:xfrm>
            <a:off x="933450" y="3343275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&amp; AI segment outperforms by 18 pts</a:t>
            </a:r>
          </a:p>
        </p:txBody>
      </p:sp>
      <p:sp>
        <p:nvSpPr>
          <p:cNvPr id="23" name="kp-2-text"/>
          <p:cNvSpPr txBox="1"/>
          <p:nvPr/>
        </p:nvSpPr>
        <p:spPr>
          <a:xfrm>
            <a:off x="933450" y="3533775"/>
            <a:ext cx="6286500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Margin in the Cloud &amp; AI practice reached 34% vs. 16% portfolio average. Reallocation of BD resources can compound this advantage in H2.</a:t>
            </a:r>
          </a:p>
        </p:txBody>
      </p:sp>
      <p:sp>
        <p:nvSpPr>
          <p:cNvPr id="24" name="kp-3-num-bg"/>
          <p:cNvSpPr/>
          <p:nvPr/>
        </p:nvSpPr>
        <p:spPr>
          <a:xfrm>
            <a:off x="609600" y="43434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kp-3-num"/>
          <p:cNvSpPr txBox="1"/>
          <p:nvPr/>
        </p:nvSpPr>
        <p:spPr>
          <a:xfrm>
            <a:off x="609600" y="4343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kp-3-title"/>
          <p:cNvSpPr txBox="1"/>
          <p:nvPr/>
        </p:nvSpPr>
        <p:spPr>
          <a:xfrm>
            <a:off x="933450" y="432435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Legacy managed services unit is diluting EBITDA</a:t>
            </a:r>
          </a:p>
        </p:txBody>
      </p:sp>
      <p:sp>
        <p:nvSpPr>
          <p:cNvPr id="27" name="kp-3-text"/>
          <p:cNvSpPr txBox="1"/>
          <p:nvPr/>
        </p:nvSpPr>
        <p:spPr>
          <a:xfrm>
            <a:off x="933450" y="4514850"/>
            <a:ext cx="6286500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Three legacy contracts running at negative margin due to scope creep. Renegotiation or structured exit paths are modeled in the appendix.</a:t>
            </a:r>
          </a:p>
        </p:txBody>
      </p:sp>
      <p:sp>
        <p:nvSpPr>
          <p:cNvPr id="28" name="kp-4-num-bg"/>
          <p:cNvSpPr/>
          <p:nvPr/>
        </p:nvSpPr>
        <p:spPr>
          <a:xfrm>
            <a:off x="609600" y="532447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kp-4-num"/>
          <p:cNvSpPr txBox="1"/>
          <p:nvPr/>
        </p:nvSpPr>
        <p:spPr>
          <a:xfrm>
            <a:off x="609600" y="53244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0" name="kp-4-title"/>
          <p:cNvSpPr txBox="1"/>
          <p:nvPr/>
        </p:nvSpPr>
        <p:spPr>
          <a:xfrm>
            <a:off x="933450" y="5305425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Talent pipeline aligned to wrong growth vector</a:t>
            </a:r>
          </a:p>
        </p:txBody>
      </p:sp>
      <p:sp>
        <p:nvSpPr>
          <p:cNvPr id="31" name="kp-4-text"/>
          <p:cNvSpPr txBox="1"/>
          <p:nvPr/>
        </p:nvSpPr>
        <p:spPr>
          <a:xfrm>
            <a:off x="933450" y="5495925"/>
            <a:ext cx="6286500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Current hiring plan adds 120 FTEs in declining-demand roles. Workforce plan revision can redirect $4.2M annually toward high-demand specialisms.</a:t>
            </a:r>
          </a:p>
        </p:txBody>
      </p:sp>
      <p:sp>
        <p:nvSpPr>
          <p:cNvPr id="32" name="side-card-1"/>
          <p:cNvSpPr/>
          <p:nvPr/>
        </p:nvSpPr>
        <p:spPr>
          <a:xfrm>
            <a:off x="7467600" y="2114550"/>
            <a:ext cx="4114800" cy="19716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side-card-1-label"/>
          <p:cNvSpPr txBox="1"/>
          <p:nvPr/>
        </p:nvSpPr>
        <p:spPr>
          <a:xfrm>
            <a:off x="7620000" y="22098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FOR DECISION</a:t>
            </a:r>
          </a:p>
        </p:txBody>
      </p:sp>
      <p:sp>
        <p:nvSpPr>
          <p:cNvPr id="34" name="side-card-1-rule"/>
          <p:cNvSpPr/>
          <p:nvPr/>
        </p:nvSpPr>
        <p:spPr>
          <a:xfrm>
            <a:off x="7620000" y="2381250"/>
            <a:ext cx="3810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decision-1-cb"/>
          <p:cNvSpPr/>
          <p:nvPr/>
        </p:nvSpPr>
        <p:spPr>
          <a:xfrm>
            <a:off x="7620000" y="2505075"/>
            <a:ext cx="114300" cy="114300"/>
          </a:xfrm>
          <a:prstGeom prst="rect">
            <a:avLst/>
          </a:prstGeom>
          <a:solidFill>
            <a:srgbClr val="3C1F5C"/>
          </a:solidFill>
          <a:ln w="12700">
            <a:solidFill>
              <a:srgbClr val="9C8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decision-1-text"/>
          <p:cNvSpPr txBox="1"/>
          <p:nvPr/>
        </p:nvSpPr>
        <p:spPr>
          <a:xfrm>
            <a:off x="7810500" y="2476500"/>
            <a:ext cx="36385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Approve portfolio rebalancing framework and 90-day execution mandate</a:t>
            </a:r>
          </a:p>
        </p:txBody>
      </p:sp>
      <p:sp>
        <p:nvSpPr>
          <p:cNvPr id="37" name="decision-2-cb"/>
          <p:cNvSpPr/>
          <p:nvPr/>
        </p:nvSpPr>
        <p:spPr>
          <a:xfrm>
            <a:off x="7620000" y="3009900"/>
            <a:ext cx="114300" cy="114300"/>
          </a:xfrm>
          <a:prstGeom prst="rect">
            <a:avLst/>
          </a:prstGeom>
          <a:solidFill>
            <a:srgbClr val="3C1F5C"/>
          </a:solidFill>
          <a:ln w="12700">
            <a:solidFill>
              <a:srgbClr val="9C8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decision-2-text"/>
          <p:cNvSpPr txBox="1"/>
          <p:nvPr/>
        </p:nvSpPr>
        <p:spPr>
          <a:xfrm>
            <a:off x="7810500" y="2981325"/>
            <a:ext cx="36385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Authorize BD resource shift: 60% allocation to Cloud &amp; AI through Q3</a:t>
            </a:r>
          </a:p>
        </p:txBody>
      </p:sp>
      <p:sp>
        <p:nvSpPr>
          <p:cNvPr id="39" name="decision-3-cb"/>
          <p:cNvSpPr/>
          <p:nvPr/>
        </p:nvSpPr>
        <p:spPr>
          <a:xfrm>
            <a:off x="7620000" y="3514725"/>
            <a:ext cx="114300" cy="114300"/>
          </a:xfrm>
          <a:prstGeom prst="rect">
            <a:avLst/>
          </a:prstGeom>
          <a:solidFill>
            <a:srgbClr val="3C1F5C"/>
          </a:solidFill>
          <a:ln w="12700">
            <a:solidFill>
              <a:srgbClr val="9C8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decision-3-text"/>
          <p:cNvSpPr txBox="1"/>
          <p:nvPr/>
        </p:nvSpPr>
        <p:spPr>
          <a:xfrm>
            <a:off x="7810500" y="3486150"/>
            <a:ext cx="363855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Ratify revised hiring plan — freeze legacy roles, open 40 AI/data positions</a:t>
            </a:r>
          </a:p>
        </p:txBody>
      </p:sp>
      <p:sp>
        <p:nvSpPr>
          <p:cNvPr id="41" name="side-card-2"/>
          <p:cNvSpPr/>
          <p:nvPr/>
        </p:nvSpPr>
        <p:spPr>
          <a:xfrm>
            <a:off x="7467600" y="4162425"/>
            <a:ext cx="4114800" cy="21240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ide-card-2-label"/>
          <p:cNvSpPr txBox="1"/>
          <p:nvPr/>
        </p:nvSpPr>
        <p:spPr>
          <a:xfrm>
            <a:off x="7620000" y="4257675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ACTION REQUIRED</a:t>
            </a:r>
          </a:p>
        </p:txBody>
      </p:sp>
      <p:sp>
        <p:nvSpPr>
          <p:cNvPr id="43" name="side-card-2-rule"/>
          <p:cNvSpPr/>
          <p:nvPr/>
        </p:nvSpPr>
        <p:spPr>
          <a:xfrm>
            <a:off x="7620000" y="4429125"/>
            <a:ext cx="3810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action-1-owner-bg"/>
          <p:cNvSpPr/>
          <p:nvPr/>
        </p:nvSpPr>
        <p:spPr>
          <a:xfrm>
            <a:off x="7620000" y="4543425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action-1-owner"/>
          <p:cNvSpPr txBox="1"/>
          <p:nvPr/>
        </p:nvSpPr>
        <p:spPr>
          <a:xfrm>
            <a:off x="7620000" y="45434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CSO</a:t>
            </a:r>
          </a:p>
        </p:txBody>
      </p:sp>
      <p:sp>
        <p:nvSpPr>
          <p:cNvPr id="46" name="action-1-text"/>
          <p:cNvSpPr txBox="1"/>
          <p:nvPr/>
        </p:nvSpPr>
        <p:spPr>
          <a:xfrm>
            <a:off x="7905750" y="4543425"/>
            <a:ext cx="2876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Finalize rebalancing playbook and distribute to BU leads</a:t>
            </a:r>
          </a:p>
        </p:txBody>
      </p:sp>
      <p:sp>
        <p:nvSpPr>
          <p:cNvPr id="47" name="action-1-due-bg"/>
          <p:cNvSpPr/>
          <p:nvPr/>
        </p:nvSpPr>
        <p:spPr>
          <a:xfrm>
            <a:off x="10858500" y="4562475"/>
            <a:ext cx="571500" cy="171450"/>
          </a:xfrm>
          <a:prstGeom prst="rect">
            <a:avLst/>
          </a:prstGeom>
          <a:solidFill>
            <a:srgbClr val="4A1E6E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action-1-due"/>
          <p:cNvSpPr txBox="1"/>
          <p:nvPr/>
        </p:nvSpPr>
        <p:spPr>
          <a:xfrm>
            <a:off x="10858500" y="45624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30 May</a:t>
            </a:r>
          </a:p>
        </p:txBody>
      </p:sp>
      <p:sp>
        <p:nvSpPr>
          <p:cNvPr id="49" name="action-2-owner-bg"/>
          <p:cNvSpPr/>
          <p:nvPr/>
        </p:nvSpPr>
        <p:spPr>
          <a:xfrm>
            <a:off x="7620000" y="510540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action-2-owner"/>
          <p:cNvSpPr txBox="1"/>
          <p:nvPr/>
        </p:nvSpPr>
        <p:spPr>
          <a:xfrm>
            <a:off x="7620000" y="5105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CFO</a:t>
            </a:r>
          </a:p>
        </p:txBody>
      </p:sp>
      <p:sp>
        <p:nvSpPr>
          <p:cNvPr id="51" name="action-2-text"/>
          <p:cNvSpPr txBox="1"/>
          <p:nvPr/>
        </p:nvSpPr>
        <p:spPr>
          <a:xfrm>
            <a:off x="7905750" y="5105400"/>
            <a:ext cx="2876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Model exit scenarios for three legacy contracts</a:t>
            </a:r>
          </a:p>
        </p:txBody>
      </p:sp>
      <p:sp>
        <p:nvSpPr>
          <p:cNvPr id="52" name="action-2-due-bg"/>
          <p:cNvSpPr/>
          <p:nvPr/>
        </p:nvSpPr>
        <p:spPr>
          <a:xfrm>
            <a:off x="10858500" y="5124450"/>
            <a:ext cx="571500" cy="171450"/>
          </a:xfrm>
          <a:prstGeom prst="rect">
            <a:avLst/>
          </a:prstGeom>
          <a:solidFill>
            <a:srgbClr val="4A1E6E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action-2-due"/>
          <p:cNvSpPr txBox="1"/>
          <p:nvPr/>
        </p:nvSpPr>
        <p:spPr>
          <a:xfrm>
            <a:off x="10858500" y="51244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6 Jun</a:t>
            </a:r>
          </a:p>
        </p:txBody>
      </p:sp>
      <p:sp>
        <p:nvSpPr>
          <p:cNvPr id="54" name="action-3-owner-bg"/>
          <p:cNvSpPr/>
          <p:nvPr/>
        </p:nvSpPr>
        <p:spPr>
          <a:xfrm>
            <a:off x="7620000" y="5667375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action-3-owner"/>
          <p:cNvSpPr txBox="1"/>
          <p:nvPr/>
        </p:nvSpPr>
        <p:spPr>
          <a:xfrm>
            <a:off x="7620000" y="56673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CPO</a:t>
            </a:r>
          </a:p>
        </p:txBody>
      </p:sp>
      <p:sp>
        <p:nvSpPr>
          <p:cNvPr id="56" name="action-3-text"/>
          <p:cNvSpPr txBox="1"/>
          <p:nvPr/>
        </p:nvSpPr>
        <p:spPr>
          <a:xfrm>
            <a:off x="7905750" y="5667375"/>
            <a:ext cx="2876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Submit revised workforce plan with cost delta analysis</a:t>
            </a:r>
          </a:p>
        </p:txBody>
      </p:sp>
      <p:sp>
        <p:nvSpPr>
          <p:cNvPr id="57" name="action-3-due-bg"/>
          <p:cNvSpPr/>
          <p:nvPr/>
        </p:nvSpPr>
        <p:spPr>
          <a:xfrm>
            <a:off x="10858500" y="5686425"/>
            <a:ext cx="571500" cy="171450"/>
          </a:xfrm>
          <a:prstGeom prst="rect">
            <a:avLst/>
          </a:prstGeom>
          <a:solidFill>
            <a:srgbClr val="4A1E6E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action-3-due"/>
          <p:cNvSpPr txBox="1"/>
          <p:nvPr/>
        </p:nvSpPr>
        <p:spPr>
          <a:xfrm>
            <a:off x="10858500" y="568642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13 Jun</a:t>
            </a:r>
          </a:p>
        </p:txBody>
      </p:sp>
      <p:sp>
        <p:nvSpPr>
          <p:cNvPr id="5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