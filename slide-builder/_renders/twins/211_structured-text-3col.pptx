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Key Findings: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Structured Assessment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Across Three Dimensions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101346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Diagnostic summary — current-state review · May 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illar-1-bg"/>
          <p:cNvSpPr/>
          <p:nvPr/>
        </p:nvSpPr>
        <p:spPr>
          <a:xfrm>
            <a:off x="457200" y="1524000"/>
            <a:ext cx="3752850" cy="472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illar-1-name"/>
          <p:cNvSpPr txBox="1"/>
          <p:nvPr/>
        </p:nvSpPr>
        <p:spPr>
          <a:xfrm>
            <a:off x="647700" y="1695450"/>
            <a:ext cx="3371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STRENGTHS</a:t>
            </a:r>
          </a:p>
        </p:txBody>
      </p:sp>
      <p:sp>
        <p:nvSpPr>
          <p:cNvPr id="7" name="pillar-1-rule"/>
          <p:cNvSpPr/>
          <p:nvPr/>
        </p:nvSpPr>
        <p:spPr>
          <a:xfrm>
            <a:off x="647700" y="1924050"/>
            <a:ext cx="3371850" cy="95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pillar-1-body"/>
          <p:cNvSpPr txBox="1"/>
          <p:nvPr/>
        </p:nvSpPr>
        <p:spPr>
          <a:xfrm>
            <a:off x="647700" y="2057400"/>
            <a:ext cx="3371850" cy="3048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Mature operating model with clearly defined ownership across delivery functions
• Strong executive sponsorship sustaining multi-year programme momentum
• Established data governance framework aligned to regulatory standards
• High workforce capability scores in core engineering disciplines
• Proven vendor partnerships reducing time-to-deploy on critical platforms</a:t>
            </a:r>
          </a:p>
        </p:txBody>
      </p:sp>
      <p:sp>
        <p:nvSpPr>
          <p:cNvPr id="9" name="metric-1-rule"/>
          <p:cNvSpPr/>
          <p:nvPr/>
        </p:nvSpPr>
        <p:spPr>
          <a:xfrm>
            <a:off x="647700" y="5391150"/>
            <a:ext cx="33718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metric-1-value"/>
          <p:cNvSpPr txBox="1"/>
          <p:nvPr/>
        </p:nvSpPr>
        <p:spPr>
          <a:xfrm>
            <a:off x="647700" y="5505450"/>
            <a:ext cx="33718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87%</a:t>
            </a:r>
          </a:p>
        </p:txBody>
      </p:sp>
      <p:sp>
        <p:nvSpPr>
          <p:cNvPr id="11" name="metric-1-label"/>
          <p:cNvSpPr txBox="1"/>
          <p:nvPr/>
        </p:nvSpPr>
        <p:spPr>
          <a:xfrm>
            <a:off x="647700" y="5829300"/>
            <a:ext cx="33718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Stakeholder alignment score
across delivery units</a:t>
            </a:r>
          </a:p>
        </p:txBody>
      </p:sp>
      <p:sp>
        <p:nvSpPr>
          <p:cNvPr id="12" name="pillar-2-bg"/>
          <p:cNvSpPr/>
          <p:nvPr/>
        </p:nvSpPr>
        <p:spPr>
          <a:xfrm>
            <a:off x="4210050" y="1524000"/>
            <a:ext cx="3752850" cy="472440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ol-divider-1"/>
          <p:cNvSpPr/>
          <p:nvPr/>
        </p:nvSpPr>
        <p:spPr>
          <a:xfrm>
            <a:off x="4210050" y="1600200"/>
            <a:ext cx="9525" cy="45720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illar-2-name"/>
          <p:cNvSpPr txBox="1"/>
          <p:nvPr/>
        </p:nvSpPr>
        <p:spPr>
          <a:xfrm>
            <a:off x="4400550" y="1695450"/>
            <a:ext cx="3371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GAPS</a:t>
            </a:r>
          </a:p>
        </p:txBody>
      </p:sp>
      <p:sp>
        <p:nvSpPr>
          <p:cNvPr id="15" name="pillar-2-rule"/>
          <p:cNvSpPr/>
          <p:nvPr/>
        </p:nvSpPr>
        <p:spPr>
          <a:xfrm>
            <a:off x="4400550" y="1924050"/>
            <a:ext cx="3371850" cy="95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pillar-2-body"/>
          <p:cNvSpPr txBox="1"/>
          <p:nvPr/>
        </p:nvSpPr>
        <p:spPr>
          <a:xfrm>
            <a:off x="4400550" y="2057400"/>
            <a:ext cx="3371850" cy="3048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Fragmented tooling landscape creating integration overhead and duplicate effort
• Insufficient change management capacity relative to transformation scope
• Reporting cadence misaligned with decision-making cycles at programme level
• Limited cross-functional collaboration between architecture and operations
• Underdeveloped succession planning for critical technical roles</a:t>
            </a:r>
          </a:p>
        </p:txBody>
      </p:sp>
      <p:sp>
        <p:nvSpPr>
          <p:cNvPr id="17" name="metric-2-rule"/>
          <p:cNvSpPr/>
          <p:nvPr/>
        </p:nvSpPr>
        <p:spPr>
          <a:xfrm>
            <a:off x="4400550" y="5391150"/>
            <a:ext cx="33718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metric-2-value"/>
          <p:cNvSpPr txBox="1"/>
          <p:nvPr/>
        </p:nvSpPr>
        <p:spPr>
          <a:xfrm>
            <a:off x="4400550" y="5505450"/>
            <a:ext cx="33718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14</a:t>
            </a:r>
          </a:p>
        </p:txBody>
      </p:sp>
      <p:sp>
        <p:nvSpPr>
          <p:cNvPr id="19" name="metric-2-label"/>
          <p:cNvSpPr txBox="1"/>
          <p:nvPr/>
        </p:nvSpPr>
        <p:spPr>
          <a:xfrm>
            <a:off x="4400550" y="5829300"/>
            <a:ext cx="33718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Priority capability gaps
identified for remediation</a:t>
            </a:r>
          </a:p>
        </p:txBody>
      </p:sp>
      <p:sp>
        <p:nvSpPr>
          <p:cNvPr id="20" name="pillar-3-bg"/>
          <p:cNvSpPr/>
          <p:nvPr/>
        </p:nvSpPr>
        <p:spPr>
          <a:xfrm>
            <a:off x="7962900" y="1524000"/>
            <a:ext cx="3752850" cy="472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ol-divider-2"/>
          <p:cNvSpPr/>
          <p:nvPr/>
        </p:nvSpPr>
        <p:spPr>
          <a:xfrm>
            <a:off x="7962900" y="1600200"/>
            <a:ext cx="9525" cy="45720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pillar-3-name"/>
          <p:cNvSpPr txBox="1"/>
          <p:nvPr/>
        </p:nvSpPr>
        <p:spPr>
          <a:xfrm>
            <a:off x="8153400" y="1695450"/>
            <a:ext cx="33718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OPPORTUNITIES</a:t>
            </a:r>
          </a:p>
        </p:txBody>
      </p:sp>
      <p:sp>
        <p:nvSpPr>
          <p:cNvPr id="23" name="pillar-3-rule"/>
          <p:cNvSpPr/>
          <p:nvPr/>
        </p:nvSpPr>
        <p:spPr>
          <a:xfrm>
            <a:off x="8153400" y="1924050"/>
            <a:ext cx="3371850" cy="952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illar-3-body"/>
          <p:cNvSpPr txBox="1"/>
          <p:nvPr/>
        </p:nvSpPr>
        <p:spPr>
          <a:xfrm>
            <a:off x="8153400" y="2057400"/>
            <a:ext cx="3371850" cy="3048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• Consolidate tooling onto unified platform to unlock c.30% efficiency headroom
• Accelerate AI-assisted workflows across three high-volume process clusters
• Leverage existing data assets for predictive demand planning at scale
• Formalise centres of excellence to codify and replicate best practices
• Pursue strategic partnership to close skills gap in cloud-native engineering</a:t>
            </a:r>
          </a:p>
        </p:txBody>
      </p:sp>
      <p:sp>
        <p:nvSpPr>
          <p:cNvPr id="25" name="metric-3-rule"/>
          <p:cNvSpPr/>
          <p:nvPr/>
        </p:nvSpPr>
        <p:spPr>
          <a:xfrm>
            <a:off x="8153400" y="5391150"/>
            <a:ext cx="337185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metric-3-value"/>
          <p:cNvSpPr txBox="1"/>
          <p:nvPr/>
        </p:nvSpPr>
        <p:spPr>
          <a:xfrm>
            <a:off x="8153400" y="5505450"/>
            <a:ext cx="33718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2D0A4E"/>
                </a:solidFill>
                <a:latin typeface="Inter"/>
              </a:rPr>
              <a:t>£4.2M</a:t>
            </a:r>
          </a:p>
        </p:txBody>
      </p:sp>
      <p:sp>
        <p:nvSpPr>
          <p:cNvPr id="27" name="metric-3-label"/>
          <p:cNvSpPr txBox="1"/>
          <p:nvPr/>
        </p:nvSpPr>
        <p:spPr>
          <a:xfrm>
            <a:off x="8153400" y="5829300"/>
            <a:ext cx="33718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Estimated annual value
from top 3 opportunities</a:t>
            </a:r>
          </a:p>
        </p:txBody>
      </p:sp>
      <p:sp>
        <p:nvSpPr>
          <p:cNvPr id="28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9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0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211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