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Knowledge alone doesn't change behavior — only the intersection of both creates durable advantage.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Each circle solves one gap on its own. The insight lives where they overlap.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enn-circle-left-label"/>
          <p:cNvSpPr txBox="1"/>
          <p:nvPr/>
        </p:nvSpPr>
        <p:spPr>
          <a:xfrm>
            <a:off x="2438400" y="2095500"/>
            <a:ext cx="285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GAP 1 — KNOWLEDGE</a:t>
            </a:r>
          </a:p>
        </p:txBody>
      </p:sp>
      <p:sp>
        <p:nvSpPr>
          <p:cNvPr id="6" name="venn-circle-right-label"/>
          <p:cNvSpPr txBox="1"/>
          <p:nvPr/>
        </p:nvSpPr>
        <p:spPr>
          <a:xfrm>
            <a:off x="6896100" y="2095500"/>
            <a:ext cx="285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GAP 2 — BEHAVIOR</a:t>
            </a:r>
          </a:p>
        </p:txBody>
      </p:sp>
      <p:sp>
        <p:nvSpPr>
          <p:cNvPr id="7" name="venn-circle-left"/>
          <p:cNvSpPr/>
          <p:nvPr/>
        </p:nvSpPr>
        <p:spPr>
          <a:xfrm>
            <a:off x="2857500" y="2095500"/>
            <a:ext cx="2857500" cy="2857500"/>
          </a:xfrm>
          <a:prstGeom prst="ellipse">
            <a:avLst/>
          </a:prstGeom>
          <a:solidFill>
            <a:srgbClr val="5C2D87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venn-circle-right"/>
          <p:cNvSpPr/>
          <p:nvPr/>
        </p:nvSpPr>
        <p:spPr>
          <a:xfrm>
            <a:off x="6477000" y="2095500"/>
            <a:ext cx="2857500" cy="2857500"/>
          </a:xfrm>
          <a:prstGeom prst="ellipse">
            <a:avLst/>
          </a:prstGeom>
          <a:solidFill>
            <a:srgbClr val="A100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venn-circle-left-tag"/>
          <p:cNvSpPr txBox="1"/>
          <p:nvPr/>
        </p:nvSpPr>
        <p:spPr>
          <a:xfrm>
            <a:off x="3333750" y="295275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SOLVES THE KNOWLEDGE GAP</a:t>
            </a:r>
          </a:p>
        </p:txBody>
      </p:sp>
      <p:sp>
        <p:nvSpPr>
          <p:cNvPr id="10" name="venn-circle-left-head"/>
          <p:cNvSpPr txBox="1"/>
          <p:nvPr/>
        </p:nvSpPr>
        <p:spPr>
          <a:xfrm>
            <a:off x="3333750" y="31432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What we know</a:t>
            </a:r>
          </a:p>
        </p:txBody>
      </p:sp>
      <p:sp>
        <p:nvSpPr>
          <p:cNvPr id="11" name="venn-circle-left-body"/>
          <p:cNvSpPr txBox="1"/>
          <p:nvPr/>
        </p:nvSpPr>
        <p:spPr>
          <a:xfrm>
            <a:off x="3333750" y="342900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Understanding how the business actually makes money — sort, linehaul, clearance economics.</a:t>
            </a:r>
          </a:p>
        </p:txBody>
      </p:sp>
      <p:sp>
        <p:nvSpPr>
          <p:cNvPr id="12" name="venn-circle-right-tag"/>
          <p:cNvSpPr txBox="1"/>
          <p:nvPr/>
        </p:nvSpPr>
        <p:spPr>
          <a:xfrm>
            <a:off x="7143750" y="295275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SOLVES THE BEHAVIOR GAP</a:t>
            </a:r>
          </a:p>
        </p:txBody>
      </p:sp>
      <p:sp>
        <p:nvSpPr>
          <p:cNvPr id="13" name="venn-circle-right-head"/>
          <p:cNvSpPr txBox="1"/>
          <p:nvPr/>
        </p:nvSpPr>
        <p:spPr>
          <a:xfrm>
            <a:off x="7143750" y="314325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How we think</a:t>
            </a:r>
          </a:p>
        </p:txBody>
      </p:sp>
      <p:sp>
        <p:nvSpPr>
          <p:cNvPr id="14" name="venn-circle-right-body"/>
          <p:cNvSpPr txBox="1"/>
          <p:nvPr/>
        </p:nvSpPr>
        <p:spPr>
          <a:xfrm>
            <a:off x="7143750" y="342900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Teams that frame problems and challenge thinking — not order-takers.</a:t>
            </a:r>
          </a:p>
        </p:txBody>
      </p:sp>
      <p:sp>
        <p:nvSpPr>
          <p:cNvPr id="15" name="venn-overlap"/>
          <p:cNvSpPr/>
          <p:nvPr/>
        </p:nvSpPr>
        <p:spPr>
          <a:xfrm>
            <a:off x="5476875" y="2905125"/>
            <a:ext cx="1238250" cy="12382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venn-overlap-label"/>
          <p:cNvSpPr txBox="1"/>
          <p:nvPr/>
        </p:nvSpPr>
        <p:spPr>
          <a:xfrm>
            <a:off x="5476875" y="3171825"/>
            <a:ext cx="1238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BOTH TOGETHER</a:t>
            </a:r>
          </a:p>
        </p:txBody>
      </p:sp>
      <p:sp>
        <p:nvSpPr>
          <p:cNvPr id="17" name="venn-overlap-text"/>
          <p:cNvSpPr txBox="1"/>
          <p:nvPr/>
        </p:nvSpPr>
        <p:spPr>
          <a:xfrm>
            <a:off x="5476875" y="3343275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Durable advantage</a:t>
            </a:r>
          </a:p>
        </p:txBody>
      </p:sp>
      <p:sp>
        <p:nvSpPr>
          <p:cNvPr id="18" name="venn-overlap-eq"/>
          <p:cNvSpPr txBox="1"/>
          <p:nvPr/>
        </p:nvSpPr>
        <p:spPr>
          <a:xfrm>
            <a:off x="5476875" y="3629025"/>
            <a:ext cx="12382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Credibility + Influence</a:t>
            </a:r>
          </a:p>
        </p:txBody>
      </p:sp>
      <p:sp>
        <p:nvSpPr>
          <p:cNvPr id="19" name="implication-bg"/>
          <p:cNvSpPr/>
          <p:nvPr/>
        </p:nvSpPr>
        <p:spPr>
          <a:xfrm>
            <a:off x="533400" y="5410200"/>
            <a:ext cx="11125200" cy="476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implication-accent"/>
          <p:cNvSpPr/>
          <p:nvPr/>
        </p:nvSpPr>
        <p:spPr>
          <a:xfrm>
            <a:off x="533400" y="5410200"/>
            <a:ext cx="38100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implication-label"/>
          <p:cNvSpPr txBox="1"/>
          <p:nvPr/>
        </p:nvSpPr>
        <p:spPr>
          <a:xfrm>
            <a:off x="742950" y="5410200"/>
            <a:ext cx="1333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IMPLICATION</a:t>
            </a:r>
          </a:p>
        </p:txBody>
      </p:sp>
      <p:sp>
        <p:nvSpPr>
          <p:cNvPr id="22" name="implication-text"/>
          <p:cNvSpPr txBox="1"/>
          <p:nvPr/>
        </p:nvSpPr>
        <p:spPr>
          <a:xfrm>
            <a:off x="2286000" y="5410200"/>
            <a:ext cx="91630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Two parallel prongs — Mindset Shift plus Ops Intelligence Engine — running simultaneously over 90 days.</a:t>
            </a:r>
          </a:p>
        </p:txBody>
      </p:sp>
      <p:sp>
        <p:nvSpPr>
          <p:cNvPr id="23" name="convergence"/>
          <p:cNvSpPr txBox="1"/>
          <p:nvPr/>
        </p:nvSpPr>
        <p:spPr>
          <a:xfrm>
            <a:off x="609600" y="5829300"/>
            <a:ext cx="109728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Either circle alone solves half the problem. The intersection is the only place the answer lives.</a:t>
            </a:r>
          </a:p>
        </p:txBody>
      </p:sp>
      <p:sp>
        <p:nvSpPr>
          <p:cNvPr id="2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