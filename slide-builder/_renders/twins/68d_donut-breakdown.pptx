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Where the time goes — 30% to rework alone.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Per-deck baseline across the practice. The rework slice is the kill — Slide Lab targets it directly.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donut-focal-ring"/>
          <p:cNvSpPr/>
          <p:nvPr/>
        </p:nvSpPr>
        <p:spPr>
          <a:xfrm>
            <a:off x="1400175" y="2324100"/>
            <a:ext cx="3352800" cy="33528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donut-track"/>
          <p:cNvSpPr/>
          <p:nvPr/>
        </p:nvSpPr>
        <p:spPr>
          <a:xfrm>
            <a:off x="1457325" y="2381250"/>
            <a:ext cx="3238500" cy="3238500"/>
          </a:xfrm>
          <a:prstGeom prst="ellipse">
            <a:avLst/>
          </a:prstGeom>
          <a:solidFill>
            <a:srgbClr val="42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donut-slice-1"/>
          <p:cNvSpPr/>
          <p:nvPr/>
        </p:nvSpPr>
        <p:spPr>
          <a:xfrm>
            <a:off x="2962275" y="2286000"/>
            <a:ext cx="228600" cy="2286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donut-slice-2"/>
          <p:cNvSpPr/>
          <p:nvPr/>
        </p:nvSpPr>
        <p:spPr>
          <a:xfrm>
            <a:off x="4600575" y="3886200"/>
            <a:ext cx="228600" cy="2286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donut-slice-3"/>
          <p:cNvSpPr/>
          <p:nvPr/>
        </p:nvSpPr>
        <p:spPr>
          <a:xfrm>
            <a:off x="2962275" y="5486400"/>
            <a:ext cx="228600" cy="228600"/>
          </a:xfrm>
          <a:prstGeom prst="ellipse">
            <a:avLst/>
          </a:prstGeom>
          <a:solidFill>
            <a:srgbClr val="9C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donut-slice-4"/>
          <p:cNvSpPr/>
          <p:nvPr/>
        </p:nvSpPr>
        <p:spPr>
          <a:xfrm>
            <a:off x="1323975" y="3886200"/>
            <a:ext cx="228600" cy="2286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donut-hole"/>
          <p:cNvSpPr/>
          <p:nvPr/>
        </p:nvSpPr>
        <p:spPr>
          <a:xfrm>
            <a:off x="1981200" y="2905125"/>
            <a:ext cx="2190750" cy="21907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donut-center-label"/>
          <p:cNvSpPr txBox="1"/>
          <p:nvPr/>
        </p:nvSpPr>
        <p:spPr>
          <a:xfrm>
            <a:off x="1457325" y="3524250"/>
            <a:ext cx="3238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PER DECK</a:t>
            </a:r>
          </a:p>
        </p:txBody>
      </p:sp>
      <p:sp>
        <p:nvSpPr>
          <p:cNvPr id="13" name="donut-center-value"/>
          <p:cNvSpPr txBox="1"/>
          <p:nvPr/>
        </p:nvSpPr>
        <p:spPr>
          <a:xfrm>
            <a:off x="1457325" y="3695700"/>
            <a:ext cx="32385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4200" b="1" i="0">
                <a:solidFill>
                  <a:srgbClr val="FFFFFF"/>
                </a:solidFill>
                <a:latin typeface="Inter"/>
              </a:rPr>
              <a:t>60 hr</a:t>
            </a:r>
          </a:p>
        </p:txBody>
      </p:sp>
      <p:sp>
        <p:nvSpPr>
          <p:cNvPr id="14" name="donut-center-sub"/>
          <p:cNvSpPr txBox="1"/>
          <p:nvPr/>
        </p:nvSpPr>
        <p:spPr>
          <a:xfrm>
            <a:off x="2028825" y="436245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baseline effort, end to end</a:t>
            </a:r>
          </a:p>
        </p:txBody>
      </p:sp>
      <p:sp>
        <p:nvSpPr>
          <p:cNvPr id="15" name="breakdown-col-name-header"/>
          <p:cNvSpPr txBox="1"/>
          <p:nvPr/>
        </p:nvSpPr>
        <p:spPr>
          <a:xfrm>
            <a:off x="6115050" y="2324100"/>
            <a:ext cx="3905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ACTIVITY</a:t>
            </a:r>
          </a:p>
        </p:txBody>
      </p:sp>
      <p:sp>
        <p:nvSpPr>
          <p:cNvPr id="16" name="breakdown-col-num-header"/>
          <p:cNvSpPr txBox="1"/>
          <p:nvPr/>
        </p:nvSpPr>
        <p:spPr>
          <a:xfrm>
            <a:off x="10344150" y="23241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HOURS</a:t>
            </a:r>
          </a:p>
        </p:txBody>
      </p:sp>
      <p:sp>
        <p:nvSpPr>
          <p:cNvPr id="17" name="breakdown-col-pct-header"/>
          <p:cNvSpPr txBox="1"/>
          <p:nvPr/>
        </p:nvSpPr>
        <p:spPr>
          <a:xfrm>
            <a:off x="11010900" y="2324100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SHARE</a:t>
            </a:r>
          </a:p>
        </p:txBody>
      </p:sp>
      <p:sp>
        <p:nvSpPr>
          <p:cNvPr id="18" name="breakdown-head-rule"/>
          <p:cNvSpPr/>
          <p:nvPr/>
        </p:nvSpPr>
        <p:spPr>
          <a:xfrm>
            <a:off x="5772150" y="2514600"/>
            <a:ext cx="58102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breakdown-focal-tag"/>
          <p:cNvSpPr txBox="1"/>
          <p:nvPr/>
        </p:nvSpPr>
        <p:spPr>
          <a:xfrm>
            <a:off x="5819775" y="4619625"/>
            <a:ext cx="228600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 KILL · SLIDE LAB TARGETS THIS</a:t>
            </a:r>
          </a:p>
        </p:txBody>
      </p:sp>
      <p:sp>
        <p:nvSpPr>
          <p:cNvPr id="20" name="breakdown-1-swatch"/>
          <p:cNvSpPr/>
          <p:nvPr/>
        </p:nvSpPr>
        <p:spPr>
          <a:xfrm>
            <a:off x="5819775" y="2924175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reakdown-1-name"/>
          <p:cNvSpPr txBox="1"/>
          <p:nvPr/>
        </p:nvSpPr>
        <p:spPr>
          <a:xfrm>
            <a:off x="6057900" y="2686050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Storyline coaching</a:t>
            </a:r>
          </a:p>
        </p:txBody>
      </p:sp>
      <p:sp>
        <p:nvSpPr>
          <p:cNvPr id="22" name="breakdown-1-name-sub"/>
          <p:cNvSpPr txBox="1"/>
          <p:nvPr/>
        </p:nvSpPr>
        <p:spPr>
          <a:xfrm>
            <a:off x="6057900" y="287655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framing, governing thought, structure</a:t>
            </a:r>
          </a:p>
        </p:txBody>
      </p:sp>
      <p:sp>
        <p:nvSpPr>
          <p:cNvPr id="23" name="breakdown-1-num"/>
          <p:cNvSpPr txBox="1"/>
          <p:nvPr/>
        </p:nvSpPr>
        <p:spPr>
          <a:xfrm>
            <a:off x="10344150" y="27432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10 hr</a:t>
            </a:r>
          </a:p>
        </p:txBody>
      </p:sp>
      <p:sp>
        <p:nvSpPr>
          <p:cNvPr id="24" name="breakdown-1-pct"/>
          <p:cNvSpPr txBox="1"/>
          <p:nvPr/>
        </p:nvSpPr>
        <p:spPr>
          <a:xfrm>
            <a:off x="11010900" y="276225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17%</a:t>
            </a:r>
          </a:p>
        </p:txBody>
      </p:sp>
      <p:sp>
        <p:nvSpPr>
          <p:cNvPr id="25" name="breakdown-2-swatch"/>
          <p:cNvSpPr/>
          <p:nvPr/>
        </p:nvSpPr>
        <p:spPr>
          <a:xfrm>
            <a:off x="5819775" y="3657600"/>
            <a:ext cx="133350" cy="1333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reakdown-2-name"/>
          <p:cNvSpPr txBox="1"/>
          <p:nvPr/>
        </p:nvSpPr>
        <p:spPr>
          <a:xfrm>
            <a:off x="6057900" y="3419475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Building slides</a:t>
            </a:r>
          </a:p>
        </p:txBody>
      </p:sp>
      <p:sp>
        <p:nvSpPr>
          <p:cNvPr id="27" name="breakdown-2-name-sub"/>
          <p:cNvSpPr txBox="1"/>
          <p:nvPr/>
        </p:nvSpPr>
        <p:spPr>
          <a:xfrm>
            <a:off x="6057900" y="3609975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layout, charts, visuals, formatting</a:t>
            </a:r>
          </a:p>
        </p:txBody>
      </p:sp>
      <p:sp>
        <p:nvSpPr>
          <p:cNvPr id="28" name="breakdown-2-num"/>
          <p:cNvSpPr txBox="1"/>
          <p:nvPr/>
        </p:nvSpPr>
        <p:spPr>
          <a:xfrm>
            <a:off x="10344150" y="3476625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20 hr</a:t>
            </a:r>
          </a:p>
        </p:txBody>
      </p:sp>
      <p:sp>
        <p:nvSpPr>
          <p:cNvPr id="29" name="breakdown-2-pct"/>
          <p:cNvSpPr txBox="1"/>
          <p:nvPr/>
        </p:nvSpPr>
        <p:spPr>
          <a:xfrm>
            <a:off x="11010900" y="3495675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33%</a:t>
            </a:r>
          </a:p>
        </p:txBody>
      </p:sp>
      <p:sp>
        <p:nvSpPr>
          <p:cNvPr id="30" name="breakdown-3-swatch"/>
          <p:cNvSpPr/>
          <p:nvPr/>
        </p:nvSpPr>
        <p:spPr>
          <a:xfrm>
            <a:off x="5819775" y="4391025"/>
            <a:ext cx="133350" cy="133350"/>
          </a:xfrm>
          <a:prstGeom prst="rect">
            <a:avLst/>
          </a:prstGeom>
          <a:solidFill>
            <a:srgbClr val="9C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reakdown-3-name"/>
          <p:cNvSpPr txBox="1"/>
          <p:nvPr/>
        </p:nvSpPr>
        <p:spPr>
          <a:xfrm>
            <a:off x="6057900" y="4152900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Reviewing</a:t>
            </a:r>
          </a:p>
        </p:txBody>
      </p:sp>
      <p:sp>
        <p:nvSpPr>
          <p:cNvPr id="32" name="breakdown-3-name-sub"/>
          <p:cNvSpPr txBox="1"/>
          <p:nvPr/>
        </p:nvSpPr>
        <p:spPr>
          <a:xfrm>
            <a:off x="6057900" y="434340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partner reads, comments, sign-off</a:t>
            </a:r>
          </a:p>
        </p:txBody>
      </p:sp>
      <p:sp>
        <p:nvSpPr>
          <p:cNvPr id="33" name="breakdown-3-num"/>
          <p:cNvSpPr txBox="1"/>
          <p:nvPr/>
        </p:nvSpPr>
        <p:spPr>
          <a:xfrm>
            <a:off x="10344150" y="421005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12 hr</a:t>
            </a:r>
          </a:p>
        </p:txBody>
      </p:sp>
      <p:sp>
        <p:nvSpPr>
          <p:cNvPr id="34" name="breakdown-3-pct"/>
          <p:cNvSpPr txBox="1"/>
          <p:nvPr/>
        </p:nvSpPr>
        <p:spPr>
          <a:xfrm>
            <a:off x="11010900" y="422910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20%</a:t>
            </a:r>
          </a:p>
        </p:txBody>
      </p:sp>
      <p:sp>
        <p:nvSpPr>
          <p:cNvPr id="35" name="breakdown-4-bg"/>
          <p:cNvSpPr/>
          <p:nvPr/>
        </p:nvSpPr>
        <p:spPr>
          <a:xfrm>
            <a:off x="5772150" y="4829175"/>
            <a:ext cx="5810250" cy="7334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breakdown-4-stripe"/>
          <p:cNvSpPr/>
          <p:nvPr/>
        </p:nvSpPr>
        <p:spPr>
          <a:xfrm>
            <a:off x="5772150" y="4829175"/>
            <a:ext cx="28575" cy="7334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breakdown-4-swatch"/>
          <p:cNvSpPr/>
          <p:nvPr/>
        </p:nvSpPr>
        <p:spPr>
          <a:xfrm>
            <a:off x="5895975" y="51244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breakdown-4-name"/>
          <p:cNvSpPr txBox="1"/>
          <p:nvPr/>
        </p:nvSpPr>
        <p:spPr>
          <a:xfrm>
            <a:off x="6134100" y="4886325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Reworking after reviews</a:t>
            </a:r>
          </a:p>
        </p:txBody>
      </p:sp>
      <p:sp>
        <p:nvSpPr>
          <p:cNvPr id="39" name="breakdown-4-name-sub"/>
          <p:cNvSpPr txBox="1"/>
          <p:nvPr/>
        </p:nvSpPr>
        <p:spPr>
          <a:xfrm>
            <a:off x="6134100" y="5076825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redo cycles, late-stage edits, version churn</a:t>
            </a:r>
          </a:p>
        </p:txBody>
      </p:sp>
      <p:sp>
        <p:nvSpPr>
          <p:cNvPr id="40" name="breakdown-4-num"/>
          <p:cNvSpPr txBox="1"/>
          <p:nvPr/>
        </p:nvSpPr>
        <p:spPr>
          <a:xfrm>
            <a:off x="10344150" y="4943475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A100FF"/>
                </a:solidFill>
                <a:latin typeface="Inter"/>
              </a:rPr>
              <a:t>18 hr</a:t>
            </a:r>
          </a:p>
        </p:txBody>
      </p:sp>
      <p:sp>
        <p:nvSpPr>
          <p:cNvPr id="41" name="breakdown-4-pct"/>
          <p:cNvSpPr txBox="1"/>
          <p:nvPr/>
        </p:nvSpPr>
        <p:spPr>
          <a:xfrm>
            <a:off x="11010900" y="4962525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30%</a:t>
            </a:r>
          </a:p>
        </p:txBody>
      </p:sp>
      <p:sp>
        <p:nvSpPr>
          <p:cNvPr id="42" name="convergence"/>
          <p:cNvSpPr txBox="1"/>
          <p:nvPr/>
        </p:nvSpPr>
        <p:spPr>
          <a:xfrm>
            <a:off x="609600" y="6057900"/>
            <a:ext cx="1097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30% of deck time goes to rework. Slide Lab kills this — structure-first means edits land once.</a:t>
            </a:r>
          </a:p>
        </p:txBody>
      </p:sp>
      <p:sp>
        <p:nvSpPr>
          <p:cNvPr id="4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