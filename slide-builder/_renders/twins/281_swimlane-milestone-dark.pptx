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81000" y="190500"/>
            <a:ext cx="11430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2026 Program Roadmap — </a:t>
            </a:r>
            <a:r>
              <a:rPr sz="1500" b="1" i="0">
                <a:solidFill>
                  <a:srgbClr val="C780FF"/>
                </a:solidFill>
                <a:latin typeface="Inter"/>
              </a:rPr>
              <a:t>four workstreams, one delivery timeline</a:t>
            </a:r>
            <a:r>
              <a:rPr sz="1500" b="1" i="0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381000" y="1028700"/>
            <a:ext cx="11430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12-month delivery view across strategy, build, change, and deployment lanes</a:t>
            </a:r>
          </a:p>
        </p:txBody>
      </p:sp>
      <p:sp>
        <p:nvSpPr>
          <p:cNvPr id="4" name="brand-rule"/>
          <p:cNvSpPr/>
          <p:nvPr/>
        </p:nvSpPr>
        <p:spPr>
          <a:xfrm>
            <a:off x="3810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swatch"/>
          <p:cNvSpPr/>
          <p:nvPr/>
        </p:nvSpPr>
        <p:spPr>
          <a:xfrm>
            <a:off x="8543925" y="2228850"/>
            <a:ext cx="104775" cy="104775"/>
          </a:xfrm>
          <a:prstGeom prst="diamond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label"/>
          <p:cNvSpPr txBox="1"/>
          <p:nvPr/>
        </p:nvSpPr>
        <p:spPr>
          <a:xfrm>
            <a:off x="8782050" y="2190750"/>
            <a:ext cx="800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Milestone</a:t>
            </a:r>
          </a:p>
        </p:txBody>
      </p:sp>
      <p:sp>
        <p:nvSpPr>
          <p:cNvPr id="7" name="legend-2-swatch"/>
          <p:cNvSpPr/>
          <p:nvPr/>
        </p:nvSpPr>
        <p:spPr>
          <a:xfrm>
            <a:off x="9639300" y="2238375"/>
            <a:ext cx="190500" cy="85725"/>
          </a:xfrm>
          <a:prstGeom prst="rect">
            <a:avLst/>
          </a:prstGeom>
          <a:solidFill>
            <a:srgbClr val="6D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2-label"/>
          <p:cNvSpPr txBox="1"/>
          <p:nvPr/>
        </p:nvSpPr>
        <p:spPr>
          <a:xfrm>
            <a:off x="9886950" y="2190750"/>
            <a:ext cx="800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 Progress</a:t>
            </a:r>
          </a:p>
        </p:txBody>
      </p:sp>
      <p:sp>
        <p:nvSpPr>
          <p:cNvPr id="9" name="legend-3-swatch"/>
          <p:cNvSpPr/>
          <p:nvPr/>
        </p:nvSpPr>
        <p:spPr>
          <a:xfrm>
            <a:off x="10744200" y="2238375"/>
            <a:ext cx="190500" cy="85725"/>
          </a:xfrm>
          <a:prstGeom prst="rect">
            <a:avLst/>
          </a:prstGeom>
          <a:solidFill>
            <a:srgbClr val="55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3-label"/>
          <p:cNvSpPr txBox="1"/>
          <p:nvPr/>
        </p:nvSpPr>
        <p:spPr>
          <a:xfrm>
            <a:off x="10991850" y="2190750"/>
            <a:ext cx="704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Planned</a:t>
            </a:r>
          </a:p>
        </p:txBody>
      </p:sp>
      <p:sp>
        <p:nvSpPr>
          <p:cNvPr id="11" name="header-bg"/>
          <p:cNvSpPr/>
          <p:nvPr/>
        </p:nvSpPr>
        <p:spPr>
          <a:xfrm>
            <a:off x="381000" y="2571750"/>
            <a:ext cx="11430000" cy="266700"/>
          </a:xfrm>
          <a:prstGeom prst="rect">
            <a:avLst/>
          </a:prstGeom>
          <a:solidFill>
            <a:srgbClr val="4A2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header-workstream-label"/>
          <p:cNvSpPr txBox="1"/>
          <p:nvPr/>
        </p:nvSpPr>
        <p:spPr>
          <a:xfrm>
            <a:off x="457200" y="2628900"/>
            <a:ext cx="876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WORKSTREAM</a:t>
            </a:r>
          </a:p>
        </p:txBody>
      </p:sp>
      <p:sp>
        <p:nvSpPr>
          <p:cNvPr id="13" name="month-jan"/>
          <p:cNvSpPr txBox="1"/>
          <p:nvPr/>
        </p:nvSpPr>
        <p:spPr>
          <a:xfrm>
            <a:off x="1333500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JAN</a:t>
            </a:r>
          </a:p>
        </p:txBody>
      </p:sp>
      <p:sp>
        <p:nvSpPr>
          <p:cNvPr id="14" name="col-shade-1"/>
          <p:cNvSpPr/>
          <p:nvPr/>
        </p:nvSpPr>
        <p:spPr>
          <a:xfrm>
            <a:off x="2200275" y="2838450"/>
            <a:ext cx="866775" cy="3543300"/>
          </a:xfrm>
          <a:prstGeom prst="rect">
            <a:avLst/>
          </a:prstGeom>
          <a:solidFill>
            <a:srgbClr val="33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month-feb"/>
          <p:cNvSpPr txBox="1"/>
          <p:nvPr/>
        </p:nvSpPr>
        <p:spPr>
          <a:xfrm>
            <a:off x="2200275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FEB</a:t>
            </a:r>
          </a:p>
        </p:txBody>
      </p:sp>
      <p:sp>
        <p:nvSpPr>
          <p:cNvPr id="16" name="month-mar"/>
          <p:cNvSpPr txBox="1"/>
          <p:nvPr/>
        </p:nvSpPr>
        <p:spPr>
          <a:xfrm>
            <a:off x="3076575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MAR</a:t>
            </a:r>
          </a:p>
        </p:txBody>
      </p:sp>
      <p:sp>
        <p:nvSpPr>
          <p:cNvPr id="17" name="col-shade-3"/>
          <p:cNvSpPr/>
          <p:nvPr/>
        </p:nvSpPr>
        <p:spPr>
          <a:xfrm>
            <a:off x="3952875" y="2838450"/>
            <a:ext cx="866775" cy="3543300"/>
          </a:xfrm>
          <a:prstGeom prst="rect">
            <a:avLst/>
          </a:prstGeom>
          <a:solidFill>
            <a:srgbClr val="33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month-apr"/>
          <p:cNvSpPr txBox="1"/>
          <p:nvPr/>
        </p:nvSpPr>
        <p:spPr>
          <a:xfrm>
            <a:off x="3952875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APR</a:t>
            </a:r>
          </a:p>
        </p:txBody>
      </p:sp>
      <p:sp>
        <p:nvSpPr>
          <p:cNvPr id="19" name="month-may"/>
          <p:cNvSpPr txBox="1"/>
          <p:nvPr/>
        </p:nvSpPr>
        <p:spPr>
          <a:xfrm>
            <a:off x="4819650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MAY</a:t>
            </a:r>
          </a:p>
        </p:txBody>
      </p:sp>
      <p:sp>
        <p:nvSpPr>
          <p:cNvPr id="20" name="col-shade-5"/>
          <p:cNvSpPr/>
          <p:nvPr/>
        </p:nvSpPr>
        <p:spPr>
          <a:xfrm>
            <a:off x="5695950" y="2838450"/>
            <a:ext cx="866775" cy="3543300"/>
          </a:xfrm>
          <a:prstGeom prst="rect">
            <a:avLst/>
          </a:prstGeom>
          <a:solidFill>
            <a:srgbClr val="33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month-jun"/>
          <p:cNvSpPr txBox="1"/>
          <p:nvPr/>
        </p:nvSpPr>
        <p:spPr>
          <a:xfrm>
            <a:off x="5695950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JUN</a:t>
            </a:r>
          </a:p>
        </p:txBody>
      </p:sp>
      <p:sp>
        <p:nvSpPr>
          <p:cNvPr id="22" name="month-jul"/>
          <p:cNvSpPr txBox="1"/>
          <p:nvPr/>
        </p:nvSpPr>
        <p:spPr>
          <a:xfrm>
            <a:off x="6572250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JUL</a:t>
            </a:r>
          </a:p>
        </p:txBody>
      </p:sp>
      <p:sp>
        <p:nvSpPr>
          <p:cNvPr id="23" name="col-shade-7"/>
          <p:cNvSpPr/>
          <p:nvPr/>
        </p:nvSpPr>
        <p:spPr>
          <a:xfrm>
            <a:off x="7439025" y="2838450"/>
            <a:ext cx="866775" cy="3543300"/>
          </a:xfrm>
          <a:prstGeom prst="rect">
            <a:avLst/>
          </a:prstGeom>
          <a:solidFill>
            <a:srgbClr val="33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month-aug"/>
          <p:cNvSpPr txBox="1"/>
          <p:nvPr/>
        </p:nvSpPr>
        <p:spPr>
          <a:xfrm>
            <a:off x="7439025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AUG</a:t>
            </a:r>
          </a:p>
        </p:txBody>
      </p:sp>
      <p:sp>
        <p:nvSpPr>
          <p:cNvPr id="25" name="month-sep"/>
          <p:cNvSpPr txBox="1"/>
          <p:nvPr/>
        </p:nvSpPr>
        <p:spPr>
          <a:xfrm>
            <a:off x="8315325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SEP</a:t>
            </a:r>
          </a:p>
        </p:txBody>
      </p:sp>
      <p:sp>
        <p:nvSpPr>
          <p:cNvPr id="26" name="col-shade-9"/>
          <p:cNvSpPr/>
          <p:nvPr/>
        </p:nvSpPr>
        <p:spPr>
          <a:xfrm>
            <a:off x="9191625" y="2838450"/>
            <a:ext cx="866775" cy="3543300"/>
          </a:xfrm>
          <a:prstGeom prst="rect">
            <a:avLst/>
          </a:prstGeom>
          <a:solidFill>
            <a:srgbClr val="33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month-oct"/>
          <p:cNvSpPr txBox="1"/>
          <p:nvPr/>
        </p:nvSpPr>
        <p:spPr>
          <a:xfrm>
            <a:off x="9191625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OCT</a:t>
            </a:r>
          </a:p>
        </p:txBody>
      </p:sp>
      <p:sp>
        <p:nvSpPr>
          <p:cNvPr id="28" name="month-nov"/>
          <p:cNvSpPr txBox="1"/>
          <p:nvPr/>
        </p:nvSpPr>
        <p:spPr>
          <a:xfrm>
            <a:off x="10058400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NOV</a:t>
            </a:r>
          </a:p>
        </p:txBody>
      </p:sp>
      <p:sp>
        <p:nvSpPr>
          <p:cNvPr id="29" name="col-shade-11"/>
          <p:cNvSpPr/>
          <p:nvPr/>
        </p:nvSpPr>
        <p:spPr>
          <a:xfrm>
            <a:off x="10934700" y="2838450"/>
            <a:ext cx="866775" cy="3543300"/>
          </a:xfrm>
          <a:prstGeom prst="rect">
            <a:avLst/>
          </a:prstGeom>
          <a:solidFill>
            <a:srgbClr val="33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month-dec"/>
          <p:cNvSpPr txBox="1"/>
          <p:nvPr/>
        </p:nvSpPr>
        <p:spPr>
          <a:xfrm>
            <a:off x="10934700" y="2628900"/>
            <a:ext cx="8667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DEC</a:t>
            </a:r>
          </a:p>
        </p:txBody>
      </p:sp>
      <p:sp>
        <p:nvSpPr>
          <p:cNvPr id="31" name="sep-0"/>
          <p:cNvSpPr/>
          <p:nvPr/>
        </p:nvSpPr>
        <p:spPr>
          <a:xfrm>
            <a:off x="381000" y="2838450"/>
            <a:ext cx="11430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sep-1"/>
          <p:cNvSpPr/>
          <p:nvPr/>
        </p:nvSpPr>
        <p:spPr>
          <a:xfrm>
            <a:off x="381000" y="3724275"/>
            <a:ext cx="11430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sep-2"/>
          <p:cNvSpPr/>
          <p:nvPr/>
        </p:nvSpPr>
        <p:spPr>
          <a:xfrm>
            <a:off x="381000" y="4610100"/>
            <a:ext cx="11430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sep-3"/>
          <p:cNvSpPr/>
          <p:nvPr/>
        </p:nvSpPr>
        <p:spPr>
          <a:xfrm>
            <a:off x="381000" y="5495925"/>
            <a:ext cx="114300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label-col-sep"/>
          <p:cNvSpPr/>
          <p:nvPr/>
        </p:nvSpPr>
        <p:spPr>
          <a:xfrm>
            <a:off x="1333500" y="2838450"/>
            <a:ext cx="9525" cy="35433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lane-1-label-1"/>
          <p:cNvSpPr txBox="1"/>
          <p:nvPr/>
        </p:nvSpPr>
        <p:spPr>
          <a:xfrm>
            <a:off x="457200" y="314325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STRATEGY</a:t>
            </a:r>
          </a:p>
        </p:txBody>
      </p:sp>
      <p:sp>
        <p:nvSpPr>
          <p:cNvPr id="38" name="lane-1-label-2"/>
          <p:cNvSpPr txBox="1"/>
          <p:nvPr/>
        </p:nvSpPr>
        <p:spPr>
          <a:xfrm>
            <a:off x="457200" y="32766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&amp; DESIGN</a:t>
            </a:r>
          </a:p>
        </p:txBody>
      </p:sp>
      <p:sp>
        <p:nvSpPr>
          <p:cNvPr id="39" name="lane-2-label-1"/>
          <p:cNvSpPr txBox="1"/>
          <p:nvPr/>
        </p:nvSpPr>
        <p:spPr>
          <a:xfrm>
            <a:off x="457200" y="4029075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</a:t>
            </a:r>
          </a:p>
        </p:txBody>
      </p:sp>
      <p:sp>
        <p:nvSpPr>
          <p:cNvPr id="40" name="lane-2-label-2"/>
          <p:cNvSpPr txBox="1"/>
          <p:nvPr/>
        </p:nvSpPr>
        <p:spPr>
          <a:xfrm>
            <a:off x="457200" y="4162425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</a:t>
            </a:r>
          </a:p>
        </p:txBody>
      </p:sp>
      <p:sp>
        <p:nvSpPr>
          <p:cNvPr id="41" name="lane-3-label-1"/>
          <p:cNvSpPr txBox="1"/>
          <p:nvPr/>
        </p:nvSpPr>
        <p:spPr>
          <a:xfrm>
            <a:off x="457200" y="49149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</a:t>
            </a:r>
          </a:p>
        </p:txBody>
      </p:sp>
      <p:sp>
        <p:nvSpPr>
          <p:cNvPr id="42" name="lane-3-label-2"/>
          <p:cNvSpPr txBox="1"/>
          <p:nvPr/>
        </p:nvSpPr>
        <p:spPr>
          <a:xfrm>
            <a:off x="457200" y="504825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MGMT</a:t>
            </a:r>
          </a:p>
        </p:txBody>
      </p:sp>
      <p:sp>
        <p:nvSpPr>
          <p:cNvPr id="43" name="lane-4-label-1"/>
          <p:cNvSpPr txBox="1"/>
          <p:nvPr/>
        </p:nvSpPr>
        <p:spPr>
          <a:xfrm>
            <a:off x="457200" y="5800725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DEPLOYMENT</a:t>
            </a:r>
          </a:p>
        </p:txBody>
      </p:sp>
      <p:sp>
        <p:nvSpPr>
          <p:cNvPr id="44" name="lane-1-bar-a"/>
          <p:cNvSpPr/>
          <p:nvPr/>
        </p:nvSpPr>
        <p:spPr>
          <a:xfrm>
            <a:off x="1371600" y="3171825"/>
            <a:ext cx="2581275" cy="209550"/>
          </a:xfrm>
          <a:prstGeom prst="rect">
            <a:avLst/>
          </a:prstGeom>
          <a:solidFill>
            <a:srgbClr val="52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lane-1-bar-a-label"/>
          <p:cNvSpPr txBox="1"/>
          <p:nvPr/>
        </p:nvSpPr>
        <p:spPr>
          <a:xfrm>
            <a:off x="1447800" y="3171825"/>
            <a:ext cx="24288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Discovery</a:t>
            </a:r>
          </a:p>
        </p:txBody>
      </p:sp>
      <p:sp>
        <p:nvSpPr>
          <p:cNvPr id="46" name="lane-1-bar-b"/>
          <p:cNvSpPr/>
          <p:nvPr/>
        </p:nvSpPr>
        <p:spPr>
          <a:xfrm>
            <a:off x="3990975" y="3171825"/>
            <a:ext cx="1704975" cy="209550"/>
          </a:xfrm>
          <a:prstGeom prst="rect">
            <a:avLst/>
          </a:prstGeom>
          <a:solidFill>
            <a:srgbClr val="6D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lane-1-bar-b-label"/>
          <p:cNvSpPr txBox="1"/>
          <p:nvPr/>
        </p:nvSpPr>
        <p:spPr>
          <a:xfrm>
            <a:off x="4067175" y="3171825"/>
            <a:ext cx="15525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Design Sprint</a:t>
            </a:r>
          </a:p>
        </p:txBody>
      </p:sp>
      <p:sp>
        <p:nvSpPr>
          <p:cNvPr id="48" name="milestone-1-diamond"/>
          <p:cNvSpPr/>
          <p:nvPr/>
        </p:nvSpPr>
        <p:spPr>
          <a:xfrm>
            <a:off x="5619750" y="3200400"/>
            <a:ext cx="152400" cy="152400"/>
          </a:xfrm>
          <a:prstGeom prst="diamond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milestone-1-label"/>
          <p:cNvSpPr txBox="1"/>
          <p:nvPr/>
        </p:nvSpPr>
        <p:spPr>
          <a:xfrm>
            <a:off x="5124450" y="34099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Design Approved</a:t>
            </a:r>
          </a:p>
        </p:txBody>
      </p:sp>
      <p:sp>
        <p:nvSpPr>
          <p:cNvPr id="50" name="lane-2-bar"/>
          <p:cNvSpPr/>
          <p:nvPr/>
        </p:nvSpPr>
        <p:spPr>
          <a:xfrm>
            <a:off x="3114675" y="4057650"/>
            <a:ext cx="4324350" cy="209550"/>
          </a:xfrm>
          <a:prstGeom prst="rect">
            <a:avLst/>
          </a:prstGeom>
          <a:solidFill>
            <a:srgbClr val="52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lane-2-bar-label"/>
          <p:cNvSpPr txBox="1"/>
          <p:nvPr/>
        </p:nvSpPr>
        <p:spPr>
          <a:xfrm>
            <a:off x="3190875" y="4057650"/>
            <a:ext cx="417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Platform Development</a:t>
            </a:r>
          </a:p>
        </p:txBody>
      </p:sp>
      <p:sp>
        <p:nvSpPr>
          <p:cNvPr id="52" name="milestone-2-diamond"/>
          <p:cNvSpPr/>
          <p:nvPr/>
        </p:nvSpPr>
        <p:spPr>
          <a:xfrm>
            <a:off x="7362825" y="4086225"/>
            <a:ext cx="152400" cy="152400"/>
          </a:xfrm>
          <a:prstGeom prst="diamond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milestone-2-label"/>
          <p:cNvSpPr txBox="1"/>
          <p:nvPr/>
        </p:nvSpPr>
        <p:spPr>
          <a:xfrm>
            <a:off x="6867525" y="4295775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MVP Ready</a:t>
            </a:r>
          </a:p>
        </p:txBody>
      </p:sp>
      <p:sp>
        <p:nvSpPr>
          <p:cNvPr id="54" name="lane-3-bar"/>
          <p:cNvSpPr/>
          <p:nvPr/>
        </p:nvSpPr>
        <p:spPr>
          <a:xfrm>
            <a:off x="2247900" y="4943475"/>
            <a:ext cx="6943725" cy="209550"/>
          </a:xfrm>
          <a:prstGeom prst="rect">
            <a:avLst/>
          </a:prstGeom>
          <a:solidFill>
            <a:srgbClr val="55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lane-3-bar-label"/>
          <p:cNvSpPr txBox="1"/>
          <p:nvPr/>
        </p:nvSpPr>
        <p:spPr>
          <a:xfrm>
            <a:off x="2324100" y="4943475"/>
            <a:ext cx="6791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Stakeholder Engagement &amp; Training Design</a:t>
            </a:r>
          </a:p>
        </p:txBody>
      </p:sp>
      <p:sp>
        <p:nvSpPr>
          <p:cNvPr id="56" name="milestone-3-diamond"/>
          <p:cNvSpPr/>
          <p:nvPr/>
        </p:nvSpPr>
        <p:spPr>
          <a:xfrm>
            <a:off x="9115425" y="4972050"/>
            <a:ext cx="152400" cy="152400"/>
          </a:xfrm>
          <a:prstGeom prst="diamond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milestone-3-label"/>
          <p:cNvSpPr txBox="1"/>
          <p:nvPr/>
        </p:nvSpPr>
        <p:spPr>
          <a:xfrm>
            <a:off x="8620125" y="51816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Training Complete</a:t>
            </a:r>
          </a:p>
        </p:txBody>
      </p:sp>
      <p:sp>
        <p:nvSpPr>
          <p:cNvPr id="58" name="lane-4-bar"/>
          <p:cNvSpPr/>
          <p:nvPr/>
        </p:nvSpPr>
        <p:spPr>
          <a:xfrm>
            <a:off x="7486650" y="5829300"/>
            <a:ext cx="3448050" cy="209550"/>
          </a:xfrm>
          <a:prstGeom prst="rect">
            <a:avLst/>
          </a:prstGeom>
          <a:solidFill>
            <a:srgbClr val="358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lane-4-bar-label"/>
          <p:cNvSpPr txBox="1"/>
          <p:nvPr/>
        </p:nvSpPr>
        <p:spPr>
          <a:xfrm>
            <a:off x="7562850" y="5829300"/>
            <a:ext cx="3295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Phased Rollout</a:t>
            </a:r>
          </a:p>
        </p:txBody>
      </p:sp>
      <p:sp>
        <p:nvSpPr>
          <p:cNvPr id="60" name="milestone-4-diamond"/>
          <p:cNvSpPr/>
          <p:nvPr/>
        </p:nvSpPr>
        <p:spPr>
          <a:xfrm>
            <a:off x="10858500" y="5857875"/>
            <a:ext cx="152400" cy="152400"/>
          </a:xfrm>
          <a:prstGeom prst="diamond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milestone-4-label"/>
          <p:cNvSpPr txBox="1"/>
          <p:nvPr/>
        </p:nvSpPr>
        <p:spPr>
          <a:xfrm>
            <a:off x="10363200" y="6067425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Go-Live</a:t>
            </a:r>
          </a:p>
        </p:txBody>
      </p:sp>
      <p:sp>
        <p:nvSpPr>
          <p:cNvPr id="62" name="today-line"/>
          <p:cNvSpPr/>
          <p:nvPr/>
        </p:nvSpPr>
        <p:spPr>
          <a:xfrm>
            <a:off x="5257800" y="2838450"/>
            <a:ext cx="19050" cy="3543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oday-pill"/>
          <p:cNvSpPr/>
          <p:nvPr/>
        </p:nvSpPr>
        <p:spPr>
          <a:xfrm>
            <a:off x="5048250" y="2590800"/>
            <a:ext cx="41910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oday-label"/>
          <p:cNvSpPr txBox="1"/>
          <p:nvPr/>
        </p:nvSpPr>
        <p:spPr>
          <a:xfrm>
            <a:off x="5048250" y="25908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TODAY</a:t>
            </a:r>
          </a:p>
        </p:txBody>
      </p:sp>
      <p:sp>
        <p:nvSpPr>
          <p:cNvPr id="6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