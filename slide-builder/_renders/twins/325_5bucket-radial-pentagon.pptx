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190500"/>
            <a:ext cx="112776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1A1A2E"/>
                </a:solidFill>
                <a:latin typeface="Inter"/>
              </a:rPr>
              <a:t>Five </a:t>
            </a:r>
            <a:r>
              <a:rPr sz="2400" b="1" i="0">
                <a:solidFill>
                  <a:srgbClr val="2D0A4E"/>
                </a:solidFill>
                <a:latin typeface="Inter"/>
              </a:rPr>
              <a:t>strategic priorities</a:t>
            </a:r>
            <a:r>
              <a:rPr sz="2400" b="1" i="0">
                <a:solidFill>
                  <a:srgbClr val="1A1A2E"/>
                </a:solidFill>
                <a:latin typeface="Inter"/>
              </a:rPr>
              <a:t> converge on a single core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457200" y="914400"/>
            <a:ext cx="101346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Each bucket feeds the centre — progress in any node accelerates the whole system.</a:t>
            </a:r>
          </a:p>
        </p:txBody>
      </p:sp>
      <p:sp>
        <p:nvSpPr>
          <p:cNvPr id="4" name="brand-rule"/>
          <p:cNvSpPr/>
          <p:nvPr/>
        </p:nvSpPr>
        <p:spPr>
          <a:xfrm>
            <a:off x="457200" y="1123950"/>
            <a:ext cx="6096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cxnSp>
        <p:nvCxnSpPr>
          <p:cNvPr id="5" name="spoke-1"/>
          <p:cNvCxnSpPr/>
          <p:nvPr/>
        </p:nvCxnSpPr>
        <p:spPr>
          <a:xfrm>
            <a:off x="2933700" y="2733675"/>
            <a:ext cx="0" cy="1428750"/>
          </a:xfrm>
          <a:prstGeom prst="line">
            <a:avLst/>
          </a:prstGeom>
          <a:ln w="12700">
            <a:solidFill>
              <a:srgbClr val="C78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poke-2"/>
          <p:cNvCxnSpPr/>
          <p:nvPr/>
        </p:nvCxnSpPr>
        <p:spPr>
          <a:xfrm flipH="1">
            <a:off x="2933700" y="3720916"/>
            <a:ext cx="1358821" cy="441509"/>
          </a:xfrm>
          <a:prstGeom prst="line">
            <a:avLst/>
          </a:prstGeom>
          <a:ln w="12700">
            <a:solidFill>
              <a:srgbClr val="C78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poke-3"/>
          <p:cNvCxnSpPr/>
          <p:nvPr/>
        </p:nvCxnSpPr>
        <p:spPr>
          <a:xfrm flipH="1" flipV="1">
            <a:off x="2933700" y="4162425"/>
            <a:ext cx="839798" cy="1155883"/>
          </a:xfrm>
          <a:prstGeom prst="line">
            <a:avLst/>
          </a:prstGeom>
          <a:ln w="12700">
            <a:solidFill>
              <a:srgbClr val="C78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poke-4"/>
          <p:cNvCxnSpPr/>
          <p:nvPr/>
        </p:nvCxnSpPr>
        <p:spPr>
          <a:xfrm flipV="1">
            <a:off x="2093901" y="4162425"/>
            <a:ext cx="839799" cy="1155883"/>
          </a:xfrm>
          <a:prstGeom prst="line">
            <a:avLst/>
          </a:prstGeom>
          <a:ln w="12700">
            <a:solidFill>
              <a:srgbClr val="C78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poke-5"/>
          <p:cNvCxnSpPr/>
          <p:nvPr/>
        </p:nvCxnSpPr>
        <p:spPr>
          <a:xfrm>
            <a:off x="1574878" y="3720916"/>
            <a:ext cx="1358822" cy="441509"/>
          </a:xfrm>
          <a:prstGeom prst="line">
            <a:avLst/>
          </a:prstGeom>
          <a:ln w="12700">
            <a:solidFill>
              <a:srgbClr val="C78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node-1-bg"/>
          <p:cNvSpPr/>
          <p:nvPr/>
        </p:nvSpPr>
        <p:spPr>
          <a:xfrm>
            <a:off x="2667000" y="2466975"/>
            <a:ext cx="533400" cy="533400"/>
          </a:xfrm>
          <a:prstGeom prst="ellipse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node-1-text"/>
          <p:cNvSpPr txBox="1"/>
          <p:nvPr/>
        </p:nvSpPr>
        <p:spPr>
          <a:xfrm>
            <a:off x="2667000" y="2466975"/>
            <a:ext cx="533400" cy="533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350" b="1" i="0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12" name="node-2-bg"/>
          <p:cNvSpPr/>
          <p:nvPr/>
        </p:nvSpPr>
        <p:spPr>
          <a:xfrm>
            <a:off x="4025821" y="3454216"/>
            <a:ext cx="533400" cy="533400"/>
          </a:xfrm>
          <a:prstGeom prst="ellipse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" name="node-2-text"/>
          <p:cNvSpPr txBox="1"/>
          <p:nvPr/>
        </p:nvSpPr>
        <p:spPr>
          <a:xfrm>
            <a:off x="4025821" y="3454216"/>
            <a:ext cx="533400" cy="533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350" b="1" i="0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14" name="node-3-bg"/>
          <p:cNvSpPr/>
          <p:nvPr/>
        </p:nvSpPr>
        <p:spPr>
          <a:xfrm>
            <a:off x="3506798" y="5051608"/>
            <a:ext cx="533400" cy="533400"/>
          </a:xfrm>
          <a:prstGeom prst="ellipse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5" name="node-3-text"/>
          <p:cNvSpPr txBox="1"/>
          <p:nvPr/>
        </p:nvSpPr>
        <p:spPr>
          <a:xfrm>
            <a:off x="3506798" y="5051608"/>
            <a:ext cx="533400" cy="533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350" b="1" i="0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16" name="node-4-bg"/>
          <p:cNvSpPr/>
          <p:nvPr/>
        </p:nvSpPr>
        <p:spPr>
          <a:xfrm>
            <a:off x="1827201" y="5051608"/>
            <a:ext cx="533400" cy="533400"/>
          </a:xfrm>
          <a:prstGeom prst="ellipse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7" name="node-4-text"/>
          <p:cNvSpPr txBox="1"/>
          <p:nvPr/>
        </p:nvSpPr>
        <p:spPr>
          <a:xfrm>
            <a:off x="1827201" y="5051608"/>
            <a:ext cx="533400" cy="533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350" b="1" i="0">
                <a:solidFill>
                  <a:srgbClr val="FFFFFF"/>
                </a:solidFill>
                <a:latin typeface="Inter"/>
              </a:rPr>
              <a:t>4</a:t>
            </a:r>
          </a:p>
        </p:txBody>
      </p:sp>
      <p:sp>
        <p:nvSpPr>
          <p:cNvPr id="18" name="node-5-bg"/>
          <p:cNvSpPr/>
          <p:nvPr/>
        </p:nvSpPr>
        <p:spPr>
          <a:xfrm>
            <a:off x="1308178" y="3454216"/>
            <a:ext cx="533400" cy="533400"/>
          </a:xfrm>
          <a:prstGeom prst="ellipse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9" name="node-5-text"/>
          <p:cNvSpPr txBox="1"/>
          <p:nvPr/>
        </p:nvSpPr>
        <p:spPr>
          <a:xfrm>
            <a:off x="1308178" y="3454216"/>
            <a:ext cx="533400" cy="533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350" b="1" i="0">
                <a:solidFill>
                  <a:srgbClr val="FFFFFF"/>
                </a:solidFill>
                <a:latin typeface="Inter"/>
              </a:rPr>
              <a:t>5</a:t>
            </a:r>
          </a:p>
        </p:txBody>
      </p:sp>
      <p:sp>
        <p:nvSpPr>
          <p:cNvPr id="20" name="core-bg"/>
          <p:cNvSpPr/>
          <p:nvPr/>
        </p:nvSpPr>
        <p:spPr>
          <a:xfrm>
            <a:off x="2609850" y="3838575"/>
            <a:ext cx="647700" cy="647700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1" name="core-text"/>
          <p:cNvSpPr txBox="1"/>
          <p:nvPr/>
        </p:nvSpPr>
        <p:spPr>
          <a:xfrm>
            <a:off x="2609850" y="3838575"/>
            <a:ext cx="647700" cy="647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CORE</a:t>
            </a:r>
          </a:p>
        </p:txBody>
      </p:sp>
      <p:sp>
        <p:nvSpPr>
          <p:cNvPr id="22" name="ann-1-card"/>
          <p:cNvSpPr/>
          <p:nvPr/>
        </p:nvSpPr>
        <p:spPr>
          <a:xfrm>
            <a:off x="5638800" y="1905000"/>
            <a:ext cx="6096000" cy="83820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3" name="ann-1-num-bg"/>
          <p:cNvSpPr/>
          <p:nvPr/>
        </p:nvSpPr>
        <p:spPr>
          <a:xfrm>
            <a:off x="5753100" y="2190750"/>
            <a:ext cx="266700" cy="266700"/>
          </a:xfrm>
          <a:prstGeom prst="ellipse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4" name="ann-1-num-text"/>
          <p:cNvSpPr txBox="1"/>
          <p:nvPr/>
        </p:nvSpPr>
        <p:spPr>
          <a:xfrm>
            <a:off x="5753100" y="2190750"/>
            <a:ext cx="2667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25" name="ann-1-title"/>
          <p:cNvSpPr txBox="1"/>
          <p:nvPr/>
        </p:nvSpPr>
        <p:spPr>
          <a:xfrm>
            <a:off x="6134100" y="2038350"/>
            <a:ext cx="54864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Strategic Vision</a:t>
            </a:r>
          </a:p>
        </p:txBody>
      </p:sp>
      <p:sp>
        <p:nvSpPr>
          <p:cNvPr id="26" name="ann-1-desc"/>
          <p:cNvSpPr txBox="1"/>
          <p:nvPr/>
        </p:nvSpPr>
        <p:spPr>
          <a:xfrm>
            <a:off x="6134100" y="2247900"/>
            <a:ext cx="548640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Define the north-star objective and align leadership around a single measurable outcome.</a:t>
            </a:r>
          </a:p>
        </p:txBody>
      </p:sp>
      <p:sp>
        <p:nvSpPr>
          <p:cNvPr id="27" name="ann-2-card"/>
          <p:cNvSpPr/>
          <p:nvPr/>
        </p:nvSpPr>
        <p:spPr>
          <a:xfrm>
            <a:off x="5638800" y="2819400"/>
            <a:ext cx="6096000" cy="83820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8" name="ann-2-num-bg"/>
          <p:cNvSpPr/>
          <p:nvPr/>
        </p:nvSpPr>
        <p:spPr>
          <a:xfrm>
            <a:off x="5753100" y="3105150"/>
            <a:ext cx="266700" cy="266700"/>
          </a:xfrm>
          <a:prstGeom prst="ellipse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9" name="ann-2-num-text"/>
          <p:cNvSpPr txBox="1"/>
          <p:nvPr/>
        </p:nvSpPr>
        <p:spPr>
          <a:xfrm>
            <a:off x="5753100" y="3105150"/>
            <a:ext cx="2667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30" name="ann-2-title"/>
          <p:cNvSpPr txBox="1"/>
          <p:nvPr/>
        </p:nvSpPr>
        <p:spPr>
          <a:xfrm>
            <a:off x="6134100" y="2952750"/>
            <a:ext cx="54864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Data &amp; Analytics</a:t>
            </a:r>
          </a:p>
        </p:txBody>
      </p:sp>
      <p:sp>
        <p:nvSpPr>
          <p:cNvPr id="31" name="ann-2-desc"/>
          <p:cNvSpPr txBox="1"/>
          <p:nvPr/>
        </p:nvSpPr>
        <p:spPr>
          <a:xfrm>
            <a:off x="6134100" y="3162300"/>
            <a:ext cx="548640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Instrument every touchpoint; feed real-time signals back into the core decision layer.</a:t>
            </a:r>
          </a:p>
        </p:txBody>
      </p:sp>
      <p:sp>
        <p:nvSpPr>
          <p:cNvPr id="32" name="ann-3-card"/>
          <p:cNvSpPr/>
          <p:nvPr/>
        </p:nvSpPr>
        <p:spPr>
          <a:xfrm>
            <a:off x="5638800" y="3733800"/>
            <a:ext cx="6096000" cy="83820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3" name="ann-3-num-bg"/>
          <p:cNvSpPr/>
          <p:nvPr/>
        </p:nvSpPr>
        <p:spPr>
          <a:xfrm>
            <a:off x="5753100" y="4019550"/>
            <a:ext cx="266700" cy="266700"/>
          </a:xfrm>
          <a:prstGeom prst="ellipse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4" name="ann-3-num-text"/>
          <p:cNvSpPr txBox="1"/>
          <p:nvPr/>
        </p:nvSpPr>
        <p:spPr>
          <a:xfrm>
            <a:off x="5753100" y="4019550"/>
            <a:ext cx="2667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35" name="ann-3-title"/>
          <p:cNvSpPr txBox="1"/>
          <p:nvPr/>
        </p:nvSpPr>
        <p:spPr>
          <a:xfrm>
            <a:off x="6134100" y="3867150"/>
            <a:ext cx="54864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Talent &amp; Capability</a:t>
            </a:r>
          </a:p>
        </p:txBody>
      </p:sp>
      <p:sp>
        <p:nvSpPr>
          <p:cNvPr id="36" name="ann-3-desc"/>
          <p:cNvSpPr txBox="1"/>
          <p:nvPr/>
        </p:nvSpPr>
        <p:spPr>
          <a:xfrm>
            <a:off x="6134100" y="4076700"/>
            <a:ext cx="548640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Upskill teams on priority tools and embed new ways of working into daily operating rhythm.</a:t>
            </a:r>
          </a:p>
        </p:txBody>
      </p:sp>
      <p:sp>
        <p:nvSpPr>
          <p:cNvPr id="37" name="ann-4-card"/>
          <p:cNvSpPr/>
          <p:nvPr/>
        </p:nvSpPr>
        <p:spPr>
          <a:xfrm>
            <a:off x="5638800" y="4648200"/>
            <a:ext cx="6096000" cy="83820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8" name="ann-4-num-bg"/>
          <p:cNvSpPr/>
          <p:nvPr/>
        </p:nvSpPr>
        <p:spPr>
          <a:xfrm>
            <a:off x="5753100" y="4933950"/>
            <a:ext cx="266700" cy="266700"/>
          </a:xfrm>
          <a:prstGeom prst="ellipse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9" name="ann-4-num-text"/>
          <p:cNvSpPr txBox="1"/>
          <p:nvPr/>
        </p:nvSpPr>
        <p:spPr>
          <a:xfrm>
            <a:off x="5753100" y="4933950"/>
            <a:ext cx="2667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4</a:t>
            </a:r>
          </a:p>
        </p:txBody>
      </p:sp>
      <p:sp>
        <p:nvSpPr>
          <p:cNvPr id="40" name="ann-4-title"/>
          <p:cNvSpPr txBox="1"/>
          <p:nvPr/>
        </p:nvSpPr>
        <p:spPr>
          <a:xfrm>
            <a:off x="6134100" y="4781550"/>
            <a:ext cx="54864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Technology Platform</a:t>
            </a:r>
          </a:p>
        </p:txBody>
      </p:sp>
      <p:sp>
        <p:nvSpPr>
          <p:cNvPr id="41" name="ann-4-desc"/>
          <p:cNvSpPr txBox="1"/>
          <p:nvPr/>
        </p:nvSpPr>
        <p:spPr>
          <a:xfrm>
            <a:off x="6134100" y="4991100"/>
            <a:ext cx="548640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Modernise the stack to unlock scale; retire legacy systems that create compounding drag.</a:t>
            </a:r>
          </a:p>
        </p:txBody>
      </p:sp>
      <p:sp>
        <p:nvSpPr>
          <p:cNvPr id="42" name="ann-5-card"/>
          <p:cNvSpPr/>
          <p:nvPr/>
        </p:nvSpPr>
        <p:spPr>
          <a:xfrm>
            <a:off x="5638800" y="5562600"/>
            <a:ext cx="6096000" cy="83820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3" name="ann-5-num-bg"/>
          <p:cNvSpPr/>
          <p:nvPr/>
        </p:nvSpPr>
        <p:spPr>
          <a:xfrm>
            <a:off x="5753100" y="5848350"/>
            <a:ext cx="266700" cy="266700"/>
          </a:xfrm>
          <a:prstGeom prst="ellipse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4" name="ann-5-num-text"/>
          <p:cNvSpPr txBox="1"/>
          <p:nvPr/>
        </p:nvSpPr>
        <p:spPr>
          <a:xfrm>
            <a:off x="5753100" y="5848350"/>
            <a:ext cx="2667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5</a:t>
            </a:r>
          </a:p>
        </p:txBody>
      </p:sp>
      <p:sp>
        <p:nvSpPr>
          <p:cNvPr id="45" name="ann-5-title"/>
          <p:cNvSpPr txBox="1"/>
          <p:nvPr/>
        </p:nvSpPr>
        <p:spPr>
          <a:xfrm>
            <a:off x="6134100" y="5695950"/>
            <a:ext cx="54864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Change &amp; Adoption</a:t>
            </a:r>
          </a:p>
        </p:txBody>
      </p:sp>
      <p:sp>
        <p:nvSpPr>
          <p:cNvPr id="46" name="ann-5-desc"/>
          <p:cNvSpPr txBox="1"/>
          <p:nvPr/>
        </p:nvSpPr>
        <p:spPr>
          <a:xfrm>
            <a:off x="6134100" y="5905500"/>
            <a:ext cx="548640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Drive sustained adoption through structured comms, governance, and value-realisation tracking.</a:t>
            </a:r>
          </a:p>
        </p:txBody>
      </p:sp>
      <p:sp>
        <p:nvSpPr>
          <p:cNvPr id="47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48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49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325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