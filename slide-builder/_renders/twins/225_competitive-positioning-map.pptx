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We hold 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strongest position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on breadth and leadership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Competitive landscape mapped by capability breadth vs. market authority — 2025 snapshot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457200" y="1238250"/>
            <a:ext cx="8801100" cy="4610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57200" y="3524250"/>
            <a:ext cx="88011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[ SVG bubble chart: competitive positioning — rendered at twin-gen time ]</a:t>
            </a:r>
          </a:p>
        </p:txBody>
      </p:sp>
      <p:sp>
        <p:nvSpPr>
          <p:cNvPr id="7" name="chart-source"/>
          <p:cNvSpPr txBox="1"/>
          <p:nvPr/>
        </p:nvSpPr>
        <p:spPr>
          <a:xfrm>
            <a:off x="457200" y="5886450"/>
            <a:ext cx="8801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Gartner Magic Quadrant 2025 + internal analysis · Bubble size = estimated revenue</a:t>
            </a:r>
          </a:p>
        </p:txBody>
      </p:sp>
      <p:sp>
        <p:nvSpPr>
          <p:cNvPr id="8" name="annot-panel"/>
          <p:cNvSpPr/>
          <p:nvPr/>
        </p:nvSpPr>
        <p:spPr>
          <a:xfrm>
            <a:off x="9448800" y="1238250"/>
            <a:ext cx="2286000" cy="4610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annot-header"/>
          <p:cNvSpPr txBox="1"/>
          <p:nvPr/>
        </p:nvSpPr>
        <p:spPr>
          <a:xfrm>
            <a:off x="9601200" y="1390650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OUR ADVANTAGE</a:t>
            </a:r>
          </a:p>
        </p:txBody>
      </p:sp>
      <p:sp>
        <p:nvSpPr>
          <p:cNvPr id="10" name="annot-header-rule"/>
          <p:cNvSpPr/>
          <p:nvPr/>
        </p:nvSpPr>
        <p:spPr>
          <a:xfrm>
            <a:off x="9601200" y="1600200"/>
            <a:ext cx="19812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annot-1-marker"/>
          <p:cNvSpPr/>
          <p:nvPr/>
        </p:nvSpPr>
        <p:spPr>
          <a:xfrm>
            <a:off x="9601200" y="18097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annot-1-marker-text"/>
          <p:cNvSpPr txBox="1"/>
          <p:nvPr/>
        </p:nvSpPr>
        <p:spPr>
          <a:xfrm>
            <a:off x="9601200" y="18097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annot-1-label"/>
          <p:cNvSpPr txBox="1"/>
          <p:nvPr/>
        </p:nvSpPr>
        <p:spPr>
          <a:xfrm>
            <a:off x="9867900" y="1790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Unmatched End-to-End Scope</a:t>
            </a:r>
          </a:p>
        </p:txBody>
      </p:sp>
      <p:sp>
        <p:nvSpPr>
          <p:cNvPr id="14" name="annot-1-body"/>
          <p:cNvSpPr txBox="1"/>
          <p:nvPr/>
        </p:nvSpPr>
        <p:spPr>
          <a:xfrm>
            <a:off x="9867900" y="2057400"/>
            <a:ext cx="17145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We cover strategy through execution across all verticals — no competitor matches our full-stack breadth.</a:t>
            </a:r>
          </a:p>
        </p:txBody>
      </p:sp>
      <p:sp>
        <p:nvSpPr>
          <p:cNvPr id="15" name="annot-2-marker"/>
          <p:cNvSpPr/>
          <p:nvPr/>
        </p:nvSpPr>
        <p:spPr>
          <a:xfrm>
            <a:off x="9601200" y="29527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nnot-2-marker-text"/>
          <p:cNvSpPr txBox="1"/>
          <p:nvPr/>
        </p:nvSpPr>
        <p:spPr>
          <a:xfrm>
            <a:off x="9601200" y="29527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annot-2-label"/>
          <p:cNvSpPr txBox="1"/>
          <p:nvPr/>
        </p:nvSpPr>
        <p:spPr>
          <a:xfrm>
            <a:off x="9867900" y="2933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Established Market Authority</a:t>
            </a:r>
          </a:p>
        </p:txBody>
      </p:sp>
      <p:sp>
        <p:nvSpPr>
          <p:cNvPr id="18" name="annot-2-body"/>
          <p:cNvSpPr txBox="1"/>
          <p:nvPr/>
        </p:nvSpPr>
        <p:spPr>
          <a:xfrm>
            <a:off x="9867900" y="3200400"/>
            <a:ext cx="17145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17 consecutive years as a Gartner Leader; recognized brand in 50+ markets with anchor clients.</a:t>
            </a:r>
          </a:p>
        </p:txBody>
      </p:sp>
      <p:sp>
        <p:nvSpPr>
          <p:cNvPr id="19" name="annot-3-marker"/>
          <p:cNvSpPr/>
          <p:nvPr/>
        </p:nvSpPr>
        <p:spPr>
          <a:xfrm>
            <a:off x="9601200" y="40957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annot-3-marker-text"/>
          <p:cNvSpPr txBox="1"/>
          <p:nvPr/>
        </p:nvSpPr>
        <p:spPr>
          <a:xfrm>
            <a:off x="9601200" y="40957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annot-3-label"/>
          <p:cNvSpPr txBox="1"/>
          <p:nvPr/>
        </p:nvSpPr>
        <p:spPr>
          <a:xfrm>
            <a:off x="9867900" y="4076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Proprietary AI Platform</a:t>
            </a:r>
          </a:p>
        </p:txBody>
      </p:sp>
      <p:sp>
        <p:nvSpPr>
          <p:cNvPr id="22" name="annot-3-body"/>
          <p:cNvSpPr txBox="1"/>
          <p:nvPr/>
        </p:nvSpPr>
        <p:spPr>
          <a:xfrm>
            <a:off x="9867900" y="4343400"/>
            <a:ext cx="17145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SyntheticEdge AI platform accelerates delivery 2× vs. next-best competitor with embedded IP.</a:t>
            </a:r>
          </a:p>
        </p:txBody>
      </p:sp>
      <p:sp>
        <p:nvSpPr>
          <p:cNvPr id="23" name="annot-footer"/>
          <p:cNvSpPr txBox="1"/>
          <p:nvPr/>
        </p:nvSpPr>
        <p:spPr>
          <a:xfrm>
            <a:off x="9601200" y="5467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Competitors benchmarked on publicly available capability inventories and analyst ratings.</a:t>
            </a:r>
          </a:p>
        </p:txBody>
      </p:sp>
      <p:sp>
        <p:nvSpPr>
          <p:cNvPr id="2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